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4"/>
  </p:sldMasterIdLst>
  <p:notesMasterIdLst>
    <p:notesMasterId r:id="rId37"/>
  </p:notesMasterIdLst>
  <p:sldIdLst>
    <p:sldId id="1864" r:id="rId5"/>
    <p:sldId id="1848" r:id="rId6"/>
    <p:sldId id="1868" r:id="rId7"/>
    <p:sldId id="1869" r:id="rId8"/>
    <p:sldId id="1870" r:id="rId9"/>
    <p:sldId id="1871" r:id="rId10"/>
    <p:sldId id="1872" r:id="rId11"/>
    <p:sldId id="1873" r:id="rId12"/>
    <p:sldId id="1874" r:id="rId13"/>
    <p:sldId id="1875" r:id="rId14"/>
    <p:sldId id="1876" r:id="rId15"/>
    <p:sldId id="1877" r:id="rId16"/>
    <p:sldId id="1878" r:id="rId17"/>
    <p:sldId id="1879" r:id="rId18"/>
    <p:sldId id="1880" r:id="rId19"/>
    <p:sldId id="1881" r:id="rId20"/>
    <p:sldId id="1882" r:id="rId21"/>
    <p:sldId id="1883" r:id="rId22"/>
    <p:sldId id="1884" r:id="rId23"/>
    <p:sldId id="1885" r:id="rId24"/>
    <p:sldId id="1886" r:id="rId25"/>
    <p:sldId id="1887" r:id="rId26"/>
    <p:sldId id="1888" r:id="rId27"/>
    <p:sldId id="1889" r:id="rId28"/>
    <p:sldId id="1890" r:id="rId29"/>
    <p:sldId id="1891" r:id="rId30"/>
    <p:sldId id="1892" r:id="rId31"/>
    <p:sldId id="1893" r:id="rId32"/>
    <p:sldId id="1894" r:id="rId33"/>
    <p:sldId id="1895" r:id="rId34"/>
    <p:sldId id="1896" r:id="rId35"/>
    <p:sldId id="1867" r:id="rId36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80" userDrawn="1">
          <p15:clr>
            <a:srgbClr val="A4A3A4"/>
          </p15:clr>
        </p15:guide>
        <p15:guide id="3" pos="7200" userDrawn="1">
          <p15:clr>
            <a:srgbClr val="A4A3A4"/>
          </p15:clr>
        </p15:guide>
        <p15:guide id="4" pos="43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4387"/>
    <a:srgbClr val="FF2625"/>
    <a:srgbClr val="007788"/>
    <a:srgbClr val="297C2A"/>
    <a:srgbClr val="F69000"/>
    <a:srgbClr val="01C2D1"/>
    <a:srgbClr val="D6D734"/>
    <a:srgbClr val="005C68"/>
    <a:srgbClr val="3B2E58"/>
    <a:srgbClr val="6B292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741" autoAdjust="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>
        <p:guide orient="horz" pos="2160"/>
        <p:guide pos="480"/>
        <p:guide pos="7200"/>
        <p:guide pos="4368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94" d="100"/>
        <a:sy n="9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D9F622F8-1824-4338-8C3C-5529D3BDEF4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618DDD53-BB38-4118-BC75-9CE27D49C55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6C03B6F7-B1AE-4118-ABA2-FFEC9B8F0E9C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5" name="Rectangle 5">
            <a:extLst>
              <a:ext uri="{FF2B5EF4-FFF2-40B4-BE49-F238E27FC236}">
                <a16:creationId xmlns:a16="http://schemas.microsoft.com/office/drawing/2014/main" id="{646F5356-BDE8-43C1-9587-85323D02B19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26" name="Rectangle 6">
            <a:extLst>
              <a:ext uri="{FF2B5EF4-FFF2-40B4-BE49-F238E27FC236}">
                <a16:creationId xmlns:a16="http://schemas.microsoft.com/office/drawing/2014/main" id="{89912C35-11A9-4DA7-8476-F1823F658CA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0727" name="Rectangle 7">
            <a:extLst>
              <a:ext uri="{FF2B5EF4-FFF2-40B4-BE49-F238E27FC236}">
                <a16:creationId xmlns:a16="http://schemas.microsoft.com/office/drawing/2014/main" id="{7180ED79-CEC3-4FB9-B511-8597B20A0C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EB7EE2-04A2-4FB2-9625-C9C73AC4D32F}" type="slidenum">
              <a:rPr lang="en-US" altLang="en-US"/>
              <a:pPr/>
              <a:t>‹#›</a:t>
            </a:fld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>
            <a:extLst>
              <a:ext uri="{FF2B5EF4-FFF2-40B4-BE49-F238E27FC236}">
                <a16:creationId xmlns:a16="http://schemas.microsoft.com/office/drawing/2014/main" id="{FA4671F7-4D2C-4B1E-AED7-24676BE8B4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947842D7-C728-4EBD-982B-B8BE79E4DBBE}" type="slidenum">
              <a:rPr lang="en-US" altLang="en-US"/>
              <a:pPr eaLnBrk="1" hangingPunct="1"/>
              <a:t>1</a:t>
            </a:fld>
            <a:endParaRPr lang="en-US" altLang="en-US" dirty="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D8E83BD0-7AE4-4323-9047-FC368929C52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FDECF5EC-C5EC-4723-8F4F-A75A20018F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814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383417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9DE7D-F945-9F1E-4E7D-D7AB3E292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B36B82-A9B0-4E6F-5553-2B56C0243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84A8F9-763B-4631-53DC-12E1FE02F1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128FB1-DBA6-036C-4743-EFF31BDD12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357077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80580-22C9-9760-0F45-06FFF6C75E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8B4DC4-343D-B8B7-CA13-2BDF944B38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1277F7-DB31-BD56-4AA3-A367F3318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63F7A-225C-6BEF-1EB4-27B2501E9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1472806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8B173-2144-B46D-F188-23AAACF43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E30ACC-A99B-7F4F-20EB-1CC607AD30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2E33DA-3725-CA3D-F8A1-555E7963C6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DD68B2-C99D-2519-4031-C50885697A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382397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5D895-0C29-50B6-5761-8C2F32245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94981F-80F6-AD1C-FA49-08B8BD4E1D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EC1B28-95C9-1311-6103-736A863EDE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Example:</a:t>
            </a:r>
          </a:p>
          <a:p>
            <a:r>
              <a:rPr lang="en-GB" dirty="0"/>
              <a:t>When you tap an icon on your phone, the OS translates that action into machine-level instructions that the CPU executes, retrieves data from memory or storage, and displays the output through the screen interface.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C211D-3F97-B4D7-48A4-7B57821762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415677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0F04F-3D5F-27F9-06A7-AB2B2B0A6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9E57CD-3CC1-CC85-BD4E-69EC3E506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A6D9CC-4012-83F0-4E2A-D9CE2205E7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EE1D9-5D2A-0149-79B4-95B30A0D6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03749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2B220-E010-9D31-5A7C-A0E8D9CC5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327749-DFFA-AE9A-5128-1AB4762C3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5DF266-8C08-DE8E-A2E6-3201266D1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How it works:</a:t>
            </a:r>
            <a:endParaRPr lang="en-GB" dirty="0"/>
          </a:p>
          <a:p>
            <a:r>
              <a:rPr lang="en-GB" dirty="0"/>
              <a:t>Users submit jobs (for example, a payroll program or a scientific calculation).</a:t>
            </a:r>
          </a:p>
          <a:p>
            <a:r>
              <a:rPr lang="en-GB" dirty="0"/>
              <a:t>The OS loads the job, executes it completely, saves the output, and then moves on to the next job in the queue.</a:t>
            </a:r>
          </a:p>
          <a:p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A payroll system that calculates salaries for all employees once a month. The system collects all employee data and processes it overnight as a batch. Similarly, early scientific and weather models used batch systems for large data computations.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49771-0DC4-D8D3-B0D8-E2A02E0DF4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01710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5B9E6-2DA2-C4BB-5637-B70E0749F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358DB-AF3A-D06C-01CD-404BF3AE7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19BC47-820D-11E6-FF9A-F82B7C461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D262A-09DC-8305-CBFA-7B26BF5ABE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0135077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F02B5-2830-540A-4644-A9802E00B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8A59D-8C3E-BB30-9676-F2265C44F7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E2DEEE-1B42-4123-4DAE-07AC616AC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How it works:</a:t>
            </a:r>
            <a:endParaRPr lang="en-GB" dirty="0"/>
          </a:p>
          <a:p>
            <a:r>
              <a:rPr lang="en-GB" dirty="0"/>
              <a:t>Each user interacts with the system through a terminal (keyboard and monitor).</a:t>
            </a:r>
          </a:p>
          <a:p>
            <a:r>
              <a:rPr lang="en-GB" dirty="0"/>
              <a:t>The OS manages time allocation so each user gets fair and predictable access.</a:t>
            </a:r>
          </a:p>
          <a:p>
            <a:r>
              <a:rPr lang="en-GB" dirty="0"/>
              <a:t>When a user’s time slice ends, the OS moves to the next user’s process.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CDABCD-7F3F-3E55-17AB-3F5C283D2E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330335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713FB-9F0B-6B3B-7E7C-1C9BD89F3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B93591-80EB-F091-C2BA-D332603FD0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0A388-E382-AA1A-6DEB-46FD55849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201F31-176B-622A-7446-9C28D806FE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61345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2F5CA-17EA-1E98-AF51-56B908FB3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BE1BC5-251B-BA64-B2F1-4B31EECA0A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510E94-75DD-D347-0FA6-6971B5E1A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152FB4-B4E5-F188-EF75-AA6E63E11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1888582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833B4-A44F-1C4D-4E74-BC5D12A87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FFAAB9-3163-E45A-CCBD-89E78EDE3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32346-4267-48B1-2B30-FDF473BCE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How it works:</a:t>
            </a:r>
            <a:endParaRPr lang="en-GB" dirty="0"/>
          </a:p>
          <a:p>
            <a:r>
              <a:rPr lang="en-GB" dirty="0"/>
              <a:t>Tasks are divided into smaller sub-tasks.</a:t>
            </a:r>
          </a:p>
          <a:p>
            <a:r>
              <a:rPr lang="en-GB" dirty="0"/>
              <a:t>Each sub-task is processed by a different CPU core.</a:t>
            </a:r>
          </a:p>
          <a:p>
            <a:r>
              <a:rPr lang="en-GB" dirty="0"/>
              <a:t>Results are combined at the end.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D0B6A-9578-1C9F-E710-BCE28B6FA8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4347301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C0BF3-CB65-61DA-C171-2C15FA802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A60368-EB80-D828-77C2-B54F0B05AC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02C32F-FE52-6BB0-445F-EAA507B5E4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BA74F5-2844-3A1C-9100-E1915CD318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16222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8FE44-305F-BE51-A638-E0D5813DB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5E5517-9887-DA33-A349-8046AFDF23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7ACF12-ACA8-8978-E85B-7171705EB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DE85A5-16F0-FF9E-83BA-A20470083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912675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DE03A-D7C8-9819-5FB1-DFF9B4C23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D3A9A3-F315-ADAE-A2BC-3FFCA19C75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29F585-CABC-4C17-32F4-A48F9DC93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8F43-1153-33A1-60DC-5A5574C7DC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00311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E3A81-566E-8BEF-0FE5-4E30723AF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449609-2F57-D50F-FD92-30D6CA8B8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902EA-B8C7-3C84-2936-E9AFEE0E3B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CBB57A-B5E7-331B-F4F8-2726712DFD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4524002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87321-67B4-4EBA-577C-A52D6FB00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7E8DC-2624-421C-EB4B-08341E58BA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C14B57-7754-80A8-3E76-4C9D92DCB9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661C38-BD09-C724-92B6-0DBD3A7F4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7693290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C253-A863-1807-60BA-475604C22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223B79-A53E-B303-4E5B-12DE9AE002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0F00AA-177D-E9EC-C16D-ACDCBBE50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37D46B-1A8B-C900-F5DF-33D14AA1D0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6003130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0A650-C269-C89A-3889-35272162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AA87E2-AE69-A24A-CFD7-EA5B4BB7D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8537C-384F-7BFA-3534-CED3D247F8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five main states are:</a:t>
            </a:r>
          </a:p>
          <a:p>
            <a:r>
              <a:rPr lang="en-GB" b="1" dirty="0"/>
              <a:t>New:</a:t>
            </a:r>
            <a:br>
              <a:rPr lang="en-GB" dirty="0"/>
            </a:br>
            <a:r>
              <a:rPr lang="en-GB" dirty="0"/>
              <a:t>The process is being created.</a:t>
            </a:r>
          </a:p>
          <a:p>
            <a:r>
              <a:rPr lang="en-GB" b="1" dirty="0"/>
              <a:t>Ready:</a:t>
            </a:r>
            <a:br>
              <a:rPr lang="en-GB" dirty="0"/>
            </a:br>
            <a:r>
              <a:rPr lang="en-GB" dirty="0"/>
              <a:t>The process is loaded into main memory and waiting for CPU allocation.</a:t>
            </a:r>
          </a:p>
          <a:p>
            <a:r>
              <a:rPr lang="en-GB" b="1" dirty="0"/>
              <a:t>Running:</a:t>
            </a:r>
            <a:br>
              <a:rPr lang="en-GB" dirty="0"/>
            </a:br>
            <a:r>
              <a:rPr lang="en-GB" dirty="0"/>
              <a:t>The process is currently being executed by the CPU.</a:t>
            </a:r>
          </a:p>
          <a:p>
            <a:r>
              <a:rPr lang="en-GB" b="1" dirty="0"/>
              <a:t>Waiting (Blocked):</a:t>
            </a:r>
            <a:br>
              <a:rPr lang="en-GB" dirty="0"/>
            </a:br>
            <a:r>
              <a:rPr lang="en-GB" dirty="0"/>
              <a:t>The process is waiting for an event (like input from a keyboard or data from a disk).</a:t>
            </a:r>
          </a:p>
          <a:p>
            <a:r>
              <a:rPr lang="en-GB" b="1" dirty="0"/>
              <a:t>Terminated:</a:t>
            </a:r>
            <a:br>
              <a:rPr lang="en-GB" dirty="0"/>
            </a:br>
            <a:r>
              <a:rPr lang="en-GB" dirty="0"/>
              <a:t>The process has finished execution and is removed from memory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ACE3B-C2A7-7390-6206-DC0D64238A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29353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7B918-C10C-280F-19F7-26D411E35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BAFF93-990C-5C93-EC7E-76171FDECE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B07082-0154-F0C7-5B51-68FDC9E27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C17BB-DC6E-A6E9-98A4-919716E1C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799002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18432-70BD-D5EF-6525-D06321BD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DD96BA-FD78-A9B6-E0EA-F65D58761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511100-2463-7579-6666-2C57050CA8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C2D848-717A-49FF-F940-9760462BBA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98847189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1698A-F684-0E6B-0DE2-B98E68CC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E10FCB-2C24-4333-0D40-F938421E33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EACA2F-0C94-846D-A3F1-FDA76B8B3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729C1-663A-5748-FE14-627039ABB6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23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60016898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B214A-66F8-C6D5-BF19-7935BD1AA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247A4E-82CD-80DD-5CDC-1F4F8D8A59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2E45B4-94D9-F20E-C3BF-E623139CC0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9D574F-57E0-14BF-9731-0D5DCB4C4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076253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E8C8-3877-0F7F-9B09-A9312B819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52FF2-3279-EEA4-76F6-8A1065A9E2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A68647-B691-5D51-DE1A-88DF3C77A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FC4CFA-3324-F1CB-1EC4-FA73012C5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25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7435184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F380F-D59A-D0FF-404B-A7CA5E04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5E996A-9A39-D69F-E575-A703A5DEC0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84268B-9FE2-1F5A-8EA1-46FAEAA23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When you print a document, Microsoft Word (user mode) cannot directly access the printer. It makes a system call, and the OS (kernel mode) handles communication with the printer driver.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38EE2-D12D-367B-B508-B3732A845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26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530623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E9A6F-F718-04FC-B9E8-59425536C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50EEE-8B29-8C28-D17B-34979B080C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2BCF1-598C-054E-87E1-FABC3913C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F1A073-7AC6-ACF6-FD62-6102D9388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27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84829018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DCD82-E935-DCA4-D6CF-72B2A50F8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89D208-C573-AAA9-F73B-FAAA48784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F2FBB8-82F9-88F4-619C-94D8FA521D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3EBEF4-5CDA-F9C9-CA9D-7F7725DB98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28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8790909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916BC-CE86-85CC-D7F5-0EDD077E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E0443-B0B8-159E-F295-EBC0C93DD6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105F1-E3D5-4D6B-C124-D07B653A3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B353EA-9C67-FA1A-5BD5-316C5EC0BA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29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2532987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6AA2EF-7548-CCB2-5FB3-8B428C994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BB0161-5489-797E-030D-5B9C8C93E7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8B6D19-423B-DBA4-4651-2B7BD87CA9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506C8F-BF5F-08E9-C7E2-B89E34F7DD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645282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0EB27-D8D3-C319-B4E7-C7285A126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6E36A3-B753-EA1E-A587-67F30F2EC1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91E6B6-D7AF-E4E8-2A08-F152470453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CFD371-AFD7-9F3C-4CF6-C7203B3613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B7EE2-04A2-4FB2-9625-C9C73AC4D32F}" type="slidenum">
              <a:rPr lang="en-US" altLang="en-US" smtClean="0"/>
              <a:pPr/>
              <a:t>31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556821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DB60B1-BEF5-4848-BB02-98EBFE355C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1"/>
            <a:ext cx="12191998" cy="6857999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E7964CB-E75A-4A03-88D3-6A48EF650A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42012" y="2766219"/>
            <a:ext cx="6220101" cy="1325563"/>
          </a:xfrm>
          <a:prstGeom prst="rect">
            <a:avLst/>
          </a:prstGeom>
        </p:spPr>
        <p:txBody>
          <a:bodyPr/>
          <a:lstStyle>
            <a:lvl1pPr>
              <a:defRPr b="1"/>
            </a:lvl1pPr>
          </a:lstStyle>
          <a:p>
            <a:r>
              <a:rPr lang="en-US" dirty="0"/>
              <a:t>Insert title here</a:t>
            </a:r>
          </a:p>
        </p:txBody>
      </p:sp>
    </p:spTree>
    <p:extLst>
      <p:ext uri="{BB962C8B-B14F-4D97-AF65-F5344CB8AC3E}">
        <p14:creationId xmlns:p14="http://schemas.microsoft.com/office/powerpoint/2010/main" val="14406792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80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340929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8FD53BA4-73D2-4CCA-8580-11F4221524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White Striped background">
            <a:extLst>
              <a:ext uri="{FF2B5EF4-FFF2-40B4-BE49-F238E27FC236}">
                <a16:creationId xmlns:a16="http://schemas.microsoft.com/office/drawing/2014/main" id="{3917D528-010E-4303-97BF-F7F67BC661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324088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780F473D-F2DF-4163-AB6E-F7327F60EC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11582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7DC18506-6205-438F-AA5C-D337F9975FC3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757381" y="2591662"/>
            <a:ext cx="10667999" cy="28337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7" name="Picture Placeholder 5" descr="Red, blue grey white pattern background">
            <a:extLst>
              <a:ext uri="{FF2B5EF4-FFF2-40B4-BE49-F238E27FC236}">
                <a16:creationId xmlns:a16="http://schemas.microsoft.com/office/drawing/2014/main" id="{CD2D4C14-919B-45F8-8FB9-55AAC8A8FC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0252"/>
            <a:ext cx="12192000" cy="8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917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6" name="Picture Placeholder 6" descr="Red, blue grey white pattern background">
            <a:extLst>
              <a:ext uri="{FF2B5EF4-FFF2-40B4-BE49-F238E27FC236}">
                <a16:creationId xmlns:a16="http://schemas.microsoft.com/office/drawing/2014/main" id="{3A82D859-AED3-485F-A04E-40320B1043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876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13624-9AD4-4B61-B3D1-7B21213507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4"/>
            <a:ext cx="10591800" cy="646332"/>
          </a:xfrm>
          <a:prstGeom prst="rect">
            <a:avLst/>
          </a:prstGeom>
        </p:spPr>
        <p:txBody>
          <a:bodyPr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DF03C311-DDF4-44A3-9D51-D5FDC4A8E7B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432562"/>
            <a:ext cx="10667999" cy="92742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 b="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8" name="SmartArt Placeholder 7">
            <a:extLst>
              <a:ext uri="{FF2B5EF4-FFF2-40B4-BE49-F238E27FC236}">
                <a16:creationId xmlns:a16="http://schemas.microsoft.com/office/drawing/2014/main" id="{9FD563C5-3DFB-47DD-8A9E-30D8084590F6}"/>
              </a:ext>
            </a:extLst>
          </p:cNvPr>
          <p:cNvSpPr>
            <a:spLocks noGrp="1"/>
          </p:cNvSpPr>
          <p:nvPr>
            <p:ph type="dgm" sz="quarter" idx="14" hasCustomPrompt="1"/>
          </p:nvPr>
        </p:nvSpPr>
        <p:spPr>
          <a:xfrm>
            <a:off x="762001" y="2369129"/>
            <a:ext cx="10667998" cy="33436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/>
            </a:lvl1pPr>
          </a:lstStyle>
          <a:p>
            <a:r>
              <a:rPr lang="en-US" dirty="0"/>
              <a:t>Insert Content here</a:t>
            </a:r>
          </a:p>
        </p:txBody>
      </p:sp>
      <p:pic>
        <p:nvPicPr>
          <p:cNvPr id="9" name="Picture Placeholder 8" descr="Red, blue grey white pattern background">
            <a:extLst>
              <a:ext uri="{FF2B5EF4-FFF2-40B4-BE49-F238E27FC236}">
                <a16:creationId xmlns:a16="http://schemas.microsoft.com/office/drawing/2014/main" id="{EFDBB6A3-9760-4B41-9E31-6D5DD396E1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626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2">
            <a:extLst>
              <a:ext uri="{FF2B5EF4-FFF2-40B4-BE49-F238E27FC236}">
                <a16:creationId xmlns:a16="http://schemas.microsoft.com/office/drawing/2014/main" id="{3F45076F-4240-4B40-8CE4-637DD751A6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3"/>
            <a:ext cx="5334000" cy="118903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98B63D-F60C-4A9D-8D3E-0C7CD748FED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5334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>
              <a:lnSpc>
                <a:spcPct val="100000"/>
              </a:lnSpc>
              <a:spcBef>
                <a:spcPts val="1000"/>
              </a:spcBef>
              <a:defRPr sz="1800"/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827A95C0-AE8D-46E1-9EF9-64504CBEF99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58000" y="715963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3">
            <a:extLst>
              <a:ext uri="{FF2B5EF4-FFF2-40B4-BE49-F238E27FC236}">
                <a16:creationId xmlns:a16="http://schemas.microsoft.com/office/drawing/2014/main" id="{89E410BA-B0FE-4F0E-8BE5-D33CC01663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58000" y="3305541"/>
            <a:ext cx="4572000" cy="2362200"/>
          </a:xfrm>
          <a:prstGeom prst="rect">
            <a:avLst/>
          </a:prstGeom>
          <a:solidFill>
            <a:schemeClr val="tx2"/>
          </a:solidFill>
        </p:spPr>
        <p:txBody>
          <a:bodyPr>
            <a:normAutofit/>
          </a:bodyPr>
          <a:lstStyle>
            <a:lvl1pPr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11" name="Picture Placeholder 5" descr="Red, blue grey white pattern background">
            <a:extLst>
              <a:ext uri="{FF2B5EF4-FFF2-40B4-BE49-F238E27FC236}">
                <a16:creationId xmlns:a16="http://schemas.microsoft.com/office/drawing/2014/main" id="{1014381E-E235-4624-9267-69EEEE9826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80922"/>
            <a:ext cx="12192000" cy="87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680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7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Pattern Content Gra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87E8F-5716-4A71-B64F-EC5A742B4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715961"/>
            <a:ext cx="6477000" cy="1189038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spcBef>
                <a:spcPts val="1000"/>
              </a:spcBef>
              <a:defRPr sz="4000" b="1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0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6696C96D-182E-490E-A117-B60FF18536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27166" y="0"/>
            <a:ext cx="47648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428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6" descr="Picture placeholder ">
            <a:extLst>
              <a:ext uri="{FF2B5EF4-FFF2-40B4-BE49-F238E27FC236}">
                <a16:creationId xmlns:a16="http://schemas.microsoft.com/office/drawing/2014/main" id="{21F9B252-B7D4-4DA8-92E8-8A98BFEF41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3D9303A2-B30A-054C-B809-053B909E12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0F58DD1-3970-D84D-8040-EF33B0971D5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</p:spTree>
    <p:extLst>
      <p:ext uri="{BB962C8B-B14F-4D97-AF65-F5344CB8AC3E}">
        <p14:creationId xmlns:p14="http://schemas.microsoft.com/office/powerpoint/2010/main" val="4100711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2243" userDrawn="1">
          <p15:clr>
            <a:srgbClr val="5ACBF0"/>
          </p15:clr>
        </p15:guide>
        <p15:guide id="4" orient="horz" pos="2488" userDrawn="1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7724906-4405-47F4-B533-7291B003B0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5301" y="1995467"/>
            <a:ext cx="9141397" cy="615553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ctr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1" i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EEF53A4-35A6-4E43-B220-67DA381C59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96307" y="3260705"/>
            <a:ext cx="7799387" cy="153475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Insert content here</a:t>
            </a:r>
          </a:p>
        </p:txBody>
      </p:sp>
      <p:pic>
        <p:nvPicPr>
          <p:cNvPr id="6" name="Picture Placeholder 5" descr="Red, blue grey white pattern background">
            <a:extLst>
              <a:ext uri="{FF2B5EF4-FFF2-40B4-BE49-F238E27FC236}">
                <a16:creationId xmlns:a16="http://schemas.microsoft.com/office/drawing/2014/main" id="{906BF34F-6945-4E11-BAEC-F66F7254C4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5999582"/>
            <a:ext cx="12192000" cy="858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523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Pattern Content Blue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668F4E-0433-49FD-9D92-3B60E9B0AE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99742" y="715961"/>
            <a:ext cx="6477000" cy="118903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spcBef>
                <a:spcPts val="1000"/>
              </a:spcBef>
              <a:defRPr sz="4000" b="1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Insert title here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E8DBED36-2461-46D0-AF71-79E0064B37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99743" y="1905000"/>
            <a:ext cx="6477000" cy="3276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bg1"/>
                </a:solidFill>
              </a:defRPr>
            </a:lvl1pPr>
            <a:lvl2pPr marL="228600" indent="-228600">
              <a:lnSpc>
                <a:spcPct val="100000"/>
              </a:lnSpc>
              <a:spcBef>
                <a:spcPts val="1000"/>
              </a:spcBef>
              <a:defRPr sz="1800">
                <a:solidFill>
                  <a:schemeClr val="bg1"/>
                </a:solidFill>
              </a:defRPr>
            </a:lvl2pPr>
          </a:lstStyle>
          <a:p>
            <a:pPr lvl="0"/>
            <a:r>
              <a:rPr lang="en-US" dirty="0"/>
              <a:t>Insert subtitle here</a:t>
            </a:r>
          </a:p>
          <a:p>
            <a:pPr lvl="1"/>
            <a:r>
              <a:rPr lang="en-US" dirty="0"/>
              <a:t>Insert content here</a:t>
            </a:r>
          </a:p>
        </p:txBody>
      </p:sp>
      <p:pic>
        <p:nvPicPr>
          <p:cNvPr id="5" name="Picture Placeholder 6" descr="Red, blue grey white pattern background">
            <a:extLst>
              <a:ext uri="{FF2B5EF4-FFF2-40B4-BE49-F238E27FC236}">
                <a16:creationId xmlns:a16="http://schemas.microsoft.com/office/drawing/2014/main" id="{BC85C715-EF0D-4E33-AC89-C35DD2596E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47679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375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08" userDrawn="1">
          <p15:clr>
            <a:srgbClr val="5ACBF0"/>
          </p15:clr>
        </p15:guide>
        <p15:guide id="3" orient="horz" pos="2240" userDrawn="1">
          <p15:clr>
            <a:srgbClr val="5ACBF0"/>
          </p15:clr>
        </p15:guide>
        <p15:guide id="4" orient="horz" pos="2487" userDrawn="1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96904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9" r:id="rId1"/>
    <p:sldLayoutId id="2147483699" r:id="rId2"/>
    <p:sldLayoutId id="2147483700" r:id="rId3"/>
    <p:sldLayoutId id="2147483691" r:id="rId4"/>
    <p:sldLayoutId id="2147483701" r:id="rId5"/>
    <p:sldLayoutId id="2147483706" r:id="rId6"/>
    <p:sldLayoutId id="2147483702" r:id="rId7"/>
    <p:sldLayoutId id="2147483704" r:id="rId8"/>
    <p:sldLayoutId id="2147483703" r:id="rId9"/>
    <p:sldLayoutId id="2147483690" r:id="rId10"/>
    <p:sldLayoutId id="214748370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ED2DB031-9003-4F74-A88F-FE2A2ABABC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442012" y="2766219"/>
            <a:ext cx="6220101" cy="1325563"/>
          </a:xfrm>
        </p:spPr>
        <p:txBody>
          <a:bodyPr anchor="ctr">
            <a:noAutofit/>
          </a:bodyPr>
          <a:lstStyle/>
          <a:p>
            <a:pPr algn="ctr"/>
            <a:r>
              <a:rPr lang="en-US" altLang="en-US" dirty="0">
                <a:solidFill>
                  <a:schemeClr val="accent2"/>
                </a:solidFill>
              </a:rPr>
              <a:t>Operating Systems</a:t>
            </a:r>
            <a:br>
              <a:rPr lang="en-US" altLang="en-US" dirty="0">
                <a:solidFill>
                  <a:schemeClr val="accent2"/>
                </a:solidFill>
              </a:rPr>
            </a:br>
            <a:r>
              <a:rPr lang="en-US" altLang="en-US" dirty="0">
                <a:solidFill>
                  <a:schemeClr val="accent2"/>
                </a:solidFill>
              </a:rPr>
              <a:t> </a:t>
            </a:r>
            <a:br>
              <a:rPr lang="en-US" altLang="en-US" dirty="0"/>
            </a:br>
            <a:r>
              <a:rPr lang="en-US" altLang="en-US" dirty="0"/>
              <a:t>Lesson -1 </a:t>
            </a:r>
          </a:p>
        </p:txBody>
      </p:sp>
    </p:spTree>
    <p:extLst>
      <p:ext uri="{BB962C8B-B14F-4D97-AF65-F5344CB8AC3E}">
        <p14:creationId xmlns:p14="http://schemas.microsoft.com/office/powerpoint/2010/main" val="154326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48FBE6B-DC67-4E64-80F4-CADE978D2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GB" sz="3600" dirty="0"/>
              <a:t>Operating Systems — Introduction &amp; Purpose</a:t>
            </a:r>
            <a:endParaRPr lang="en-US" sz="3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C6A9FD9-630E-44B9-BED8-AFEA6C84A8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812706"/>
            <a:ext cx="10667999" cy="4094935"/>
          </a:xfrm>
        </p:spPr>
        <p:txBody>
          <a:bodyPr/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An </a:t>
            </a:r>
            <a:r>
              <a:rPr lang="en-GB" sz="2000" b="1" dirty="0"/>
              <a:t>operating system (OS)</a:t>
            </a:r>
            <a:r>
              <a:rPr lang="en-GB" sz="2000" dirty="0"/>
              <a:t> is the fundamental software layer that sits between the hardware of a computer (or mobile device) and the applications that users run.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Its job is to manage and coordinate the use of hardware resources, while presenting a consistent, simplified environment to user programs.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GB" sz="2000" dirty="0"/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GB" sz="2000" dirty="0"/>
              <a:t>When a device (desktop, server, smartphone) boots up, the OS is among the first software to run. It stays active, mediating all requests from applications (for CPU time, memory, file access, I/O) to the hardware</a:t>
            </a:r>
            <a:endParaRPr lang="en-US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57678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4F7D6-C400-C342-88BB-3187EE048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795CDF-BF70-8771-A331-D8C892472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GB" sz="3600" dirty="0"/>
              <a:t>Core Functions of an OS</a:t>
            </a:r>
            <a:endParaRPr lang="en-US" sz="3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FE2F012-3201-FE4E-47A0-2744DE8ED91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483932"/>
            <a:ext cx="10667999" cy="4341514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The main functions can be grouped as follows (and we’ll expand each later throughout the course ):</a:t>
            </a:r>
          </a:p>
          <a:p>
            <a:pPr>
              <a:buFont typeface="+mj-lt"/>
              <a:buAutoNum type="arabicPeriod"/>
            </a:pPr>
            <a:r>
              <a:rPr lang="en-GB" sz="2000" b="1" dirty="0"/>
              <a:t>Process Management</a:t>
            </a:r>
            <a:br>
              <a:rPr lang="en-GB" sz="2000" dirty="0"/>
            </a:br>
            <a:r>
              <a:rPr lang="en-GB" sz="2000" dirty="0"/>
              <a:t>The OS handles creation, scheduling, and termination of processes (programs in execution). It ensures that multiple programs can share the CPU in a safe, efficient way.</a:t>
            </a:r>
          </a:p>
          <a:p>
            <a:pPr>
              <a:buFont typeface="+mj-lt"/>
              <a:buAutoNum type="arabicPeriod"/>
            </a:pPr>
            <a:r>
              <a:rPr lang="en-GB" sz="2000" b="1" dirty="0"/>
              <a:t>Memory Management</a:t>
            </a:r>
            <a:br>
              <a:rPr lang="en-GB" sz="2000" dirty="0"/>
            </a:br>
            <a:r>
              <a:rPr lang="en-GB" sz="2000" dirty="0"/>
              <a:t>It tracks which parts of memory are free or used, allocates memory to processes, enforces protection (so one process cannot corrupt another's memory), and may use techniques like virtual memory.</a:t>
            </a:r>
          </a:p>
          <a:p>
            <a:pPr>
              <a:buFont typeface="+mj-lt"/>
              <a:buAutoNum type="arabicPeriod"/>
            </a:pPr>
            <a:r>
              <a:rPr lang="en-GB" sz="2000" b="1" dirty="0"/>
              <a:t>File System Management</a:t>
            </a:r>
            <a:br>
              <a:rPr lang="en-GB" sz="2000" dirty="0"/>
            </a:br>
            <a:r>
              <a:rPr lang="en-GB" sz="2000" dirty="0"/>
              <a:t>The OS manages how data is stored, organized, retrieved, and protected on secondary storage (hard disk, SSD, flash), providing users with files and directories.</a:t>
            </a:r>
          </a:p>
        </p:txBody>
      </p:sp>
    </p:spTree>
    <p:extLst>
      <p:ext uri="{BB962C8B-B14F-4D97-AF65-F5344CB8AC3E}">
        <p14:creationId xmlns:p14="http://schemas.microsoft.com/office/powerpoint/2010/main" val="3647627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89EC4-A92E-5EF5-1957-DB3F16A88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261395E-AA2B-72E0-5D01-0E032980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15964"/>
            <a:ext cx="10591800" cy="646332"/>
          </a:xfrm>
        </p:spPr>
        <p:txBody>
          <a:bodyPr/>
          <a:lstStyle/>
          <a:p>
            <a:r>
              <a:rPr lang="en-GB" sz="3600" dirty="0"/>
              <a:t>Core Functions of an OS</a:t>
            </a:r>
            <a:endParaRPr lang="en-US" sz="3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6FBA742-CD3A-BF2D-067B-35363A16C68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545577"/>
            <a:ext cx="10667999" cy="4341514"/>
          </a:xfrm>
        </p:spPr>
        <p:txBody>
          <a:bodyPr/>
          <a:lstStyle/>
          <a:p>
            <a:pPr>
              <a:buNone/>
            </a:pPr>
            <a:r>
              <a:rPr lang="en-GB" sz="2000" b="1" dirty="0"/>
              <a:t>4. Device / I/O Management</a:t>
            </a:r>
          </a:p>
          <a:p>
            <a:pPr>
              <a:buNone/>
            </a:pPr>
            <a:r>
              <a:rPr lang="en-GB" sz="2000" dirty="0"/>
              <a:t>It handles communication with hardware devices (like disks, keyboards, network cards), often via device drivers, buffers, interrupt handling, and direct memory access (DMA).</a:t>
            </a:r>
          </a:p>
          <a:p>
            <a:pPr>
              <a:buNone/>
            </a:pPr>
            <a:r>
              <a:rPr lang="en-GB" sz="2000" b="1" dirty="0"/>
              <a:t>5. Protection &amp; Security</a:t>
            </a:r>
          </a:p>
          <a:p>
            <a:pPr>
              <a:buNone/>
            </a:pPr>
            <a:r>
              <a:rPr lang="en-GB" sz="2000" dirty="0"/>
              <a:t>The OS enforces policies so that only authorized users/processes can access resources. It also ensures integrity and confidentiality of data.</a:t>
            </a:r>
          </a:p>
          <a:p>
            <a:pPr>
              <a:buNone/>
            </a:pPr>
            <a:r>
              <a:rPr lang="en-GB" sz="2000" b="1" dirty="0"/>
              <a:t>6.User Interface / System Calls</a:t>
            </a:r>
          </a:p>
          <a:p>
            <a:pPr>
              <a:buNone/>
            </a:pPr>
            <a:r>
              <a:rPr lang="en-GB" sz="2000" dirty="0"/>
              <a:t>The OS offers mechanisms (via system calls, APIs, or GUIs) that applications use to request services (e.g. “read a file,” “send a network packet”).</a:t>
            </a:r>
          </a:p>
        </p:txBody>
      </p:sp>
    </p:spTree>
    <p:extLst>
      <p:ext uri="{BB962C8B-B14F-4D97-AF65-F5344CB8AC3E}">
        <p14:creationId xmlns:p14="http://schemas.microsoft.com/office/powerpoint/2010/main" val="1359100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CCDF0-8868-5973-D8AA-46EB2FA37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A95534-F466-BCFE-AC08-28F22040D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3600" dirty="0"/>
              <a:t>Core Functions of an OS</a:t>
            </a:r>
            <a:endParaRPr lang="en-US" sz="3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78F834-7C96-FB55-0625-1228FD4CB54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pPr>
              <a:buNone/>
            </a:pPr>
            <a:r>
              <a:rPr lang="en-GB" sz="2000" b="1" dirty="0"/>
              <a:t>4. Device / I/O Management</a:t>
            </a:r>
          </a:p>
          <a:p>
            <a:pPr>
              <a:buNone/>
            </a:pPr>
            <a:r>
              <a:rPr lang="en-GB" sz="2000" dirty="0"/>
              <a:t>It handles communication with hardware devices (like disks, keyboards, network cards), often via device drivers, buffers, interrupt handling, and direct memory access (DMA).</a:t>
            </a:r>
          </a:p>
          <a:p>
            <a:pPr>
              <a:buNone/>
            </a:pPr>
            <a:r>
              <a:rPr lang="en-GB" sz="2000" b="1" dirty="0"/>
              <a:t>5. Protection &amp; Security</a:t>
            </a:r>
          </a:p>
          <a:p>
            <a:pPr>
              <a:buNone/>
            </a:pPr>
            <a:r>
              <a:rPr lang="en-GB" sz="2000" dirty="0"/>
              <a:t>The OS enforces policies so that only authorized users/processes can access resources. It also ensures integrity and confidentiality of data.</a:t>
            </a:r>
          </a:p>
          <a:p>
            <a:pPr>
              <a:buNone/>
            </a:pPr>
            <a:r>
              <a:rPr lang="en-GB" sz="2000" b="1" dirty="0"/>
              <a:t>6.User Interface / System Calls</a:t>
            </a:r>
          </a:p>
          <a:p>
            <a:pPr>
              <a:buNone/>
            </a:pPr>
            <a:r>
              <a:rPr lang="en-GB" sz="2000" dirty="0"/>
              <a:t>The OS offers mechanisms (via system calls, APIs, or GUIs) that applications use to request services (e.g. “read a file,” “send a network packet”).</a:t>
            </a:r>
          </a:p>
          <a:p>
            <a:pPr>
              <a:buNone/>
            </a:pPr>
            <a:endParaRPr lang="en-GB" sz="2000" dirty="0"/>
          </a:p>
          <a:p>
            <a:r>
              <a:rPr lang="en-GB" sz="1900" dirty="0"/>
              <a:t>One way to view the OS is as a </a:t>
            </a:r>
            <a:r>
              <a:rPr lang="en-GB" sz="1900" b="1" dirty="0"/>
              <a:t>resource manager</a:t>
            </a:r>
            <a:r>
              <a:rPr lang="en-GB" sz="1900" dirty="0"/>
              <a:t>: it has to allocate scarce resources (CPU, memory, disk, I/O) among competing processes, while minimizing waste, preventing conflicts, and maintaining performance and fairness.</a:t>
            </a:r>
          </a:p>
        </p:txBody>
      </p:sp>
    </p:spTree>
    <p:extLst>
      <p:ext uri="{BB962C8B-B14F-4D97-AF65-F5344CB8AC3E}">
        <p14:creationId xmlns:p14="http://schemas.microsoft.com/office/powerpoint/2010/main" val="1696820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E5447-336D-D190-5DC1-0EC03A86F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BDC9A3-42BE-ED48-B308-1FCE008CF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3600" dirty="0"/>
              <a:t>What Is Computer Architecture?</a:t>
            </a:r>
            <a:endParaRPr lang="en-US" sz="36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3DF359-D3B0-001E-E026-1B335654B9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Computer architecture refers to the design and organization of a computer’s essential components and how they interact to execute programs.</a:t>
            </a:r>
          </a:p>
          <a:p>
            <a:pPr>
              <a:buNone/>
            </a:pPr>
            <a:br>
              <a:rPr lang="en-GB" sz="2000" dirty="0"/>
            </a:br>
            <a:r>
              <a:rPr lang="en-GB" sz="2000" dirty="0"/>
              <a:t>It defines the structure and behaviour of the hardware ; such as the </a:t>
            </a:r>
            <a:r>
              <a:rPr lang="en-GB" sz="2000" b="1" dirty="0"/>
              <a:t>Central Processing Unit (CPU)</a:t>
            </a:r>
            <a:r>
              <a:rPr lang="en-GB" sz="2000" dirty="0"/>
              <a:t>, </a:t>
            </a:r>
            <a:r>
              <a:rPr lang="en-GB" sz="2000" b="1" dirty="0"/>
              <a:t>memory</a:t>
            </a:r>
            <a:r>
              <a:rPr lang="en-GB" sz="2000" dirty="0"/>
              <a:t>, </a:t>
            </a:r>
            <a:r>
              <a:rPr lang="en-GB" sz="2000" b="1" dirty="0"/>
              <a:t>storage</a:t>
            </a:r>
            <a:r>
              <a:rPr lang="en-GB" sz="2000" dirty="0"/>
              <a:t>, and </a:t>
            </a:r>
            <a:r>
              <a:rPr lang="en-GB" sz="2000" b="1" dirty="0"/>
              <a:t>input/output devices</a:t>
            </a:r>
            <a:r>
              <a:rPr lang="en-GB" sz="2000" dirty="0"/>
              <a:t> and how they communicate under the control of the </a:t>
            </a:r>
            <a:r>
              <a:rPr lang="en-GB" sz="2000" b="1" dirty="0"/>
              <a:t>Operating System (OS)</a:t>
            </a:r>
            <a:r>
              <a:rPr lang="en-GB" sz="2000" dirty="0"/>
              <a:t>.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dirty="0"/>
              <a:t>An OS cannot function without understanding the underlying hardware, because its main job is to manage and coordinate the use of hardware resources among different programs.</a:t>
            </a:r>
          </a:p>
          <a:p>
            <a:pPr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6601589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ADAD7-79F7-A7D6-A9BB-411B0C9AA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15CBF8-F82A-8DB2-59D3-C106331A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The Relationship Between the OS and Computer Hardware</a:t>
            </a:r>
            <a:endParaRPr lang="en-US" sz="2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31E72A7-A68C-448D-7E10-998D375AD70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Think of a computer system as having </a:t>
            </a:r>
            <a:r>
              <a:rPr lang="en-GB" sz="2000" b="1" dirty="0"/>
              <a:t>three layers</a:t>
            </a:r>
            <a:r>
              <a:rPr lang="en-GB" sz="2000" dirty="0"/>
              <a:t>:</a:t>
            </a:r>
          </a:p>
          <a:p>
            <a:pPr>
              <a:buNone/>
            </a:pPr>
            <a:endParaRPr lang="en-GB" sz="2000" dirty="0"/>
          </a:p>
          <a:p>
            <a:pPr>
              <a:buFont typeface="+mj-lt"/>
              <a:buAutoNum type="arabicPeriod"/>
            </a:pPr>
            <a:r>
              <a:rPr lang="en-GB" sz="2000" b="1" dirty="0"/>
              <a:t>Hardware Layer:</a:t>
            </a:r>
            <a:r>
              <a:rPr lang="en-GB" sz="2000" dirty="0"/>
              <a:t> The physical components (CPU, memory, I/O devices).</a:t>
            </a:r>
          </a:p>
          <a:p>
            <a:pPr>
              <a:buFont typeface="+mj-lt"/>
              <a:buAutoNum type="arabicPeriod"/>
            </a:pPr>
            <a:r>
              <a:rPr lang="en-GB" sz="2000" b="1" dirty="0"/>
              <a:t>Operating System:</a:t>
            </a:r>
            <a:r>
              <a:rPr lang="en-GB" sz="2000" dirty="0"/>
              <a:t> Acts as a manager and translator, allowing software to use hardware safely and efficiently.</a:t>
            </a:r>
          </a:p>
          <a:p>
            <a:pPr>
              <a:buFont typeface="+mj-lt"/>
              <a:buAutoNum type="arabicPeriod"/>
            </a:pPr>
            <a:r>
              <a:rPr lang="en-GB" sz="2000" b="1" dirty="0"/>
              <a:t>Application Layer:</a:t>
            </a:r>
            <a:r>
              <a:rPr lang="en-GB" sz="2000" dirty="0"/>
              <a:t> User-facing programs such as browsers, games, or phone apps.</a:t>
            </a:r>
          </a:p>
          <a:p>
            <a:pPr>
              <a:buNone/>
            </a:pPr>
            <a:r>
              <a:rPr lang="en-GB" sz="2000" dirty="0"/>
              <a:t>The OS provides </a:t>
            </a:r>
            <a:r>
              <a:rPr lang="en-GB" sz="2000" b="1" dirty="0"/>
              <a:t>abstraction</a:t>
            </a:r>
            <a:r>
              <a:rPr lang="en-GB" sz="2000" dirty="0"/>
              <a:t> it hides the complexity of hardware and provides simple interfaces.</a:t>
            </a:r>
          </a:p>
          <a:p>
            <a:pPr>
              <a:buNone/>
            </a:pPr>
            <a:br>
              <a:rPr lang="en-GB" sz="2000" dirty="0"/>
            </a:br>
            <a:r>
              <a:rPr lang="en-GB" sz="2000" dirty="0"/>
              <a:t>For example, an app can read or write files using commands like </a:t>
            </a:r>
            <a:r>
              <a:rPr lang="en-GB" sz="2000" dirty="0">
                <a:latin typeface="Courier New" panose="02070309020205020404" pitchFamily="49" charset="0"/>
              </a:rPr>
              <a:t>open()</a:t>
            </a:r>
            <a:r>
              <a:rPr lang="en-GB" sz="2000" dirty="0"/>
              <a:t> or </a:t>
            </a:r>
            <a:r>
              <a:rPr lang="en-GB" sz="2000" dirty="0">
                <a:latin typeface="Courier New" panose="02070309020205020404" pitchFamily="49" charset="0"/>
              </a:rPr>
              <a:t>save()</a:t>
            </a:r>
            <a:r>
              <a:rPr lang="en-GB" sz="2000" dirty="0"/>
              <a:t>, without worrying about how data is actually written to the hard disk.</a:t>
            </a:r>
          </a:p>
        </p:txBody>
      </p:sp>
    </p:spTree>
    <p:extLst>
      <p:ext uri="{BB962C8B-B14F-4D97-AF65-F5344CB8AC3E}">
        <p14:creationId xmlns:p14="http://schemas.microsoft.com/office/powerpoint/2010/main" val="3853647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207D0-3F05-9104-558D-6EF6E538E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589021-49CE-A9D6-D033-2C453202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Batch, Time-Sharing, and Personal Computer (PC) Systems</a:t>
            </a:r>
            <a:endParaRPr lang="en-US" sz="2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5937517-48B6-A61C-114E-F2EE97D4673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In the early days of computing (1950s–1960s), computers were extremely expensive and rare, and interaction with them was very limited. </a:t>
            </a:r>
          </a:p>
          <a:p>
            <a:pPr>
              <a:buNone/>
            </a:pPr>
            <a:r>
              <a:rPr lang="en-GB" sz="2000" dirty="0"/>
              <a:t>Users could not type commands directly into the computer. Instead, they wrote their programs on </a:t>
            </a:r>
            <a:r>
              <a:rPr lang="en-GB" sz="2000" b="1" dirty="0"/>
              <a:t>punch cards</a:t>
            </a:r>
            <a:r>
              <a:rPr lang="en-GB" sz="2000" dirty="0"/>
              <a:t> or </a:t>
            </a:r>
            <a:r>
              <a:rPr lang="en-GB" sz="2000" b="1" dirty="0"/>
              <a:t>magnetic tapes</a:t>
            </a:r>
            <a:r>
              <a:rPr lang="en-GB" sz="2000" dirty="0"/>
              <a:t>, which were then collected and loaded into the computer by an </a:t>
            </a:r>
            <a:r>
              <a:rPr lang="en-GB" sz="2000" b="1" dirty="0"/>
              <a:t>operator</a:t>
            </a:r>
            <a:r>
              <a:rPr lang="en-GB" sz="2000" dirty="0"/>
              <a:t>.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dirty="0"/>
              <a:t>The computer processed these jobs one after another, in a </a:t>
            </a:r>
            <a:r>
              <a:rPr lang="en-GB" sz="2000" b="1" dirty="0"/>
              <a:t>batch</a:t>
            </a:r>
            <a:r>
              <a:rPr lang="en-GB" sz="2000" dirty="0"/>
              <a:t>, without any human intervention during execution. The operating system managed this sequential job execution, hence the name </a:t>
            </a:r>
            <a:r>
              <a:rPr lang="en-GB" sz="2000" b="1" dirty="0"/>
              <a:t>batch processing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28993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F3499-CDC6-E099-1B02-044113796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3353510-81A8-FD22-39C8-AD4FF16D1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The Relationship Between the OS and Computer Hardware</a:t>
            </a:r>
            <a:endParaRPr lang="en-US" sz="2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75C2D4-E989-AAB8-3A55-FEA3C2CE92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r>
              <a:rPr lang="en-GB" sz="2000" b="1" dirty="0"/>
              <a:t>Advantages: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Maximizes CPU usage by keeping it busy when one job finishes, the next begins immediately.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Suitable for long, repetitive tasks that don’t need human input during execution.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Reduces human error since jobs are pre-prepared and submitted together.</a:t>
            </a:r>
          </a:p>
          <a:p>
            <a:r>
              <a:rPr lang="en-GB" sz="2000" b="1" dirty="0"/>
              <a:t>Disadvantages: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No interaction with the system once a job starts users must wait for results.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Debugging is difficult because if a job fails, it can halt or delay the entire batch.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Turnaround time (time from submission to getting output) is often long.</a:t>
            </a:r>
          </a:p>
        </p:txBody>
      </p:sp>
    </p:spTree>
    <p:extLst>
      <p:ext uri="{BB962C8B-B14F-4D97-AF65-F5344CB8AC3E}">
        <p14:creationId xmlns:p14="http://schemas.microsoft.com/office/powerpoint/2010/main" val="28546655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CE7E33-07E3-4237-B76C-90BE1F0B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9795520-E716-C90C-60C4-7D48BCB42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Time-Sharing Systems</a:t>
            </a:r>
            <a:endParaRPr lang="en-US" sz="2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7AC4026-B17E-508E-DA13-1426FAFC65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r>
              <a:rPr lang="en-GB" sz="2000" dirty="0"/>
              <a:t>As computer technology improved, systems became fast enough to support multiple users at the same time. This led to </a:t>
            </a:r>
            <a:r>
              <a:rPr lang="en-GB" sz="2000" b="1" dirty="0"/>
              <a:t>time-sharing systems</a:t>
            </a:r>
            <a:r>
              <a:rPr lang="en-GB" sz="2000" dirty="0"/>
              <a:t> (also called </a:t>
            </a:r>
            <a:r>
              <a:rPr lang="en-GB" sz="2000" b="1" dirty="0"/>
              <a:t>multi-user systems</a:t>
            </a:r>
            <a:r>
              <a:rPr lang="en-GB" sz="2000" dirty="0"/>
              <a:t>), which became popular in the 1960s and 1970s.</a:t>
            </a:r>
          </a:p>
          <a:p>
            <a:endParaRPr lang="en-GB" sz="2000" dirty="0"/>
          </a:p>
          <a:p>
            <a:r>
              <a:rPr lang="en-GB" sz="2000" dirty="0"/>
              <a:t>Here, the CPU rapidly switches between multiple users’ jobs, giving each a small fraction of time known as a </a:t>
            </a:r>
            <a:r>
              <a:rPr lang="en-GB" sz="2000" b="1" dirty="0"/>
              <a:t>time slice</a:t>
            </a:r>
            <a:r>
              <a:rPr lang="en-GB" sz="2000" dirty="0"/>
              <a:t> or </a:t>
            </a:r>
            <a:r>
              <a:rPr lang="en-GB" sz="2000" b="1" dirty="0"/>
              <a:t>quantum</a:t>
            </a:r>
            <a:r>
              <a:rPr lang="en-GB" sz="2000" dirty="0"/>
              <a:t>. Although only one user’s process runs at a time, this rapid switching creates the </a:t>
            </a:r>
            <a:r>
              <a:rPr lang="en-GB" sz="2000" b="1" dirty="0"/>
              <a:t>illusion of simultaneous use</a:t>
            </a:r>
            <a:r>
              <a:rPr lang="en-GB" sz="2000" dirty="0"/>
              <a:t>.</a:t>
            </a:r>
          </a:p>
          <a:p>
            <a:endParaRPr lang="en-GB" sz="2000" dirty="0"/>
          </a:p>
          <a:p>
            <a:r>
              <a:rPr lang="en-GB" sz="2000" b="1" dirty="0"/>
              <a:t>Example:</a:t>
            </a:r>
            <a:br>
              <a:rPr lang="en-GB" sz="2000" dirty="0"/>
            </a:br>
            <a:r>
              <a:rPr lang="en-GB" sz="2000" dirty="0"/>
              <a:t>UNIX systems used in universities, where dozens of students log into one mainframe computer. Each student can compile code, edit files, and run programs, all appearing to happen concurrently.</a:t>
            </a:r>
          </a:p>
        </p:txBody>
      </p:sp>
    </p:spTree>
    <p:extLst>
      <p:ext uri="{BB962C8B-B14F-4D97-AF65-F5344CB8AC3E}">
        <p14:creationId xmlns:p14="http://schemas.microsoft.com/office/powerpoint/2010/main" val="31930526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CDE6F-2410-1E49-C996-DF757118C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681B42-7FCF-8D10-3F4E-FA4A6D68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Time-Sharing Systems</a:t>
            </a:r>
            <a:endParaRPr lang="en-US" sz="2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C4004F1-748C-2AA5-CA4A-11FF5E51AE5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pPr>
              <a:buNone/>
            </a:pPr>
            <a:r>
              <a:rPr lang="en-GB" sz="2000" b="1" dirty="0"/>
              <a:t>Advantages: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Interactive — users can type commands and get immediate feedback.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Efficient — the CPU is always busy, switching between tasks.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Promotes resource sharing — many users can share the same computer hardware.</a:t>
            </a:r>
          </a:p>
          <a:p>
            <a:pPr>
              <a:buNone/>
            </a:pPr>
            <a:r>
              <a:rPr lang="en-GB" sz="2000" b="1" dirty="0"/>
              <a:t>Disadvantages: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Requires complex scheduling algorithms.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System performance depends on how well resources are allocated among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Heavy load from many users can slow down response time.</a:t>
            </a:r>
          </a:p>
        </p:txBody>
      </p:sp>
    </p:spTree>
    <p:extLst>
      <p:ext uri="{BB962C8B-B14F-4D97-AF65-F5344CB8AC3E}">
        <p14:creationId xmlns:p14="http://schemas.microsoft.com/office/powerpoint/2010/main" val="3071694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E33CE-09BC-5AB6-5548-C25D856B7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4A1E1F1-A0C1-A305-19BC-12D8B9AF6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Personal Computer (PC) Systems</a:t>
            </a:r>
            <a:endParaRPr lang="en-US" sz="2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54521E-82B2-B240-74EC-C2F25EBD49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The invention of </a:t>
            </a:r>
            <a:r>
              <a:rPr lang="en-GB" sz="2000" b="1" dirty="0"/>
              <a:t>microprocessors</a:t>
            </a:r>
            <a:r>
              <a:rPr lang="en-GB" sz="2000" dirty="0"/>
              <a:t> in the 1970s revolutionized computing. Instead of large, shared mainframes, smaller, affordable </a:t>
            </a:r>
            <a:r>
              <a:rPr lang="en-GB" sz="2000" b="1" dirty="0"/>
              <a:t>personal computers</a:t>
            </a:r>
            <a:r>
              <a:rPr lang="en-GB" sz="2000" dirty="0"/>
              <a:t> became available for individual users. Each user could now have a standalone computer with its own </a:t>
            </a:r>
            <a:r>
              <a:rPr lang="en-GB" sz="2000" b="1" dirty="0"/>
              <a:t>operating system</a:t>
            </a:r>
            <a:r>
              <a:rPr lang="en-GB" sz="2000" dirty="0"/>
              <a:t> that directly manages the machine’s resources.</a:t>
            </a:r>
          </a:p>
          <a:p>
            <a:pPr>
              <a:buNone/>
            </a:pPr>
            <a:endParaRPr lang="en-GB" sz="2000" dirty="0"/>
          </a:p>
          <a:p>
            <a:r>
              <a:rPr lang="en-GB" sz="2000" b="1" dirty="0"/>
              <a:t>Characteristics:</a:t>
            </a:r>
            <a:endParaRPr lang="en-GB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system is </a:t>
            </a:r>
            <a:r>
              <a:rPr lang="en-GB" sz="2000" b="1" dirty="0"/>
              <a:t>dedicated to one user</a:t>
            </a:r>
            <a:r>
              <a:rPr lang="en-GB" sz="2000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The OS manages local resources: CPU, memory, files, and input/output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/>
              <a:t>Supports </a:t>
            </a:r>
            <a:r>
              <a:rPr lang="en-GB" sz="2000" b="1" dirty="0"/>
              <a:t>multitasking</a:t>
            </a:r>
            <a:r>
              <a:rPr lang="en-GB" sz="2000" dirty="0"/>
              <a:t>, allowing multiple programs to run at once (e.g., browsing, typing, and listening to music simultaneously).</a:t>
            </a:r>
          </a:p>
          <a:p>
            <a:r>
              <a:rPr lang="en-GB" sz="1600" b="1" dirty="0"/>
              <a:t>Example:</a:t>
            </a:r>
            <a:br>
              <a:rPr lang="en-GB" sz="1600" dirty="0"/>
            </a:br>
            <a:r>
              <a:rPr lang="en-GB" sz="1600" dirty="0"/>
              <a:t>On a Windows laptop, a user can open Word, browse the web, play music, and download updates ;all at the same time. The OS allocates CPU time and memory to each application so they appear to run smoothly together</a:t>
            </a:r>
          </a:p>
        </p:txBody>
      </p:sp>
    </p:spTree>
    <p:extLst>
      <p:ext uri="{BB962C8B-B14F-4D97-AF65-F5344CB8AC3E}">
        <p14:creationId xmlns:p14="http://schemas.microsoft.com/office/powerpoint/2010/main" val="17088717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30FE9-18FD-67D5-842E-7476CC08C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EE8487-0800-AEC8-C21D-9AFA27D1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Parallel, Real-Time, and Batch Processing Systems</a:t>
            </a:r>
            <a:endParaRPr lang="en-US" sz="2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FE01468-715C-EBFF-8A3B-CE4F1E9A9C4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341514"/>
          </a:xfrm>
        </p:spPr>
        <p:txBody>
          <a:bodyPr/>
          <a:lstStyle/>
          <a:p>
            <a:r>
              <a:rPr lang="en-GB" sz="2000" b="1" dirty="0"/>
              <a:t>Parallel Processing Systems</a:t>
            </a:r>
          </a:p>
          <a:p>
            <a:r>
              <a:rPr lang="en-GB" sz="2000" dirty="0"/>
              <a:t>Modern systems often use </a:t>
            </a:r>
            <a:r>
              <a:rPr lang="en-GB" sz="2000" b="1" dirty="0"/>
              <a:t>multiple processors</a:t>
            </a:r>
            <a:r>
              <a:rPr lang="en-GB" sz="2000" dirty="0"/>
              <a:t> (or CPU cores) that work together to perform tasks simultaneously. This is known as </a:t>
            </a:r>
            <a:r>
              <a:rPr lang="en-GB" sz="2000" b="1" dirty="0"/>
              <a:t>parallel processing</a:t>
            </a:r>
            <a:r>
              <a:rPr lang="en-GB" sz="2000" dirty="0"/>
              <a:t>. Each processor handles a different portion of a task or executes multiple tasks at the same time, significantly improving performance and speed.</a:t>
            </a:r>
          </a:p>
          <a:p>
            <a:endParaRPr lang="en-GB" sz="2000" dirty="0"/>
          </a:p>
          <a:p>
            <a:r>
              <a:rPr lang="en-GB" sz="2000" b="1" dirty="0"/>
              <a:t>Example:</a:t>
            </a:r>
            <a:br>
              <a:rPr lang="en-GB" sz="2000" dirty="0"/>
            </a:br>
            <a:r>
              <a:rPr lang="en-GB" sz="2000" dirty="0"/>
              <a:t>A smartphone may use multiple cores — one core handles camera processing, another manages app background tasks, while another processes user input. Similarly, data </a:t>
            </a:r>
            <a:r>
              <a:rPr lang="en-GB" sz="2000" dirty="0" err="1"/>
              <a:t>centers</a:t>
            </a:r>
            <a:r>
              <a:rPr lang="en-GB" sz="2000" dirty="0"/>
              <a:t> and supercomputers use thousands of processors for simulations or AI training.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877306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A2BAD-BC4E-7A54-3263-68BA56EA5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54A4D80-CB83-AB22-C83C-984131C22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Real-Time Systems</a:t>
            </a:r>
            <a:endParaRPr lang="en-US" sz="280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C42B2C7-F69B-3F60-00E5-0D3105757BE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r>
              <a:rPr lang="en-GB" sz="2000" dirty="0"/>
              <a:t>A </a:t>
            </a:r>
            <a:r>
              <a:rPr lang="en-GB" sz="2000" b="1" dirty="0"/>
              <a:t>real-time operating system (RTOS)</a:t>
            </a:r>
            <a:r>
              <a:rPr lang="en-GB" sz="2000" dirty="0"/>
              <a:t> must respond to inputs or events </a:t>
            </a:r>
            <a:r>
              <a:rPr lang="en-GB" sz="2000" b="1" dirty="0"/>
              <a:t>within a guaranteed time frame</a:t>
            </a:r>
            <a:r>
              <a:rPr lang="en-GB" sz="2000" dirty="0"/>
              <a:t>. The correctness of such systems depends not only on the result but also on </a:t>
            </a:r>
            <a:r>
              <a:rPr lang="en-GB" sz="2000" b="1" dirty="0"/>
              <a:t>how quickly</a:t>
            </a:r>
            <a:r>
              <a:rPr lang="en-GB" sz="2000" dirty="0"/>
              <a:t> it is produced.</a:t>
            </a:r>
          </a:p>
          <a:p>
            <a:r>
              <a:rPr lang="en-GB" sz="2000" dirty="0"/>
              <a:t>These systems are common in environments where </a:t>
            </a:r>
            <a:r>
              <a:rPr lang="en-GB" sz="2000" b="1" dirty="0"/>
              <a:t>timing is critical</a:t>
            </a:r>
            <a:r>
              <a:rPr lang="en-GB" sz="2000" dirty="0"/>
              <a:t> — such as industrial automation, mobile baseband processors, and embedded devices.</a:t>
            </a:r>
          </a:p>
          <a:p>
            <a:endParaRPr lang="en-GB" sz="2000" dirty="0"/>
          </a:p>
          <a:p>
            <a:pPr>
              <a:buNone/>
            </a:pPr>
            <a:r>
              <a:rPr lang="en-GB" sz="2000" b="1" dirty="0"/>
              <a:t>Types of Real-Time Systems:</a:t>
            </a:r>
            <a:endParaRPr lang="en-GB" sz="2000" dirty="0"/>
          </a:p>
          <a:p>
            <a:pPr>
              <a:buFont typeface="+mj-lt"/>
              <a:buAutoNum type="arabicPeriod"/>
            </a:pPr>
            <a:r>
              <a:rPr lang="en-GB" sz="2000" b="1" dirty="0"/>
              <a:t>Hard Real-Time Systems:</a:t>
            </a:r>
            <a:br>
              <a:rPr lang="en-GB" sz="2000" dirty="0"/>
            </a:br>
            <a:r>
              <a:rPr lang="en-GB" sz="2000" dirty="0"/>
              <a:t>Missing a deadline can cause complete system failure or danger.</a:t>
            </a:r>
            <a:br>
              <a:rPr lang="en-GB" sz="2000" dirty="0"/>
            </a:br>
            <a:r>
              <a:rPr lang="en-GB" sz="2000" i="1" dirty="0"/>
              <a:t>Example:</a:t>
            </a:r>
            <a:r>
              <a:rPr lang="en-GB" sz="2000" dirty="0"/>
              <a:t> Airplane control systems, car airbag deployment.</a:t>
            </a:r>
          </a:p>
          <a:p>
            <a:pPr>
              <a:buFont typeface="+mj-lt"/>
              <a:buAutoNum type="arabicPeriod"/>
            </a:pPr>
            <a:r>
              <a:rPr lang="en-GB" sz="2000" b="1" dirty="0"/>
              <a:t>Soft Real-Time Systems:</a:t>
            </a:r>
            <a:br>
              <a:rPr lang="en-GB" sz="2000" dirty="0"/>
            </a:br>
            <a:r>
              <a:rPr lang="en-GB" sz="2000" dirty="0"/>
              <a:t>Occasional delays are tolerable but should be minimal.</a:t>
            </a:r>
            <a:br>
              <a:rPr lang="en-GB" sz="2000" dirty="0"/>
            </a:br>
            <a:r>
              <a:rPr lang="en-GB" sz="2000" i="1" dirty="0"/>
              <a:t>Example:</a:t>
            </a:r>
            <a:r>
              <a:rPr lang="en-GB" sz="2000" dirty="0"/>
              <a:t> Video streaming, mobile network scheduling.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753472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56933-F852-28A4-C194-A2B8809EE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1812644-E90C-57E9-75EE-3C1342E32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Batch Processing (Modern Context)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A776416-B85B-10C7-3835-670537A13B3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While batch systems originated in the early days of computing, they are still used today — especially for </a:t>
            </a:r>
            <a:r>
              <a:rPr lang="en-GB" sz="2000" b="1" dirty="0"/>
              <a:t>automated background tasks</a:t>
            </a:r>
            <a:r>
              <a:rPr lang="en-GB" sz="2000" dirty="0"/>
              <a:t> where no immediate response is needed.</a:t>
            </a:r>
          </a:p>
          <a:p>
            <a:pPr>
              <a:buNone/>
            </a:pPr>
            <a:r>
              <a:rPr lang="en-GB" sz="2000" b="1" dirty="0"/>
              <a:t>Examples: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Database backups or log analysis done overnight.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Mobile network billing systems that process all usage data at the end of the 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Cloud data processing jobs (e.g., training AI models in scheduled batches).</a:t>
            </a:r>
          </a:p>
          <a:p>
            <a:pPr>
              <a:buNone/>
            </a:pPr>
            <a:r>
              <a:rPr lang="en-GB" sz="2000" dirty="0"/>
              <a:t>Modern batch systems are often implemented using tools like </a:t>
            </a:r>
            <a:r>
              <a:rPr lang="en-GB" sz="2000" b="1" dirty="0"/>
              <a:t>Hadoop</a:t>
            </a:r>
            <a:r>
              <a:rPr lang="en-GB" sz="2000" dirty="0"/>
              <a:t> or </a:t>
            </a:r>
            <a:r>
              <a:rPr lang="en-GB" sz="2000" b="1" dirty="0"/>
              <a:t>Apache Spark</a:t>
            </a:r>
            <a:r>
              <a:rPr lang="en-GB" sz="2000" dirty="0"/>
              <a:t>, which process large datasets efficiently in scheduled cycles.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8733659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07BC8-9830-570A-5AC5-892B08120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ED69C5-47E4-6B6E-7E87-AC885375C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Processes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1DD661-51C1-BB06-9D87-E950BAD533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r>
              <a:rPr lang="en-GB" sz="2000" dirty="0"/>
              <a:t>A </a:t>
            </a:r>
            <a:r>
              <a:rPr lang="en-GB" sz="2000" b="1" dirty="0"/>
              <a:t>process</a:t>
            </a:r>
            <a:r>
              <a:rPr lang="en-GB" sz="2000" dirty="0"/>
              <a:t> is one of the most fundamental concepts in any operating system.</a:t>
            </a:r>
            <a:br>
              <a:rPr lang="en-GB" sz="2000" dirty="0"/>
            </a:br>
            <a:r>
              <a:rPr lang="en-GB" sz="2000" dirty="0"/>
              <a:t>It represents a </a:t>
            </a:r>
            <a:r>
              <a:rPr lang="en-GB" sz="2000" b="1" dirty="0"/>
              <a:t>program in execution</a:t>
            </a:r>
            <a:r>
              <a:rPr lang="en-GB" sz="2000" dirty="0"/>
              <a:t> that is, an active instance of a computer program currently being executed by the CPU.</a:t>
            </a:r>
          </a:p>
          <a:p>
            <a:br>
              <a:rPr lang="en-GB" sz="2000" dirty="0"/>
            </a:br>
            <a:r>
              <a:rPr lang="en-GB" sz="2000" dirty="0"/>
              <a:t>While a program is a </a:t>
            </a:r>
            <a:r>
              <a:rPr lang="en-GB" sz="2000" i="1" dirty="0"/>
              <a:t>passive</a:t>
            </a:r>
            <a:r>
              <a:rPr lang="en-GB" sz="2000" dirty="0"/>
              <a:t> collection of instructions stored on disk, a process is </a:t>
            </a:r>
            <a:r>
              <a:rPr lang="en-GB" sz="2000" i="1" dirty="0"/>
              <a:t>active</a:t>
            </a:r>
            <a:r>
              <a:rPr lang="en-GB" sz="2000" dirty="0"/>
              <a:t> that is  it includes not only the program code but also its current activity, data, and the resources assigned to it.</a:t>
            </a:r>
          </a:p>
        </p:txBody>
      </p:sp>
    </p:spTree>
    <p:extLst>
      <p:ext uri="{BB962C8B-B14F-4D97-AF65-F5344CB8AC3E}">
        <p14:creationId xmlns:p14="http://schemas.microsoft.com/office/powerpoint/2010/main" val="2949055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997AB9-1E2D-E11D-E167-A0ECE2A1D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F132534-685D-ABD7-69AE-9CFD095E8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Processes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103D1D-E36C-904D-BC16-A3F7A383CA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r>
              <a:rPr lang="en-GB" sz="2000" dirty="0"/>
              <a:t>A </a:t>
            </a:r>
            <a:r>
              <a:rPr lang="en-GB" sz="2000" b="1" dirty="0"/>
              <a:t>process</a:t>
            </a:r>
            <a:r>
              <a:rPr lang="en-GB" sz="2000" dirty="0"/>
              <a:t> is one of the most fundamental concepts in any operating system.</a:t>
            </a:r>
            <a:br>
              <a:rPr lang="en-GB" sz="2000" dirty="0"/>
            </a:br>
            <a:r>
              <a:rPr lang="en-GB" sz="2000" dirty="0"/>
              <a:t>It represents a </a:t>
            </a:r>
            <a:r>
              <a:rPr lang="en-GB" sz="2000" b="1" dirty="0"/>
              <a:t>program in execution</a:t>
            </a:r>
            <a:r>
              <a:rPr lang="en-GB" sz="2000" dirty="0"/>
              <a:t> that is, an active instance of a computer program currently being executed by the CPU.</a:t>
            </a:r>
          </a:p>
          <a:p>
            <a:r>
              <a:rPr lang="en-GB" sz="2000" b="1" dirty="0"/>
              <a:t>Difference between a process and a program </a:t>
            </a:r>
          </a:p>
          <a:p>
            <a:br>
              <a:rPr lang="en-GB" sz="2000" dirty="0"/>
            </a:br>
            <a:r>
              <a:rPr lang="en-GB" sz="2000" dirty="0"/>
              <a:t>While a </a:t>
            </a:r>
            <a:r>
              <a:rPr lang="en-GB" sz="2000" b="1" dirty="0"/>
              <a:t>program</a:t>
            </a:r>
            <a:r>
              <a:rPr lang="en-GB" sz="2000" dirty="0"/>
              <a:t> is a </a:t>
            </a:r>
            <a:r>
              <a:rPr lang="en-GB" sz="2000" i="1" dirty="0"/>
              <a:t>passive</a:t>
            </a:r>
            <a:r>
              <a:rPr lang="en-GB" sz="2000" dirty="0"/>
              <a:t> collection of instructions stored on disk, a </a:t>
            </a:r>
            <a:r>
              <a:rPr lang="en-GB" sz="2000" b="1" dirty="0"/>
              <a:t>process</a:t>
            </a:r>
            <a:r>
              <a:rPr lang="en-GB" sz="2000" dirty="0"/>
              <a:t> is </a:t>
            </a:r>
            <a:r>
              <a:rPr lang="en-GB" sz="2000" i="1" dirty="0"/>
              <a:t>active</a:t>
            </a:r>
            <a:r>
              <a:rPr lang="en-GB" sz="2000" dirty="0"/>
              <a:t> that is to say,  it includes not only the program code but also its current activity, data, and the resources assigned to it.</a:t>
            </a:r>
          </a:p>
        </p:txBody>
      </p:sp>
    </p:spTree>
    <p:extLst>
      <p:ext uri="{BB962C8B-B14F-4D97-AF65-F5344CB8AC3E}">
        <p14:creationId xmlns:p14="http://schemas.microsoft.com/office/powerpoint/2010/main" val="23317257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3C1A-DB6C-6255-6D25-EAF137B3C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D500F7-40A5-AC02-B3D9-9BE219423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Processes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8DDC33E-839E-5CFA-E1CD-6BCD63AF11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When you double-click an application icon, for example, Microsoft Word or a web browser, the operating system:</a:t>
            </a:r>
          </a:p>
          <a:p>
            <a:pPr lvl="2">
              <a:buFont typeface="+mj-lt"/>
              <a:buAutoNum type="arabicPeriod"/>
            </a:pPr>
            <a:r>
              <a:rPr lang="en-GB" dirty="0"/>
              <a:t>Loads the program’s code from storage (like an SSD or HDD) into </a:t>
            </a:r>
            <a:r>
              <a:rPr lang="en-GB" b="1" dirty="0"/>
              <a:t>main memory (RAM)</a:t>
            </a:r>
            <a:r>
              <a:rPr lang="en-GB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GB" dirty="0"/>
              <a:t>Assigns it a </a:t>
            </a:r>
            <a:r>
              <a:rPr lang="en-GB" b="1" dirty="0"/>
              <a:t>Process Control Block (PCB)</a:t>
            </a:r>
            <a:r>
              <a:rPr lang="en-GB" dirty="0"/>
              <a:t> . A PCB can be seen as a data structure that holds all information about that process.</a:t>
            </a:r>
          </a:p>
          <a:p>
            <a:pPr lvl="2">
              <a:buFont typeface="+mj-lt"/>
              <a:buAutoNum type="arabicPeriod"/>
            </a:pPr>
            <a:r>
              <a:rPr lang="en-GB" dirty="0"/>
              <a:t>Begins executing the program instructions sequentially using the CPU.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dirty="0"/>
              <a:t>Hence, a process can be seen as:</a:t>
            </a:r>
          </a:p>
          <a:p>
            <a:pPr>
              <a:buNone/>
            </a:pPr>
            <a:r>
              <a:rPr lang="en-GB" sz="2000" i="1" dirty="0"/>
              <a:t>“A running instance of a program, along with all resources needed for its execution.”</a:t>
            </a:r>
          </a:p>
          <a:p>
            <a:pPr>
              <a:buNone/>
            </a:pPr>
            <a:r>
              <a:rPr lang="en-GB" sz="2000" dirty="0"/>
              <a:t>Each process operates </a:t>
            </a:r>
            <a:r>
              <a:rPr lang="en-GB" sz="2000" b="1" dirty="0"/>
              <a:t>independently</a:t>
            </a:r>
            <a:r>
              <a:rPr lang="en-GB" sz="2000" dirty="0"/>
              <a:t> and is managed by the OS scheduler.</a:t>
            </a:r>
            <a:br>
              <a:rPr lang="en-GB" sz="2000" dirty="0"/>
            </a:br>
            <a:r>
              <a:rPr lang="en-GB" sz="2000" dirty="0"/>
              <a:t>Multiple processes can exist simultaneously, which is the basis for </a:t>
            </a:r>
            <a:r>
              <a:rPr lang="en-GB" sz="2000" b="1" dirty="0"/>
              <a:t>multitasking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69105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E7996-79AA-99C4-7FCC-71DB037DA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863A17-0E7D-B88E-57A4-24CCAEF2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Processes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FB7647-CEA7-71C4-AC98-B9E841DC7D9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When you double-click an application icon, for example, Microsoft Word or a web browser, the operating system:</a:t>
            </a:r>
          </a:p>
          <a:p>
            <a:pPr lvl="2">
              <a:buFont typeface="+mj-lt"/>
              <a:buAutoNum type="arabicPeriod"/>
            </a:pPr>
            <a:r>
              <a:rPr lang="en-GB" dirty="0"/>
              <a:t>Loads the program’s code from storage (like an SSD or HDD) into </a:t>
            </a:r>
            <a:r>
              <a:rPr lang="en-GB" b="1" dirty="0"/>
              <a:t>main memory (RAM)</a:t>
            </a:r>
            <a:r>
              <a:rPr lang="en-GB" dirty="0"/>
              <a:t>.</a:t>
            </a:r>
          </a:p>
          <a:p>
            <a:pPr lvl="2">
              <a:buFont typeface="+mj-lt"/>
              <a:buAutoNum type="arabicPeriod"/>
            </a:pPr>
            <a:r>
              <a:rPr lang="en-GB" dirty="0"/>
              <a:t>Assigns it a </a:t>
            </a:r>
            <a:r>
              <a:rPr lang="en-GB" b="1" dirty="0"/>
              <a:t>Process Control Block (PCB)</a:t>
            </a:r>
            <a:r>
              <a:rPr lang="en-GB" dirty="0"/>
              <a:t> . A PCB can be seen as a data structure that holds all information about that process.</a:t>
            </a:r>
          </a:p>
          <a:p>
            <a:pPr lvl="2">
              <a:buFont typeface="+mj-lt"/>
              <a:buAutoNum type="arabicPeriod"/>
            </a:pPr>
            <a:r>
              <a:rPr lang="en-GB" dirty="0"/>
              <a:t>Begins executing the program instructions sequentially using the CPU.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dirty="0"/>
              <a:t>Hence, a process can be seen as:</a:t>
            </a:r>
          </a:p>
          <a:p>
            <a:pPr>
              <a:buNone/>
            </a:pPr>
            <a:r>
              <a:rPr lang="en-GB" sz="2000" i="1" dirty="0"/>
              <a:t>“A running instance of a program, along with all resources needed for its execution.”</a:t>
            </a:r>
          </a:p>
          <a:p>
            <a:pPr>
              <a:buNone/>
            </a:pPr>
            <a:r>
              <a:rPr lang="en-GB" sz="2000" dirty="0"/>
              <a:t>Each process operates </a:t>
            </a:r>
            <a:r>
              <a:rPr lang="en-GB" sz="2000" b="1" dirty="0"/>
              <a:t>independently</a:t>
            </a:r>
            <a:r>
              <a:rPr lang="en-GB" sz="2000" dirty="0"/>
              <a:t> and is managed by the OS scheduler.</a:t>
            </a:r>
            <a:br>
              <a:rPr lang="en-GB" sz="2000" dirty="0"/>
            </a:br>
            <a:r>
              <a:rPr lang="en-GB" sz="2000" dirty="0"/>
              <a:t>Multiple processes can exist simultaneously, which is the basis for </a:t>
            </a:r>
            <a:r>
              <a:rPr lang="en-GB" sz="2000" b="1" dirty="0"/>
              <a:t>multitasking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791258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DB7B0-A497-EB1E-6CA8-46ADB617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A0EE92-977C-ABC3-2DE9-67783F3F7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Processes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493C212-708C-6C85-CED1-3883AB9D4C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pPr>
              <a:buNone/>
            </a:pPr>
            <a:r>
              <a:rPr lang="en-GB" sz="2000" b="1" dirty="0"/>
              <a:t>Process States</a:t>
            </a:r>
          </a:p>
          <a:p>
            <a:pPr>
              <a:buNone/>
            </a:pPr>
            <a:r>
              <a:rPr lang="en-GB" sz="2000" dirty="0"/>
              <a:t>A process does not execute continuously from start to finish. Instead, it passes through a series of </a:t>
            </a:r>
            <a:r>
              <a:rPr lang="en-GB" sz="2000" b="1" dirty="0"/>
              <a:t>states</a:t>
            </a:r>
            <a:r>
              <a:rPr lang="en-GB" sz="2000" dirty="0"/>
              <a:t> depending on system activity.</a:t>
            </a:r>
          </a:p>
          <a:p>
            <a:pPr>
              <a:buNone/>
            </a:pPr>
            <a:endParaRPr lang="en-GB" sz="2000" dirty="0"/>
          </a:p>
          <a:p>
            <a:pPr>
              <a:buNone/>
            </a:pPr>
            <a:r>
              <a:rPr lang="en-GB" sz="2000" b="1" dirty="0"/>
              <a:t>Process Control Block (PCB)</a:t>
            </a:r>
          </a:p>
          <a:p>
            <a:pPr>
              <a:buNone/>
            </a:pPr>
            <a:r>
              <a:rPr lang="en-GB" sz="2000" dirty="0"/>
              <a:t>The </a:t>
            </a:r>
            <a:r>
              <a:rPr lang="en-GB" sz="2000" b="1" dirty="0"/>
              <a:t>PCB</a:t>
            </a:r>
            <a:r>
              <a:rPr lang="en-GB" sz="2000" dirty="0"/>
              <a:t> is the OS’s internal record of a process. It contains all the information required to manage and resume a process after it is interrupted.</a:t>
            </a:r>
          </a:p>
          <a:p>
            <a:pPr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1449078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18930-EB94-90CE-DBFC-83CB293B1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7E23F9-7B02-49B8-C260-B5506DCD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PCB Quick overview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0E29BC1-09AE-095F-985B-C929346DEDA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A typical PCB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Process ID (PID):</a:t>
            </a:r>
            <a:r>
              <a:rPr lang="en-GB" sz="2000" dirty="0"/>
              <a:t> Unique identifier for the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Process State:</a:t>
            </a:r>
            <a:r>
              <a:rPr lang="en-GB" sz="2000" dirty="0"/>
              <a:t> Current state (Running, Waiting,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Program Counter (PC):</a:t>
            </a:r>
            <a:r>
              <a:rPr lang="en-GB" sz="2000" dirty="0"/>
              <a:t> Address of the next instruction to be executed.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CPU Registers:</a:t>
            </a:r>
            <a:r>
              <a:rPr lang="en-GB" sz="2000" dirty="0"/>
              <a:t> Store intermediate data when the process is paused.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Memory Management Information:</a:t>
            </a:r>
            <a:r>
              <a:rPr lang="en-GB" sz="2000" dirty="0"/>
              <a:t> Page tables or base and limit registers.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Accounting Information:</a:t>
            </a:r>
            <a:r>
              <a:rPr lang="en-GB" sz="2000" dirty="0"/>
              <a:t> CPU usage, process priority,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I/O Status:</a:t>
            </a:r>
            <a:r>
              <a:rPr lang="en-GB" sz="2000" dirty="0"/>
              <a:t> Files opened, devices used.</a:t>
            </a:r>
          </a:p>
          <a:p>
            <a:pPr>
              <a:buNone/>
            </a:pPr>
            <a:r>
              <a:rPr lang="en-GB" sz="2000" dirty="0"/>
              <a:t>Whenever a process is </a:t>
            </a:r>
            <a:r>
              <a:rPr lang="en-GB" sz="2000" b="1" dirty="0"/>
              <a:t>switched out</a:t>
            </a:r>
            <a:r>
              <a:rPr lang="en-GB" sz="2000" dirty="0"/>
              <a:t> (context switch), the OS saves its state in the PCB so it can resume exactly where it left off later.</a:t>
            </a:r>
          </a:p>
        </p:txBody>
      </p:sp>
    </p:spTree>
    <p:extLst>
      <p:ext uri="{BB962C8B-B14F-4D97-AF65-F5344CB8AC3E}">
        <p14:creationId xmlns:p14="http://schemas.microsoft.com/office/powerpoint/2010/main" val="38575408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061DA-6F15-4844-E8C4-B811725F0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DD90F0-4EE5-1202-2DCA-A341A2F13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Process Scheduling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3F8B110-398F-ECD2-4319-5CED613A54F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r>
              <a:rPr lang="en-GB" sz="2000" dirty="0"/>
              <a:t>Modern systems have far more processes than CPU cores.</a:t>
            </a:r>
            <a:br>
              <a:rPr lang="en-GB" sz="2000" dirty="0"/>
            </a:br>
            <a:r>
              <a:rPr lang="en-GB" sz="2000" dirty="0"/>
              <a:t>The </a:t>
            </a:r>
            <a:r>
              <a:rPr lang="en-GB" sz="2000" b="1" dirty="0"/>
              <a:t>CPU scheduler</a:t>
            </a:r>
            <a:r>
              <a:rPr lang="en-GB" sz="2000" dirty="0"/>
              <a:t> decides which process should run next.</a:t>
            </a:r>
            <a:br>
              <a:rPr lang="en-GB" sz="2000" dirty="0"/>
            </a:br>
            <a:r>
              <a:rPr lang="en-GB" sz="2000" dirty="0"/>
              <a:t>The decision is based on scheduling algorithms that optimize performance, fairness, or responsiveness depending on the system type.</a:t>
            </a:r>
          </a:p>
        </p:txBody>
      </p:sp>
    </p:spTree>
    <p:extLst>
      <p:ext uri="{BB962C8B-B14F-4D97-AF65-F5344CB8AC3E}">
        <p14:creationId xmlns:p14="http://schemas.microsoft.com/office/powerpoint/2010/main" val="31104737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BA03-0CE4-1F55-2D52-C0C43CBC6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C6D60C5-25D6-3CEC-4D65-3F947629B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Context Switching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5708F75-897F-ED12-F0B7-C4909E77476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r>
              <a:rPr lang="en-GB" sz="2000" dirty="0"/>
              <a:t>When the CPU switches from one process to another, the OS must save the state of the old process and load the state of the new one.</a:t>
            </a:r>
            <a:br>
              <a:rPr lang="en-GB" sz="2000" dirty="0"/>
            </a:br>
            <a:r>
              <a:rPr lang="en-GB" sz="2000" dirty="0"/>
              <a:t>This is called </a:t>
            </a:r>
            <a:r>
              <a:rPr lang="en-GB" sz="2000" b="1" dirty="0"/>
              <a:t>context switching</a:t>
            </a:r>
            <a:r>
              <a:rPr lang="en-GB" sz="2000" dirty="0"/>
              <a:t>.</a:t>
            </a:r>
          </a:p>
          <a:p>
            <a:r>
              <a:rPr lang="en-GB" sz="2000" b="1" dirty="0"/>
              <a:t>Steps:</a:t>
            </a:r>
            <a:endParaRPr lang="en-GB" sz="2000" dirty="0"/>
          </a:p>
          <a:p>
            <a:pPr marL="685800" lvl="1" indent="-457200">
              <a:buFont typeface="+mj-lt"/>
              <a:buAutoNum type="arabicPeriod"/>
            </a:pPr>
            <a:r>
              <a:rPr lang="en-GB" sz="2000" dirty="0"/>
              <a:t>Save the old process’s registers and program counter in its PCB.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GB" sz="2000" dirty="0"/>
              <a:t>Load the new process’s state from its PCB into the CPU.</a:t>
            </a:r>
          </a:p>
          <a:p>
            <a:pPr marL="685800" lvl="1" indent="-457200">
              <a:buFont typeface="+mj-lt"/>
              <a:buAutoNum type="arabicPeriod"/>
            </a:pPr>
            <a:r>
              <a:rPr lang="en-GB" sz="2000" dirty="0"/>
              <a:t>Resume execution of the new process.</a:t>
            </a:r>
          </a:p>
          <a:p>
            <a:r>
              <a:rPr lang="en-GB" sz="2000" b="1" dirty="0"/>
              <a:t>Example:</a:t>
            </a:r>
            <a:br>
              <a:rPr lang="en-GB" sz="2000" dirty="0"/>
            </a:br>
            <a:r>
              <a:rPr lang="en-GB" sz="2000" dirty="0"/>
              <a:t>When typing in Word while listening to music:</a:t>
            </a:r>
          </a:p>
          <a:p>
            <a:r>
              <a:rPr lang="en-GB" sz="2000" dirty="0"/>
              <a:t>The OS frequently switches between the </a:t>
            </a:r>
            <a:r>
              <a:rPr lang="en-GB" sz="2000" b="1" dirty="0"/>
              <a:t>Word process</a:t>
            </a:r>
            <a:r>
              <a:rPr lang="en-GB" sz="2000" dirty="0"/>
              <a:t> and the </a:t>
            </a:r>
            <a:r>
              <a:rPr lang="en-GB" sz="2000" b="1" dirty="0"/>
              <a:t>music player process</a:t>
            </a:r>
            <a:r>
              <a:rPr lang="en-GB" sz="2000" dirty="0"/>
              <a:t>, giving each a small CPU slice.</a:t>
            </a:r>
          </a:p>
          <a:p>
            <a:r>
              <a:rPr lang="en-GB" sz="2000" dirty="0"/>
              <a:t>You experience them as running simultaneously, though the CPU executes only one process at any instant.</a:t>
            </a:r>
          </a:p>
        </p:txBody>
      </p:sp>
    </p:spTree>
    <p:extLst>
      <p:ext uri="{BB962C8B-B14F-4D97-AF65-F5344CB8AC3E}">
        <p14:creationId xmlns:p14="http://schemas.microsoft.com/office/powerpoint/2010/main" val="258581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DE294-1C93-D400-FFE4-704166BFB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E566B60-6A14-230C-4118-7973AE39E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Inter-Process Communication (IPC)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84D15B6-3DF6-6B3F-0572-00F62A0C32B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1114063"/>
            <a:ext cx="10667999" cy="4954228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Sometimes, processes must </a:t>
            </a:r>
            <a:r>
              <a:rPr lang="en-GB" sz="2000" b="1" dirty="0"/>
              <a:t>communicate and share data</a:t>
            </a:r>
            <a:r>
              <a:rPr lang="en-GB" sz="2000" dirty="0"/>
              <a:t>.</a:t>
            </a:r>
            <a:br>
              <a:rPr lang="en-GB" sz="2000" dirty="0"/>
            </a:br>
            <a:r>
              <a:rPr lang="en-GB" sz="2000" dirty="0"/>
              <a:t>For instance, your browser process might communicate with a background process handling downloads.</a:t>
            </a:r>
          </a:p>
          <a:p>
            <a:pPr>
              <a:buNone/>
            </a:pPr>
            <a:r>
              <a:rPr lang="en-GB" sz="2000" b="1" dirty="0"/>
              <a:t>IPC mechanisms include:</a:t>
            </a:r>
            <a:endParaRPr lang="en-GB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Pipes:</a:t>
            </a:r>
            <a:r>
              <a:rPr lang="en-GB" sz="2000" dirty="0"/>
              <a:t> One process writes data that another can read.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Message Queues:</a:t>
            </a:r>
            <a:r>
              <a:rPr lang="en-GB" sz="2000" dirty="0"/>
              <a:t> Processes exchange structured messages.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Shared Memory:</a:t>
            </a:r>
            <a:r>
              <a:rPr lang="en-GB" sz="2000" dirty="0"/>
              <a:t> A region of memory that two or more processes can access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Sockets:</a:t>
            </a:r>
            <a:r>
              <a:rPr lang="en-GB" sz="2000" dirty="0"/>
              <a:t> Used for communication between processes on different machines (basis for network applications).</a:t>
            </a:r>
          </a:p>
          <a:p>
            <a:pPr>
              <a:buNone/>
            </a:pPr>
            <a:r>
              <a:rPr lang="en-GB" sz="2000" b="1" dirty="0"/>
              <a:t>Example:</a:t>
            </a:r>
            <a:br>
              <a:rPr lang="en-GB" sz="2000" dirty="0"/>
            </a:br>
            <a:r>
              <a:rPr lang="en-GB" sz="2000" dirty="0"/>
              <a:t>When you stream a video, the playback process receives packets from a network process via sockets and decodes them in real time.</a:t>
            </a:r>
          </a:p>
        </p:txBody>
      </p:sp>
    </p:spTree>
    <p:extLst>
      <p:ext uri="{BB962C8B-B14F-4D97-AF65-F5344CB8AC3E}">
        <p14:creationId xmlns:p14="http://schemas.microsoft.com/office/powerpoint/2010/main" val="4207589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14146-8E36-BE7F-7479-E1ED3AF55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2287A13-10FC-D8B5-41A3-212C66C47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Process Creation and Termination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04FACC-AFBC-4B8E-4D6E-144CDC1C38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77758"/>
            <a:ext cx="10667999" cy="4670288"/>
          </a:xfrm>
        </p:spPr>
        <p:txBody>
          <a:bodyPr/>
          <a:lstStyle/>
          <a:p>
            <a:r>
              <a:rPr lang="en-GB" sz="2000" b="1" dirty="0"/>
              <a:t>Creation</a:t>
            </a:r>
          </a:p>
          <a:p>
            <a:r>
              <a:rPr lang="en-GB" sz="2000" dirty="0"/>
              <a:t>Processes can create other processes — known as </a:t>
            </a:r>
            <a:r>
              <a:rPr lang="en-GB" sz="2000" b="1" dirty="0"/>
              <a:t>child processes</a:t>
            </a:r>
            <a:r>
              <a:rPr lang="en-GB" sz="2000" dirty="0"/>
              <a:t> — using system calls like:</a:t>
            </a:r>
          </a:p>
          <a:p>
            <a:r>
              <a:rPr lang="en-GB" dirty="0"/>
              <a:t>fork()</a:t>
            </a:r>
            <a:r>
              <a:rPr lang="en-GB" sz="2000" dirty="0"/>
              <a:t> in UNIX/Linux</a:t>
            </a:r>
          </a:p>
          <a:p>
            <a:r>
              <a:rPr lang="en-GB" dirty="0" err="1"/>
              <a:t>CreateProcess</a:t>
            </a:r>
            <a:r>
              <a:rPr lang="en-GB" dirty="0"/>
              <a:t>()</a:t>
            </a:r>
            <a:r>
              <a:rPr lang="en-GB" sz="2000" dirty="0"/>
              <a:t> in Windows</a:t>
            </a:r>
          </a:p>
          <a:p>
            <a:r>
              <a:rPr lang="en-GB" sz="2000" dirty="0"/>
              <a:t>Each child inherits certain attributes (like environment variables or open files) from its parent.</a:t>
            </a:r>
          </a:p>
          <a:p>
            <a:pPr>
              <a:buNone/>
            </a:pPr>
            <a:r>
              <a:rPr lang="en-GB" sz="2000" b="1" dirty="0"/>
              <a:t>Termination</a:t>
            </a:r>
          </a:p>
          <a:p>
            <a:pPr>
              <a:buNone/>
            </a:pPr>
            <a:r>
              <a:rPr lang="en-GB" sz="2000" dirty="0"/>
              <a:t>A process may end by: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Completing its task normally.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Being terminated by the user (e.g., closing a window).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Being killed by another process (e.g., </a:t>
            </a:r>
            <a:r>
              <a:rPr lang="en-GB" sz="2000" dirty="0">
                <a:latin typeface="Courier New" panose="02070309020205020404" pitchFamily="49" charset="0"/>
              </a:rPr>
              <a:t>kill</a:t>
            </a:r>
            <a:r>
              <a:rPr lang="en-GB" sz="2000" dirty="0"/>
              <a:t> command in Linux).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dirty="0"/>
              <a:t>Encountering an unrecoverable error.</a:t>
            </a:r>
          </a:p>
          <a:p>
            <a:pPr>
              <a:buNone/>
            </a:pPr>
            <a:r>
              <a:rPr lang="en-GB" sz="2000" dirty="0"/>
              <a:t>When terminated, the OS frees all resources used by that process.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3026998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A7DE6-AFBC-A55F-64F1-5E756065E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EDC79F-53B9-80BE-F115-88F91987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Essential Hardware Features Supporting an Operating System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2560988-D19E-B05A-222B-BF50F80BA33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77758"/>
            <a:ext cx="10667999" cy="4670288"/>
          </a:xfrm>
        </p:spPr>
        <p:txBody>
          <a:bodyPr/>
          <a:lstStyle/>
          <a:p>
            <a:pPr>
              <a:buNone/>
            </a:pPr>
            <a:r>
              <a:rPr lang="en-GB" sz="2000" b="1" dirty="0"/>
              <a:t>1. Dual Mode Operation (User Mode and Kernel Mode)</a:t>
            </a:r>
          </a:p>
          <a:p>
            <a:pPr>
              <a:buNone/>
            </a:pPr>
            <a:r>
              <a:rPr lang="en-GB" sz="2000" dirty="0"/>
              <a:t>A CPU operates in two modes:</a:t>
            </a:r>
          </a:p>
          <a:p>
            <a:pPr lvl="1"/>
            <a:r>
              <a:rPr lang="en-GB" b="1" dirty="0"/>
              <a:t>User Mode:</a:t>
            </a:r>
            <a:r>
              <a:rPr lang="en-GB" dirty="0"/>
              <a:t> For normal application programs. It restricts access to critical instructions (e.g., direct hardware access) to prevent system crashes or breaches.</a:t>
            </a:r>
          </a:p>
          <a:p>
            <a:pPr lvl="1"/>
            <a:r>
              <a:rPr lang="en-GB" b="1" dirty="0"/>
              <a:t>Kernel Mode (Supervisor Mode):</a:t>
            </a:r>
            <a:r>
              <a:rPr lang="en-GB" dirty="0"/>
              <a:t> Used by the OS to execute privileged instructions, such as device management, memory allocation, and interrupt handling.</a:t>
            </a:r>
          </a:p>
          <a:p>
            <a:pPr>
              <a:buNone/>
            </a:pPr>
            <a:r>
              <a:rPr lang="en-GB" sz="2000" dirty="0"/>
              <a:t>When an application needs to perform a privileged operation (like reading a file), it makes a </a:t>
            </a:r>
            <a:r>
              <a:rPr lang="en-GB" sz="2000" b="1" dirty="0"/>
              <a:t>system call</a:t>
            </a:r>
            <a:r>
              <a:rPr lang="en-GB" sz="2000" dirty="0"/>
              <a:t> — a controlled request that temporarily switches the CPU from </a:t>
            </a:r>
            <a:r>
              <a:rPr lang="en-GB" sz="2000" b="1" dirty="0"/>
              <a:t>user mode</a:t>
            </a:r>
            <a:r>
              <a:rPr lang="en-GB" sz="2000" dirty="0"/>
              <a:t> to </a:t>
            </a:r>
            <a:r>
              <a:rPr lang="en-GB" sz="2000" b="1" dirty="0"/>
              <a:t>kernel mode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1484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FAB880-333D-DABB-92FC-9C31F02386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7CCBF3-1A34-D790-6287-9F01CFD3E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2. Timer and Clock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B886ABD-C18C-8E79-E1B5-F10E88590AD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77758"/>
            <a:ext cx="10667999" cy="4670288"/>
          </a:xfrm>
        </p:spPr>
        <p:txBody>
          <a:bodyPr/>
          <a:lstStyle/>
          <a:p>
            <a:r>
              <a:rPr lang="en-GB" sz="2000" dirty="0"/>
              <a:t>A </a:t>
            </a:r>
            <a:r>
              <a:rPr lang="en-GB" sz="2000" b="1" dirty="0"/>
              <a:t>hardware timer</a:t>
            </a:r>
            <a:r>
              <a:rPr lang="en-GB" sz="2000" dirty="0"/>
              <a:t> ensures that the CPU does not get stuck on one process forever.</a:t>
            </a:r>
            <a:br>
              <a:rPr lang="en-GB" sz="2000" dirty="0"/>
            </a:br>
            <a:r>
              <a:rPr lang="en-GB" sz="2000" dirty="0"/>
              <a:t>The OS sets a timer before assigning the CPU to a process. When the timer expires, it triggers an </a:t>
            </a:r>
            <a:r>
              <a:rPr lang="en-GB" sz="2000" b="1" dirty="0"/>
              <a:t>interrupt</a:t>
            </a:r>
            <a:r>
              <a:rPr lang="en-GB" sz="2000" dirty="0"/>
              <a:t>, forcing the CPU to return control to the OS.</a:t>
            </a:r>
          </a:p>
          <a:p>
            <a:r>
              <a:rPr lang="en-GB" sz="2000" dirty="0"/>
              <a:t>This mechanism enables </a:t>
            </a:r>
            <a:r>
              <a:rPr lang="en-GB" sz="2000" b="1" dirty="0" err="1"/>
              <a:t>preemptive</a:t>
            </a:r>
            <a:r>
              <a:rPr lang="en-GB" sz="2000" b="1" dirty="0"/>
              <a:t> multitasking</a:t>
            </a:r>
            <a:r>
              <a:rPr lang="en-GB" sz="2000" dirty="0"/>
              <a:t> — allowing fair CPU sharing among multiple processes.</a:t>
            </a:r>
          </a:p>
          <a:p>
            <a:endParaRPr lang="en-GB" sz="2000" dirty="0"/>
          </a:p>
          <a:p>
            <a:r>
              <a:rPr lang="en-GB" sz="2000" b="1" dirty="0"/>
              <a:t>Example:</a:t>
            </a:r>
            <a:br>
              <a:rPr lang="en-GB" sz="2000" dirty="0"/>
            </a:br>
            <a:r>
              <a:rPr lang="en-GB" sz="2000" dirty="0"/>
              <a:t>If one app (like a game) tries to monopolize the CPU, the timer interrupt ensures that background apps like your music player still get their turn.</a:t>
            </a:r>
          </a:p>
        </p:txBody>
      </p:sp>
    </p:spTree>
    <p:extLst>
      <p:ext uri="{BB962C8B-B14F-4D97-AF65-F5344CB8AC3E}">
        <p14:creationId xmlns:p14="http://schemas.microsoft.com/office/powerpoint/2010/main" val="13140499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95E9C-F60D-32C7-EDF8-856CDCB50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F9B823-5690-23D7-5D6D-0CCF01928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3. Memory Protection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4589513-097A-23D7-9F64-196965FA74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77758"/>
            <a:ext cx="10667999" cy="4670288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Memory protection prevents one process from accessing another’s memory space.</a:t>
            </a:r>
            <a:br>
              <a:rPr lang="en-GB" sz="2000" dirty="0"/>
            </a:br>
            <a:r>
              <a:rPr lang="en-GB" sz="2000" dirty="0"/>
              <a:t>This is achieved using </a:t>
            </a:r>
            <a:r>
              <a:rPr lang="en-GB" sz="2000" b="1" dirty="0"/>
              <a:t>base and limit registers</a:t>
            </a:r>
            <a:r>
              <a:rPr lang="en-GB" sz="2000" dirty="0"/>
              <a:t> or more modern </a:t>
            </a:r>
            <a:r>
              <a:rPr lang="en-GB" sz="2000" b="1" dirty="0"/>
              <a:t>paging hardware</a:t>
            </a:r>
            <a:r>
              <a:rPr lang="en-GB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Base Register:</a:t>
            </a:r>
            <a:r>
              <a:rPr lang="en-GB" sz="2000" dirty="0"/>
              <a:t> Holds the starting address of the process’s memory.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000" b="1" dirty="0"/>
              <a:t>Limit Register:</a:t>
            </a:r>
            <a:r>
              <a:rPr lang="en-GB" sz="2000" dirty="0"/>
              <a:t> Defines the size (range) of that memory segment.</a:t>
            </a:r>
          </a:p>
          <a:p>
            <a:pPr>
              <a:buNone/>
            </a:pPr>
            <a:r>
              <a:rPr lang="en-GB" sz="2000" dirty="0"/>
              <a:t>The CPU checks every memory access against these registers. If a process tries to access memory outside its range, a </a:t>
            </a:r>
            <a:r>
              <a:rPr lang="en-GB" sz="2000" b="1" dirty="0"/>
              <a:t>trap</a:t>
            </a:r>
            <a:r>
              <a:rPr lang="en-GB" sz="2000" dirty="0"/>
              <a:t> occurs, and the OS terminates it safely.</a:t>
            </a:r>
          </a:p>
        </p:txBody>
      </p:sp>
    </p:spTree>
    <p:extLst>
      <p:ext uri="{BB962C8B-B14F-4D97-AF65-F5344CB8AC3E}">
        <p14:creationId xmlns:p14="http://schemas.microsoft.com/office/powerpoint/2010/main" val="3126643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5F8D7-6FBA-DFEE-EDEB-6576E0807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D54D08-D7DB-B402-902A-507F5A371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Interrupts: The Backbone of System Responsiveness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6A4FB1E-C76E-209D-98F0-56618F57ED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77758"/>
            <a:ext cx="10667999" cy="4670288"/>
          </a:xfrm>
        </p:spPr>
        <p:txBody>
          <a:bodyPr/>
          <a:lstStyle/>
          <a:p>
            <a:pPr>
              <a:buNone/>
            </a:pPr>
            <a:r>
              <a:rPr lang="en-GB" sz="2000" dirty="0"/>
              <a:t>An </a:t>
            </a:r>
            <a:r>
              <a:rPr lang="en-GB" sz="2000" b="1" dirty="0"/>
              <a:t>interrupt</a:t>
            </a:r>
            <a:r>
              <a:rPr lang="en-GB" sz="2000" dirty="0"/>
              <a:t> is a signal sent by hardware or software to the CPU, requesting its attention.</a:t>
            </a:r>
            <a:br>
              <a:rPr lang="en-GB" sz="2000" dirty="0"/>
            </a:br>
            <a:r>
              <a:rPr lang="en-GB" sz="2000" dirty="0"/>
              <a:t>Interrupts are essential because they allow the system to respond quickly to events (like key presses, disk input, or timer expirations) instead of constantly checking for them.</a:t>
            </a:r>
          </a:p>
          <a:p>
            <a:pPr>
              <a:buNone/>
            </a:pPr>
            <a:r>
              <a:rPr lang="en-GB" sz="2000" b="1" dirty="0"/>
              <a:t>How Interrupts Work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The CPU executes instructions normally.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When an interrupt occurs, the CPU </a:t>
            </a:r>
            <a:r>
              <a:rPr lang="en-GB" sz="2000" b="1" dirty="0"/>
              <a:t>pauses</a:t>
            </a:r>
            <a:r>
              <a:rPr lang="en-GB" sz="2000" dirty="0"/>
              <a:t> its current task.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The current state (registers, program counter, etc.) is </a:t>
            </a:r>
            <a:r>
              <a:rPr lang="en-GB" sz="2000" b="1" dirty="0"/>
              <a:t>saved</a:t>
            </a:r>
            <a:r>
              <a:rPr lang="en-GB" sz="2000" dirty="0"/>
              <a:t>.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The CPU </a:t>
            </a:r>
            <a:r>
              <a:rPr lang="en-GB" sz="2000" b="1" dirty="0"/>
              <a:t>jumps to an interrupt handler</a:t>
            </a:r>
            <a:r>
              <a:rPr lang="en-GB" sz="2000" dirty="0"/>
              <a:t> — a special function in the OS designed to deal with that interrupt.</a:t>
            </a:r>
          </a:p>
          <a:p>
            <a:pPr>
              <a:buFont typeface="+mj-lt"/>
              <a:buAutoNum type="arabicPeriod"/>
            </a:pPr>
            <a:r>
              <a:rPr lang="en-GB" sz="2000" dirty="0"/>
              <a:t>Once handled, the CPU </a:t>
            </a:r>
            <a:r>
              <a:rPr lang="en-GB" sz="2000" b="1" dirty="0"/>
              <a:t>restores</a:t>
            </a:r>
            <a:r>
              <a:rPr lang="en-GB" sz="2000" dirty="0"/>
              <a:t> the saved state and resumes where it left off.</a:t>
            </a:r>
          </a:p>
          <a:p>
            <a:pPr>
              <a:buNone/>
            </a:pPr>
            <a:r>
              <a:rPr lang="en-GB" sz="2000" dirty="0"/>
              <a:t>This is similar to pausing a movie to answer a phone call, then resuming it afterward.</a:t>
            </a:r>
          </a:p>
          <a:p>
            <a:pPr>
              <a:buNone/>
            </a:pP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2789530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046EF-6E55-9E88-4634-6EE40A447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0E4CDB4-8CB6-2D5C-B760-AD750D23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Types of Interrupts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579869E-2EEF-1276-7312-003B4C0064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77757"/>
            <a:ext cx="10667999" cy="4783303"/>
          </a:xfrm>
        </p:spPr>
        <p:txBody>
          <a:bodyPr/>
          <a:lstStyle/>
          <a:p>
            <a:r>
              <a:rPr lang="en-GB" b="1" dirty="0"/>
              <a:t>. Hardware Interrupts:</a:t>
            </a:r>
            <a:br>
              <a:rPr lang="en-GB" dirty="0"/>
            </a:br>
            <a:r>
              <a:rPr lang="en-GB" dirty="0"/>
              <a:t>Generated by hardware devices to signal events.</a:t>
            </a:r>
            <a:br>
              <a:rPr lang="en-GB" dirty="0"/>
            </a:br>
            <a:r>
              <a:rPr lang="en-GB" dirty="0"/>
              <a:t>Examples:</a:t>
            </a:r>
          </a:p>
          <a:p>
            <a:pPr lvl="1"/>
            <a:r>
              <a:rPr lang="en-GB" dirty="0"/>
              <a:t>Keyboard input (key pressed)</a:t>
            </a:r>
          </a:p>
          <a:p>
            <a:pPr lvl="1"/>
            <a:r>
              <a:rPr lang="en-GB" dirty="0"/>
              <a:t>Mouse movement</a:t>
            </a:r>
          </a:p>
          <a:p>
            <a:pPr lvl="1"/>
            <a:r>
              <a:rPr lang="en-GB" dirty="0"/>
              <a:t>Disk I/O completion</a:t>
            </a:r>
          </a:p>
          <a:p>
            <a:pPr lvl="1"/>
            <a:r>
              <a:rPr lang="en-GB" dirty="0"/>
              <a:t>Timer expiration</a:t>
            </a:r>
          </a:p>
          <a:p>
            <a:r>
              <a:rPr lang="en-GB" b="1" dirty="0"/>
              <a:t>Software Interrupts (Traps):</a:t>
            </a:r>
            <a:br>
              <a:rPr lang="en-GB" dirty="0"/>
            </a:br>
            <a:r>
              <a:rPr lang="en-GB" dirty="0"/>
              <a:t>Generated by programs to request OS services or report errors.</a:t>
            </a:r>
            <a:br>
              <a:rPr lang="en-GB" dirty="0"/>
            </a:br>
            <a:r>
              <a:rPr lang="en-GB" dirty="0"/>
              <a:t>Examples:</a:t>
            </a:r>
          </a:p>
          <a:p>
            <a:pPr lvl="1"/>
            <a:r>
              <a:rPr lang="en-GB" dirty="0"/>
              <a:t>System calls (e.g., to open a file)</a:t>
            </a:r>
          </a:p>
          <a:p>
            <a:pPr lvl="1"/>
            <a:r>
              <a:rPr lang="en-GB" dirty="0"/>
              <a:t>Illegal operations (like dividing by zero)</a:t>
            </a:r>
          </a:p>
          <a:p>
            <a:pPr lvl="1"/>
            <a:r>
              <a:rPr lang="en-GB" dirty="0"/>
              <a:t>Breakpoints in debugging</a:t>
            </a:r>
          </a:p>
        </p:txBody>
      </p:sp>
    </p:spTree>
    <p:extLst>
      <p:ext uri="{BB962C8B-B14F-4D97-AF65-F5344CB8AC3E}">
        <p14:creationId xmlns:p14="http://schemas.microsoft.com/office/powerpoint/2010/main" val="24413441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BBA4B-5EDE-1BD7-450D-F882C32A5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1D9144-5349-6686-40B2-5DD84FF1F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24577"/>
            <a:ext cx="10591800" cy="646332"/>
          </a:xfrm>
        </p:spPr>
        <p:txBody>
          <a:bodyPr/>
          <a:lstStyle/>
          <a:p>
            <a:r>
              <a:rPr lang="en-GB" sz="2800" dirty="0"/>
              <a:t>Interrupt Priority and Masking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770178D-354B-1666-0433-B9EB209476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62000" y="877757"/>
            <a:ext cx="10667999" cy="4783303"/>
          </a:xfrm>
        </p:spPr>
        <p:txBody>
          <a:bodyPr/>
          <a:lstStyle/>
          <a:p>
            <a:r>
              <a:rPr lang="en-GB" dirty="0"/>
              <a:t>Because multiple interrupts can occur simultaneously, the system assigns </a:t>
            </a:r>
            <a:r>
              <a:rPr lang="en-GB" b="1" dirty="0"/>
              <a:t>priorities</a:t>
            </a:r>
            <a:r>
              <a:rPr lang="en-GB" dirty="0"/>
              <a:t>:</a:t>
            </a:r>
          </a:p>
          <a:p>
            <a:r>
              <a:rPr lang="en-GB" dirty="0"/>
              <a:t>High-priority interrupts (like hardware faults) are handled first.</a:t>
            </a:r>
          </a:p>
          <a:p>
            <a:r>
              <a:rPr lang="en-GB" dirty="0"/>
              <a:t>Low-priority interrupts (like keyboard input) wait until critical tasks are done.</a:t>
            </a:r>
          </a:p>
          <a:p>
            <a:r>
              <a:rPr lang="en-GB" b="1" dirty="0"/>
              <a:t>Masking</a:t>
            </a:r>
            <a:r>
              <a:rPr lang="en-GB" dirty="0"/>
              <a:t> allows the CPU to temporarily </a:t>
            </a:r>
            <a:r>
              <a:rPr lang="en-GB" b="1" dirty="0"/>
              <a:t>ignore</a:t>
            </a:r>
            <a:r>
              <a:rPr lang="en-GB" dirty="0"/>
              <a:t> (mask) certain interrupts to ensure that crucial operations are not disrupted.</a:t>
            </a:r>
          </a:p>
          <a:p>
            <a:endParaRPr lang="en-GB" dirty="0"/>
          </a:p>
          <a:p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During a disk write operation, the system might mask keyboard interrupts to prevent corruption.</a:t>
            </a:r>
          </a:p>
        </p:txBody>
      </p:sp>
    </p:spTree>
    <p:extLst>
      <p:ext uri="{BB962C8B-B14F-4D97-AF65-F5344CB8AC3E}">
        <p14:creationId xmlns:p14="http://schemas.microsoft.com/office/powerpoint/2010/main" val="24457862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DA36B3A-558B-413E-877B-7275290AB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18241" y="3079017"/>
            <a:ext cx="6477000" cy="1189037"/>
          </a:xfrm>
        </p:spPr>
        <p:txBody>
          <a:bodyPr>
            <a:normAutofit/>
          </a:bodyPr>
          <a:lstStyle/>
          <a:p>
            <a:r>
              <a:rPr lang="en-US" sz="54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652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11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23042"/>
      </a:accent1>
      <a:accent2>
        <a:srgbClr val="3578AF"/>
      </a:accent2>
      <a:accent3>
        <a:srgbClr val="C4C4C4"/>
      </a:accent3>
      <a:accent4>
        <a:srgbClr val="A80B22"/>
      </a:accent4>
      <a:accent5>
        <a:srgbClr val="E2E2E2"/>
      </a:accent5>
      <a:accent6>
        <a:srgbClr val="2A6187"/>
      </a:accent6>
      <a:hlink>
        <a:srgbClr val="0563C1"/>
      </a:hlink>
      <a:folHlink>
        <a:srgbClr val="954F72"/>
      </a:folHlink>
    </a:clrScheme>
    <a:fontScheme name="Custom 8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ewish American Heritage Month_Win32_JC_SL_v3" id="{5A91364D-DD38-4994-BB9C-41D074FD197A}" vid="{8577DF34-D72C-48EB-902A-0A54C766E0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8" ma:contentTypeDescription="Create a new document." ma:contentTypeScope="" ma:versionID="22a266b9fa9a230c5a512669d8b298c3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ddc33fff6b14141ee5c74a0d29ea6a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lcf76f155ced4ddcb4097134ff3c332f" ma:index="24" nillable="true" ma:taxonomy="true" ma:internalName="lcf76f155ced4ddcb4097134ff3c332f" ma:taxonomyFieldName="MediaServiceAITags" ma:displayName="Image Tags" ma:readOnly="false" ma:fieldId="{5cf76f15-5ced-4ddc-b409-7134ff3c332f}" ma:taxonomyMulti="true" ma:sspId="e385fb40-52d4-4fae-9c5b-3e8ff8a5878e" ma:termSetId="09814cd3-568e-4e90-9814-8d621ff8fb84" ma:anchorId="00000000-0000-0000-0000-000000000000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lcf76f155ced4ddcb4097134ff3c332f xmlns="71af3243-3dd4-4a8d-8c0d-dd76da1f02a5">
      <Terms xmlns="http://schemas.microsoft.com/office/infopath/2007/PartnerControls"/>
    </lcf76f155ced4ddcb4097134ff3c332f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15C1F8C-D27A-4CE7-9DF4-4AFDB2880F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EE2DFF-920A-42C9-AEE0-3A0BF6AF460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F283A3-AA81-4663-8764-64F64C723FD1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72f988bf-86f1-41af-91ab-2d7cd011db47}" enabled="0" method="" siteId="{72f988bf-86f1-41af-91ab-2d7cd011db4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Jewish American Heritage Month presentation</Template>
  <TotalTime>142</TotalTime>
  <Words>3603</Words>
  <Application>Microsoft Office PowerPoint</Application>
  <PresentationFormat>Widescreen</PresentationFormat>
  <Paragraphs>265</Paragraphs>
  <Slides>32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Courier New</vt:lpstr>
      <vt:lpstr>Office Theme</vt:lpstr>
      <vt:lpstr>Operating Systems   Lesson -1 </vt:lpstr>
      <vt:lpstr>Operating Systems — Introduction &amp; Purpose</vt:lpstr>
      <vt:lpstr>Core Functions of an OS</vt:lpstr>
      <vt:lpstr>Core Functions of an OS</vt:lpstr>
      <vt:lpstr>Core Functions of an OS</vt:lpstr>
      <vt:lpstr>What Is Computer Architecture?</vt:lpstr>
      <vt:lpstr>The Relationship Between the OS and Computer Hardware</vt:lpstr>
      <vt:lpstr>Batch, Time-Sharing, and Personal Computer (PC) Systems</vt:lpstr>
      <vt:lpstr>The Relationship Between the OS and Computer Hardware</vt:lpstr>
      <vt:lpstr>Time-Sharing Systems</vt:lpstr>
      <vt:lpstr>Time-Sharing Systems</vt:lpstr>
      <vt:lpstr>Personal Computer (PC) Systems</vt:lpstr>
      <vt:lpstr>Parallel, Real-Time, and Batch Processing Systems</vt:lpstr>
      <vt:lpstr>Real-Time Systems</vt:lpstr>
      <vt:lpstr>Batch Processing (Modern Context)</vt:lpstr>
      <vt:lpstr>Processes</vt:lpstr>
      <vt:lpstr>Processes</vt:lpstr>
      <vt:lpstr>Processes</vt:lpstr>
      <vt:lpstr>Processes</vt:lpstr>
      <vt:lpstr>Processes</vt:lpstr>
      <vt:lpstr>PCB Quick overview </vt:lpstr>
      <vt:lpstr>Process Scheduling</vt:lpstr>
      <vt:lpstr>Context Switching</vt:lpstr>
      <vt:lpstr>Inter-Process Communication (IPC)</vt:lpstr>
      <vt:lpstr>Process Creation and Termination</vt:lpstr>
      <vt:lpstr>Essential Hardware Features Supporting an Operating System</vt:lpstr>
      <vt:lpstr>2. Timer and Clock</vt:lpstr>
      <vt:lpstr>3. Memory Protection</vt:lpstr>
      <vt:lpstr>Interrupts: The Backbone of System Responsiveness</vt:lpstr>
      <vt:lpstr>Types of Interrupts</vt:lpstr>
      <vt:lpstr>Interrupt Priority and Masking</vt:lpstr>
      <vt:lpstr>THANK YOU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 XPS</dc:creator>
  <cp:keywords/>
  <dc:description/>
  <cp:lastModifiedBy>DELL XPS</cp:lastModifiedBy>
  <cp:revision>31</cp:revision>
  <dcterms:created xsi:type="dcterms:W3CDTF">2025-10-11T06:36:26Z</dcterms:created>
  <dcterms:modified xsi:type="dcterms:W3CDTF">2025-10-11T08:58:52Z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