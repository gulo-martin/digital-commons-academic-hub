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8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830" autoAdjust="0"/>
    <p:restoredTop sz="94660"/>
  </p:normalViewPr>
  <p:slideViewPr>
    <p:cSldViewPr snapToGrid="0">
      <p:cViewPr varScale="1">
        <p:scale>
          <a:sx n="82" d="100"/>
          <a:sy n="82" d="100"/>
        </p:scale>
        <p:origin x="100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20AD-019C-40DD-B430-2375A2648E5B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72A09C9-FC5B-43DF-ABDC-8D6E1CA0824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057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20AD-019C-40DD-B430-2375A2648E5B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A09C9-FC5B-43DF-ABDC-8D6E1CA0824A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8120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20AD-019C-40DD-B430-2375A2648E5B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A09C9-FC5B-43DF-ABDC-8D6E1CA0824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8120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20AD-019C-40DD-B430-2375A2648E5B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A09C9-FC5B-43DF-ABDC-8D6E1CA0824A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8736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20AD-019C-40DD-B430-2375A2648E5B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A09C9-FC5B-43DF-ABDC-8D6E1CA0824A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7375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20AD-019C-40DD-B430-2375A2648E5B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A09C9-FC5B-43DF-ABDC-8D6E1CA0824A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1212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20AD-019C-40DD-B430-2375A2648E5B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A09C9-FC5B-43DF-ABDC-8D6E1CA08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724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20AD-019C-40DD-B430-2375A2648E5B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A09C9-FC5B-43DF-ABDC-8D6E1CA0824A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1803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34820AD-019C-40DD-B430-2375A2648E5B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A09C9-FC5B-43DF-ABDC-8D6E1CA0824A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0607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20AD-019C-40DD-B430-2375A2648E5B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A09C9-FC5B-43DF-ABDC-8D6E1CA0824A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795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20AD-019C-40DD-B430-2375A2648E5B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A09C9-FC5B-43DF-ABDC-8D6E1CA0824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852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820AD-019C-40DD-B430-2375A2648E5B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72A09C9-FC5B-43DF-ABDC-8D6E1CA0824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783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F33F6-E0EB-4C2A-A587-1008632356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Process in an Operating System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690F7B-4AD1-4553-AE49-1E82024619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Processes AND Programs</a:t>
            </a:r>
          </a:p>
        </p:txBody>
      </p:sp>
    </p:spTree>
    <p:extLst>
      <p:ext uri="{BB962C8B-B14F-4D97-AF65-F5344CB8AC3E}">
        <p14:creationId xmlns:p14="http://schemas.microsoft.com/office/powerpoint/2010/main" val="3558978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20934-6E4A-4E9E-AE26-106D3C8AF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FB55F-3E04-4667-93A5-56E13DFEE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A process is essentially a running software. </a:t>
            </a:r>
          </a:p>
          <a:p>
            <a:pPr>
              <a:lnSpc>
                <a:spcPct val="150000"/>
              </a:lnSpc>
            </a:pPr>
            <a:r>
              <a:rPr lang="en-US" dirty="0"/>
              <a:t>The execution of any process must occur in a specific order. </a:t>
            </a:r>
          </a:p>
          <a:p>
            <a:pPr>
              <a:lnSpc>
                <a:spcPct val="150000"/>
              </a:lnSpc>
            </a:pPr>
            <a:r>
              <a:rPr lang="en-US" dirty="0"/>
              <a:t>A process refers to an entity that helps in representing the fundamental unit of work that must be implemented in any system.</a:t>
            </a:r>
          </a:p>
        </p:txBody>
      </p:sp>
    </p:spTree>
    <p:extLst>
      <p:ext uri="{BB962C8B-B14F-4D97-AF65-F5344CB8AC3E}">
        <p14:creationId xmlns:p14="http://schemas.microsoft.com/office/powerpoint/2010/main" val="4202057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B2F3C-3A65-4341-81E2-8F01F5639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Computer programs and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2BD97-3157-437F-973D-F01BC0875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We write the computer programs in the form of a text file</a:t>
            </a:r>
          </a:p>
          <a:p>
            <a:pPr>
              <a:lnSpc>
                <a:spcPct val="150000"/>
              </a:lnSpc>
            </a:pPr>
            <a:r>
              <a:rPr lang="en-US" dirty="0"/>
              <a:t> When we run them, these turn into processes that complete all of the duties specified in the program.</a:t>
            </a:r>
          </a:p>
        </p:txBody>
      </p:sp>
    </p:spTree>
    <p:extLst>
      <p:ext uri="{BB962C8B-B14F-4D97-AF65-F5344CB8AC3E}">
        <p14:creationId xmlns:p14="http://schemas.microsoft.com/office/powerpoint/2010/main" val="3174390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868AB-8A2A-4BCC-87F4-1E2B2B9A9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604"/>
          </a:xfrm>
        </p:spPr>
        <p:txBody>
          <a:bodyPr/>
          <a:lstStyle/>
          <a:p>
            <a:r>
              <a:rPr lang="en-US" b="1" dirty="0"/>
              <a:t>Components of a Process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8B092-12F6-4D49-B9BA-245238DD7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3671"/>
            <a:ext cx="10515600" cy="482329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A program can be segregated into four pieces when put into memory to become a process: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stack,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heap,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text, and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data.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015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F402A-2013-4FFA-9CFF-B942350F0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Components of a Process, con..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7D351-6CFE-404E-8D44-FDC5BD6AD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Stack</a:t>
            </a:r>
          </a:p>
          <a:p>
            <a:r>
              <a:rPr lang="en-US" dirty="0"/>
              <a:t>Temporary data like method or function parameters, return address, and local variables are stored in the process stack.</a:t>
            </a:r>
          </a:p>
          <a:p>
            <a:pPr marL="0" indent="0">
              <a:buNone/>
            </a:pPr>
            <a:r>
              <a:rPr lang="en-US" b="1" dirty="0"/>
              <a:t>Heap</a:t>
            </a:r>
          </a:p>
          <a:p>
            <a:r>
              <a:rPr lang="en-US" dirty="0"/>
              <a:t>This is the memory that is dynamically allocated to a process during its execution.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212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32A02-4053-455D-86C7-B1F20BF86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Components of a Process, con…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91365-ECAA-4D19-87A7-E790876EB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Text</a:t>
            </a:r>
          </a:p>
          <a:p>
            <a:r>
              <a:rPr lang="en-US" dirty="0"/>
              <a:t>This comprises the contents present in the processor’s registers as well as the current activity reflected by the value of the program counter.</a:t>
            </a:r>
          </a:p>
          <a:p>
            <a:pPr marL="0" indent="0">
              <a:buNone/>
            </a:pPr>
            <a:r>
              <a:rPr lang="en-US" b="1" dirty="0"/>
              <a:t>Data</a:t>
            </a:r>
          </a:p>
          <a:p>
            <a:r>
              <a:rPr lang="en-US" dirty="0"/>
              <a:t>The global as well as static variables are included in this section.</a:t>
            </a:r>
          </a:p>
          <a:p>
            <a:pPr marL="0" indent="0">
              <a:buNone/>
            </a:pPr>
            <a:r>
              <a:rPr lang="en-US" dirty="0"/>
              <a:t>   </a:t>
            </a:r>
          </a:p>
          <a:p>
            <a:pPr marL="0" indent="0">
              <a:buNone/>
            </a:pPr>
            <a:r>
              <a:rPr lang="en-US" i="1" u="sng" dirty="0"/>
              <a:t>QN:.  What are global and local variables?</a:t>
            </a:r>
          </a:p>
        </p:txBody>
      </p:sp>
    </p:spTree>
    <p:extLst>
      <p:ext uri="{BB962C8B-B14F-4D97-AF65-F5344CB8AC3E}">
        <p14:creationId xmlns:p14="http://schemas.microsoft.com/office/powerpoint/2010/main" val="539107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AF554-A70D-45D7-AA5E-FDC957277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Process Life Cycle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B48D9-D41B-4B6E-BC62-48163100D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When a process runs, it goes through many states. </a:t>
            </a:r>
          </a:p>
          <a:p>
            <a:r>
              <a:rPr lang="en-US" dirty="0"/>
              <a:t>Different operating systems have diverse stages, and the names of these states are not standardized. </a:t>
            </a:r>
          </a:p>
          <a:p>
            <a:r>
              <a:rPr lang="en-US" dirty="0"/>
              <a:t>A process can be in one of the following five states: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Start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Ready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Running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wait</a:t>
            </a:r>
          </a:p>
        </p:txBody>
      </p:sp>
    </p:spTree>
    <p:extLst>
      <p:ext uri="{BB962C8B-B14F-4D97-AF65-F5344CB8AC3E}">
        <p14:creationId xmlns:p14="http://schemas.microsoft.com/office/powerpoint/2010/main" val="3453728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18F66-8A5E-445E-8CD1-41C9C4AB0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Process States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F8CF7-0C37-41AD-BFD6-E958975B9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Start</a:t>
            </a:r>
          </a:p>
          <a:p>
            <a:r>
              <a:rPr lang="en-US" dirty="0"/>
              <a:t>When a process is started/created first, it is in this state.</a:t>
            </a:r>
          </a:p>
          <a:p>
            <a:pPr marL="0" indent="0">
              <a:buNone/>
            </a:pPr>
            <a:r>
              <a:rPr lang="en-US" b="1" dirty="0"/>
              <a:t>Ready</a:t>
            </a:r>
          </a:p>
          <a:p>
            <a:r>
              <a:rPr lang="en-US" dirty="0"/>
              <a:t>Here, the process is waiting for a processor to be assigned to it. </a:t>
            </a:r>
          </a:p>
          <a:p>
            <a:r>
              <a:rPr lang="en-US" dirty="0"/>
              <a:t>Ready processes are </a:t>
            </a:r>
            <a:r>
              <a:rPr lang="en-US" b="1" dirty="0"/>
              <a:t>waiting </a:t>
            </a:r>
            <a:r>
              <a:rPr lang="en-US" dirty="0"/>
              <a:t>for the operating system to assign them a processor so that they can run. </a:t>
            </a:r>
          </a:p>
          <a:p>
            <a:r>
              <a:rPr lang="en-US" dirty="0"/>
              <a:t>The process may enter this state after starting or while running, but the scheduler may interrupt it to assign the CPU to another process.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474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A4087-BF12-4A2C-BDE0-7782F43D7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141" y="365125"/>
            <a:ext cx="10627659" cy="1325563"/>
          </a:xfrm>
        </p:spPr>
        <p:txBody>
          <a:bodyPr/>
          <a:lstStyle/>
          <a:p>
            <a:r>
              <a:rPr lang="en-US" b="1" dirty="0"/>
              <a:t>Process States, </a:t>
            </a:r>
            <a:r>
              <a:rPr lang="en-US" b="1" dirty="0" err="1"/>
              <a:t>cont</a:t>
            </a:r>
            <a:r>
              <a:rPr lang="en-US" b="1" dirty="0"/>
              <a:t>…/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5A40B-C974-4676-BA03-C42160AB3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Running</a:t>
            </a:r>
          </a:p>
          <a:p>
            <a:r>
              <a:rPr lang="en-US" dirty="0"/>
              <a:t>When the OS scheduler assigns a processor to a process, the process state gets set to running</a:t>
            </a:r>
          </a:p>
          <a:p>
            <a:r>
              <a:rPr lang="en-US" dirty="0"/>
              <a:t>The processor then executes the process instructions one by one.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Waiting</a:t>
            </a:r>
          </a:p>
          <a:p>
            <a:r>
              <a:rPr lang="en-US" dirty="0"/>
              <a:t>If a process needs to wait for any resource, such as for user input or for a file to become available, it enters the </a:t>
            </a:r>
            <a:r>
              <a:rPr lang="en-US" b="1" dirty="0"/>
              <a:t>waiting state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927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0251F-F35A-4011-9220-0503DB623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Process States, </a:t>
            </a:r>
            <a:r>
              <a:rPr lang="en-US" b="1" dirty="0" err="1"/>
              <a:t>cont</a:t>
            </a:r>
            <a:r>
              <a:rPr lang="en-US" b="1" dirty="0"/>
              <a:t>…/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FAE48-AAEE-4C2D-811A-289D4844C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Terminated or Exit</a:t>
            </a:r>
          </a:p>
          <a:p>
            <a:pPr>
              <a:lnSpc>
                <a:spcPct val="100000"/>
              </a:lnSpc>
            </a:pPr>
            <a:r>
              <a:rPr lang="en-US" dirty="0"/>
              <a:t>The process is relocated to the terminated state, where it waits for removal from the main memory.</a:t>
            </a:r>
          </a:p>
          <a:p>
            <a:pPr>
              <a:lnSpc>
                <a:spcPct val="100000"/>
              </a:lnSpc>
            </a:pPr>
            <a:r>
              <a:rPr lang="en-US" dirty="0"/>
              <a:t>This is done once it has completed its execution or been terminated by the operating system.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054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51990-83B2-4B57-BA98-4A162858D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Process States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AD7285-62AB-4D0E-A3E9-60E7D2B347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2187234"/>
            <a:ext cx="9078446" cy="3189367"/>
          </a:xfrm>
        </p:spPr>
      </p:pic>
    </p:spTree>
    <p:extLst>
      <p:ext uri="{BB962C8B-B14F-4D97-AF65-F5344CB8AC3E}">
        <p14:creationId xmlns:p14="http://schemas.microsoft.com/office/powerpoint/2010/main" val="3320486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25F4D-8DA3-460B-BDA5-53EDF8C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Operating System - Processes">
            <a:extLst>
              <a:ext uri="{FF2B5EF4-FFF2-40B4-BE49-F238E27FC236}">
                <a16:creationId xmlns:a16="http://schemas.microsoft.com/office/drawing/2014/main" id="{0894653C-69EC-4B86-A0C1-93CEFFC27E3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50" y="2103242"/>
            <a:ext cx="6735762" cy="225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5343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29B54-7D1F-4DF4-A9D8-705C5DAFF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Control Block (PCB)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89010-2AFC-4447-8C77-138227E9D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Every process has a process control block, which is a data structure managed by the operating system. </a:t>
            </a:r>
          </a:p>
          <a:p>
            <a:r>
              <a:rPr lang="en-US"/>
              <a:t>An integer process ID (or PID) is used to identify the PCB. </a:t>
            </a:r>
          </a:p>
          <a:p>
            <a:r>
              <a:rPr lang="en-US"/>
              <a:t>PCB stores all of the information required to maintain track of a process.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073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82719-3FEA-4ACA-86AD-8E98043EA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Components of a PCB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F916F-2615-49B0-BE8F-2BE30BEE3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Process state</a:t>
            </a:r>
          </a:p>
          <a:p>
            <a:r>
              <a:rPr lang="en-US"/>
              <a:t>The process’s present state, such as whether it’s ready, waiting, running, or whatever.</a:t>
            </a:r>
          </a:p>
          <a:p>
            <a:endParaRPr lang="en-US"/>
          </a:p>
          <a:p>
            <a:r>
              <a:rPr lang="en-US"/>
              <a:t>Process privileges</a:t>
            </a:r>
          </a:p>
          <a:p>
            <a:r>
              <a:rPr lang="en-US"/>
              <a:t>This is required in order to grant or deny access to system resources.</a:t>
            </a:r>
          </a:p>
          <a:p>
            <a:endParaRPr lang="en-US"/>
          </a:p>
          <a:p>
            <a:r>
              <a:rPr lang="en-US"/>
              <a:t>Process ID</a:t>
            </a:r>
          </a:p>
          <a:p>
            <a:r>
              <a:rPr lang="en-US"/>
              <a:t>Each process in the OS has its own unique identifier.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007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5AA80-43AD-46C9-8058-03AA56694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Components of a PCB, cont../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BCBE4-0549-4614-876B-A0A241D3C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Pointer</a:t>
            </a:r>
          </a:p>
          <a:p>
            <a:r>
              <a:rPr lang="en-US" dirty="0"/>
              <a:t>It refers to a pointer that points to the parent process.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Program counter</a:t>
            </a:r>
          </a:p>
          <a:p>
            <a:r>
              <a:rPr lang="en-US" dirty="0"/>
              <a:t>The program counter refers to a pointer that points to the address of the process’s next instruction.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CPU registers</a:t>
            </a:r>
          </a:p>
          <a:p>
            <a:r>
              <a:rPr lang="en-US" dirty="0"/>
              <a:t>Processes must be stored in various CPU registers for execution in the running state.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465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5A74C-7B56-448A-B760-BD16F63CE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Components of a PCB, cont../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B9A9C-C4C5-4BE2-85C1-506FBEF44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CPU scheduling information</a:t>
            </a:r>
          </a:p>
          <a:p>
            <a:r>
              <a:rPr lang="en-US" dirty="0"/>
              <a:t>Process priority and additional scheduling information are required for the process to be scheduled.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Memory management information</a:t>
            </a:r>
          </a:p>
          <a:p>
            <a:r>
              <a:rPr lang="en-US" dirty="0"/>
              <a:t>This includes information from the page table, memory limitations, and segment table</a:t>
            </a:r>
          </a:p>
          <a:p>
            <a:r>
              <a:rPr lang="en-US" dirty="0"/>
              <a:t>All these are dependent on the amount of memory used by the OS.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6080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D332A-D335-4940-98FC-F4E1502FF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838F6-5B08-499E-8537-B6395F2DA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Accounting information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This comprises CPU use for process execution, time constraints, and execution ID, among other things.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889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5BE10-0AF4-469E-B9F7-7A7282170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Components of a PCB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6A6B52-C774-4E84-A55C-DDD7C06E38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625" y="1999129"/>
            <a:ext cx="4650235" cy="4054352"/>
          </a:xfrm>
        </p:spPr>
      </p:pic>
    </p:spTree>
    <p:extLst>
      <p:ext uri="{BB962C8B-B14F-4D97-AF65-F5344CB8AC3E}">
        <p14:creationId xmlns:p14="http://schemas.microsoft.com/office/powerpoint/2010/main" val="1261221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5CFB9-E468-4F24-88F7-6900C8058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Reading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05AFE-4FF7-43A5-96EB-33A6FCB12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b="1" dirty="0"/>
              <a:t>Read About and summarize the following sub topics</a:t>
            </a:r>
          </a:p>
          <a:p>
            <a:pPr marL="0" lvl="0" indent="0">
              <a:buNone/>
            </a:pP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sz="2800" i="1" dirty="0"/>
              <a:t>Hardware features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i="1" dirty="0"/>
              <a:t>Interrupts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53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751B7-BB7B-47D1-B7B8-D87586316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186D3-FA63-48B0-BF48-9066DE0A1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interrupt is a signal emitted by a device attached to a computer or from a program within the computer. </a:t>
            </a:r>
          </a:p>
          <a:p>
            <a:r>
              <a:rPr lang="en-US" dirty="0"/>
              <a:t>It requires the operating system (OS) to stop and figure out what to do next. </a:t>
            </a:r>
          </a:p>
          <a:p>
            <a:r>
              <a:rPr lang="en-US" dirty="0"/>
              <a:t>An interrupt temporarily stops or terminates a service or a current process. </a:t>
            </a:r>
          </a:p>
          <a:p>
            <a:r>
              <a:rPr lang="en-US" dirty="0"/>
              <a:t>Most I/O devices have a bus control line called Interrupt Service Routine (ISR) for this purpose.</a:t>
            </a:r>
          </a:p>
        </p:txBody>
      </p:sp>
    </p:spTree>
    <p:extLst>
      <p:ext uri="{BB962C8B-B14F-4D97-AF65-F5344CB8AC3E}">
        <p14:creationId xmlns:p14="http://schemas.microsoft.com/office/powerpoint/2010/main" val="23921795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5929C-83AE-46D1-8A11-64A08706C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 occurrence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BB4AD-9337-405E-89D8-F538AA2F3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interrupt signal might be planned (i.e., specifically requested by a program) or </a:t>
            </a:r>
          </a:p>
          <a:p>
            <a:r>
              <a:rPr lang="en-US" dirty="0"/>
              <a:t>it may be unplanned (i.e., caused by an event that may not be related to a program that's currently running on the system).</a:t>
            </a:r>
          </a:p>
          <a:p>
            <a:r>
              <a:rPr lang="en-US" dirty="0"/>
              <a:t>In modern days, almost all computing systems are interrupt-drive.</a:t>
            </a:r>
          </a:p>
          <a:p>
            <a:r>
              <a:rPr lang="en-US" dirty="0"/>
              <a:t>They follow the list of computer instructions in a program and run the instructions until they get to the end or until they sense an interrupt signal</a:t>
            </a:r>
          </a:p>
        </p:txBody>
      </p:sp>
    </p:spTree>
    <p:extLst>
      <p:ext uri="{BB962C8B-B14F-4D97-AF65-F5344CB8AC3E}">
        <p14:creationId xmlns:p14="http://schemas.microsoft.com/office/powerpoint/2010/main" val="8301232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4BFCF-FB9E-44DD-9B80-87EE7E2F5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18D25-4BAD-465E-BAC9-50D2900ED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do we need interrupts in Operating systems</a:t>
            </a:r>
          </a:p>
          <a:p>
            <a:r>
              <a:rPr lang="en-US" dirty="0"/>
              <a:t>What are the disadvantages of interrupts</a:t>
            </a:r>
          </a:p>
          <a:p>
            <a:r>
              <a:rPr lang="en-US" dirty="0"/>
              <a:t>What are the types of interrupts</a:t>
            </a:r>
          </a:p>
        </p:txBody>
      </p:sp>
    </p:spTree>
    <p:extLst>
      <p:ext uri="{BB962C8B-B14F-4D97-AF65-F5344CB8AC3E}">
        <p14:creationId xmlns:p14="http://schemas.microsoft.com/office/powerpoint/2010/main" val="32666933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7CB6C-4465-4217-98F6-5C9075D07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US" dirty="0"/>
            </a:br>
            <a:r>
              <a:rPr lang="en-US" dirty="0"/>
              <a:t>The 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C95A1-BBD1-4E02-BD0D-17FBF1083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167944987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365</TotalTime>
  <Words>905</Words>
  <Application>Microsoft Office PowerPoint</Application>
  <PresentationFormat>Widescreen</PresentationFormat>
  <Paragraphs>110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Gill Sans MT</vt:lpstr>
      <vt:lpstr>Wingdings</vt:lpstr>
      <vt:lpstr>Gallery</vt:lpstr>
      <vt:lpstr>Process in an Operating System </vt:lpstr>
      <vt:lpstr>Definition</vt:lpstr>
      <vt:lpstr>Computer programs and processes</vt:lpstr>
      <vt:lpstr>Components of a Process</vt:lpstr>
      <vt:lpstr>Components of a Process, con..</vt:lpstr>
      <vt:lpstr>Components of a Process, con…</vt:lpstr>
      <vt:lpstr>Process Life Cycle</vt:lpstr>
      <vt:lpstr>Process States</vt:lpstr>
      <vt:lpstr>Process States, cont…/</vt:lpstr>
      <vt:lpstr>Process States, cont…/</vt:lpstr>
      <vt:lpstr>Process States</vt:lpstr>
      <vt:lpstr>PowerPoint Presentation</vt:lpstr>
      <vt:lpstr>Process Control Block (PCB)</vt:lpstr>
      <vt:lpstr>Components of a PCB</vt:lpstr>
      <vt:lpstr>Components of a PCB, cont../</vt:lpstr>
      <vt:lpstr>Components of a PCB, cont../</vt:lpstr>
      <vt:lpstr>PowerPoint Presentation</vt:lpstr>
      <vt:lpstr>Components of a PCB</vt:lpstr>
      <vt:lpstr>Reading Assignment</vt:lpstr>
      <vt:lpstr>Interrupts</vt:lpstr>
      <vt:lpstr>Interrupt occurrence</vt:lpstr>
      <vt:lpstr>questions</vt:lpstr>
      <vt:lpstr> 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in an Operating System </dc:title>
  <dc:creator>HP</dc:creator>
  <cp:lastModifiedBy>CODEL-LAB</cp:lastModifiedBy>
  <cp:revision>18</cp:revision>
  <dcterms:created xsi:type="dcterms:W3CDTF">2024-03-18T15:09:35Z</dcterms:created>
  <dcterms:modified xsi:type="dcterms:W3CDTF">2024-12-13T10:49:57Z</dcterms:modified>
</cp:coreProperties>
</file>