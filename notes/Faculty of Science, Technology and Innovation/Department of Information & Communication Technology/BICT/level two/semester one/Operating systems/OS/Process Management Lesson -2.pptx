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43"/>
  </p:notesMasterIdLst>
  <p:sldIdLst>
    <p:sldId id="1864" r:id="rId5"/>
    <p:sldId id="1846" r:id="rId6"/>
    <p:sldId id="1848" r:id="rId7"/>
    <p:sldId id="1878" r:id="rId8"/>
    <p:sldId id="1879" r:id="rId9"/>
    <p:sldId id="1880" r:id="rId10"/>
    <p:sldId id="1881" r:id="rId11"/>
    <p:sldId id="1882" r:id="rId12"/>
    <p:sldId id="1868" r:id="rId13"/>
    <p:sldId id="1869" r:id="rId14"/>
    <p:sldId id="1870" r:id="rId15"/>
    <p:sldId id="1871" r:id="rId16"/>
    <p:sldId id="1872" r:id="rId17"/>
    <p:sldId id="1873" r:id="rId18"/>
    <p:sldId id="1874" r:id="rId19"/>
    <p:sldId id="1875" r:id="rId20"/>
    <p:sldId id="1876" r:id="rId21"/>
    <p:sldId id="1877" r:id="rId22"/>
    <p:sldId id="1883" r:id="rId23"/>
    <p:sldId id="1884" r:id="rId24"/>
    <p:sldId id="1885" r:id="rId25"/>
    <p:sldId id="1886" r:id="rId26"/>
    <p:sldId id="1887" r:id="rId27"/>
    <p:sldId id="1888" r:id="rId28"/>
    <p:sldId id="1889" r:id="rId29"/>
    <p:sldId id="1891" r:id="rId30"/>
    <p:sldId id="1890" r:id="rId31"/>
    <p:sldId id="1892" r:id="rId32"/>
    <p:sldId id="1893" r:id="rId33"/>
    <p:sldId id="1894" r:id="rId34"/>
    <p:sldId id="1895" r:id="rId35"/>
    <p:sldId id="1896" r:id="rId36"/>
    <p:sldId id="1899" r:id="rId37"/>
    <p:sldId id="1897" r:id="rId38"/>
    <p:sldId id="1898" r:id="rId39"/>
    <p:sldId id="1900" r:id="rId40"/>
    <p:sldId id="1901" r:id="rId41"/>
    <p:sldId id="1867" r:id="rId4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4387"/>
    <a:srgbClr val="FF2625"/>
    <a:srgbClr val="007788"/>
    <a:srgbClr val="297C2A"/>
    <a:srgbClr val="F69000"/>
    <a:srgbClr val="01C2D1"/>
    <a:srgbClr val="D6D734"/>
    <a:srgbClr val="005C68"/>
    <a:srgbClr val="3B2E58"/>
    <a:srgbClr val="6B292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741" autoAdjust="0"/>
  </p:normalViewPr>
  <p:slideViewPr>
    <p:cSldViewPr snapToGrid="0">
      <p:cViewPr varScale="1">
        <p:scale>
          <a:sx n="66" d="100"/>
          <a:sy n="66" d="100"/>
        </p:scale>
        <p:origin x="668" y="44"/>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6C08-4EC1-1775-4FF1-E21C5BB7D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09A18-E9D2-6594-5ED1-D6BCB81C7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74501-D8EC-B250-0239-81BF939C1A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C40CDC-FCF4-FC00-9ECB-E2219F45CE4E}"/>
              </a:ext>
            </a:extLst>
          </p:cNvPr>
          <p:cNvSpPr>
            <a:spLocks noGrp="1"/>
          </p:cNvSpPr>
          <p:nvPr>
            <p:ph type="sldNum" sz="quarter" idx="5"/>
          </p:nvPr>
        </p:nvSpPr>
        <p:spPr/>
        <p:txBody>
          <a:bodyPr/>
          <a:lstStyle/>
          <a:p>
            <a:fld id="{6DEB7EE2-04A2-4FB2-9625-C9C73AC4D32F}" type="slidenum">
              <a:rPr lang="en-US" altLang="en-US" smtClean="0"/>
              <a:pPr/>
              <a:t>4</a:t>
            </a:fld>
            <a:endParaRPr lang="en-US" altLang="en-US" dirty="0"/>
          </a:p>
        </p:txBody>
      </p:sp>
    </p:spTree>
    <p:extLst>
      <p:ext uri="{BB962C8B-B14F-4D97-AF65-F5344CB8AC3E}">
        <p14:creationId xmlns:p14="http://schemas.microsoft.com/office/powerpoint/2010/main" val="1767443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550A6-01A9-20BA-0988-213C877B3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467D2-FC54-A438-0169-C6DF2F18C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41028-5AAA-589B-D352-F117784089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8B394E-8FE6-FBE5-F6E5-01BA1480420F}"/>
              </a:ext>
            </a:extLst>
          </p:cNvPr>
          <p:cNvSpPr>
            <a:spLocks noGrp="1"/>
          </p:cNvSpPr>
          <p:nvPr>
            <p:ph type="sldNum" sz="quarter" idx="5"/>
          </p:nvPr>
        </p:nvSpPr>
        <p:spPr/>
        <p:txBody>
          <a:bodyPr/>
          <a:lstStyle/>
          <a:p>
            <a:fld id="{6DEB7EE2-04A2-4FB2-9625-C9C73AC4D32F}" type="slidenum">
              <a:rPr lang="en-US" altLang="en-US" smtClean="0"/>
              <a:pPr/>
              <a:t>5</a:t>
            </a:fld>
            <a:endParaRPr lang="en-US" altLang="en-US" dirty="0"/>
          </a:p>
        </p:txBody>
      </p:sp>
    </p:spTree>
    <p:extLst>
      <p:ext uri="{BB962C8B-B14F-4D97-AF65-F5344CB8AC3E}">
        <p14:creationId xmlns:p14="http://schemas.microsoft.com/office/powerpoint/2010/main" val="3485674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10D76-29FA-4560-F08D-51CAD8DD5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924E0-15B7-43A3-6CBA-F17E62721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8A331-4152-C089-7C5C-ECCBC3CA29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4AB36-A42F-C286-5746-AD34A3BE0B64}"/>
              </a:ext>
            </a:extLst>
          </p:cNvPr>
          <p:cNvSpPr>
            <a:spLocks noGrp="1"/>
          </p:cNvSpPr>
          <p:nvPr>
            <p:ph type="sldNum" sz="quarter" idx="5"/>
          </p:nvPr>
        </p:nvSpPr>
        <p:spPr/>
        <p:txBody>
          <a:bodyPr/>
          <a:lstStyle/>
          <a:p>
            <a:fld id="{6DEB7EE2-04A2-4FB2-9625-C9C73AC4D32F}" type="slidenum">
              <a:rPr lang="en-US" altLang="en-US" smtClean="0"/>
              <a:pPr/>
              <a:t>6</a:t>
            </a:fld>
            <a:endParaRPr lang="en-US" altLang="en-US" dirty="0"/>
          </a:p>
        </p:txBody>
      </p:sp>
    </p:spTree>
    <p:extLst>
      <p:ext uri="{BB962C8B-B14F-4D97-AF65-F5344CB8AC3E}">
        <p14:creationId xmlns:p14="http://schemas.microsoft.com/office/powerpoint/2010/main" val="2655402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BDE0C-E9E3-0A59-9700-7966656E3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B0053-447D-E380-A4C9-9BA0F3F02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C18E8-62FA-0EEF-81F6-9C4097C85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166753-726D-0349-7FEB-D320F74C7070}"/>
              </a:ext>
            </a:extLst>
          </p:cNvPr>
          <p:cNvSpPr>
            <a:spLocks noGrp="1"/>
          </p:cNvSpPr>
          <p:nvPr>
            <p:ph type="sldNum" sz="quarter" idx="5"/>
          </p:nvPr>
        </p:nvSpPr>
        <p:spPr/>
        <p:txBody>
          <a:bodyPr/>
          <a:lstStyle/>
          <a:p>
            <a:fld id="{6DEB7EE2-04A2-4FB2-9625-C9C73AC4D32F}" type="slidenum">
              <a:rPr lang="en-US" altLang="en-US" smtClean="0"/>
              <a:pPr/>
              <a:t>7</a:t>
            </a:fld>
            <a:endParaRPr lang="en-US" altLang="en-US" dirty="0"/>
          </a:p>
        </p:txBody>
      </p:sp>
    </p:spTree>
    <p:extLst>
      <p:ext uri="{BB962C8B-B14F-4D97-AF65-F5344CB8AC3E}">
        <p14:creationId xmlns:p14="http://schemas.microsoft.com/office/powerpoint/2010/main" val="2029140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ED57-4A21-2617-57D9-F9E4A7B22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0D94C-8E8E-47A1-4F06-C0CB23A7E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51DD0-A6ED-B3CC-FC89-44AEFFEBBA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257C6A-6729-40E7-CA71-2ED5444AA908}"/>
              </a:ext>
            </a:extLst>
          </p:cNvPr>
          <p:cNvSpPr>
            <a:spLocks noGrp="1"/>
          </p:cNvSpPr>
          <p:nvPr>
            <p:ph type="sldNum" sz="quarter" idx="5"/>
          </p:nvPr>
        </p:nvSpPr>
        <p:spPr/>
        <p:txBody>
          <a:bodyPr/>
          <a:lstStyle/>
          <a:p>
            <a:fld id="{6DEB7EE2-04A2-4FB2-9625-C9C73AC4D32F}" type="slidenum">
              <a:rPr lang="en-US" altLang="en-US" smtClean="0"/>
              <a:pPr/>
              <a:t>8</a:t>
            </a:fld>
            <a:endParaRPr lang="en-US" altLang="en-US" dirty="0"/>
          </a:p>
        </p:txBody>
      </p:sp>
    </p:spTree>
    <p:extLst>
      <p:ext uri="{BB962C8B-B14F-4D97-AF65-F5344CB8AC3E}">
        <p14:creationId xmlns:p14="http://schemas.microsoft.com/office/powerpoint/2010/main" val="3719149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006D-2A4B-FEE8-30D5-5A7A1D0F9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9CC71-CD74-9C37-1C68-D964AD900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640AC-9FB2-B458-850F-ED6E831D9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427FCF-4065-CA6C-8C27-C23DEF3B8D83}"/>
              </a:ext>
            </a:extLst>
          </p:cNvPr>
          <p:cNvSpPr>
            <a:spLocks noGrp="1"/>
          </p:cNvSpPr>
          <p:nvPr>
            <p:ph type="sldNum" sz="quarter" idx="5"/>
          </p:nvPr>
        </p:nvSpPr>
        <p:spPr/>
        <p:txBody>
          <a:bodyPr/>
          <a:lstStyle/>
          <a:p>
            <a:fld id="{6DEB7EE2-04A2-4FB2-9625-C9C73AC4D32F}" type="slidenum">
              <a:rPr lang="en-US" altLang="en-US" smtClean="0"/>
              <a:pPr/>
              <a:t>9</a:t>
            </a:fld>
            <a:endParaRPr lang="en-US" altLang="en-US" dirty="0"/>
          </a:p>
        </p:txBody>
      </p:sp>
    </p:spTree>
    <p:extLst>
      <p:ext uri="{BB962C8B-B14F-4D97-AF65-F5344CB8AC3E}">
        <p14:creationId xmlns:p14="http://schemas.microsoft.com/office/powerpoint/2010/main" val="3731634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026F-77B9-D343-2649-047112BD8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3246C-BD8C-B7C2-9151-41EE3135D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B039D-BDA3-BB32-9336-D05BCA4E5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2245B5-7715-A8CD-2621-F239B02C42C3}"/>
              </a:ext>
            </a:extLst>
          </p:cNvPr>
          <p:cNvSpPr>
            <a:spLocks noGrp="1"/>
          </p:cNvSpPr>
          <p:nvPr>
            <p:ph type="sldNum" sz="quarter" idx="5"/>
          </p:nvPr>
        </p:nvSpPr>
        <p:spPr/>
        <p:txBody>
          <a:bodyPr/>
          <a:lstStyle/>
          <a:p>
            <a:fld id="{6DEB7EE2-04A2-4FB2-9625-C9C73AC4D32F}" type="slidenum">
              <a:rPr lang="en-US" altLang="en-US" smtClean="0"/>
              <a:pPr/>
              <a:t>10</a:t>
            </a:fld>
            <a:endParaRPr lang="en-US" altLang="en-US" dirty="0"/>
          </a:p>
        </p:txBody>
      </p:sp>
    </p:spTree>
    <p:extLst>
      <p:ext uri="{BB962C8B-B14F-4D97-AF65-F5344CB8AC3E}">
        <p14:creationId xmlns:p14="http://schemas.microsoft.com/office/powerpoint/2010/main" val="3153056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5FE5C-6317-ABD9-EE2D-EC799CD03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9877E-3F63-51FC-0C99-C7342239E9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391AD-430E-18E7-CB07-2BD435884D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973ED2-86BE-D673-CE95-C5F395ADA871}"/>
              </a:ext>
            </a:extLst>
          </p:cNvPr>
          <p:cNvSpPr>
            <a:spLocks noGrp="1"/>
          </p:cNvSpPr>
          <p:nvPr>
            <p:ph type="sldNum" sz="quarter" idx="5"/>
          </p:nvPr>
        </p:nvSpPr>
        <p:spPr/>
        <p:txBody>
          <a:bodyPr/>
          <a:lstStyle/>
          <a:p>
            <a:fld id="{6DEB7EE2-04A2-4FB2-9625-C9C73AC4D32F}" type="slidenum">
              <a:rPr lang="en-US" altLang="en-US" smtClean="0"/>
              <a:pPr/>
              <a:t>11</a:t>
            </a:fld>
            <a:endParaRPr lang="en-US" altLang="en-US" dirty="0"/>
          </a:p>
        </p:txBody>
      </p:sp>
    </p:spTree>
    <p:extLst>
      <p:ext uri="{BB962C8B-B14F-4D97-AF65-F5344CB8AC3E}">
        <p14:creationId xmlns:p14="http://schemas.microsoft.com/office/powerpoint/2010/main" val="767993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82E74-0070-5FB9-4789-B12C05122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62A00-ABE6-ADD6-404A-12919D3D36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2DE10-1F19-3D30-898C-2B5A06BB8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1AB4B-76CB-8148-1D16-9B346BF5B926}"/>
              </a:ext>
            </a:extLst>
          </p:cNvPr>
          <p:cNvSpPr>
            <a:spLocks noGrp="1"/>
          </p:cNvSpPr>
          <p:nvPr>
            <p:ph type="sldNum" sz="quarter" idx="5"/>
          </p:nvPr>
        </p:nvSpPr>
        <p:spPr/>
        <p:txBody>
          <a:bodyPr/>
          <a:lstStyle/>
          <a:p>
            <a:fld id="{6DEB7EE2-04A2-4FB2-9625-C9C73AC4D32F}" type="slidenum">
              <a:rPr lang="en-US" altLang="en-US" smtClean="0"/>
              <a:pPr/>
              <a:t>12</a:t>
            </a:fld>
            <a:endParaRPr lang="en-US" altLang="en-US" dirty="0"/>
          </a:p>
        </p:txBody>
      </p:sp>
    </p:spTree>
    <p:extLst>
      <p:ext uri="{BB962C8B-B14F-4D97-AF65-F5344CB8AC3E}">
        <p14:creationId xmlns:p14="http://schemas.microsoft.com/office/powerpoint/2010/main" val="2138330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50845-9988-7EA0-D3C4-0F3B2CB1B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23CDF-178D-BF87-4E5C-C0D0A6BBF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8A44B-782C-61C6-1669-304B837B8E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2A92E2-BE4B-16DA-FB4A-09679C166E5D}"/>
              </a:ext>
            </a:extLst>
          </p:cNvPr>
          <p:cNvSpPr>
            <a:spLocks noGrp="1"/>
          </p:cNvSpPr>
          <p:nvPr>
            <p:ph type="sldNum" sz="quarter" idx="5"/>
          </p:nvPr>
        </p:nvSpPr>
        <p:spPr/>
        <p:txBody>
          <a:bodyPr/>
          <a:lstStyle/>
          <a:p>
            <a:fld id="{6DEB7EE2-04A2-4FB2-9625-C9C73AC4D32F}" type="slidenum">
              <a:rPr lang="en-US" altLang="en-US" smtClean="0"/>
              <a:pPr/>
              <a:t>13</a:t>
            </a:fld>
            <a:endParaRPr lang="en-US" altLang="en-US" dirty="0"/>
          </a:p>
        </p:txBody>
      </p:sp>
    </p:spTree>
    <p:extLst>
      <p:ext uri="{BB962C8B-B14F-4D97-AF65-F5344CB8AC3E}">
        <p14:creationId xmlns:p14="http://schemas.microsoft.com/office/powerpoint/2010/main" val="3852335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2158F-46CA-A419-B0D1-A3F0B19F4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10677-57E9-5129-90F1-B26D5D0C9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786B9-A377-403B-B43D-51E1DAB401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F69FDA-0814-F1E8-F43C-677ED346B588}"/>
              </a:ext>
            </a:extLst>
          </p:cNvPr>
          <p:cNvSpPr>
            <a:spLocks noGrp="1"/>
          </p:cNvSpPr>
          <p:nvPr>
            <p:ph type="sldNum" sz="quarter" idx="5"/>
          </p:nvPr>
        </p:nvSpPr>
        <p:spPr/>
        <p:txBody>
          <a:bodyPr/>
          <a:lstStyle/>
          <a:p>
            <a:fld id="{6DEB7EE2-04A2-4FB2-9625-C9C73AC4D32F}" type="slidenum">
              <a:rPr lang="en-US" altLang="en-US" smtClean="0"/>
              <a:pPr/>
              <a:t>14</a:t>
            </a:fld>
            <a:endParaRPr lang="en-US" altLang="en-US" dirty="0"/>
          </a:p>
        </p:txBody>
      </p:sp>
    </p:spTree>
    <p:extLst>
      <p:ext uri="{BB962C8B-B14F-4D97-AF65-F5344CB8AC3E}">
        <p14:creationId xmlns:p14="http://schemas.microsoft.com/office/powerpoint/2010/main" val="1104421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7EFB-2EE4-08CC-ED63-D4B5095A9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61F94-3352-358E-9C0F-18DA1D3E7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51EC5-9232-3FFF-0041-21ACEB46D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453F5-78CA-103B-E13A-407BF3DACC6E}"/>
              </a:ext>
            </a:extLst>
          </p:cNvPr>
          <p:cNvSpPr>
            <a:spLocks noGrp="1"/>
          </p:cNvSpPr>
          <p:nvPr>
            <p:ph type="sldNum" sz="quarter" idx="5"/>
          </p:nvPr>
        </p:nvSpPr>
        <p:spPr/>
        <p:txBody>
          <a:bodyPr/>
          <a:lstStyle/>
          <a:p>
            <a:fld id="{6DEB7EE2-04A2-4FB2-9625-C9C73AC4D32F}" type="slidenum">
              <a:rPr lang="en-US" altLang="en-US" smtClean="0"/>
              <a:pPr/>
              <a:t>15</a:t>
            </a:fld>
            <a:endParaRPr lang="en-US" altLang="en-US" dirty="0"/>
          </a:p>
        </p:txBody>
      </p:sp>
    </p:spTree>
    <p:extLst>
      <p:ext uri="{BB962C8B-B14F-4D97-AF65-F5344CB8AC3E}">
        <p14:creationId xmlns:p14="http://schemas.microsoft.com/office/powerpoint/2010/main" val="253040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6B6DD-4070-9B49-8985-0351936BB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8712B-BE15-71B8-B6CD-82DC31DEA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C844F-6829-5EA3-5776-CA7726AD2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9FA5F4-2397-6327-F33A-52A101BCB722}"/>
              </a:ext>
            </a:extLst>
          </p:cNvPr>
          <p:cNvSpPr>
            <a:spLocks noGrp="1"/>
          </p:cNvSpPr>
          <p:nvPr>
            <p:ph type="sldNum" sz="quarter" idx="5"/>
          </p:nvPr>
        </p:nvSpPr>
        <p:spPr/>
        <p:txBody>
          <a:bodyPr/>
          <a:lstStyle/>
          <a:p>
            <a:fld id="{6DEB7EE2-04A2-4FB2-9625-C9C73AC4D32F}" type="slidenum">
              <a:rPr lang="en-US" altLang="en-US" smtClean="0"/>
              <a:pPr/>
              <a:t>16</a:t>
            </a:fld>
            <a:endParaRPr lang="en-US" altLang="en-US" dirty="0"/>
          </a:p>
        </p:txBody>
      </p:sp>
    </p:spTree>
    <p:extLst>
      <p:ext uri="{BB962C8B-B14F-4D97-AF65-F5344CB8AC3E}">
        <p14:creationId xmlns:p14="http://schemas.microsoft.com/office/powerpoint/2010/main" val="3398509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7FA2-F3A3-4A5C-EA2E-ABCC2EBA7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6455C-C961-863D-F6D0-E462A5E72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6E739-38B7-534B-45A6-B2F2FC83099B}"/>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34C60BC7-F7EA-9D9B-A8B9-46EBDD229CF8}"/>
              </a:ext>
            </a:extLst>
          </p:cNvPr>
          <p:cNvSpPr>
            <a:spLocks noGrp="1"/>
          </p:cNvSpPr>
          <p:nvPr>
            <p:ph type="sldNum" sz="quarter" idx="5"/>
          </p:nvPr>
        </p:nvSpPr>
        <p:spPr/>
        <p:txBody>
          <a:bodyPr/>
          <a:lstStyle/>
          <a:p>
            <a:fld id="{6DEB7EE2-04A2-4FB2-9625-C9C73AC4D32F}" type="slidenum">
              <a:rPr lang="en-US" altLang="en-US" smtClean="0"/>
              <a:pPr/>
              <a:t>17</a:t>
            </a:fld>
            <a:endParaRPr lang="en-US" altLang="en-US" dirty="0"/>
          </a:p>
        </p:txBody>
      </p:sp>
    </p:spTree>
    <p:extLst>
      <p:ext uri="{BB962C8B-B14F-4D97-AF65-F5344CB8AC3E}">
        <p14:creationId xmlns:p14="http://schemas.microsoft.com/office/powerpoint/2010/main" val="546080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35BC-04EE-7664-5760-C2A1E6326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0BD-A8C5-37C2-BBD1-03AE3324D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A2F926-C9B5-F6BB-DAFD-4524D3529D06}"/>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93468EE7-7237-6C2F-D3DD-8F8C5A3AEA03}"/>
              </a:ext>
            </a:extLst>
          </p:cNvPr>
          <p:cNvSpPr>
            <a:spLocks noGrp="1"/>
          </p:cNvSpPr>
          <p:nvPr>
            <p:ph type="sldNum" sz="quarter" idx="5"/>
          </p:nvPr>
        </p:nvSpPr>
        <p:spPr/>
        <p:txBody>
          <a:bodyPr/>
          <a:lstStyle/>
          <a:p>
            <a:fld id="{6DEB7EE2-04A2-4FB2-9625-C9C73AC4D32F}" type="slidenum">
              <a:rPr lang="en-US" altLang="en-US" smtClean="0"/>
              <a:pPr/>
              <a:t>18</a:t>
            </a:fld>
            <a:endParaRPr lang="en-US" altLang="en-US" dirty="0"/>
          </a:p>
        </p:txBody>
      </p:sp>
    </p:spTree>
    <p:extLst>
      <p:ext uri="{BB962C8B-B14F-4D97-AF65-F5344CB8AC3E}">
        <p14:creationId xmlns:p14="http://schemas.microsoft.com/office/powerpoint/2010/main" val="32838184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F735-E926-B3E0-8532-C0940AE34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62392-9F30-1A9C-60C2-EE40DD4E1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3B159-460D-6CEC-12FC-1FF5235E3D6E}"/>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A23156DB-7272-1060-E205-7E60F086FD5F}"/>
              </a:ext>
            </a:extLst>
          </p:cNvPr>
          <p:cNvSpPr>
            <a:spLocks noGrp="1"/>
          </p:cNvSpPr>
          <p:nvPr>
            <p:ph type="sldNum" sz="quarter" idx="5"/>
          </p:nvPr>
        </p:nvSpPr>
        <p:spPr/>
        <p:txBody>
          <a:bodyPr/>
          <a:lstStyle/>
          <a:p>
            <a:fld id="{6DEB7EE2-04A2-4FB2-9625-C9C73AC4D32F}" type="slidenum">
              <a:rPr lang="en-US" altLang="en-US" smtClean="0"/>
              <a:pPr/>
              <a:t>19</a:t>
            </a:fld>
            <a:endParaRPr lang="en-US" altLang="en-US" dirty="0"/>
          </a:p>
        </p:txBody>
      </p:sp>
    </p:spTree>
    <p:extLst>
      <p:ext uri="{BB962C8B-B14F-4D97-AF65-F5344CB8AC3E}">
        <p14:creationId xmlns:p14="http://schemas.microsoft.com/office/powerpoint/2010/main" val="4278701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0102-1BE4-24ED-E507-0C5EAE40C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F062B-6B9B-3749-F3B1-5F41817FA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47500-878B-D637-A0B1-AF3C7FF965B0}"/>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3100FD06-65BC-62E0-9838-03829480036C}"/>
              </a:ext>
            </a:extLst>
          </p:cNvPr>
          <p:cNvSpPr>
            <a:spLocks noGrp="1"/>
          </p:cNvSpPr>
          <p:nvPr>
            <p:ph type="sldNum" sz="quarter" idx="5"/>
          </p:nvPr>
        </p:nvSpPr>
        <p:spPr/>
        <p:txBody>
          <a:bodyPr/>
          <a:lstStyle/>
          <a:p>
            <a:fld id="{6DEB7EE2-04A2-4FB2-9625-C9C73AC4D32F}" type="slidenum">
              <a:rPr lang="en-US" altLang="en-US" smtClean="0"/>
              <a:pPr/>
              <a:t>20</a:t>
            </a:fld>
            <a:endParaRPr lang="en-US" altLang="en-US" dirty="0"/>
          </a:p>
        </p:txBody>
      </p:sp>
    </p:spTree>
    <p:extLst>
      <p:ext uri="{BB962C8B-B14F-4D97-AF65-F5344CB8AC3E}">
        <p14:creationId xmlns:p14="http://schemas.microsoft.com/office/powerpoint/2010/main" val="3886473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8B8FF-4293-B8B3-52B7-70F7B24F2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E25E8-EA14-ADA1-E95E-762FB94B98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E3854-C94C-E76F-2140-14D9934568B1}"/>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63007646-C56E-4007-8787-A7E217579542}"/>
              </a:ext>
            </a:extLst>
          </p:cNvPr>
          <p:cNvSpPr>
            <a:spLocks noGrp="1"/>
          </p:cNvSpPr>
          <p:nvPr>
            <p:ph type="sldNum" sz="quarter" idx="5"/>
          </p:nvPr>
        </p:nvSpPr>
        <p:spPr/>
        <p:txBody>
          <a:bodyPr/>
          <a:lstStyle/>
          <a:p>
            <a:fld id="{6DEB7EE2-04A2-4FB2-9625-C9C73AC4D32F}" type="slidenum">
              <a:rPr lang="en-US" altLang="en-US" smtClean="0"/>
              <a:pPr/>
              <a:t>21</a:t>
            </a:fld>
            <a:endParaRPr lang="en-US" altLang="en-US" dirty="0"/>
          </a:p>
        </p:txBody>
      </p:sp>
    </p:spTree>
    <p:extLst>
      <p:ext uri="{BB962C8B-B14F-4D97-AF65-F5344CB8AC3E}">
        <p14:creationId xmlns:p14="http://schemas.microsoft.com/office/powerpoint/2010/main" val="3942260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FC12-6912-64E8-2302-0F0043CC6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1CDF0-6C42-AFD4-87F8-A54483555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2AB82-90B9-5372-00EB-68D00673BF71}"/>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453ABA32-13CD-8BCF-9935-C0B8CC145696}"/>
              </a:ext>
            </a:extLst>
          </p:cNvPr>
          <p:cNvSpPr>
            <a:spLocks noGrp="1"/>
          </p:cNvSpPr>
          <p:nvPr>
            <p:ph type="sldNum" sz="quarter" idx="5"/>
          </p:nvPr>
        </p:nvSpPr>
        <p:spPr/>
        <p:txBody>
          <a:bodyPr/>
          <a:lstStyle/>
          <a:p>
            <a:fld id="{6DEB7EE2-04A2-4FB2-9625-C9C73AC4D32F}" type="slidenum">
              <a:rPr lang="en-US" altLang="en-US" smtClean="0"/>
              <a:pPr/>
              <a:t>22</a:t>
            </a:fld>
            <a:endParaRPr lang="en-US" altLang="en-US" dirty="0"/>
          </a:p>
        </p:txBody>
      </p:sp>
    </p:spTree>
    <p:extLst>
      <p:ext uri="{BB962C8B-B14F-4D97-AF65-F5344CB8AC3E}">
        <p14:creationId xmlns:p14="http://schemas.microsoft.com/office/powerpoint/2010/main" val="14694266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8D53-63A3-E2EE-C938-A3344F6C2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49B8A-6245-107C-075E-1F4F41A6C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E52AB-4322-FF6C-D15B-9BF400C4D504}"/>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57B89A35-B4FA-0EDF-6CF4-E798CCB6BED9}"/>
              </a:ext>
            </a:extLst>
          </p:cNvPr>
          <p:cNvSpPr>
            <a:spLocks noGrp="1"/>
          </p:cNvSpPr>
          <p:nvPr>
            <p:ph type="sldNum" sz="quarter" idx="5"/>
          </p:nvPr>
        </p:nvSpPr>
        <p:spPr/>
        <p:txBody>
          <a:bodyPr/>
          <a:lstStyle/>
          <a:p>
            <a:fld id="{6DEB7EE2-04A2-4FB2-9625-C9C73AC4D32F}" type="slidenum">
              <a:rPr lang="en-US" altLang="en-US" smtClean="0"/>
              <a:pPr/>
              <a:t>23</a:t>
            </a:fld>
            <a:endParaRPr lang="en-US" altLang="en-US" dirty="0"/>
          </a:p>
        </p:txBody>
      </p:sp>
    </p:spTree>
    <p:extLst>
      <p:ext uri="{BB962C8B-B14F-4D97-AF65-F5344CB8AC3E}">
        <p14:creationId xmlns:p14="http://schemas.microsoft.com/office/powerpoint/2010/main" val="2891163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323B0-2E6F-3439-0FB2-85AA8F770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6DE5E-0443-D391-1692-B73D581ED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29DEF-E73E-5187-9444-82960737878D}"/>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85ED777C-2B0F-CD12-FE1C-21E25F486717}"/>
              </a:ext>
            </a:extLst>
          </p:cNvPr>
          <p:cNvSpPr>
            <a:spLocks noGrp="1"/>
          </p:cNvSpPr>
          <p:nvPr>
            <p:ph type="sldNum" sz="quarter" idx="5"/>
          </p:nvPr>
        </p:nvSpPr>
        <p:spPr/>
        <p:txBody>
          <a:bodyPr/>
          <a:lstStyle/>
          <a:p>
            <a:fld id="{6DEB7EE2-04A2-4FB2-9625-C9C73AC4D32F}" type="slidenum">
              <a:rPr lang="en-US" altLang="en-US" smtClean="0"/>
              <a:pPr/>
              <a:t>24</a:t>
            </a:fld>
            <a:endParaRPr lang="en-US" altLang="en-US" dirty="0"/>
          </a:p>
        </p:txBody>
      </p:sp>
    </p:spTree>
    <p:extLst>
      <p:ext uri="{BB962C8B-B14F-4D97-AF65-F5344CB8AC3E}">
        <p14:creationId xmlns:p14="http://schemas.microsoft.com/office/powerpoint/2010/main" val="582398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9FBBC-3F80-BAD7-AA4C-CFD7B49E0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EB191-4908-CEEB-9A1A-B8FE69D89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DE3D4-E1FD-68F6-4ABE-1C3E57B48422}"/>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12E63C19-79DA-3C28-6200-B81629AAC733}"/>
              </a:ext>
            </a:extLst>
          </p:cNvPr>
          <p:cNvSpPr>
            <a:spLocks noGrp="1"/>
          </p:cNvSpPr>
          <p:nvPr>
            <p:ph type="sldNum" sz="quarter" idx="5"/>
          </p:nvPr>
        </p:nvSpPr>
        <p:spPr/>
        <p:txBody>
          <a:bodyPr/>
          <a:lstStyle/>
          <a:p>
            <a:fld id="{6DEB7EE2-04A2-4FB2-9625-C9C73AC4D32F}" type="slidenum">
              <a:rPr lang="en-US" altLang="en-US" smtClean="0"/>
              <a:pPr/>
              <a:t>25</a:t>
            </a:fld>
            <a:endParaRPr lang="en-US" altLang="en-US" dirty="0"/>
          </a:p>
        </p:txBody>
      </p:sp>
    </p:spTree>
    <p:extLst>
      <p:ext uri="{BB962C8B-B14F-4D97-AF65-F5344CB8AC3E}">
        <p14:creationId xmlns:p14="http://schemas.microsoft.com/office/powerpoint/2010/main" val="1278813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6BB00-1AF7-A4B5-7E07-F996DA49C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ED4CA-5C81-3B03-05A5-A75293AC2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928BD-F17E-4346-10CB-0CA32D66DDED}"/>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6DD03E84-7245-036F-6774-39EFDB05585F}"/>
              </a:ext>
            </a:extLst>
          </p:cNvPr>
          <p:cNvSpPr>
            <a:spLocks noGrp="1"/>
          </p:cNvSpPr>
          <p:nvPr>
            <p:ph type="sldNum" sz="quarter" idx="5"/>
          </p:nvPr>
        </p:nvSpPr>
        <p:spPr/>
        <p:txBody>
          <a:bodyPr/>
          <a:lstStyle/>
          <a:p>
            <a:fld id="{6DEB7EE2-04A2-4FB2-9625-C9C73AC4D32F}" type="slidenum">
              <a:rPr lang="en-US" altLang="en-US" smtClean="0"/>
              <a:pPr/>
              <a:t>26</a:t>
            </a:fld>
            <a:endParaRPr lang="en-US" altLang="en-US" dirty="0"/>
          </a:p>
        </p:txBody>
      </p:sp>
    </p:spTree>
    <p:extLst>
      <p:ext uri="{BB962C8B-B14F-4D97-AF65-F5344CB8AC3E}">
        <p14:creationId xmlns:p14="http://schemas.microsoft.com/office/powerpoint/2010/main" val="228904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A031E-D3FE-49FA-3D60-0029124E8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F3FF3-8CF1-B301-49B5-A0E367351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08788-EC51-B6B3-FB42-E17681E3D835}"/>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6C94A99C-3944-87CA-204F-7817B5DE7487}"/>
              </a:ext>
            </a:extLst>
          </p:cNvPr>
          <p:cNvSpPr>
            <a:spLocks noGrp="1"/>
          </p:cNvSpPr>
          <p:nvPr>
            <p:ph type="sldNum" sz="quarter" idx="5"/>
          </p:nvPr>
        </p:nvSpPr>
        <p:spPr/>
        <p:txBody>
          <a:bodyPr/>
          <a:lstStyle/>
          <a:p>
            <a:fld id="{6DEB7EE2-04A2-4FB2-9625-C9C73AC4D32F}" type="slidenum">
              <a:rPr lang="en-US" altLang="en-US" smtClean="0"/>
              <a:pPr/>
              <a:t>27</a:t>
            </a:fld>
            <a:endParaRPr lang="en-US" altLang="en-US" dirty="0"/>
          </a:p>
        </p:txBody>
      </p:sp>
    </p:spTree>
    <p:extLst>
      <p:ext uri="{BB962C8B-B14F-4D97-AF65-F5344CB8AC3E}">
        <p14:creationId xmlns:p14="http://schemas.microsoft.com/office/powerpoint/2010/main" val="1569806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4CEAE-D092-CD7E-35A1-830FD4A89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E32D0-A458-FD2A-58CB-D9A75CA9A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D6AE6-6550-EA82-7B71-CD75F961F014}"/>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36505113-A096-7D23-C386-73AD4824699B}"/>
              </a:ext>
            </a:extLst>
          </p:cNvPr>
          <p:cNvSpPr>
            <a:spLocks noGrp="1"/>
          </p:cNvSpPr>
          <p:nvPr>
            <p:ph type="sldNum" sz="quarter" idx="5"/>
          </p:nvPr>
        </p:nvSpPr>
        <p:spPr/>
        <p:txBody>
          <a:bodyPr/>
          <a:lstStyle/>
          <a:p>
            <a:fld id="{6DEB7EE2-04A2-4FB2-9625-C9C73AC4D32F}" type="slidenum">
              <a:rPr lang="en-US" altLang="en-US" smtClean="0"/>
              <a:pPr/>
              <a:t>28</a:t>
            </a:fld>
            <a:endParaRPr lang="en-US" altLang="en-US" dirty="0"/>
          </a:p>
        </p:txBody>
      </p:sp>
    </p:spTree>
    <p:extLst>
      <p:ext uri="{BB962C8B-B14F-4D97-AF65-F5344CB8AC3E}">
        <p14:creationId xmlns:p14="http://schemas.microsoft.com/office/powerpoint/2010/main" val="29212364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60861-8661-95A2-29B0-8C656F076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F1351-B430-C624-A435-765C8715B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107534-61DC-8E62-0259-DC1B07D207D2}"/>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7467C324-9204-3619-D941-287A621A9DFA}"/>
              </a:ext>
            </a:extLst>
          </p:cNvPr>
          <p:cNvSpPr>
            <a:spLocks noGrp="1"/>
          </p:cNvSpPr>
          <p:nvPr>
            <p:ph type="sldNum" sz="quarter" idx="5"/>
          </p:nvPr>
        </p:nvSpPr>
        <p:spPr/>
        <p:txBody>
          <a:bodyPr/>
          <a:lstStyle/>
          <a:p>
            <a:fld id="{6DEB7EE2-04A2-4FB2-9625-C9C73AC4D32F}" type="slidenum">
              <a:rPr lang="en-US" altLang="en-US" smtClean="0"/>
              <a:pPr/>
              <a:t>29</a:t>
            </a:fld>
            <a:endParaRPr lang="en-US" altLang="en-US" dirty="0"/>
          </a:p>
        </p:txBody>
      </p:sp>
    </p:spTree>
    <p:extLst>
      <p:ext uri="{BB962C8B-B14F-4D97-AF65-F5344CB8AC3E}">
        <p14:creationId xmlns:p14="http://schemas.microsoft.com/office/powerpoint/2010/main" val="9792022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A91A0-072C-5C07-034A-33F336BC3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EB74E-7DAB-67A7-2ABC-8ACE19B81B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63719-342F-91E8-A9EE-27FA81B06D0C}"/>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D183F856-4882-2A89-2163-C7A8AFF1D301}"/>
              </a:ext>
            </a:extLst>
          </p:cNvPr>
          <p:cNvSpPr>
            <a:spLocks noGrp="1"/>
          </p:cNvSpPr>
          <p:nvPr>
            <p:ph type="sldNum" sz="quarter" idx="5"/>
          </p:nvPr>
        </p:nvSpPr>
        <p:spPr/>
        <p:txBody>
          <a:bodyPr/>
          <a:lstStyle/>
          <a:p>
            <a:fld id="{6DEB7EE2-04A2-4FB2-9625-C9C73AC4D32F}" type="slidenum">
              <a:rPr lang="en-US" altLang="en-US" smtClean="0"/>
              <a:pPr/>
              <a:t>30</a:t>
            </a:fld>
            <a:endParaRPr lang="en-US" altLang="en-US" dirty="0"/>
          </a:p>
        </p:txBody>
      </p:sp>
    </p:spTree>
    <p:extLst>
      <p:ext uri="{BB962C8B-B14F-4D97-AF65-F5344CB8AC3E}">
        <p14:creationId xmlns:p14="http://schemas.microsoft.com/office/powerpoint/2010/main" val="19896664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B2A4D-71C1-1129-B5B9-A8011ED6A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F69E9-44D0-B862-E187-2C7CA6783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FF30A-0F87-8F6F-8600-C383CC82D851}"/>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769C1D48-23C4-98BE-2695-E2B981A850B7}"/>
              </a:ext>
            </a:extLst>
          </p:cNvPr>
          <p:cNvSpPr>
            <a:spLocks noGrp="1"/>
          </p:cNvSpPr>
          <p:nvPr>
            <p:ph type="sldNum" sz="quarter" idx="5"/>
          </p:nvPr>
        </p:nvSpPr>
        <p:spPr/>
        <p:txBody>
          <a:bodyPr/>
          <a:lstStyle/>
          <a:p>
            <a:fld id="{6DEB7EE2-04A2-4FB2-9625-C9C73AC4D32F}" type="slidenum">
              <a:rPr lang="en-US" altLang="en-US" smtClean="0"/>
              <a:pPr/>
              <a:t>31</a:t>
            </a:fld>
            <a:endParaRPr lang="en-US" altLang="en-US" dirty="0"/>
          </a:p>
        </p:txBody>
      </p:sp>
    </p:spTree>
    <p:extLst>
      <p:ext uri="{BB962C8B-B14F-4D97-AF65-F5344CB8AC3E}">
        <p14:creationId xmlns:p14="http://schemas.microsoft.com/office/powerpoint/2010/main" val="2495823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0B25-EDA4-5CE7-5ECF-5C8ADC8BF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65A26-4000-CEBE-255D-33BD3C42B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61E16-95C8-A040-3924-02B78425A39B}"/>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BF0A3DA6-4B11-B566-2845-EB5B2C6CECEE}"/>
              </a:ext>
            </a:extLst>
          </p:cNvPr>
          <p:cNvSpPr>
            <a:spLocks noGrp="1"/>
          </p:cNvSpPr>
          <p:nvPr>
            <p:ph type="sldNum" sz="quarter" idx="5"/>
          </p:nvPr>
        </p:nvSpPr>
        <p:spPr/>
        <p:txBody>
          <a:bodyPr/>
          <a:lstStyle/>
          <a:p>
            <a:fld id="{6DEB7EE2-04A2-4FB2-9625-C9C73AC4D32F}" type="slidenum">
              <a:rPr lang="en-US" altLang="en-US" smtClean="0"/>
              <a:pPr/>
              <a:t>32</a:t>
            </a:fld>
            <a:endParaRPr lang="en-US" altLang="en-US" dirty="0"/>
          </a:p>
        </p:txBody>
      </p:sp>
    </p:spTree>
    <p:extLst>
      <p:ext uri="{BB962C8B-B14F-4D97-AF65-F5344CB8AC3E}">
        <p14:creationId xmlns:p14="http://schemas.microsoft.com/office/powerpoint/2010/main" val="16829880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0D397-EEB9-0F36-CD23-4E163E106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E02A2-AEE4-93B3-F675-6CEA780B2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D5C24-B53E-DA0F-7B42-7A9DB233E22B}"/>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C12627A1-A6F1-C8BD-4B47-FD0F385327B3}"/>
              </a:ext>
            </a:extLst>
          </p:cNvPr>
          <p:cNvSpPr>
            <a:spLocks noGrp="1"/>
          </p:cNvSpPr>
          <p:nvPr>
            <p:ph type="sldNum" sz="quarter" idx="5"/>
          </p:nvPr>
        </p:nvSpPr>
        <p:spPr/>
        <p:txBody>
          <a:bodyPr/>
          <a:lstStyle/>
          <a:p>
            <a:fld id="{6DEB7EE2-04A2-4FB2-9625-C9C73AC4D32F}" type="slidenum">
              <a:rPr lang="en-US" altLang="en-US" smtClean="0"/>
              <a:pPr/>
              <a:t>33</a:t>
            </a:fld>
            <a:endParaRPr lang="en-US" altLang="en-US" dirty="0"/>
          </a:p>
        </p:txBody>
      </p:sp>
    </p:spTree>
    <p:extLst>
      <p:ext uri="{BB962C8B-B14F-4D97-AF65-F5344CB8AC3E}">
        <p14:creationId xmlns:p14="http://schemas.microsoft.com/office/powerpoint/2010/main" val="5256718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E149E-5585-0A4F-E509-48621E093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703FB-F724-6086-D80D-0449A5CBA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C12FF-7754-E323-BEF4-E3E1ACF5A8C8}"/>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C0C22ADE-4AA6-4DFE-1453-D4FEBBCA1C13}"/>
              </a:ext>
            </a:extLst>
          </p:cNvPr>
          <p:cNvSpPr>
            <a:spLocks noGrp="1"/>
          </p:cNvSpPr>
          <p:nvPr>
            <p:ph type="sldNum" sz="quarter" idx="5"/>
          </p:nvPr>
        </p:nvSpPr>
        <p:spPr/>
        <p:txBody>
          <a:bodyPr/>
          <a:lstStyle/>
          <a:p>
            <a:fld id="{6DEB7EE2-04A2-4FB2-9625-C9C73AC4D32F}" type="slidenum">
              <a:rPr lang="en-US" altLang="en-US" smtClean="0"/>
              <a:pPr/>
              <a:t>34</a:t>
            </a:fld>
            <a:endParaRPr lang="en-US" altLang="en-US" dirty="0"/>
          </a:p>
        </p:txBody>
      </p:sp>
    </p:spTree>
    <p:extLst>
      <p:ext uri="{BB962C8B-B14F-4D97-AF65-F5344CB8AC3E}">
        <p14:creationId xmlns:p14="http://schemas.microsoft.com/office/powerpoint/2010/main" val="20072470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C3DDB-0C3E-8E44-7C24-E5365CFD1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239D2-0FBF-0785-1426-CCEB41E99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82BD7-8BE8-36FE-D1D8-96C47B8B6D69}"/>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72241F0B-26C3-FF2E-5E9B-232D2A33C170}"/>
              </a:ext>
            </a:extLst>
          </p:cNvPr>
          <p:cNvSpPr>
            <a:spLocks noGrp="1"/>
          </p:cNvSpPr>
          <p:nvPr>
            <p:ph type="sldNum" sz="quarter" idx="5"/>
          </p:nvPr>
        </p:nvSpPr>
        <p:spPr/>
        <p:txBody>
          <a:bodyPr/>
          <a:lstStyle/>
          <a:p>
            <a:fld id="{6DEB7EE2-04A2-4FB2-9625-C9C73AC4D32F}" type="slidenum">
              <a:rPr lang="en-US" altLang="en-US" smtClean="0"/>
              <a:pPr/>
              <a:t>35</a:t>
            </a:fld>
            <a:endParaRPr lang="en-US" altLang="en-US" dirty="0"/>
          </a:p>
        </p:txBody>
      </p:sp>
    </p:spTree>
    <p:extLst>
      <p:ext uri="{BB962C8B-B14F-4D97-AF65-F5344CB8AC3E}">
        <p14:creationId xmlns:p14="http://schemas.microsoft.com/office/powerpoint/2010/main" val="38398931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4E3CB-F555-E7B3-7453-A4B97759E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9FF95-6CA9-3FBC-219E-AC8792E75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7F7E0-E77C-FBE4-A30C-F3A62568CA5B}"/>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E37CB18F-BFEA-23B8-A959-DC971D318BB3}"/>
              </a:ext>
            </a:extLst>
          </p:cNvPr>
          <p:cNvSpPr>
            <a:spLocks noGrp="1"/>
          </p:cNvSpPr>
          <p:nvPr>
            <p:ph type="sldNum" sz="quarter" idx="5"/>
          </p:nvPr>
        </p:nvSpPr>
        <p:spPr/>
        <p:txBody>
          <a:bodyPr/>
          <a:lstStyle/>
          <a:p>
            <a:fld id="{6DEB7EE2-04A2-4FB2-9625-C9C73AC4D32F}" type="slidenum">
              <a:rPr lang="en-US" altLang="en-US" smtClean="0"/>
              <a:pPr/>
              <a:t>36</a:t>
            </a:fld>
            <a:endParaRPr lang="en-US" altLang="en-US" dirty="0"/>
          </a:p>
        </p:txBody>
      </p:sp>
    </p:spTree>
    <p:extLst>
      <p:ext uri="{BB962C8B-B14F-4D97-AF65-F5344CB8AC3E}">
        <p14:creationId xmlns:p14="http://schemas.microsoft.com/office/powerpoint/2010/main" val="21747743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5B36E-F7A5-24E5-D169-850306CBB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D7FAA-A67A-152D-5C22-F931A9C50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2E116-CD81-F540-7A8E-73689F781EE2}"/>
              </a:ext>
            </a:extLst>
          </p:cNvPr>
          <p:cNvSpPr>
            <a:spLocks noGrp="1"/>
          </p:cNvSpPr>
          <p:nvPr>
            <p:ph type="body" idx="1"/>
          </p:nvPr>
        </p:nvSpPr>
        <p:spPr/>
        <p:txBody>
          <a:bodyPr/>
          <a:lstStyle/>
          <a:p>
            <a:r>
              <a:rPr lang="en-US" dirty="0"/>
              <a:t>We will look at threads in details later in this course </a:t>
            </a:r>
          </a:p>
        </p:txBody>
      </p:sp>
      <p:sp>
        <p:nvSpPr>
          <p:cNvPr id="4" name="Slide Number Placeholder 3">
            <a:extLst>
              <a:ext uri="{FF2B5EF4-FFF2-40B4-BE49-F238E27FC236}">
                <a16:creationId xmlns:a16="http://schemas.microsoft.com/office/drawing/2014/main" id="{896E6BB4-D97E-D294-A77F-BF32458E3568}"/>
              </a:ext>
            </a:extLst>
          </p:cNvPr>
          <p:cNvSpPr>
            <a:spLocks noGrp="1"/>
          </p:cNvSpPr>
          <p:nvPr>
            <p:ph type="sldNum" sz="quarter" idx="5"/>
          </p:nvPr>
        </p:nvSpPr>
        <p:spPr/>
        <p:txBody>
          <a:bodyPr/>
          <a:lstStyle/>
          <a:p>
            <a:fld id="{6DEB7EE2-04A2-4FB2-9625-C9C73AC4D32F}" type="slidenum">
              <a:rPr lang="en-US" altLang="en-US" smtClean="0"/>
              <a:pPr/>
              <a:t>37</a:t>
            </a:fld>
            <a:endParaRPr lang="en-US" altLang="en-US" dirty="0"/>
          </a:p>
        </p:txBody>
      </p:sp>
    </p:spTree>
    <p:extLst>
      <p:ext uri="{BB962C8B-B14F-4D97-AF65-F5344CB8AC3E}">
        <p14:creationId xmlns:p14="http://schemas.microsoft.com/office/powerpoint/2010/main" val="37964950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DB60B1-BEF5-4848-BB02-98EBFE355C13}"/>
              </a:ext>
            </a:extLst>
          </p:cNvPr>
          <p:cNvPicPr>
            <a:picLocks noChangeAspect="1"/>
          </p:cNvPicPr>
          <p:nvPr userDrawn="1"/>
        </p:nvPicPr>
        <p:blipFill>
          <a:blip r:embed="rId2"/>
          <a:srcRect/>
          <a:stretch/>
        </p:blipFill>
        <p:spPr>
          <a:xfrm>
            <a:off x="0" y="1"/>
            <a:ext cx="12191998" cy="6857999"/>
          </a:xfrm>
          <a:prstGeom prst="rect">
            <a:avLst/>
          </a:prstGeom>
        </p:spPr>
      </p:pic>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8FD53BA4-73D2-4CCA-8580-11F4221524F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a:extLst>
              <a:ext uri="{FF2B5EF4-FFF2-40B4-BE49-F238E27FC236}">
                <a16:creationId xmlns:a16="http://schemas.microsoft.com/office/drawing/2014/main" id="{3917D528-010E-4303-97BF-F7F67BC661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0252"/>
            <a:ext cx="12192000" cy="867748"/>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6" descr="Red, blue grey white pattern background">
            <a:extLst>
              <a:ext uri="{FF2B5EF4-FFF2-40B4-BE49-F238E27FC236}">
                <a16:creationId xmlns:a16="http://schemas.microsoft.com/office/drawing/2014/main" id="{3A82D859-AED3-485F-A04E-40320B1043A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8" descr="Red, blue grey white pattern background">
            <a:extLst>
              <a:ext uri="{FF2B5EF4-FFF2-40B4-BE49-F238E27FC236}">
                <a16:creationId xmlns:a16="http://schemas.microsoft.com/office/drawing/2014/main" id="{EFDBB6A3-9760-4B41-9E31-6D5DD396E16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29462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a:extLst>
              <a:ext uri="{FF2B5EF4-FFF2-40B4-BE49-F238E27FC236}">
                <a16:creationId xmlns:a16="http://schemas.microsoft.com/office/drawing/2014/main" id="{1014381E-E235-4624-9267-69EEEE9826F2}"/>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80922"/>
            <a:ext cx="12192000" cy="877078"/>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6696C96D-182E-490E-A117-B60FF185367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395142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a:extLst>
              <a:ext uri="{FF2B5EF4-FFF2-40B4-BE49-F238E27FC236}">
                <a16:creationId xmlns:a16="http://schemas.microsoft.com/office/drawing/2014/main" id="{21F9B252-B7D4-4DA8-92E8-8A98BFEF41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906BF34F-6945-4E11-BAEC-F66F7254C4C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BC85C715-EF0D-4E33-AC89-C35DD2596E5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84037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91" r:id="rId4"/>
    <p:sldLayoutId id="2147483701" r:id="rId5"/>
    <p:sldLayoutId id="2147483706" r:id="rId6"/>
    <p:sldLayoutId id="2147483702" r:id="rId7"/>
    <p:sldLayoutId id="2147483704" r:id="rId8"/>
    <p:sldLayoutId id="2147483703" r:id="rId9"/>
    <p:sldLayoutId id="2147483690" r:id="rId10"/>
    <p:sldLayoutId id="214748370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title"/>
          </p:nvPr>
        </p:nvSpPr>
        <p:spPr>
          <a:xfrm>
            <a:off x="5411189" y="2766218"/>
            <a:ext cx="6220101" cy="1325563"/>
          </a:xfrm>
        </p:spPr>
        <p:txBody>
          <a:bodyPr anchor="ctr">
            <a:noAutofit/>
          </a:bodyPr>
          <a:lstStyle/>
          <a:p>
            <a:pPr algn="ctr"/>
            <a:r>
              <a:rPr lang="en-US" altLang="en-US" dirty="0">
                <a:solidFill>
                  <a:schemeClr val="accent2"/>
                </a:solidFill>
              </a:rPr>
              <a:t>Process</a:t>
            </a:r>
            <a:br>
              <a:rPr lang="en-US" altLang="en-US" dirty="0">
                <a:solidFill>
                  <a:schemeClr val="accent2"/>
                </a:solidFill>
              </a:rPr>
            </a:br>
            <a:r>
              <a:rPr lang="en-US" altLang="en-US" dirty="0">
                <a:solidFill>
                  <a:schemeClr val="accent2"/>
                </a:solidFill>
              </a:rPr>
              <a:t>Management</a:t>
            </a:r>
            <a:br>
              <a:rPr lang="en-US" altLang="en-US" dirty="0"/>
            </a:br>
            <a:r>
              <a:rPr lang="en-US" altLang="en-US" dirty="0"/>
              <a:t>Lesson 2</a:t>
            </a:r>
          </a:p>
        </p:txBody>
      </p:sp>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a:xfrm>
            <a:off x="762000" y="715961"/>
            <a:ext cx="6477000" cy="1189038"/>
          </a:xfrm>
        </p:spPr>
        <p:txBody>
          <a:bodyPr/>
          <a:lstStyle/>
          <a:p>
            <a:r>
              <a:rPr lang="en-US" dirty="0"/>
              <a:t>Outline </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762000" y="1905000"/>
            <a:ext cx="6340929" cy="3276600"/>
          </a:xfrm>
        </p:spPr>
        <p:txBody>
          <a:bodyPr/>
          <a:lstStyle/>
          <a:p>
            <a:pPr algn="l"/>
            <a:r>
              <a:rPr lang="en-GB" sz="1800" i="0" u="none" strike="noStrike" baseline="0" dirty="0">
                <a:latin typeface="TimesNewRomanPSMT"/>
              </a:rPr>
              <a:t>Programs and process concepts</a:t>
            </a:r>
          </a:p>
          <a:p>
            <a:pPr algn="l"/>
            <a:r>
              <a:rPr lang="en-GB" sz="1600" b="0" i="0" u="none" strike="noStrike" baseline="0" dirty="0">
                <a:latin typeface="Wingdings-Regular"/>
              </a:rPr>
              <a:t>􀂃 </a:t>
            </a:r>
            <a:r>
              <a:rPr lang="en-GB" sz="1800" b="0" i="0" u="none" strike="noStrike" baseline="0" dirty="0">
                <a:latin typeface="TimesNewRomanPSMT"/>
              </a:rPr>
              <a:t>Multitasking</a:t>
            </a:r>
          </a:p>
          <a:p>
            <a:pPr algn="l"/>
            <a:r>
              <a:rPr lang="en-GB" sz="1600" b="0" i="0" u="none" strike="noStrike" baseline="0" dirty="0">
                <a:latin typeface="Wingdings-Regular"/>
              </a:rPr>
              <a:t>􀂃 </a:t>
            </a:r>
            <a:r>
              <a:rPr lang="en-GB" sz="1800" b="0" i="0" u="none" strike="noStrike" baseline="0" dirty="0">
                <a:latin typeface="TimesNewRomanPSMT"/>
              </a:rPr>
              <a:t>The dispatcher</a:t>
            </a:r>
          </a:p>
          <a:p>
            <a:pPr algn="l"/>
            <a:r>
              <a:rPr lang="en-GB" sz="1600" b="0" i="0" u="none" strike="noStrike" baseline="0" dirty="0">
                <a:latin typeface="Wingdings-Regular"/>
              </a:rPr>
              <a:t>􀂃 </a:t>
            </a:r>
            <a:r>
              <a:rPr lang="en-GB" sz="1800" b="0" i="0" u="none" strike="noStrike" baseline="0" dirty="0">
                <a:latin typeface="TimesNewRomanPSMT"/>
              </a:rPr>
              <a:t>Process scheduling</a:t>
            </a:r>
          </a:p>
          <a:p>
            <a:pPr algn="l"/>
            <a:r>
              <a:rPr lang="en-GB" sz="1600" b="0" i="0" u="none" strike="noStrike" baseline="0" dirty="0">
                <a:latin typeface="Wingdings-Regular"/>
              </a:rPr>
              <a:t>􀂃 </a:t>
            </a:r>
            <a:r>
              <a:rPr lang="en-GB" sz="1800" b="0" i="0" u="none" strike="noStrike" baseline="0" dirty="0">
                <a:latin typeface="TimesNewRomanPSMT"/>
              </a:rPr>
              <a:t>Scheduling policies</a:t>
            </a:r>
            <a:endParaRPr lang="en-US" dirty="0"/>
          </a:p>
        </p:txBody>
      </p:sp>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a:xfrm>
            <a:off x="762000" y="715964"/>
            <a:ext cx="10591800" cy="646332"/>
          </a:xfrm>
        </p:spPr>
        <p:txBody>
          <a:bodyPr/>
          <a:lstStyle/>
          <a:p>
            <a:r>
              <a:rPr lang="en-US" dirty="0"/>
              <a:t>Overview</a:t>
            </a:r>
          </a:p>
        </p:txBody>
      </p:sp>
      <p:sp>
        <p:nvSpPr>
          <p:cNvPr id="11" name="Text Placeholder 10">
            <a:extLst>
              <a:ext uri="{FF2B5EF4-FFF2-40B4-BE49-F238E27FC236}">
                <a16:creationId xmlns:a16="http://schemas.microsoft.com/office/drawing/2014/main" id="{4C6A9FD9-630E-44B9-BED8-AFEA6C84A88B}"/>
              </a:ext>
            </a:extLst>
          </p:cNvPr>
          <p:cNvSpPr>
            <a:spLocks noGrp="1"/>
          </p:cNvSpPr>
          <p:nvPr>
            <p:ph type="body" sz="quarter" idx="11"/>
          </p:nvPr>
        </p:nvSpPr>
        <p:spPr>
          <a:xfrm>
            <a:off x="762000" y="1432562"/>
            <a:ext cx="10667999" cy="3899726"/>
          </a:xfrm>
        </p:spPr>
        <p:txBody>
          <a:bodyPr/>
          <a:lstStyle/>
          <a:p>
            <a:pPr marL="285750" indent="-285750">
              <a:lnSpc>
                <a:spcPct val="150000"/>
              </a:lnSpc>
              <a:buFont typeface="Arial" panose="020B0604020202020204" pitchFamily="34" charset="0"/>
              <a:buChar char="•"/>
            </a:pPr>
            <a:r>
              <a:rPr lang="en-GB" sz="1900" b="1" dirty="0"/>
              <a:t>A process </a:t>
            </a:r>
            <a:r>
              <a:rPr lang="en-GB" sz="1900" dirty="0"/>
              <a:t>is a program in execution. A process will need certain resources such as CPU time, memory, files, and I/O devices  to accomplish its task. </a:t>
            </a:r>
          </a:p>
          <a:p>
            <a:pPr marL="285750" indent="-285750">
              <a:lnSpc>
                <a:spcPct val="150000"/>
              </a:lnSpc>
              <a:buFont typeface="Arial" panose="020B0604020202020204" pitchFamily="34" charset="0"/>
              <a:buChar char="•"/>
            </a:pPr>
            <a:r>
              <a:rPr lang="en-GB" sz="1900" dirty="0"/>
              <a:t>These resources are typically allocated to the process while it is executing</a:t>
            </a:r>
          </a:p>
          <a:p>
            <a:pPr marL="285750" indent="-285750">
              <a:lnSpc>
                <a:spcPct val="150000"/>
              </a:lnSpc>
              <a:buFont typeface="Arial" panose="020B0604020202020204" pitchFamily="34" charset="0"/>
              <a:buChar char="•"/>
            </a:pPr>
            <a:r>
              <a:rPr lang="en-GB" sz="1900" dirty="0"/>
              <a:t>Modern operating systems support processes having multiple </a:t>
            </a:r>
            <a:r>
              <a:rPr lang="en-GB" sz="1900" b="1" i="1" dirty="0"/>
              <a:t>threads</a:t>
            </a:r>
            <a:r>
              <a:rPr lang="en-GB" sz="1900" dirty="0"/>
              <a:t> of control. </a:t>
            </a:r>
          </a:p>
          <a:p>
            <a:pPr marL="285750" indent="-285750">
              <a:lnSpc>
                <a:spcPct val="150000"/>
              </a:lnSpc>
              <a:buFont typeface="Arial" panose="020B0604020202020204" pitchFamily="34" charset="0"/>
              <a:buChar char="•"/>
            </a:pPr>
            <a:r>
              <a:rPr lang="en-GB" sz="1900" dirty="0"/>
              <a:t>On systems with multiple hardware processing cores, these threads can run in parallel. One of the most important aspects of an operating system is how it schedules threads onto available processing cores. </a:t>
            </a:r>
          </a:p>
          <a:p>
            <a:pPr marL="285750" indent="-285750">
              <a:buFont typeface="Arial" panose="020B0604020202020204" pitchFamily="34" charset="0"/>
              <a:buChar char="•"/>
            </a:pPr>
            <a:endParaRPr lang="en-US" altLang="en-US" dirty="0"/>
          </a:p>
        </p:txBody>
      </p:sp>
    </p:spTree>
    <p:extLst>
      <p:ext uri="{BB962C8B-B14F-4D97-AF65-F5344CB8AC3E}">
        <p14:creationId xmlns:p14="http://schemas.microsoft.com/office/powerpoint/2010/main" val="29576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908DB-6FC1-05DA-7030-B40BA6318A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3EE407-3669-11CB-C398-D98C66C4F5BB}"/>
              </a:ext>
            </a:extLst>
          </p:cNvPr>
          <p:cNvSpPr>
            <a:spLocks noGrp="1"/>
          </p:cNvSpPr>
          <p:nvPr>
            <p:ph type="title"/>
          </p:nvPr>
        </p:nvSpPr>
        <p:spPr>
          <a:xfrm>
            <a:off x="762000" y="340579"/>
            <a:ext cx="10591800" cy="646332"/>
          </a:xfrm>
        </p:spPr>
        <p:txBody>
          <a:bodyPr/>
          <a:lstStyle/>
          <a:p>
            <a:r>
              <a:rPr lang="en-US" dirty="0"/>
              <a:t>Process </a:t>
            </a:r>
          </a:p>
        </p:txBody>
      </p:sp>
      <p:sp>
        <p:nvSpPr>
          <p:cNvPr id="11" name="Text Placeholder 10">
            <a:extLst>
              <a:ext uri="{FF2B5EF4-FFF2-40B4-BE49-F238E27FC236}">
                <a16:creationId xmlns:a16="http://schemas.microsoft.com/office/drawing/2014/main" id="{4F11FDCF-DD59-8A44-DC04-71768CEF91CE}"/>
              </a:ext>
            </a:extLst>
          </p:cNvPr>
          <p:cNvSpPr>
            <a:spLocks noGrp="1"/>
          </p:cNvSpPr>
          <p:nvPr>
            <p:ph type="body" sz="quarter" idx="11"/>
          </p:nvPr>
        </p:nvSpPr>
        <p:spPr>
          <a:xfrm>
            <a:off x="762000" y="1134178"/>
            <a:ext cx="10667999" cy="4217467"/>
          </a:xfrm>
        </p:spPr>
        <p:txBody>
          <a:bodyPr/>
          <a:lstStyle/>
          <a:p>
            <a:pPr marL="285750" indent="-285750">
              <a:lnSpc>
                <a:spcPct val="150000"/>
              </a:lnSpc>
              <a:buFont typeface="Arial" panose="020B0604020202020204" pitchFamily="34" charset="0"/>
              <a:buChar char="•"/>
            </a:pPr>
            <a:r>
              <a:rPr lang="en-GB" dirty="0"/>
              <a:t>When a program becomes a process (i.e., gets loaded into memory), the OS organizes its memory into </a:t>
            </a:r>
            <a:r>
              <a:rPr lang="en-GB" b="1" dirty="0"/>
              <a:t>four main sections</a:t>
            </a:r>
            <a:r>
              <a:rPr lang="en-GB" dirty="0"/>
              <a:t>.</a:t>
            </a:r>
          </a:p>
          <a:p>
            <a:pPr marL="285750" indent="-285750">
              <a:lnSpc>
                <a:spcPct val="150000"/>
              </a:lnSpc>
              <a:buFont typeface="Arial" panose="020B0604020202020204" pitchFamily="34" charset="0"/>
              <a:buChar char="•"/>
            </a:pPr>
            <a:endParaRPr lang="en-GB" sz="1900" dirty="0"/>
          </a:p>
        </p:txBody>
      </p:sp>
      <p:pic>
        <p:nvPicPr>
          <p:cNvPr id="3" name="Picture 2">
            <a:extLst>
              <a:ext uri="{FF2B5EF4-FFF2-40B4-BE49-F238E27FC236}">
                <a16:creationId xmlns:a16="http://schemas.microsoft.com/office/drawing/2014/main" id="{FC63CC8D-255D-A74F-CBBC-F929B4D4CE01}"/>
              </a:ext>
            </a:extLst>
          </p:cNvPr>
          <p:cNvPicPr>
            <a:picLocks noChangeAspect="1"/>
          </p:cNvPicPr>
          <p:nvPr/>
        </p:nvPicPr>
        <p:blipFill>
          <a:blip r:embed="rId3"/>
          <a:stretch>
            <a:fillRect/>
          </a:stretch>
        </p:blipFill>
        <p:spPr>
          <a:xfrm>
            <a:off x="4018610" y="2577211"/>
            <a:ext cx="2768742" cy="3378374"/>
          </a:xfrm>
          <a:prstGeom prst="rect">
            <a:avLst/>
          </a:prstGeom>
        </p:spPr>
      </p:pic>
    </p:spTree>
    <p:extLst>
      <p:ext uri="{BB962C8B-B14F-4D97-AF65-F5344CB8AC3E}">
        <p14:creationId xmlns:p14="http://schemas.microsoft.com/office/powerpoint/2010/main" val="29538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6721C-27EE-1A2A-8A52-1987D883A4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673A49-1438-F9C4-D383-0062E1A27906}"/>
              </a:ext>
            </a:extLst>
          </p:cNvPr>
          <p:cNvSpPr>
            <a:spLocks noGrp="1"/>
          </p:cNvSpPr>
          <p:nvPr>
            <p:ph type="title"/>
          </p:nvPr>
        </p:nvSpPr>
        <p:spPr>
          <a:xfrm>
            <a:off x="762000" y="715964"/>
            <a:ext cx="10591800" cy="646332"/>
          </a:xfrm>
        </p:spPr>
        <p:txBody>
          <a:bodyPr/>
          <a:lstStyle/>
          <a:p>
            <a:r>
              <a:rPr lang="en-US" dirty="0"/>
              <a:t>Process </a:t>
            </a:r>
          </a:p>
        </p:txBody>
      </p:sp>
      <p:sp>
        <p:nvSpPr>
          <p:cNvPr id="11" name="Text Placeholder 10">
            <a:extLst>
              <a:ext uri="{FF2B5EF4-FFF2-40B4-BE49-F238E27FC236}">
                <a16:creationId xmlns:a16="http://schemas.microsoft.com/office/drawing/2014/main" id="{86DF67FB-890A-EB65-A066-2E9F6D26ED1D}"/>
              </a:ext>
            </a:extLst>
          </p:cNvPr>
          <p:cNvSpPr>
            <a:spLocks noGrp="1"/>
          </p:cNvSpPr>
          <p:nvPr>
            <p:ph type="body" sz="quarter" idx="11"/>
          </p:nvPr>
        </p:nvSpPr>
        <p:spPr>
          <a:xfrm>
            <a:off x="762000" y="1432561"/>
            <a:ext cx="10667999" cy="4217467"/>
          </a:xfrm>
        </p:spPr>
        <p:txBody>
          <a:bodyPr/>
          <a:lstStyle/>
          <a:p>
            <a:pPr marL="285750" indent="-285750">
              <a:lnSpc>
                <a:spcPct val="150000"/>
              </a:lnSpc>
              <a:buFont typeface="Arial" panose="020B0604020202020204" pitchFamily="34" charset="0"/>
              <a:buChar char="•"/>
            </a:pPr>
            <a:r>
              <a:rPr lang="en-GB" b="1" dirty="0"/>
              <a:t>Text section</a:t>
            </a:r>
            <a:r>
              <a:rPr lang="en-GB" dirty="0"/>
              <a:t>— the executable code </a:t>
            </a:r>
          </a:p>
          <a:p>
            <a:pPr marL="285750" indent="-285750">
              <a:lnSpc>
                <a:spcPct val="150000"/>
              </a:lnSpc>
              <a:buFont typeface="Arial" panose="020B0604020202020204" pitchFamily="34" charset="0"/>
              <a:buChar char="•"/>
            </a:pPr>
            <a:r>
              <a:rPr lang="en-GB" b="1" dirty="0"/>
              <a:t>Data section</a:t>
            </a:r>
            <a:r>
              <a:rPr lang="en-GB" dirty="0"/>
              <a:t>—global variables</a:t>
            </a:r>
          </a:p>
          <a:p>
            <a:pPr marL="285750" indent="-285750">
              <a:lnSpc>
                <a:spcPct val="150000"/>
              </a:lnSpc>
              <a:buFont typeface="Arial" panose="020B0604020202020204" pitchFamily="34" charset="0"/>
              <a:buChar char="•"/>
            </a:pPr>
            <a:r>
              <a:rPr lang="en-GB" b="1" dirty="0"/>
              <a:t>Heap section</a:t>
            </a:r>
            <a:r>
              <a:rPr lang="en-GB" dirty="0"/>
              <a:t>—memory that is dynamically allocated during program run time</a:t>
            </a:r>
          </a:p>
          <a:p>
            <a:pPr marL="285750" indent="-285750">
              <a:lnSpc>
                <a:spcPct val="150000"/>
              </a:lnSpc>
              <a:buFont typeface="Arial" panose="020B0604020202020204" pitchFamily="34" charset="0"/>
              <a:buChar char="•"/>
            </a:pPr>
            <a:r>
              <a:rPr lang="en-GB" b="1" dirty="0"/>
              <a:t> Stack section</a:t>
            </a:r>
            <a:r>
              <a:rPr lang="en-GB" dirty="0"/>
              <a:t>— temporary data storage when invoking functions (such as function parameters, return addresses, and local variables)</a:t>
            </a:r>
            <a:endParaRPr lang="en-US" altLang="en-US" dirty="0"/>
          </a:p>
        </p:txBody>
      </p:sp>
    </p:spTree>
    <p:extLst>
      <p:ext uri="{BB962C8B-B14F-4D97-AF65-F5344CB8AC3E}">
        <p14:creationId xmlns:p14="http://schemas.microsoft.com/office/powerpoint/2010/main" val="389744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1BECA-316B-5CC1-3EAA-070821E35F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36246C-CFC6-DD08-AC0D-0BD735D80CC6}"/>
              </a:ext>
            </a:extLst>
          </p:cNvPr>
          <p:cNvSpPr>
            <a:spLocks noGrp="1"/>
          </p:cNvSpPr>
          <p:nvPr>
            <p:ph type="title"/>
          </p:nvPr>
        </p:nvSpPr>
        <p:spPr>
          <a:xfrm>
            <a:off x="762000" y="407955"/>
            <a:ext cx="10591800" cy="646332"/>
          </a:xfrm>
        </p:spPr>
        <p:txBody>
          <a:bodyPr/>
          <a:lstStyle/>
          <a:p>
            <a:r>
              <a:rPr lang="en-GB" dirty="0"/>
              <a:t>How Stack and Heap Behave Dynamically</a:t>
            </a:r>
            <a:endParaRPr lang="en-US" dirty="0"/>
          </a:p>
        </p:txBody>
      </p:sp>
      <p:sp>
        <p:nvSpPr>
          <p:cNvPr id="11" name="Text Placeholder 10">
            <a:extLst>
              <a:ext uri="{FF2B5EF4-FFF2-40B4-BE49-F238E27FC236}">
                <a16:creationId xmlns:a16="http://schemas.microsoft.com/office/drawing/2014/main" id="{B9BA332D-82E8-076D-0B17-58CC6736292F}"/>
              </a:ext>
            </a:extLst>
          </p:cNvPr>
          <p:cNvSpPr>
            <a:spLocks noGrp="1"/>
          </p:cNvSpPr>
          <p:nvPr>
            <p:ph type="body" sz="quarter" idx="11"/>
          </p:nvPr>
        </p:nvSpPr>
        <p:spPr>
          <a:xfrm>
            <a:off x="762000" y="1432561"/>
            <a:ext cx="10667999" cy="4217467"/>
          </a:xfrm>
        </p:spPr>
        <p:txBody>
          <a:bodyPr/>
          <a:lstStyle/>
          <a:p>
            <a:pPr marL="285750" indent="-285750">
              <a:lnSpc>
                <a:spcPct val="150000"/>
              </a:lnSpc>
              <a:buFont typeface="Arial" panose="020B0604020202020204" pitchFamily="34" charset="0"/>
              <a:buChar char="•"/>
            </a:pPr>
            <a:r>
              <a:rPr lang="en-GB" sz="2000" dirty="0"/>
              <a:t>While the </a:t>
            </a:r>
            <a:r>
              <a:rPr lang="en-GB" sz="2000" b="1" dirty="0"/>
              <a:t>Text</a:t>
            </a:r>
            <a:r>
              <a:rPr lang="en-GB" sz="2000" dirty="0"/>
              <a:t> and </a:t>
            </a:r>
            <a:r>
              <a:rPr lang="en-GB" sz="2000" b="1" dirty="0"/>
              <a:t>Data</a:t>
            </a:r>
            <a:r>
              <a:rPr lang="en-GB" sz="2000" dirty="0"/>
              <a:t> sections remain constant once loaded, the </a:t>
            </a:r>
            <a:r>
              <a:rPr lang="en-GB" sz="2000" b="1" dirty="0"/>
              <a:t>Stack</a:t>
            </a:r>
            <a:r>
              <a:rPr lang="en-GB" sz="2000" dirty="0"/>
              <a:t> and </a:t>
            </a:r>
            <a:r>
              <a:rPr lang="en-GB" sz="2000" b="1" dirty="0"/>
              <a:t>Heap</a:t>
            </a:r>
            <a:r>
              <a:rPr lang="en-GB" sz="2000" dirty="0"/>
              <a:t> are dynamic — they grow and shrink as the program executes.</a:t>
            </a:r>
          </a:p>
          <a:p>
            <a:pPr marL="285750" indent="-285750">
              <a:lnSpc>
                <a:spcPct val="150000"/>
              </a:lnSpc>
              <a:buFont typeface="Arial" panose="020B0604020202020204" pitchFamily="34" charset="0"/>
              <a:buChar char="•"/>
            </a:pPr>
            <a:r>
              <a:rPr lang="en-GB" sz="2000" dirty="0"/>
              <a:t>The “</a:t>
            </a:r>
            <a:r>
              <a:rPr lang="en-GB" sz="2000" i="1" dirty="0"/>
              <a:t>grow</a:t>
            </a:r>
            <a:r>
              <a:rPr lang="en-GB" sz="2000" dirty="0"/>
              <a:t>” and “</a:t>
            </a:r>
            <a:r>
              <a:rPr lang="en-GB" sz="2000" i="1" dirty="0"/>
              <a:t>shrink</a:t>
            </a:r>
            <a:r>
              <a:rPr lang="en-GB" sz="2000" dirty="0"/>
              <a:t>” don’t mean the physical RAM expands like a balloon.</a:t>
            </a:r>
            <a:br>
              <a:rPr lang="en-GB" sz="2000" dirty="0"/>
            </a:br>
            <a:r>
              <a:rPr lang="en-GB" sz="2000" dirty="0"/>
              <a:t>They mean that </a:t>
            </a:r>
            <a:r>
              <a:rPr lang="en-GB" sz="2000" b="1" dirty="0"/>
              <a:t>the portion of the process’s memory space currently being used</a:t>
            </a:r>
            <a:r>
              <a:rPr lang="en-GB" sz="2000" dirty="0"/>
              <a:t> for those purposes increases or decreases.</a:t>
            </a:r>
          </a:p>
          <a:p>
            <a:pPr marL="285750" indent="-285750">
              <a:lnSpc>
                <a:spcPct val="150000"/>
              </a:lnSpc>
              <a:buFont typeface="Arial" panose="020B0604020202020204" pitchFamily="34" charset="0"/>
              <a:buChar char="•"/>
            </a:pPr>
            <a:r>
              <a:rPr lang="en-GB" sz="2000" dirty="0"/>
              <a:t>Each time a function is called, an activation record containing function parameters, local variables, and the return address is pushed onto the stack; when control is returned from the function, the activation record is popped from the stack</a:t>
            </a:r>
            <a:endParaRPr lang="en-US" altLang="en-US" sz="2000" dirty="0"/>
          </a:p>
        </p:txBody>
      </p:sp>
    </p:spTree>
    <p:extLst>
      <p:ext uri="{BB962C8B-B14F-4D97-AF65-F5344CB8AC3E}">
        <p14:creationId xmlns:p14="http://schemas.microsoft.com/office/powerpoint/2010/main" val="4292526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8B843-35CA-0681-AE40-2FF00FA3DF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FDC367-C273-D0B5-94A9-12C3E44552BE}"/>
              </a:ext>
            </a:extLst>
          </p:cNvPr>
          <p:cNvSpPr>
            <a:spLocks noGrp="1"/>
          </p:cNvSpPr>
          <p:nvPr>
            <p:ph type="title"/>
          </p:nvPr>
        </p:nvSpPr>
        <p:spPr>
          <a:xfrm>
            <a:off x="762000" y="407955"/>
            <a:ext cx="10591800" cy="646332"/>
          </a:xfrm>
        </p:spPr>
        <p:txBody>
          <a:bodyPr/>
          <a:lstStyle/>
          <a:p>
            <a:r>
              <a:rPr lang="en-GB" dirty="0"/>
              <a:t>How Stack and Heap Behave Dynamically</a:t>
            </a:r>
            <a:endParaRPr lang="en-US" dirty="0"/>
          </a:p>
        </p:txBody>
      </p:sp>
      <p:sp>
        <p:nvSpPr>
          <p:cNvPr id="11" name="Text Placeholder 10">
            <a:extLst>
              <a:ext uri="{FF2B5EF4-FFF2-40B4-BE49-F238E27FC236}">
                <a16:creationId xmlns:a16="http://schemas.microsoft.com/office/drawing/2014/main" id="{CD94DC8B-7727-8724-52D2-0F8C45EE3701}"/>
              </a:ext>
            </a:extLst>
          </p:cNvPr>
          <p:cNvSpPr>
            <a:spLocks noGrp="1"/>
          </p:cNvSpPr>
          <p:nvPr>
            <p:ph type="body" sz="quarter" idx="11"/>
          </p:nvPr>
        </p:nvSpPr>
        <p:spPr>
          <a:xfrm>
            <a:off x="762000" y="1432561"/>
            <a:ext cx="10667999" cy="4217467"/>
          </a:xfrm>
        </p:spPr>
        <p:txBody>
          <a:bodyPr/>
          <a:lstStyle/>
          <a:p>
            <a:pPr marL="285750" indent="-285750">
              <a:lnSpc>
                <a:spcPct val="150000"/>
              </a:lnSpc>
              <a:buFont typeface="Arial" panose="020B0604020202020204" pitchFamily="34" charset="0"/>
              <a:buChar char="•"/>
            </a:pPr>
            <a:r>
              <a:rPr lang="en-GB" sz="2000" dirty="0"/>
              <a:t>Similarly, the heap will grow as memory is dynamically allocated, and will shrink when memory is returned to the system. </a:t>
            </a:r>
          </a:p>
          <a:p>
            <a:pPr marL="285750" indent="-285750">
              <a:lnSpc>
                <a:spcPct val="150000"/>
              </a:lnSpc>
              <a:buFont typeface="Arial" panose="020B0604020202020204" pitchFamily="34" charset="0"/>
              <a:buChar char="•"/>
            </a:pPr>
            <a:r>
              <a:rPr lang="en-GB" sz="2000" dirty="0"/>
              <a:t>Although the stack and heap sections grow toward one another, the operating system must ensure they do not overlap one another.</a:t>
            </a:r>
          </a:p>
        </p:txBody>
      </p:sp>
    </p:spTree>
    <p:extLst>
      <p:ext uri="{BB962C8B-B14F-4D97-AF65-F5344CB8AC3E}">
        <p14:creationId xmlns:p14="http://schemas.microsoft.com/office/powerpoint/2010/main" val="291394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DC95-7877-3B8B-271D-02310033BF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84668F-1F7A-CD3D-2969-44BF69E57973}"/>
              </a:ext>
            </a:extLst>
          </p:cNvPr>
          <p:cNvSpPr>
            <a:spLocks noGrp="1"/>
          </p:cNvSpPr>
          <p:nvPr>
            <p:ph type="title"/>
          </p:nvPr>
        </p:nvSpPr>
        <p:spPr>
          <a:xfrm>
            <a:off x="762000" y="407955"/>
            <a:ext cx="10591800" cy="646332"/>
          </a:xfrm>
        </p:spPr>
        <p:txBody>
          <a:bodyPr/>
          <a:lstStyle/>
          <a:p>
            <a:r>
              <a:rPr lang="en-GB" dirty="0"/>
              <a:t>How Stack and Heap Behave Dynamically</a:t>
            </a:r>
            <a:endParaRPr lang="en-US" dirty="0"/>
          </a:p>
        </p:txBody>
      </p:sp>
      <p:sp>
        <p:nvSpPr>
          <p:cNvPr id="11" name="Text Placeholder 10">
            <a:extLst>
              <a:ext uri="{FF2B5EF4-FFF2-40B4-BE49-F238E27FC236}">
                <a16:creationId xmlns:a16="http://schemas.microsoft.com/office/drawing/2014/main" id="{48FFC7F2-5296-FACA-3C12-DE81116F0B96}"/>
              </a:ext>
            </a:extLst>
          </p:cNvPr>
          <p:cNvSpPr>
            <a:spLocks noGrp="1"/>
          </p:cNvSpPr>
          <p:nvPr>
            <p:ph type="body" sz="quarter" idx="11"/>
          </p:nvPr>
        </p:nvSpPr>
        <p:spPr>
          <a:xfrm>
            <a:off x="762000" y="1432561"/>
            <a:ext cx="10667999" cy="4217467"/>
          </a:xfrm>
        </p:spPr>
        <p:txBody>
          <a:bodyPr/>
          <a:lstStyle/>
          <a:p>
            <a:pPr marL="285750" indent="-285750">
              <a:lnSpc>
                <a:spcPct val="150000"/>
              </a:lnSpc>
              <a:buFont typeface="Arial" panose="020B0604020202020204" pitchFamily="34" charset="0"/>
              <a:buChar char="•"/>
            </a:pPr>
            <a:r>
              <a:rPr lang="en-GB" altLang="en-US" sz="2000" dirty="0"/>
              <a:t>In reality: </a:t>
            </a:r>
            <a:r>
              <a:rPr lang="en-GB" altLang="en-US" sz="2000" b="1" dirty="0"/>
              <a:t>Stack growth </a:t>
            </a:r>
            <a:r>
              <a:rPr lang="en-GB" altLang="en-US" sz="2000" dirty="0"/>
              <a:t>means: The stack pointer register moves downward, claiming more of the process’s address space.</a:t>
            </a:r>
          </a:p>
          <a:p>
            <a:pPr marL="285750" indent="-285750">
              <a:lnSpc>
                <a:spcPct val="150000"/>
              </a:lnSpc>
              <a:buFont typeface="Arial" panose="020B0604020202020204" pitchFamily="34" charset="0"/>
              <a:buChar char="•"/>
            </a:pPr>
            <a:r>
              <a:rPr lang="en-GB" altLang="en-US" sz="2000" b="1" dirty="0"/>
              <a:t>Heap growth</a:t>
            </a:r>
            <a:r>
              <a:rPr lang="en-GB" altLang="en-US" sz="2000" dirty="0"/>
              <a:t> means: The heap end pointer moves upward, reserving more of the process’s address space.</a:t>
            </a:r>
          </a:p>
          <a:p>
            <a:pPr marL="285750" indent="-285750">
              <a:lnSpc>
                <a:spcPct val="150000"/>
              </a:lnSpc>
              <a:buFont typeface="Arial" panose="020B0604020202020204" pitchFamily="34" charset="0"/>
              <a:buChar char="•"/>
            </a:pPr>
            <a:r>
              <a:rPr lang="en-GB" altLang="en-US" sz="2000" dirty="0"/>
              <a:t>They don’t physically push each other — the OS simply tracks how much of the available space between them is being used.</a:t>
            </a:r>
            <a:endParaRPr lang="en-US" altLang="en-US" sz="2000" dirty="0"/>
          </a:p>
        </p:txBody>
      </p:sp>
    </p:spTree>
    <p:extLst>
      <p:ext uri="{BB962C8B-B14F-4D97-AF65-F5344CB8AC3E}">
        <p14:creationId xmlns:p14="http://schemas.microsoft.com/office/powerpoint/2010/main" val="111283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0B4DD-DCA8-B03A-383F-048CE1309A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A2CF22-6A5C-2C03-6A9B-A23786A3C36B}"/>
              </a:ext>
            </a:extLst>
          </p:cNvPr>
          <p:cNvSpPr>
            <a:spLocks noGrp="1"/>
          </p:cNvSpPr>
          <p:nvPr>
            <p:ph type="title"/>
          </p:nvPr>
        </p:nvSpPr>
        <p:spPr>
          <a:xfrm>
            <a:off x="762000" y="318970"/>
            <a:ext cx="10591800" cy="646332"/>
          </a:xfrm>
        </p:spPr>
        <p:txBody>
          <a:bodyPr/>
          <a:lstStyle/>
          <a:p>
            <a:r>
              <a:rPr lang="en-GB" dirty="0"/>
              <a:t>Process State</a:t>
            </a:r>
            <a:endParaRPr lang="en-US" dirty="0"/>
          </a:p>
        </p:txBody>
      </p:sp>
      <p:sp>
        <p:nvSpPr>
          <p:cNvPr id="11" name="Text Placeholder 10">
            <a:extLst>
              <a:ext uri="{FF2B5EF4-FFF2-40B4-BE49-F238E27FC236}">
                <a16:creationId xmlns:a16="http://schemas.microsoft.com/office/drawing/2014/main" id="{772B94C7-E29F-5D7D-AB98-CEA35F28F279}"/>
              </a:ext>
            </a:extLst>
          </p:cNvPr>
          <p:cNvSpPr>
            <a:spLocks noGrp="1"/>
          </p:cNvSpPr>
          <p:nvPr>
            <p:ph type="body" sz="quarter" idx="11"/>
          </p:nvPr>
        </p:nvSpPr>
        <p:spPr>
          <a:xfrm>
            <a:off x="685801" y="1124336"/>
            <a:ext cx="10667999" cy="4783303"/>
          </a:xfrm>
        </p:spPr>
        <p:txBody>
          <a:bodyPr/>
          <a:lstStyle/>
          <a:p>
            <a:pPr marL="285750" indent="-285750">
              <a:lnSpc>
                <a:spcPct val="150000"/>
              </a:lnSpc>
              <a:buFont typeface="Arial" panose="020B0604020202020204" pitchFamily="34" charset="0"/>
              <a:buChar char="•"/>
            </a:pPr>
            <a:r>
              <a:rPr lang="en-GB" sz="2000" dirty="0"/>
              <a:t>As a process executes, it changes state. The state of a process is defined in part by the current activity of that process. A process may be in one of the following states:</a:t>
            </a:r>
          </a:p>
          <a:p>
            <a:pPr marL="285750" indent="-285750">
              <a:lnSpc>
                <a:spcPct val="150000"/>
              </a:lnSpc>
              <a:buFont typeface="Arial" panose="020B0604020202020204" pitchFamily="34" charset="0"/>
              <a:buChar char="•"/>
            </a:pPr>
            <a:r>
              <a:rPr lang="en-GB" altLang="en-US" sz="2000" b="1" dirty="0"/>
              <a:t>New</a:t>
            </a:r>
            <a:r>
              <a:rPr lang="en-GB" altLang="en-US" sz="2000" dirty="0"/>
              <a:t>. The process is being created.</a:t>
            </a:r>
          </a:p>
          <a:p>
            <a:pPr marL="285750" indent="-285750">
              <a:lnSpc>
                <a:spcPct val="150000"/>
              </a:lnSpc>
              <a:buFont typeface="Arial" panose="020B0604020202020204" pitchFamily="34" charset="0"/>
              <a:buChar char="•"/>
            </a:pPr>
            <a:r>
              <a:rPr lang="en-GB" altLang="en-US" sz="2000" b="1" dirty="0"/>
              <a:t>Running</a:t>
            </a:r>
            <a:r>
              <a:rPr lang="en-GB" altLang="en-US" sz="2000" dirty="0"/>
              <a:t>. Instructions are being executed.</a:t>
            </a:r>
          </a:p>
          <a:p>
            <a:pPr marL="285750" indent="-285750">
              <a:lnSpc>
                <a:spcPct val="150000"/>
              </a:lnSpc>
              <a:buFont typeface="Arial" panose="020B0604020202020204" pitchFamily="34" charset="0"/>
              <a:buChar char="•"/>
            </a:pPr>
            <a:r>
              <a:rPr lang="en-GB" altLang="en-US" sz="2000" b="1" dirty="0"/>
              <a:t>Waiting</a:t>
            </a:r>
            <a:r>
              <a:rPr lang="en-GB" altLang="en-US" sz="2000" dirty="0"/>
              <a:t>. The process is waiting for some event to occur (such as an I/O completion or reception of a signal).</a:t>
            </a:r>
          </a:p>
          <a:p>
            <a:pPr marL="285750" indent="-285750">
              <a:lnSpc>
                <a:spcPct val="150000"/>
              </a:lnSpc>
              <a:buFont typeface="Arial" panose="020B0604020202020204" pitchFamily="34" charset="0"/>
              <a:buChar char="•"/>
            </a:pPr>
            <a:r>
              <a:rPr lang="en-GB" altLang="en-US" sz="2000" b="1" dirty="0"/>
              <a:t>Ready</a:t>
            </a:r>
            <a:r>
              <a:rPr lang="en-GB" altLang="en-US" sz="2000" dirty="0"/>
              <a:t>. The process is waiting to be assigned to a processor.</a:t>
            </a:r>
          </a:p>
          <a:p>
            <a:pPr marL="285750" indent="-285750">
              <a:lnSpc>
                <a:spcPct val="150000"/>
              </a:lnSpc>
              <a:buFont typeface="Arial" panose="020B0604020202020204" pitchFamily="34" charset="0"/>
              <a:buChar char="•"/>
            </a:pPr>
            <a:r>
              <a:rPr lang="en-GB" sz="2000" b="1" dirty="0"/>
              <a:t>Terminated</a:t>
            </a:r>
            <a:r>
              <a:rPr lang="en-GB" sz="2000" dirty="0"/>
              <a:t>. The process has finished execution.</a:t>
            </a:r>
            <a:endParaRPr lang="en-US" altLang="en-US" sz="2000" dirty="0"/>
          </a:p>
        </p:txBody>
      </p:sp>
    </p:spTree>
    <p:extLst>
      <p:ext uri="{BB962C8B-B14F-4D97-AF65-F5344CB8AC3E}">
        <p14:creationId xmlns:p14="http://schemas.microsoft.com/office/powerpoint/2010/main" val="45997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30E90-8083-2115-E68D-2985B4F9C0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330242-D9CE-C2D5-D2A9-4B7D228EEE65}"/>
              </a:ext>
            </a:extLst>
          </p:cNvPr>
          <p:cNvSpPr>
            <a:spLocks noGrp="1"/>
          </p:cNvSpPr>
          <p:nvPr>
            <p:ph type="title"/>
          </p:nvPr>
        </p:nvSpPr>
        <p:spPr>
          <a:xfrm>
            <a:off x="762000" y="318970"/>
            <a:ext cx="10591800" cy="646332"/>
          </a:xfrm>
        </p:spPr>
        <p:txBody>
          <a:bodyPr/>
          <a:lstStyle/>
          <a:p>
            <a:r>
              <a:rPr lang="en-GB" dirty="0"/>
              <a:t>Diagrammatic Representation  of the states </a:t>
            </a:r>
            <a:endParaRPr lang="en-US" dirty="0"/>
          </a:p>
        </p:txBody>
      </p:sp>
      <p:pic>
        <p:nvPicPr>
          <p:cNvPr id="3" name="Picture 2">
            <a:extLst>
              <a:ext uri="{FF2B5EF4-FFF2-40B4-BE49-F238E27FC236}">
                <a16:creationId xmlns:a16="http://schemas.microsoft.com/office/drawing/2014/main" id="{0BE92324-AD3B-7063-B1CF-16F26B0E8074}"/>
              </a:ext>
            </a:extLst>
          </p:cNvPr>
          <p:cNvPicPr>
            <a:picLocks noChangeAspect="1"/>
          </p:cNvPicPr>
          <p:nvPr/>
        </p:nvPicPr>
        <p:blipFill>
          <a:blip r:embed="rId3"/>
          <a:srcRect t="6604" b="6052"/>
          <a:stretch>
            <a:fillRect/>
          </a:stretch>
        </p:blipFill>
        <p:spPr>
          <a:xfrm>
            <a:off x="400693" y="1202077"/>
            <a:ext cx="11031348" cy="4726112"/>
          </a:xfrm>
          <a:prstGeom prst="rect">
            <a:avLst/>
          </a:prstGeom>
        </p:spPr>
      </p:pic>
    </p:spTree>
    <p:extLst>
      <p:ext uri="{BB962C8B-B14F-4D97-AF65-F5344CB8AC3E}">
        <p14:creationId xmlns:p14="http://schemas.microsoft.com/office/powerpoint/2010/main" val="29327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F2D33-7E8D-E00A-5D93-5B3C16FFFC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C84FC7-EC26-4B83-9E31-AF1FDDB35120}"/>
              </a:ext>
            </a:extLst>
          </p:cNvPr>
          <p:cNvSpPr>
            <a:spLocks noGrp="1"/>
          </p:cNvSpPr>
          <p:nvPr>
            <p:ph type="title"/>
          </p:nvPr>
        </p:nvSpPr>
        <p:spPr>
          <a:xfrm>
            <a:off x="762000" y="318970"/>
            <a:ext cx="10591800" cy="646332"/>
          </a:xfrm>
        </p:spPr>
        <p:txBody>
          <a:bodyPr/>
          <a:lstStyle/>
          <a:p>
            <a:r>
              <a:rPr lang="en-GB" dirty="0"/>
              <a:t>Process State</a:t>
            </a:r>
            <a:endParaRPr lang="en-US" dirty="0"/>
          </a:p>
        </p:txBody>
      </p:sp>
      <p:sp>
        <p:nvSpPr>
          <p:cNvPr id="11" name="Text Placeholder 10">
            <a:extLst>
              <a:ext uri="{FF2B5EF4-FFF2-40B4-BE49-F238E27FC236}">
                <a16:creationId xmlns:a16="http://schemas.microsoft.com/office/drawing/2014/main" id="{A3A66640-3948-00DB-8F95-AD13700658D2}"/>
              </a:ext>
            </a:extLst>
          </p:cNvPr>
          <p:cNvSpPr>
            <a:spLocks noGrp="1"/>
          </p:cNvSpPr>
          <p:nvPr>
            <p:ph type="body" sz="quarter" idx="11"/>
          </p:nvPr>
        </p:nvSpPr>
        <p:spPr>
          <a:xfrm>
            <a:off x="685801" y="1124336"/>
            <a:ext cx="10667999" cy="4783303"/>
          </a:xfrm>
        </p:spPr>
        <p:txBody>
          <a:bodyPr/>
          <a:lstStyle/>
          <a:p>
            <a:pPr marL="285750" indent="-285750">
              <a:lnSpc>
                <a:spcPct val="150000"/>
              </a:lnSpc>
              <a:buFont typeface="Arial" panose="020B0604020202020204" pitchFamily="34" charset="0"/>
              <a:buChar char="•"/>
            </a:pPr>
            <a:r>
              <a:rPr lang="en-GB" sz="2000" dirty="0"/>
              <a:t>These state names do vary across operating systems. The states that they represent are found on all systems, however. </a:t>
            </a:r>
          </a:p>
          <a:p>
            <a:pPr marL="285750" indent="-285750">
              <a:lnSpc>
                <a:spcPct val="150000"/>
              </a:lnSpc>
              <a:buFont typeface="Arial" panose="020B0604020202020204" pitchFamily="34" charset="0"/>
              <a:buChar char="•"/>
            </a:pPr>
            <a:r>
              <a:rPr lang="en-GB" sz="2000" dirty="0"/>
              <a:t> It is important to realize that only </a:t>
            </a:r>
            <a:r>
              <a:rPr lang="en-GB" sz="2000" b="1" i="1" dirty="0"/>
              <a:t>one process can be running on any processor core at any instant.</a:t>
            </a:r>
            <a:r>
              <a:rPr lang="en-GB" sz="2000" dirty="0"/>
              <a:t> Many processes may be ready and waiting, however. </a:t>
            </a:r>
            <a:endParaRPr lang="en-US" altLang="en-US" sz="2000" dirty="0"/>
          </a:p>
        </p:txBody>
      </p:sp>
    </p:spTree>
    <p:extLst>
      <p:ext uri="{BB962C8B-B14F-4D97-AF65-F5344CB8AC3E}">
        <p14:creationId xmlns:p14="http://schemas.microsoft.com/office/powerpoint/2010/main" val="185663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4E8C-B95A-8A92-D9A2-1C3DE3575C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F0D5C9-C0A0-C042-A957-12984A5F1420}"/>
              </a:ext>
            </a:extLst>
          </p:cNvPr>
          <p:cNvSpPr>
            <a:spLocks noGrp="1"/>
          </p:cNvSpPr>
          <p:nvPr>
            <p:ph type="title"/>
          </p:nvPr>
        </p:nvSpPr>
        <p:spPr>
          <a:xfrm>
            <a:off x="762000" y="318970"/>
            <a:ext cx="10591800" cy="646332"/>
          </a:xfrm>
        </p:spPr>
        <p:txBody>
          <a:bodyPr/>
          <a:lstStyle/>
          <a:p>
            <a:r>
              <a:rPr lang="en-GB" dirty="0"/>
              <a:t>Process Control Block</a:t>
            </a:r>
            <a:endParaRPr lang="en-US" dirty="0"/>
          </a:p>
        </p:txBody>
      </p:sp>
      <p:sp>
        <p:nvSpPr>
          <p:cNvPr id="11" name="Text Placeholder 10">
            <a:extLst>
              <a:ext uri="{FF2B5EF4-FFF2-40B4-BE49-F238E27FC236}">
                <a16:creationId xmlns:a16="http://schemas.microsoft.com/office/drawing/2014/main" id="{54A71E51-CB87-7B13-0AB4-EC25E31C9D08}"/>
              </a:ext>
            </a:extLst>
          </p:cNvPr>
          <p:cNvSpPr>
            <a:spLocks noGrp="1"/>
          </p:cNvSpPr>
          <p:nvPr>
            <p:ph type="body" sz="quarter" idx="11"/>
          </p:nvPr>
        </p:nvSpPr>
        <p:spPr>
          <a:xfrm>
            <a:off x="685801" y="1124336"/>
            <a:ext cx="10667999" cy="4783303"/>
          </a:xfrm>
        </p:spPr>
        <p:txBody>
          <a:bodyPr/>
          <a:lstStyle/>
          <a:p>
            <a:pPr marL="285750" indent="-285750">
              <a:lnSpc>
                <a:spcPct val="150000"/>
              </a:lnSpc>
              <a:buFont typeface="Arial" panose="020B0604020202020204" pitchFamily="34" charset="0"/>
              <a:buChar char="•"/>
            </a:pPr>
            <a:r>
              <a:rPr lang="en-GB" sz="2000" dirty="0"/>
              <a:t>Each process is represented in the operating system by a process control block (PCB)—also called a task control block.</a:t>
            </a:r>
          </a:p>
          <a:p>
            <a:pPr marL="285750" indent="-285750">
              <a:lnSpc>
                <a:spcPct val="150000"/>
              </a:lnSpc>
              <a:buFont typeface="Arial" panose="020B0604020202020204" pitchFamily="34" charset="0"/>
              <a:buChar char="•"/>
            </a:pPr>
            <a:r>
              <a:rPr lang="en-GB" sz="2000" dirty="0"/>
              <a:t>In brief, the PCB simply serves as the repository for all the data needed to start, or restart, a process, along with some accounting data. </a:t>
            </a:r>
          </a:p>
          <a:p>
            <a:pPr marL="285750" indent="-285750">
              <a:lnSpc>
                <a:spcPct val="150000"/>
              </a:lnSpc>
              <a:buFont typeface="Arial" panose="020B0604020202020204" pitchFamily="34" charset="0"/>
              <a:buChar char="•"/>
            </a:pPr>
            <a:r>
              <a:rPr lang="en-GB" sz="2000" dirty="0"/>
              <a:t> </a:t>
            </a:r>
            <a:endParaRPr lang="en-US" altLang="en-US" sz="2000" dirty="0"/>
          </a:p>
        </p:txBody>
      </p:sp>
    </p:spTree>
    <p:extLst>
      <p:ext uri="{BB962C8B-B14F-4D97-AF65-F5344CB8AC3E}">
        <p14:creationId xmlns:p14="http://schemas.microsoft.com/office/powerpoint/2010/main" val="1899528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C239F-5248-147D-E2CD-E7B228358F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CBF754-4F07-73F4-4879-E744609CB16A}"/>
              </a:ext>
            </a:extLst>
          </p:cNvPr>
          <p:cNvSpPr>
            <a:spLocks noGrp="1"/>
          </p:cNvSpPr>
          <p:nvPr>
            <p:ph type="title"/>
          </p:nvPr>
        </p:nvSpPr>
        <p:spPr>
          <a:xfrm>
            <a:off x="762000" y="318970"/>
            <a:ext cx="10591800" cy="646332"/>
          </a:xfrm>
        </p:spPr>
        <p:txBody>
          <a:bodyPr/>
          <a:lstStyle/>
          <a:p>
            <a:r>
              <a:rPr lang="en-GB" dirty="0"/>
              <a:t>Process Control Block</a:t>
            </a:r>
            <a:endParaRPr lang="en-US" dirty="0"/>
          </a:p>
        </p:txBody>
      </p:sp>
      <p:sp>
        <p:nvSpPr>
          <p:cNvPr id="11" name="Text Placeholder 10">
            <a:extLst>
              <a:ext uri="{FF2B5EF4-FFF2-40B4-BE49-F238E27FC236}">
                <a16:creationId xmlns:a16="http://schemas.microsoft.com/office/drawing/2014/main" id="{E22B40B5-1594-3B52-D539-1C681DC88222}"/>
              </a:ext>
            </a:extLst>
          </p:cNvPr>
          <p:cNvSpPr>
            <a:spLocks noGrp="1"/>
          </p:cNvSpPr>
          <p:nvPr>
            <p:ph type="body" sz="quarter" idx="11"/>
          </p:nvPr>
        </p:nvSpPr>
        <p:spPr>
          <a:xfrm>
            <a:off x="685801" y="1124336"/>
            <a:ext cx="10667999" cy="4783303"/>
          </a:xfrm>
        </p:spPr>
        <p:txBody>
          <a:bodyPr/>
          <a:lstStyle/>
          <a:p>
            <a:pPr marL="285750" indent="-285750">
              <a:lnSpc>
                <a:spcPct val="150000"/>
              </a:lnSpc>
              <a:buFont typeface="Arial" panose="020B0604020202020204" pitchFamily="34" charset="0"/>
              <a:buChar char="•"/>
            </a:pPr>
            <a:r>
              <a:rPr kumimoji="0" lang="en-GB" sz="2000" b="0" i="0" u="none" strike="noStrike" kern="1200" cap="none" spc="0" normalizeH="0" baseline="0" noProof="0" dirty="0">
                <a:ln>
                  <a:noFill/>
                </a:ln>
                <a:solidFill>
                  <a:prstClr val="black"/>
                </a:solidFill>
                <a:effectLst/>
                <a:uLnTx/>
                <a:uFillTx/>
                <a:latin typeface="Segoe UI"/>
                <a:ea typeface="+mn-ea"/>
                <a:cs typeface="+mn-cs"/>
              </a:rPr>
              <a:t>A PCB contains many pieces of information associated with a specific process, including these:.</a:t>
            </a:r>
          </a:p>
          <a:p>
            <a:pPr marL="285750" indent="-285750">
              <a:lnSpc>
                <a:spcPct val="150000"/>
              </a:lnSpc>
              <a:buFont typeface="Arial" panose="020B0604020202020204" pitchFamily="34" charset="0"/>
              <a:buChar char="•"/>
            </a:pPr>
            <a:endParaRPr lang="en-US" altLang="en-US" sz="2000" dirty="0"/>
          </a:p>
        </p:txBody>
      </p:sp>
      <p:pic>
        <p:nvPicPr>
          <p:cNvPr id="3" name="Picture 2">
            <a:extLst>
              <a:ext uri="{FF2B5EF4-FFF2-40B4-BE49-F238E27FC236}">
                <a16:creationId xmlns:a16="http://schemas.microsoft.com/office/drawing/2014/main" id="{D55E6672-5CDA-D7B8-FCAD-521E1532DEB6}"/>
              </a:ext>
            </a:extLst>
          </p:cNvPr>
          <p:cNvPicPr>
            <a:picLocks noChangeAspect="1"/>
          </p:cNvPicPr>
          <p:nvPr/>
        </p:nvPicPr>
        <p:blipFill>
          <a:blip r:embed="rId3"/>
          <a:stretch>
            <a:fillRect/>
          </a:stretch>
        </p:blipFill>
        <p:spPr>
          <a:xfrm>
            <a:off x="4064024" y="2463416"/>
            <a:ext cx="2968262" cy="3527102"/>
          </a:xfrm>
          <a:prstGeom prst="rect">
            <a:avLst/>
          </a:prstGeom>
        </p:spPr>
      </p:pic>
    </p:spTree>
    <p:extLst>
      <p:ext uri="{BB962C8B-B14F-4D97-AF65-F5344CB8AC3E}">
        <p14:creationId xmlns:p14="http://schemas.microsoft.com/office/powerpoint/2010/main" val="101448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4AFBF-F94F-707F-185C-42DEA97FBC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A3CD3B-29AD-1614-9D30-6B1ECFF2243D}"/>
              </a:ext>
            </a:extLst>
          </p:cNvPr>
          <p:cNvSpPr>
            <a:spLocks noGrp="1"/>
          </p:cNvSpPr>
          <p:nvPr>
            <p:ph type="title"/>
          </p:nvPr>
        </p:nvSpPr>
        <p:spPr>
          <a:xfrm>
            <a:off x="762000" y="318970"/>
            <a:ext cx="10591800" cy="646332"/>
          </a:xfrm>
        </p:spPr>
        <p:txBody>
          <a:bodyPr/>
          <a:lstStyle/>
          <a:p>
            <a:r>
              <a:rPr lang="en-GB" dirty="0"/>
              <a:t>Process Control Block</a:t>
            </a:r>
            <a:endParaRPr lang="en-US" dirty="0"/>
          </a:p>
        </p:txBody>
      </p:sp>
      <p:sp>
        <p:nvSpPr>
          <p:cNvPr id="11" name="Text Placeholder 10">
            <a:extLst>
              <a:ext uri="{FF2B5EF4-FFF2-40B4-BE49-F238E27FC236}">
                <a16:creationId xmlns:a16="http://schemas.microsoft.com/office/drawing/2014/main" id="{832527BF-F5D6-F51D-A470-022870D1107C}"/>
              </a:ext>
            </a:extLst>
          </p:cNvPr>
          <p:cNvSpPr>
            <a:spLocks noGrp="1"/>
          </p:cNvSpPr>
          <p:nvPr>
            <p:ph type="body" sz="quarter" idx="11"/>
          </p:nvPr>
        </p:nvSpPr>
        <p:spPr>
          <a:xfrm>
            <a:off x="685801" y="1191334"/>
            <a:ext cx="10667999" cy="4957965"/>
          </a:xfrm>
        </p:spPr>
        <p:txBody>
          <a:bodyPr/>
          <a:lstStyle/>
          <a:p>
            <a:pPr marL="285750" indent="-285750">
              <a:lnSpc>
                <a:spcPct val="150000"/>
              </a:lnSpc>
              <a:buFont typeface="Arial" panose="020B0604020202020204" pitchFamily="34" charset="0"/>
              <a:buChar char="•"/>
            </a:pPr>
            <a:r>
              <a:rPr lang="en-GB" sz="1900" b="1" dirty="0"/>
              <a:t>Process state. </a:t>
            </a:r>
            <a:r>
              <a:rPr lang="en-GB" sz="1900" dirty="0"/>
              <a:t>The state may be new, ready, running, waiting, halted, and so on. </a:t>
            </a:r>
          </a:p>
          <a:p>
            <a:pPr marL="342900" indent="-342900">
              <a:lnSpc>
                <a:spcPct val="150000"/>
              </a:lnSpc>
              <a:buFont typeface="Arial" panose="020B0604020202020204" pitchFamily="34" charset="0"/>
              <a:buChar char="•"/>
            </a:pPr>
            <a:r>
              <a:rPr lang="en-GB" sz="1900" dirty="0"/>
              <a:t> </a:t>
            </a:r>
            <a:r>
              <a:rPr lang="en-GB" sz="1900" b="1" dirty="0"/>
              <a:t>Program counter. </a:t>
            </a:r>
            <a:r>
              <a:rPr lang="en-GB" sz="1900" dirty="0"/>
              <a:t>The counter indicates the address of the next instruction to be executed for this process.</a:t>
            </a:r>
          </a:p>
          <a:p>
            <a:pPr marL="342900" indent="-342900">
              <a:lnSpc>
                <a:spcPct val="150000"/>
              </a:lnSpc>
              <a:buFont typeface="Arial" panose="020B0604020202020204" pitchFamily="34" charset="0"/>
              <a:buChar char="•"/>
            </a:pPr>
            <a:r>
              <a:rPr lang="en-GB" sz="1900" b="1" dirty="0"/>
              <a:t>CPU registers</a:t>
            </a:r>
            <a:r>
              <a:rPr lang="en-GB" sz="1900" dirty="0"/>
              <a:t>. The registers vary in number and type, depending on the computer architecture. Along with the program counter, this state information must be saved when an interrupt occurs, to allow the process to be continued correctly afterward when it is rescheduled to run.</a:t>
            </a:r>
          </a:p>
          <a:p>
            <a:pPr marL="342900" indent="-342900">
              <a:lnSpc>
                <a:spcPct val="150000"/>
              </a:lnSpc>
              <a:buFont typeface="Arial" panose="020B0604020202020204" pitchFamily="34" charset="0"/>
              <a:buChar char="•"/>
            </a:pPr>
            <a:r>
              <a:rPr lang="en-GB" sz="1900" b="1" dirty="0"/>
              <a:t>CPU-scheduling information. </a:t>
            </a:r>
            <a:r>
              <a:rPr lang="en-GB" sz="1900" dirty="0"/>
              <a:t>This information includes a process priority, pointers to scheduling queues, and any other scheduling parameters. </a:t>
            </a:r>
          </a:p>
          <a:p>
            <a:pPr>
              <a:lnSpc>
                <a:spcPct val="150000"/>
              </a:lnSpc>
            </a:pPr>
            <a:endParaRPr lang="en-GB" sz="2000" dirty="0"/>
          </a:p>
          <a:p>
            <a:pPr>
              <a:lnSpc>
                <a:spcPct val="150000"/>
              </a:lnSpc>
            </a:pPr>
            <a:endParaRPr lang="en-US" altLang="en-US" sz="2000" dirty="0"/>
          </a:p>
        </p:txBody>
      </p:sp>
    </p:spTree>
    <p:extLst>
      <p:ext uri="{BB962C8B-B14F-4D97-AF65-F5344CB8AC3E}">
        <p14:creationId xmlns:p14="http://schemas.microsoft.com/office/powerpoint/2010/main" val="340184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F711E-D8BB-46BA-9D66-546ADF8666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C8B448-CAEF-B39F-C5D9-70CE95581FDA}"/>
              </a:ext>
            </a:extLst>
          </p:cNvPr>
          <p:cNvSpPr>
            <a:spLocks noGrp="1"/>
          </p:cNvSpPr>
          <p:nvPr>
            <p:ph type="title"/>
          </p:nvPr>
        </p:nvSpPr>
        <p:spPr>
          <a:xfrm>
            <a:off x="762000" y="318970"/>
            <a:ext cx="10591800" cy="646332"/>
          </a:xfrm>
        </p:spPr>
        <p:txBody>
          <a:bodyPr/>
          <a:lstStyle/>
          <a:p>
            <a:r>
              <a:rPr lang="en-GB" dirty="0"/>
              <a:t>Process Control Block</a:t>
            </a:r>
            <a:endParaRPr lang="en-US" dirty="0"/>
          </a:p>
        </p:txBody>
      </p:sp>
      <p:sp>
        <p:nvSpPr>
          <p:cNvPr id="11" name="Text Placeholder 10">
            <a:extLst>
              <a:ext uri="{FF2B5EF4-FFF2-40B4-BE49-F238E27FC236}">
                <a16:creationId xmlns:a16="http://schemas.microsoft.com/office/drawing/2014/main" id="{C19F21F0-C95D-AC81-A520-8D9F54DBAC25}"/>
              </a:ext>
            </a:extLst>
          </p:cNvPr>
          <p:cNvSpPr>
            <a:spLocks noGrp="1"/>
          </p:cNvSpPr>
          <p:nvPr>
            <p:ph type="body" sz="quarter" idx="11"/>
          </p:nvPr>
        </p:nvSpPr>
        <p:spPr>
          <a:xfrm>
            <a:off x="685801" y="1191334"/>
            <a:ext cx="10667999" cy="4957965"/>
          </a:xfrm>
        </p:spPr>
        <p:txBody>
          <a:bodyPr/>
          <a:lstStyle/>
          <a:p>
            <a:pPr marL="285750" indent="-285750">
              <a:lnSpc>
                <a:spcPct val="150000"/>
              </a:lnSpc>
              <a:buFont typeface="Arial" panose="020B0604020202020204" pitchFamily="34" charset="0"/>
              <a:buChar char="•"/>
            </a:pPr>
            <a:r>
              <a:rPr lang="en-GB" sz="2000" b="1" dirty="0"/>
              <a:t>Memory-management information. </a:t>
            </a:r>
            <a:r>
              <a:rPr lang="en-GB" sz="2000" dirty="0"/>
              <a:t>This information may include such items as the value of the base and limit registers and the page tables, or the segment tables, depending on the memory system used by the operating system.</a:t>
            </a:r>
          </a:p>
          <a:p>
            <a:pPr marL="285750" indent="-285750">
              <a:lnSpc>
                <a:spcPct val="150000"/>
              </a:lnSpc>
              <a:buFont typeface="Arial" panose="020B0604020202020204" pitchFamily="34" charset="0"/>
              <a:buChar char="•"/>
            </a:pPr>
            <a:r>
              <a:rPr lang="en-GB" sz="2000" dirty="0"/>
              <a:t> </a:t>
            </a:r>
            <a:r>
              <a:rPr lang="en-GB" sz="2000" b="1" dirty="0"/>
              <a:t>Accounting information. </a:t>
            </a:r>
            <a:r>
              <a:rPr lang="en-GB" sz="2000" dirty="0"/>
              <a:t>This information includes the amount of CPU and real time used, time limits, account numbers, job or process numbers, and so on. </a:t>
            </a:r>
          </a:p>
          <a:p>
            <a:pPr marL="285750" indent="-285750">
              <a:lnSpc>
                <a:spcPct val="150000"/>
              </a:lnSpc>
              <a:buFont typeface="Arial" panose="020B0604020202020204" pitchFamily="34" charset="0"/>
              <a:buChar char="•"/>
            </a:pPr>
            <a:r>
              <a:rPr lang="en-GB" sz="2000" b="1" dirty="0"/>
              <a:t> I/O status information. </a:t>
            </a:r>
            <a:r>
              <a:rPr lang="en-GB" sz="2000" dirty="0"/>
              <a:t>This information includes the list of I/O devices allocated to the process, a list of open files, and so on</a:t>
            </a:r>
            <a:r>
              <a:rPr lang="en-GB" sz="1900" dirty="0"/>
              <a:t>. </a:t>
            </a:r>
          </a:p>
          <a:p>
            <a:pPr>
              <a:lnSpc>
                <a:spcPct val="150000"/>
              </a:lnSpc>
            </a:pPr>
            <a:endParaRPr lang="en-GB" sz="2000" dirty="0"/>
          </a:p>
          <a:p>
            <a:pPr>
              <a:lnSpc>
                <a:spcPct val="150000"/>
              </a:lnSpc>
            </a:pPr>
            <a:endParaRPr lang="en-US" altLang="en-US" sz="2000" dirty="0"/>
          </a:p>
        </p:txBody>
      </p:sp>
    </p:spTree>
    <p:extLst>
      <p:ext uri="{BB962C8B-B14F-4D97-AF65-F5344CB8AC3E}">
        <p14:creationId xmlns:p14="http://schemas.microsoft.com/office/powerpoint/2010/main" val="103531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84F4C-415E-274E-7D75-3CC9D7DF64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DFBED1-9DD5-B31B-BD09-C6AE85B6EDA9}"/>
              </a:ext>
            </a:extLst>
          </p:cNvPr>
          <p:cNvSpPr>
            <a:spLocks noGrp="1"/>
          </p:cNvSpPr>
          <p:nvPr>
            <p:ph type="title"/>
          </p:nvPr>
        </p:nvSpPr>
        <p:spPr>
          <a:xfrm>
            <a:off x="762000" y="318970"/>
            <a:ext cx="10591800" cy="646332"/>
          </a:xfrm>
        </p:spPr>
        <p:txBody>
          <a:bodyPr/>
          <a:lstStyle/>
          <a:p>
            <a:r>
              <a:rPr lang="en-GB" dirty="0"/>
              <a:t>Threads</a:t>
            </a:r>
            <a:endParaRPr lang="en-US" dirty="0"/>
          </a:p>
        </p:txBody>
      </p:sp>
      <p:sp>
        <p:nvSpPr>
          <p:cNvPr id="11" name="Text Placeholder 10">
            <a:extLst>
              <a:ext uri="{FF2B5EF4-FFF2-40B4-BE49-F238E27FC236}">
                <a16:creationId xmlns:a16="http://schemas.microsoft.com/office/drawing/2014/main" id="{E2B06E5E-993D-F2D3-D79B-59A8BA224F2C}"/>
              </a:ext>
            </a:extLst>
          </p:cNvPr>
          <p:cNvSpPr>
            <a:spLocks noGrp="1"/>
          </p:cNvSpPr>
          <p:nvPr>
            <p:ph type="body" sz="quarter" idx="11"/>
          </p:nvPr>
        </p:nvSpPr>
        <p:spPr>
          <a:xfrm>
            <a:off x="685801" y="1191334"/>
            <a:ext cx="10667999" cy="4957965"/>
          </a:xfrm>
        </p:spPr>
        <p:txBody>
          <a:bodyPr/>
          <a:lstStyle/>
          <a:p>
            <a:pPr marL="285750" indent="-285750">
              <a:lnSpc>
                <a:spcPct val="150000"/>
              </a:lnSpc>
              <a:buFont typeface="Arial" panose="020B0604020202020204" pitchFamily="34" charset="0"/>
              <a:buChar char="•"/>
            </a:pPr>
            <a:r>
              <a:rPr lang="en-GB" sz="2000" dirty="0"/>
              <a:t>The process model discussed so far has implied that a process is a program that performs a </a:t>
            </a:r>
            <a:r>
              <a:rPr lang="en-GB" sz="2000" b="1" dirty="0"/>
              <a:t>single</a:t>
            </a:r>
            <a:r>
              <a:rPr lang="en-GB" sz="2000" dirty="0"/>
              <a:t> </a:t>
            </a:r>
            <a:r>
              <a:rPr lang="en-GB" sz="2000" b="1" dirty="0"/>
              <a:t>thread</a:t>
            </a:r>
            <a:r>
              <a:rPr lang="en-GB" sz="2000" dirty="0"/>
              <a:t> of execution. </a:t>
            </a:r>
          </a:p>
          <a:p>
            <a:pPr marL="285750" indent="-285750">
              <a:lnSpc>
                <a:spcPct val="150000"/>
              </a:lnSpc>
              <a:buFont typeface="Arial" panose="020B0604020202020204" pitchFamily="34" charset="0"/>
              <a:buChar char="•"/>
            </a:pPr>
            <a:r>
              <a:rPr lang="en-GB" sz="2000" dirty="0"/>
              <a:t>This single thread of control allows the process to perform only one task at a time. </a:t>
            </a:r>
          </a:p>
          <a:p>
            <a:pPr marL="285750" indent="-285750">
              <a:lnSpc>
                <a:spcPct val="150000"/>
              </a:lnSpc>
              <a:buFont typeface="Arial" panose="020B0604020202020204" pitchFamily="34" charset="0"/>
              <a:buChar char="•"/>
            </a:pPr>
            <a:r>
              <a:rPr lang="en-GB" sz="2000" dirty="0"/>
              <a:t>For example, when a process is running a word-processor program, a single thread of instructions is being executed. Thus, the user cannot simultaneously type in characters and run the spell checker.</a:t>
            </a:r>
          </a:p>
          <a:p>
            <a:pPr marL="285750" indent="-285750">
              <a:lnSpc>
                <a:spcPct val="150000"/>
              </a:lnSpc>
              <a:buFont typeface="Arial" panose="020B0604020202020204" pitchFamily="34" charset="0"/>
              <a:buChar char="•"/>
            </a:pPr>
            <a:endParaRPr lang="en-GB" sz="2000" dirty="0"/>
          </a:p>
          <a:p>
            <a:pPr>
              <a:lnSpc>
                <a:spcPct val="150000"/>
              </a:lnSpc>
            </a:pPr>
            <a:endParaRPr lang="en-US" altLang="en-US" sz="2000" dirty="0"/>
          </a:p>
        </p:txBody>
      </p:sp>
    </p:spTree>
    <p:extLst>
      <p:ext uri="{BB962C8B-B14F-4D97-AF65-F5344CB8AC3E}">
        <p14:creationId xmlns:p14="http://schemas.microsoft.com/office/powerpoint/2010/main" val="1302097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432B-87AD-EEDD-DDC7-2F0A9EE13C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1751B0-5E56-F1F5-0865-D35D9A8996C9}"/>
              </a:ext>
            </a:extLst>
          </p:cNvPr>
          <p:cNvSpPr>
            <a:spLocks noGrp="1"/>
          </p:cNvSpPr>
          <p:nvPr>
            <p:ph type="title"/>
          </p:nvPr>
        </p:nvSpPr>
        <p:spPr>
          <a:xfrm>
            <a:off x="762000" y="318970"/>
            <a:ext cx="10591800" cy="646332"/>
          </a:xfrm>
        </p:spPr>
        <p:txBody>
          <a:bodyPr/>
          <a:lstStyle/>
          <a:p>
            <a:r>
              <a:rPr lang="en-GB" dirty="0"/>
              <a:t>Threads</a:t>
            </a:r>
            <a:endParaRPr lang="en-US" dirty="0"/>
          </a:p>
        </p:txBody>
      </p:sp>
      <p:sp>
        <p:nvSpPr>
          <p:cNvPr id="11" name="Text Placeholder 10">
            <a:extLst>
              <a:ext uri="{FF2B5EF4-FFF2-40B4-BE49-F238E27FC236}">
                <a16:creationId xmlns:a16="http://schemas.microsoft.com/office/drawing/2014/main" id="{A950BE5A-5AAE-BD3C-E6F4-27FFCBB16949}"/>
              </a:ext>
            </a:extLst>
          </p:cNvPr>
          <p:cNvSpPr>
            <a:spLocks noGrp="1"/>
          </p:cNvSpPr>
          <p:nvPr>
            <p:ph type="body" sz="quarter" idx="11"/>
          </p:nvPr>
        </p:nvSpPr>
        <p:spPr>
          <a:xfrm>
            <a:off x="685801" y="1191334"/>
            <a:ext cx="10667999" cy="4957965"/>
          </a:xfrm>
        </p:spPr>
        <p:txBody>
          <a:bodyPr/>
          <a:lstStyle/>
          <a:p>
            <a:pPr marL="285750" indent="-285750">
              <a:lnSpc>
                <a:spcPct val="150000"/>
              </a:lnSpc>
              <a:buFont typeface="Arial" panose="020B0604020202020204" pitchFamily="34" charset="0"/>
              <a:buChar char="•"/>
            </a:pPr>
            <a:r>
              <a:rPr lang="en-GB" sz="2000" dirty="0"/>
              <a:t>Most modern operating systems have extended the process concept to allow a process to have </a:t>
            </a:r>
            <a:r>
              <a:rPr lang="en-GB" sz="2000" b="1" dirty="0"/>
              <a:t>multiple threads </a:t>
            </a:r>
            <a:r>
              <a:rPr lang="en-GB" sz="2000" dirty="0"/>
              <a:t>of execution and thus to </a:t>
            </a:r>
            <a:r>
              <a:rPr lang="en-GB" sz="2000" b="1" dirty="0"/>
              <a:t>perform more than one task at a time</a:t>
            </a:r>
            <a:r>
              <a:rPr lang="en-GB" sz="2000" dirty="0"/>
              <a:t>.</a:t>
            </a:r>
          </a:p>
          <a:p>
            <a:pPr marL="285750" indent="-285750">
              <a:lnSpc>
                <a:spcPct val="150000"/>
              </a:lnSpc>
              <a:buFont typeface="Arial" panose="020B0604020202020204" pitchFamily="34" charset="0"/>
              <a:buChar char="•"/>
            </a:pPr>
            <a:r>
              <a:rPr lang="en-GB" sz="2000" dirty="0"/>
              <a:t> This feature is especially beneficial on multicore systems, where multiple threads can run in parallel.</a:t>
            </a:r>
          </a:p>
          <a:p>
            <a:pPr marL="285750" indent="-285750">
              <a:lnSpc>
                <a:spcPct val="150000"/>
              </a:lnSpc>
              <a:buFont typeface="Arial" panose="020B0604020202020204" pitchFamily="34" charset="0"/>
              <a:buChar char="•"/>
            </a:pPr>
            <a:r>
              <a:rPr lang="en-GB" sz="2000" dirty="0"/>
              <a:t> A multithreaded word processor could, for example, assign one thread to manage user input while another thread runs the spell checker. On systems that support threads, the PCB is expanded to include information for each thread. Other changes throughout the system are also needed to support threads. </a:t>
            </a:r>
          </a:p>
          <a:p>
            <a:pPr marL="285750" indent="-285750">
              <a:lnSpc>
                <a:spcPct val="150000"/>
              </a:lnSpc>
              <a:buFont typeface="Arial" panose="020B0604020202020204" pitchFamily="34" charset="0"/>
              <a:buChar char="•"/>
            </a:pPr>
            <a:endParaRPr lang="en-US" altLang="en-US" sz="2000" dirty="0"/>
          </a:p>
        </p:txBody>
      </p:sp>
    </p:spTree>
    <p:extLst>
      <p:ext uri="{BB962C8B-B14F-4D97-AF65-F5344CB8AC3E}">
        <p14:creationId xmlns:p14="http://schemas.microsoft.com/office/powerpoint/2010/main" val="121594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31D5-58A5-8238-A6D4-20591AB905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96AD85-C415-F906-60B3-80960CD69B78}"/>
              </a:ext>
            </a:extLst>
          </p:cNvPr>
          <p:cNvSpPr>
            <a:spLocks noGrp="1"/>
          </p:cNvSpPr>
          <p:nvPr>
            <p:ph type="title"/>
          </p:nvPr>
        </p:nvSpPr>
        <p:spPr>
          <a:xfrm>
            <a:off x="762000" y="318970"/>
            <a:ext cx="10591800" cy="646332"/>
          </a:xfrm>
        </p:spPr>
        <p:txBody>
          <a:bodyPr/>
          <a:lstStyle/>
          <a:p>
            <a:r>
              <a:rPr lang="en-GB" dirty="0"/>
              <a:t>Process Scheduling</a:t>
            </a:r>
            <a:endParaRPr lang="en-US" dirty="0"/>
          </a:p>
        </p:txBody>
      </p:sp>
      <p:sp>
        <p:nvSpPr>
          <p:cNvPr id="11" name="Text Placeholder 10">
            <a:extLst>
              <a:ext uri="{FF2B5EF4-FFF2-40B4-BE49-F238E27FC236}">
                <a16:creationId xmlns:a16="http://schemas.microsoft.com/office/drawing/2014/main" id="{98B086FA-FD1D-B60B-AE49-2C5E49181ABF}"/>
              </a:ext>
            </a:extLst>
          </p:cNvPr>
          <p:cNvSpPr>
            <a:spLocks noGrp="1"/>
          </p:cNvSpPr>
          <p:nvPr>
            <p:ph type="body" sz="quarter" idx="11"/>
          </p:nvPr>
        </p:nvSpPr>
        <p:spPr>
          <a:xfrm>
            <a:off x="685801" y="1191334"/>
            <a:ext cx="10667999" cy="4957965"/>
          </a:xfrm>
        </p:spPr>
        <p:txBody>
          <a:bodyPr/>
          <a:lstStyle/>
          <a:p>
            <a:pPr marL="285750" indent="-285750">
              <a:lnSpc>
                <a:spcPct val="150000"/>
              </a:lnSpc>
              <a:buFont typeface="Arial" panose="020B0604020202020204" pitchFamily="34" charset="0"/>
              <a:buChar char="•"/>
            </a:pPr>
            <a:r>
              <a:rPr lang="en-GB" sz="2000" dirty="0"/>
              <a:t>Process scheduling is a crucial function of an operating system (OS) that determines </a:t>
            </a:r>
            <a:r>
              <a:rPr lang="en-GB" sz="2000" b="1" dirty="0"/>
              <a:t>which process runs next</a:t>
            </a:r>
            <a:r>
              <a:rPr lang="en-GB" sz="2000" dirty="0"/>
              <a:t> on the CPU. </a:t>
            </a:r>
          </a:p>
          <a:p>
            <a:pPr marL="285750" indent="-285750">
              <a:lnSpc>
                <a:spcPct val="150000"/>
              </a:lnSpc>
              <a:buFont typeface="Arial" panose="020B0604020202020204" pitchFamily="34" charset="0"/>
              <a:buChar char="•"/>
            </a:pPr>
            <a:r>
              <a:rPr lang="en-GB" sz="2000" dirty="0"/>
              <a:t>In a modern multitasking environment, there are usually more processes ready to execute than there are CPU cores available. </a:t>
            </a:r>
          </a:p>
          <a:p>
            <a:pPr marL="285750" indent="-285750">
              <a:lnSpc>
                <a:spcPct val="150000"/>
              </a:lnSpc>
              <a:buFont typeface="Arial" panose="020B0604020202020204" pitchFamily="34" charset="0"/>
              <a:buChar char="•"/>
            </a:pPr>
            <a:r>
              <a:rPr lang="en-GB" sz="2000" dirty="0"/>
              <a:t>The </a:t>
            </a:r>
            <a:r>
              <a:rPr lang="en-GB" sz="2000" b="1" dirty="0"/>
              <a:t>process scheduler</a:t>
            </a:r>
            <a:r>
              <a:rPr lang="en-GB" sz="2000" dirty="0"/>
              <a:t> ensures the CPU is efficiently utilized by deciding the order and duration for which each process runs.</a:t>
            </a:r>
            <a:endParaRPr lang="en-US" altLang="en-US" sz="2000" dirty="0"/>
          </a:p>
        </p:txBody>
      </p:sp>
    </p:spTree>
    <p:extLst>
      <p:ext uri="{BB962C8B-B14F-4D97-AF65-F5344CB8AC3E}">
        <p14:creationId xmlns:p14="http://schemas.microsoft.com/office/powerpoint/2010/main" val="1242520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1E14D-10DA-F2EB-66A3-AFCEBC8135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93E345-3757-B810-8B63-F75E94F6BF51}"/>
              </a:ext>
            </a:extLst>
          </p:cNvPr>
          <p:cNvSpPr>
            <a:spLocks noGrp="1"/>
          </p:cNvSpPr>
          <p:nvPr>
            <p:ph type="title"/>
          </p:nvPr>
        </p:nvSpPr>
        <p:spPr>
          <a:xfrm>
            <a:off x="762000" y="318970"/>
            <a:ext cx="10591800" cy="646332"/>
          </a:xfrm>
        </p:spPr>
        <p:txBody>
          <a:bodyPr/>
          <a:lstStyle/>
          <a:p>
            <a:r>
              <a:rPr lang="en-GB" dirty="0"/>
              <a:t>Process Scheduling</a:t>
            </a:r>
            <a:endParaRPr lang="en-US" dirty="0"/>
          </a:p>
        </p:txBody>
      </p:sp>
      <p:sp>
        <p:nvSpPr>
          <p:cNvPr id="11" name="Text Placeholder 10">
            <a:extLst>
              <a:ext uri="{FF2B5EF4-FFF2-40B4-BE49-F238E27FC236}">
                <a16:creationId xmlns:a16="http://schemas.microsoft.com/office/drawing/2014/main" id="{6F71A807-6386-5327-A67A-B194FC3EBDB5}"/>
              </a:ext>
            </a:extLst>
          </p:cNvPr>
          <p:cNvSpPr>
            <a:spLocks noGrp="1"/>
          </p:cNvSpPr>
          <p:nvPr>
            <p:ph type="body" sz="quarter" idx="11"/>
          </p:nvPr>
        </p:nvSpPr>
        <p:spPr>
          <a:xfrm>
            <a:off x="685801" y="1191334"/>
            <a:ext cx="10667999" cy="4957965"/>
          </a:xfrm>
        </p:spPr>
        <p:txBody>
          <a:bodyPr/>
          <a:lstStyle/>
          <a:p>
            <a:r>
              <a:rPr lang="en-GB" sz="2000" dirty="0"/>
              <a:t>The </a:t>
            </a:r>
            <a:r>
              <a:rPr lang="en-GB" sz="2000" b="1" dirty="0"/>
              <a:t>main goal</a:t>
            </a:r>
            <a:r>
              <a:rPr lang="en-GB" sz="2000" dirty="0"/>
              <a:t> of process scheduling is to:</a:t>
            </a:r>
          </a:p>
          <a:p>
            <a:pPr marL="342900" indent="-342900">
              <a:buFont typeface="Arial" panose="020B0604020202020204" pitchFamily="34" charset="0"/>
              <a:buChar char="•"/>
            </a:pPr>
            <a:r>
              <a:rPr lang="en-GB" sz="2000" dirty="0"/>
              <a:t>Maximize </a:t>
            </a:r>
            <a:r>
              <a:rPr lang="en-GB" sz="2000" b="1" dirty="0"/>
              <a:t>CPU utilization</a:t>
            </a:r>
            <a:r>
              <a:rPr lang="en-GB" sz="2000" dirty="0"/>
              <a:t> (keep the processor busy).</a:t>
            </a:r>
          </a:p>
          <a:p>
            <a:pPr marL="342900" indent="-342900">
              <a:buFont typeface="Arial" panose="020B0604020202020204" pitchFamily="34" charset="0"/>
              <a:buChar char="•"/>
            </a:pPr>
            <a:r>
              <a:rPr lang="en-GB" sz="2000" dirty="0"/>
              <a:t>Provide </a:t>
            </a:r>
            <a:r>
              <a:rPr lang="en-GB" sz="2000" b="1" dirty="0"/>
              <a:t>fairness</a:t>
            </a:r>
            <a:r>
              <a:rPr lang="en-GB" sz="2000" dirty="0"/>
              <a:t> so that every process gets a chance to execute.</a:t>
            </a:r>
          </a:p>
          <a:p>
            <a:pPr marL="342900" indent="-342900">
              <a:buFont typeface="Arial" panose="020B0604020202020204" pitchFamily="34" charset="0"/>
              <a:buChar char="•"/>
            </a:pPr>
            <a:r>
              <a:rPr lang="en-GB" sz="2000" dirty="0"/>
              <a:t>Ensure </a:t>
            </a:r>
            <a:r>
              <a:rPr lang="en-GB" sz="2000" b="1" dirty="0"/>
              <a:t>responsiveness</a:t>
            </a:r>
            <a:r>
              <a:rPr lang="en-GB" sz="2000" dirty="0"/>
              <a:t> in interactive systems.</a:t>
            </a:r>
          </a:p>
          <a:p>
            <a:pPr marL="342900" indent="-342900">
              <a:buFont typeface="Arial" panose="020B0604020202020204" pitchFamily="34" charset="0"/>
              <a:buChar char="•"/>
            </a:pPr>
            <a:r>
              <a:rPr lang="en-GB" sz="2000" dirty="0"/>
              <a:t>Maintain </a:t>
            </a:r>
            <a:r>
              <a:rPr lang="en-GB" sz="2000" b="1" dirty="0"/>
              <a:t>system stability and efficiency</a:t>
            </a:r>
            <a:r>
              <a:rPr lang="en-GB" sz="2000" dirty="0"/>
              <a: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p:txBody>
      </p:sp>
    </p:spTree>
    <p:extLst>
      <p:ext uri="{BB962C8B-B14F-4D97-AF65-F5344CB8AC3E}">
        <p14:creationId xmlns:p14="http://schemas.microsoft.com/office/powerpoint/2010/main" val="349419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993BA-7BEC-1AB7-2839-9985801B1A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06618B-5CBB-D9D7-CF13-9BD0A8590A8C}"/>
              </a:ext>
            </a:extLst>
          </p:cNvPr>
          <p:cNvSpPr>
            <a:spLocks noGrp="1"/>
          </p:cNvSpPr>
          <p:nvPr>
            <p:ph type="title"/>
          </p:nvPr>
        </p:nvSpPr>
        <p:spPr>
          <a:xfrm>
            <a:off x="762000" y="318970"/>
            <a:ext cx="10591800" cy="646332"/>
          </a:xfrm>
        </p:spPr>
        <p:txBody>
          <a:bodyPr/>
          <a:lstStyle/>
          <a:p>
            <a:r>
              <a:rPr lang="en-GB" dirty="0"/>
              <a:t>Process Scheduling</a:t>
            </a:r>
            <a:endParaRPr lang="en-US" dirty="0"/>
          </a:p>
        </p:txBody>
      </p:sp>
      <p:sp>
        <p:nvSpPr>
          <p:cNvPr id="11" name="Text Placeholder 10">
            <a:extLst>
              <a:ext uri="{FF2B5EF4-FFF2-40B4-BE49-F238E27FC236}">
                <a16:creationId xmlns:a16="http://schemas.microsoft.com/office/drawing/2014/main" id="{76690FFC-7B38-8969-ED4E-CF5EE76F9FCC}"/>
              </a:ext>
            </a:extLst>
          </p:cNvPr>
          <p:cNvSpPr>
            <a:spLocks noGrp="1"/>
          </p:cNvSpPr>
          <p:nvPr>
            <p:ph type="body" sz="quarter" idx="11"/>
          </p:nvPr>
        </p:nvSpPr>
        <p:spPr>
          <a:xfrm>
            <a:off x="685801" y="1191334"/>
            <a:ext cx="10667999" cy="4957965"/>
          </a:xfrm>
        </p:spPr>
        <p:txBody>
          <a:bodyPr/>
          <a:lstStyle/>
          <a:p>
            <a:pPr marL="342900" marR="0" lvl="0" indent="-3429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2000" b="1" i="0" u="none" strike="noStrike" kern="1200" cap="none" spc="0" normalizeH="0" baseline="0" noProof="0" dirty="0">
                <a:ln>
                  <a:noFill/>
                </a:ln>
                <a:solidFill>
                  <a:prstClr val="black"/>
                </a:solidFill>
                <a:effectLst/>
                <a:uLnTx/>
                <a:uFillTx/>
                <a:latin typeface="Segoe UI"/>
                <a:ea typeface="+mn-ea"/>
                <a:cs typeface="+mn-cs"/>
              </a:rPr>
              <a:t>Objectives of Process Scheduling</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2000" b="0" i="0" u="none" strike="noStrike" kern="1200" cap="none" spc="0" normalizeH="0" baseline="0" noProof="0" dirty="0">
                <a:ln>
                  <a:noFill/>
                </a:ln>
                <a:solidFill>
                  <a:prstClr val="black"/>
                </a:solidFill>
                <a:effectLst/>
                <a:uLnTx/>
                <a:uFillTx/>
                <a:latin typeface="Segoe UI"/>
                <a:ea typeface="+mn-ea"/>
                <a:cs typeface="+mn-cs"/>
              </a:rPr>
              <a:t>There are two key objectives:</a:t>
            </a:r>
          </a:p>
          <a:p>
            <a:pPr marL="0" marR="0" lvl="0" indent="0" algn="l" defTabSz="914400" rtl="0" eaLnBrk="1" fontAlgn="auto" latinLnBrk="0" hangingPunct="1">
              <a:lnSpc>
                <a:spcPct val="100000"/>
              </a:lnSpc>
              <a:spcBef>
                <a:spcPts val="1000"/>
              </a:spcBef>
              <a:spcAft>
                <a:spcPts val="0"/>
              </a:spcAft>
              <a:buClrTx/>
              <a:buSzTx/>
              <a:buFont typeface="+mj-lt"/>
              <a:buAutoNum type="arabicPeriod"/>
              <a:tabLst/>
              <a:defRPr/>
            </a:pPr>
            <a:r>
              <a:rPr kumimoji="0" lang="en-GB" sz="2000" b="1" i="0" u="none" strike="noStrike" kern="1200" cap="none" spc="0" normalizeH="0" baseline="0" noProof="0" dirty="0">
                <a:ln>
                  <a:noFill/>
                </a:ln>
                <a:solidFill>
                  <a:prstClr val="black"/>
                </a:solidFill>
                <a:effectLst/>
                <a:uLnTx/>
                <a:uFillTx/>
                <a:latin typeface="Segoe UI"/>
                <a:ea typeface="+mn-ea"/>
                <a:cs typeface="+mn-cs"/>
              </a:rPr>
              <a:t>Multiprogramming Objective</a:t>
            </a:r>
            <a:r>
              <a:rPr kumimoji="0" lang="en-GB" sz="2000" b="0" i="0" u="none" strike="noStrike" kern="1200" cap="none" spc="0" normalizeH="0" baseline="0" noProof="0" dirty="0">
                <a:ln>
                  <a:noFill/>
                </a:ln>
                <a:solidFill>
                  <a:prstClr val="black"/>
                </a:solidFill>
                <a:effectLst/>
                <a:uLnTx/>
                <a:uFillTx/>
                <a:latin typeface="Segoe UI"/>
                <a:ea typeface="+mn-ea"/>
                <a:cs typeface="+mn-cs"/>
              </a:rPr>
              <a:t> – to have as many processes as possible in memory so that some process is always ready to run.</a:t>
            </a:r>
          </a:p>
          <a:p>
            <a:pPr marL="0" marR="0" lvl="0" indent="0" algn="l" defTabSz="914400" rtl="0" eaLnBrk="1" fontAlgn="auto" latinLnBrk="0" hangingPunct="1">
              <a:lnSpc>
                <a:spcPct val="100000"/>
              </a:lnSpc>
              <a:spcBef>
                <a:spcPts val="1000"/>
              </a:spcBef>
              <a:spcAft>
                <a:spcPts val="0"/>
              </a:spcAft>
              <a:buClrTx/>
              <a:buSzTx/>
              <a:buFont typeface="+mj-lt"/>
              <a:buAutoNum type="arabicPeriod"/>
              <a:tabLst/>
              <a:defRPr/>
            </a:pPr>
            <a:r>
              <a:rPr kumimoji="0" lang="en-GB" sz="2000" b="1" i="0" u="none" strike="noStrike" kern="1200" cap="none" spc="0" normalizeH="0" baseline="0" noProof="0" dirty="0">
                <a:ln>
                  <a:noFill/>
                </a:ln>
                <a:solidFill>
                  <a:prstClr val="black"/>
                </a:solidFill>
                <a:effectLst/>
                <a:uLnTx/>
                <a:uFillTx/>
                <a:latin typeface="Segoe UI"/>
                <a:ea typeface="+mn-ea"/>
                <a:cs typeface="+mn-cs"/>
              </a:rPr>
              <a:t>Time-sharing Objective</a:t>
            </a:r>
            <a:r>
              <a:rPr kumimoji="0" lang="en-GB" sz="2000" b="0" i="0" u="none" strike="noStrike" kern="1200" cap="none" spc="0" normalizeH="0" baseline="0" noProof="0" dirty="0">
                <a:ln>
                  <a:noFill/>
                </a:ln>
                <a:solidFill>
                  <a:prstClr val="black"/>
                </a:solidFill>
                <a:effectLst/>
                <a:uLnTx/>
                <a:uFillTx/>
                <a:latin typeface="Segoe UI"/>
                <a:ea typeface="+mn-ea"/>
                <a:cs typeface="+mn-cs"/>
              </a:rPr>
              <a:t> – to switch between processes rapidly, giving the illusion that all are running simultaneously.</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2000" b="0" i="0" u="none" strike="noStrike" kern="1200" cap="none" spc="0" normalizeH="0" baseline="0" noProof="0" dirty="0">
                <a:ln>
                  <a:noFill/>
                </a:ln>
                <a:solidFill>
                  <a:prstClr val="black"/>
                </a:solidFill>
                <a:effectLst/>
                <a:uLnTx/>
                <a:uFillTx/>
                <a:latin typeface="Segoe UI"/>
                <a:ea typeface="+mn-ea"/>
                <a:cs typeface="+mn-cs"/>
              </a:rPr>
              <a:t>In short: </a:t>
            </a:r>
            <a:r>
              <a:rPr kumimoji="0" lang="en-GB" sz="2000" b="1" i="0" u="none" strike="noStrike" kern="1200" cap="none" spc="0" normalizeH="0" baseline="0" noProof="0" dirty="0">
                <a:ln>
                  <a:noFill/>
                </a:ln>
                <a:solidFill>
                  <a:prstClr val="black"/>
                </a:solidFill>
                <a:effectLst/>
                <a:uLnTx/>
                <a:uFillTx/>
                <a:latin typeface="Segoe UI"/>
                <a:ea typeface="+mn-ea"/>
                <a:cs typeface="+mn-cs"/>
              </a:rPr>
              <a:t>multiprogramming</a:t>
            </a:r>
            <a:r>
              <a:rPr kumimoji="0" lang="en-GB" sz="2000" b="0" i="0" u="none" strike="noStrike" kern="1200" cap="none" spc="0" normalizeH="0" baseline="0" noProof="0" dirty="0">
                <a:ln>
                  <a:noFill/>
                </a:ln>
                <a:solidFill>
                  <a:prstClr val="black"/>
                </a:solidFill>
                <a:effectLst/>
                <a:uLnTx/>
                <a:uFillTx/>
                <a:latin typeface="Segoe UI"/>
                <a:ea typeface="+mn-ea"/>
                <a:cs typeface="+mn-cs"/>
              </a:rPr>
              <a:t> maximizes throughput, while </a:t>
            </a:r>
            <a:r>
              <a:rPr kumimoji="0" lang="en-GB" sz="2000" b="1" i="0" u="none" strike="noStrike" kern="1200" cap="none" spc="0" normalizeH="0" baseline="0" noProof="0" dirty="0">
                <a:ln>
                  <a:noFill/>
                </a:ln>
                <a:solidFill>
                  <a:prstClr val="black"/>
                </a:solidFill>
                <a:effectLst/>
                <a:uLnTx/>
                <a:uFillTx/>
                <a:latin typeface="Segoe UI"/>
                <a:ea typeface="+mn-ea"/>
                <a:cs typeface="+mn-cs"/>
              </a:rPr>
              <a:t>time-sharing</a:t>
            </a:r>
            <a:r>
              <a:rPr kumimoji="0" lang="en-GB" sz="2000" b="0" i="0" u="none" strike="noStrike" kern="1200" cap="none" spc="0" normalizeH="0" baseline="0" noProof="0" dirty="0">
                <a:ln>
                  <a:noFill/>
                </a:ln>
                <a:solidFill>
                  <a:prstClr val="black"/>
                </a:solidFill>
                <a:effectLst/>
                <a:uLnTx/>
                <a:uFillTx/>
                <a:latin typeface="Segoe UI"/>
                <a:ea typeface="+mn-ea"/>
                <a:cs typeface="+mn-cs"/>
              </a:rPr>
              <a:t> improves responsiveness.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p:txBody>
      </p:sp>
    </p:spTree>
    <p:extLst>
      <p:ext uri="{BB962C8B-B14F-4D97-AF65-F5344CB8AC3E}">
        <p14:creationId xmlns:p14="http://schemas.microsoft.com/office/powerpoint/2010/main" val="2853394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FD410-5878-BFE0-DD40-9581870A0B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8F8AFA-8593-95D1-3857-4BF5EF562BDF}"/>
              </a:ext>
            </a:extLst>
          </p:cNvPr>
          <p:cNvSpPr>
            <a:spLocks noGrp="1"/>
          </p:cNvSpPr>
          <p:nvPr>
            <p:ph type="title"/>
          </p:nvPr>
        </p:nvSpPr>
        <p:spPr>
          <a:xfrm>
            <a:off x="762000" y="318970"/>
            <a:ext cx="10591800" cy="646332"/>
          </a:xfrm>
        </p:spPr>
        <p:txBody>
          <a:bodyPr/>
          <a:lstStyle/>
          <a:p>
            <a:r>
              <a:rPr lang="en-GB" dirty="0"/>
              <a:t>Process Scheduling</a:t>
            </a:r>
            <a:endParaRPr lang="en-US" dirty="0"/>
          </a:p>
        </p:txBody>
      </p:sp>
      <p:sp>
        <p:nvSpPr>
          <p:cNvPr id="11" name="Text Placeholder 10">
            <a:extLst>
              <a:ext uri="{FF2B5EF4-FFF2-40B4-BE49-F238E27FC236}">
                <a16:creationId xmlns:a16="http://schemas.microsoft.com/office/drawing/2014/main" id="{6D17A4BA-20D6-A798-E526-BA06D67AA4DF}"/>
              </a:ext>
            </a:extLst>
          </p:cNvPr>
          <p:cNvSpPr>
            <a:spLocks noGrp="1"/>
          </p:cNvSpPr>
          <p:nvPr>
            <p:ph type="body" sz="quarter" idx="11"/>
          </p:nvPr>
        </p:nvSpPr>
        <p:spPr>
          <a:xfrm>
            <a:off x="685801" y="1191334"/>
            <a:ext cx="10667999" cy="4957965"/>
          </a:xfrm>
        </p:spPr>
        <p:txBody>
          <a:bodyPr/>
          <a:lstStyle/>
          <a:p>
            <a:pPr>
              <a:buNone/>
            </a:pPr>
            <a:r>
              <a:rPr lang="en-GB" sz="2000" b="1" dirty="0"/>
              <a:t>Understanding Processes and CPU Cores</a:t>
            </a:r>
          </a:p>
          <a:p>
            <a:pPr>
              <a:buNone/>
            </a:pPr>
            <a:r>
              <a:rPr lang="en-GB" sz="2000" dirty="0"/>
              <a:t>Each CPU core can handle </a:t>
            </a:r>
            <a:r>
              <a:rPr lang="en-GB" sz="2000" b="1" dirty="0"/>
              <a:t>only one process at a time</a:t>
            </a:r>
            <a:r>
              <a:rPr lang="en-GB" sz="2000" dirty="0"/>
              <a:t>.</a:t>
            </a:r>
          </a:p>
          <a:p>
            <a:pPr>
              <a:buFont typeface="Arial" panose="020B0604020202020204" pitchFamily="34" charset="0"/>
              <a:buChar char="•"/>
            </a:pPr>
            <a:r>
              <a:rPr lang="en-GB" sz="2000" dirty="0"/>
              <a:t>In a </a:t>
            </a:r>
            <a:r>
              <a:rPr lang="en-GB" sz="2000" b="1" dirty="0"/>
              <a:t>single-core system</a:t>
            </a:r>
            <a:r>
              <a:rPr lang="en-GB" sz="2000" dirty="0"/>
              <a:t>, only one process runs, and others wait in a queue.</a:t>
            </a:r>
          </a:p>
          <a:p>
            <a:pPr>
              <a:buFont typeface="Arial" panose="020B0604020202020204" pitchFamily="34" charset="0"/>
              <a:buChar char="•"/>
            </a:pPr>
            <a:r>
              <a:rPr lang="en-GB" sz="2000" dirty="0"/>
              <a:t>In a </a:t>
            </a:r>
            <a:r>
              <a:rPr lang="en-GB" sz="2000" b="1" dirty="0"/>
              <a:t>multi-core system</a:t>
            </a:r>
            <a:r>
              <a:rPr lang="en-GB" sz="2000" dirty="0"/>
              <a:t>, multiple processes can run in parallel — one per core.</a:t>
            </a:r>
          </a:p>
          <a:p>
            <a:pPr>
              <a:buNone/>
            </a:pPr>
            <a:r>
              <a:rPr lang="en-GB" sz="2000" dirty="0"/>
              <a:t>However, when there are more processes than cores, some must </a:t>
            </a:r>
            <a:r>
              <a:rPr lang="en-GB" sz="2000" b="1" dirty="0"/>
              <a:t>wait</a:t>
            </a:r>
            <a:r>
              <a:rPr lang="en-GB" sz="2000" dirty="0"/>
              <a:t>. The OS manages these waiting processes through </a:t>
            </a:r>
            <a:r>
              <a:rPr lang="en-GB" sz="2000" b="1" dirty="0"/>
              <a:t>scheduling queues</a:t>
            </a:r>
            <a:r>
              <a:rPr lang="en-GB" sz="2000" dirty="0"/>
              <a:t>.</a:t>
            </a:r>
          </a:p>
          <a:p>
            <a:pPr>
              <a:buNone/>
            </a:pPr>
            <a:r>
              <a:rPr lang="en-GB" sz="2000" dirty="0"/>
              <a:t>The </a:t>
            </a:r>
            <a:r>
              <a:rPr lang="en-GB" sz="2000" b="1" dirty="0"/>
              <a:t>degree of multiprogramming</a:t>
            </a:r>
            <a:r>
              <a:rPr lang="en-GB" sz="2000" dirty="0"/>
              <a:t> refers to how many processes are currently in memory and competing for CPU time.</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p:txBody>
      </p:sp>
    </p:spTree>
    <p:extLst>
      <p:ext uri="{BB962C8B-B14F-4D97-AF65-F5344CB8AC3E}">
        <p14:creationId xmlns:p14="http://schemas.microsoft.com/office/powerpoint/2010/main" val="115680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4AAD0-FCD3-CE31-D3EF-9B73ADCAEC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4CFB1C-405B-998E-F32D-D9B5C4231EA5}"/>
              </a:ext>
            </a:extLst>
          </p:cNvPr>
          <p:cNvSpPr>
            <a:spLocks noGrp="1"/>
          </p:cNvSpPr>
          <p:nvPr>
            <p:ph type="title"/>
          </p:nvPr>
        </p:nvSpPr>
        <p:spPr>
          <a:xfrm>
            <a:off x="762000" y="318970"/>
            <a:ext cx="10591800" cy="646332"/>
          </a:xfrm>
        </p:spPr>
        <p:txBody>
          <a:bodyPr/>
          <a:lstStyle/>
          <a:p>
            <a:r>
              <a:rPr lang="en-GB" dirty="0"/>
              <a:t>Process Scheduling</a:t>
            </a:r>
            <a:endParaRPr lang="en-US" dirty="0"/>
          </a:p>
        </p:txBody>
      </p:sp>
      <p:sp>
        <p:nvSpPr>
          <p:cNvPr id="11" name="Text Placeholder 10">
            <a:extLst>
              <a:ext uri="{FF2B5EF4-FFF2-40B4-BE49-F238E27FC236}">
                <a16:creationId xmlns:a16="http://schemas.microsoft.com/office/drawing/2014/main" id="{363F0A30-2B8F-B635-E633-F0D935FA6DDB}"/>
              </a:ext>
            </a:extLst>
          </p:cNvPr>
          <p:cNvSpPr>
            <a:spLocks noGrp="1"/>
          </p:cNvSpPr>
          <p:nvPr>
            <p:ph type="body" sz="quarter" idx="11"/>
          </p:nvPr>
        </p:nvSpPr>
        <p:spPr>
          <a:xfrm>
            <a:off x="685801" y="1191334"/>
            <a:ext cx="10667999" cy="4957965"/>
          </a:xfrm>
        </p:spPr>
        <p:txBody>
          <a:bodyPr/>
          <a:lstStyle/>
          <a:p>
            <a:pPr>
              <a:buNone/>
            </a:pPr>
            <a:r>
              <a:rPr lang="en-GB" sz="2000" dirty="0"/>
              <a:t>Types of Processes: I/O-bound vs CPU-bound </a:t>
            </a:r>
          </a:p>
          <a:p>
            <a:pPr>
              <a:buNone/>
            </a:pPr>
            <a:r>
              <a:rPr lang="en-GB" sz="2000" dirty="0"/>
              <a:t>Understanding process </a:t>
            </a:r>
            <a:r>
              <a:rPr lang="en-GB" sz="2000" dirty="0" err="1"/>
              <a:t>behavior</a:t>
            </a:r>
            <a:r>
              <a:rPr lang="en-GB" sz="2000" dirty="0"/>
              <a:t> helps the scheduler make good decisions.</a:t>
            </a:r>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endParaRPr lang="en-GB" sz="2000" dirty="0"/>
          </a:p>
          <a:p>
            <a:pPr>
              <a:buNone/>
            </a:pPr>
            <a:r>
              <a:rPr lang="en-GB" sz="2000" dirty="0"/>
              <a:t>A good scheduler must balance between the two so the CPU is never idle — while one process waits for I/O, another (CPU-bound) process should use the CPU.</a:t>
            </a:r>
          </a:p>
          <a:p>
            <a:pPr marL="342900" indent="-342900">
              <a:buFont typeface="Arial" panose="020B0604020202020204" pitchFamily="34" charset="0"/>
              <a:buChar char="•"/>
            </a:pPr>
            <a:endParaRPr lang="en-GB" sz="2000" dirty="0"/>
          </a:p>
        </p:txBody>
      </p:sp>
      <p:graphicFrame>
        <p:nvGraphicFramePr>
          <p:cNvPr id="2" name="Table 1">
            <a:extLst>
              <a:ext uri="{FF2B5EF4-FFF2-40B4-BE49-F238E27FC236}">
                <a16:creationId xmlns:a16="http://schemas.microsoft.com/office/drawing/2014/main" id="{005FE0F0-7E8D-F744-ABFB-EC4E4B2ADC45}"/>
              </a:ext>
            </a:extLst>
          </p:cNvPr>
          <p:cNvGraphicFramePr>
            <a:graphicFrameLocks noGrp="1"/>
          </p:cNvGraphicFramePr>
          <p:nvPr>
            <p:extLst>
              <p:ext uri="{D42A27DB-BD31-4B8C-83A1-F6EECF244321}">
                <p14:modId xmlns:p14="http://schemas.microsoft.com/office/powerpoint/2010/main" val="3446205010"/>
              </p:ext>
            </p:extLst>
          </p:nvPr>
        </p:nvGraphicFramePr>
        <p:xfrm>
          <a:off x="1001027" y="2190566"/>
          <a:ext cx="7459578" cy="2476867"/>
        </p:xfrm>
        <a:graphic>
          <a:graphicData uri="http://schemas.openxmlformats.org/drawingml/2006/table">
            <a:tbl>
              <a:tblPr firstRow="1" firstCol="1" bandRow="1">
                <a:tableStyleId>{46F890A9-2807-4EBB-B81D-B2AA78EC7F39}</a:tableStyleId>
              </a:tblPr>
              <a:tblGrid>
                <a:gridCol w="2486526">
                  <a:extLst>
                    <a:ext uri="{9D8B030D-6E8A-4147-A177-3AD203B41FA5}">
                      <a16:colId xmlns:a16="http://schemas.microsoft.com/office/drawing/2014/main" val="3512714200"/>
                    </a:ext>
                  </a:extLst>
                </a:gridCol>
                <a:gridCol w="2486526">
                  <a:extLst>
                    <a:ext uri="{9D8B030D-6E8A-4147-A177-3AD203B41FA5}">
                      <a16:colId xmlns:a16="http://schemas.microsoft.com/office/drawing/2014/main" val="4102036406"/>
                    </a:ext>
                  </a:extLst>
                </a:gridCol>
                <a:gridCol w="2486526">
                  <a:extLst>
                    <a:ext uri="{9D8B030D-6E8A-4147-A177-3AD203B41FA5}">
                      <a16:colId xmlns:a16="http://schemas.microsoft.com/office/drawing/2014/main" val="942005784"/>
                    </a:ext>
                  </a:extLst>
                </a:gridCol>
              </a:tblGrid>
              <a:tr h="485029">
                <a:tc>
                  <a:txBody>
                    <a:bodyPr/>
                    <a:lstStyle/>
                    <a:p>
                      <a:pPr>
                        <a:lnSpc>
                          <a:spcPct val="107000"/>
                        </a:lnSpc>
                        <a:spcAft>
                          <a:spcPts val="800"/>
                        </a:spcAft>
                        <a:buNone/>
                      </a:pPr>
                      <a:r>
                        <a:rPr lang="en-GB" sz="1600" kern="100" dirty="0">
                          <a:effectLst/>
                        </a:rPr>
                        <a:t>Type</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600" kern="100">
                          <a:effectLst/>
                        </a:rPr>
                        <a:t>Description</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600" kern="100">
                          <a:effectLst/>
                        </a:rPr>
                        <a:t>Example</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6771919"/>
                  </a:ext>
                </a:extLst>
              </a:tr>
              <a:tr h="995919">
                <a:tc>
                  <a:txBody>
                    <a:bodyPr/>
                    <a:lstStyle/>
                    <a:p>
                      <a:pPr>
                        <a:lnSpc>
                          <a:spcPct val="107000"/>
                        </a:lnSpc>
                        <a:spcAft>
                          <a:spcPts val="800"/>
                        </a:spcAft>
                        <a:buNone/>
                      </a:pPr>
                      <a:r>
                        <a:rPr lang="en-GB" sz="1600" kern="100">
                          <a:effectLst/>
                        </a:rPr>
                        <a:t>I/O-bound</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600" kern="100">
                          <a:effectLst/>
                        </a:rPr>
                        <a:t>Spends most time waiting for I/O operations (keyboard, disk, network).</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600" kern="100">
                          <a:effectLst/>
                        </a:rPr>
                        <a:t>Word processor, web browser.</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9938720"/>
                  </a:ext>
                </a:extLst>
              </a:tr>
              <a:tr h="995919">
                <a:tc>
                  <a:txBody>
                    <a:bodyPr/>
                    <a:lstStyle/>
                    <a:p>
                      <a:pPr>
                        <a:lnSpc>
                          <a:spcPct val="107000"/>
                        </a:lnSpc>
                        <a:spcAft>
                          <a:spcPts val="800"/>
                        </a:spcAft>
                        <a:buNone/>
                      </a:pPr>
                      <a:r>
                        <a:rPr lang="en-GB" sz="1600" kern="100">
                          <a:effectLst/>
                        </a:rPr>
                        <a:t>CPU-bound</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600" kern="100">
                          <a:effectLst/>
                        </a:rPr>
                        <a:t>Spends most time performing calculations and logic.</a:t>
                      </a:r>
                      <a:endParaRPr lang="en-GB"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GB" sz="1600" kern="100" dirty="0">
                          <a:effectLst/>
                        </a:rPr>
                        <a:t>Video encoding, scientific simulations.</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6129585"/>
                  </a:ext>
                </a:extLst>
              </a:tr>
            </a:tbl>
          </a:graphicData>
        </a:graphic>
      </p:graphicFrame>
    </p:spTree>
    <p:extLst>
      <p:ext uri="{BB962C8B-B14F-4D97-AF65-F5344CB8AC3E}">
        <p14:creationId xmlns:p14="http://schemas.microsoft.com/office/powerpoint/2010/main" val="7543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78173-8436-47A5-0D86-84031ED3DF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3CF18A-66C0-D410-D2EE-47CF82B4A380}"/>
              </a:ext>
            </a:extLst>
          </p:cNvPr>
          <p:cNvSpPr>
            <a:spLocks noGrp="1"/>
          </p:cNvSpPr>
          <p:nvPr>
            <p:ph type="title"/>
          </p:nvPr>
        </p:nvSpPr>
        <p:spPr>
          <a:xfrm>
            <a:off x="762000" y="318970"/>
            <a:ext cx="10591800" cy="646332"/>
          </a:xfrm>
        </p:spPr>
        <p:txBody>
          <a:bodyPr/>
          <a:lstStyle/>
          <a:p>
            <a:r>
              <a:rPr lang="en-GB" dirty="0"/>
              <a:t>Scheduling Queues</a:t>
            </a:r>
            <a:endParaRPr lang="en-US" dirty="0"/>
          </a:p>
        </p:txBody>
      </p:sp>
      <p:sp>
        <p:nvSpPr>
          <p:cNvPr id="11" name="Text Placeholder 10">
            <a:extLst>
              <a:ext uri="{FF2B5EF4-FFF2-40B4-BE49-F238E27FC236}">
                <a16:creationId xmlns:a16="http://schemas.microsoft.com/office/drawing/2014/main" id="{A0A07B47-8303-6C0D-D59F-75E50336A5F9}"/>
              </a:ext>
            </a:extLst>
          </p:cNvPr>
          <p:cNvSpPr>
            <a:spLocks noGrp="1"/>
          </p:cNvSpPr>
          <p:nvPr>
            <p:ph type="body" sz="quarter" idx="11"/>
          </p:nvPr>
        </p:nvSpPr>
        <p:spPr>
          <a:xfrm>
            <a:off x="685801" y="1191334"/>
            <a:ext cx="10667999" cy="4957965"/>
          </a:xfrm>
        </p:spPr>
        <p:txBody>
          <a:bodyPr/>
          <a:lstStyle/>
          <a:p>
            <a:pPr>
              <a:buNone/>
            </a:pPr>
            <a:r>
              <a:rPr lang="en-GB" dirty="0"/>
              <a:t>When a process enters the system, it passes through several queues:</a:t>
            </a:r>
          </a:p>
          <a:p>
            <a:pPr>
              <a:buFont typeface="+mj-lt"/>
              <a:buAutoNum type="arabicPeriod"/>
            </a:pPr>
            <a:r>
              <a:rPr lang="en-GB" b="1" dirty="0"/>
              <a:t>Ready Queue</a:t>
            </a:r>
            <a:r>
              <a:rPr lang="en-GB" dirty="0"/>
              <a:t> – holds processes waiting to use the CPU.</a:t>
            </a:r>
          </a:p>
          <a:p>
            <a:pPr marL="742950" lvl="1" indent="-285750">
              <a:buFont typeface="+mj-lt"/>
              <a:buAutoNum type="arabicPeriod"/>
            </a:pPr>
            <a:r>
              <a:rPr lang="en-GB" dirty="0"/>
              <a:t>Typically stored as a </a:t>
            </a:r>
            <a:r>
              <a:rPr lang="en-GB" b="1" dirty="0"/>
              <a:t>linked list</a:t>
            </a:r>
            <a:r>
              <a:rPr lang="en-GB" dirty="0"/>
              <a:t>.(processes are stored as nodes of the linked list)</a:t>
            </a:r>
          </a:p>
          <a:p>
            <a:pPr marL="742950" lvl="1" indent="-285750">
              <a:buFont typeface="+mj-lt"/>
              <a:buAutoNum type="arabicPeriod"/>
            </a:pPr>
            <a:r>
              <a:rPr lang="en-GB" dirty="0"/>
              <a:t>Each node is a </a:t>
            </a:r>
            <a:r>
              <a:rPr lang="en-GB" b="1" dirty="0"/>
              <a:t>Process Control Block (PCB)</a:t>
            </a:r>
            <a:r>
              <a:rPr lang="en-GB" dirty="0"/>
              <a:t> that stores process details (state, registers, memory info, etc.).</a:t>
            </a:r>
          </a:p>
          <a:p>
            <a:pPr>
              <a:buFont typeface="+mj-lt"/>
              <a:buAutoNum type="arabicPeriod"/>
            </a:pPr>
            <a:r>
              <a:rPr lang="en-GB" b="1" dirty="0"/>
              <a:t>Wait Queue</a:t>
            </a:r>
            <a:r>
              <a:rPr lang="en-GB" dirty="0"/>
              <a:t> – holds processes waiting for a specific event, like completion of I/O or a child process.</a:t>
            </a:r>
          </a:p>
          <a:p>
            <a:pPr>
              <a:buFont typeface="+mj-lt"/>
              <a:buAutoNum type="arabicPeriod"/>
            </a:pPr>
            <a:r>
              <a:rPr lang="en-GB" b="1" dirty="0"/>
              <a:t>Job Queue</a:t>
            </a:r>
            <a:r>
              <a:rPr lang="en-GB" dirty="0"/>
              <a:t> – contains all processes in the system (ready, waiting, etc.).</a:t>
            </a:r>
          </a:p>
          <a:p>
            <a:pPr>
              <a:buNone/>
            </a:pPr>
            <a:r>
              <a:rPr lang="en-GB" b="1" dirty="0"/>
              <a:t>Queueing Diagram Example:</a:t>
            </a:r>
            <a:endParaRPr lang="en-GB" dirty="0"/>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p:txBody>
      </p:sp>
    </p:spTree>
    <p:extLst>
      <p:ext uri="{BB962C8B-B14F-4D97-AF65-F5344CB8AC3E}">
        <p14:creationId xmlns:p14="http://schemas.microsoft.com/office/powerpoint/2010/main" val="256293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DECCA-D78A-97AB-022A-391EF2CE6C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FCCE1D-E06D-FD0A-34FD-EB09E5B1EB43}"/>
              </a:ext>
            </a:extLst>
          </p:cNvPr>
          <p:cNvSpPr>
            <a:spLocks noGrp="1"/>
          </p:cNvSpPr>
          <p:nvPr>
            <p:ph type="title"/>
          </p:nvPr>
        </p:nvSpPr>
        <p:spPr>
          <a:xfrm>
            <a:off x="762000" y="318970"/>
            <a:ext cx="10591800" cy="646332"/>
          </a:xfrm>
        </p:spPr>
        <p:txBody>
          <a:bodyPr/>
          <a:lstStyle/>
          <a:p>
            <a:r>
              <a:rPr lang="en-GB" dirty="0"/>
              <a:t>Queueing Diagram Example</a:t>
            </a:r>
            <a:endParaRPr lang="en-US" dirty="0"/>
          </a:p>
        </p:txBody>
      </p:sp>
      <p:sp>
        <p:nvSpPr>
          <p:cNvPr id="11" name="Text Placeholder 10">
            <a:extLst>
              <a:ext uri="{FF2B5EF4-FFF2-40B4-BE49-F238E27FC236}">
                <a16:creationId xmlns:a16="http://schemas.microsoft.com/office/drawing/2014/main" id="{5E717245-DE48-9C60-A450-78A60D293686}"/>
              </a:ext>
            </a:extLst>
          </p:cNvPr>
          <p:cNvSpPr>
            <a:spLocks noGrp="1"/>
          </p:cNvSpPr>
          <p:nvPr>
            <p:ph type="body" sz="quarter" idx="11"/>
          </p:nvPr>
        </p:nvSpPr>
        <p:spPr>
          <a:xfrm>
            <a:off x="685801" y="1191334"/>
            <a:ext cx="10667999" cy="4957965"/>
          </a:xfrm>
        </p:spPr>
        <p:txBody>
          <a:bodyPr/>
          <a:lstStyle/>
          <a:p>
            <a:pPr>
              <a:buNone/>
            </a:pPr>
            <a:endParaRPr lang="en-GB" dirty="0"/>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endParaRPr lang="en-GB" sz="2000" dirty="0"/>
          </a:p>
        </p:txBody>
      </p:sp>
      <p:pic>
        <p:nvPicPr>
          <p:cNvPr id="3" name="Picture 2">
            <a:extLst>
              <a:ext uri="{FF2B5EF4-FFF2-40B4-BE49-F238E27FC236}">
                <a16:creationId xmlns:a16="http://schemas.microsoft.com/office/drawing/2014/main" id="{08D0F0BE-DE0B-8DE3-BF64-E0060086F8A2}"/>
              </a:ext>
            </a:extLst>
          </p:cNvPr>
          <p:cNvPicPr>
            <a:picLocks noChangeAspect="1"/>
          </p:cNvPicPr>
          <p:nvPr/>
        </p:nvPicPr>
        <p:blipFill>
          <a:blip r:embed="rId3"/>
          <a:stretch>
            <a:fillRect/>
          </a:stretch>
        </p:blipFill>
        <p:spPr>
          <a:xfrm>
            <a:off x="1616294" y="965302"/>
            <a:ext cx="8591891" cy="4764505"/>
          </a:xfrm>
          <a:prstGeom prst="rect">
            <a:avLst/>
          </a:prstGeom>
        </p:spPr>
      </p:pic>
    </p:spTree>
    <p:extLst>
      <p:ext uri="{BB962C8B-B14F-4D97-AF65-F5344CB8AC3E}">
        <p14:creationId xmlns:p14="http://schemas.microsoft.com/office/powerpoint/2010/main" val="161304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2AEFF-A317-84B0-F993-BD2E2E1934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4F120F-5218-451D-DA59-8C6A59667A2F}"/>
              </a:ext>
            </a:extLst>
          </p:cNvPr>
          <p:cNvSpPr>
            <a:spLocks noGrp="1"/>
          </p:cNvSpPr>
          <p:nvPr>
            <p:ph type="title"/>
          </p:nvPr>
        </p:nvSpPr>
        <p:spPr>
          <a:xfrm>
            <a:off x="762000" y="318970"/>
            <a:ext cx="10591800" cy="646332"/>
          </a:xfrm>
        </p:spPr>
        <p:txBody>
          <a:bodyPr/>
          <a:lstStyle/>
          <a:p>
            <a:r>
              <a:rPr lang="en-GB" dirty="0"/>
              <a:t>Scheduling Queues</a:t>
            </a:r>
            <a:endParaRPr lang="en-US" dirty="0"/>
          </a:p>
        </p:txBody>
      </p:sp>
      <p:sp>
        <p:nvSpPr>
          <p:cNvPr id="11" name="Text Placeholder 10">
            <a:extLst>
              <a:ext uri="{FF2B5EF4-FFF2-40B4-BE49-F238E27FC236}">
                <a16:creationId xmlns:a16="http://schemas.microsoft.com/office/drawing/2014/main" id="{917C6D55-4C98-52F6-381E-8D401925F1AD}"/>
              </a:ext>
            </a:extLst>
          </p:cNvPr>
          <p:cNvSpPr>
            <a:spLocks noGrp="1"/>
          </p:cNvSpPr>
          <p:nvPr>
            <p:ph type="body" sz="quarter" idx="11"/>
          </p:nvPr>
        </p:nvSpPr>
        <p:spPr>
          <a:xfrm>
            <a:off x="685801" y="1191334"/>
            <a:ext cx="10667999" cy="4957965"/>
          </a:xfrm>
        </p:spPr>
        <p:txBody>
          <a:bodyPr/>
          <a:lstStyle/>
          <a:p>
            <a:pPr>
              <a:buNone/>
            </a:pPr>
            <a:r>
              <a:rPr lang="en-GB" sz="2000" dirty="0"/>
              <a:t>Once the process is allocated a CPU core and is executing, one of several events could occur:</a:t>
            </a:r>
          </a:p>
          <a:p>
            <a:pPr>
              <a:buNone/>
            </a:pPr>
            <a:endParaRPr lang="en-GB" sz="2000" dirty="0"/>
          </a:p>
          <a:p>
            <a:pPr marL="285750" indent="-285750">
              <a:buFont typeface="Arial" panose="020B0604020202020204" pitchFamily="34" charset="0"/>
              <a:buChar char="•"/>
            </a:pPr>
            <a:r>
              <a:rPr lang="en-GB" sz="2000" dirty="0"/>
              <a:t>The process could issue an I/O request and then be placed in an I/O wait queue.</a:t>
            </a:r>
          </a:p>
          <a:p>
            <a:pPr>
              <a:buNone/>
            </a:pPr>
            <a:r>
              <a:rPr lang="en-GB" sz="2000" dirty="0"/>
              <a:t>• The process could create a new child process and then be placed in a wait queue while it awaits the child’s termination.</a:t>
            </a:r>
          </a:p>
          <a:p>
            <a:pPr>
              <a:buNone/>
            </a:pPr>
            <a:r>
              <a:rPr lang="en-GB" sz="2000" dirty="0"/>
              <a:t>• The process could be removed forcibly from the core, as a result of an interrupt or having its time slice expire, and be put back in the ready queue.</a:t>
            </a:r>
          </a:p>
          <a:p>
            <a:pPr>
              <a:buNone/>
            </a:pPr>
            <a:endParaRPr lang="en-GB" sz="2000" dirty="0"/>
          </a:p>
          <a:p>
            <a:pPr>
              <a:buNone/>
            </a:pPr>
            <a:r>
              <a:rPr lang="en-GB" sz="2000" dirty="0"/>
              <a:t>In the first two cases, the process eventually switches from the waiting state to the ready state and is then put back in the ready queue. A process continues this cycle until it terminates, at which time it is removed from all queues and has its PCB and resources deallocated</a:t>
            </a:r>
            <a:endParaRPr lang="en-GB" sz="2400" dirty="0"/>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3465307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111F6-E6F8-4E91-5CB2-8074D7E975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E854CF-27D4-31A1-AEED-4132C8C28565}"/>
              </a:ext>
            </a:extLst>
          </p:cNvPr>
          <p:cNvSpPr>
            <a:spLocks noGrp="1"/>
          </p:cNvSpPr>
          <p:nvPr>
            <p:ph type="title"/>
          </p:nvPr>
        </p:nvSpPr>
        <p:spPr>
          <a:xfrm>
            <a:off x="762000" y="318970"/>
            <a:ext cx="10591800" cy="646332"/>
          </a:xfrm>
        </p:spPr>
        <p:txBody>
          <a:bodyPr/>
          <a:lstStyle/>
          <a:p>
            <a:r>
              <a:rPr lang="en-GB" dirty="0"/>
              <a:t>CPU Scheduling</a:t>
            </a:r>
            <a:endParaRPr lang="en-US" dirty="0"/>
          </a:p>
        </p:txBody>
      </p:sp>
      <p:sp>
        <p:nvSpPr>
          <p:cNvPr id="11" name="Text Placeholder 10">
            <a:extLst>
              <a:ext uri="{FF2B5EF4-FFF2-40B4-BE49-F238E27FC236}">
                <a16:creationId xmlns:a16="http://schemas.microsoft.com/office/drawing/2014/main" id="{426E12FA-4719-B1D3-7F0F-30A7355B5B51}"/>
              </a:ext>
            </a:extLst>
          </p:cNvPr>
          <p:cNvSpPr>
            <a:spLocks noGrp="1"/>
          </p:cNvSpPr>
          <p:nvPr>
            <p:ph type="body" sz="quarter" idx="11"/>
          </p:nvPr>
        </p:nvSpPr>
        <p:spPr>
          <a:xfrm>
            <a:off x="685801" y="1191334"/>
            <a:ext cx="10667999" cy="4957965"/>
          </a:xfrm>
        </p:spPr>
        <p:txBody>
          <a:bodyPr/>
          <a:lstStyle/>
          <a:p>
            <a:pPr marL="342900" indent="-342900">
              <a:buFont typeface="Arial" panose="020B0604020202020204" pitchFamily="34" charset="0"/>
              <a:buChar char="•"/>
            </a:pPr>
            <a:r>
              <a:rPr lang="en-GB" sz="2000" dirty="0"/>
              <a:t>Processes move between the ready queue and I/O wait queues during execution.</a:t>
            </a:r>
          </a:p>
          <a:p>
            <a:pPr marL="342900" indent="-342900">
              <a:buFont typeface="Arial" panose="020B0604020202020204" pitchFamily="34" charset="0"/>
              <a:buChar char="•"/>
            </a:pPr>
            <a:r>
              <a:rPr lang="en-GB" sz="2000" dirty="0"/>
              <a:t>The CPU scheduler selects one process from the ready queue and assigns it to a CPU core.</a:t>
            </a:r>
          </a:p>
          <a:p>
            <a:r>
              <a:rPr lang="en-GB" sz="2000" dirty="0"/>
              <a:t>I/O-bound processes:</a:t>
            </a:r>
          </a:p>
          <a:p>
            <a:pPr marL="571500" lvl="1" indent="-342900"/>
            <a:r>
              <a:rPr lang="en-GB" sz="2000" dirty="0"/>
              <a:t>Run briefly, then wait for I/O.</a:t>
            </a:r>
          </a:p>
          <a:p>
            <a:pPr marL="342900" indent="-342900"/>
            <a:r>
              <a:rPr lang="en-GB" sz="2000" dirty="0"/>
              <a:t>CPU-bound processes:</a:t>
            </a:r>
          </a:p>
          <a:p>
            <a:pPr marL="571500" lvl="1" indent="-342900"/>
            <a:r>
              <a:rPr lang="en-GB" sz="2000" dirty="0"/>
              <a:t>Need the CPU longer, but are periodically pre-empted to ensure fairness.</a:t>
            </a:r>
          </a:p>
          <a:p>
            <a:pPr marL="571500" lvl="1" indent="-342900"/>
            <a:r>
              <a:rPr lang="en-GB" sz="2000" dirty="0"/>
              <a:t>The scheduler typically runs every few milliseconds (often &lt; 100 </a:t>
            </a:r>
            <a:r>
              <a:rPr lang="en-GB" sz="2000" dirty="0" err="1"/>
              <a:t>ms</a:t>
            </a:r>
            <a:r>
              <a:rPr lang="en-GB" sz="2000" dirty="0"/>
              <a:t>) to switch between processes.</a:t>
            </a:r>
          </a:p>
          <a:p>
            <a:pPr marL="571500" lvl="1" indent="-342900"/>
            <a:r>
              <a:rPr lang="en-GB" sz="2000" dirty="0"/>
              <a:t>When a process finishes, it is removed from all queues, and its resources are released.</a:t>
            </a:r>
            <a:endParaRPr lang="en-GB" sz="2400" dirty="0"/>
          </a:p>
        </p:txBody>
      </p:sp>
    </p:spTree>
    <p:extLst>
      <p:ext uri="{BB962C8B-B14F-4D97-AF65-F5344CB8AC3E}">
        <p14:creationId xmlns:p14="http://schemas.microsoft.com/office/powerpoint/2010/main" val="132372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02554-717C-1973-5583-4E84ED4AB8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0C057B-8456-542A-E845-F833252381B9}"/>
              </a:ext>
            </a:extLst>
          </p:cNvPr>
          <p:cNvSpPr>
            <a:spLocks noGrp="1"/>
          </p:cNvSpPr>
          <p:nvPr>
            <p:ph type="title"/>
          </p:nvPr>
        </p:nvSpPr>
        <p:spPr>
          <a:xfrm>
            <a:off x="762000" y="213093"/>
            <a:ext cx="10591800" cy="646332"/>
          </a:xfrm>
        </p:spPr>
        <p:txBody>
          <a:bodyPr/>
          <a:lstStyle/>
          <a:p>
            <a:r>
              <a:rPr lang="en-GB" dirty="0"/>
              <a:t>CPU Scheduling</a:t>
            </a:r>
            <a:endParaRPr lang="en-US" dirty="0"/>
          </a:p>
        </p:txBody>
      </p:sp>
      <p:sp>
        <p:nvSpPr>
          <p:cNvPr id="11" name="Text Placeholder 10">
            <a:extLst>
              <a:ext uri="{FF2B5EF4-FFF2-40B4-BE49-F238E27FC236}">
                <a16:creationId xmlns:a16="http://schemas.microsoft.com/office/drawing/2014/main" id="{2BC500D6-0160-92B7-5C3F-1482097AE92F}"/>
              </a:ext>
            </a:extLst>
          </p:cNvPr>
          <p:cNvSpPr>
            <a:spLocks noGrp="1"/>
          </p:cNvSpPr>
          <p:nvPr>
            <p:ph type="body" sz="quarter" idx="11"/>
          </p:nvPr>
        </p:nvSpPr>
        <p:spPr>
          <a:xfrm>
            <a:off x="685801" y="859425"/>
            <a:ext cx="10667999" cy="4728203"/>
          </a:xfrm>
        </p:spPr>
        <p:txBody>
          <a:bodyPr/>
          <a:lstStyle/>
          <a:p>
            <a:pPr>
              <a:buNone/>
            </a:pPr>
            <a:r>
              <a:rPr lang="en-GB" sz="2000" b="1" dirty="0"/>
              <a:t>Purpose of CPU Scheduling</a:t>
            </a:r>
          </a:p>
          <a:p>
            <a:pPr>
              <a:buNone/>
            </a:pPr>
            <a:r>
              <a:rPr lang="en-GB" sz="2000" dirty="0"/>
              <a:t>In a </a:t>
            </a:r>
            <a:r>
              <a:rPr lang="en-GB" sz="2000" dirty="0" err="1"/>
              <a:t>multiprogrammed</a:t>
            </a:r>
            <a:r>
              <a:rPr lang="en-GB" sz="2000" dirty="0"/>
              <a:t> system, multiple processes are waiting to use the CPU. Since only one process can use a core at a time, the scheduler ensures that:</a:t>
            </a:r>
          </a:p>
          <a:p>
            <a:pPr>
              <a:buFont typeface="Arial" panose="020B0604020202020204" pitchFamily="34" charset="0"/>
              <a:buChar char="•"/>
            </a:pPr>
            <a:r>
              <a:rPr lang="en-GB" sz="2000" dirty="0"/>
              <a:t>The CPU is never idle while there are runnable processes.</a:t>
            </a:r>
          </a:p>
          <a:p>
            <a:pPr>
              <a:buFont typeface="Arial" panose="020B0604020202020204" pitchFamily="34" charset="0"/>
              <a:buChar char="•"/>
            </a:pPr>
            <a:r>
              <a:rPr lang="en-GB" sz="2000" dirty="0"/>
              <a:t>Each process gets a fair share of processing time.</a:t>
            </a:r>
          </a:p>
          <a:p>
            <a:pPr>
              <a:buFont typeface="Arial" panose="020B0604020202020204" pitchFamily="34" charset="0"/>
              <a:buChar char="•"/>
            </a:pPr>
            <a:r>
              <a:rPr lang="en-GB" sz="2000" dirty="0"/>
              <a:t>High-priority or time-sensitive processes (like user interactions) get quicker responses.</a:t>
            </a:r>
          </a:p>
          <a:p>
            <a:pPr>
              <a:buFont typeface="Arial" panose="020B0604020202020204" pitchFamily="34" charset="0"/>
              <a:buChar char="•"/>
            </a:pPr>
            <a:endParaRPr lang="en-GB" sz="2000" dirty="0"/>
          </a:p>
          <a:p>
            <a:pPr>
              <a:buNone/>
            </a:pPr>
            <a:r>
              <a:rPr lang="en-GB" sz="2000" dirty="0"/>
              <a:t>Scheduling decisions occur when a process:</a:t>
            </a:r>
          </a:p>
          <a:p>
            <a:pPr>
              <a:buFont typeface="+mj-lt"/>
              <a:buAutoNum type="arabicPeriod"/>
            </a:pPr>
            <a:r>
              <a:rPr lang="en-GB" sz="2000" b="1" dirty="0"/>
              <a:t>Switches from running to waiting state</a:t>
            </a:r>
            <a:r>
              <a:rPr lang="en-GB" sz="2000" dirty="0"/>
              <a:t> (e.g., waits for I/O).</a:t>
            </a:r>
          </a:p>
          <a:p>
            <a:pPr>
              <a:buFont typeface="+mj-lt"/>
              <a:buAutoNum type="arabicPeriod"/>
            </a:pPr>
            <a:r>
              <a:rPr lang="en-GB" sz="2000" b="1" dirty="0"/>
              <a:t>Switches from running to ready state</a:t>
            </a:r>
            <a:r>
              <a:rPr lang="en-GB" sz="2000" dirty="0"/>
              <a:t> (e.g., time slice expires).</a:t>
            </a:r>
          </a:p>
          <a:p>
            <a:pPr>
              <a:buFont typeface="+mj-lt"/>
              <a:buAutoNum type="arabicPeriod"/>
            </a:pPr>
            <a:r>
              <a:rPr lang="en-GB" sz="2000" b="1" dirty="0"/>
              <a:t>Switches from waiting to ready state</a:t>
            </a:r>
            <a:r>
              <a:rPr lang="en-GB" sz="2000" dirty="0"/>
              <a:t> (e.g., I/O completes).</a:t>
            </a:r>
          </a:p>
          <a:p>
            <a:pPr>
              <a:buFont typeface="+mj-lt"/>
              <a:buAutoNum type="arabicPeriod"/>
            </a:pPr>
            <a:r>
              <a:rPr lang="en-GB" sz="2000" b="1" dirty="0"/>
              <a:t>Terminates.</a:t>
            </a:r>
            <a:endParaRPr lang="en-GB" sz="2000" dirty="0"/>
          </a:p>
          <a:p>
            <a:endParaRPr lang="en-GB" sz="2000" dirty="0"/>
          </a:p>
        </p:txBody>
      </p:sp>
    </p:spTree>
    <p:extLst>
      <p:ext uri="{BB962C8B-B14F-4D97-AF65-F5344CB8AC3E}">
        <p14:creationId xmlns:p14="http://schemas.microsoft.com/office/powerpoint/2010/main" val="2245273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538A2-AA00-4586-CE9C-7471AC1ABC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EDB934-1210-4172-0B2A-846BAEE4DA74}"/>
              </a:ext>
            </a:extLst>
          </p:cNvPr>
          <p:cNvSpPr>
            <a:spLocks noGrp="1"/>
          </p:cNvSpPr>
          <p:nvPr>
            <p:ph type="title"/>
          </p:nvPr>
        </p:nvSpPr>
        <p:spPr>
          <a:xfrm>
            <a:off x="762000" y="213093"/>
            <a:ext cx="10591800" cy="646332"/>
          </a:xfrm>
        </p:spPr>
        <p:txBody>
          <a:bodyPr/>
          <a:lstStyle/>
          <a:p>
            <a:r>
              <a:rPr lang="en-GB" dirty="0"/>
              <a:t>CPU Scheduling</a:t>
            </a:r>
            <a:endParaRPr lang="en-US" dirty="0"/>
          </a:p>
        </p:txBody>
      </p:sp>
      <p:sp>
        <p:nvSpPr>
          <p:cNvPr id="11" name="Text Placeholder 10">
            <a:extLst>
              <a:ext uri="{FF2B5EF4-FFF2-40B4-BE49-F238E27FC236}">
                <a16:creationId xmlns:a16="http://schemas.microsoft.com/office/drawing/2014/main" id="{EE418075-0279-FAA0-41B3-004C442C406E}"/>
              </a:ext>
            </a:extLst>
          </p:cNvPr>
          <p:cNvSpPr>
            <a:spLocks noGrp="1"/>
          </p:cNvSpPr>
          <p:nvPr>
            <p:ph type="body" sz="quarter" idx="11"/>
          </p:nvPr>
        </p:nvSpPr>
        <p:spPr>
          <a:xfrm>
            <a:off x="685801" y="859425"/>
            <a:ext cx="10667999" cy="4728203"/>
          </a:xfrm>
        </p:spPr>
        <p:txBody>
          <a:bodyPr/>
          <a:lstStyle/>
          <a:p>
            <a:pPr>
              <a:buNone/>
            </a:pPr>
            <a:r>
              <a:rPr lang="en-GB" sz="2000" b="1" dirty="0" err="1"/>
              <a:t>Preemptive</a:t>
            </a:r>
            <a:r>
              <a:rPr lang="en-GB" sz="2000" b="1" dirty="0"/>
              <a:t> vs. Non-</a:t>
            </a:r>
            <a:r>
              <a:rPr lang="en-GB" sz="2000" b="1" dirty="0" err="1"/>
              <a:t>Preemptive</a:t>
            </a:r>
            <a:r>
              <a:rPr lang="en-GB" sz="2000" b="1" dirty="0"/>
              <a:t> Scheduling</a:t>
            </a:r>
          </a:p>
          <a:p>
            <a:pPr>
              <a:buFont typeface="Arial" panose="020B0604020202020204" pitchFamily="34" charset="0"/>
              <a:buChar char="•"/>
            </a:pPr>
            <a:r>
              <a:rPr lang="en-GB" sz="2000" b="1" dirty="0"/>
              <a:t>Non-</a:t>
            </a:r>
            <a:r>
              <a:rPr lang="en-GB" sz="2000" b="1" dirty="0" err="1"/>
              <a:t>preemptive</a:t>
            </a:r>
            <a:r>
              <a:rPr lang="en-GB" sz="2000" b="1" dirty="0"/>
              <a:t> scheduling</a:t>
            </a:r>
            <a:r>
              <a:rPr lang="en-GB" sz="2000" dirty="0"/>
              <a:t> means that once a process is given the CPU, it runs to completion or until it voluntarily releases the CPU (e.g., for I/O).</a:t>
            </a:r>
            <a:br>
              <a:rPr lang="en-GB" sz="2000" dirty="0"/>
            </a:br>
            <a:r>
              <a:rPr lang="en-GB" sz="2000" dirty="0"/>
              <a:t>Example: </a:t>
            </a:r>
            <a:r>
              <a:rPr lang="en-GB" sz="2000" i="1" dirty="0"/>
              <a:t>First-Come, First-Served (FCFS)</a:t>
            </a:r>
            <a:r>
              <a:rPr lang="en-GB" sz="2000" dirty="0"/>
              <a:t> scheduling.</a:t>
            </a:r>
          </a:p>
          <a:p>
            <a:pPr>
              <a:buFont typeface="Arial" panose="020B0604020202020204" pitchFamily="34" charset="0"/>
              <a:buChar char="•"/>
            </a:pPr>
            <a:r>
              <a:rPr lang="en-GB" sz="2000" b="1" dirty="0" err="1"/>
              <a:t>Preemptive</a:t>
            </a:r>
            <a:r>
              <a:rPr lang="en-GB" sz="2000" b="1" dirty="0"/>
              <a:t> scheduling</a:t>
            </a:r>
            <a:r>
              <a:rPr lang="en-GB" sz="2000" dirty="0"/>
              <a:t> allows the operating system to forcibly remove a running process from the CPU to give others a turn.</a:t>
            </a:r>
            <a:br>
              <a:rPr lang="en-GB" sz="2000" dirty="0"/>
            </a:br>
            <a:r>
              <a:rPr lang="en-GB" sz="2000" dirty="0"/>
              <a:t>Example: </a:t>
            </a:r>
            <a:r>
              <a:rPr lang="en-GB" sz="2000" i="1" dirty="0"/>
              <a:t>Round Robin</a:t>
            </a:r>
            <a:r>
              <a:rPr lang="en-GB" sz="2000" dirty="0"/>
              <a:t> or </a:t>
            </a:r>
            <a:r>
              <a:rPr lang="en-GB" sz="2000" i="1" dirty="0"/>
              <a:t>Priority Scheduling</a:t>
            </a:r>
            <a:r>
              <a:rPr lang="en-GB" sz="2000" dirty="0"/>
              <a:t>.</a:t>
            </a:r>
          </a:p>
          <a:p>
            <a:pPr>
              <a:buNone/>
            </a:pPr>
            <a:r>
              <a:rPr lang="en-GB" sz="2000" dirty="0" err="1"/>
              <a:t>Preemptive</a:t>
            </a:r>
            <a:r>
              <a:rPr lang="en-GB" sz="2000" dirty="0"/>
              <a:t> scheduling improves </a:t>
            </a:r>
            <a:r>
              <a:rPr lang="en-GB" sz="2000" b="1" dirty="0"/>
              <a:t>responsiveness</a:t>
            </a:r>
            <a:r>
              <a:rPr lang="en-GB" sz="2000" dirty="0"/>
              <a:t> but requires mechanisms for </a:t>
            </a:r>
            <a:r>
              <a:rPr lang="en-GB" sz="2000" b="1" dirty="0"/>
              <a:t>interrupt handling</a:t>
            </a:r>
            <a:r>
              <a:rPr lang="en-GB" sz="2000" dirty="0"/>
              <a:t> and </a:t>
            </a:r>
            <a:r>
              <a:rPr lang="en-GB" sz="2000" b="1" dirty="0"/>
              <a:t>context switching</a:t>
            </a:r>
            <a:r>
              <a:rPr lang="en-GB" sz="2000" dirty="0"/>
              <a:t>.</a:t>
            </a:r>
          </a:p>
          <a:p>
            <a:endParaRPr lang="en-GB" sz="2000" dirty="0"/>
          </a:p>
        </p:txBody>
      </p:sp>
    </p:spTree>
    <p:extLst>
      <p:ext uri="{BB962C8B-B14F-4D97-AF65-F5344CB8AC3E}">
        <p14:creationId xmlns:p14="http://schemas.microsoft.com/office/powerpoint/2010/main" val="158947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A38F9-4476-661A-B5BD-A6EB3E7BA0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D18C0D-49A8-4A1D-9C2D-EE8BA7DCD805}"/>
              </a:ext>
            </a:extLst>
          </p:cNvPr>
          <p:cNvSpPr>
            <a:spLocks noGrp="1"/>
          </p:cNvSpPr>
          <p:nvPr>
            <p:ph type="title"/>
          </p:nvPr>
        </p:nvSpPr>
        <p:spPr>
          <a:xfrm>
            <a:off x="762000" y="213093"/>
            <a:ext cx="10591800" cy="646332"/>
          </a:xfrm>
        </p:spPr>
        <p:txBody>
          <a:bodyPr/>
          <a:lstStyle/>
          <a:p>
            <a:r>
              <a:rPr lang="en-GB" dirty="0"/>
              <a:t>Role of the Dispatcher</a:t>
            </a:r>
          </a:p>
        </p:txBody>
      </p:sp>
      <p:sp>
        <p:nvSpPr>
          <p:cNvPr id="11" name="Text Placeholder 10">
            <a:extLst>
              <a:ext uri="{FF2B5EF4-FFF2-40B4-BE49-F238E27FC236}">
                <a16:creationId xmlns:a16="http://schemas.microsoft.com/office/drawing/2014/main" id="{F89C4DF4-12E1-15EB-DFE6-6BF9C75D37F7}"/>
              </a:ext>
            </a:extLst>
          </p:cNvPr>
          <p:cNvSpPr>
            <a:spLocks noGrp="1"/>
          </p:cNvSpPr>
          <p:nvPr>
            <p:ph type="body" sz="quarter" idx="11"/>
          </p:nvPr>
        </p:nvSpPr>
        <p:spPr>
          <a:xfrm>
            <a:off x="685801" y="859425"/>
            <a:ext cx="10667999" cy="4728203"/>
          </a:xfrm>
        </p:spPr>
        <p:txBody>
          <a:bodyPr/>
          <a:lstStyle/>
          <a:p>
            <a:pPr>
              <a:buNone/>
            </a:pPr>
            <a:r>
              <a:rPr lang="en-GB" sz="2000" dirty="0"/>
              <a:t>Once the scheduler decides which process will run next, the </a:t>
            </a:r>
            <a:r>
              <a:rPr lang="en-GB" sz="2000" b="1" dirty="0"/>
              <a:t>dispatcher</a:t>
            </a:r>
            <a:r>
              <a:rPr lang="en-GB" sz="2000" dirty="0"/>
              <a:t> carries out that decision.</a:t>
            </a:r>
            <a:br>
              <a:rPr lang="en-GB" sz="2000" dirty="0"/>
            </a:br>
            <a:r>
              <a:rPr lang="en-GB" sz="2000" dirty="0"/>
              <a:t>The dispatcher performs:</a:t>
            </a:r>
          </a:p>
          <a:p>
            <a:pPr>
              <a:buFont typeface="+mj-lt"/>
              <a:buAutoNum type="arabicPeriod"/>
            </a:pPr>
            <a:r>
              <a:rPr lang="en-GB" sz="2000" b="1" dirty="0"/>
              <a:t>Context Switching</a:t>
            </a:r>
            <a:r>
              <a:rPr lang="en-GB" sz="2000" dirty="0"/>
              <a:t> — saves the state of the current process and loads the state of the next.</a:t>
            </a:r>
          </a:p>
          <a:p>
            <a:pPr>
              <a:buFont typeface="+mj-lt"/>
              <a:buAutoNum type="arabicPeriod"/>
            </a:pPr>
            <a:r>
              <a:rPr lang="en-GB" sz="2000" b="1" dirty="0"/>
              <a:t>Switching to user mode</a:t>
            </a:r>
            <a:r>
              <a:rPr lang="en-GB" sz="2000" dirty="0"/>
              <a:t> — resumes execution in the correct mode (user vs. kernel).</a:t>
            </a:r>
          </a:p>
          <a:p>
            <a:pPr>
              <a:buFont typeface="+mj-lt"/>
              <a:buAutoNum type="arabicPeriod"/>
            </a:pPr>
            <a:r>
              <a:rPr lang="en-GB" sz="2000" b="1" dirty="0"/>
              <a:t>Jumping to the correct location</a:t>
            </a:r>
            <a:r>
              <a:rPr lang="en-GB" sz="2000" dirty="0"/>
              <a:t> in the program to restart it.</a:t>
            </a:r>
          </a:p>
          <a:p>
            <a:pPr>
              <a:buNone/>
            </a:pPr>
            <a:r>
              <a:rPr lang="en-GB" sz="2000" dirty="0"/>
              <a:t>The </a:t>
            </a:r>
            <a:r>
              <a:rPr lang="en-GB" sz="2000" b="1" dirty="0"/>
              <a:t>dispatcher latency</a:t>
            </a:r>
            <a:r>
              <a:rPr lang="en-GB" sz="2000" dirty="0"/>
              <a:t> is the time it takes to stop one process and start another. Minimizing this latency is key to maintaining a responsive system.</a:t>
            </a:r>
          </a:p>
          <a:p>
            <a:endParaRPr lang="en-GB" sz="2000" dirty="0"/>
          </a:p>
        </p:txBody>
      </p:sp>
    </p:spTree>
    <p:extLst>
      <p:ext uri="{BB962C8B-B14F-4D97-AF65-F5344CB8AC3E}">
        <p14:creationId xmlns:p14="http://schemas.microsoft.com/office/powerpoint/2010/main" val="1354765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76FBC-F810-E2B3-B5B7-C97BECBAB5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85011E-8A99-C063-1936-9C00BB288A7C}"/>
              </a:ext>
            </a:extLst>
          </p:cNvPr>
          <p:cNvSpPr>
            <a:spLocks noGrp="1"/>
          </p:cNvSpPr>
          <p:nvPr>
            <p:ph type="title"/>
          </p:nvPr>
        </p:nvSpPr>
        <p:spPr>
          <a:xfrm>
            <a:off x="762000" y="213093"/>
            <a:ext cx="10591800" cy="646332"/>
          </a:xfrm>
        </p:spPr>
        <p:txBody>
          <a:bodyPr/>
          <a:lstStyle/>
          <a:p>
            <a:r>
              <a:rPr lang="en-GB" dirty="0"/>
              <a:t>Swapping (Intermediate Scheduling)</a:t>
            </a:r>
          </a:p>
        </p:txBody>
      </p:sp>
      <p:sp>
        <p:nvSpPr>
          <p:cNvPr id="11" name="Text Placeholder 10">
            <a:extLst>
              <a:ext uri="{FF2B5EF4-FFF2-40B4-BE49-F238E27FC236}">
                <a16:creationId xmlns:a16="http://schemas.microsoft.com/office/drawing/2014/main" id="{FBD86CD9-EA7A-9770-E26B-92BECC41C82F}"/>
              </a:ext>
            </a:extLst>
          </p:cNvPr>
          <p:cNvSpPr>
            <a:spLocks noGrp="1"/>
          </p:cNvSpPr>
          <p:nvPr>
            <p:ph type="body" sz="quarter" idx="11"/>
          </p:nvPr>
        </p:nvSpPr>
        <p:spPr>
          <a:xfrm>
            <a:off x="685801" y="859425"/>
            <a:ext cx="10667999" cy="4728203"/>
          </a:xfrm>
        </p:spPr>
        <p:txBody>
          <a:bodyPr/>
          <a:lstStyle/>
          <a:p>
            <a:pPr marL="342900" indent="-342900">
              <a:buFont typeface="Arial" panose="020B0604020202020204" pitchFamily="34" charset="0"/>
              <a:buChar char="•"/>
            </a:pPr>
            <a:r>
              <a:rPr lang="en-GB" sz="2000" dirty="0"/>
              <a:t>Swapping is an intermediate scheduling mechanism that allows the operating system to </a:t>
            </a:r>
            <a:r>
              <a:rPr lang="en-GB" sz="2000" b="1" dirty="0"/>
              <a:t>move entire processes between main memory and secondary storage (like a hard disk)</a:t>
            </a:r>
            <a:r>
              <a:rPr lang="en-GB" sz="2000" dirty="0"/>
              <a:t>.</a:t>
            </a:r>
            <a:br>
              <a:rPr lang="en-GB" sz="2000" dirty="0"/>
            </a:br>
            <a:r>
              <a:rPr lang="en-GB" sz="2000" dirty="0"/>
              <a:t>This helps control the number of processes in memory and maintain performance when system memory becomes overloaded.</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When the degree of multiprogramming is too high (too many processes in memory), the OS may </a:t>
            </a:r>
            <a:r>
              <a:rPr lang="en-GB" sz="2000" b="1" dirty="0"/>
              <a:t>swap out</a:t>
            </a:r>
            <a:r>
              <a:rPr lang="en-GB" sz="2000" dirty="0"/>
              <a:t> a process — writing its memory contents to disk to free space — and </a:t>
            </a:r>
            <a:r>
              <a:rPr lang="en-GB" sz="2000" b="1" dirty="0"/>
              <a:t>swap in</a:t>
            </a:r>
            <a:r>
              <a:rPr lang="en-GB" sz="2000" dirty="0"/>
              <a:t> another process when needed.</a:t>
            </a:r>
          </a:p>
          <a:p>
            <a:pPr lvl="2"/>
            <a:r>
              <a:rPr lang="en-GB" b="1" dirty="0"/>
              <a:t>Swapping Out:</a:t>
            </a:r>
            <a:br>
              <a:rPr lang="en-GB" dirty="0"/>
            </a:br>
            <a:r>
              <a:rPr lang="en-GB" dirty="0"/>
              <a:t>Process’s current memory image is saved to disk (suspended).</a:t>
            </a:r>
          </a:p>
          <a:p>
            <a:pPr lvl="2"/>
            <a:endParaRPr lang="en-GB" dirty="0"/>
          </a:p>
          <a:p>
            <a:pPr lvl="2"/>
            <a:r>
              <a:rPr lang="en-GB" b="1" dirty="0"/>
              <a:t>Swapping In:</a:t>
            </a:r>
            <a:br>
              <a:rPr lang="en-GB" dirty="0"/>
            </a:br>
            <a:r>
              <a:rPr lang="en-GB" dirty="0"/>
              <a:t>Process is brought back into memory and resumes execution.</a:t>
            </a:r>
          </a:p>
          <a:p>
            <a:pPr marL="342900" indent="-342900">
              <a:buFont typeface="Arial" panose="020B0604020202020204" pitchFamily="34" charset="0"/>
              <a:buChar char="•"/>
            </a:pPr>
            <a:endParaRPr lang="en-GB" sz="2000" dirty="0"/>
          </a:p>
          <a:p>
            <a:pPr>
              <a:buNone/>
            </a:pPr>
            <a:endParaRPr lang="en-GB" sz="2000" dirty="0"/>
          </a:p>
          <a:p>
            <a:endParaRPr lang="en-GB" sz="2000" dirty="0"/>
          </a:p>
        </p:txBody>
      </p:sp>
    </p:spTree>
    <p:extLst>
      <p:ext uri="{BB962C8B-B14F-4D97-AF65-F5344CB8AC3E}">
        <p14:creationId xmlns:p14="http://schemas.microsoft.com/office/powerpoint/2010/main" val="329218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C4B62-D1AD-B329-F72C-2CF7305661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2121AE-EB57-48FC-C483-BF906A195001}"/>
              </a:ext>
            </a:extLst>
          </p:cNvPr>
          <p:cNvSpPr>
            <a:spLocks noGrp="1"/>
          </p:cNvSpPr>
          <p:nvPr>
            <p:ph type="title"/>
          </p:nvPr>
        </p:nvSpPr>
        <p:spPr>
          <a:xfrm>
            <a:off x="762000" y="213093"/>
            <a:ext cx="10591800" cy="646332"/>
          </a:xfrm>
        </p:spPr>
        <p:txBody>
          <a:bodyPr/>
          <a:lstStyle/>
          <a:p>
            <a:r>
              <a:rPr lang="en-GB" dirty="0"/>
              <a:t>How Swapping Works</a:t>
            </a:r>
          </a:p>
        </p:txBody>
      </p:sp>
      <p:sp>
        <p:nvSpPr>
          <p:cNvPr id="11" name="Text Placeholder 10">
            <a:extLst>
              <a:ext uri="{FF2B5EF4-FFF2-40B4-BE49-F238E27FC236}">
                <a16:creationId xmlns:a16="http://schemas.microsoft.com/office/drawing/2014/main" id="{58661133-C65A-CF28-791C-1C86A42DF121}"/>
              </a:ext>
            </a:extLst>
          </p:cNvPr>
          <p:cNvSpPr>
            <a:spLocks noGrp="1"/>
          </p:cNvSpPr>
          <p:nvPr>
            <p:ph type="body" sz="quarter" idx="11"/>
          </p:nvPr>
        </p:nvSpPr>
        <p:spPr>
          <a:xfrm>
            <a:off x="685801" y="859425"/>
            <a:ext cx="10667999" cy="4728203"/>
          </a:xfrm>
        </p:spPr>
        <p:txBody>
          <a:bodyPr/>
          <a:lstStyle/>
          <a:p>
            <a:pPr marL="342900" indent="-342900">
              <a:buFont typeface="Arial" panose="020B0604020202020204" pitchFamily="34" charset="0"/>
              <a:buChar char="•"/>
            </a:pPr>
            <a:r>
              <a:rPr lang="en-GB" sz="2000" dirty="0"/>
              <a:t>OS chooses an idle or low-priority process to swap out.</a:t>
            </a:r>
          </a:p>
          <a:p>
            <a:pPr marL="342900" indent="-342900">
              <a:buFont typeface="Arial" panose="020B0604020202020204" pitchFamily="34" charset="0"/>
              <a:buChar char="•"/>
            </a:pPr>
            <a:r>
              <a:rPr lang="en-GB" sz="2000" dirty="0"/>
              <a:t>It writes that process’s memory image (including code, data, and stack) to a swap file or swap partition on disk.</a:t>
            </a:r>
          </a:p>
          <a:p>
            <a:pPr marL="342900" indent="-342900">
              <a:buFont typeface="Arial" panose="020B0604020202020204" pitchFamily="34" charset="0"/>
              <a:buChar char="•"/>
            </a:pPr>
            <a:r>
              <a:rPr lang="en-GB" sz="2000" dirty="0"/>
              <a:t>It loads another waiting process from disk into the freed memory.</a:t>
            </a:r>
          </a:p>
          <a:p>
            <a:pPr marL="342900" indent="-342900">
              <a:buFont typeface="Arial" panose="020B0604020202020204" pitchFamily="34" charset="0"/>
              <a:buChar char="•"/>
            </a:pPr>
            <a:r>
              <a:rPr lang="en-GB" sz="2000" dirty="0"/>
              <a:t>Later, when the swapped-out process is needed, it is loaded back — continuing from where it left off.</a:t>
            </a:r>
          </a:p>
          <a:p>
            <a:pPr>
              <a:buNone/>
            </a:pPr>
            <a:endParaRPr lang="en-GB" sz="2000" dirty="0"/>
          </a:p>
          <a:p>
            <a:r>
              <a:rPr lang="en-GB" sz="2000" b="1" dirty="0"/>
              <a:t>Example</a:t>
            </a:r>
          </a:p>
          <a:p>
            <a:r>
              <a:rPr lang="en-GB" sz="2000" dirty="0"/>
              <a:t>Suppose four processes (P1–P4) are ready, but RAM can only hold three.</a:t>
            </a:r>
            <a:br>
              <a:rPr lang="en-GB" sz="2000" dirty="0"/>
            </a:br>
            <a:r>
              <a:rPr lang="en-GB" sz="2000" dirty="0"/>
              <a:t>If P2 is idle (waiting for I/O), the OS can </a:t>
            </a:r>
            <a:r>
              <a:rPr lang="en-GB" sz="2000" b="1" dirty="0"/>
              <a:t>swap out</a:t>
            </a:r>
            <a:r>
              <a:rPr lang="en-GB" sz="2000" dirty="0"/>
              <a:t> P2 to disk and </a:t>
            </a:r>
            <a:r>
              <a:rPr lang="en-GB" sz="2000" b="1" dirty="0"/>
              <a:t>swap in</a:t>
            </a:r>
            <a:r>
              <a:rPr lang="en-GB" sz="2000" dirty="0"/>
              <a:t> P4. When P2’s I/O finishes, it can be </a:t>
            </a:r>
            <a:r>
              <a:rPr lang="en-GB" sz="2000" b="1" dirty="0"/>
              <a:t>swapped in</a:t>
            </a:r>
            <a:r>
              <a:rPr lang="en-GB" sz="2000" dirty="0"/>
              <a:t> again.</a:t>
            </a:r>
          </a:p>
          <a:p>
            <a:endParaRPr lang="en-GB" sz="2000" dirty="0"/>
          </a:p>
        </p:txBody>
      </p:sp>
    </p:spTree>
    <p:extLst>
      <p:ext uri="{BB962C8B-B14F-4D97-AF65-F5344CB8AC3E}">
        <p14:creationId xmlns:p14="http://schemas.microsoft.com/office/powerpoint/2010/main" val="146186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B058-8E21-E559-1E0C-67BFE62B90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307143-4AB7-C3C1-6DD3-75C0EC7837AE}"/>
              </a:ext>
            </a:extLst>
          </p:cNvPr>
          <p:cNvSpPr>
            <a:spLocks noGrp="1"/>
          </p:cNvSpPr>
          <p:nvPr>
            <p:ph type="title"/>
          </p:nvPr>
        </p:nvSpPr>
        <p:spPr>
          <a:xfrm>
            <a:off x="762000" y="213093"/>
            <a:ext cx="10591800" cy="646332"/>
          </a:xfrm>
        </p:spPr>
        <p:txBody>
          <a:bodyPr/>
          <a:lstStyle/>
          <a:p>
            <a:r>
              <a:rPr lang="en-GB" dirty="0"/>
              <a:t>Swapping Trade-offs</a:t>
            </a:r>
            <a:br>
              <a:rPr lang="en-GB" dirty="0"/>
            </a:br>
            <a:endParaRPr lang="en-GB" dirty="0"/>
          </a:p>
        </p:txBody>
      </p:sp>
      <p:sp>
        <p:nvSpPr>
          <p:cNvPr id="11" name="Text Placeholder 10">
            <a:extLst>
              <a:ext uri="{FF2B5EF4-FFF2-40B4-BE49-F238E27FC236}">
                <a16:creationId xmlns:a16="http://schemas.microsoft.com/office/drawing/2014/main" id="{A6319B28-5DF6-B784-B54C-C1DF18AF1D55}"/>
              </a:ext>
            </a:extLst>
          </p:cNvPr>
          <p:cNvSpPr>
            <a:spLocks noGrp="1"/>
          </p:cNvSpPr>
          <p:nvPr>
            <p:ph type="body" sz="quarter" idx="11"/>
          </p:nvPr>
        </p:nvSpPr>
        <p:spPr>
          <a:xfrm>
            <a:off x="685801" y="859425"/>
            <a:ext cx="10667999" cy="4728203"/>
          </a:xfrm>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2000" b="1" i="0" u="none" strike="noStrike" kern="1200" cap="none" spc="0" normalizeH="0" baseline="0" noProof="0" dirty="0">
                <a:ln>
                  <a:noFill/>
                </a:ln>
                <a:solidFill>
                  <a:prstClr val="black"/>
                </a:solidFill>
                <a:effectLst/>
                <a:uLnTx/>
                <a:uFillTx/>
                <a:latin typeface="Segoe UI"/>
                <a:ea typeface="+mn-ea"/>
                <a:cs typeface="+mn-cs"/>
              </a:rPr>
              <a:t>Advantages:</a:t>
            </a:r>
            <a:r>
              <a:rPr kumimoji="0" lang="en-GB" sz="2000" b="0" i="0" u="none" strike="noStrike" kern="1200" cap="none" spc="0" normalizeH="0" baseline="0" noProof="0" dirty="0">
                <a:ln>
                  <a:noFill/>
                </a:ln>
                <a:solidFill>
                  <a:prstClr val="black"/>
                </a:solidFill>
                <a:effectLst/>
                <a:uLnTx/>
                <a:uFillTx/>
                <a:latin typeface="Segoe UI"/>
                <a:ea typeface="+mn-ea"/>
                <a:cs typeface="+mn-cs"/>
              </a:rPr>
              <a:t> Improves CPU utilization and responsiveness.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2000" b="1" i="0" u="none" strike="noStrike" kern="1200" cap="none" spc="0" normalizeH="0" baseline="0" noProof="0" dirty="0">
                <a:ln>
                  <a:noFill/>
                </a:ln>
                <a:solidFill>
                  <a:prstClr val="black"/>
                </a:solidFill>
                <a:effectLst/>
                <a:uLnTx/>
                <a:uFillTx/>
                <a:latin typeface="Segoe UI"/>
                <a:ea typeface="+mn-ea"/>
                <a:cs typeface="+mn-cs"/>
              </a:rPr>
              <a:t>Disadvantages:</a:t>
            </a:r>
            <a:r>
              <a:rPr kumimoji="0" lang="en-GB" sz="2000" b="0" i="0" u="none" strike="noStrike" kern="1200" cap="none" spc="0" normalizeH="0" baseline="0" noProof="0" dirty="0">
                <a:ln>
                  <a:noFill/>
                </a:ln>
                <a:solidFill>
                  <a:prstClr val="black"/>
                </a:solidFill>
                <a:effectLst/>
                <a:uLnTx/>
                <a:uFillTx/>
                <a:latin typeface="Segoe UI"/>
                <a:ea typeface="+mn-ea"/>
                <a:cs typeface="+mn-cs"/>
              </a:rPr>
              <a:t> Disk I/O is slow; excessive swapping leads to </a:t>
            </a:r>
            <a:r>
              <a:rPr kumimoji="0" lang="en-GB" sz="2000" b="1" i="0" u="none" strike="noStrike" kern="1200" cap="none" spc="0" normalizeH="0" baseline="0" noProof="0" dirty="0">
                <a:ln>
                  <a:noFill/>
                </a:ln>
                <a:solidFill>
                  <a:prstClr val="black"/>
                </a:solidFill>
                <a:effectLst/>
                <a:uLnTx/>
                <a:uFillTx/>
                <a:latin typeface="Segoe UI"/>
                <a:ea typeface="+mn-ea"/>
                <a:cs typeface="+mn-cs"/>
              </a:rPr>
              <a:t>thrashing</a:t>
            </a:r>
            <a:r>
              <a:rPr kumimoji="0" lang="en-GB" sz="2000" b="0" i="0" u="none" strike="noStrike" kern="1200" cap="none" spc="0" normalizeH="0" baseline="0" noProof="0" dirty="0">
                <a:ln>
                  <a:noFill/>
                </a:ln>
                <a:solidFill>
                  <a:prstClr val="black"/>
                </a:solidFill>
                <a:effectLst/>
                <a:uLnTx/>
                <a:uFillTx/>
                <a:latin typeface="Segoe UI"/>
                <a:ea typeface="+mn-ea"/>
                <a:cs typeface="+mn-cs"/>
              </a:rPr>
              <a:t> (when the OS spends more time swapping than executing).</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2000" b="0" i="0" u="none" strike="noStrike" kern="1200" cap="none" spc="0" normalizeH="0" baseline="0" noProof="0" dirty="0">
                <a:ln>
                  <a:noFill/>
                </a:ln>
                <a:solidFill>
                  <a:prstClr val="black"/>
                </a:solidFill>
                <a:effectLst/>
                <a:uLnTx/>
                <a:uFillTx/>
                <a:latin typeface="Segoe UI"/>
                <a:ea typeface="+mn-ea"/>
                <a:cs typeface="+mn-cs"/>
              </a:rPr>
              <a:t>Modern operating systems like Linux still use swapping to some extent, managed dynamically through </a:t>
            </a:r>
            <a:r>
              <a:rPr kumimoji="0" lang="en-GB" sz="2000" b="1" i="0" u="none" strike="noStrike" kern="1200" cap="none" spc="0" normalizeH="0" baseline="0" noProof="0" dirty="0">
                <a:ln>
                  <a:noFill/>
                </a:ln>
                <a:solidFill>
                  <a:prstClr val="black"/>
                </a:solidFill>
                <a:effectLst/>
                <a:uLnTx/>
                <a:uFillTx/>
                <a:latin typeface="Segoe UI"/>
                <a:ea typeface="+mn-ea"/>
                <a:cs typeface="+mn-cs"/>
              </a:rPr>
              <a:t>virtual memory paging</a:t>
            </a:r>
            <a:r>
              <a:rPr kumimoji="0" lang="en-GB" sz="2000" b="0" i="0" u="none" strike="noStrike" kern="1200" cap="none" spc="0" normalizeH="0" baseline="0" noProof="0" dirty="0">
                <a:ln>
                  <a:noFill/>
                </a:ln>
                <a:solidFill>
                  <a:prstClr val="black"/>
                </a:solidFill>
                <a:effectLst/>
                <a:uLnTx/>
                <a:uFillTx/>
                <a:latin typeface="Segoe UI"/>
                <a:ea typeface="+mn-ea"/>
                <a:cs typeface="+mn-cs"/>
              </a:rPr>
              <a:t>.</a:t>
            </a:r>
          </a:p>
          <a:p>
            <a:endParaRPr lang="en-GB" sz="2000" dirty="0"/>
          </a:p>
        </p:txBody>
      </p:sp>
    </p:spTree>
    <p:extLst>
      <p:ext uri="{BB962C8B-B14F-4D97-AF65-F5344CB8AC3E}">
        <p14:creationId xmlns:p14="http://schemas.microsoft.com/office/powerpoint/2010/main" val="66101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ABEE0-9B14-298C-8F63-101F2EA395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85287E-73E5-9512-9B3A-E370C64DBB19}"/>
              </a:ext>
            </a:extLst>
          </p:cNvPr>
          <p:cNvSpPr>
            <a:spLocks noGrp="1"/>
          </p:cNvSpPr>
          <p:nvPr>
            <p:ph type="title"/>
          </p:nvPr>
        </p:nvSpPr>
        <p:spPr>
          <a:xfrm>
            <a:off x="762000" y="213093"/>
            <a:ext cx="10591800" cy="646332"/>
          </a:xfrm>
        </p:spPr>
        <p:txBody>
          <a:bodyPr/>
          <a:lstStyle/>
          <a:p>
            <a:r>
              <a:rPr lang="en-GB" dirty="0"/>
              <a:t>What is Context?</a:t>
            </a:r>
          </a:p>
        </p:txBody>
      </p:sp>
      <p:sp>
        <p:nvSpPr>
          <p:cNvPr id="11" name="Text Placeholder 10">
            <a:extLst>
              <a:ext uri="{FF2B5EF4-FFF2-40B4-BE49-F238E27FC236}">
                <a16:creationId xmlns:a16="http://schemas.microsoft.com/office/drawing/2014/main" id="{0DA7F8C5-766F-06E6-2454-70AC413E5694}"/>
              </a:ext>
            </a:extLst>
          </p:cNvPr>
          <p:cNvSpPr>
            <a:spLocks noGrp="1"/>
          </p:cNvSpPr>
          <p:nvPr>
            <p:ph type="body" sz="quarter" idx="11"/>
          </p:nvPr>
        </p:nvSpPr>
        <p:spPr>
          <a:xfrm>
            <a:off x="685801" y="859425"/>
            <a:ext cx="10667999" cy="4728203"/>
          </a:xfrm>
        </p:spPr>
        <p:txBody>
          <a:bodyPr/>
          <a:lstStyle/>
          <a:p>
            <a:pPr>
              <a:buNone/>
            </a:pPr>
            <a:r>
              <a:rPr lang="en-GB" sz="2000" dirty="0"/>
              <a:t>Each process has a unique </a:t>
            </a:r>
            <a:r>
              <a:rPr lang="en-GB" sz="2000" b="1" dirty="0"/>
              <a:t>execution context</a:t>
            </a:r>
            <a:r>
              <a:rPr lang="en-GB" sz="2000" dirty="0"/>
              <a:t>, which represents its current state:</a:t>
            </a:r>
          </a:p>
          <a:p>
            <a:pPr>
              <a:buFont typeface="Arial" panose="020B0604020202020204" pitchFamily="34" charset="0"/>
              <a:buChar char="•"/>
            </a:pPr>
            <a:r>
              <a:rPr lang="en-GB" sz="2000" dirty="0"/>
              <a:t>CPU register contents (accumulator, stack pointer, etc.)</a:t>
            </a:r>
          </a:p>
          <a:p>
            <a:pPr>
              <a:buFont typeface="Arial" panose="020B0604020202020204" pitchFamily="34" charset="0"/>
              <a:buChar char="•"/>
            </a:pPr>
            <a:r>
              <a:rPr lang="en-GB" sz="2000" dirty="0"/>
              <a:t>Program counter (next instruction to execute)</a:t>
            </a:r>
          </a:p>
          <a:p>
            <a:pPr>
              <a:buFont typeface="Arial" panose="020B0604020202020204" pitchFamily="34" charset="0"/>
              <a:buChar char="•"/>
            </a:pPr>
            <a:r>
              <a:rPr lang="en-GB" sz="2000" dirty="0"/>
              <a:t>Process state (running, waiting, ready)</a:t>
            </a:r>
          </a:p>
          <a:p>
            <a:pPr>
              <a:buFont typeface="Arial" panose="020B0604020202020204" pitchFamily="34" charset="0"/>
              <a:buChar char="•"/>
            </a:pPr>
            <a:r>
              <a:rPr lang="en-GB" sz="2000" dirty="0"/>
              <a:t>Memory mapping info</a:t>
            </a:r>
          </a:p>
          <a:p>
            <a:pPr>
              <a:buFont typeface="Arial" panose="020B0604020202020204" pitchFamily="34" charset="0"/>
              <a:buChar char="•"/>
            </a:pPr>
            <a:r>
              <a:rPr lang="en-GB" sz="2000" dirty="0"/>
              <a:t>Accounting information (CPU time, priority, etc.)</a:t>
            </a:r>
          </a:p>
          <a:p>
            <a:pPr>
              <a:buNone/>
            </a:pPr>
            <a:r>
              <a:rPr lang="en-GB" sz="2000" dirty="0"/>
              <a:t>All this data is stored in the </a:t>
            </a:r>
            <a:r>
              <a:rPr lang="en-GB" sz="2000" b="1" dirty="0"/>
              <a:t>Process Control Block (PCB)</a:t>
            </a:r>
            <a:r>
              <a:rPr lang="en-GB" sz="2000" dirty="0"/>
              <a:t>.</a:t>
            </a:r>
          </a:p>
          <a:p>
            <a:pPr>
              <a:buNone/>
            </a:pPr>
            <a:br>
              <a:rPr lang="en-GB" sz="2000" dirty="0"/>
            </a:br>
            <a:r>
              <a:rPr lang="en-GB" sz="2000" dirty="0"/>
              <a:t>Switching the CPU core to another process requires performing a state save of the current process and a state restore of a different process. This task is known as a </a:t>
            </a:r>
            <a:r>
              <a:rPr lang="en-GB" sz="2000" b="1" dirty="0"/>
              <a:t>context switch</a:t>
            </a:r>
          </a:p>
        </p:txBody>
      </p:sp>
    </p:spTree>
    <p:extLst>
      <p:ext uri="{BB962C8B-B14F-4D97-AF65-F5344CB8AC3E}">
        <p14:creationId xmlns:p14="http://schemas.microsoft.com/office/powerpoint/2010/main" val="10783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3F7E6-2C54-D923-FD3B-36F6E55328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0B4D2D-0F05-915A-4706-93CED385BC52}"/>
              </a:ext>
            </a:extLst>
          </p:cNvPr>
          <p:cNvSpPr>
            <a:spLocks noGrp="1"/>
          </p:cNvSpPr>
          <p:nvPr>
            <p:ph type="title"/>
          </p:nvPr>
        </p:nvSpPr>
        <p:spPr>
          <a:xfrm>
            <a:off x="762000" y="213093"/>
            <a:ext cx="10591800" cy="646332"/>
          </a:xfrm>
        </p:spPr>
        <p:txBody>
          <a:bodyPr/>
          <a:lstStyle/>
          <a:p>
            <a:r>
              <a:rPr lang="en-GB" dirty="0"/>
              <a:t>Context Switch</a:t>
            </a:r>
          </a:p>
        </p:txBody>
      </p:sp>
      <p:sp>
        <p:nvSpPr>
          <p:cNvPr id="11" name="Text Placeholder 10">
            <a:extLst>
              <a:ext uri="{FF2B5EF4-FFF2-40B4-BE49-F238E27FC236}">
                <a16:creationId xmlns:a16="http://schemas.microsoft.com/office/drawing/2014/main" id="{08C5C62F-5CC3-7AE0-8697-D93B79001D15}"/>
              </a:ext>
            </a:extLst>
          </p:cNvPr>
          <p:cNvSpPr>
            <a:spLocks noGrp="1"/>
          </p:cNvSpPr>
          <p:nvPr>
            <p:ph type="body" sz="quarter" idx="11"/>
          </p:nvPr>
        </p:nvSpPr>
        <p:spPr>
          <a:xfrm>
            <a:off x="685801" y="859425"/>
            <a:ext cx="10667999" cy="4728203"/>
          </a:xfrm>
        </p:spPr>
        <p:txBody>
          <a:bodyPr/>
          <a:lstStyle/>
          <a:p>
            <a:r>
              <a:rPr lang="en-GB" sz="2000" dirty="0"/>
              <a:t>By now we know that ,interrupts cause the operating system to change a CPU core from its current task and to run a kernel routine.</a:t>
            </a:r>
          </a:p>
          <a:p>
            <a:r>
              <a:rPr lang="en-GB" sz="2000" dirty="0"/>
              <a:t>Such operations happen frequently on general-purpose systems. </a:t>
            </a:r>
          </a:p>
          <a:p>
            <a:r>
              <a:rPr lang="en-GB" sz="2000" dirty="0"/>
              <a:t>When an interrupt occurs, the system needs to save the </a:t>
            </a:r>
            <a:r>
              <a:rPr lang="en-GB" sz="2000" b="1" dirty="0"/>
              <a:t>current context </a:t>
            </a:r>
            <a:r>
              <a:rPr lang="en-GB" sz="2000" dirty="0"/>
              <a:t>of the process running on the CPU core so that it can </a:t>
            </a:r>
            <a:r>
              <a:rPr lang="en-GB" sz="2000" b="1" dirty="0"/>
              <a:t>restore that context when its processing is done</a:t>
            </a:r>
            <a:r>
              <a:rPr lang="en-GB" sz="2000" dirty="0"/>
              <a:t>, essentially suspending the process and then resuming it.</a:t>
            </a:r>
          </a:p>
          <a:p>
            <a:endParaRPr lang="en-GB" sz="2000" dirty="0"/>
          </a:p>
        </p:txBody>
      </p:sp>
    </p:spTree>
    <p:extLst>
      <p:ext uri="{BB962C8B-B14F-4D97-AF65-F5344CB8AC3E}">
        <p14:creationId xmlns:p14="http://schemas.microsoft.com/office/powerpoint/2010/main" val="1584132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60A72-E3C8-3381-A4BD-09ECA77043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011446-ADF0-BC10-746E-4B9C671B6ADE}"/>
              </a:ext>
            </a:extLst>
          </p:cNvPr>
          <p:cNvSpPr>
            <a:spLocks noGrp="1"/>
          </p:cNvSpPr>
          <p:nvPr>
            <p:ph type="title"/>
          </p:nvPr>
        </p:nvSpPr>
        <p:spPr>
          <a:xfrm>
            <a:off x="762000" y="213093"/>
            <a:ext cx="10591800" cy="646332"/>
          </a:xfrm>
        </p:spPr>
        <p:txBody>
          <a:bodyPr/>
          <a:lstStyle/>
          <a:p>
            <a:r>
              <a:rPr lang="en-GB" dirty="0"/>
              <a:t>Context Switching</a:t>
            </a:r>
          </a:p>
        </p:txBody>
      </p:sp>
      <p:sp>
        <p:nvSpPr>
          <p:cNvPr id="11" name="Text Placeholder 10">
            <a:extLst>
              <a:ext uri="{FF2B5EF4-FFF2-40B4-BE49-F238E27FC236}">
                <a16:creationId xmlns:a16="http://schemas.microsoft.com/office/drawing/2014/main" id="{F5B37A96-3CB2-A761-A2DF-2092FFE24EF4}"/>
              </a:ext>
            </a:extLst>
          </p:cNvPr>
          <p:cNvSpPr>
            <a:spLocks noGrp="1"/>
          </p:cNvSpPr>
          <p:nvPr>
            <p:ph type="body" sz="quarter" idx="11"/>
          </p:nvPr>
        </p:nvSpPr>
        <p:spPr>
          <a:xfrm>
            <a:off x="685801" y="859425"/>
            <a:ext cx="10667999" cy="4728203"/>
          </a:xfrm>
        </p:spPr>
        <p:txBody>
          <a:bodyPr/>
          <a:lstStyle/>
          <a:p>
            <a:pPr marL="342900" indent="-342900">
              <a:buFont typeface="Arial" panose="020B0604020202020204" pitchFamily="34" charset="0"/>
              <a:buChar char="•"/>
            </a:pPr>
            <a:r>
              <a:rPr lang="en-GB" sz="2000" dirty="0"/>
              <a:t>Switching the CPU core to another process requires performing a state save of the current process and a state restore of a different process. This task is known as a </a:t>
            </a:r>
            <a:r>
              <a:rPr lang="en-GB" sz="2000" b="1" dirty="0"/>
              <a:t>context switch</a:t>
            </a:r>
          </a:p>
          <a:p>
            <a:pPr marL="342900" indent="-342900">
              <a:buFont typeface="Arial" panose="020B0604020202020204" pitchFamily="34" charset="0"/>
              <a:buChar char="•"/>
            </a:pPr>
            <a:r>
              <a:rPr lang="en-GB" sz="2000" dirty="0"/>
              <a:t>When a context switch occurs, the kernel saves the context of the old process in its PCB and loads the saved context of the new process scheduled to run. Context switch time is pure overhead, because the system does no useful work while switching.</a:t>
            </a:r>
          </a:p>
          <a:p>
            <a:pPr marL="342900" indent="-342900">
              <a:buFont typeface="Arial" panose="020B0604020202020204" pitchFamily="34" charset="0"/>
              <a:buChar char="•"/>
            </a:pPr>
            <a:r>
              <a:rPr lang="en-GB" sz="2000" dirty="0"/>
              <a:t>Switching speed varies from machine to machine, depending on the memory speed, the number of registers that must be copied, and the existence of special instructions (such as a single instruction to load or store all registers). </a:t>
            </a:r>
          </a:p>
          <a:p>
            <a:pPr marL="342900" indent="-342900">
              <a:buFont typeface="Arial" panose="020B0604020202020204" pitchFamily="34" charset="0"/>
              <a:buChar char="•"/>
            </a:pPr>
            <a:r>
              <a:rPr lang="en-GB" sz="2000" dirty="0"/>
              <a:t>A typical speed is a several microseconds.</a:t>
            </a:r>
          </a:p>
          <a:p>
            <a:pPr marL="342900" indent="-342900">
              <a:buFont typeface="Arial" panose="020B0604020202020204" pitchFamily="34" charset="0"/>
              <a:buChar char="•"/>
            </a:pPr>
            <a:endParaRPr lang="en-GB" sz="2000" dirty="0"/>
          </a:p>
        </p:txBody>
      </p:sp>
    </p:spTree>
    <p:extLst>
      <p:ext uri="{BB962C8B-B14F-4D97-AF65-F5344CB8AC3E}">
        <p14:creationId xmlns:p14="http://schemas.microsoft.com/office/powerpoint/2010/main" val="657974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BE510-5B69-ABBD-8F60-77C8E87709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D74BA1-16DA-9122-6B0C-E82EE4822E2F}"/>
              </a:ext>
            </a:extLst>
          </p:cNvPr>
          <p:cNvSpPr>
            <a:spLocks noGrp="1"/>
          </p:cNvSpPr>
          <p:nvPr>
            <p:ph type="title"/>
          </p:nvPr>
        </p:nvSpPr>
        <p:spPr>
          <a:xfrm>
            <a:off x="762000" y="213093"/>
            <a:ext cx="10591800" cy="646332"/>
          </a:xfrm>
        </p:spPr>
        <p:txBody>
          <a:bodyPr/>
          <a:lstStyle/>
          <a:p>
            <a:r>
              <a:rPr lang="en-GB" dirty="0"/>
              <a:t>Context Switching</a:t>
            </a:r>
          </a:p>
        </p:txBody>
      </p:sp>
      <p:sp>
        <p:nvSpPr>
          <p:cNvPr id="11" name="Text Placeholder 10">
            <a:extLst>
              <a:ext uri="{FF2B5EF4-FFF2-40B4-BE49-F238E27FC236}">
                <a16:creationId xmlns:a16="http://schemas.microsoft.com/office/drawing/2014/main" id="{A27E854D-721B-40D2-D1DF-E5BF292E461E}"/>
              </a:ext>
            </a:extLst>
          </p:cNvPr>
          <p:cNvSpPr>
            <a:spLocks noGrp="1"/>
          </p:cNvSpPr>
          <p:nvPr>
            <p:ph type="body" sz="quarter" idx="11"/>
          </p:nvPr>
        </p:nvSpPr>
        <p:spPr>
          <a:xfrm>
            <a:off x="685801" y="859425"/>
            <a:ext cx="10667999" cy="4728203"/>
          </a:xfrm>
        </p:spPr>
        <p:txBody>
          <a:bodyPr/>
          <a:lstStyle/>
          <a:p>
            <a:pPr marL="342900" indent="-342900">
              <a:buFont typeface="Arial" panose="020B0604020202020204" pitchFamily="34" charset="0"/>
              <a:buChar char="•"/>
            </a:pPr>
            <a:r>
              <a:rPr lang="en-GB" sz="2000" dirty="0"/>
              <a:t>Context-switch times are highly dependent on hardware support. For instance, some processors provide multiple sets of registers. </a:t>
            </a:r>
          </a:p>
          <a:p>
            <a:pPr marL="342900" indent="-342900">
              <a:buFont typeface="Arial" panose="020B0604020202020204" pitchFamily="34" charset="0"/>
              <a:buChar char="•"/>
            </a:pPr>
            <a:r>
              <a:rPr lang="en-GB" sz="2000" dirty="0"/>
              <a:t>A context switch here simply requires changing the pointer to the current register set. Of course, if there are more active processes than there are register sets, the system resorts to copying register data to and from memory, as before.</a:t>
            </a:r>
          </a:p>
        </p:txBody>
      </p:sp>
    </p:spTree>
    <p:extLst>
      <p:ext uri="{BB962C8B-B14F-4D97-AF65-F5344CB8AC3E}">
        <p14:creationId xmlns:p14="http://schemas.microsoft.com/office/powerpoint/2010/main" val="1168963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68B5-70EC-61FC-48E0-4205A24927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A23100-95C9-7F72-F02D-3D3BBE1D9C47}"/>
              </a:ext>
            </a:extLst>
          </p:cNvPr>
          <p:cNvSpPr>
            <a:spLocks noGrp="1"/>
          </p:cNvSpPr>
          <p:nvPr>
            <p:ph type="title"/>
          </p:nvPr>
        </p:nvSpPr>
        <p:spPr>
          <a:xfrm>
            <a:off x="762000" y="213093"/>
            <a:ext cx="10591800" cy="646332"/>
          </a:xfrm>
        </p:spPr>
        <p:txBody>
          <a:bodyPr/>
          <a:lstStyle/>
          <a:p>
            <a:r>
              <a:rPr lang="en-GB" dirty="0"/>
              <a:t>Context Switching</a:t>
            </a:r>
          </a:p>
        </p:txBody>
      </p:sp>
      <p:pic>
        <p:nvPicPr>
          <p:cNvPr id="3" name="Picture 2">
            <a:extLst>
              <a:ext uri="{FF2B5EF4-FFF2-40B4-BE49-F238E27FC236}">
                <a16:creationId xmlns:a16="http://schemas.microsoft.com/office/drawing/2014/main" id="{8154F916-7521-874C-0C53-516346AD791B}"/>
              </a:ext>
            </a:extLst>
          </p:cNvPr>
          <p:cNvPicPr>
            <a:picLocks noChangeAspect="1"/>
          </p:cNvPicPr>
          <p:nvPr/>
        </p:nvPicPr>
        <p:blipFill>
          <a:blip r:embed="rId3"/>
          <a:stretch>
            <a:fillRect/>
          </a:stretch>
        </p:blipFill>
        <p:spPr>
          <a:xfrm>
            <a:off x="2964581" y="1102493"/>
            <a:ext cx="5773055" cy="4653013"/>
          </a:xfrm>
          <a:prstGeom prst="rect">
            <a:avLst/>
          </a:prstGeom>
        </p:spPr>
      </p:pic>
    </p:spTree>
    <p:extLst>
      <p:ext uri="{BB962C8B-B14F-4D97-AF65-F5344CB8AC3E}">
        <p14:creationId xmlns:p14="http://schemas.microsoft.com/office/powerpoint/2010/main" val="395470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A36B3A-558B-413E-877B-7275290AB783}"/>
              </a:ext>
            </a:extLst>
          </p:cNvPr>
          <p:cNvSpPr>
            <a:spLocks noGrp="1"/>
          </p:cNvSpPr>
          <p:nvPr>
            <p:ph type="title"/>
          </p:nvPr>
        </p:nvSpPr>
        <p:spPr>
          <a:xfrm>
            <a:off x="6345148" y="3045275"/>
            <a:ext cx="6477000" cy="1189037"/>
          </a:xfrm>
        </p:spPr>
        <p:txBody>
          <a:bodyPr/>
          <a:lstStyle/>
          <a:p>
            <a:r>
              <a:rPr lang="en-US" dirty="0"/>
              <a:t>THANK YOU</a:t>
            </a:r>
          </a:p>
        </p:txBody>
      </p:sp>
    </p:spTree>
    <p:extLst>
      <p:ext uri="{BB962C8B-B14F-4D97-AF65-F5344CB8AC3E}">
        <p14:creationId xmlns:p14="http://schemas.microsoft.com/office/powerpoint/2010/main" val="336652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ewish American Heritage Month_Win32_JC_SL_v3" id="{5A91364D-DD38-4994-BB9C-41D074FD197A}" vid="{8577DF34-D72C-48EB-902A-0A54C766E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5C1F8C-D27A-4CE7-9DF4-4AFDB2880FA9}">
  <ds:schemaRefs>
    <ds:schemaRef ds:uri="http://schemas.microsoft.com/sharepoint/v3/contenttype/forms"/>
  </ds:schemaRefs>
</ds:datastoreItem>
</file>

<file path=customXml/itemProps2.xml><?xml version="1.0" encoding="utf-8"?>
<ds:datastoreItem xmlns:ds="http://schemas.openxmlformats.org/officeDocument/2006/customXml" ds:itemID="{FDF283A3-AA81-4663-8764-64F64C723FD1}">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4EE2DFF-920A-42C9-AEE0-3A0BF6AF4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Jewish American Heritage Month presentation</Template>
  <TotalTime>2744</TotalTime>
  <Words>3081</Words>
  <Application>Microsoft Office PowerPoint</Application>
  <PresentationFormat>Widescreen</PresentationFormat>
  <Paragraphs>256</Paragraphs>
  <Slides>38</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Segoe UI</vt:lpstr>
      <vt:lpstr>TimesNewRomanPSMT</vt:lpstr>
      <vt:lpstr>Wingdings-Regular</vt:lpstr>
      <vt:lpstr>Office Theme</vt:lpstr>
      <vt:lpstr>Process Management Lesson 2</vt:lpstr>
      <vt:lpstr>Outline </vt:lpstr>
      <vt:lpstr>Overview</vt:lpstr>
      <vt:lpstr>Process </vt:lpstr>
      <vt:lpstr>Process </vt:lpstr>
      <vt:lpstr>How Stack and Heap Behave Dynamically</vt:lpstr>
      <vt:lpstr>How Stack and Heap Behave Dynamically</vt:lpstr>
      <vt:lpstr>How Stack and Heap Behave Dynamically</vt:lpstr>
      <vt:lpstr>Process State</vt:lpstr>
      <vt:lpstr>Diagrammatic Representation  of the states </vt:lpstr>
      <vt:lpstr>Process State</vt:lpstr>
      <vt:lpstr>Process Control Block</vt:lpstr>
      <vt:lpstr>Process Control Block</vt:lpstr>
      <vt:lpstr>Process Control Block</vt:lpstr>
      <vt:lpstr>Process Control Block</vt:lpstr>
      <vt:lpstr>Threads</vt:lpstr>
      <vt:lpstr>Threads</vt:lpstr>
      <vt:lpstr>Process Scheduling</vt:lpstr>
      <vt:lpstr>Process Scheduling</vt:lpstr>
      <vt:lpstr>Process Scheduling</vt:lpstr>
      <vt:lpstr>Process Scheduling</vt:lpstr>
      <vt:lpstr>Process Scheduling</vt:lpstr>
      <vt:lpstr>Scheduling Queues</vt:lpstr>
      <vt:lpstr>Queueing Diagram Example</vt:lpstr>
      <vt:lpstr>Scheduling Queues</vt:lpstr>
      <vt:lpstr>CPU Scheduling</vt:lpstr>
      <vt:lpstr>CPU Scheduling</vt:lpstr>
      <vt:lpstr>CPU Scheduling</vt:lpstr>
      <vt:lpstr>Role of the Dispatcher</vt:lpstr>
      <vt:lpstr>Swapping (Intermediate Scheduling)</vt:lpstr>
      <vt:lpstr>How Swapping Works</vt:lpstr>
      <vt:lpstr>Swapping Trade-offs </vt:lpstr>
      <vt:lpstr>What is Context?</vt:lpstr>
      <vt:lpstr>Context Switch</vt:lpstr>
      <vt:lpstr>Context Switching</vt:lpstr>
      <vt:lpstr>Context Switching</vt:lpstr>
      <vt:lpstr>Context Switching</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 XPS</dc:creator>
  <cp:keywords/>
  <dc:description/>
  <cp:lastModifiedBy>DELL XPS</cp:lastModifiedBy>
  <cp:revision>31</cp:revision>
  <dcterms:created xsi:type="dcterms:W3CDTF">2025-10-16T08:09:12Z</dcterms:created>
  <dcterms:modified xsi:type="dcterms:W3CDTF">2025-10-20T06:30:06Z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