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6" r:id="rId5"/>
    <p:sldId id="265" r:id="rId6"/>
    <p:sldId id="267" r:id="rId7"/>
    <p:sldId id="268" r:id="rId8"/>
    <p:sldId id="269" r:id="rId9"/>
    <p:sldId id="270" r:id="rId10"/>
    <p:sldId id="271" r:id="rId11"/>
    <p:sldId id="259" r:id="rId12"/>
    <p:sldId id="272" r:id="rId13"/>
    <p:sldId id="273" r:id="rId14"/>
    <p:sldId id="274" r:id="rId15"/>
    <p:sldId id="275" r:id="rId16"/>
    <p:sldId id="276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19" autoAdjust="0"/>
    <p:restoredTop sz="94660"/>
  </p:normalViewPr>
  <p:slideViewPr>
    <p:cSldViewPr snapToGrid="0">
      <p:cViewPr varScale="1">
        <p:scale>
          <a:sx n="94" d="100"/>
          <a:sy n="94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084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81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6985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1081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342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342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58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9985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152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15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948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D65EF1-8428-4CC7-AAF9-E9C81EC07490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30A50A48-00B9-4725-964C-065B28918F4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88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1ADB2-44F6-48BD-A824-99B91BD493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Operating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187E64-909F-434F-91B7-BEB301D50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25152"/>
            <a:ext cx="9144000" cy="1232647"/>
          </a:xfrm>
        </p:spPr>
        <p:txBody>
          <a:bodyPr>
            <a:normAutofit/>
          </a:bodyPr>
          <a:lstStyle/>
          <a:p>
            <a:pPr algn="ctr"/>
            <a:r>
              <a:rPr lang="en-US" sz="2800" b="1" i="1" dirty="0"/>
              <a:t>Presented by: D. </a:t>
            </a:r>
            <a:r>
              <a:rPr lang="en-US" sz="2800" b="1" i="1" dirty="0" err="1"/>
              <a:t>Mwekera</a:t>
            </a:r>
            <a:endParaRPr lang="en-US" sz="2800" b="1" i="1" dirty="0"/>
          </a:p>
        </p:txBody>
      </p:sp>
    </p:spTree>
    <p:extLst>
      <p:ext uri="{BB962C8B-B14F-4D97-AF65-F5344CB8AC3E}">
        <p14:creationId xmlns:p14="http://schemas.microsoft.com/office/powerpoint/2010/main" val="3481568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2BEC6-9183-4607-8FAD-8F4F6B093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CFFBF-A5AD-46F6-A473-436AE2D4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operating system acts as an intermediary between the user of a computer and computer hardware. </a:t>
            </a:r>
          </a:p>
          <a:p>
            <a:r>
              <a:rPr lang="en-US" dirty="0"/>
              <a:t>The purpose of an operating system is to provide an environment in which a user can execute programs in a convenient and efficient manner.</a:t>
            </a:r>
          </a:p>
          <a:p>
            <a:r>
              <a:rPr lang="en-US" dirty="0"/>
              <a:t>An operating system is a software that manages the computer hardware. </a:t>
            </a:r>
          </a:p>
          <a:p>
            <a:r>
              <a:rPr lang="en-US" dirty="0"/>
              <a:t>The hardware must provide appropriate mechanisms to ensure the correct operation of the computer system and to prevent user programs from interfering with the proper operation of the system</a:t>
            </a:r>
          </a:p>
        </p:txBody>
      </p:sp>
    </p:spTree>
    <p:extLst>
      <p:ext uri="{BB962C8B-B14F-4D97-AF65-F5344CB8AC3E}">
        <p14:creationId xmlns:p14="http://schemas.microsoft.com/office/powerpoint/2010/main" val="3702634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C010A-DA74-40DB-9A17-0041A2F6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Operating System – Definition: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D0F17-3EF9-49AB-B781-4D017CBF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operating system is a program that controls the execution of application programs and acts as an interface between the user of a computer and the computer hardware.</a:t>
            </a:r>
          </a:p>
          <a:p>
            <a:r>
              <a:rPr lang="en-US" dirty="0"/>
              <a:t>A more common definition is that the operating system is the one program running at all times on the computer (usually called the kernel), with all else being application programs.</a:t>
            </a:r>
          </a:p>
        </p:txBody>
      </p:sp>
    </p:spTree>
    <p:extLst>
      <p:ext uri="{BB962C8B-B14F-4D97-AF65-F5344CB8AC3E}">
        <p14:creationId xmlns:p14="http://schemas.microsoft.com/office/powerpoint/2010/main" val="2517041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D3A73-848C-4AE6-8CD7-23FEF5F78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Types of Operating System (OS)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9480D-DA0D-46BA-B4F0-00390D1EC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Batch Operating System</a:t>
            </a:r>
          </a:p>
          <a:p>
            <a:r>
              <a:rPr lang="en-US" dirty="0"/>
              <a:t>Multitasking/Time Sharing OS</a:t>
            </a:r>
          </a:p>
          <a:p>
            <a:r>
              <a:rPr lang="en-US" dirty="0"/>
              <a:t>Multiprocessing OS</a:t>
            </a:r>
          </a:p>
          <a:p>
            <a:r>
              <a:rPr lang="en-US" dirty="0"/>
              <a:t>Real Time OS</a:t>
            </a:r>
          </a:p>
          <a:p>
            <a:r>
              <a:rPr lang="en-US" dirty="0"/>
              <a:t>Distributed OS</a:t>
            </a:r>
          </a:p>
          <a:p>
            <a:r>
              <a:rPr lang="en-US" dirty="0"/>
              <a:t>Network OS</a:t>
            </a:r>
          </a:p>
          <a:p>
            <a:r>
              <a:rPr lang="en-US" dirty="0"/>
              <a:t>Mobile OS</a:t>
            </a:r>
          </a:p>
        </p:txBody>
      </p:sp>
    </p:spTree>
    <p:extLst>
      <p:ext uri="{BB962C8B-B14F-4D97-AF65-F5344CB8AC3E}">
        <p14:creationId xmlns:p14="http://schemas.microsoft.com/office/powerpoint/2010/main" val="1969907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DBD1-FC8A-47F1-8EC6-2C4021E50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Batch Operating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8CC44-33CB-4BC5-80E9-80B258C3F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Some computer processes are very lengthy and time-consuming. </a:t>
            </a:r>
          </a:p>
          <a:p>
            <a:pPr>
              <a:lnSpc>
                <a:spcPct val="100000"/>
              </a:lnSpc>
            </a:pPr>
            <a:r>
              <a:rPr lang="en-US" dirty="0"/>
              <a:t>To speed the same process, a job with a similar type of needs are batched together and run as a group.</a:t>
            </a:r>
          </a:p>
          <a:p>
            <a:pPr>
              <a:lnSpc>
                <a:spcPct val="100000"/>
              </a:lnSpc>
            </a:pPr>
            <a:r>
              <a:rPr lang="en-US" dirty="0"/>
              <a:t>The user of a batch operating system never directly interacts with the computer. </a:t>
            </a:r>
          </a:p>
          <a:p>
            <a:pPr>
              <a:lnSpc>
                <a:spcPct val="100000"/>
              </a:lnSpc>
            </a:pPr>
            <a:r>
              <a:rPr lang="en-US" dirty="0"/>
              <a:t>In this type of OS, every user prepares his or her job on an offline device like a punch card and submit it to the computer operator.</a:t>
            </a:r>
          </a:p>
        </p:txBody>
      </p:sp>
    </p:spTree>
    <p:extLst>
      <p:ext uri="{BB962C8B-B14F-4D97-AF65-F5344CB8AC3E}">
        <p14:creationId xmlns:p14="http://schemas.microsoft.com/office/powerpoint/2010/main" val="2029255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73A5E-EE67-4ADB-BDE1-BBED4FEF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b="1" dirty="0"/>
              <a:t>Multi-Tasking/Time-sharing Operating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BFC09-12E3-474B-8010-C7535E026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Time-sharing operating system enables people located at a different terminal(shell) to use a single computer system at the same time. </a:t>
            </a:r>
          </a:p>
          <a:p>
            <a:r>
              <a:rPr lang="en-US" dirty="0"/>
              <a:t>The processor time (CPU) which is shared among</a:t>
            </a:r>
          </a:p>
          <a:p>
            <a:pPr marL="0" indent="0">
              <a:buNone/>
            </a:pPr>
            <a:r>
              <a:rPr lang="en-US" dirty="0"/>
              <a:t>multiple users is termed as time sharing.</a:t>
            </a:r>
          </a:p>
        </p:txBody>
      </p:sp>
    </p:spTree>
    <p:extLst>
      <p:ext uri="{BB962C8B-B14F-4D97-AF65-F5344CB8AC3E}">
        <p14:creationId xmlns:p14="http://schemas.microsoft.com/office/powerpoint/2010/main" val="3922863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A148-A196-4D15-9BB5-245A4613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Real time 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6AF4F-79A9-4913-8EFD-4FD395D41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real time operating system, the time interval to process and respond to inputs is very small.</a:t>
            </a:r>
          </a:p>
          <a:p>
            <a:pPr>
              <a:lnSpc>
                <a:spcPct val="150000"/>
              </a:lnSpc>
            </a:pPr>
            <a:r>
              <a:rPr lang="en-US" dirty="0"/>
              <a:t>Examples: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Military Software Systems,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Space Software Systems are the Real time OS example.</a:t>
            </a:r>
          </a:p>
        </p:txBody>
      </p:sp>
    </p:spTree>
    <p:extLst>
      <p:ext uri="{BB962C8B-B14F-4D97-AF65-F5344CB8AC3E}">
        <p14:creationId xmlns:p14="http://schemas.microsoft.com/office/powerpoint/2010/main" val="3878954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E3B-94F3-491D-9D49-49ED341E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7510"/>
          </a:xfrm>
        </p:spPr>
        <p:txBody>
          <a:bodyPr/>
          <a:lstStyle/>
          <a:p>
            <a:r>
              <a:rPr lang="en-US" b="1" dirty="0"/>
              <a:t>Distributed Operating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C2BF3-26CF-44B8-8159-EE0849D8F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6900"/>
            <a:ext cx="10515600" cy="43100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distributed system is </a:t>
            </a:r>
            <a:r>
              <a:rPr lang="en-US" b="1" dirty="0"/>
              <a:t>a collection of computer programs that utilize computational resources across multiple, separate computation nodes to achieve a common, shared goal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Also known as distributed computing or distributed databases. </a:t>
            </a:r>
          </a:p>
          <a:p>
            <a:pPr>
              <a:lnSpc>
                <a:spcPct val="150000"/>
              </a:lnSpc>
            </a:pPr>
            <a:r>
              <a:rPr lang="en-US" dirty="0"/>
              <a:t>It relies on separate nodes to communicate and synchronize over a common network.</a:t>
            </a:r>
          </a:p>
        </p:txBody>
      </p:sp>
    </p:spTree>
    <p:extLst>
      <p:ext uri="{BB962C8B-B14F-4D97-AF65-F5344CB8AC3E}">
        <p14:creationId xmlns:p14="http://schemas.microsoft.com/office/powerpoint/2010/main" val="3191794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2F9-9231-4D14-839A-08540E884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6828"/>
          </a:xfrm>
        </p:spPr>
        <p:txBody>
          <a:bodyPr/>
          <a:lstStyle/>
          <a:p>
            <a:r>
              <a:rPr lang="en-US" b="1" dirty="0"/>
              <a:t>Network Operating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48317E-E717-4E2B-ACF0-50C644DBB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1247"/>
            <a:ext cx="10515600" cy="47157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Network Operating System runs on a server. </a:t>
            </a:r>
          </a:p>
          <a:p>
            <a:pPr>
              <a:lnSpc>
                <a:spcPct val="100000"/>
              </a:lnSpc>
            </a:pPr>
            <a:r>
              <a:rPr lang="en-US" dirty="0"/>
              <a:t>It provides the capability to server to manage data, user, groups, security, application, and other networking functions</a:t>
            </a:r>
          </a:p>
          <a:p>
            <a:endParaRPr lang="en-US" dirty="0"/>
          </a:p>
          <a:p>
            <a:pPr>
              <a:lnSpc>
                <a:spcPct val="150000"/>
              </a:lnSpc>
            </a:pPr>
            <a:r>
              <a:rPr lang="en-US" dirty="0">
                <a:effectLst/>
              </a:rPr>
              <a:t>Examples of N.O.S. include: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UNIX, Linux, Microsoft Windows Server 2012, Microsoft Windows Server 2008, Microsoft Windows Server 2003, Novell NetWare, Banyan's VINES, Artisoft's LANtastic, Mac OS X, and BSD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5414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65D00-A34E-4A7A-AD7F-8AFC0E661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Mobile 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8A8EA-B4BC-4420-9582-69B4CC15F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Mobile operating systems are those OS which are specifically designed to power smartphones, tablets, and wearables devices.</a:t>
            </a:r>
          </a:p>
          <a:p>
            <a:pPr>
              <a:lnSpc>
                <a:spcPct val="150000"/>
              </a:lnSpc>
            </a:pPr>
            <a:r>
              <a:rPr lang="en-US" dirty="0"/>
              <a:t>Some most famous mobile operating systems are Android and iOS,</a:t>
            </a:r>
          </a:p>
          <a:p>
            <a:pPr>
              <a:lnSpc>
                <a:spcPct val="150000"/>
              </a:lnSpc>
            </a:pPr>
            <a:r>
              <a:rPr lang="en-US" dirty="0"/>
              <a:t>Others include: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BlackBerry, Web, and watch-OS.</a:t>
            </a:r>
          </a:p>
        </p:txBody>
      </p:sp>
    </p:spTree>
    <p:extLst>
      <p:ext uri="{BB962C8B-B14F-4D97-AF65-F5344CB8AC3E}">
        <p14:creationId xmlns:p14="http://schemas.microsoft.com/office/powerpoint/2010/main" val="3977263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D9C45-5099-4D3B-911C-B17231D83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8565"/>
            <a:ext cx="10515600" cy="55583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An operating system is concerned with the allocation of resources and services, such as memory, processors, devices, and information. </a:t>
            </a:r>
          </a:p>
          <a:p>
            <a:pPr>
              <a:lnSpc>
                <a:spcPct val="150000"/>
              </a:lnSpc>
            </a:pPr>
            <a:r>
              <a:rPr lang="en-US" dirty="0"/>
              <a:t>The operating system correspondingly includes programs to manage these resources, such as: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-a traffic controller,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-a scheduler,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-memory management module,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-I/O programs, and a file system.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448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3A982-B204-47C3-95A3-89739023C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of Operating system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D567DE2-A797-47D5-ABFD-36D5B2545F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102" y="2016125"/>
            <a:ext cx="7364120" cy="3449638"/>
          </a:xfrm>
        </p:spPr>
      </p:pic>
    </p:spTree>
    <p:extLst>
      <p:ext uri="{BB962C8B-B14F-4D97-AF65-F5344CB8AC3E}">
        <p14:creationId xmlns:p14="http://schemas.microsoft.com/office/powerpoint/2010/main" val="2856878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A8F2D-6600-4AD0-8FD0-30B97762C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9666"/>
            <a:ext cx="10515600" cy="947769"/>
          </a:xfrm>
        </p:spPr>
        <p:txBody>
          <a:bodyPr/>
          <a:lstStyle/>
          <a:p>
            <a:r>
              <a:rPr lang="en-US" b="1" dirty="0"/>
              <a:t>Functions of 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B452B-B6FE-4952-ADEA-DD348BAD5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Process management:- </a:t>
            </a:r>
            <a:r>
              <a:rPr lang="en-US" dirty="0"/>
              <a:t>Process management helps OS to create and delete processes. </a:t>
            </a:r>
          </a:p>
          <a:p>
            <a:r>
              <a:rPr lang="en-US" dirty="0"/>
              <a:t>It also provides mechanisms for synchronization and communication among processes.</a:t>
            </a:r>
          </a:p>
          <a:p>
            <a:r>
              <a:rPr lang="en-US" b="1" dirty="0"/>
              <a:t>Memory management:- </a:t>
            </a:r>
            <a:r>
              <a:rPr lang="en-US" dirty="0"/>
              <a:t>Memory management module performs the task of allocation and de-allocation of memory space to programs in need of this resources.</a:t>
            </a:r>
          </a:p>
          <a:p>
            <a:r>
              <a:rPr lang="en-US" b="1" dirty="0"/>
              <a:t>File management:- </a:t>
            </a:r>
            <a:r>
              <a:rPr lang="en-US" dirty="0"/>
              <a:t>It manages all the file-related activities such as organization storage, retrieval, naming, sharing, and protection of files.</a:t>
            </a:r>
          </a:p>
        </p:txBody>
      </p:sp>
    </p:spTree>
    <p:extLst>
      <p:ext uri="{BB962C8B-B14F-4D97-AF65-F5344CB8AC3E}">
        <p14:creationId xmlns:p14="http://schemas.microsoft.com/office/powerpoint/2010/main" val="11688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39AE-8D9C-4233-934E-1B03875DC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of OS cont.…/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E779A-19C2-4F85-8D99-971A1A9EAE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Device Management: </a:t>
            </a:r>
            <a:r>
              <a:rPr lang="en-US" dirty="0"/>
              <a:t>Device management keeps tracks of all devices. This module also responsible for this task is known as the I/O controller. </a:t>
            </a:r>
          </a:p>
          <a:p>
            <a:r>
              <a:rPr lang="en-US" dirty="0"/>
              <a:t>It also performs the task of allocation and de-allocation of the devices.</a:t>
            </a:r>
          </a:p>
          <a:p>
            <a:endParaRPr lang="en-US" dirty="0"/>
          </a:p>
          <a:p>
            <a:r>
              <a:rPr lang="en-US" b="1" dirty="0"/>
              <a:t>I/O System Management: </a:t>
            </a:r>
            <a:r>
              <a:rPr lang="en-US" dirty="0"/>
              <a:t>One of the main objects of any OS is to hide the peculiarities of that hardware devices from the user.</a:t>
            </a:r>
          </a:p>
        </p:txBody>
      </p:sp>
    </p:spTree>
    <p:extLst>
      <p:ext uri="{BB962C8B-B14F-4D97-AF65-F5344CB8AC3E}">
        <p14:creationId xmlns:p14="http://schemas.microsoft.com/office/powerpoint/2010/main" val="1290634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C3F15-88F6-45E8-A3A8-5195C11A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of OS cont.…/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12818-F16B-462B-A748-70B9AFAA8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Secondary-Storage Management: </a:t>
            </a:r>
            <a:r>
              <a:rPr lang="en-US" dirty="0"/>
              <a:t>Systems have several levels of storage which includes primary storage, secondary storage, and cache storage. </a:t>
            </a:r>
          </a:p>
          <a:p>
            <a:r>
              <a:rPr lang="en-US" dirty="0"/>
              <a:t>Instructions and data must be stored in primary storage or cache so that a running program can reference it.</a:t>
            </a:r>
          </a:p>
          <a:p>
            <a:r>
              <a:rPr lang="en-US" b="1" dirty="0"/>
              <a:t>Security:- </a:t>
            </a:r>
            <a:r>
              <a:rPr lang="en-US" dirty="0"/>
              <a:t>Security module protects the data and information of a computer system against malware threat and authorized access.</a:t>
            </a:r>
          </a:p>
          <a:p>
            <a:r>
              <a:rPr lang="en-US" b="1" dirty="0"/>
              <a:t>Command interpretation: </a:t>
            </a:r>
            <a:r>
              <a:rPr lang="en-US" dirty="0"/>
              <a:t>This module is interpreting commands given by the and acting system resources to process that commands.</a:t>
            </a:r>
          </a:p>
        </p:txBody>
      </p:sp>
    </p:spTree>
    <p:extLst>
      <p:ext uri="{BB962C8B-B14F-4D97-AF65-F5344CB8AC3E}">
        <p14:creationId xmlns:p14="http://schemas.microsoft.com/office/powerpoint/2010/main" val="3062357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ECDB-4CE5-46DA-99DA-260E3531E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922875"/>
            <a:ext cx="9902221" cy="908921"/>
          </a:xfrm>
        </p:spPr>
        <p:txBody>
          <a:bodyPr/>
          <a:lstStyle/>
          <a:p>
            <a:r>
              <a:rPr lang="en-US" b="1" dirty="0"/>
              <a:t>Functions of OS cont.…/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6130E-1276-4B1B-B6AF-A22F16657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dirty="0"/>
              <a:t>Networking: </a:t>
            </a:r>
            <a:r>
              <a:rPr lang="en-US" dirty="0"/>
              <a:t>A distributed system is a group of processors which do not share memory, hardware devices, or a clock. </a:t>
            </a:r>
          </a:p>
          <a:p>
            <a:pPr>
              <a:lnSpc>
                <a:spcPct val="100000"/>
              </a:lnSpc>
            </a:pPr>
            <a:r>
              <a:rPr lang="en-US" dirty="0"/>
              <a:t>The processors communicate with one another through the network.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Job accounting: </a:t>
            </a:r>
            <a:r>
              <a:rPr lang="en-US" dirty="0"/>
              <a:t>Keeping track of time &amp; resource used by various job and users.</a:t>
            </a:r>
          </a:p>
          <a:p>
            <a:pPr>
              <a:lnSpc>
                <a:spcPct val="100000"/>
              </a:lnSpc>
            </a:pPr>
            <a:r>
              <a:rPr lang="en-US" b="1" dirty="0"/>
              <a:t>Communication management: </a:t>
            </a:r>
            <a:r>
              <a:rPr lang="en-US" dirty="0"/>
              <a:t>Coordination and assignment of compilers, interpreters, and another software resource of the various users of the computer systems</a:t>
            </a:r>
          </a:p>
        </p:txBody>
      </p:sp>
    </p:spTree>
    <p:extLst>
      <p:ext uri="{BB962C8B-B14F-4D97-AF65-F5344CB8AC3E}">
        <p14:creationId xmlns:p14="http://schemas.microsoft.com/office/powerpoint/2010/main" val="2459404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B401A-83CC-49C2-BA20-99BCB2F1E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6267" y="195729"/>
            <a:ext cx="9278968" cy="970616"/>
          </a:xfrm>
        </p:spPr>
        <p:txBody>
          <a:bodyPr/>
          <a:lstStyle/>
          <a:p>
            <a:r>
              <a:rPr lang="en-US" b="1" dirty="0"/>
              <a:t>Functions of OS </a:t>
            </a:r>
            <a:r>
              <a:rPr lang="en-US" b="1" dirty="0" err="1"/>
              <a:t>cont</a:t>
            </a:r>
            <a:r>
              <a:rPr lang="en-US" b="1" dirty="0"/>
              <a:t>…/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C9068-F328-4C23-A8CF-3A8BC97C8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6266" y="1166345"/>
            <a:ext cx="9897533" cy="5010618"/>
          </a:xfrm>
        </p:spPr>
        <p:txBody>
          <a:bodyPr/>
          <a:lstStyle/>
          <a:p>
            <a:r>
              <a:rPr lang="en-US" dirty="0"/>
              <a:t>Functions and characteristic of a good OS:</a:t>
            </a:r>
          </a:p>
          <a:p>
            <a:pPr marL="0" indent="0">
              <a:buNone/>
            </a:pPr>
            <a:endParaRPr lang="en-US" dirty="0"/>
          </a:p>
          <a:p>
            <a:pPr lvl="1">
              <a:lnSpc>
                <a:spcPct val="150000"/>
              </a:lnSpc>
            </a:pPr>
            <a:r>
              <a:rPr lang="en-US" b="1" dirty="0"/>
              <a:t>Convenience: </a:t>
            </a:r>
            <a:r>
              <a:rPr lang="en-US" dirty="0"/>
              <a:t>An OS makes a computer more convenient to use.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Efficiency: </a:t>
            </a:r>
            <a:r>
              <a:rPr lang="en-US" dirty="0"/>
              <a:t>An OS allows the computer system resources to be used in an efficient manner.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Ability to Evolve: </a:t>
            </a:r>
            <a:r>
              <a:rPr lang="en-US" dirty="0"/>
              <a:t>An OS should be constructed in such a way as to permit the effective development, testing and introduction of new system functions at the same time without interfering with service.</a:t>
            </a:r>
          </a:p>
        </p:txBody>
      </p:sp>
    </p:spTree>
    <p:extLst>
      <p:ext uri="{BB962C8B-B14F-4D97-AF65-F5344CB8AC3E}">
        <p14:creationId xmlns:p14="http://schemas.microsoft.com/office/powerpoint/2010/main" val="1211432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36A-9E20-43AD-9C46-B9F8A4B8C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9576"/>
            <a:ext cx="10515600" cy="821112"/>
          </a:xfrm>
        </p:spPr>
        <p:txBody>
          <a:bodyPr/>
          <a:lstStyle/>
          <a:p>
            <a:r>
              <a:rPr lang="en-US" b="1" dirty="0"/>
              <a:t>Operating system as User Interface –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9D997-1269-4A32-B742-C6CF7736E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482" y="2187387"/>
            <a:ext cx="10206317" cy="3989575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User</a:t>
            </a:r>
          </a:p>
          <a:p>
            <a:pPr marL="514350" indent="-514350">
              <a:buAutoNum type="arabicPeriod"/>
            </a:pPr>
            <a:r>
              <a:rPr lang="en-US" dirty="0"/>
              <a:t>System and application programs</a:t>
            </a:r>
          </a:p>
          <a:p>
            <a:pPr marL="514350" indent="-514350">
              <a:buAutoNum type="arabicPeriod"/>
            </a:pPr>
            <a:r>
              <a:rPr lang="en-US" dirty="0"/>
              <a:t>Operating system</a:t>
            </a:r>
          </a:p>
          <a:p>
            <a:pPr marL="514350" indent="-514350">
              <a:buAutoNum type="arabicPeriod"/>
            </a:pPr>
            <a:r>
              <a:rPr lang="en-US" dirty="0"/>
              <a:t>Hardware</a:t>
            </a:r>
          </a:p>
        </p:txBody>
      </p:sp>
    </p:spTree>
    <p:extLst>
      <p:ext uri="{BB962C8B-B14F-4D97-AF65-F5344CB8AC3E}">
        <p14:creationId xmlns:p14="http://schemas.microsoft.com/office/powerpoint/2010/main" val="1629991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2C032-E2E7-4FB7-984E-3205F90E2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8847"/>
            <a:ext cx="10515600" cy="48681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Every general-purpose computer consists of the hardware, operating system, system programs, and application programs. </a:t>
            </a:r>
          </a:p>
          <a:p>
            <a:pPr>
              <a:lnSpc>
                <a:spcPct val="150000"/>
              </a:lnSpc>
            </a:pPr>
            <a:r>
              <a:rPr lang="en-US" dirty="0"/>
              <a:t>The hardware consists of memory, CPU, ALU, and I/O devices, peripheral device, and storage device. </a:t>
            </a:r>
          </a:p>
          <a:p>
            <a:pPr>
              <a:lnSpc>
                <a:spcPct val="150000"/>
              </a:lnSpc>
            </a:pPr>
            <a:r>
              <a:rPr lang="en-US" dirty="0"/>
              <a:t>System program consists of compilers, loaders, editors, OS, etc. </a:t>
            </a:r>
          </a:p>
          <a:p>
            <a:pPr>
              <a:lnSpc>
                <a:spcPct val="150000"/>
              </a:lnSpc>
            </a:pPr>
            <a:r>
              <a:rPr lang="en-US" dirty="0"/>
              <a:t>The application program consists of business programs, database programs.</a:t>
            </a:r>
          </a:p>
        </p:txBody>
      </p:sp>
    </p:spTree>
    <p:extLst>
      <p:ext uri="{BB962C8B-B14F-4D97-AF65-F5344CB8AC3E}">
        <p14:creationId xmlns:p14="http://schemas.microsoft.com/office/powerpoint/2010/main" val="1273116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381E3-E2F2-42E2-8F00-04F105DB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24404"/>
          </a:xfrm>
        </p:spPr>
        <p:txBody>
          <a:bodyPr/>
          <a:lstStyle/>
          <a:p>
            <a:r>
              <a:rPr lang="en-US" b="1" dirty="0"/>
              <a:t>Conceptual view of a computer 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58C30C-704A-4484-B951-B2B4B5F518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00517"/>
            <a:ext cx="10013575" cy="4592357"/>
          </a:xfrm>
        </p:spPr>
      </p:pic>
    </p:spTree>
    <p:extLst>
      <p:ext uri="{BB962C8B-B14F-4D97-AF65-F5344CB8AC3E}">
        <p14:creationId xmlns:p14="http://schemas.microsoft.com/office/powerpoint/2010/main" val="1352126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64CB7-AEAD-45A5-BCD5-ABA889A6B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694" y="1396066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THE END OF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0F980-46B0-4420-96A7-C46DB5B8D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63153"/>
            <a:ext cx="10515600" cy="1819835"/>
          </a:xfrm>
        </p:spPr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THANK YOU FOR BEING ATTENTIVE</a:t>
            </a:r>
          </a:p>
        </p:txBody>
      </p:sp>
    </p:spTree>
    <p:extLst>
      <p:ext uri="{BB962C8B-B14F-4D97-AF65-F5344CB8AC3E}">
        <p14:creationId xmlns:p14="http://schemas.microsoft.com/office/powerpoint/2010/main" val="8318298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85</TotalTime>
  <Words>1079</Words>
  <Application>Microsoft Office PowerPoint</Application>
  <PresentationFormat>Widescreen</PresentationFormat>
  <Paragraphs>93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Gill Sans MT</vt:lpstr>
      <vt:lpstr>Wingdings</vt:lpstr>
      <vt:lpstr>Gallery</vt:lpstr>
      <vt:lpstr>Introduction to Operating System</vt:lpstr>
      <vt:lpstr>Introduction</vt:lpstr>
      <vt:lpstr>Operating System – Definition:</vt:lpstr>
      <vt:lpstr>Types of Operating System (OS)</vt:lpstr>
      <vt:lpstr>Batch Operating System</vt:lpstr>
      <vt:lpstr>Multi-Tasking/Time-sharing Operating systems</vt:lpstr>
      <vt:lpstr>Real time OS</vt:lpstr>
      <vt:lpstr>Distributed Operating System</vt:lpstr>
      <vt:lpstr>Network Operating System</vt:lpstr>
      <vt:lpstr>Mobile OS</vt:lpstr>
      <vt:lpstr>PowerPoint Presentation</vt:lpstr>
      <vt:lpstr>Functions of Operating system</vt:lpstr>
      <vt:lpstr>Functions of OS</vt:lpstr>
      <vt:lpstr>Functions of OS cont.…/</vt:lpstr>
      <vt:lpstr>Functions of OS cont.…/</vt:lpstr>
      <vt:lpstr>Functions of OS cont.…/</vt:lpstr>
      <vt:lpstr>Functions of OS cont…/</vt:lpstr>
      <vt:lpstr>Operating system as User Interface –</vt:lpstr>
      <vt:lpstr>PowerPoint Presentation</vt:lpstr>
      <vt:lpstr>Conceptual view of a computer system</vt:lpstr>
      <vt:lpstr>THE END OF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Operating System</dc:title>
  <dc:creator>HP</dc:creator>
  <cp:lastModifiedBy>Francisco Zakeyo</cp:lastModifiedBy>
  <cp:revision>16</cp:revision>
  <dcterms:created xsi:type="dcterms:W3CDTF">2024-03-11T15:05:04Z</dcterms:created>
  <dcterms:modified xsi:type="dcterms:W3CDTF">2025-01-13T09:39:56Z</dcterms:modified>
</cp:coreProperties>
</file>