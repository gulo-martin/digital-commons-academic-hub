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1868" r:id="rId3"/>
    <p:sldId id="1870" r:id="rId5"/>
    <p:sldId id="1871" r:id="rId6"/>
    <p:sldId id="1872" r:id="rId7"/>
    <p:sldId id="1873" r:id="rId8"/>
    <p:sldId id="1874" r:id="rId9"/>
    <p:sldId id="1875" r:id="rId10"/>
    <p:sldId id="1876" r:id="rId11"/>
    <p:sldId id="1877" r:id="rId12"/>
    <p:sldId id="1878" r:id="rId13"/>
    <p:sldId id="1879" r:id="rId14"/>
    <p:sldId id="1880" r:id="rId15"/>
    <p:sldId id="1881" r:id="rId16"/>
    <p:sldId id="1882" r:id="rId17"/>
    <p:sldId id="1883" r:id="rId18"/>
    <p:sldId id="1884" r:id="rId19"/>
    <p:sldId id="1885" r:id="rId20"/>
    <p:sldId id="1886" r:id="rId21"/>
    <p:sldId id="1888" r:id="rId22"/>
    <p:sldId id="1887" r:id="rId23"/>
    <p:sldId id="1889" r:id="rId24"/>
    <p:sldId id="1890" r:id="rId25"/>
    <p:sldId id="1891" r:id="rId26"/>
    <p:sldId id="1892" r:id="rId27"/>
    <p:sldId id="1893" r:id="rId28"/>
    <p:sldId id="1894" r:id="rId29"/>
    <p:sldId id="1896" r:id="rId30"/>
    <p:sldId id="1895" r:id="rId31"/>
    <p:sldId id="1898" r:id="rId32"/>
    <p:sldId id="1867" r:id="rId33"/>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4387"/>
    <a:srgbClr val="FF2625"/>
    <a:srgbClr val="007788"/>
    <a:srgbClr val="297C2A"/>
    <a:srgbClr val="F69000"/>
    <a:srgbClr val="01C2D1"/>
    <a:srgbClr val="D6D734"/>
    <a:srgbClr val="005C68"/>
    <a:srgbClr val="3B2E58"/>
    <a:srgbClr val="6B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24" autoAdjust="0"/>
  </p:normalViewPr>
  <p:slideViewPr>
    <p:cSldViewPr snapToGrid="0" showGuides="1">
      <p:cViewPr varScale="1">
        <p:scale>
          <a:sx n="62" d="100"/>
          <a:sy n="62" d="100"/>
        </p:scale>
        <p:origin x="828" y="44"/>
      </p:cViewPr>
      <p:guideLst>
        <p:guide orient="horz" pos="2160"/>
        <p:guide pos="480"/>
        <p:guide pos="7200"/>
        <p:guide pos="4368"/>
      </p:guideLst>
    </p:cSldViewPr>
  </p:slideViewPr>
  <p:notesTextViewPr>
    <p:cViewPr>
      <p:scale>
        <a:sx n="1" d="1"/>
        <a:sy n="1" d="1"/>
      </p:scale>
      <p:origin x="0" y="0"/>
    </p:cViewPr>
  </p:notesTextViewPr>
  <p:sorterViewPr>
    <p:cViewPr>
      <p:scale>
        <a:sx n="94" d="100"/>
        <a:sy n="94"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customXml" Target="../customXml/item3.xml"/><Relationship Id="rId38" Type="http://schemas.openxmlformats.org/officeDocument/2006/relationships/customXml" Target="../customXml/item2.xml"/><Relationship Id="rId37" Type="http://schemas.openxmlformats.org/officeDocument/2006/relationships/customXml" Target="../customXml/item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atin typeface="Arial" panose="020B0604020202020204" pitchFamily="34" charset="0"/>
              </a:defRPr>
            </a:lvl1pPr>
          </a:lstStyle>
          <a:p>
            <a:pPr>
              <a:defRPr/>
            </a:pPr>
            <a:endParaRPr lang="en-US" dirty="0"/>
          </a:p>
        </p:txBody>
      </p:sp>
      <p:sp>
        <p:nvSpPr>
          <p:cNvPr id="3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endParaRPr lang="en-US" dirty="0"/>
          </a:p>
        </p:txBody>
      </p:sp>
      <p:sp>
        <p:nvSpPr>
          <p:cNvPr id="1434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3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atin typeface="Arial" panose="020B0604020202020204" pitchFamily="34" charset="0"/>
              </a:defRPr>
            </a:lvl1pPr>
          </a:lstStyle>
          <a:p>
            <a:pPr>
              <a:defRPr/>
            </a:pPr>
            <a:endParaRPr lang="en-US" dirty="0"/>
          </a:p>
        </p:txBody>
      </p:sp>
      <p:sp>
        <p:nvSpPr>
          <p:cNvPr id="3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6DEB7EE2-04A2-4FB2-9625-C9C73AC4D32F}" type="slidenum">
              <a:rPr lang="en-US" altLang="en-US"/>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fld>
            <a:endParaRPr lang="en-US" altLang="en-US" dirty="0"/>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fld>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rcRect/>
          <a:stretch>
            <a:fillRect/>
          </a:stretch>
        </p:blipFill>
        <p:spPr>
          <a:xfrm>
            <a:off x="0" y="1"/>
            <a:ext cx="12191998" cy="6857999"/>
          </a:xfrm>
          <a:prstGeom prst="rect">
            <a:avLst/>
          </a:prstGeom>
        </p:spPr>
      </p:pic>
      <p:sp>
        <p:nvSpPr>
          <p:cNvPr id="4" name="Title 3"/>
          <p:cNvSpPr>
            <a:spLocks noGrp="1"/>
          </p:cNvSpPr>
          <p:nvPr>
            <p:ph type="title" hasCustomPrompt="1"/>
          </p:nvPr>
        </p:nvSpPr>
        <p:spPr>
          <a:xfrm>
            <a:off x="5442012" y="2766219"/>
            <a:ext cx="6220101" cy="1325563"/>
          </a:xfrm>
          <a:prstGeom prst="rect">
            <a:avLst/>
          </a:prstGeom>
        </p:spPr>
        <p:txBody>
          <a:bodyPr/>
          <a:lstStyle>
            <a:lvl1pPr>
              <a:defRPr b="1"/>
            </a:lvl1pPr>
          </a:lstStyle>
          <a:p>
            <a:r>
              <a:rPr lang="en-US" dirty="0"/>
              <a:t>Insert title here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ight Patter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2"/>
                </a:solidFill>
              </a:defRPr>
            </a:lvl1pPr>
          </a:lstStyle>
          <a:p>
            <a:r>
              <a:rPr lang="en-US" dirty="0"/>
              <a:t>Insert title here</a:t>
            </a:r>
            <a:endParaRPr lang="en-US" dirty="0"/>
          </a:p>
        </p:txBody>
      </p:sp>
      <p:sp>
        <p:nvSpPr>
          <p:cNvPr id="12" name="Text Placeholder 15"/>
          <p:cNvSpPr>
            <a:spLocks noGrp="1"/>
          </p:cNvSpPr>
          <p:nvPr>
            <p:ph type="body" sz="quarter" idx="11" hasCustomPrompt="1"/>
          </p:nvPr>
        </p:nvSpPr>
        <p:spPr>
          <a:xfrm>
            <a:off x="762000" y="1905000"/>
            <a:ext cx="6340929"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endParaRPr lang="en-US" dirty="0"/>
          </a:p>
          <a:p>
            <a:pPr lvl="1"/>
            <a:r>
              <a:rPr lang="en-US" dirty="0"/>
              <a:t>Insert content here</a:t>
            </a:r>
            <a:endParaRPr lang="en-US" dirty="0"/>
          </a:p>
        </p:txBody>
      </p:sp>
      <p:pic>
        <p:nvPicPr>
          <p:cNvPr id="6" name="Picture Placeholder 5" descr="Red, blue grey white pattern background"/>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a:fillRect/>
          </a:stretch>
        </p:blipFill>
        <p:spPr>
          <a:xfrm>
            <a:off x="7427166" y="0"/>
            <a:ext cx="4764834"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2"/>
        </a:solidFill>
        <a:effectLst/>
      </p:bgPr>
    </p:bg>
    <p:spTree>
      <p:nvGrpSpPr>
        <p:cNvPr id="1" name=""/>
        <p:cNvGrpSpPr/>
        <p:nvPr/>
      </p:nvGrpSpPr>
      <p:grpSpPr>
        <a:xfrm>
          <a:off x="0" y="0"/>
          <a:ext cx="0" cy="0"/>
          <a:chOff x="0" y="0"/>
          <a:chExt cx="0" cy="0"/>
        </a:xfrm>
      </p:grpSpPr>
      <p:pic>
        <p:nvPicPr>
          <p:cNvPr id="8" name="Picture Placeholder 6" descr="White Striped background"/>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5" name="Title 1"/>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815"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anose="020B0502040204020203" pitchFamily="34" charset="0"/>
              </a:defRPr>
            </a:lvl1pPr>
          </a:lstStyle>
          <a:p>
            <a:r>
              <a:rPr lang="en-US" dirty="0"/>
              <a:t>Insert title here</a:t>
            </a:r>
            <a:endParaRPr lang="en-US" dirty="0"/>
          </a:p>
        </p:txBody>
      </p:sp>
      <p:sp>
        <p:nvSpPr>
          <p:cNvPr id="6" name="Text Placeholder 4"/>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2"/>
                </a:solidFill>
              </a:defRPr>
            </a:lvl1pPr>
          </a:lstStyle>
          <a:p>
            <a:r>
              <a:rPr lang="en-US" dirty="0"/>
              <a:t>Insert title here</a:t>
            </a:r>
            <a:endParaRPr lang="en-US" dirty="0"/>
          </a:p>
        </p:txBody>
      </p:sp>
      <p:sp>
        <p:nvSpPr>
          <p:cNvPr id="10" name="Text Placeholder 15"/>
          <p:cNvSpPr>
            <a:spLocks noGrp="1"/>
          </p:cNvSpPr>
          <p:nvPr>
            <p:ph type="body" sz="quarter" idx="11" hasCustomPrompt="1"/>
          </p:nvPr>
        </p:nvSpPr>
        <p:spPr>
          <a:xfrm>
            <a:off x="762000" y="1432562"/>
            <a:ext cx="10667999" cy="1158237"/>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endParaRPr lang="en-US" dirty="0"/>
          </a:p>
          <a:p>
            <a:pPr lvl="1"/>
            <a:r>
              <a:rPr lang="en-US" dirty="0"/>
              <a:t>Insert content here</a:t>
            </a:r>
            <a:endParaRPr lang="en-US" dirty="0"/>
          </a:p>
        </p:txBody>
      </p:sp>
      <p:sp>
        <p:nvSpPr>
          <p:cNvPr id="11" name="Table Placeholder 10"/>
          <p:cNvSpPr>
            <a:spLocks noGrp="1"/>
          </p:cNvSpPr>
          <p:nvPr>
            <p:ph type="tbl" sz="quarter" idx="12" hasCustomPrompt="1"/>
          </p:nvPr>
        </p:nvSpPr>
        <p:spPr>
          <a:xfrm>
            <a:off x="757381" y="2591662"/>
            <a:ext cx="10667999" cy="2833776"/>
          </a:xfrm>
          <a:prstGeom prst="rect">
            <a:avLst/>
          </a:prstGeom>
        </p:spPr>
        <p:txBody>
          <a:bodyPr/>
          <a:lstStyle>
            <a:lvl1pPr marL="0" indent="0">
              <a:buNone/>
              <a:defRPr sz="1800" b="0"/>
            </a:lvl1pPr>
          </a:lstStyle>
          <a:p>
            <a:r>
              <a:rPr lang="en-US" dirty="0"/>
              <a:t>Insert content here</a:t>
            </a:r>
            <a:endParaRPr lang="en-US" dirty="0"/>
          </a:p>
        </p:txBody>
      </p:sp>
      <p:pic>
        <p:nvPicPr>
          <p:cNvPr id="7" name="Picture Placeholder 5" descr="Red, blue grey white pattern background"/>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a:fillRect/>
          </a:stretch>
        </p:blipFill>
        <p:spPr>
          <a:xfrm>
            <a:off x="0" y="5990252"/>
            <a:ext cx="12192000" cy="86774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Pattern Conten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1"/>
                </a:solidFill>
              </a:defRPr>
            </a:lvl1pPr>
          </a:lstStyle>
          <a:p>
            <a:r>
              <a:rPr lang="en-US" dirty="0"/>
              <a:t>Insert title here</a:t>
            </a:r>
            <a:endParaRPr lang="en-US" dirty="0"/>
          </a:p>
        </p:txBody>
      </p:sp>
      <p:sp>
        <p:nvSpPr>
          <p:cNvPr id="12" name="Text Placeholder 15"/>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endParaRPr lang="en-US" dirty="0"/>
          </a:p>
          <a:p>
            <a:pPr lvl="1"/>
            <a:r>
              <a:rPr lang="en-US" dirty="0"/>
              <a:t>Insert content here</a:t>
            </a:r>
            <a:endParaRPr lang="en-US" dirty="0"/>
          </a:p>
        </p:txBody>
      </p:sp>
      <p:pic>
        <p:nvPicPr>
          <p:cNvPr id="6" name="Picture Placeholder 6" descr="Red, blue grey white pattern background"/>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a:fillRect/>
          </a:stretch>
        </p:blipFill>
        <p:spPr>
          <a:xfrm>
            <a:off x="0" y="0"/>
            <a:ext cx="4767943"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3">
                    <a:lumMod val="75000"/>
                  </a:schemeClr>
                </a:solidFill>
              </a:defRPr>
            </a:lvl1pPr>
          </a:lstStyle>
          <a:p>
            <a:r>
              <a:rPr lang="en-US" dirty="0"/>
              <a:t>Insert title here</a:t>
            </a:r>
            <a:endParaRPr lang="en-US" dirty="0"/>
          </a:p>
        </p:txBody>
      </p:sp>
      <p:sp>
        <p:nvSpPr>
          <p:cNvPr id="7" name="Text Placeholder 15"/>
          <p:cNvSpPr>
            <a:spLocks noGrp="1"/>
          </p:cNvSpPr>
          <p:nvPr>
            <p:ph type="body" sz="quarter" idx="11" hasCustomPrompt="1"/>
          </p:nvPr>
        </p:nvSpPr>
        <p:spPr>
          <a:xfrm>
            <a:off x="762000" y="1432562"/>
            <a:ext cx="10667999" cy="927425"/>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endParaRPr lang="en-US" dirty="0"/>
          </a:p>
          <a:p>
            <a:pPr lvl="1"/>
            <a:r>
              <a:rPr lang="en-US" dirty="0"/>
              <a:t>Insert content here</a:t>
            </a:r>
            <a:endParaRPr lang="en-US" dirty="0"/>
          </a:p>
        </p:txBody>
      </p:sp>
      <p:sp>
        <p:nvSpPr>
          <p:cNvPr id="8" name="SmartArt Placeholder 7"/>
          <p:cNvSpPr>
            <a:spLocks noGrp="1"/>
          </p:cNvSpPr>
          <p:nvPr>
            <p:ph type="dgm" sz="quarter" idx="14" hasCustomPrompt="1"/>
          </p:nvPr>
        </p:nvSpPr>
        <p:spPr>
          <a:xfrm>
            <a:off x="762001" y="2369129"/>
            <a:ext cx="10667998" cy="3343657"/>
          </a:xfrm>
          <a:prstGeom prst="rect">
            <a:avLst/>
          </a:prstGeom>
        </p:spPr>
        <p:txBody>
          <a:bodyPr/>
          <a:lstStyle>
            <a:lvl1pPr marL="0" indent="0">
              <a:buNone/>
              <a:defRPr sz="1800" b="0"/>
            </a:lvl1pPr>
          </a:lstStyle>
          <a:p>
            <a:r>
              <a:rPr lang="en-US" dirty="0"/>
              <a:t>Insert Content here</a:t>
            </a:r>
            <a:endParaRPr lang="en-US" dirty="0"/>
          </a:p>
        </p:txBody>
      </p:sp>
      <p:pic>
        <p:nvPicPr>
          <p:cNvPr id="9" name="Picture Placeholder 8" descr="Red, blue grey white pattern background"/>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a:fillRect/>
          </a:stretch>
        </p:blipFill>
        <p:spPr>
          <a:xfrm>
            <a:off x="0" y="5999582"/>
            <a:ext cx="12192000" cy="85841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Photo Content">
    <p:spTree>
      <p:nvGrpSpPr>
        <p:cNvPr id="1" name=""/>
        <p:cNvGrpSpPr/>
        <p:nvPr/>
      </p:nvGrpSpPr>
      <p:grpSpPr>
        <a:xfrm>
          <a:off x="0" y="0"/>
          <a:ext cx="0" cy="0"/>
          <a:chOff x="0" y="0"/>
          <a:chExt cx="0" cy="0"/>
        </a:xfrm>
      </p:grpSpPr>
      <p:sp>
        <p:nvSpPr>
          <p:cNvPr id="10" name="Title 2"/>
          <p:cNvSpPr>
            <a:spLocks noGrp="1"/>
          </p:cNvSpPr>
          <p:nvPr>
            <p:ph type="title" hasCustomPrompt="1"/>
          </p:nvPr>
        </p:nvSpPr>
        <p:spPr>
          <a:xfrm>
            <a:off x="762000" y="715963"/>
            <a:ext cx="5334000" cy="1189038"/>
          </a:xfrm>
          <a:prstGeom prst="rect">
            <a:avLst/>
          </a:prstGeom>
        </p:spPr>
        <p:txBody>
          <a:bodyPr anchor="t">
            <a:normAutofit/>
          </a:bodyPr>
          <a:lstStyle>
            <a:lvl1pPr>
              <a:spcBef>
                <a:spcPts val="1000"/>
              </a:spcBef>
              <a:defRPr sz="4000" b="1">
                <a:solidFill>
                  <a:schemeClr val="accent2"/>
                </a:solidFill>
              </a:defRPr>
            </a:lvl1pPr>
          </a:lstStyle>
          <a:p>
            <a:r>
              <a:rPr lang="en-US" dirty="0"/>
              <a:t>Insert title here</a:t>
            </a:r>
            <a:endParaRPr lang="en-US" dirty="0"/>
          </a:p>
        </p:txBody>
      </p:sp>
      <p:sp>
        <p:nvSpPr>
          <p:cNvPr id="16" name="Text Placeholder 15"/>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1800" b="1"/>
            </a:lvl1pPr>
            <a:lvl2pPr marL="228600">
              <a:lnSpc>
                <a:spcPct val="100000"/>
              </a:lnSpc>
              <a:spcBef>
                <a:spcPts val="1000"/>
              </a:spcBef>
              <a:defRPr sz="1800"/>
            </a:lvl2pPr>
          </a:lstStyle>
          <a:p>
            <a:pPr lvl="0"/>
            <a:r>
              <a:rPr lang="en-US" dirty="0"/>
              <a:t>Insert subtitle here</a:t>
            </a:r>
            <a:endParaRPr lang="en-US" dirty="0"/>
          </a:p>
          <a:p>
            <a:pPr lvl="1"/>
            <a:r>
              <a:rPr lang="en-US" dirty="0"/>
              <a:t>Insert content here</a:t>
            </a:r>
            <a:endParaRPr lang="en-US" dirty="0"/>
          </a:p>
        </p:txBody>
      </p:sp>
      <p:sp>
        <p:nvSpPr>
          <p:cNvPr id="9" name="Picture Placeholder 13"/>
          <p:cNvSpPr>
            <a:spLocks noGrp="1"/>
          </p:cNvSpPr>
          <p:nvPr>
            <p:ph type="pic" sz="quarter" idx="14"/>
          </p:nvPr>
        </p:nvSpPr>
        <p:spPr>
          <a:xfrm>
            <a:off x="6858000" y="715963"/>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sp>
        <p:nvSpPr>
          <p:cNvPr id="8" name="Picture Placeholder 13"/>
          <p:cNvSpPr>
            <a:spLocks noGrp="1"/>
          </p:cNvSpPr>
          <p:nvPr>
            <p:ph type="pic" sz="quarter" idx="13"/>
          </p:nvPr>
        </p:nvSpPr>
        <p:spPr>
          <a:xfrm>
            <a:off x="6858000" y="3305541"/>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pic>
        <p:nvPicPr>
          <p:cNvPr id="11" name="Picture Placeholder 5" descr="Red, blue grey white pattern background"/>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a:fillRect/>
          </a:stretch>
        </p:blipFill>
        <p:spPr>
          <a:xfrm>
            <a:off x="0" y="5980922"/>
            <a:ext cx="12192000" cy="87707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Pattern Content Gray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3">
                    <a:lumMod val="75000"/>
                  </a:schemeClr>
                </a:solidFill>
              </a:defRPr>
            </a:lvl1pPr>
          </a:lstStyle>
          <a:p>
            <a:r>
              <a:rPr lang="en-US" dirty="0"/>
              <a:t>Insert title here</a:t>
            </a:r>
            <a:endParaRPr lang="en-US" dirty="0"/>
          </a:p>
        </p:txBody>
      </p:sp>
      <p:sp>
        <p:nvSpPr>
          <p:cNvPr id="12" name="Text Placeholder 15"/>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endParaRPr lang="en-US" dirty="0"/>
          </a:p>
          <a:p>
            <a:pPr lvl="1"/>
            <a:r>
              <a:rPr lang="en-US" dirty="0"/>
              <a:t>Insert content here</a:t>
            </a:r>
            <a:endParaRPr lang="en-US" dirty="0"/>
          </a:p>
        </p:txBody>
      </p:sp>
      <p:pic>
        <p:nvPicPr>
          <p:cNvPr id="5" name="Picture Placeholder 6" descr="Red, blue grey white pattern background"/>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a:fillRect/>
          </a:stretch>
        </p:blipFill>
        <p:spPr>
          <a:xfrm>
            <a:off x="7427166" y="0"/>
            <a:ext cx="4764834"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accent1"/>
        </a:solidFill>
        <a:effectLst/>
      </p:bgPr>
    </p:bg>
    <p:spTree>
      <p:nvGrpSpPr>
        <p:cNvPr id="1" name=""/>
        <p:cNvGrpSpPr/>
        <p:nvPr/>
      </p:nvGrpSpPr>
      <p:grpSpPr>
        <a:xfrm>
          <a:off x="0" y="0"/>
          <a:ext cx="0" cy="0"/>
          <a:chOff x="0" y="0"/>
          <a:chExt cx="0" cy="0"/>
        </a:xfrm>
      </p:grpSpPr>
      <p:pic>
        <p:nvPicPr>
          <p:cNvPr id="8" name="Picture Placeholder 6" descr="Picture placeholder "/>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5" name="Title 1"/>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815"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anose="020B0502040204020203" pitchFamily="34" charset="0"/>
              </a:defRPr>
            </a:lvl1pPr>
          </a:lstStyle>
          <a:p>
            <a:r>
              <a:rPr lang="en-US" dirty="0"/>
              <a:t>Insert title here</a:t>
            </a:r>
            <a:endParaRPr lang="en-US" dirty="0"/>
          </a:p>
        </p:txBody>
      </p:sp>
      <p:sp>
        <p:nvSpPr>
          <p:cNvPr id="6" name="Text Placeholder 4"/>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815" rtl="0" eaLnBrk="1" latinLnBrk="0" hangingPunct="1">
              <a:lnSpc>
                <a:spcPct val="100000"/>
              </a:lnSpc>
              <a:spcBef>
                <a:spcPct val="0"/>
              </a:spcBef>
              <a:buNone/>
              <a:defRPr lang="en-US" sz="4000" b="1" i="0" kern="1200" cap="none" spc="-50" baseline="0" dirty="0">
                <a:ln w="3175">
                  <a:noFill/>
                </a:ln>
                <a:solidFill>
                  <a:schemeClr val="accent1"/>
                </a:solidFill>
                <a:effectLst/>
                <a:latin typeface="+mj-lt"/>
                <a:ea typeface="+mn-ea"/>
                <a:cs typeface="Segoe UI" panose="020B0502040204020203" pitchFamily="34" charset="0"/>
              </a:defRPr>
            </a:lvl1pPr>
          </a:lstStyle>
          <a:p>
            <a:r>
              <a:rPr lang="en-US" dirty="0"/>
              <a:t>Insert title here</a:t>
            </a:r>
            <a:endParaRPr lang="en-US" dirty="0"/>
          </a:p>
        </p:txBody>
      </p:sp>
      <p:sp>
        <p:nvSpPr>
          <p:cNvPr id="14" name="Text Placeholder 4"/>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endParaRPr lang="en-US" dirty="0"/>
          </a:p>
        </p:txBody>
      </p:sp>
      <p:pic>
        <p:nvPicPr>
          <p:cNvPr id="6" name="Picture Placeholder 5" descr="Red, blue grey white pattern background"/>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a:fillRect/>
          </a:stretch>
        </p:blipFill>
        <p:spPr>
          <a:xfrm>
            <a:off x="0" y="5999582"/>
            <a:ext cx="12192000" cy="858417"/>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ft Pattern Content Blue title">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2"/>
                </a:solidFill>
              </a:defRPr>
            </a:lvl1pPr>
          </a:lstStyle>
          <a:p>
            <a:r>
              <a:rPr lang="en-US" dirty="0"/>
              <a:t>Insert title here</a:t>
            </a:r>
            <a:endParaRPr lang="en-US" dirty="0"/>
          </a:p>
        </p:txBody>
      </p:sp>
      <p:sp>
        <p:nvSpPr>
          <p:cNvPr id="12" name="Text Placeholder 15"/>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endParaRPr lang="en-US" dirty="0"/>
          </a:p>
          <a:p>
            <a:pPr lvl="1"/>
            <a:r>
              <a:rPr lang="en-US" dirty="0"/>
              <a:t>Insert content here</a:t>
            </a:r>
            <a:endParaRPr lang="en-US" dirty="0"/>
          </a:p>
        </p:txBody>
      </p:sp>
      <p:pic>
        <p:nvPicPr>
          <p:cNvPr id="5" name="Picture Placeholder 6" descr="Red, blue grey white pattern background"/>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a:fillRect/>
          </a:stretch>
        </p:blipFill>
        <p:spPr>
          <a:xfrm>
            <a:off x="0" y="0"/>
            <a:ext cx="4767943"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442012" y="2766219"/>
            <a:ext cx="6220101" cy="1325563"/>
          </a:xfrm>
        </p:spPr>
        <p:txBody>
          <a:bodyPr anchor="ctr">
            <a:noAutofit/>
          </a:bodyPr>
          <a:lstStyle/>
          <a:p>
            <a:pPr algn="ctr"/>
            <a:r>
              <a:rPr lang="en-US" altLang="en-US" dirty="0">
                <a:solidFill>
                  <a:schemeClr val="accent2"/>
                </a:solidFill>
              </a:rPr>
              <a:t>CPU Scheduling</a:t>
            </a:r>
            <a:br>
              <a:rPr lang="en-US" altLang="en-US" dirty="0">
                <a:solidFill>
                  <a:schemeClr val="accent2"/>
                </a:solidFill>
              </a:rPr>
            </a:br>
            <a:br>
              <a:rPr lang="en-US" altLang="en-US" dirty="0"/>
            </a:br>
            <a:r>
              <a:rPr lang="en-US" altLang="en-US" dirty="0"/>
              <a:t>Lesson 6</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dirty="0"/>
              <a:t>BASIC CONCEPTS</a:t>
            </a:r>
            <a:endParaRPr lang="en-US" dirty="0"/>
          </a:p>
        </p:txBody>
      </p:sp>
      <p:sp>
        <p:nvSpPr>
          <p:cNvPr id="11" name="Text Placeholder 10"/>
          <p:cNvSpPr>
            <a:spLocks noGrp="1"/>
          </p:cNvSpPr>
          <p:nvPr>
            <p:ph type="body" sz="quarter" idx="11"/>
          </p:nvPr>
        </p:nvSpPr>
        <p:spPr>
          <a:xfrm>
            <a:off x="762000" y="1370917"/>
            <a:ext cx="10667999" cy="4290144"/>
          </a:xfrm>
        </p:spPr>
        <p:txBody>
          <a:bodyPr/>
          <a:lstStyle/>
          <a:p>
            <a:pPr marL="342900" indent="-342900">
              <a:buFont typeface="Arial" panose="020B0604020202020204" pitchFamily="34" charset="0"/>
              <a:buChar char="•"/>
            </a:pPr>
            <a:r>
              <a:rPr lang="en-GB" sz="2000" dirty="0"/>
              <a:t>Modern computer systems try to achieve </a:t>
            </a:r>
            <a:r>
              <a:rPr lang="en-GB" sz="2000" b="1" dirty="0"/>
              <a:t>maximum CPU utilization</a:t>
            </a:r>
            <a:r>
              <a:rPr lang="en-GB" sz="2000" dirty="0"/>
              <a:t>. The CPU is the most valuable resource, so the operating system tries very hard to ensure that it is rarely sitting idle. CPU scheduling is the tool that allows this to happen.</a:t>
            </a:r>
            <a:endParaRPr lang="en-GB" sz="2000" dirty="0"/>
          </a:p>
          <a:p>
            <a:pPr marL="342900" indent="-342900">
              <a:buFont typeface="Arial" panose="020B0604020202020204" pitchFamily="34" charset="0"/>
              <a:buChar char="•"/>
            </a:pPr>
            <a:r>
              <a:rPr lang="en-GB" sz="2000" dirty="0"/>
              <a:t>CPU scheduling is the basis of </a:t>
            </a:r>
            <a:r>
              <a:rPr lang="en-GB" sz="2000" b="1" i="1" dirty="0" err="1"/>
              <a:t>multiprogrammed</a:t>
            </a:r>
            <a:r>
              <a:rPr lang="en-GB" sz="2000" b="1" i="1" dirty="0"/>
              <a:t> operating systems</a:t>
            </a:r>
            <a:r>
              <a:rPr lang="en-GB" sz="2000" dirty="0"/>
              <a:t>. By switching the CPU among processes, the operating system can make the computer more productive</a:t>
            </a:r>
            <a:endParaRPr lang="en-GB" sz="2000" dirty="0"/>
          </a:p>
          <a:p>
            <a:pPr>
              <a:buNone/>
            </a:pPr>
            <a:endParaRPr lang="en-GB" sz="2000" b="1" dirty="0"/>
          </a:p>
          <a:p>
            <a:endParaRPr lang="en-GB" sz="2000" dirty="0"/>
          </a:p>
          <a:p>
            <a:endParaRPr lang="en-GB" sz="2000" dirty="0"/>
          </a:p>
          <a:p>
            <a:pPr marL="342900" indent="-342900">
              <a:buFont typeface="Arial" panose="020B0604020202020204" pitchFamily="34" charset="0"/>
              <a:buChar char="•"/>
            </a:pP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dirty="0"/>
              <a:t>BASIC CONCEPTS - Multiprogramming</a:t>
            </a:r>
            <a:br>
              <a:rPr lang="en-GB" dirty="0"/>
            </a:br>
            <a:endParaRPr lang="en-US" dirty="0"/>
          </a:p>
        </p:txBody>
      </p:sp>
      <p:sp>
        <p:nvSpPr>
          <p:cNvPr id="11" name="Text Placeholder 10"/>
          <p:cNvSpPr>
            <a:spLocks noGrp="1"/>
          </p:cNvSpPr>
          <p:nvPr>
            <p:ph type="body" sz="quarter" idx="11"/>
          </p:nvPr>
        </p:nvSpPr>
        <p:spPr>
          <a:xfrm>
            <a:off x="762000" y="1432562"/>
            <a:ext cx="10667999" cy="4290144"/>
          </a:xfrm>
        </p:spPr>
        <p:txBody>
          <a:bodyPr/>
          <a:lstStyle/>
          <a:p>
            <a:pPr marL="342900" indent="-342900">
              <a:buFont typeface="Arial" panose="020B0604020202020204" pitchFamily="34" charset="0"/>
              <a:buChar char="•"/>
            </a:pPr>
            <a:r>
              <a:rPr lang="en-GB" sz="2000" dirty="0"/>
              <a:t>The </a:t>
            </a:r>
            <a:r>
              <a:rPr lang="en-GB" sz="2000" b="1" dirty="0"/>
              <a:t>objective of multiprogramming </a:t>
            </a:r>
            <a:r>
              <a:rPr lang="en-GB" sz="2000" dirty="0"/>
              <a:t>is to have some process running at all times, to maximize CPU utilization. </a:t>
            </a:r>
            <a:endParaRPr lang="en-GB" sz="2000" dirty="0"/>
          </a:p>
          <a:p>
            <a:pPr marL="342900" indent="-342900">
              <a:buFont typeface="Arial" panose="020B0604020202020204" pitchFamily="34" charset="0"/>
              <a:buChar char="•"/>
            </a:pPr>
            <a:r>
              <a:rPr lang="en-GB" sz="2000" dirty="0"/>
              <a:t>The idea is relatively simple. </a:t>
            </a:r>
            <a:endParaRPr lang="en-GB" sz="2000" dirty="0"/>
          </a:p>
          <a:p>
            <a:pPr marL="571500" lvl="1" indent="-342900">
              <a:buFont typeface="Courier New" panose="02070309020205020404" pitchFamily="49" charset="0"/>
              <a:buChar char="o"/>
            </a:pPr>
            <a:r>
              <a:rPr lang="en-GB" sz="2000" dirty="0"/>
              <a:t>A process is executed until it must wait, typically for the completion of some I/O request. In a simple computer system, the CPU then just sits idle. All this waiting time is wasted; no useful work is accomplished. </a:t>
            </a:r>
            <a:endParaRPr lang="en-GB" sz="2000" dirty="0"/>
          </a:p>
          <a:p>
            <a:pPr marL="571500" lvl="1" indent="-342900">
              <a:buFont typeface="Courier New" panose="02070309020205020404" pitchFamily="49" charset="0"/>
              <a:buChar char="o"/>
            </a:pPr>
            <a:r>
              <a:rPr lang="en-GB" sz="2000" dirty="0"/>
              <a:t>With multiprogramming, we try to use this time productively. Several processes are kept in memory at one time. When one process has to wait, the operating system takes the CPU away from that process and gives the CPU to another process.</a:t>
            </a:r>
            <a:endParaRPr lang="en-GB" sz="2000" dirty="0"/>
          </a:p>
          <a:p>
            <a:pPr marL="571500" lvl="1" indent="-342900">
              <a:buFont typeface="Courier New" panose="02070309020205020404" pitchFamily="49" charset="0"/>
              <a:buChar char="o"/>
            </a:pPr>
            <a:r>
              <a:rPr lang="en-GB" sz="2000" dirty="0"/>
              <a:t> This pattern continues. Every time one process has to wait, another process can take over use of the CPU. </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dirty="0"/>
              <a:t>BASIC CONCEPTS - Multiprogramming</a:t>
            </a:r>
            <a:br>
              <a:rPr lang="en-GB" dirty="0"/>
            </a:br>
            <a:endParaRPr lang="en-US" dirty="0"/>
          </a:p>
        </p:txBody>
      </p:sp>
      <p:sp>
        <p:nvSpPr>
          <p:cNvPr id="11" name="Text Placeholder 10"/>
          <p:cNvSpPr>
            <a:spLocks noGrp="1"/>
          </p:cNvSpPr>
          <p:nvPr>
            <p:ph type="body" sz="quarter" idx="11"/>
          </p:nvPr>
        </p:nvSpPr>
        <p:spPr>
          <a:xfrm>
            <a:off x="762000" y="1432562"/>
            <a:ext cx="10667999" cy="4290144"/>
          </a:xfrm>
        </p:spPr>
        <p:txBody>
          <a:bodyPr/>
          <a:lstStyle/>
          <a:p>
            <a:pPr marL="342900" indent="-342900">
              <a:buFont typeface="Arial" panose="020B0604020202020204" pitchFamily="34" charset="0"/>
              <a:buChar char="•"/>
            </a:pPr>
            <a:r>
              <a:rPr lang="en-GB" sz="2000" dirty="0"/>
              <a:t>On a multicore system, this concept of keeping the CPU busy is extended to all processing cores on the system. Scheduling of this kind is a fundamental operating-system function. </a:t>
            </a:r>
            <a:endParaRPr lang="en-GB" sz="2000" dirty="0"/>
          </a:p>
          <a:p>
            <a:pPr marL="342900" indent="-342900">
              <a:buFont typeface="Arial" panose="020B0604020202020204" pitchFamily="34" charset="0"/>
              <a:buChar char="•"/>
            </a:pPr>
            <a:r>
              <a:rPr lang="en-GB" sz="2000" dirty="0"/>
              <a:t>Almost all computer resources are scheduled before use. The CPU is, of course, one of the primary computer resources. Thus, its scheduling is central to operating-system design tries to keep </a:t>
            </a:r>
            <a:r>
              <a:rPr lang="en-GB" sz="2000" b="1" dirty="0"/>
              <a:t>all cores</a:t>
            </a:r>
            <a:r>
              <a:rPr lang="en-GB" sz="2000" dirty="0"/>
              <a:t> busy.</a:t>
            </a:r>
            <a:endParaRPr lang="en-GB" sz="2000" dirty="0"/>
          </a:p>
          <a:p>
            <a:endParaRPr lang="en-GB" sz="2000" b="1" dirty="0"/>
          </a:p>
          <a:p>
            <a:r>
              <a:rPr lang="en-GB" sz="2000" b="1" dirty="0"/>
              <a:t>Why CPU Scheduling Exists</a:t>
            </a:r>
            <a:endParaRPr lang="en-GB" sz="2000" b="1" dirty="0"/>
          </a:p>
          <a:p>
            <a:pPr marL="342900" indent="-342900">
              <a:buFont typeface="Arial" panose="020B0604020202020204" pitchFamily="34" charset="0"/>
              <a:buChar char="•"/>
            </a:pPr>
            <a:r>
              <a:rPr lang="en-GB" sz="2000" dirty="0"/>
              <a:t>On a </a:t>
            </a:r>
            <a:r>
              <a:rPr lang="en-GB" sz="2000" b="1" dirty="0"/>
              <a:t>single core</a:t>
            </a:r>
            <a:r>
              <a:rPr lang="en-GB" sz="2000" dirty="0"/>
              <a:t>, only </a:t>
            </a:r>
            <a:r>
              <a:rPr lang="en-GB" sz="2000" b="1" dirty="0"/>
              <a:t>one process</a:t>
            </a:r>
            <a:r>
              <a:rPr lang="en-GB" sz="2000" dirty="0"/>
              <a:t> (really one kernel thread) can execute at any given instant.</a:t>
            </a:r>
            <a:endParaRPr lang="en-GB" sz="2000" dirty="0"/>
          </a:p>
          <a:p>
            <a:pPr marL="342900" indent="-342900">
              <a:buFont typeface="Arial" panose="020B0604020202020204" pitchFamily="34" charset="0"/>
              <a:buChar char="•"/>
            </a:pPr>
            <a:r>
              <a:rPr lang="en-GB" sz="2000" dirty="0"/>
              <a:t>Other processes must </a:t>
            </a:r>
            <a:r>
              <a:rPr lang="en-GB" sz="2000" b="1" dirty="0"/>
              <a:t>wait</a:t>
            </a:r>
            <a:r>
              <a:rPr lang="en-GB" sz="2000" dirty="0"/>
              <a:t> in a </a:t>
            </a:r>
            <a:r>
              <a:rPr lang="en-GB" sz="2000" i="1" dirty="0"/>
              <a:t>ready queue</a:t>
            </a:r>
            <a:r>
              <a:rPr lang="en-GB" sz="2000" dirty="0"/>
              <a:t>.</a:t>
            </a:r>
            <a:endParaRPr lang="en-GB" sz="2000" dirty="0"/>
          </a:p>
          <a:p>
            <a:pPr marL="342900" indent="-342900">
              <a:buFont typeface="Arial" panose="020B0604020202020204" pitchFamily="34" charset="0"/>
              <a:buChar char="•"/>
            </a:pPr>
            <a:r>
              <a:rPr lang="en-GB" sz="2000" dirty="0"/>
              <a:t>The OS tries to </a:t>
            </a:r>
            <a:r>
              <a:rPr lang="en-GB" sz="2000" b="1" dirty="0"/>
              <a:t>keep the CPU always busy</a:t>
            </a:r>
            <a:r>
              <a:rPr lang="en-GB" sz="2000" dirty="0"/>
              <a:t>, switching between processes whenever one is unable to continue executing.</a:t>
            </a:r>
            <a:endParaRPr lang="en-GB" sz="2000" dirty="0"/>
          </a:p>
          <a:p>
            <a:pPr marL="342900" indent="-342900">
              <a:buFont typeface="Arial" panose="020B0604020202020204" pitchFamily="34" charset="0"/>
              <a:buChar char="•"/>
            </a:pP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pl-PL" dirty="0"/>
              <a:t>CPU – I/O Burst Cycle </a:t>
            </a:r>
            <a:endParaRPr lang="en-US" dirty="0"/>
          </a:p>
        </p:txBody>
      </p:sp>
      <p:sp>
        <p:nvSpPr>
          <p:cNvPr id="11" name="Text Placeholder 10"/>
          <p:cNvSpPr>
            <a:spLocks noGrp="1"/>
          </p:cNvSpPr>
          <p:nvPr>
            <p:ph type="body" sz="quarter" idx="11"/>
          </p:nvPr>
        </p:nvSpPr>
        <p:spPr>
          <a:xfrm>
            <a:off x="762000" y="1135294"/>
            <a:ext cx="10667999" cy="4290144"/>
          </a:xfrm>
        </p:spPr>
        <p:txBody>
          <a:bodyPr/>
          <a:lstStyle/>
          <a:p>
            <a:pPr marL="342900" indent="-342900">
              <a:buFont typeface="Arial" panose="020B0604020202020204" pitchFamily="34" charset="0"/>
              <a:buChar char="•"/>
            </a:pPr>
            <a:r>
              <a:rPr lang="en-GB" sz="2000" dirty="0"/>
              <a:t>The success of CPU scheduling depends on an observed property of processes; that the process is never continuous : </a:t>
            </a:r>
            <a:r>
              <a:rPr lang="en-GB" sz="2000" b="1" i="1" dirty="0"/>
              <a:t>process execution consists of a cycle of CPU execution and I/O wait</a:t>
            </a:r>
            <a:r>
              <a:rPr lang="en-GB" sz="2000" dirty="0"/>
              <a:t>. </a:t>
            </a:r>
            <a:endParaRPr lang="en-GB" sz="2000" dirty="0"/>
          </a:p>
          <a:p>
            <a:pPr marL="342900" indent="-342900">
              <a:buFont typeface="Arial" panose="020B0604020202020204" pitchFamily="34" charset="0"/>
              <a:buChar char="•"/>
            </a:pPr>
            <a:r>
              <a:rPr lang="en-GB" sz="2000" dirty="0"/>
              <a:t>Processes alternate between these two states. Process execution begins with a </a:t>
            </a:r>
            <a:r>
              <a:rPr lang="en-GB" sz="2000" b="1" dirty="0"/>
              <a:t>CPU burst</a:t>
            </a:r>
            <a:r>
              <a:rPr lang="en-GB" sz="2000" dirty="0"/>
              <a:t>. That is followed by an </a:t>
            </a:r>
            <a:r>
              <a:rPr lang="en-GB" sz="2000" b="1" dirty="0"/>
              <a:t>I/O burst, </a:t>
            </a:r>
            <a:r>
              <a:rPr lang="en-GB" sz="2000" dirty="0"/>
              <a:t>which is followed by another CPU burst, then another I/O burst, and so on. Eventually, the final CPU burst ends with a system request to terminate execution.</a:t>
            </a:r>
            <a:endParaRPr lang="en-GB" sz="2000" dirty="0"/>
          </a:p>
          <a:p>
            <a:pPr marL="342900" indent="-342900">
              <a:buFont typeface="Arial" panose="020B0604020202020204" pitchFamily="34" charset="0"/>
              <a:buChar char="•"/>
            </a:pPr>
            <a:r>
              <a:rPr lang="en-GB" sz="2000" b="1" dirty="0"/>
              <a:t>CPU Burst </a:t>
            </a:r>
            <a:r>
              <a:rPr lang="en-GB" sz="2000" dirty="0"/>
              <a:t> is a period of computing;  executing instructions, doing calculations, updating memory, etc</a:t>
            </a:r>
            <a:r>
              <a:rPr lang="en-GB" sz="2000" b="1" dirty="0"/>
              <a:t> </a:t>
            </a:r>
            <a:endParaRPr lang="en-GB" sz="2000" b="1" dirty="0"/>
          </a:p>
          <a:p>
            <a:pPr marL="342900" indent="-342900">
              <a:buFont typeface="Arial" panose="020B0604020202020204" pitchFamily="34" charset="0"/>
              <a:buChar char="•"/>
            </a:pPr>
            <a:r>
              <a:rPr lang="en-GB" sz="2000" b="1" dirty="0"/>
              <a:t> I/O Burst </a:t>
            </a:r>
            <a:r>
              <a:rPr lang="en-GB" sz="2000" dirty="0"/>
              <a:t>is a period where the process waits for an I/O operation such as: Reading a file, Waiting for user input, Accessing network data, Disk operations, </a:t>
            </a:r>
            <a:endParaRPr lang="en-GB" sz="2000" dirty="0"/>
          </a:p>
          <a:p>
            <a:pPr marL="342900" indent="-342900">
              <a:buFont typeface="Arial" panose="020B0604020202020204" pitchFamily="34" charset="0"/>
              <a:buChar char="•"/>
            </a:pPr>
            <a:r>
              <a:rPr lang="en-GB" sz="2000" dirty="0"/>
              <a:t>During I/O, the CPU is not used by that process.</a:t>
            </a:r>
            <a:endParaRPr lang="en-GB" sz="2000" dirty="0"/>
          </a:p>
          <a:p>
            <a:pPr marL="342900" indent="-342900">
              <a:buFont typeface="Arial" panose="020B0604020202020204" pitchFamily="34" charset="0"/>
              <a:buChar char="•"/>
            </a:pPr>
            <a:endParaRPr lang="en-GB" sz="20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pl-PL" dirty="0"/>
              <a:t>CPU – I/O Burst Cycle </a:t>
            </a:r>
            <a:endParaRPr lang="en-US" dirty="0"/>
          </a:p>
        </p:txBody>
      </p:sp>
      <p:sp>
        <p:nvSpPr>
          <p:cNvPr id="11" name="Text Placeholder 10"/>
          <p:cNvSpPr>
            <a:spLocks noGrp="1"/>
          </p:cNvSpPr>
          <p:nvPr>
            <p:ph type="body" sz="quarter" idx="11"/>
          </p:nvPr>
        </p:nvSpPr>
        <p:spPr>
          <a:xfrm>
            <a:off x="762000" y="1435576"/>
            <a:ext cx="6923070" cy="4290144"/>
          </a:xfrm>
        </p:spPr>
        <p:txBody>
          <a:bodyPr/>
          <a:lstStyle/>
          <a:p>
            <a:pPr>
              <a:buNone/>
            </a:pPr>
            <a:r>
              <a:rPr lang="en-GB" sz="2000" b="1" dirty="0"/>
              <a:t>Why This Cycle Matters</a:t>
            </a:r>
            <a:endParaRPr lang="en-GB" sz="2000" b="1" dirty="0"/>
          </a:p>
          <a:p>
            <a:pPr marL="342900" indent="-342900">
              <a:buFont typeface="Arial" panose="020B0604020202020204" pitchFamily="34" charset="0"/>
              <a:buChar char="•"/>
            </a:pPr>
            <a:r>
              <a:rPr lang="en-GB" sz="2000" dirty="0"/>
              <a:t>CPU-bound processes have long CPU bursts, fewer I/O waits.</a:t>
            </a:r>
            <a:endParaRPr lang="en-GB" sz="2000" dirty="0"/>
          </a:p>
          <a:p>
            <a:pPr marL="342900" indent="-342900">
              <a:buFont typeface="Arial" panose="020B0604020202020204" pitchFamily="34" charset="0"/>
              <a:buChar char="•"/>
            </a:pPr>
            <a:r>
              <a:rPr lang="en-GB" sz="2000" dirty="0"/>
              <a:t>I/O-bound processes have  many short CPU bursts, frequent waits.</a:t>
            </a:r>
            <a:endParaRPr lang="en-GB" sz="2000" dirty="0"/>
          </a:p>
          <a:p>
            <a:pPr>
              <a:buNone/>
            </a:pPr>
            <a:r>
              <a:rPr lang="en-GB" sz="2000" dirty="0"/>
              <a:t>Schedulers use this pattern to decide which processes make better use of the CPU.</a:t>
            </a:r>
            <a:endParaRPr lang="en-GB" sz="2000" dirty="0"/>
          </a:p>
        </p:txBody>
      </p:sp>
      <p:pic>
        <p:nvPicPr>
          <p:cNvPr id="3" name="Picture 2"/>
          <p:cNvPicPr>
            <a:picLocks noChangeAspect="1"/>
          </p:cNvPicPr>
          <p:nvPr/>
        </p:nvPicPr>
        <p:blipFill>
          <a:blip r:embed="rId1"/>
          <a:stretch>
            <a:fillRect/>
          </a:stretch>
        </p:blipFill>
        <p:spPr>
          <a:xfrm>
            <a:off x="8070989" y="71919"/>
            <a:ext cx="4004776" cy="56538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pl-PL" dirty="0"/>
              <a:t>CPU Scheduler </a:t>
            </a:r>
            <a:endParaRPr lang="en-US" dirty="0"/>
          </a:p>
        </p:txBody>
      </p:sp>
      <p:sp>
        <p:nvSpPr>
          <p:cNvPr id="11" name="Text Placeholder 10"/>
          <p:cNvSpPr>
            <a:spLocks noGrp="1"/>
          </p:cNvSpPr>
          <p:nvPr>
            <p:ph type="body" sz="quarter" idx="11"/>
          </p:nvPr>
        </p:nvSpPr>
        <p:spPr>
          <a:xfrm>
            <a:off x="762000" y="1135294"/>
            <a:ext cx="10667999" cy="4290144"/>
          </a:xfrm>
        </p:spPr>
        <p:txBody>
          <a:bodyPr/>
          <a:lstStyle/>
          <a:p>
            <a:pPr marL="342900" indent="-342900">
              <a:buFont typeface="Arial" panose="020B0604020202020204" pitchFamily="34" charset="0"/>
              <a:buChar char="•"/>
            </a:pPr>
            <a:r>
              <a:rPr lang="en-GB" sz="2000" dirty="0"/>
              <a:t>Whenever the CPU becomes idle, the operating system must select one of the processes in the ready queue to be executed. </a:t>
            </a:r>
            <a:endParaRPr lang="en-GB" sz="2000" dirty="0"/>
          </a:p>
          <a:p>
            <a:pPr marL="342900" indent="-342900">
              <a:buFont typeface="Arial" panose="020B0604020202020204" pitchFamily="34" charset="0"/>
              <a:buChar char="•"/>
            </a:pPr>
            <a:r>
              <a:rPr lang="en-GB" sz="2000" dirty="0"/>
              <a:t>The selection process is carried out by the </a:t>
            </a:r>
            <a:r>
              <a:rPr lang="en-GB" sz="2000" b="1" i="1" dirty="0"/>
              <a:t>CPU scheduler</a:t>
            </a:r>
            <a:r>
              <a:rPr lang="en-GB" sz="2000" dirty="0"/>
              <a:t>, which selects a process from the processes in memory that are ready to execute and allocates the CPU to that process.</a:t>
            </a:r>
            <a:endParaRPr lang="en-GB" sz="2000" dirty="0"/>
          </a:p>
          <a:p>
            <a:pPr marL="342900" indent="-342900">
              <a:buFont typeface="Arial" panose="020B0604020202020204" pitchFamily="34" charset="0"/>
              <a:buChar char="•"/>
            </a:pPr>
            <a:r>
              <a:rPr lang="en-GB" sz="2000" dirty="0"/>
              <a:t>Note that the ready queue is not necessarily a first-in, first-out (FIFO) queue. </a:t>
            </a:r>
            <a:endParaRPr lang="en-GB" sz="2000" dirty="0"/>
          </a:p>
          <a:p>
            <a:pPr marL="342900" indent="-342900">
              <a:buFont typeface="Arial" panose="020B0604020202020204" pitchFamily="34" charset="0"/>
              <a:buChar char="•"/>
            </a:pPr>
            <a:r>
              <a:rPr lang="en-GB" sz="2000" dirty="0"/>
              <a:t>As we shall see when we consider the various scheduling algorithms, a ready queue can be implemented as a FIFO queue, a priority queue, a tree, or simply an unordered linked list. </a:t>
            </a:r>
            <a:endParaRPr lang="en-GB" sz="2000" dirty="0"/>
          </a:p>
          <a:p>
            <a:pPr marL="342900" indent="-342900">
              <a:buFont typeface="Arial" panose="020B0604020202020204" pitchFamily="34" charset="0"/>
              <a:buChar char="•"/>
            </a:pPr>
            <a:r>
              <a:rPr lang="en-GB" sz="2000" dirty="0"/>
              <a:t>Conceptually, however, all the processes in the ready queue are lined up waiting for a chance to run on the CPU.</a:t>
            </a:r>
            <a:endParaRPr lang="en-GB" sz="20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err="1"/>
              <a:t>Preemptive</a:t>
            </a:r>
            <a:r>
              <a:rPr lang="en-GB" sz="3600" dirty="0"/>
              <a:t> and </a:t>
            </a:r>
            <a:r>
              <a:rPr lang="en-GB" sz="3600" dirty="0" err="1"/>
              <a:t>Nonpreemptive</a:t>
            </a:r>
            <a:r>
              <a:rPr lang="en-GB" sz="3600" dirty="0"/>
              <a:t> Scheduling</a:t>
            </a:r>
            <a:endParaRPr lang="en-US" sz="3600" dirty="0"/>
          </a:p>
        </p:txBody>
      </p:sp>
      <p:sp>
        <p:nvSpPr>
          <p:cNvPr id="11" name="Text Placeholder 10"/>
          <p:cNvSpPr>
            <a:spLocks noGrp="1"/>
          </p:cNvSpPr>
          <p:nvPr>
            <p:ph type="body" sz="quarter" idx="11"/>
          </p:nvPr>
        </p:nvSpPr>
        <p:spPr>
          <a:xfrm>
            <a:off x="762000" y="1135294"/>
            <a:ext cx="10667999" cy="4290144"/>
          </a:xfrm>
        </p:spPr>
        <p:txBody>
          <a:bodyPr/>
          <a:lstStyle/>
          <a:p>
            <a:pPr>
              <a:buNone/>
            </a:pPr>
            <a:r>
              <a:rPr lang="en-GB" sz="2000" dirty="0"/>
              <a:t>CPU scheduling decisions can happen under exactly </a:t>
            </a:r>
            <a:r>
              <a:rPr lang="en-GB" sz="2000" b="1" dirty="0"/>
              <a:t>four events</a:t>
            </a:r>
            <a:r>
              <a:rPr lang="en-GB" sz="2000" dirty="0"/>
              <a:t> in the life of a process. Understanding these </a:t>
            </a:r>
            <a:r>
              <a:rPr lang="en-GB" sz="2000" b="1" dirty="0"/>
              <a:t>four situations </a:t>
            </a:r>
            <a:r>
              <a:rPr lang="en-GB" sz="2000" dirty="0"/>
              <a:t>is the key to understanding </a:t>
            </a:r>
            <a:r>
              <a:rPr lang="en-GB" sz="2000" dirty="0" err="1"/>
              <a:t>preemption</a:t>
            </a:r>
            <a:r>
              <a:rPr lang="en-GB" sz="2000" dirty="0"/>
              <a:t>, fairness, and the complexity of kernel design.</a:t>
            </a:r>
            <a:endParaRPr lang="en-GB" sz="2000" b="1" dirty="0"/>
          </a:p>
          <a:p>
            <a:pPr>
              <a:buNone/>
            </a:pPr>
            <a:endParaRPr lang="en-GB" sz="2000" b="1" dirty="0"/>
          </a:p>
          <a:p>
            <a:pPr>
              <a:buNone/>
            </a:pPr>
            <a:r>
              <a:rPr lang="en-GB" sz="2000" b="1" dirty="0"/>
              <a:t>1. When a process switches from the running state to the waiting state</a:t>
            </a:r>
            <a:endParaRPr lang="en-GB" sz="2000" b="1" dirty="0"/>
          </a:p>
          <a:p>
            <a:pPr>
              <a:buNone/>
            </a:pPr>
            <a:r>
              <a:rPr lang="en-GB" sz="2000" i="1" dirty="0"/>
              <a:t>(Process voluntarily stops using the CPU)</a:t>
            </a:r>
            <a:endParaRPr lang="en-GB" sz="2000" dirty="0"/>
          </a:p>
          <a:p>
            <a:pPr>
              <a:buNone/>
            </a:pPr>
            <a:r>
              <a:rPr lang="en-GB" sz="2000" dirty="0"/>
              <a:t>Examples:</a:t>
            </a:r>
            <a:endParaRPr lang="en-GB" sz="2000" dirty="0"/>
          </a:p>
          <a:p>
            <a:pPr marL="342900" indent="-342900">
              <a:buFont typeface="Arial" panose="020B0604020202020204" pitchFamily="34" charset="0"/>
              <a:buChar char="•"/>
            </a:pPr>
            <a:r>
              <a:rPr lang="en-GB" sz="2000" dirty="0"/>
              <a:t>It performs an I/O operation (disk, network, keyboard, etc.).</a:t>
            </a:r>
            <a:endParaRPr lang="en-GB" sz="2000" dirty="0"/>
          </a:p>
          <a:p>
            <a:pPr marL="342900" indent="-342900">
              <a:buFont typeface="Arial" panose="020B0604020202020204" pitchFamily="34" charset="0"/>
              <a:buChar char="•"/>
            </a:pPr>
            <a:r>
              <a:rPr lang="en-GB" sz="2000" dirty="0"/>
              <a:t>It calls </a:t>
            </a:r>
            <a:r>
              <a:rPr lang="en-GB" sz="2000" dirty="0">
                <a:latin typeface="Courier New" panose="02070309020205020404" pitchFamily="49" charset="0"/>
              </a:rPr>
              <a:t>wait()</a:t>
            </a:r>
            <a:r>
              <a:rPr lang="en-GB" sz="2000" dirty="0"/>
              <a:t> for a child process.</a:t>
            </a:r>
            <a:endParaRPr lang="en-GB" sz="2000" dirty="0"/>
          </a:p>
          <a:p>
            <a:pPr marL="342900" indent="-342900">
              <a:buFont typeface="Arial" panose="020B0604020202020204" pitchFamily="34" charset="0"/>
              <a:buChar char="•"/>
            </a:pPr>
            <a:r>
              <a:rPr lang="en-GB" sz="2000" dirty="0"/>
              <a:t>It blocks waiting for some external event.</a:t>
            </a:r>
            <a:endParaRPr lang="en-GB" sz="2000" dirty="0"/>
          </a:p>
          <a:p>
            <a:pPr>
              <a:buNone/>
            </a:pPr>
            <a:r>
              <a:rPr lang="en-GB" sz="2000" dirty="0"/>
              <a:t>Here, the process </a:t>
            </a:r>
            <a:r>
              <a:rPr lang="en-GB" sz="2000" b="1" dirty="0"/>
              <a:t>cannot continue executing</a:t>
            </a:r>
            <a:r>
              <a:rPr lang="en-GB" sz="2000" dirty="0"/>
              <a:t>, so it </a:t>
            </a:r>
            <a:r>
              <a:rPr lang="en-GB" sz="2000" i="1" dirty="0"/>
              <a:t>must</a:t>
            </a:r>
            <a:r>
              <a:rPr lang="en-GB" sz="2000" dirty="0"/>
              <a:t> leave the CPU.</a:t>
            </a:r>
            <a:br>
              <a:rPr lang="en-GB" sz="2000" dirty="0"/>
            </a:br>
            <a:r>
              <a:rPr lang="en-GB" sz="2000" dirty="0"/>
              <a:t>The scheduler has no choice — it must pick another ready process.</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err="1"/>
              <a:t>Preemptive</a:t>
            </a:r>
            <a:r>
              <a:rPr lang="en-GB" sz="3600" dirty="0"/>
              <a:t> and </a:t>
            </a:r>
            <a:r>
              <a:rPr lang="en-GB" sz="3600" dirty="0" err="1"/>
              <a:t>Nonpreemptive</a:t>
            </a:r>
            <a:r>
              <a:rPr lang="en-GB" sz="3600" dirty="0"/>
              <a:t> Scheduling</a:t>
            </a:r>
            <a:endParaRPr lang="en-US" sz="3600" dirty="0"/>
          </a:p>
        </p:txBody>
      </p:sp>
      <p:sp>
        <p:nvSpPr>
          <p:cNvPr id="11" name="Text Placeholder 10"/>
          <p:cNvSpPr>
            <a:spLocks noGrp="1"/>
          </p:cNvSpPr>
          <p:nvPr>
            <p:ph type="body" sz="quarter" idx="11"/>
          </p:nvPr>
        </p:nvSpPr>
        <p:spPr>
          <a:xfrm>
            <a:off x="762000" y="1135294"/>
            <a:ext cx="10667999" cy="4290144"/>
          </a:xfrm>
        </p:spPr>
        <p:txBody>
          <a:bodyPr/>
          <a:lstStyle/>
          <a:p>
            <a:pPr>
              <a:buNone/>
            </a:pPr>
            <a:r>
              <a:rPr lang="en-GB" sz="2000" b="1" dirty="0"/>
              <a:t>2. When a process switches from the running state to the ready state </a:t>
            </a:r>
            <a:endParaRPr lang="en-GB" sz="2000" b="1" dirty="0"/>
          </a:p>
          <a:p>
            <a:pPr>
              <a:buNone/>
            </a:pPr>
            <a:r>
              <a:rPr lang="en-GB" sz="2000" i="1" dirty="0"/>
              <a:t>(Process is </a:t>
            </a:r>
            <a:r>
              <a:rPr lang="en-GB" sz="2000" i="1" dirty="0" err="1"/>
              <a:t>preempted</a:t>
            </a:r>
            <a:r>
              <a:rPr lang="en-GB" sz="2000" i="1" dirty="0"/>
              <a:t>)</a:t>
            </a:r>
            <a:endParaRPr lang="en-GB" sz="2000" dirty="0"/>
          </a:p>
          <a:p>
            <a:pPr>
              <a:buNone/>
            </a:pPr>
            <a:r>
              <a:rPr lang="en-GB" sz="2000" dirty="0"/>
              <a:t>This happens when:</a:t>
            </a:r>
            <a:endParaRPr lang="en-GB" sz="2000" dirty="0"/>
          </a:p>
          <a:p>
            <a:pPr marL="342900" indent="-342900">
              <a:buFont typeface="Arial" panose="020B0604020202020204" pitchFamily="34" charset="0"/>
              <a:buChar char="•"/>
            </a:pPr>
            <a:r>
              <a:rPr lang="en-GB" sz="2000" dirty="0"/>
              <a:t>A </a:t>
            </a:r>
            <a:r>
              <a:rPr lang="en-GB" sz="2000" b="1" dirty="0"/>
              <a:t>timer interrupt</a:t>
            </a:r>
            <a:r>
              <a:rPr lang="en-GB" sz="2000" dirty="0"/>
              <a:t> fires (end of a time slice).</a:t>
            </a:r>
            <a:endParaRPr lang="en-GB" sz="2000" dirty="0"/>
          </a:p>
          <a:p>
            <a:pPr marL="342900" indent="-342900">
              <a:buFont typeface="Arial" panose="020B0604020202020204" pitchFamily="34" charset="0"/>
              <a:buChar char="•"/>
            </a:pPr>
            <a:r>
              <a:rPr lang="en-GB" sz="2000" dirty="0"/>
              <a:t>A </a:t>
            </a:r>
            <a:r>
              <a:rPr lang="en-GB" sz="2000" b="1" dirty="0"/>
              <a:t>higher-priority process</a:t>
            </a:r>
            <a:r>
              <a:rPr lang="en-GB" sz="2000" dirty="0"/>
              <a:t> becomes ready.</a:t>
            </a:r>
            <a:endParaRPr lang="en-GB" sz="2000" dirty="0"/>
          </a:p>
          <a:p>
            <a:pPr marL="342900" indent="-342900">
              <a:buFont typeface="Arial" panose="020B0604020202020204" pitchFamily="34" charset="0"/>
              <a:buChar char="•"/>
            </a:pPr>
            <a:r>
              <a:rPr lang="en-GB" sz="2000" dirty="0"/>
              <a:t>An interrupt causes the OS to intervene.</a:t>
            </a:r>
            <a:endParaRPr lang="en-GB" sz="2000" dirty="0"/>
          </a:p>
          <a:p>
            <a:pPr>
              <a:buNone/>
            </a:pPr>
            <a:r>
              <a:rPr lang="en-GB" sz="2000" dirty="0"/>
              <a:t>Here, the scheduler has a choice:</a:t>
            </a:r>
            <a:endParaRPr lang="en-GB" sz="2000" dirty="0"/>
          </a:p>
          <a:p>
            <a:pPr marL="342900" indent="-342900">
              <a:buFont typeface="Arial" panose="020B0604020202020204" pitchFamily="34" charset="0"/>
              <a:buChar char="•"/>
            </a:pPr>
            <a:r>
              <a:rPr lang="en-GB" sz="2000" dirty="0"/>
              <a:t>Allow the running process to continue, </a:t>
            </a:r>
            <a:r>
              <a:rPr lang="en-GB" sz="2000" b="1" dirty="0"/>
              <a:t>or</a:t>
            </a:r>
            <a:endParaRPr lang="en-GB" sz="2000" dirty="0"/>
          </a:p>
          <a:p>
            <a:pPr marL="342900" indent="-342900">
              <a:buFont typeface="Arial" panose="020B0604020202020204" pitchFamily="34" charset="0"/>
              <a:buChar char="•"/>
            </a:pPr>
            <a:r>
              <a:rPr lang="en-GB" sz="2000" dirty="0" err="1"/>
              <a:t>Preempt</a:t>
            </a:r>
            <a:r>
              <a:rPr lang="en-GB" sz="2000" dirty="0"/>
              <a:t> it and schedule another process.</a:t>
            </a:r>
            <a:endParaRPr lang="en-GB" sz="2000" dirty="0"/>
          </a:p>
          <a:p>
            <a:pPr>
              <a:buNone/>
            </a:pPr>
            <a:r>
              <a:rPr lang="en-GB" sz="2000" dirty="0"/>
              <a:t>This is where </a:t>
            </a:r>
            <a:r>
              <a:rPr lang="en-GB" sz="2000" b="1" i="1" dirty="0" err="1"/>
              <a:t>preemptive</a:t>
            </a:r>
            <a:r>
              <a:rPr lang="en-GB" sz="2000" dirty="0"/>
              <a:t> vs </a:t>
            </a:r>
            <a:r>
              <a:rPr lang="en-GB" sz="2000" b="1" i="1" dirty="0" err="1"/>
              <a:t>nonpreemptive</a:t>
            </a:r>
            <a:r>
              <a:rPr lang="en-GB" sz="2000" dirty="0"/>
              <a:t> scheduling diverge.</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err="1"/>
              <a:t>Preemptive</a:t>
            </a:r>
            <a:r>
              <a:rPr lang="en-GB" sz="3600" dirty="0"/>
              <a:t> and </a:t>
            </a:r>
            <a:r>
              <a:rPr lang="en-GB" sz="3600" dirty="0" err="1"/>
              <a:t>Nonpreemptive</a:t>
            </a:r>
            <a:r>
              <a:rPr lang="en-GB" sz="3600" dirty="0"/>
              <a:t> Scheduling</a:t>
            </a:r>
            <a:endParaRPr lang="en-US" sz="3600" dirty="0"/>
          </a:p>
        </p:txBody>
      </p:sp>
      <p:sp>
        <p:nvSpPr>
          <p:cNvPr id="11" name="Text Placeholder 10"/>
          <p:cNvSpPr>
            <a:spLocks noGrp="1"/>
          </p:cNvSpPr>
          <p:nvPr>
            <p:ph type="body" sz="quarter" idx="11"/>
          </p:nvPr>
        </p:nvSpPr>
        <p:spPr>
          <a:xfrm>
            <a:off x="762000" y="1135294"/>
            <a:ext cx="10667999" cy="4290144"/>
          </a:xfrm>
        </p:spPr>
        <p:txBody>
          <a:bodyPr/>
          <a:lstStyle/>
          <a:p>
            <a:pPr>
              <a:buNone/>
            </a:pPr>
            <a:r>
              <a:rPr lang="en-GB" sz="2000" b="1" dirty="0"/>
              <a:t>3. When a process switches from the waiting state to the ready state</a:t>
            </a:r>
            <a:endParaRPr lang="en-GB" sz="2000" b="1" dirty="0"/>
          </a:p>
          <a:p>
            <a:pPr>
              <a:buNone/>
            </a:pPr>
            <a:r>
              <a:rPr lang="en-GB" sz="2000" i="1" dirty="0"/>
              <a:t>(Process completes I/O and becomes ready again)</a:t>
            </a:r>
            <a:endParaRPr lang="en-GB" sz="2000" dirty="0"/>
          </a:p>
          <a:p>
            <a:pPr>
              <a:buNone/>
            </a:pPr>
            <a:r>
              <a:rPr lang="en-GB" sz="2000" dirty="0"/>
              <a:t>Example:</a:t>
            </a:r>
            <a:endParaRPr lang="en-GB" sz="2000" dirty="0"/>
          </a:p>
          <a:p>
            <a:pPr marL="342900" indent="-342900">
              <a:buFont typeface="Arial" panose="020B0604020202020204" pitchFamily="34" charset="0"/>
              <a:buChar char="•"/>
            </a:pPr>
            <a:r>
              <a:rPr lang="en-GB" sz="2000" dirty="0"/>
              <a:t>A disk read finishes.</a:t>
            </a:r>
            <a:endParaRPr lang="en-GB" sz="2000" dirty="0"/>
          </a:p>
          <a:p>
            <a:pPr marL="342900" indent="-342900">
              <a:buFont typeface="Arial" panose="020B0604020202020204" pitchFamily="34" charset="0"/>
              <a:buChar char="•"/>
            </a:pPr>
            <a:r>
              <a:rPr lang="en-GB" sz="2000" dirty="0"/>
              <a:t>A network packet arrives.</a:t>
            </a:r>
            <a:endParaRPr lang="en-GB" sz="2000" dirty="0"/>
          </a:p>
          <a:p>
            <a:pPr marL="342900" indent="-342900">
              <a:buFont typeface="Arial" panose="020B0604020202020204" pitchFamily="34" charset="0"/>
              <a:buChar char="•"/>
            </a:pPr>
            <a:r>
              <a:rPr lang="en-GB" sz="2000" dirty="0"/>
              <a:t>A user presses a key and the process that was waiting on input becomes ready.</a:t>
            </a:r>
            <a:endParaRPr lang="en-GB" sz="2000" dirty="0"/>
          </a:p>
          <a:p>
            <a:pPr>
              <a:buNone/>
            </a:pPr>
            <a:r>
              <a:rPr lang="en-GB" sz="2000" dirty="0"/>
              <a:t>Once again, the scheduler must decide:</a:t>
            </a:r>
            <a:endParaRPr lang="en-GB" sz="2000" dirty="0"/>
          </a:p>
          <a:p>
            <a:pPr marL="342900" indent="-342900">
              <a:buFont typeface="Arial" panose="020B0604020202020204" pitchFamily="34" charset="0"/>
              <a:buChar char="•"/>
            </a:pPr>
            <a:r>
              <a:rPr lang="en-GB" sz="2000" dirty="0"/>
              <a:t>Should the newly ready process run immediately?</a:t>
            </a:r>
            <a:endParaRPr lang="en-GB" sz="2000" dirty="0"/>
          </a:p>
          <a:p>
            <a:pPr marL="342900" indent="-342900">
              <a:buFont typeface="Arial" panose="020B0604020202020204" pitchFamily="34" charset="0"/>
              <a:buChar char="•"/>
            </a:pPr>
            <a:r>
              <a:rPr lang="en-GB" sz="2000" dirty="0"/>
              <a:t>Should the currently running process keep the CPU?</a:t>
            </a:r>
            <a:endParaRPr lang="en-GB" sz="2000" dirty="0"/>
          </a:p>
          <a:p>
            <a:pPr>
              <a:buNone/>
            </a:pPr>
            <a:r>
              <a:rPr lang="en-GB" sz="2000" dirty="0"/>
              <a:t>This is another decision point for </a:t>
            </a:r>
            <a:r>
              <a:rPr lang="en-GB" sz="2000" b="1" i="1" dirty="0" err="1"/>
              <a:t>preemption</a:t>
            </a:r>
            <a:r>
              <a:rPr lang="en-GB" sz="2000" b="1" i="1" dirty="0"/>
              <a:t>.</a:t>
            </a:r>
            <a:endParaRPr lang="en-GB" sz="2000" b="1" i="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err="1"/>
              <a:t>Preemptive</a:t>
            </a:r>
            <a:r>
              <a:rPr lang="en-GB" sz="3600" dirty="0"/>
              <a:t> and </a:t>
            </a:r>
            <a:r>
              <a:rPr lang="en-GB" sz="3600" dirty="0" err="1"/>
              <a:t>Nonpreemptive</a:t>
            </a:r>
            <a:r>
              <a:rPr lang="en-GB" sz="3600" dirty="0"/>
              <a:t> Scheduling</a:t>
            </a:r>
            <a:endParaRPr lang="en-US" sz="3600" dirty="0"/>
          </a:p>
        </p:txBody>
      </p:sp>
      <p:sp>
        <p:nvSpPr>
          <p:cNvPr id="11" name="Text Placeholder 10"/>
          <p:cNvSpPr>
            <a:spLocks noGrp="1"/>
          </p:cNvSpPr>
          <p:nvPr>
            <p:ph type="body" sz="quarter" idx="11"/>
          </p:nvPr>
        </p:nvSpPr>
        <p:spPr>
          <a:xfrm>
            <a:off x="762000" y="1135294"/>
            <a:ext cx="10667999" cy="4290144"/>
          </a:xfrm>
        </p:spPr>
        <p:txBody>
          <a:bodyPr/>
          <a:lstStyle/>
          <a:p>
            <a:pPr>
              <a:buNone/>
            </a:pPr>
            <a:r>
              <a:rPr lang="en-GB" sz="2000" b="1" dirty="0"/>
              <a:t>4. . When a process terminates</a:t>
            </a:r>
            <a:endParaRPr lang="en-GB" sz="2000" b="1" dirty="0"/>
          </a:p>
          <a:p>
            <a:pPr>
              <a:buNone/>
            </a:pPr>
            <a:r>
              <a:rPr lang="en-GB" sz="2000" i="1" dirty="0"/>
              <a:t>(Process finishes execution)</a:t>
            </a:r>
            <a:endParaRPr lang="en-GB" sz="2000" dirty="0"/>
          </a:p>
          <a:p>
            <a:pPr>
              <a:buNone/>
            </a:pPr>
            <a:r>
              <a:rPr lang="en-GB" sz="2000" dirty="0"/>
              <a:t>Here, the CPU becomes free because a process </a:t>
            </a:r>
            <a:r>
              <a:rPr lang="en-GB" sz="2000" i="1" dirty="0"/>
              <a:t>completed</a:t>
            </a:r>
            <a:r>
              <a:rPr lang="en-GB" sz="2000" dirty="0"/>
              <a:t>.</a:t>
            </a:r>
            <a:br>
              <a:rPr lang="en-GB" sz="2000" dirty="0"/>
            </a:br>
            <a:r>
              <a:rPr lang="en-GB" sz="2000" dirty="0"/>
              <a:t>The scheduler </a:t>
            </a:r>
            <a:r>
              <a:rPr lang="en-GB" sz="2000" i="1" dirty="0"/>
              <a:t>must</a:t>
            </a:r>
            <a:r>
              <a:rPr lang="en-GB" sz="2000" dirty="0"/>
              <a:t> choose another process from the ready queue.</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err="1"/>
              <a:t>Preemptive</a:t>
            </a:r>
            <a:r>
              <a:rPr lang="en-GB" sz="3600" dirty="0"/>
              <a:t> and </a:t>
            </a:r>
            <a:r>
              <a:rPr lang="en-GB" sz="3600" dirty="0" err="1"/>
              <a:t>Nonpreemptive</a:t>
            </a:r>
            <a:r>
              <a:rPr lang="en-GB" sz="3600" dirty="0"/>
              <a:t> Scheduling</a:t>
            </a:r>
            <a:endParaRPr lang="en-US" sz="3600" dirty="0"/>
          </a:p>
        </p:txBody>
      </p:sp>
      <p:sp>
        <p:nvSpPr>
          <p:cNvPr id="11" name="Text Placeholder 10"/>
          <p:cNvSpPr>
            <a:spLocks noGrp="1"/>
          </p:cNvSpPr>
          <p:nvPr>
            <p:ph type="body" sz="quarter" idx="11"/>
          </p:nvPr>
        </p:nvSpPr>
        <p:spPr>
          <a:xfrm>
            <a:off x="762000" y="1135294"/>
            <a:ext cx="10667999" cy="4290144"/>
          </a:xfrm>
        </p:spPr>
        <p:txBody>
          <a:bodyPr/>
          <a:lstStyle/>
          <a:p>
            <a:pPr>
              <a:buNone/>
            </a:pPr>
            <a:r>
              <a:rPr lang="en-GB" sz="2000" b="1" dirty="0" err="1"/>
              <a:t>Nonpreemptive</a:t>
            </a:r>
            <a:r>
              <a:rPr lang="en-GB" sz="2000" b="1" dirty="0"/>
              <a:t> (Cooperative) Scheduling</a:t>
            </a:r>
            <a:endParaRPr lang="en-GB" sz="2000" b="1" dirty="0"/>
          </a:p>
          <a:p>
            <a:pPr>
              <a:buNone/>
            </a:pPr>
            <a:r>
              <a:rPr lang="en-GB" sz="2000" dirty="0"/>
              <a:t>In this scheme, the CPU is given to a process and </a:t>
            </a:r>
            <a:r>
              <a:rPr lang="en-GB" sz="2000" b="1" dirty="0"/>
              <a:t>only taken away when the process willingly gives it up</a:t>
            </a:r>
            <a:r>
              <a:rPr lang="en-GB" sz="2000" dirty="0"/>
              <a:t>, i.e., only in events:</a:t>
            </a:r>
            <a:endParaRPr lang="en-GB" sz="2000" dirty="0"/>
          </a:p>
          <a:p>
            <a:pPr marL="342900" indent="-342900">
              <a:buFont typeface="Arial" panose="020B0604020202020204" pitchFamily="34" charset="0"/>
              <a:buChar char="•"/>
            </a:pPr>
            <a:r>
              <a:rPr lang="en-GB" sz="2000" dirty="0"/>
              <a:t>1. Running to Waiting</a:t>
            </a:r>
            <a:endParaRPr lang="en-GB" sz="2000" dirty="0"/>
          </a:p>
          <a:p>
            <a:pPr marL="342900" indent="-342900">
              <a:buFont typeface="Arial" panose="020B0604020202020204" pitchFamily="34" charset="0"/>
              <a:buChar char="•"/>
            </a:pPr>
            <a:r>
              <a:rPr lang="en-GB" sz="2000" dirty="0"/>
              <a:t>4. Termination</a:t>
            </a:r>
            <a:endParaRPr lang="en-GB" sz="2000" dirty="0"/>
          </a:p>
          <a:p>
            <a:pPr>
              <a:buNone/>
            </a:pPr>
            <a:r>
              <a:rPr lang="en-GB" sz="2000" dirty="0"/>
              <a:t>This means:</a:t>
            </a:r>
            <a:endParaRPr lang="en-GB" sz="2000" dirty="0"/>
          </a:p>
          <a:p>
            <a:pPr marL="342900" indent="-342900">
              <a:buFont typeface="Arial" panose="020B0604020202020204" pitchFamily="34" charset="0"/>
              <a:buChar char="•"/>
            </a:pPr>
            <a:r>
              <a:rPr lang="en-GB" sz="2000" dirty="0"/>
              <a:t>No one can interrupt a running process.</a:t>
            </a:r>
            <a:endParaRPr lang="en-GB" sz="2000" dirty="0"/>
          </a:p>
          <a:p>
            <a:pPr marL="342900" indent="-342900">
              <a:buFont typeface="Arial" panose="020B0604020202020204" pitchFamily="34" charset="0"/>
              <a:buChar char="•"/>
            </a:pPr>
            <a:r>
              <a:rPr lang="en-GB" sz="2000" dirty="0"/>
              <a:t>The process “cooperatively” decides when to release the CPU.</a:t>
            </a:r>
            <a:endParaRPr lang="en-GB" sz="2000" dirty="0"/>
          </a:p>
          <a:p>
            <a:r>
              <a:rPr lang="en-GB" sz="2000" dirty="0"/>
              <a:t>Few modern systems use it.</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err="1"/>
              <a:t>Preemptive</a:t>
            </a:r>
            <a:r>
              <a:rPr lang="en-GB" sz="3600" dirty="0"/>
              <a:t> and </a:t>
            </a:r>
            <a:r>
              <a:rPr lang="en-GB" sz="3600" dirty="0" err="1"/>
              <a:t>Nonpreemptive</a:t>
            </a:r>
            <a:r>
              <a:rPr lang="en-GB" sz="3600" dirty="0"/>
              <a:t> Scheduling</a:t>
            </a:r>
            <a:endParaRPr lang="en-US" sz="3600" dirty="0"/>
          </a:p>
        </p:txBody>
      </p:sp>
      <p:sp>
        <p:nvSpPr>
          <p:cNvPr id="11" name="Text Placeholder 10"/>
          <p:cNvSpPr>
            <a:spLocks noGrp="1"/>
          </p:cNvSpPr>
          <p:nvPr>
            <p:ph type="body" sz="quarter" idx="11"/>
          </p:nvPr>
        </p:nvSpPr>
        <p:spPr>
          <a:xfrm>
            <a:off x="762000" y="1135294"/>
            <a:ext cx="10667999" cy="4290144"/>
          </a:xfrm>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en-GB" sz="2000" b="1" i="0" u="none" strike="noStrike" kern="1200" cap="none" spc="0" normalizeH="0" baseline="0" noProof="0" dirty="0">
                <a:ln>
                  <a:noFill/>
                </a:ln>
                <a:solidFill>
                  <a:prstClr val="black"/>
                </a:solidFill>
                <a:effectLst/>
                <a:uLnTx/>
                <a:uFillTx/>
                <a:latin typeface="Segoe UI" panose="020B0502040204020203"/>
                <a:ea typeface="+mn-ea"/>
                <a:cs typeface="+mn-cs"/>
              </a:rPr>
              <a:t>Advantages</a:t>
            </a:r>
            <a:endParaRPr kumimoji="0" lang="en-GB" sz="2000" b="1"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342900" marR="0" lvl="0" indent="-34290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Simple to implement.</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342900" marR="0" lvl="0" indent="-34290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No complex race conditions due to mid-execution </a:t>
            </a:r>
            <a:r>
              <a:rPr kumimoji="0" lang="en-GB" sz="2000" b="0" i="0" u="none" strike="noStrike" kern="1200" cap="none" spc="0" normalizeH="0" baseline="0" noProof="0" dirty="0" err="1">
                <a:ln>
                  <a:noFill/>
                </a:ln>
                <a:solidFill>
                  <a:prstClr val="black"/>
                </a:solidFill>
                <a:effectLst/>
                <a:uLnTx/>
                <a:uFillTx/>
                <a:latin typeface="Segoe UI" panose="020B0502040204020203"/>
                <a:ea typeface="+mn-ea"/>
                <a:cs typeface="+mn-cs"/>
              </a:rPr>
              <a:t>preemption</a:t>
            </a: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342900" marR="0" lvl="0" indent="-34290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Kernel design is easier and more stable.</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en-GB" sz="2000" b="1" i="0" u="none" strike="noStrike" kern="1200" cap="none" spc="0" normalizeH="0" baseline="0" noProof="0" dirty="0">
                <a:ln>
                  <a:noFill/>
                </a:ln>
                <a:solidFill>
                  <a:prstClr val="black"/>
                </a:solidFill>
                <a:effectLst/>
                <a:uLnTx/>
                <a:uFillTx/>
                <a:latin typeface="Segoe UI" panose="020B0502040204020203"/>
                <a:ea typeface="+mn-ea"/>
                <a:cs typeface="+mn-cs"/>
              </a:rPr>
              <a:t>Disadvantages</a:t>
            </a:r>
            <a:endParaRPr kumimoji="0" lang="en-GB" sz="2000" b="1"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342900" marR="0" lvl="0" indent="-34290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A misbehaving process can hog the CPU indefinitely.</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342900" marR="0" lvl="0" indent="-34290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Poor response time for interactive systems.</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342900" marR="0" lvl="0" indent="-34290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Very bad for real-time or multiuser systems.</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304027"/>
            <a:ext cx="10591800" cy="646332"/>
          </a:xfrm>
        </p:spPr>
        <p:txBody>
          <a:bodyPr/>
          <a:lstStyle/>
          <a:p>
            <a:r>
              <a:rPr lang="en-GB" sz="3600" dirty="0" err="1"/>
              <a:t>Preemptive</a:t>
            </a:r>
            <a:r>
              <a:rPr lang="en-GB" sz="3600" dirty="0"/>
              <a:t> and </a:t>
            </a:r>
            <a:r>
              <a:rPr lang="en-GB" sz="3600" dirty="0" err="1"/>
              <a:t>Nonpreemptive</a:t>
            </a:r>
            <a:r>
              <a:rPr lang="en-GB" sz="3600" dirty="0"/>
              <a:t> Scheduling</a:t>
            </a:r>
            <a:endParaRPr lang="en-US" sz="3600" dirty="0"/>
          </a:p>
        </p:txBody>
      </p:sp>
      <p:sp>
        <p:nvSpPr>
          <p:cNvPr id="11" name="Text Placeholder 10"/>
          <p:cNvSpPr>
            <a:spLocks noGrp="1"/>
          </p:cNvSpPr>
          <p:nvPr>
            <p:ph type="body" sz="quarter" idx="11"/>
          </p:nvPr>
        </p:nvSpPr>
        <p:spPr>
          <a:xfrm>
            <a:off x="762000" y="950359"/>
            <a:ext cx="10667999" cy="4290144"/>
          </a:xfrm>
        </p:spPr>
        <p:txBody>
          <a:bodyPr/>
          <a:lstStyle/>
          <a:p>
            <a:pPr>
              <a:buNone/>
            </a:pPr>
            <a:r>
              <a:rPr lang="en-GB" sz="1900" b="1" dirty="0" err="1"/>
              <a:t>Preemptive</a:t>
            </a:r>
            <a:r>
              <a:rPr lang="en-GB" sz="1900" b="1" dirty="0"/>
              <a:t> Scheduling</a:t>
            </a:r>
            <a:endParaRPr lang="en-GB" sz="1900" b="1" dirty="0"/>
          </a:p>
          <a:p>
            <a:pPr>
              <a:buNone/>
            </a:pPr>
            <a:r>
              <a:rPr lang="en-GB" sz="1900" dirty="0" err="1"/>
              <a:t>Preemptive</a:t>
            </a:r>
            <a:r>
              <a:rPr lang="en-GB" sz="1900" dirty="0"/>
              <a:t> scheduling allows the OS to </a:t>
            </a:r>
            <a:r>
              <a:rPr lang="en-GB" sz="1900" b="1" dirty="0"/>
              <a:t>interrupt</a:t>
            </a:r>
            <a:r>
              <a:rPr lang="en-GB" sz="1900" dirty="0"/>
              <a:t> a running process at any of the decision points:</a:t>
            </a:r>
            <a:endParaRPr lang="en-GB" sz="1900" dirty="0"/>
          </a:p>
          <a:p>
            <a:pPr>
              <a:buFont typeface="Arial" panose="020B0604020202020204" pitchFamily="34" charset="0"/>
              <a:buChar char="•"/>
            </a:pPr>
            <a:r>
              <a:rPr lang="en-GB" sz="1900" dirty="0"/>
              <a:t>2 Running to Ready</a:t>
            </a:r>
            <a:endParaRPr lang="en-GB" sz="1900" dirty="0"/>
          </a:p>
          <a:p>
            <a:pPr>
              <a:buFont typeface="Arial" panose="020B0604020202020204" pitchFamily="34" charset="0"/>
              <a:buChar char="•"/>
            </a:pPr>
            <a:r>
              <a:rPr lang="en-GB" sz="1900" dirty="0"/>
              <a:t>3 Waiting </a:t>
            </a:r>
            <a:r>
              <a:rPr lang="en-GB" sz="1900" dirty="0" err="1"/>
              <a:t>t</a:t>
            </a:r>
            <a:r>
              <a:rPr lang="en-US" altLang="en-GB" sz="1900" dirty="0" err="1"/>
              <a:t>0</a:t>
            </a:r>
            <a:r>
              <a:rPr lang="en-GB" sz="1900" dirty="0"/>
              <a:t> Ready</a:t>
            </a:r>
            <a:endParaRPr lang="en-GB" sz="1900" dirty="0"/>
          </a:p>
          <a:p>
            <a:pPr>
              <a:buNone/>
            </a:pPr>
            <a:r>
              <a:rPr lang="en-GB" sz="1900" dirty="0"/>
              <a:t>This means the OS </a:t>
            </a:r>
            <a:r>
              <a:rPr lang="en-GB" sz="1900" i="1" dirty="0"/>
              <a:t>can take the CPU forcibly</a:t>
            </a:r>
            <a:r>
              <a:rPr lang="en-GB" sz="1900" dirty="0"/>
              <a:t> even if the running process does not want to give it up.</a:t>
            </a:r>
            <a:endParaRPr lang="en-GB" sz="1900" dirty="0"/>
          </a:p>
          <a:p>
            <a:pPr>
              <a:buNone/>
            </a:pPr>
            <a:r>
              <a:rPr lang="en-GB" sz="1900" b="1" dirty="0"/>
              <a:t>Why modern systems require </a:t>
            </a:r>
            <a:r>
              <a:rPr lang="en-GB" sz="1900" b="1" dirty="0" err="1"/>
              <a:t>preemption</a:t>
            </a:r>
            <a:endParaRPr lang="en-GB" sz="1900" b="1" dirty="0"/>
          </a:p>
          <a:p>
            <a:pPr>
              <a:buFont typeface="Arial" panose="020B0604020202020204" pitchFamily="34" charset="0"/>
              <a:buChar char="•"/>
            </a:pPr>
            <a:r>
              <a:rPr lang="en-GB" sz="1900" dirty="0"/>
              <a:t>Better respons</a:t>
            </a:r>
            <a:r>
              <a:rPr lang="en-GB" sz="1900" dirty="0">
                <a:sym typeface="+mn-ea"/>
              </a:rPr>
              <a:t>g many processes.</a:t>
            </a:r>
            <a:endParaRPr lang="en-GB" sz="1900" dirty="0"/>
          </a:p>
          <a:p>
            <a:pPr>
              <a:buFont typeface="Arial" panose="020B0604020202020204" pitchFamily="34" charset="0"/>
              <a:buChar char="•"/>
            </a:pPr>
            <a:r>
              <a:rPr lang="en-GB" sz="1900" dirty="0">
                <a:sym typeface="+mn-ea"/>
              </a:rPr>
              <a:t>Essential for real-time </a:t>
            </a:r>
            <a:r>
              <a:rPr lang="en-GB" sz="1900" dirty="0"/>
              <a:t>e time (important for interactive systems).</a:t>
            </a:r>
            <a:endParaRPr lang="en-GB" sz="1900" dirty="0"/>
          </a:p>
          <a:p>
            <a:pPr>
              <a:buFont typeface="Arial" panose="020B0604020202020204" pitchFamily="34" charset="0"/>
              <a:buChar char="•"/>
            </a:pPr>
            <a:r>
              <a:rPr lang="en-GB" sz="1900" dirty="0"/>
              <a:t>Fair CPU sharing amonguarantees.</a:t>
            </a:r>
            <a:endParaRPr lang="en-GB" sz="1900" dirty="0"/>
          </a:p>
          <a:p>
            <a:pPr>
              <a:buFont typeface="Arial" panose="020B0604020202020204" pitchFamily="34" charset="0"/>
              <a:buChar char="•"/>
            </a:pPr>
            <a:r>
              <a:rPr lang="en-GB" sz="1900" dirty="0"/>
              <a:t>Support for priority-based scheduling.</a:t>
            </a:r>
            <a:endParaRPr lang="en-GB" sz="1900" dirty="0"/>
          </a:p>
          <a:p>
            <a:pPr>
              <a:buNone/>
            </a:pPr>
            <a:r>
              <a:rPr lang="en-GB" sz="1900" dirty="0"/>
              <a:t>Windows, Linux, macOS, Android, iOS all use </a:t>
            </a:r>
            <a:r>
              <a:rPr lang="en-GB" sz="1900" dirty="0" err="1"/>
              <a:t>preemptive</a:t>
            </a:r>
            <a:r>
              <a:rPr lang="en-GB" sz="1900" dirty="0"/>
              <a:t> policies.</a:t>
            </a:r>
            <a:endParaRPr lang="en-GB" sz="1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Dispatcher</a:t>
            </a:r>
            <a:endParaRPr lang="en-GB" sz="3600" dirty="0"/>
          </a:p>
        </p:txBody>
      </p:sp>
      <p:sp>
        <p:nvSpPr>
          <p:cNvPr id="11" name="Text Placeholder 10"/>
          <p:cNvSpPr>
            <a:spLocks noGrp="1"/>
          </p:cNvSpPr>
          <p:nvPr>
            <p:ph type="body" sz="quarter" idx="11"/>
          </p:nvPr>
        </p:nvSpPr>
        <p:spPr>
          <a:xfrm>
            <a:off x="762000" y="1135294"/>
            <a:ext cx="10667999" cy="4290144"/>
          </a:xfrm>
        </p:spPr>
        <p:txBody>
          <a:bodyPr/>
          <a:lstStyle/>
          <a:p>
            <a:pPr>
              <a:buNone/>
            </a:pPr>
            <a:r>
              <a:rPr lang="en-GB" sz="2000" dirty="0"/>
              <a:t>The </a:t>
            </a:r>
            <a:r>
              <a:rPr lang="en-GB" sz="2000" b="1" dirty="0"/>
              <a:t>dispatcher</a:t>
            </a:r>
            <a:r>
              <a:rPr lang="en-GB" sz="2000" dirty="0"/>
              <a:t> is the comp</a:t>
            </a:r>
            <a:r>
              <a:rPr lang="en-US" altLang="en-GB" sz="2000" dirty="0"/>
              <a:t>0</a:t>
            </a:r>
            <a:r>
              <a:rPr lang="en-GB" sz="2000" dirty="0"/>
              <a:t>nent of the OS that performs the </a:t>
            </a:r>
            <a:r>
              <a:rPr lang="en-GB" sz="2000" i="1" dirty="0"/>
              <a:t>actual context switch</a:t>
            </a:r>
            <a:r>
              <a:rPr lang="en-GB" sz="2000" dirty="0"/>
              <a:t> and transfers control to the selected process. After the scheduler decides </a:t>
            </a:r>
            <a:r>
              <a:rPr lang="en-GB" sz="2000" i="1" dirty="0"/>
              <a:t>who</a:t>
            </a:r>
            <a:r>
              <a:rPr lang="en-GB" sz="2000" dirty="0"/>
              <a:t> to run, the dispatcher performs </a:t>
            </a:r>
            <a:r>
              <a:rPr lang="en-GB" sz="2000" i="1" dirty="0"/>
              <a:t>the switch</a:t>
            </a:r>
            <a:r>
              <a:rPr lang="en-GB" sz="2000" dirty="0"/>
              <a:t>.</a:t>
            </a:r>
            <a:endParaRPr lang="en-GB" sz="2000" dirty="0"/>
          </a:p>
          <a:p>
            <a:pPr>
              <a:buNone/>
            </a:pPr>
            <a:r>
              <a:rPr lang="en-GB" sz="2000" b="1" dirty="0"/>
              <a:t>Dispatcher Responsibilities</a:t>
            </a:r>
            <a:endParaRPr lang="en-GB" sz="2000" b="1" dirty="0"/>
          </a:p>
          <a:p>
            <a:pPr>
              <a:buFont typeface="+mj-lt"/>
              <a:buAutoNum type="arabicPeriod"/>
            </a:pPr>
            <a:r>
              <a:rPr lang="en-GB" sz="2000" b="1" dirty="0"/>
              <a:t>Context Switching</a:t>
            </a:r>
            <a:br>
              <a:rPr lang="en-GB" sz="2000" dirty="0"/>
            </a:br>
            <a:r>
              <a:rPr lang="en-GB" sz="2000" dirty="0"/>
              <a:t>Save the state of the old process and restore state of the new one.</a:t>
            </a:r>
            <a:endParaRPr lang="en-GB" sz="2000" dirty="0"/>
          </a:p>
          <a:p>
            <a:pPr>
              <a:buFont typeface="+mj-lt"/>
              <a:buAutoNum type="arabicPeriod"/>
            </a:pPr>
            <a:r>
              <a:rPr lang="en-GB" sz="2000" b="1" dirty="0"/>
              <a:t>Switch to User Mode</a:t>
            </a:r>
            <a:br>
              <a:rPr lang="en-GB" sz="2000" dirty="0"/>
            </a:br>
            <a:r>
              <a:rPr lang="en-GB" sz="2000" dirty="0"/>
              <a:t>Since the scheduler and dispatcher run in kernel mode.</a:t>
            </a:r>
            <a:endParaRPr lang="en-GB" sz="2000" dirty="0"/>
          </a:p>
          <a:p>
            <a:pPr>
              <a:buFont typeface="+mj-lt"/>
              <a:buAutoNum type="arabicPeriod"/>
            </a:pPr>
            <a:r>
              <a:rPr lang="en-GB" sz="2000" b="1" dirty="0"/>
              <a:t>Jump to proper location</a:t>
            </a:r>
            <a:r>
              <a:rPr lang="en-GB" sz="2000" dirty="0"/>
              <a:t> in the new program to resume execution.</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Dispatcher</a:t>
            </a:r>
            <a:endParaRPr lang="en-GB" sz="3600" dirty="0"/>
          </a:p>
        </p:txBody>
      </p:sp>
      <p:sp>
        <p:nvSpPr>
          <p:cNvPr id="11" name="Text Placeholder 10"/>
          <p:cNvSpPr>
            <a:spLocks noGrp="1"/>
          </p:cNvSpPr>
          <p:nvPr>
            <p:ph type="body" sz="quarter" idx="11"/>
          </p:nvPr>
        </p:nvSpPr>
        <p:spPr>
          <a:xfrm>
            <a:off x="762000" y="1135294"/>
            <a:ext cx="10667999" cy="4290144"/>
          </a:xfrm>
        </p:spPr>
        <p:txBody>
          <a:bodyPr/>
          <a:lstStyle/>
          <a:p>
            <a:pPr>
              <a:buNone/>
            </a:pPr>
            <a:r>
              <a:rPr lang="en-GB" sz="2000" b="1" dirty="0"/>
              <a:t>Dispatch Latency</a:t>
            </a:r>
            <a:endParaRPr lang="en-GB" sz="2000" b="1" dirty="0"/>
          </a:p>
          <a:p>
            <a:pPr>
              <a:buNone/>
            </a:pPr>
            <a:r>
              <a:rPr lang="en-GB" sz="2000" dirty="0"/>
              <a:t>This is the time required for the dispatcher to:</a:t>
            </a:r>
            <a:endParaRPr lang="en-GB" sz="2000" dirty="0"/>
          </a:p>
          <a:p>
            <a:pPr marL="342900" indent="-342900">
              <a:buFont typeface="Arial" panose="020B0604020202020204" pitchFamily="34" charset="0"/>
              <a:buChar char="•"/>
            </a:pPr>
            <a:r>
              <a:rPr lang="en-GB" sz="2000" dirty="0"/>
              <a:t>Stop one process,</a:t>
            </a:r>
            <a:endParaRPr lang="en-GB" sz="2000" dirty="0"/>
          </a:p>
          <a:p>
            <a:pPr marL="342900" indent="-342900">
              <a:buFont typeface="Arial" panose="020B0604020202020204" pitchFamily="34" charset="0"/>
              <a:buChar char="•"/>
            </a:pPr>
            <a:r>
              <a:rPr lang="en-GB" sz="2000" dirty="0"/>
              <a:t>Save its state,</a:t>
            </a:r>
            <a:endParaRPr lang="en-GB" sz="2000" dirty="0"/>
          </a:p>
          <a:p>
            <a:pPr marL="342900" indent="-342900">
              <a:buFont typeface="Arial" panose="020B0604020202020204" pitchFamily="34" charset="0"/>
              <a:buChar char="•"/>
            </a:pPr>
            <a:r>
              <a:rPr lang="en-GB" sz="2000" dirty="0"/>
              <a:t>Restore the new process state,</a:t>
            </a:r>
            <a:endParaRPr lang="en-GB" sz="2000" dirty="0"/>
          </a:p>
          <a:p>
            <a:pPr marL="342900" indent="-342900">
              <a:buFont typeface="Arial" panose="020B0604020202020204" pitchFamily="34" charset="0"/>
              <a:buChar char="•"/>
            </a:pPr>
            <a:r>
              <a:rPr lang="en-GB" sz="2000" dirty="0"/>
              <a:t>Start executing it.</a:t>
            </a:r>
            <a:endParaRPr lang="en-GB" sz="2000" dirty="0"/>
          </a:p>
          <a:p>
            <a:pPr>
              <a:buNone/>
            </a:pPr>
            <a:r>
              <a:rPr lang="en-GB" sz="2000" dirty="0"/>
              <a:t>Minimizing dispatch latency is essential because context switches occur </a:t>
            </a:r>
            <a:r>
              <a:rPr lang="en-GB" sz="2000" b="1" dirty="0"/>
              <a:t>very frequently</a:t>
            </a:r>
            <a:r>
              <a:rPr lang="en-GB" sz="2000" dirty="0"/>
              <a:t>.</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Scheduling Criteria</a:t>
            </a:r>
            <a:endParaRPr lang="en-GB" sz="3600" dirty="0"/>
          </a:p>
        </p:txBody>
      </p:sp>
      <p:sp>
        <p:nvSpPr>
          <p:cNvPr id="11" name="Text Placeholder 10"/>
          <p:cNvSpPr>
            <a:spLocks noGrp="1"/>
          </p:cNvSpPr>
          <p:nvPr>
            <p:ph type="body" sz="quarter" idx="11"/>
          </p:nvPr>
        </p:nvSpPr>
        <p:spPr>
          <a:xfrm>
            <a:off x="762000" y="1135294"/>
            <a:ext cx="10667999" cy="4290144"/>
          </a:xfrm>
        </p:spPr>
        <p:txBody>
          <a:bodyPr/>
          <a:lstStyle/>
          <a:p>
            <a:pPr>
              <a:buNone/>
            </a:pPr>
            <a:r>
              <a:rPr lang="en-GB" sz="2000" dirty="0"/>
              <a:t>Before choosing a CPU scheduling algorithm (like FCFS, SJF, Priority, RR, etc.), we must evaluate </a:t>
            </a:r>
            <a:r>
              <a:rPr lang="en-GB" sz="2000" b="1" dirty="0"/>
              <a:t>how well</a:t>
            </a:r>
            <a:r>
              <a:rPr lang="en-GB" sz="2000" dirty="0"/>
              <a:t> that algorithm serves the goals of the operating system. Different environments care about different things.</a:t>
            </a:r>
            <a:endParaRPr lang="en-GB" sz="2000" dirty="0"/>
          </a:p>
          <a:p>
            <a:pPr>
              <a:buNone/>
            </a:pPr>
            <a:r>
              <a:rPr lang="en-GB" sz="2000" dirty="0"/>
              <a:t>For example:</a:t>
            </a:r>
            <a:endParaRPr lang="en-GB" sz="2000" dirty="0"/>
          </a:p>
          <a:p>
            <a:pPr>
              <a:buFont typeface="Arial" panose="020B0604020202020204" pitchFamily="34" charset="0"/>
              <a:buChar char="•"/>
            </a:pPr>
            <a:r>
              <a:rPr lang="en-GB" sz="2000" dirty="0"/>
              <a:t>A </a:t>
            </a:r>
            <a:r>
              <a:rPr lang="en-GB" sz="2000" b="1" dirty="0"/>
              <a:t>batch processing</a:t>
            </a:r>
            <a:r>
              <a:rPr lang="en-GB" sz="2000" dirty="0"/>
              <a:t> system cares about throughput.</a:t>
            </a:r>
            <a:endParaRPr lang="en-GB" sz="2000" dirty="0"/>
          </a:p>
          <a:p>
            <a:pPr>
              <a:buFont typeface="Arial" panose="020B0604020202020204" pitchFamily="34" charset="0"/>
              <a:buChar char="•"/>
            </a:pPr>
            <a:r>
              <a:rPr lang="en-GB" sz="2000" dirty="0"/>
              <a:t>A </a:t>
            </a:r>
            <a:r>
              <a:rPr lang="en-GB" sz="2000" b="1" dirty="0"/>
              <a:t>desktop system</a:t>
            </a:r>
            <a:r>
              <a:rPr lang="en-GB" sz="2000" dirty="0"/>
              <a:t> cares about response time.</a:t>
            </a:r>
            <a:endParaRPr lang="en-GB" sz="2000" dirty="0"/>
          </a:p>
          <a:p>
            <a:pPr>
              <a:buFont typeface="Arial" panose="020B0604020202020204" pitchFamily="34" charset="0"/>
              <a:buChar char="•"/>
            </a:pPr>
            <a:r>
              <a:rPr lang="en-GB" sz="2000" dirty="0"/>
              <a:t>A </a:t>
            </a:r>
            <a:r>
              <a:rPr lang="en-GB" sz="2000" b="1" dirty="0"/>
              <a:t>real-time</a:t>
            </a:r>
            <a:r>
              <a:rPr lang="en-GB" sz="2000" dirty="0"/>
              <a:t> system cares about meeting deadlines.</a:t>
            </a:r>
            <a:endParaRPr lang="en-GB" sz="2000" dirty="0"/>
          </a:p>
          <a:p>
            <a:pPr>
              <a:buFont typeface="Arial" panose="020B0604020202020204" pitchFamily="34" charset="0"/>
              <a:buChar char="•"/>
            </a:pPr>
            <a:r>
              <a:rPr lang="en-GB" sz="2000" dirty="0"/>
              <a:t>A </a:t>
            </a:r>
            <a:r>
              <a:rPr lang="en-GB" sz="2000" b="1" dirty="0"/>
              <a:t>cloud server</a:t>
            </a:r>
            <a:r>
              <a:rPr lang="en-GB" sz="2000" dirty="0"/>
              <a:t> cares about fairness and CPU utilization.</a:t>
            </a:r>
            <a:endParaRPr lang="en-GB" sz="2000" dirty="0"/>
          </a:p>
          <a:p>
            <a:pPr>
              <a:buNone/>
            </a:pPr>
            <a:r>
              <a:rPr lang="en-GB" sz="2000" dirty="0"/>
              <a:t>Therefore, each scheduling algorithm is judged using several important performance metrics.</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Scheduling Criteria</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pPr>
              <a:buNone/>
            </a:pPr>
            <a:r>
              <a:rPr lang="en-GB" sz="2000" dirty="0"/>
              <a:t>The criteria include the following: </a:t>
            </a:r>
            <a:endParaRPr lang="en-GB" sz="2000" dirty="0"/>
          </a:p>
          <a:p>
            <a:pPr marL="457200" indent="-457200">
              <a:buAutoNum type="arabicPeriod"/>
            </a:pPr>
            <a:r>
              <a:rPr lang="en-GB" sz="2000" b="1" dirty="0"/>
              <a:t>CPU utilization. </a:t>
            </a:r>
            <a:r>
              <a:rPr lang="en-GB" sz="2000" dirty="0"/>
              <a:t>We want to keep the CPU as busy as possible. Conceptually, CPU utilization can range from 0 to 100 percent. In a real system, it should range from 40 percent (for a lightly loaded system) to 90 percent (for a heavily loaded system).</a:t>
            </a:r>
            <a:endParaRPr lang="en-GB" sz="2000" dirty="0"/>
          </a:p>
          <a:p>
            <a:pPr marL="457200" indent="-457200">
              <a:buAutoNum type="arabicPeriod"/>
            </a:pPr>
            <a:endParaRPr lang="en-GB" sz="2000" dirty="0"/>
          </a:p>
          <a:p>
            <a:pPr marL="457200" indent="-457200">
              <a:buFont typeface="+mj-lt"/>
              <a:buAutoNum type="arabicPeriod"/>
            </a:pPr>
            <a:r>
              <a:rPr lang="en-GB" sz="2000" b="1" dirty="0"/>
              <a:t>Throughput : </a:t>
            </a:r>
            <a:r>
              <a:rPr lang="en-GB" sz="2000" i="1" dirty="0"/>
              <a:t>(How many processes finish per unit time?) </a:t>
            </a:r>
            <a:r>
              <a:rPr lang="en-GB" sz="2000" dirty="0"/>
              <a:t>This measures how much work the system is doing.</a:t>
            </a:r>
            <a:endParaRPr lang="en-GB" sz="2000" dirty="0"/>
          </a:p>
          <a:p>
            <a:pPr marL="342900" indent="-342900">
              <a:buFont typeface="Arial" panose="020B0604020202020204" pitchFamily="34" charset="0"/>
              <a:buChar char="•"/>
            </a:pPr>
            <a:r>
              <a:rPr lang="en-GB" sz="2000" dirty="0"/>
              <a:t>For long-running, heavy jobs: maybe </a:t>
            </a:r>
            <a:r>
              <a:rPr lang="en-GB" sz="2000" b="1" dirty="0"/>
              <a:t>1 process every few seconds</a:t>
            </a:r>
            <a:endParaRPr lang="en-GB" sz="2000" dirty="0"/>
          </a:p>
          <a:p>
            <a:pPr marL="342900" indent="-342900">
              <a:buFont typeface="Arial" panose="020B0604020202020204" pitchFamily="34" charset="0"/>
              <a:buChar char="•"/>
            </a:pPr>
            <a:r>
              <a:rPr lang="en-GB" sz="2000" dirty="0"/>
              <a:t>For small transactional jobs: maybe </a:t>
            </a:r>
            <a:r>
              <a:rPr lang="en-GB" sz="2000" b="1" dirty="0"/>
              <a:t>tens or hundreds per second</a:t>
            </a:r>
            <a:endParaRPr lang="en-GB" sz="2000" dirty="0"/>
          </a:p>
          <a:p>
            <a:pPr marL="457200" indent="-457200">
              <a:buAutoNum type="arabicPeriod"/>
            </a:pPr>
            <a:endParaRPr lang="en-GB" sz="2000" dirty="0"/>
          </a:p>
          <a:p>
            <a:pPr>
              <a:buNone/>
            </a:pP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Scheduling Criteria</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pPr>
              <a:buNone/>
            </a:pPr>
            <a:r>
              <a:rPr lang="en-GB" sz="2000" b="1" dirty="0"/>
              <a:t>3. Turnaround Time </a:t>
            </a:r>
            <a:r>
              <a:rPr lang="en-GB" sz="2000" b="1" i="1" dirty="0"/>
              <a:t>(“How long does a process take from start to finish?”)</a:t>
            </a:r>
            <a:endParaRPr lang="en-GB" sz="2000" i="1" dirty="0"/>
          </a:p>
          <a:p>
            <a:pPr>
              <a:buNone/>
            </a:pPr>
            <a:r>
              <a:rPr lang="en-GB" sz="2000" dirty="0"/>
              <a:t>Turnaround time includes:</a:t>
            </a:r>
            <a:endParaRPr lang="en-GB" sz="2000" dirty="0"/>
          </a:p>
          <a:p>
            <a:pPr rtl="0">
              <a:buNone/>
            </a:pPr>
            <a:r>
              <a:rPr lang="en-GB" sz="2000" dirty="0">
                <a:latin typeface="Courier New" panose="02070309020205020404" pitchFamily="49" charset="0"/>
              </a:rPr>
              <a:t>Turnaround = Waiting in ready queue</a:t>
            </a:r>
            <a:endParaRPr lang="en-GB" sz="2000" dirty="0">
              <a:latin typeface="Courier New" panose="02070309020205020404" pitchFamily="49" charset="0"/>
            </a:endParaRPr>
          </a:p>
          <a:p>
            <a:pPr rtl="0">
              <a:buNone/>
            </a:pPr>
            <a:r>
              <a:rPr lang="en-GB" sz="2000" dirty="0">
                <a:latin typeface="Courier New" panose="02070309020205020404" pitchFamily="49" charset="0"/>
              </a:rPr>
              <a:t>            + CPU execution time</a:t>
            </a:r>
            <a:endParaRPr lang="en-GB" sz="2000" dirty="0">
              <a:latin typeface="Courier New" panose="02070309020205020404" pitchFamily="49" charset="0"/>
            </a:endParaRPr>
          </a:p>
          <a:p>
            <a:pPr rtl="0">
              <a:buNone/>
            </a:pPr>
            <a:r>
              <a:rPr lang="en-GB" sz="2000" dirty="0">
                <a:latin typeface="Courier New" panose="02070309020205020404" pitchFamily="49" charset="0"/>
              </a:rPr>
              <a:t>            + I/O time</a:t>
            </a:r>
            <a:endParaRPr lang="en-GB" sz="2000" dirty="0">
              <a:latin typeface="Courier New" panose="02070309020205020404" pitchFamily="49" charset="0"/>
            </a:endParaRPr>
          </a:p>
          <a:p>
            <a:pPr>
              <a:buNone/>
            </a:pPr>
            <a:r>
              <a:rPr lang="en-GB" sz="2000" dirty="0"/>
              <a:t>It is the user’s perception of how long their job took overall.</a:t>
            </a:r>
            <a:endParaRPr lang="en-GB" sz="2000" dirty="0"/>
          </a:p>
          <a:p>
            <a:pPr>
              <a:buNone/>
            </a:pPr>
            <a:endParaRPr lang="en-GB" sz="2000" dirty="0"/>
          </a:p>
          <a:p>
            <a:pPr>
              <a:buNone/>
            </a:pPr>
            <a:r>
              <a:rPr lang="en-GB" sz="2000" b="1" dirty="0"/>
              <a:t>4. Waiting time. </a:t>
            </a:r>
            <a:r>
              <a:rPr lang="en-GB" sz="2000" dirty="0"/>
              <a:t>The CPU-scheduling algorithm does not affect the amount of time during which a process executes or does I/O. It affects only the amount of time that a process spends waiting in the ready queue. </a:t>
            </a:r>
            <a:endParaRPr lang="en-GB" sz="2000" dirty="0"/>
          </a:p>
          <a:p>
            <a:pPr>
              <a:buNone/>
            </a:pPr>
            <a:r>
              <a:rPr lang="en-GB" sz="2000" dirty="0"/>
              <a:t>Waiting time is the sum of the periods spent waiting in the ready queue</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Scheduling Criteria</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r>
              <a:rPr lang="en-GB" sz="1900" b="1" dirty="0"/>
              <a:t>5. Response time. </a:t>
            </a:r>
            <a:r>
              <a:rPr lang="en-GB" sz="1900" dirty="0"/>
              <a:t>This is the time it takes to start responding, not the time it takes to output the response.</a:t>
            </a:r>
            <a:endParaRPr lang="en-GB" sz="1900" dirty="0"/>
          </a:p>
          <a:p>
            <a:r>
              <a:rPr lang="en-GB" sz="1900" dirty="0"/>
              <a:t>In an interactive system, turnaround time may not be the best criterion. Often, a process can produce some output fairly early and can continue computing new results while previous results are being output to the user. Thus, another measure is the time from the submission of a request until the first response is produced. </a:t>
            </a:r>
            <a:endParaRPr lang="en-GB" sz="1900" dirty="0"/>
          </a:p>
          <a:p>
            <a:pPr>
              <a:buNone/>
            </a:pPr>
            <a:r>
              <a:rPr lang="en-GB" sz="1900" b="1" dirty="0"/>
              <a:t>Response time = Time from request submission TO  first observable response.</a:t>
            </a:r>
            <a:endParaRPr lang="en-GB" sz="1900" dirty="0"/>
          </a:p>
          <a:p>
            <a:pPr>
              <a:buNone/>
            </a:pPr>
            <a:r>
              <a:rPr lang="en-GB" sz="1900" dirty="0"/>
              <a:t>This is not the same as turnaround time.</a:t>
            </a:r>
            <a:endParaRPr lang="en-GB" sz="1900" dirty="0"/>
          </a:p>
          <a:p>
            <a:pPr>
              <a:buNone/>
            </a:pPr>
            <a:r>
              <a:rPr lang="en-GB" sz="1900" dirty="0"/>
              <a:t>Example:</a:t>
            </a:r>
            <a:endParaRPr lang="en-GB" sz="1900" dirty="0"/>
          </a:p>
          <a:p>
            <a:pPr>
              <a:buFont typeface="Arial" panose="020B0604020202020204" pitchFamily="34" charset="0"/>
              <a:buChar char="•"/>
            </a:pPr>
            <a:r>
              <a:rPr lang="en-GB" sz="1900" dirty="0"/>
              <a:t>You click an icon.</a:t>
            </a:r>
            <a:endParaRPr lang="en-GB" sz="1900" dirty="0"/>
          </a:p>
          <a:p>
            <a:pPr>
              <a:buFont typeface="Arial" panose="020B0604020202020204" pitchFamily="34" charset="0"/>
              <a:buChar char="•"/>
            </a:pPr>
            <a:r>
              <a:rPr lang="en-GB" sz="1900" dirty="0"/>
              <a:t>The program displays a loading spinner immediately.</a:t>
            </a:r>
            <a:endParaRPr lang="en-GB" sz="1900" dirty="0"/>
          </a:p>
          <a:p>
            <a:pPr>
              <a:buFont typeface="Arial" panose="020B0604020202020204" pitchFamily="34" charset="0"/>
              <a:buChar char="•"/>
            </a:pPr>
            <a:r>
              <a:rPr lang="en-GB" sz="1900" dirty="0"/>
              <a:t>But it finishes loading after 3 seconds.</a:t>
            </a:r>
            <a:endParaRPr lang="en-GB" sz="1900" dirty="0"/>
          </a:p>
          <a:p>
            <a:pPr>
              <a:buNone/>
            </a:pPr>
            <a:r>
              <a:rPr lang="en-GB" sz="1900" b="1" i="1" dirty="0"/>
              <a:t>Response time </a:t>
            </a:r>
            <a:r>
              <a:rPr lang="en-GB" sz="1900" dirty="0"/>
              <a:t>was short (spinner appears quickly), </a:t>
            </a:r>
            <a:r>
              <a:rPr lang="en-GB" sz="1900" b="1" i="1" dirty="0"/>
              <a:t>turnaround</a:t>
            </a:r>
            <a:r>
              <a:rPr lang="en-GB" sz="1900" dirty="0"/>
              <a:t> </a:t>
            </a:r>
            <a:r>
              <a:rPr lang="en-GB" sz="1900" b="1" i="1" dirty="0"/>
              <a:t>time</a:t>
            </a:r>
            <a:r>
              <a:rPr lang="en-GB" sz="1900" dirty="0"/>
              <a:t> was longer.</a:t>
            </a:r>
            <a:endParaRPr lang="en-GB" sz="1900" dirty="0"/>
          </a:p>
          <a:p>
            <a:endParaRPr lang="en-GB" sz="1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Scheduling Algorithms</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r>
              <a:rPr lang="en-GB" sz="2000" dirty="0"/>
              <a:t>CPU scheduling deals with the problem of deciding which of the processes in the ready queue is to be allocated the CPU’s core. There are many different CPU scheduling algorithms. </a:t>
            </a:r>
            <a:endParaRPr lang="en-GB" sz="2000" dirty="0"/>
          </a:p>
          <a:p>
            <a:r>
              <a:rPr lang="en-GB" sz="2000" dirty="0"/>
              <a:t>In this section, we will describe several of them. Although most modern CPU architectures have multiple processing cores, we describe these scheduling algorithms in the context of only one processing core available. </a:t>
            </a:r>
            <a:endParaRPr lang="en-GB" sz="2000" dirty="0"/>
          </a:p>
          <a:p>
            <a:r>
              <a:rPr lang="en-GB" sz="2000" dirty="0"/>
              <a:t>That is, a single CPU that has a single processing core, thus the system is  capable of only running one process at a time</a:t>
            </a:r>
            <a:endParaRPr lang="en-GB" sz="1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First-Come, First-Served (FCFS) Scheduling</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pPr>
              <a:buNone/>
            </a:pPr>
            <a:r>
              <a:rPr lang="en-GB" sz="2000" b="1" dirty="0"/>
              <a:t>1. What FCFS Is All About</a:t>
            </a:r>
            <a:endParaRPr lang="en-GB" sz="2000" b="1" dirty="0"/>
          </a:p>
          <a:p>
            <a:pPr>
              <a:buNone/>
            </a:pPr>
            <a:r>
              <a:rPr lang="en-GB" sz="2000" dirty="0"/>
              <a:t>First-Come, First-Served (FCFS) is the </a:t>
            </a:r>
            <a:r>
              <a:rPr lang="en-GB" sz="2000" b="1" dirty="0"/>
              <a:t>oldest</a:t>
            </a:r>
            <a:r>
              <a:rPr lang="en-GB" sz="2000" dirty="0"/>
              <a:t>, </a:t>
            </a:r>
            <a:r>
              <a:rPr lang="en-GB" sz="2000" b="1" dirty="0"/>
              <a:t>simplest</a:t>
            </a:r>
            <a:r>
              <a:rPr lang="en-GB" sz="2000" dirty="0"/>
              <a:t>, and most straightforward CPU-scheduling algorithm.</a:t>
            </a:r>
            <a:br>
              <a:rPr lang="en-GB" sz="2000" dirty="0"/>
            </a:br>
            <a:r>
              <a:rPr lang="en-GB" sz="2000" dirty="0"/>
              <a:t>It follows the exact idea behind real-world queues:</a:t>
            </a:r>
            <a:endParaRPr lang="en-GB" sz="2000" dirty="0"/>
          </a:p>
          <a:p>
            <a:pPr marL="342900" indent="-342900">
              <a:buFont typeface="Arial" panose="020B0604020202020204" pitchFamily="34" charset="0"/>
              <a:buChar char="•"/>
            </a:pPr>
            <a:r>
              <a:rPr lang="en-GB" sz="2000" dirty="0"/>
              <a:t>The first customer to arrive at a bank counter is the first one to be served.</a:t>
            </a:r>
            <a:endParaRPr lang="en-GB" sz="2000" dirty="0"/>
          </a:p>
          <a:p>
            <a:pPr marL="342900" indent="-342900">
              <a:buFont typeface="Arial" panose="020B0604020202020204" pitchFamily="34" charset="0"/>
              <a:buChar char="•"/>
            </a:pPr>
            <a:r>
              <a:rPr lang="en-GB" sz="2000" dirty="0"/>
              <a:t>Others wait behind until it is their turn.</a:t>
            </a:r>
            <a:endParaRPr lang="en-GB" sz="2000" dirty="0"/>
          </a:p>
          <a:p>
            <a:pPr>
              <a:buNone/>
            </a:pPr>
            <a:r>
              <a:rPr lang="en-GB" sz="2000" dirty="0"/>
              <a:t>In computing terms:</a:t>
            </a:r>
            <a:endParaRPr lang="en-GB" sz="2000" dirty="0"/>
          </a:p>
          <a:p>
            <a:pPr marL="342900" indent="-342900">
              <a:buFont typeface="Arial" panose="020B0604020202020204" pitchFamily="34" charset="0"/>
              <a:buChar char="•"/>
            </a:pPr>
            <a:r>
              <a:rPr lang="en-GB" sz="2000" dirty="0"/>
              <a:t>Every process that becomes “ready” is placed at the </a:t>
            </a:r>
            <a:r>
              <a:rPr lang="en-GB" sz="2000" b="1" dirty="0"/>
              <a:t>back</a:t>
            </a:r>
            <a:r>
              <a:rPr lang="en-GB" sz="2000" dirty="0"/>
              <a:t> of a </a:t>
            </a:r>
            <a:r>
              <a:rPr lang="en-GB" sz="2000" b="1" dirty="0"/>
              <a:t>FIFO (First-In First-Out)</a:t>
            </a:r>
            <a:r>
              <a:rPr lang="en-GB" sz="2000" dirty="0"/>
              <a:t> queue.</a:t>
            </a:r>
            <a:endParaRPr lang="en-GB" sz="2000" dirty="0"/>
          </a:p>
          <a:p>
            <a:pPr marL="342900" indent="-342900">
              <a:buFont typeface="Arial" panose="020B0604020202020204" pitchFamily="34" charset="0"/>
              <a:buChar char="•"/>
            </a:pPr>
            <a:r>
              <a:rPr lang="en-GB" sz="2000" dirty="0"/>
              <a:t>The CPU always takes the process from the </a:t>
            </a:r>
            <a:r>
              <a:rPr lang="en-GB" sz="2000" b="1" dirty="0"/>
              <a:t>front</a:t>
            </a:r>
            <a:r>
              <a:rPr lang="en-GB" sz="2000" dirty="0"/>
              <a:t> of this queue.</a:t>
            </a:r>
            <a:endParaRPr lang="en-GB" sz="2000" dirty="0"/>
          </a:p>
          <a:p>
            <a:pPr>
              <a:buNone/>
            </a:pPr>
            <a:r>
              <a:rPr lang="en-GB" sz="2000" dirty="0"/>
              <a:t>There is no priority, no prediction, and no analysis of burst times.</a:t>
            </a:r>
            <a:br>
              <a:rPr lang="en-GB" sz="2000" dirty="0"/>
            </a:br>
            <a:r>
              <a:rPr lang="en-GB" sz="2000" b="1" dirty="0"/>
              <a:t>Order of arrival = order of execution.</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First-Come, First-Served (FCFS) Scheduling</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pPr>
              <a:buNone/>
            </a:pPr>
            <a:r>
              <a:rPr lang="en-GB" sz="1900" b="1" dirty="0"/>
              <a:t>How FCFS Works in the Operating System</a:t>
            </a:r>
            <a:endParaRPr lang="en-GB" sz="1900" b="1" dirty="0"/>
          </a:p>
          <a:p>
            <a:pPr>
              <a:buNone/>
            </a:pPr>
            <a:r>
              <a:rPr lang="en-GB" sz="1900" dirty="0"/>
              <a:t>When a process changes state from </a:t>
            </a:r>
            <a:r>
              <a:rPr lang="en-GB" sz="1900" b="1" dirty="0"/>
              <a:t>new → ready</a:t>
            </a:r>
            <a:r>
              <a:rPr lang="en-GB" sz="1900" dirty="0"/>
              <a:t>, the OS attaches its </a:t>
            </a:r>
            <a:r>
              <a:rPr lang="en-GB" sz="1900" b="1" dirty="0"/>
              <a:t>Process Control Block (PCB)</a:t>
            </a:r>
            <a:r>
              <a:rPr lang="en-GB" sz="1900" dirty="0"/>
              <a:t> to the tail of the ready queue (FIFO).</a:t>
            </a:r>
            <a:endParaRPr lang="en-GB" sz="1900" dirty="0"/>
          </a:p>
          <a:p>
            <a:pPr>
              <a:buNone/>
            </a:pPr>
            <a:r>
              <a:rPr lang="en-GB" sz="1900" dirty="0"/>
              <a:t>When the CPU becomes free:</a:t>
            </a:r>
            <a:endParaRPr lang="en-GB" sz="1900" dirty="0"/>
          </a:p>
          <a:p>
            <a:pPr>
              <a:buFont typeface="+mj-lt"/>
              <a:buAutoNum type="arabicPeriod"/>
            </a:pPr>
            <a:r>
              <a:rPr lang="en-GB" sz="1900" dirty="0"/>
              <a:t>The OS looks at the </a:t>
            </a:r>
            <a:r>
              <a:rPr lang="en-GB" sz="1900" b="1" dirty="0"/>
              <a:t>front</a:t>
            </a:r>
            <a:r>
              <a:rPr lang="en-GB" sz="1900" dirty="0"/>
              <a:t> of the queue.</a:t>
            </a:r>
            <a:endParaRPr lang="en-GB" sz="1900" dirty="0"/>
          </a:p>
          <a:p>
            <a:pPr>
              <a:buFont typeface="+mj-lt"/>
              <a:buAutoNum type="arabicPeriod"/>
            </a:pPr>
            <a:r>
              <a:rPr lang="en-GB" sz="1900" dirty="0"/>
              <a:t>The process at the front is </a:t>
            </a:r>
            <a:r>
              <a:rPr lang="en-GB" sz="1900" b="1" dirty="0"/>
              <a:t>allocated the CPU</a:t>
            </a:r>
            <a:r>
              <a:rPr lang="en-GB" sz="1900" dirty="0"/>
              <a:t>.</a:t>
            </a:r>
            <a:endParaRPr lang="en-GB" sz="1900" dirty="0"/>
          </a:p>
          <a:p>
            <a:pPr>
              <a:buFont typeface="+mj-lt"/>
              <a:buAutoNum type="arabicPeriod"/>
            </a:pPr>
            <a:r>
              <a:rPr lang="en-GB" sz="1900" dirty="0"/>
              <a:t>That process runs </a:t>
            </a:r>
            <a:r>
              <a:rPr lang="en-GB" sz="1900" b="1" dirty="0"/>
              <a:t>to completion of its CPU burst</a:t>
            </a:r>
            <a:r>
              <a:rPr lang="en-GB" sz="1900" dirty="0"/>
              <a:t> unless:</a:t>
            </a:r>
            <a:endParaRPr lang="en-GB" sz="1900" dirty="0"/>
          </a:p>
          <a:p>
            <a:pPr marL="742950" lvl="1" indent="-285750">
              <a:buFont typeface="+mj-lt"/>
              <a:buAutoNum type="arabicPeriod"/>
            </a:pPr>
            <a:r>
              <a:rPr lang="en-GB" sz="1900" dirty="0"/>
              <a:t>It finishes entirely, or</a:t>
            </a:r>
            <a:endParaRPr lang="en-GB" sz="1900" dirty="0"/>
          </a:p>
          <a:p>
            <a:pPr marL="742950" lvl="1" indent="-285750">
              <a:buFont typeface="+mj-lt"/>
              <a:buAutoNum type="arabicPeriod"/>
            </a:pPr>
            <a:r>
              <a:rPr lang="en-GB" sz="1900" dirty="0"/>
              <a:t>It voluntarily gives up the CPU for I/O.</a:t>
            </a:r>
            <a:endParaRPr lang="en-GB" sz="1900" dirty="0"/>
          </a:p>
          <a:p>
            <a:pPr>
              <a:buNone/>
            </a:pPr>
            <a:r>
              <a:rPr lang="en-GB" sz="1900" dirty="0"/>
              <a:t>There is </a:t>
            </a:r>
            <a:r>
              <a:rPr lang="en-GB" sz="1900" b="1" dirty="0"/>
              <a:t>no </a:t>
            </a:r>
            <a:r>
              <a:rPr lang="en-GB" sz="1900" b="1" dirty="0" err="1"/>
              <a:t>preemption</a:t>
            </a:r>
            <a:r>
              <a:rPr lang="en-GB" sz="1900" dirty="0"/>
              <a:t>.</a:t>
            </a:r>
            <a:br>
              <a:rPr lang="en-GB" sz="1900" dirty="0"/>
            </a:br>
            <a:r>
              <a:rPr lang="en-GB" sz="1900" dirty="0"/>
              <a:t>Once a process begins its CPU burst, nothing interrupts it—not even a shorter job arriving later.</a:t>
            </a:r>
            <a:endParaRPr lang="en-GB" sz="1900" dirty="0"/>
          </a:p>
          <a:p>
            <a:pPr>
              <a:buNone/>
            </a:pPr>
            <a:r>
              <a:rPr lang="en-GB" sz="1900" dirty="0"/>
              <a:t>This is why FCFS is easy to implement but sometimes performs poorly.</a:t>
            </a:r>
            <a:endParaRPr lang="en-GB" sz="1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First-Come, First-Served (FCFS) Scheduling</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pPr>
              <a:buNone/>
            </a:pPr>
            <a:r>
              <a:rPr lang="en-GB" sz="2000" b="1" dirty="0"/>
              <a:t>Why FCFS Is Simple but Problematic</a:t>
            </a:r>
            <a:endParaRPr lang="en-GB" sz="2000" b="1" dirty="0"/>
          </a:p>
          <a:p>
            <a:pPr>
              <a:buNone/>
            </a:pPr>
            <a:r>
              <a:rPr lang="en-GB" sz="2000" dirty="0"/>
              <a:t>Although FCFS is conceptually clean, it suffers from two major weaknesses:</a:t>
            </a:r>
            <a:endParaRPr lang="en-GB" sz="2000" dirty="0"/>
          </a:p>
          <a:p>
            <a:pPr>
              <a:buNone/>
            </a:pPr>
            <a:r>
              <a:rPr lang="en-GB" sz="2000" b="1" dirty="0"/>
              <a:t>(A) Highly Variable Waiting Times</a:t>
            </a:r>
            <a:endParaRPr lang="en-GB" sz="2000" b="1" dirty="0"/>
          </a:p>
          <a:p>
            <a:pPr>
              <a:buNone/>
            </a:pPr>
            <a:r>
              <a:rPr lang="en-GB" sz="2000" dirty="0"/>
              <a:t>Two different arrival orders can produce dramatically different results.</a:t>
            </a:r>
            <a:br>
              <a:rPr lang="en-GB" sz="2000" dirty="0"/>
            </a:br>
            <a:r>
              <a:rPr lang="en-GB" sz="2000" dirty="0"/>
              <a:t>FCFS does not consider:</a:t>
            </a:r>
            <a:endParaRPr lang="en-GB" sz="2000" dirty="0"/>
          </a:p>
          <a:p>
            <a:pPr>
              <a:buFont typeface="Arial" panose="020B0604020202020204" pitchFamily="34" charset="0"/>
              <a:buChar char="•"/>
            </a:pPr>
            <a:r>
              <a:rPr lang="en-GB" sz="2000" dirty="0"/>
              <a:t>The duration of each burst (“job length”),</a:t>
            </a:r>
            <a:endParaRPr lang="en-GB" sz="2000" dirty="0"/>
          </a:p>
          <a:p>
            <a:pPr>
              <a:buFont typeface="Arial" panose="020B0604020202020204" pitchFamily="34" charset="0"/>
              <a:buChar char="•"/>
            </a:pPr>
            <a:r>
              <a:rPr lang="en-GB" sz="2000" dirty="0"/>
              <a:t>The urgency of processes,</a:t>
            </a:r>
            <a:endParaRPr lang="en-GB" sz="2000" dirty="0"/>
          </a:p>
          <a:p>
            <a:pPr>
              <a:buFont typeface="Arial" panose="020B0604020202020204" pitchFamily="34" charset="0"/>
              <a:buChar char="•"/>
            </a:pPr>
            <a:r>
              <a:rPr lang="en-GB" sz="2000" dirty="0"/>
              <a:t>The number of I/O vs CPU bursts.</a:t>
            </a:r>
            <a:endParaRPr lang="en-GB" sz="2000" dirty="0"/>
          </a:p>
          <a:p>
            <a:pPr>
              <a:buNone/>
            </a:pPr>
            <a:r>
              <a:rPr lang="en-GB" sz="2000" dirty="0"/>
              <a:t>Because processes run strictly in arrival order, </a:t>
            </a:r>
            <a:r>
              <a:rPr lang="en-GB" sz="2000" b="1" dirty="0"/>
              <a:t>long jobs block shorter ones</a:t>
            </a:r>
            <a:r>
              <a:rPr lang="en-GB" sz="2000" dirty="0"/>
              <a:t>.</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First-Come, First-Served (FCFS) Scheduling</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pPr>
              <a:buNone/>
            </a:pPr>
            <a:r>
              <a:rPr lang="en-GB" sz="2000" b="1" dirty="0"/>
              <a:t>B) Convoy Effect</a:t>
            </a:r>
            <a:endParaRPr lang="en-GB" sz="2000" b="1" dirty="0"/>
          </a:p>
          <a:p>
            <a:pPr>
              <a:buNone/>
            </a:pPr>
            <a:r>
              <a:rPr lang="en-GB" sz="2000" dirty="0"/>
              <a:t>If one process is very long (CPU-bound) and others are short (I/O-bound), a “traffic jam” effect happens:</a:t>
            </a:r>
            <a:endParaRPr lang="en-GB" sz="2000" dirty="0"/>
          </a:p>
          <a:p>
            <a:pPr>
              <a:buFont typeface="+mj-lt"/>
              <a:buAutoNum type="arabicPeriod"/>
            </a:pPr>
            <a:r>
              <a:rPr lang="en-GB" sz="2000" dirty="0"/>
              <a:t>The long job gets the CPU and occupies it for a long time.</a:t>
            </a:r>
            <a:endParaRPr lang="en-GB" sz="2000" dirty="0"/>
          </a:p>
          <a:p>
            <a:pPr>
              <a:buFont typeface="+mj-lt"/>
              <a:buAutoNum type="arabicPeriod"/>
            </a:pPr>
            <a:r>
              <a:rPr lang="en-GB" sz="2000" dirty="0"/>
              <a:t>Short I/O-bound processes finish I/O quickly and pile up in the ready queue, waiting behind the long job.</a:t>
            </a:r>
            <a:endParaRPr lang="en-GB" sz="2000" dirty="0"/>
          </a:p>
          <a:p>
            <a:pPr>
              <a:buFont typeface="+mj-lt"/>
              <a:buAutoNum type="arabicPeriod"/>
            </a:pPr>
            <a:r>
              <a:rPr lang="en-GB" sz="2000" dirty="0"/>
              <a:t>While waiting, </a:t>
            </a:r>
            <a:r>
              <a:rPr lang="en-GB" sz="2000" b="1" dirty="0"/>
              <a:t>their I/O devices sit idle</a:t>
            </a:r>
            <a:r>
              <a:rPr lang="en-GB" sz="2000" dirty="0"/>
              <a:t>, wasting resources.</a:t>
            </a:r>
            <a:endParaRPr lang="en-GB" sz="2000" dirty="0"/>
          </a:p>
          <a:p>
            <a:pPr>
              <a:buFont typeface="+mj-lt"/>
              <a:buAutoNum type="arabicPeriod"/>
            </a:pPr>
            <a:r>
              <a:rPr lang="en-GB" sz="2000" dirty="0"/>
              <a:t>When the long job finally leaves the CPU, all the short jobs rush through quickly.</a:t>
            </a:r>
            <a:endParaRPr lang="en-GB" sz="2000" dirty="0"/>
          </a:p>
          <a:p>
            <a:pPr>
              <a:buFont typeface="+mj-lt"/>
              <a:buAutoNum type="arabicPeriod"/>
            </a:pPr>
            <a:r>
              <a:rPr lang="en-GB" sz="2000" dirty="0"/>
              <a:t>Then the CPU becomes idle again while those processes return to I/O.</a:t>
            </a:r>
            <a:endParaRPr lang="en-GB" sz="2000" dirty="0"/>
          </a:p>
          <a:p>
            <a:pPr>
              <a:buNone/>
            </a:pPr>
            <a:r>
              <a:rPr lang="en-GB" sz="2000" dirty="0"/>
              <a:t>The resources keep alternating between idle CPU and idle I/O devices → </a:t>
            </a:r>
            <a:r>
              <a:rPr lang="en-GB" sz="2000" b="1" dirty="0"/>
              <a:t>poor system utilization</a:t>
            </a:r>
            <a:r>
              <a:rPr lang="en-GB" sz="2000" dirty="0"/>
              <a:t>.</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First-Come, First-Served (FCFS) Scheduling</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pPr>
              <a:buNone/>
            </a:pPr>
            <a:r>
              <a:rPr lang="en-GB" sz="2000" b="1" dirty="0"/>
              <a:t>Process 		Burst Time</a:t>
            </a:r>
            <a:endParaRPr lang="en-GB" sz="2000" b="1" dirty="0"/>
          </a:p>
          <a:p>
            <a:pPr>
              <a:buNone/>
            </a:pPr>
            <a:r>
              <a:rPr lang="en-GB" sz="2000" dirty="0"/>
              <a:t>P1 			     24</a:t>
            </a:r>
            <a:endParaRPr lang="en-GB" sz="2000" dirty="0"/>
          </a:p>
          <a:p>
            <a:pPr>
              <a:buNone/>
            </a:pPr>
            <a:r>
              <a:rPr lang="en-GB" sz="2000" dirty="0"/>
              <a:t>P2 			      3</a:t>
            </a:r>
            <a:endParaRPr lang="en-GB" sz="2000" dirty="0"/>
          </a:p>
          <a:p>
            <a:pPr>
              <a:buNone/>
            </a:pPr>
            <a:r>
              <a:rPr lang="en-GB" sz="2000" dirty="0"/>
              <a:t>P3                                         3</a:t>
            </a:r>
            <a:endParaRPr lang="en-GB" sz="2000" dirty="0"/>
          </a:p>
          <a:p>
            <a:pPr>
              <a:buNone/>
            </a:pPr>
            <a:r>
              <a:rPr lang="en-GB" sz="2000" dirty="0"/>
              <a:t>If the processes arrive in the order P1, P2, P3, and are served in FCFS order, we get the result shown in the following Gantt chart, which is a bar chart that illustrates a particular schedule, including the start and finish times of each of the participating processes:</a:t>
            </a:r>
            <a:endParaRPr lang="en-GB" sz="2000" dirty="0"/>
          </a:p>
        </p:txBody>
      </p:sp>
      <p:pic>
        <p:nvPicPr>
          <p:cNvPr id="3" name="Picture 2"/>
          <p:cNvPicPr>
            <a:picLocks noChangeAspect="1"/>
          </p:cNvPicPr>
          <p:nvPr/>
        </p:nvPicPr>
        <p:blipFill>
          <a:blip r:embed="rId1"/>
          <a:stretch>
            <a:fillRect/>
          </a:stretch>
        </p:blipFill>
        <p:spPr>
          <a:xfrm>
            <a:off x="1575304" y="4340158"/>
            <a:ext cx="8781048" cy="138254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First-Come, First-Served (FCFS) Scheduling</a:t>
            </a:r>
            <a:endParaRPr lang="en-GB" sz="3600" dirty="0"/>
          </a:p>
        </p:txBody>
      </p:sp>
      <mc:AlternateContent xmlns:mc="http://schemas.openxmlformats.org/markup-compatibility/2006">
        <mc:Choice xmlns:a14="http://schemas.microsoft.com/office/drawing/2010/main" Requires="a14">
          <p:sp>
            <p:nvSpPr>
              <p:cNvPr id="11" name="Text Placeholder 10"/>
              <p:cNvSpPr>
                <a:spLocks noGrp="1"/>
              </p:cNvSpPr>
              <p:nvPr>
                <p:ph type="body" sz="quarter" idx="11"/>
              </p:nvPr>
            </p:nvSpPr>
            <p:spPr>
              <a:xfrm>
                <a:off x="762000" y="1135294"/>
                <a:ext cx="10667999" cy="4731250"/>
              </a:xfrm>
            </p:spPr>
            <p:txBody>
              <a:bodyPr/>
              <a:lstStyle/>
              <a:p>
                <a:pPr>
                  <a:buNone/>
                </a:pPr>
                <a:r>
                  <a:rPr lang="en-GB" sz="2000" dirty="0"/>
                  <a:t>Waiting Times:</a:t>
                </a:r>
                <a:endParaRPr lang="en-GB" sz="2000" dirty="0"/>
              </a:p>
              <a:p>
                <a:pPr>
                  <a:buFont typeface="Arial" panose="020B0604020202020204" pitchFamily="34" charset="0"/>
                  <a:buChar char="•"/>
                </a:pPr>
                <a:r>
                  <a:rPr lang="en-GB" sz="2000" dirty="0"/>
                  <a:t>P1 waits </a:t>
                </a:r>
                <a:r>
                  <a:rPr lang="en-GB" sz="2000" b="1" dirty="0"/>
                  <a:t>0 </a:t>
                </a:r>
                <a:r>
                  <a:rPr lang="en-GB" sz="2000" b="1" dirty="0" err="1"/>
                  <a:t>ms</a:t>
                </a:r>
                <a:r>
                  <a:rPr lang="en-GB" sz="2000" dirty="0"/>
                  <a:t>.</a:t>
                </a:r>
                <a:endParaRPr lang="en-GB" sz="2000" dirty="0"/>
              </a:p>
              <a:p>
                <a:pPr>
                  <a:buFont typeface="Arial" panose="020B0604020202020204" pitchFamily="34" charset="0"/>
                  <a:buChar char="•"/>
                </a:pPr>
                <a:r>
                  <a:rPr lang="en-GB" sz="2000" dirty="0"/>
                  <a:t>P2 waits </a:t>
                </a:r>
                <a:r>
                  <a:rPr lang="en-GB" sz="2000" b="1" dirty="0"/>
                  <a:t>24 </a:t>
                </a:r>
                <a:r>
                  <a:rPr lang="en-GB" sz="2000" b="1" dirty="0" err="1"/>
                  <a:t>ms</a:t>
                </a:r>
                <a:r>
                  <a:rPr lang="en-GB" sz="2000" dirty="0"/>
                  <a:t> (because P1 blocked it).</a:t>
                </a:r>
                <a:endParaRPr lang="en-GB" sz="2000" dirty="0"/>
              </a:p>
              <a:p>
                <a:pPr>
                  <a:buFont typeface="Arial" panose="020B0604020202020204" pitchFamily="34" charset="0"/>
                  <a:buChar char="•"/>
                </a:pPr>
                <a:r>
                  <a:rPr lang="en-GB" sz="2000" dirty="0"/>
                  <a:t>P3 waits </a:t>
                </a:r>
                <a:r>
                  <a:rPr lang="en-GB" sz="2000" b="1" dirty="0"/>
                  <a:t>27 </a:t>
                </a:r>
                <a:r>
                  <a:rPr lang="en-GB" sz="2000" b="1" dirty="0" err="1"/>
                  <a:t>ms</a:t>
                </a:r>
                <a:r>
                  <a:rPr lang="en-GB" sz="2000" dirty="0"/>
                  <a:t> (P1 + P2 combined).</a:t>
                </a:r>
                <a:endParaRPr lang="en-GB" sz="2000" dirty="0"/>
              </a:p>
              <a:p>
                <a:pPr>
                  <a:buNone/>
                </a:pPr>
                <a:r>
                  <a:rPr lang="en-GB" sz="2000" dirty="0"/>
                  <a:t>Average waiting time:</a:t>
                </a:r>
                <a:endParaRPr lang="en-GB" sz="2000" dirty="0"/>
              </a:p>
              <a:p>
                <a:pPr>
                  <a:buNone/>
                </a:pPr>
                <a14:m>
                  <m:oMathPara xmlns:m="http://schemas.openxmlformats.org/officeDocument/2006/math">
                    <m:oMathParaPr>
                      <m:jc m:val="centerGroup"/>
                    </m:oMathParaPr>
                    <m:oMath xmlns:m="http://schemas.openxmlformats.org/officeDocument/2006/math">
                      <m:f>
                        <m:fPr>
                          <m:ctrlPr>
                            <a:rPr lang="ar-AE" sz="2000" i="1">
                              <a:latin typeface="Cambria Math" panose="02040503050406030204" pitchFamily="18" charset="0"/>
                            </a:rPr>
                          </m:ctrlPr>
                        </m:fPr>
                        <m:num>
                          <m:r>
                            <a:rPr lang="ar-AE" sz="2000">
                              <a:latin typeface="Cambria Math" panose="02040503050406030204" pitchFamily="18" charset="0"/>
                            </a:rPr>
                            <m:t>0</m:t>
                          </m:r>
                          <m:r>
                            <a:rPr lang="ar-AE" sz="2000" i="0">
                              <a:latin typeface="Cambria Math" panose="02040503050406030204" pitchFamily="18" charset="0"/>
                            </a:rPr>
                            <m:t>+</m:t>
                          </m:r>
                          <m:r>
                            <a:rPr lang="ar-AE" sz="2000" i="0">
                              <a:latin typeface="Cambria Math" panose="02040503050406030204" pitchFamily="18" charset="0"/>
                            </a:rPr>
                            <m:t>24</m:t>
                          </m:r>
                          <m:r>
                            <a:rPr lang="ar-AE" sz="2000" i="0">
                              <a:latin typeface="Cambria Math" panose="02040503050406030204" pitchFamily="18" charset="0"/>
                            </a:rPr>
                            <m:t>+</m:t>
                          </m:r>
                          <m:r>
                            <a:rPr lang="ar-AE" sz="2000" i="0">
                              <a:latin typeface="Cambria Math" panose="02040503050406030204" pitchFamily="18" charset="0"/>
                            </a:rPr>
                            <m:t>27</m:t>
                          </m:r>
                        </m:num>
                        <m:den>
                          <m:r>
                            <a:rPr lang="ar-AE" sz="2000" i="0">
                              <a:latin typeface="Cambria Math" panose="02040503050406030204" pitchFamily="18" charset="0"/>
                            </a:rPr>
                            <m:t>3</m:t>
                          </m:r>
                        </m:den>
                      </m:f>
                      <m:r>
                        <a:rPr lang="ar-AE" sz="2000" i="0">
                          <a:latin typeface="Cambria Math" panose="02040503050406030204" pitchFamily="18" charset="0"/>
                        </a:rPr>
                        <m:t>=</m:t>
                      </m:r>
                      <m:r>
                        <a:rPr lang="ar-AE" sz="2000" i="0">
                          <a:latin typeface="Cambria Math" panose="02040503050406030204" pitchFamily="18" charset="0"/>
                        </a:rPr>
                        <m:t>17</m:t>
                      </m:r>
                      <m:r>
                        <m:rPr>
                          <m:nor/>
                        </m:rPr>
                        <a:rPr lang="ar-AE" sz="2000" b="0" i="1">
                          <a:latin typeface="Cambria Math" panose="02040503050406030204" pitchFamily="18" charset="0"/>
                        </a:rPr>
                        <m:t> </m:t>
                      </m:r>
                      <m:r>
                        <m:rPr>
                          <m:nor/>
                        </m:rPr>
                        <a:rPr lang="en-GB" sz="2000" b="0" i="1">
                          <a:latin typeface="Cambria Math" panose="02040503050406030204" pitchFamily="18" charset="0"/>
                        </a:rPr>
                        <m:t>ms</m:t>
                      </m:r>
                    </m:oMath>
                  </m:oMathPara>
                </a14:m>
                <a:endParaRPr lang="en-GB" sz="2000" b="0" dirty="0"/>
              </a:p>
              <a:p>
                <a:pPr>
                  <a:buNone/>
                </a:pPr>
                <a:endParaRPr lang="en-GB" sz="2000" b="0" dirty="0"/>
              </a:p>
            </p:txBody>
          </p:sp>
        </mc:Choice>
        <mc:Fallback>
          <p:sp>
            <p:nvSpPr>
              <p:cNvPr id="11" name="Text Placeholder 10"/>
              <p:cNvSpPr>
                <a:spLocks noRot="1" noChangeAspect="1" noMove="1" noResize="1" noEditPoints="1" noAdjustHandles="1" noChangeArrowheads="1" noChangeShapeType="1" noTextEdit="1"/>
              </p:cNvSpPr>
              <p:nvPr>
                <p:ph type="body" sz="quarter" idx="11"/>
              </p:nvPr>
            </p:nvSpPr>
            <p:spPr>
              <a:xfrm>
                <a:off x="762000" y="1135294"/>
                <a:ext cx="10667999" cy="4731250"/>
              </a:xfrm>
              <a:blipFill rotWithShape="1">
                <a:blip r:embed="rId1"/>
                <a:stretch>
                  <a:fillRect t="-12" r="6" b="9"/>
                </a:stretch>
              </a:blipFill>
            </p:spPr>
            <p:txBody>
              <a:bodyPr/>
              <a:lstStyle/>
              <a:p>
                <a:r>
                  <a:rPr lang="en-GB"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First-Come, First-Served (FCFS) Scheduling</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pPr>
              <a:buNone/>
            </a:pPr>
            <a:r>
              <a:rPr lang="en-GB" sz="2000" dirty="0"/>
              <a:t>If the processes arrive in the order P2, P3, P1, however, the results will be as shown in the following Gantt chart: </a:t>
            </a: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r>
              <a:rPr lang="en-GB" sz="2000" dirty="0"/>
              <a:t>The average waiting time is now (6 + 0 + 3)/3 = 3 milliseconds. Notice the dramatic improvement (17 </a:t>
            </a:r>
            <a:r>
              <a:rPr lang="en-GB" sz="2000" dirty="0" err="1"/>
              <a:t>ms</a:t>
            </a:r>
            <a:r>
              <a:rPr lang="en-GB" sz="2000" dirty="0"/>
              <a:t> </a:t>
            </a:r>
            <a:r>
              <a:rPr lang="en-GB" sz="2000" b="1" i="1" dirty="0"/>
              <a:t>to</a:t>
            </a:r>
            <a:r>
              <a:rPr lang="en-GB" sz="2000" dirty="0"/>
              <a:t> 3 </a:t>
            </a:r>
            <a:r>
              <a:rPr lang="en-GB" sz="2000" dirty="0" err="1"/>
              <a:t>ms</a:t>
            </a:r>
            <a:r>
              <a:rPr lang="en-GB" sz="2000" dirty="0"/>
              <a:t>) simply by changing arrival order!</a:t>
            </a:r>
            <a:br>
              <a:rPr lang="en-GB" sz="2000" dirty="0"/>
            </a:br>
            <a:r>
              <a:rPr lang="en-GB" sz="2000" dirty="0"/>
              <a:t>FCFS performance is extremely sensitive to the order in which jobs appear.</a:t>
            </a:r>
            <a:endParaRPr lang="en-GB" sz="2000" b="0" dirty="0"/>
          </a:p>
        </p:txBody>
      </p:sp>
      <p:pic>
        <p:nvPicPr>
          <p:cNvPr id="3" name="Picture 2"/>
          <p:cNvPicPr>
            <a:picLocks noChangeAspect="1"/>
          </p:cNvPicPr>
          <p:nvPr/>
        </p:nvPicPr>
        <p:blipFill>
          <a:blip r:embed="rId1"/>
          <a:stretch>
            <a:fillRect/>
          </a:stretch>
        </p:blipFill>
        <p:spPr>
          <a:xfrm>
            <a:off x="1469205" y="2109714"/>
            <a:ext cx="8083417" cy="131928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488962"/>
            <a:ext cx="10591800" cy="646332"/>
          </a:xfrm>
        </p:spPr>
        <p:txBody>
          <a:bodyPr/>
          <a:lstStyle/>
          <a:p>
            <a:r>
              <a:rPr lang="en-GB" sz="3600" dirty="0"/>
              <a:t>First-Come, First-Served (FCFS) Scheduling</a:t>
            </a:r>
            <a:endParaRPr lang="en-GB" sz="3600" dirty="0"/>
          </a:p>
        </p:txBody>
      </p:sp>
      <p:sp>
        <p:nvSpPr>
          <p:cNvPr id="11" name="Text Placeholder 10"/>
          <p:cNvSpPr>
            <a:spLocks noGrp="1"/>
          </p:cNvSpPr>
          <p:nvPr>
            <p:ph type="body" sz="quarter" idx="11"/>
          </p:nvPr>
        </p:nvSpPr>
        <p:spPr>
          <a:xfrm>
            <a:off x="762000" y="1135294"/>
            <a:ext cx="10667999" cy="4731250"/>
          </a:xfrm>
        </p:spPr>
        <p:txBody>
          <a:bodyPr/>
          <a:lstStyle/>
          <a:p>
            <a:pPr>
              <a:buNone/>
            </a:pPr>
            <a:r>
              <a:rPr lang="en-GB" sz="2000" dirty="0"/>
              <a:t>Note also that the FCFS scheduling algorithm is </a:t>
            </a:r>
            <a:r>
              <a:rPr lang="en-GB" sz="2000" dirty="0" err="1"/>
              <a:t>nonpreemptive</a:t>
            </a:r>
            <a:r>
              <a:rPr lang="en-GB" sz="2000" dirty="0"/>
              <a:t>. Once the CPU has been allocated to a process, that process keeps the CPU until it releases the CPU, either by terminating or by requesting I/O. </a:t>
            </a:r>
            <a:endParaRPr lang="en-GB" sz="2000" dirty="0"/>
          </a:p>
          <a:p>
            <a:pPr>
              <a:buNone/>
            </a:pPr>
            <a:r>
              <a:rPr lang="en-GB" sz="2000" dirty="0"/>
              <a:t>The FCFS algorithm is thus particularly troublesome for interactive systems, where it is important that each process get a share of the CPU at regular intervals. It would be disastrous to allow one process to keep the CPU for an extended period.</a:t>
            </a:r>
            <a:endParaRPr lang="en-GB" sz="2000" dirty="0"/>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Because FCFS is </a:t>
            </a:r>
            <a:r>
              <a:rPr kumimoji="0" lang="en-GB" sz="2000" b="1" i="0" u="none" strike="noStrike" kern="1200" cap="none" spc="0" normalizeH="0" baseline="0" noProof="0" dirty="0" err="1">
                <a:ln>
                  <a:noFill/>
                </a:ln>
                <a:solidFill>
                  <a:prstClr val="black"/>
                </a:solidFill>
                <a:effectLst/>
                <a:uLnTx/>
                <a:uFillTx/>
                <a:latin typeface="Segoe UI" panose="020B0502040204020203"/>
                <a:ea typeface="+mn-ea"/>
                <a:cs typeface="+mn-cs"/>
              </a:rPr>
              <a:t>nonpreemptive</a:t>
            </a: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 it cannot interrupt a long-running process to briefly serve a short one that needs quick attention.</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Modern systems </a:t>
            </a:r>
            <a:r>
              <a:rPr kumimoji="0" lang="en-GB" sz="2000" b="1" i="0" u="none" strike="noStrike" kern="1200" cap="none" spc="0" normalizeH="0" baseline="0" noProof="0" dirty="0">
                <a:ln>
                  <a:noFill/>
                </a:ln>
                <a:solidFill>
                  <a:prstClr val="black"/>
                </a:solidFill>
                <a:effectLst/>
                <a:uLnTx/>
                <a:uFillTx/>
                <a:latin typeface="Segoe UI" panose="020B0502040204020203"/>
                <a:ea typeface="+mn-ea"/>
                <a:cs typeface="+mn-cs"/>
              </a:rPr>
              <a:t>never use pure FCFS</a:t>
            </a: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 for scheduling interactive tasks.</a:t>
            </a:r>
            <a:b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b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It is only useful in specific environments like:</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Batch processing,</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Systems with predictable job lengths,</a:t>
            </a:r>
            <a:endPar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0" lang="en-GB" sz="2000" b="0" i="0" u="none" strike="noStrike" kern="1200" cap="none" spc="0" normalizeH="0" baseline="0" noProof="0" dirty="0">
                <a:ln>
                  <a:noFill/>
                </a:ln>
                <a:solidFill>
                  <a:prstClr val="black"/>
                </a:solidFill>
                <a:effectLst/>
                <a:uLnTx/>
                <a:uFillTx/>
                <a:latin typeface="Segoe UI" panose="020B0502040204020203"/>
                <a:ea typeface="+mn-ea"/>
                <a:cs typeface="+mn-cs"/>
              </a:rPr>
              <a:t>Simple embedded systems</a:t>
            </a:r>
            <a:endParaRPr lang="en-GB"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477144" y="3017372"/>
            <a:ext cx="6477000" cy="1189037"/>
          </a:xfrm>
        </p:spPr>
        <p:txBody>
          <a:bodyPr>
            <a:normAutofit/>
          </a:bodyPr>
          <a:lstStyle/>
          <a:p>
            <a:r>
              <a:rPr lang="en-US" sz="4800" dirty="0"/>
              <a:t>THANK YOU</a:t>
            </a:r>
            <a:endParaRPr lang="en-US" sz="4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Custom 117">
      <a:dk1>
        <a:sysClr val="windowText" lastClr="000000"/>
      </a:dk1>
      <a:lt1>
        <a:sysClr val="window" lastClr="FFFFFF"/>
      </a:lt1>
      <a:dk2>
        <a:srgbClr val="44546A"/>
      </a:dk2>
      <a:lt2>
        <a:srgbClr val="E7E6E6"/>
      </a:lt2>
      <a:accent1>
        <a:srgbClr val="E23042"/>
      </a:accent1>
      <a:accent2>
        <a:srgbClr val="3578AF"/>
      </a:accent2>
      <a:accent3>
        <a:srgbClr val="C4C4C4"/>
      </a:accent3>
      <a:accent4>
        <a:srgbClr val="A80B22"/>
      </a:accent4>
      <a:accent5>
        <a:srgbClr val="E2E2E2"/>
      </a:accent5>
      <a:accent6>
        <a:srgbClr val="2A6187"/>
      </a:accent6>
      <a:hlink>
        <a:srgbClr val="0563C1"/>
      </a:hlink>
      <a:folHlink>
        <a:srgbClr val="954F72"/>
      </a:folHlink>
    </a:clrScheme>
    <a:fontScheme name="Custom 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F283A3-AA81-4663-8764-64F64C723FD1}">
  <ds:schemaRefs/>
</ds:datastoreItem>
</file>

<file path=customXml/itemProps2.xml><?xml version="1.0" encoding="utf-8"?>
<ds:datastoreItem xmlns:ds="http://schemas.openxmlformats.org/officeDocument/2006/customXml" ds:itemID="{D4EE2DFF-920A-42C9-AEE0-3A0BF6AF4609}">
  <ds:schemaRefs/>
</ds:datastoreItem>
</file>

<file path=customXml/itemProps3.xml><?xml version="1.0" encoding="utf-8"?>
<ds:datastoreItem xmlns:ds="http://schemas.openxmlformats.org/officeDocument/2006/customXml" ds:itemID="{915C1F8C-D27A-4CE7-9DF4-4AFDB2880FA9}">
  <ds:schemaRefs/>
</ds:datastoreItem>
</file>

<file path=docProps/app.xml><?xml version="1.0" encoding="utf-8"?>
<Properties xmlns="http://schemas.openxmlformats.org/officeDocument/2006/extended-properties" xmlns:vt="http://schemas.openxmlformats.org/officeDocument/2006/docPropsVTypes">
  <Template>Jewish American Heritage Month presentation</Template>
  <TotalTime>0</TotalTime>
  <Words>14387</Words>
  <Application>WPS Presentation</Application>
  <PresentationFormat>Widescreen</PresentationFormat>
  <Paragraphs>289</Paragraphs>
  <Slides>30</Slides>
  <Notes>29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Arial</vt:lpstr>
      <vt:lpstr>SimSun</vt:lpstr>
      <vt:lpstr>Wingdings</vt:lpstr>
      <vt:lpstr>Segoe UI</vt:lpstr>
      <vt:lpstr>Courier New</vt:lpstr>
      <vt:lpstr>Microsoft YaHei</vt:lpstr>
      <vt:lpstr>Arial Unicode MS</vt:lpstr>
      <vt:lpstr>Segoe UI</vt:lpstr>
      <vt:lpstr>Cambria Math</vt:lpstr>
      <vt:lpstr>Office Theme</vt:lpstr>
      <vt:lpstr>CPU Scheduling  Lesson 6</vt:lpstr>
      <vt:lpstr>BASIC CONCEPTS</vt:lpstr>
      <vt:lpstr>BASIC CONCEPTS - Multiprogramming </vt:lpstr>
      <vt:lpstr>BASIC CONCEPTS - Multiprogramming </vt:lpstr>
      <vt:lpstr>CPU – I/O Burst Cycle </vt:lpstr>
      <vt:lpstr>CPU – I/O Burst Cycle </vt:lpstr>
      <vt:lpstr>CPU Scheduler </vt:lpstr>
      <vt:lpstr>Preemptive and Nonpreemptive Scheduling</vt:lpstr>
      <vt:lpstr>Preemptive and Nonpreemptive Scheduling</vt:lpstr>
      <vt:lpstr>Preemptive and Nonpreemptive Scheduling</vt:lpstr>
      <vt:lpstr>Preemptive and Nonpreemptive Scheduling</vt:lpstr>
      <vt:lpstr>Preemptive and Nonpreemptive Scheduling</vt:lpstr>
      <vt:lpstr>Preemptive and Nonpreemptive Scheduling</vt:lpstr>
      <vt:lpstr>Preemptive and Nonpreemptive Scheduling</vt:lpstr>
      <vt:lpstr>Dispatcher</vt:lpstr>
      <vt:lpstr>Dispatcher</vt:lpstr>
      <vt:lpstr>Scheduling Criteria</vt:lpstr>
      <vt:lpstr>Scheduling Criteria</vt:lpstr>
      <vt:lpstr>Scheduling Criteria</vt:lpstr>
      <vt:lpstr>Scheduling Criteria</vt:lpstr>
      <vt:lpstr>Scheduling Algorithms</vt:lpstr>
      <vt:lpstr>First-Come, First-Served (FCFS) Scheduling</vt:lpstr>
      <vt:lpstr>First-Come, First-Served (FCFS) Scheduling</vt:lpstr>
      <vt:lpstr>First-Come, First-Served (FCFS) Scheduling</vt:lpstr>
      <vt:lpstr>First-Come, First-Served (FCFS) Scheduling</vt:lpstr>
      <vt:lpstr>First-Come, First-Served (FCFS) Scheduling</vt:lpstr>
      <vt:lpstr>First-Come, First-Served (FCFS) Scheduling</vt:lpstr>
      <vt:lpstr>First-Come, First-Served (FCFS) Scheduling</vt:lpstr>
      <vt:lpstr>First-Come, First-Served (FCFS) Scheduling</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 XPS</dc:creator>
  <cp:lastModifiedBy>Martin Gulo</cp:lastModifiedBy>
  <cp:revision>36</cp:revision>
  <dcterms:created xsi:type="dcterms:W3CDTF">2025-12-03T11:05:00Z</dcterms:created>
  <dcterms:modified xsi:type="dcterms:W3CDTF">2026-01-09T11:38:46Z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F2E4E967AEB3479F8B7EA416858A7211_12</vt:lpwstr>
  </property>
  <property fmtid="{D5CDD505-2E9C-101B-9397-08002B2CF9AE}" pid="4" name="KSOProductBuildVer">
    <vt:lpwstr>2057-12.2.0.23196</vt:lpwstr>
  </property>
</Properties>
</file>