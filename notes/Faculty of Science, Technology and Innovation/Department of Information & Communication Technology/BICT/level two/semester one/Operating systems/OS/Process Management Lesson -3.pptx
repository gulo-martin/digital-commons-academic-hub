
<file path=[Content_Types].xml><?xml version="1.0" encoding="utf-8"?>
<Types xmlns="http://schemas.openxmlformats.org/package/2006/content-types">
  <Default Extension="xml" ContentType="application/xml"/>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1864" r:id="rId3"/>
    <p:sldId id="1848" r:id="rId5"/>
    <p:sldId id="1868" r:id="rId6"/>
    <p:sldId id="1870" r:id="rId7"/>
    <p:sldId id="1869" r:id="rId8"/>
    <p:sldId id="1871" r:id="rId9"/>
    <p:sldId id="1872" r:id="rId10"/>
    <p:sldId id="1874" r:id="rId11"/>
    <p:sldId id="1875" r:id="rId12"/>
    <p:sldId id="1876" r:id="rId13"/>
    <p:sldId id="1877" r:id="rId14"/>
    <p:sldId id="1878" r:id="rId15"/>
    <p:sldId id="1879" r:id="rId16"/>
    <p:sldId id="1880" r:id="rId17"/>
    <p:sldId id="1881" r:id="rId18"/>
    <p:sldId id="1882" r:id="rId19"/>
    <p:sldId id="1883" r:id="rId20"/>
    <p:sldId id="1884" r:id="rId21"/>
    <p:sldId id="1885" r:id="rId22"/>
    <p:sldId id="1886" r:id="rId23"/>
    <p:sldId id="1887" r:id="rId24"/>
    <p:sldId id="1888" r:id="rId25"/>
    <p:sldId id="1889" r:id="rId26"/>
    <p:sldId id="1890" r:id="rId27"/>
    <p:sldId id="1891" r:id="rId28"/>
    <p:sldId id="1892" r:id="rId29"/>
    <p:sldId id="1912" r:id="rId30"/>
    <p:sldId id="1894" r:id="rId31"/>
    <p:sldId id="1896" r:id="rId32"/>
    <p:sldId id="1897" r:id="rId33"/>
    <p:sldId id="1898" r:id="rId34"/>
    <p:sldId id="1895" r:id="rId35"/>
    <p:sldId id="1899" r:id="rId36"/>
    <p:sldId id="1916" r:id="rId37"/>
    <p:sldId id="1917" r:id="rId38"/>
    <p:sldId id="1918" r:id="rId39"/>
    <p:sldId id="1919" r:id="rId40"/>
    <p:sldId id="1893" r:id="rId41"/>
    <p:sldId id="1901" r:id="rId42"/>
    <p:sldId id="1902" r:id="rId43"/>
    <p:sldId id="1903" r:id="rId44"/>
    <p:sldId id="1904" r:id="rId45"/>
    <p:sldId id="1905" r:id="rId46"/>
    <p:sldId id="1906" r:id="rId47"/>
    <p:sldId id="1907" r:id="rId48"/>
    <p:sldId id="1908" r:id="rId49"/>
    <p:sldId id="1909" r:id="rId50"/>
    <p:sldId id="1910" r:id="rId51"/>
    <p:sldId id="1911" r:id="rId52"/>
    <p:sldId id="1913" r:id="rId53"/>
    <p:sldId id="1914" r:id="rId54"/>
    <p:sldId id="1915" r:id="rId55"/>
    <p:sldId id="1920" r:id="rId56"/>
    <p:sldId id="1921" r:id="rId57"/>
    <p:sldId id="1922" r:id="rId58"/>
    <p:sldId id="1923" r:id="rId59"/>
    <p:sldId id="1867" r:id="rId60"/>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80" userDrawn="1">
          <p15:clr>
            <a:srgbClr val="A4A3A4"/>
          </p15:clr>
        </p15:guide>
        <p15:guide id="3" pos="7200" userDrawn="1">
          <p15:clr>
            <a:srgbClr val="A4A3A4"/>
          </p15:clr>
        </p15:guide>
        <p15:guide id="4" pos="4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788"/>
    <a:srgbClr val="FE4387"/>
    <a:srgbClr val="FF2625"/>
    <a:srgbClr val="297C2A"/>
    <a:srgbClr val="F69000"/>
    <a:srgbClr val="01C2D1"/>
    <a:srgbClr val="D6D734"/>
    <a:srgbClr val="005C68"/>
    <a:srgbClr val="3B2E58"/>
    <a:srgbClr val="6B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741" autoAdjust="0"/>
  </p:normalViewPr>
  <p:slideViewPr>
    <p:cSldViewPr snapToGrid="0" showGuides="1">
      <p:cViewPr varScale="1">
        <p:scale>
          <a:sx n="66" d="100"/>
          <a:sy n="66" d="100"/>
        </p:scale>
        <p:origin x="668" y="44"/>
      </p:cViewPr>
      <p:guideLst>
        <p:guide orient="horz" pos="2160"/>
        <p:guide pos="480"/>
        <p:guide pos="7200"/>
        <p:guide pos="4368"/>
      </p:guideLst>
    </p:cSldViewPr>
  </p:slideViewPr>
  <p:notesTextViewPr>
    <p:cViewPr>
      <p:scale>
        <a:sx n="1" d="1"/>
        <a:sy n="1" d="1"/>
      </p:scale>
      <p:origin x="0" y="0"/>
    </p:cViewPr>
  </p:notesTextViewPr>
  <p:sorterViewPr>
    <p:cViewPr>
      <p:scale>
        <a:sx n="94" d="100"/>
        <a:sy n="94"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6" Type="http://schemas.openxmlformats.org/officeDocument/2006/relationships/customXml" Target="../customXml/item3.xml"/><Relationship Id="rId65" Type="http://schemas.openxmlformats.org/officeDocument/2006/relationships/customXml" Target="../customXml/item2.xml"/><Relationship Id="rId64" Type="http://schemas.openxmlformats.org/officeDocument/2006/relationships/customXml" Target="../customXml/item1.xml"/><Relationship Id="rId63" Type="http://schemas.openxmlformats.org/officeDocument/2006/relationships/tableStyles" Target="tableStyles.xml"/><Relationship Id="rId62" Type="http://schemas.openxmlformats.org/officeDocument/2006/relationships/viewProps" Target="viewProps.xml"/><Relationship Id="rId61" Type="http://schemas.openxmlformats.org/officeDocument/2006/relationships/presProps" Target="presProps.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2" name="Rectangle 2"/>
          <p:cNvSpPr>
            <a:spLocks noGrp="1" noChangeArrowheads="1"/>
          </p:cNvSpPr>
          <p:nvPr>
            <p:ph type="hdr" sz="quarter"/>
          </p:nvPr>
        </p:nvSpPr>
        <p:spPr bwMode="auto">
          <a:xfrm>
            <a:off x="0" y="0"/>
            <a:ext cx="2971800" cy="457200"/>
          </a:xfrm>
          <a:prstGeom prst="rect">
            <a:avLst/>
          </a:prstGeom>
          <a:noFill/>
          <a:ln w="9525">
            <a:noFill/>
            <a:miter lim="800000"/>
          </a:ln>
          <a:effectLst/>
        </p:spPr>
        <p:txBody>
          <a:bodyPr vert="horz" wrap="square" lIns="91440" tIns="45720" rIns="91440" bIns="45720" numCol="1" anchor="t" anchorCtr="0" compatLnSpc="1"/>
          <a:lstStyle>
            <a:lvl1pPr>
              <a:defRPr sz="1200" smtClean="0">
                <a:latin typeface="Arial" panose="020B0604020202020204" pitchFamily="34" charset="0"/>
              </a:defRPr>
            </a:lvl1pPr>
          </a:lstStyle>
          <a:p>
            <a:pPr>
              <a:defRPr/>
            </a:pPr>
            <a:endParaRPr lang="en-US" dirty="0"/>
          </a:p>
        </p:txBody>
      </p:sp>
      <p:sp>
        <p:nvSpPr>
          <p:cNvPr id="30723" name="Rectangle 3"/>
          <p:cNvSpPr>
            <a:spLocks noGrp="1" noChangeArrowheads="1"/>
          </p:cNvSpPr>
          <p:nvPr>
            <p:ph type="dt" idx="1"/>
          </p:nvPr>
        </p:nvSpPr>
        <p:spPr bwMode="auto">
          <a:xfrm>
            <a:off x="3884613" y="0"/>
            <a:ext cx="2971800" cy="457200"/>
          </a:xfrm>
          <a:prstGeom prst="rect">
            <a:avLst/>
          </a:prstGeom>
          <a:noFill/>
          <a:ln w="9525">
            <a:noFill/>
            <a:miter lim="800000"/>
          </a:ln>
          <a:effectLst/>
        </p:spPr>
        <p:txBody>
          <a:bodyPr vert="horz" wrap="square" lIns="91440" tIns="45720" rIns="91440" bIns="45720" numCol="1" anchor="t" anchorCtr="0" compatLnSpc="1"/>
          <a:lstStyle>
            <a:lvl1pPr algn="r">
              <a:defRPr sz="1200" smtClean="0">
                <a:latin typeface="Arial" panose="020B0604020202020204" pitchFamily="34" charset="0"/>
              </a:defRPr>
            </a:lvl1pPr>
          </a:lstStyle>
          <a:p>
            <a:pPr>
              <a:defRPr/>
            </a:pPr>
            <a:endParaRPr lang="en-US" dirty="0"/>
          </a:p>
        </p:txBody>
      </p:sp>
      <p:sp>
        <p:nvSpPr>
          <p:cNvPr id="1434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0725" name="Rectangle 5"/>
          <p:cNvSpPr>
            <a:spLocks noGrp="1" noChangeArrowheads="1"/>
          </p:cNvSpPr>
          <p:nvPr>
            <p:ph type="body" sz="quarter" idx="3"/>
          </p:nvPr>
        </p:nvSpPr>
        <p:spPr bwMode="auto">
          <a:xfrm>
            <a:off x="685800" y="4343400"/>
            <a:ext cx="5486400" cy="4114800"/>
          </a:xfrm>
          <a:prstGeom prst="rect">
            <a:avLst/>
          </a:prstGeom>
          <a:noFill/>
          <a:ln w="9525">
            <a:noFill/>
            <a:miter lim="800000"/>
          </a:ln>
          <a:effectLst/>
        </p:spPr>
        <p:txBody>
          <a:bodyPr vert="horz" wrap="square" lIns="91440" tIns="45720" rIns="91440" bIns="45720" numCol="1" anchor="t" anchorCtr="0" compatLnSpc="1"/>
          <a:lstStyle/>
          <a:p>
            <a:pPr lvl="0"/>
            <a:r>
              <a:rPr lang="en-US" noProof="0"/>
              <a:t>Click to 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30726" name="Rectangle 6"/>
          <p:cNvSpPr>
            <a:spLocks noGrp="1" noChangeArrowheads="1"/>
          </p:cNvSpPr>
          <p:nvPr>
            <p:ph type="ftr" sz="quarter" idx="4"/>
          </p:nvPr>
        </p:nvSpPr>
        <p:spPr bwMode="auto">
          <a:xfrm>
            <a:off x="0" y="8685213"/>
            <a:ext cx="2971800" cy="457200"/>
          </a:xfrm>
          <a:prstGeom prst="rect">
            <a:avLst/>
          </a:prstGeom>
          <a:noFill/>
          <a:ln w="9525">
            <a:noFill/>
            <a:miter lim="800000"/>
          </a:ln>
          <a:effectLst/>
        </p:spPr>
        <p:txBody>
          <a:bodyPr vert="horz" wrap="square" lIns="91440" tIns="45720" rIns="91440" bIns="45720" numCol="1" anchor="b" anchorCtr="0" compatLnSpc="1"/>
          <a:lstStyle>
            <a:lvl1pPr>
              <a:defRPr sz="1200" smtClean="0">
                <a:latin typeface="Arial" panose="020B0604020202020204" pitchFamily="34" charset="0"/>
              </a:defRPr>
            </a:lvl1pPr>
          </a:lstStyle>
          <a:p>
            <a:pPr>
              <a:defRPr/>
            </a:pPr>
            <a:endParaRPr lang="en-US" dirty="0"/>
          </a:p>
        </p:txBody>
      </p:sp>
      <p:sp>
        <p:nvSpPr>
          <p:cNvPr id="30727" name="Rectangle 7"/>
          <p:cNvSpPr>
            <a:spLocks noGrp="1" noChangeArrowheads="1"/>
          </p:cNvSpPr>
          <p:nvPr>
            <p:ph type="sldNum" sz="quarter" idx="5"/>
          </p:nvPr>
        </p:nvSpPr>
        <p:spPr bwMode="auto">
          <a:xfrm>
            <a:off x="3884613" y="8685213"/>
            <a:ext cx="2971800" cy="457200"/>
          </a:xfrm>
          <a:prstGeom prst="rect">
            <a:avLst/>
          </a:prstGeom>
          <a:noFill/>
          <a:ln w="9525">
            <a:noFill/>
            <a:miter lim="800000"/>
          </a:ln>
          <a:effectLst/>
        </p:spPr>
        <p:txBody>
          <a:bodyPr vert="horz" wrap="square" lIns="91440" tIns="45720" rIns="91440" bIns="45720" numCol="1" anchor="b" anchorCtr="0" compatLnSpc="1"/>
          <a:lstStyle>
            <a:lvl1pPr algn="r">
              <a:defRPr sz="1200"/>
            </a:lvl1pPr>
          </a:lstStyle>
          <a:p>
            <a:fld id="{6DEB7EE2-04A2-4FB2-9625-C9C73AC4D32F}" type="slidenum">
              <a:rPr lang="en-US" altLang="en-US"/>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947842D7-C728-4EBD-982B-B8BE79E4DBBE}" type="slidenum">
              <a:rPr lang="en-US" altLang="en-US"/>
            </a:fld>
            <a:endParaRPr lang="en-US" altLang="en-US" dirty="0"/>
          </a:p>
        </p:txBody>
      </p:sp>
      <p:sp>
        <p:nvSpPr>
          <p:cNvPr id="15363" name="Rectangle 2"/>
          <p:cNvSpPr>
            <a:spLocks noGrp="1" noRot="1" noChangeAspect="1" noChangeArrowheads="1" noTextEdit="1"/>
          </p:cNvSpPr>
          <p:nvPr>
            <p:ph type="sldImg"/>
          </p:nvPr>
        </p:nvSpPr>
        <p:spPr/>
      </p:sp>
      <p:sp>
        <p:nvSpPr>
          <p:cNvPr id="15364"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DEB7EE2-04A2-4FB2-9625-C9C73AC4D32F}" type="slidenum">
              <a:rPr lang="en-US" altLang="en-US" smtClean="0"/>
            </a:fld>
            <a:endParaRPr lang="en-US" altLang="en-US" dirty="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p:spTree>
      <p:nvGrpSpPr>
        <p:cNvPr id="1" name=""/>
        <p:cNvGrpSpPr/>
        <p:nvPr/>
      </p:nvGrpSpPr>
      <p:grpSpPr>
        <a:xfrm>
          <a:off x="0" y="0"/>
          <a:ext cx="0" cy="0"/>
          <a:chOff x="0" y="0"/>
          <a:chExt cx="0" cy="0"/>
        </a:xfrm>
      </p:grpSpPr>
      <p:pic>
        <p:nvPicPr>
          <p:cNvPr id="5" name="Picture 4"/>
          <p:cNvPicPr>
            <a:picLocks noChangeAspect="1"/>
          </p:cNvPicPr>
          <p:nvPr userDrawn="1"/>
        </p:nvPicPr>
        <p:blipFill>
          <a:blip r:embed="rId2"/>
          <a:srcRect/>
          <a:stretch>
            <a:fillRect/>
          </a:stretch>
        </p:blipFill>
        <p:spPr>
          <a:xfrm>
            <a:off x="0" y="1"/>
            <a:ext cx="12191998" cy="6857999"/>
          </a:xfrm>
          <a:prstGeom prst="rect">
            <a:avLst/>
          </a:prstGeom>
        </p:spPr>
      </p:pic>
      <p:sp>
        <p:nvSpPr>
          <p:cNvPr id="4" name="Title 3"/>
          <p:cNvSpPr>
            <a:spLocks noGrp="1"/>
          </p:cNvSpPr>
          <p:nvPr>
            <p:ph type="title" hasCustomPrompt="1"/>
          </p:nvPr>
        </p:nvSpPr>
        <p:spPr>
          <a:xfrm>
            <a:off x="5442012" y="2766219"/>
            <a:ext cx="6220101" cy="1325563"/>
          </a:xfrm>
          <a:prstGeom prst="rect">
            <a:avLst/>
          </a:prstGeom>
        </p:spPr>
        <p:txBody>
          <a:bodyPr/>
          <a:lstStyle>
            <a:lvl1pPr>
              <a:defRPr b="1"/>
            </a:lvl1pPr>
          </a:lstStyle>
          <a:p>
            <a:r>
              <a:rPr lang="en-US" dirty="0"/>
              <a:t>Insert title here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ight Pattern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715961"/>
            <a:ext cx="6477000" cy="1189038"/>
          </a:xfrm>
          <a:prstGeom prst="rect">
            <a:avLst/>
          </a:prstGeom>
        </p:spPr>
        <p:txBody>
          <a:bodyPr anchor="t">
            <a:noAutofit/>
          </a:bodyPr>
          <a:lstStyle>
            <a:lvl1pPr>
              <a:spcBef>
                <a:spcPts val="1000"/>
              </a:spcBef>
              <a:defRPr sz="4000" b="1">
                <a:solidFill>
                  <a:schemeClr val="accent2"/>
                </a:solidFill>
              </a:defRPr>
            </a:lvl1pPr>
          </a:lstStyle>
          <a:p>
            <a:r>
              <a:rPr lang="en-US" dirty="0"/>
              <a:t>Insert title here</a:t>
            </a:r>
            <a:endParaRPr lang="en-US" dirty="0"/>
          </a:p>
        </p:txBody>
      </p:sp>
      <p:sp>
        <p:nvSpPr>
          <p:cNvPr id="12" name="Text Placeholder 15"/>
          <p:cNvSpPr>
            <a:spLocks noGrp="1"/>
          </p:cNvSpPr>
          <p:nvPr>
            <p:ph type="body" sz="quarter" idx="11" hasCustomPrompt="1"/>
          </p:nvPr>
        </p:nvSpPr>
        <p:spPr>
          <a:xfrm>
            <a:off x="762000" y="1905000"/>
            <a:ext cx="6340929" cy="3276600"/>
          </a:xfrm>
          <a:prstGeom prst="rect">
            <a:avLst/>
          </a:prstGeom>
        </p:spPr>
        <p:txBody>
          <a:bodyPr/>
          <a:lstStyle>
            <a:lvl1pPr marL="0" indent="0">
              <a:lnSpc>
                <a:spcPct val="100000"/>
              </a:lnSpc>
              <a:buNone/>
              <a:defRPr sz="1800" b="1">
                <a:solidFill>
                  <a:schemeClr val="bg1"/>
                </a:solidFill>
              </a:defRPr>
            </a:lvl1pPr>
            <a:lvl2pPr marL="228600">
              <a:lnSpc>
                <a:spcPct val="100000"/>
              </a:lnSpc>
              <a:spcBef>
                <a:spcPts val="1000"/>
              </a:spcBef>
              <a:defRPr sz="1800">
                <a:solidFill>
                  <a:schemeClr val="bg1"/>
                </a:solidFill>
              </a:defRPr>
            </a:lvl2pPr>
          </a:lstStyle>
          <a:p>
            <a:pPr lvl="0"/>
            <a:r>
              <a:rPr lang="en-US" dirty="0"/>
              <a:t>Insert subtitle here</a:t>
            </a:r>
            <a:endParaRPr lang="en-US" dirty="0"/>
          </a:p>
          <a:p>
            <a:pPr lvl="1"/>
            <a:r>
              <a:rPr lang="en-US" dirty="0"/>
              <a:t>Insert content here</a:t>
            </a:r>
            <a:endParaRPr lang="en-US" dirty="0"/>
          </a:p>
        </p:txBody>
      </p:sp>
      <p:pic>
        <p:nvPicPr>
          <p:cNvPr id="6" name="Picture Placeholder 5"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7427166" y="0"/>
            <a:ext cx="4764834"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verview">
    <p:bg>
      <p:bgPr>
        <a:solidFill>
          <a:schemeClr val="accent2"/>
        </a:solidFill>
        <a:effectLst/>
      </p:bgPr>
    </p:bg>
    <p:spTree>
      <p:nvGrpSpPr>
        <p:cNvPr id="1" name=""/>
        <p:cNvGrpSpPr/>
        <p:nvPr/>
      </p:nvGrpSpPr>
      <p:grpSpPr>
        <a:xfrm>
          <a:off x="0" y="0"/>
          <a:ext cx="0" cy="0"/>
          <a:chOff x="0" y="0"/>
          <a:chExt cx="0" cy="0"/>
        </a:xfrm>
      </p:grpSpPr>
      <p:pic>
        <p:nvPicPr>
          <p:cNvPr id="8" name="Picture Placeholder 6" descr="White Striped background"/>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5" name="Title 1"/>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815" rtl="0" eaLnBrk="1" latinLnBrk="0" hangingPunct="1">
              <a:lnSpc>
                <a:spcPct val="100000"/>
              </a:lnSpc>
              <a:spcBef>
                <a:spcPct val="0"/>
              </a:spcBef>
              <a:buNone/>
              <a:defRPr lang="en-US" sz="4000" b="1" i="0" kern="1200" cap="none" spc="-50" baseline="0" dirty="0">
                <a:ln w="3175">
                  <a:noFill/>
                </a:ln>
                <a:solidFill>
                  <a:schemeClr val="tx1"/>
                </a:solidFill>
                <a:effectLst/>
                <a:latin typeface="+mj-lt"/>
                <a:ea typeface="+mn-ea"/>
                <a:cs typeface="Segoe UI" panose="020B0502040204020203" pitchFamily="34" charset="0"/>
              </a:defRPr>
            </a:lvl1pPr>
          </a:lstStyle>
          <a:p>
            <a:r>
              <a:rPr lang="en-US" dirty="0"/>
              <a:t>Insert title here</a:t>
            </a:r>
            <a:endParaRPr lang="en-US" dirty="0"/>
          </a:p>
        </p:txBody>
      </p:sp>
      <p:sp>
        <p:nvSpPr>
          <p:cNvPr id="6" name="Text Placeholder 4"/>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tx1"/>
                </a:solidFill>
                <a:latin typeface="+mn-lt"/>
                <a:ea typeface="+mn-ea"/>
                <a:cs typeface="+mn-cs"/>
              </a:defRPr>
            </a:lvl1pPr>
          </a:lstStyle>
          <a:p>
            <a:pPr lvl="0"/>
            <a:r>
              <a:rPr lang="en-US" dirty="0"/>
              <a:t>Insert content here</a:t>
            </a:r>
            <a:endParaRPr lang="en-U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715964"/>
            <a:ext cx="10591800" cy="646332"/>
          </a:xfrm>
          <a:prstGeom prst="rect">
            <a:avLst/>
          </a:prstGeom>
        </p:spPr>
        <p:txBody>
          <a:bodyPr>
            <a:noAutofit/>
          </a:bodyPr>
          <a:lstStyle>
            <a:lvl1pPr>
              <a:spcBef>
                <a:spcPts val="1000"/>
              </a:spcBef>
              <a:defRPr sz="4000" b="1">
                <a:solidFill>
                  <a:schemeClr val="accent2"/>
                </a:solidFill>
              </a:defRPr>
            </a:lvl1pPr>
          </a:lstStyle>
          <a:p>
            <a:r>
              <a:rPr lang="en-US" dirty="0"/>
              <a:t>Insert title here</a:t>
            </a:r>
            <a:endParaRPr lang="en-US" dirty="0"/>
          </a:p>
        </p:txBody>
      </p:sp>
      <p:sp>
        <p:nvSpPr>
          <p:cNvPr id="10" name="Text Placeholder 15"/>
          <p:cNvSpPr>
            <a:spLocks noGrp="1"/>
          </p:cNvSpPr>
          <p:nvPr>
            <p:ph type="body" sz="quarter" idx="11" hasCustomPrompt="1"/>
          </p:nvPr>
        </p:nvSpPr>
        <p:spPr>
          <a:xfrm>
            <a:off x="762000" y="1432562"/>
            <a:ext cx="10667999" cy="1158237"/>
          </a:xfrm>
          <a:prstGeom prst="rect">
            <a:avLst/>
          </a:prstGeom>
        </p:spPr>
        <p:txBody>
          <a:bodyPr/>
          <a:lstStyle>
            <a:lvl1pPr marL="0" indent="0">
              <a:lnSpc>
                <a:spcPct val="100000"/>
              </a:lnSpc>
              <a:buNone/>
              <a:defRPr sz="1800" b="0">
                <a:solidFill>
                  <a:schemeClr val="bg1"/>
                </a:solidFill>
              </a:defRPr>
            </a:lvl1pPr>
            <a:lvl2pPr marL="228600">
              <a:lnSpc>
                <a:spcPct val="100000"/>
              </a:lnSpc>
              <a:spcBef>
                <a:spcPts val="1000"/>
              </a:spcBef>
              <a:defRPr sz="1800" b="0">
                <a:solidFill>
                  <a:schemeClr val="bg1"/>
                </a:solidFill>
              </a:defRPr>
            </a:lvl2pPr>
          </a:lstStyle>
          <a:p>
            <a:pPr lvl="0"/>
            <a:r>
              <a:rPr lang="en-US" dirty="0"/>
              <a:t>Insert subtitle here</a:t>
            </a:r>
            <a:endParaRPr lang="en-US" dirty="0"/>
          </a:p>
          <a:p>
            <a:pPr lvl="1"/>
            <a:r>
              <a:rPr lang="en-US" dirty="0"/>
              <a:t>Insert content here</a:t>
            </a:r>
            <a:endParaRPr lang="en-US" dirty="0"/>
          </a:p>
        </p:txBody>
      </p:sp>
      <p:sp>
        <p:nvSpPr>
          <p:cNvPr id="11" name="Table Placeholder 10"/>
          <p:cNvSpPr>
            <a:spLocks noGrp="1"/>
          </p:cNvSpPr>
          <p:nvPr>
            <p:ph type="tbl" sz="quarter" idx="12" hasCustomPrompt="1"/>
          </p:nvPr>
        </p:nvSpPr>
        <p:spPr>
          <a:xfrm>
            <a:off x="757381" y="2591662"/>
            <a:ext cx="10667999" cy="2833776"/>
          </a:xfrm>
          <a:prstGeom prst="rect">
            <a:avLst/>
          </a:prstGeom>
        </p:spPr>
        <p:txBody>
          <a:bodyPr/>
          <a:lstStyle>
            <a:lvl1pPr marL="0" indent="0">
              <a:buNone/>
              <a:defRPr sz="1800" b="0"/>
            </a:lvl1pPr>
          </a:lstStyle>
          <a:p>
            <a:r>
              <a:rPr lang="en-US" dirty="0"/>
              <a:t>Insert content here</a:t>
            </a:r>
            <a:endParaRPr lang="en-US" dirty="0"/>
          </a:p>
        </p:txBody>
      </p:sp>
      <p:pic>
        <p:nvPicPr>
          <p:cNvPr id="7" name="Picture Placeholder 5"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5990252"/>
            <a:ext cx="12192000" cy="867748"/>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eft Pattern Content">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5199742" y="715961"/>
            <a:ext cx="6477000" cy="1189037"/>
          </a:xfrm>
          <a:prstGeom prst="rect">
            <a:avLst/>
          </a:prstGeom>
        </p:spPr>
        <p:txBody>
          <a:bodyPr anchor="t">
            <a:normAutofit/>
          </a:bodyPr>
          <a:lstStyle>
            <a:lvl1pPr>
              <a:spcBef>
                <a:spcPts val="1000"/>
              </a:spcBef>
              <a:defRPr sz="4000" b="1" spc="-50" baseline="0">
                <a:solidFill>
                  <a:schemeClr val="accent1"/>
                </a:solidFill>
              </a:defRPr>
            </a:lvl1pPr>
          </a:lstStyle>
          <a:p>
            <a:r>
              <a:rPr lang="en-US" dirty="0"/>
              <a:t>Insert title here</a:t>
            </a:r>
            <a:endParaRPr lang="en-US" dirty="0"/>
          </a:p>
        </p:txBody>
      </p:sp>
      <p:sp>
        <p:nvSpPr>
          <p:cNvPr id="12" name="Text Placeholder 15"/>
          <p:cNvSpPr>
            <a:spLocks noGrp="1"/>
          </p:cNvSpPr>
          <p:nvPr>
            <p:ph type="body" sz="quarter" idx="11" hasCustomPrompt="1"/>
          </p:nvPr>
        </p:nvSpPr>
        <p:spPr>
          <a:xfrm>
            <a:off x="5199743" y="1905000"/>
            <a:ext cx="6477000" cy="3276600"/>
          </a:xfrm>
          <a:prstGeom prst="rect">
            <a:avLst/>
          </a:prstGeom>
        </p:spPr>
        <p:txBody>
          <a:bodyPr/>
          <a:lstStyle>
            <a:lvl1pPr marL="0" indent="0">
              <a:lnSpc>
                <a:spcPct val="100000"/>
              </a:lnSpc>
              <a:buNone/>
              <a:defRPr sz="1800" b="1">
                <a:solidFill>
                  <a:schemeClr val="bg1"/>
                </a:solidFill>
              </a:defRPr>
            </a:lvl1pPr>
            <a:lvl2pPr marL="228600" indent="-228600">
              <a:lnSpc>
                <a:spcPct val="100000"/>
              </a:lnSpc>
              <a:spcBef>
                <a:spcPts val="1000"/>
              </a:spcBef>
              <a:defRPr sz="1800">
                <a:solidFill>
                  <a:schemeClr val="bg1"/>
                </a:solidFill>
              </a:defRPr>
            </a:lvl2pPr>
          </a:lstStyle>
          <a:p>
            <a:pPr lvl="0"/>
            <a:r>
              <a:rPr lang="en-US" dirty="0"/>
              <a:t>Insert subtitle here</a:t>
            </a:r>
            <a:endParaRPr lang="en-US" dirty="0"/>
          </a:p>
          <a:p>
            <a:pPr lvl="1"/>
            <a:r>
              <a:rPr lang="en-US" dirty="0"/>
              <a:t>Insert content here</a:t>
            </a:r>
            <a:endParaRPr lang="en-US" dirty="0"/>
          </a:p>
        </p:txBody>
      </p:sp>
      <p:pic>
        <p:nvPicPr>
          <p:cNvPr id="6" name="Picture Placeholder 6"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0"/>
            <a:ext cx="4767943"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mart Ar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715964"/>
            <a:ext cx="10591800" cy="646332"/>
          </a:xfrm>
          <a:prstGeom prst="rect">
            <a:avLst/>
          </a:prstGeom>
        </p:spPr>
        <p:txBody>
          <a:bodyPr>
            <a:noAutofit/>
          </a:bodyPr>
          <a:lstStyle>
            <a:lvl1pPr>
              <a:spcBef>
                <a:spcPts val="1000"/>
              </a:spcBef>
              <a:defRPr sz="4000" b="1">
                <a:solidFill>
                  <a:schemeClr val="accent3">
                    <a:lumMod val="75000"/>
                  </a:schemeClr>
                </a:solidFill>
              </a:defRPr>
            </a:lvl1pPr>
          </a:lstStyle>
          <a:p>
            <a:r>
              <a:rPr lang="en-US" dirty="0"/>
              <a:t>Insert title here</a:t>
            </a:r>
            <a:endParaRPr lang="en-US" dirty="0"/>
          </a:p>
        </p:txBody>
      </p:sp>
      <p:sp>
        <p:nvSpPr>
          <p:cNvPr id="7" name="Text Placeholder 15"/>
          <p:cNvSpPr>
            <a:spLocks noGrp="1"/>
          </p:cNvSpPr>
          <p:nvPr>
            <p:ph type="body" sz="quarter" idx="11" hasCustomPrompt="1"/>
          </p:nvPr>
        </p:nvSpPr>
        <p:spPr>
          <a:xfrm>
            <a:off x="762000" y="1432562"/>
            <a:ext cx="10667999" cy="927425"/>
          </a:xfrm>
          <a:prstGeom prst="rect">
            <a:avLst/>
          </a:prstGeom>
        </p:spPr>
        <p:txBody>
          <a:bodyPr/>
          <a:lstStyle>
            <a:lvl1pPr marL="0" indent="0">
              <a:lnSpc>
                <a:spcPct val="100000"/>
              </a:lnSpc>
              <a:buNone/>
              <a:defRPr sz="1800" b="0">
                <a:solidFill>
                  <a:schemeClr val="bg1"/>
                </a:solidFill>
              </a:defRPr>
            </a:lvl1pPr>
            <a:lvl2pPr marL="228600">
              <a:lnSpc>
                <a:spcPct val="100000"/>
              </a:lnSpc>
              <a:spcBef>
                <a:spcPts val="1000"/>
              </a:spcBef>
              <a:defRPr sz="1800" b="0">
                <a:solidFill>
                  <a:schemeClr val="bg1"/>
                </a:solidFill>
              </a:defRPr>
            </a:lvl2pPr>
          </a:lstStyle>
          <a:p>
            <a:pPr lvl="0"/>
            <a:r>
              <a:rPr lang="en-US" dirty="0"/>
              <a:t>Insert subtitle here</a:t>
            </a:r>
            <a:endParaRPr lang="en-US" dirty="0"/>
          </a:p>
          <a:p>
            <a:pPr lvl="1"/>
            <a:r>
              <a:rPr lang="en-US" dirty="0"/>
              <a:t>Insert content here</a:t>
            </a:r>
            <a:endParaRPr lang="en-US" dirty="0"/>
          </a:p>
        </p:txBody>
      </p:sp>
      <p:sp>
        <p:nvSpPr>
          <p:cNvPr id="8" name="SmartArt Placeholder 7"/>
          <p:cNvSpPr>
            <a:spLocks noGrp="1"/>
          </p:cNvSpPr>
          <p:nvPr>
            <p:ph type="dgm" sz="quarter" idx="14" hasCustomPrompt="1"/>
          </p:nvPr>
        </p:nvSpPr>
        <p:spPr>
          <a:xfrm>
            <a:off x="762001" y="2369129"/>
            <a:ext cx="10667998" cy="3343657"/>
          </a:xfrm>
          <a:prstGeom prst="rect">
            <a:avLst/>
          </a:prstGeom>
        </p:spPr>
        <p:txBody>
          <a:bodyPr/>
          <a:lstStyle>
            <a:lvl1pPr marL="0" indent="0">
              <a:buNone/>
              <a:defRPr sz="1800" b="0"/>
            </a:lvl1pPr>
          </a:lstStyle>
          <a:p>
            <a:r>
              <a:rPr lang="en-US" dirty="0"/>
              <a:t>Insert Content here</a:t>
            </a:r>
            <a:endParaRPr lang="en-US" dirty="0"/>
          </a:p>
        </p:txBody>
      </p:sp>
      <p:pic>
        <p:nvPicPr>
          <p:cNvPr id="9" name="Picture Placeholder 8"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5999582"/>
            <a:ext cx="12192000" cy="858417"/>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Photo Content">
    <p:spTree>
      <p:nvGrpSpPr>
        <p:cNvPr id="1" name=""/>
        <p:cNvGrpSpPr/>
        <p:nvPr/>
      </p:nvGrpSpPr>
      <p:grpSpPr>
        <a:xfrm>
          <a:off x="0" y="0"/>
          <a:ext cx="0" cy="0"/>
          <a:chOff x="0" y="0"/>
          <a:chExt cx="0" cy="0"/>
        </a:xfrm>
      </p:grpSpPr>
      <p:sp>
        <p:nvSpPr>
          <p:cNvPr id="10" name="Title 2"/>
          <p:cNvSpPr>
            <a:spLocks noGrp="1"/>
          </p:cNvSpPr>
          <p:nvPr>
            <p:ph type="title" hasCustomPrompt="1"/>
          </p:nvPr>
        </p:nvSpPr>
        <p:spPr>
          <a:xfrm>
            <a:off x="762000" y="715963"/>
            <a:ext cx="5334000" cy="1189038"/>
          </a:xfrm>
          <a:prstGeom prst="rect">
            <a:avLst/>
          </a:prstGeom>
        </p:spPr>
        <p:txBody>
          <a:bodyPr anchor="t">
            <a:normAutofit/>
          </a:bodyPr>
          <a:lstStyle>
            <a:lvl1pPr>
              <a:spcBef>
                <a:spcPts val="1000"/>
              </a:spcBef>
              <a:defRPr sz="4000" b="1">
                <a:solidFill>
                  <a:schemeClr val="accent2"/>
                </a:solidFill>
              </a:defRPr>
            </a:lvl1pPr>
          </a:lstStyle>
          <a:p>
            <a:r>
              <a:rPr lang="en-US" dirty="0"/>
              <a:t>Insert title here</a:t>
            </a:r>
            <a:endParaRPr lang="en-US" dirty="0"/>
          </a:p>
        </p:txBody>
      </p:sp>
      <p:sp>
        <p:nvSpPr>
          <p:cNvPr id="16" name="Text Placeholder 15"/>
          <p:cNvSpPr>
            <a:spLocks noGrp="1"/>
          </p:cNvSpPr>
          <p:nvPr>
            <p:ph type="body" sz="quarter" idx="11" hasCustomPrompt="1"/>
          </p:nvPr>
        </p:nvSpPr>
        <p:spPr>
          <a:xfrm>
            <a:off x="762000" y="1905000"/>
            <a:ext cx="5334000" cy="3276600"/>
          </a:xfrm>
          <a:prstGeom prst="rect">
            <a:avLst/>
          </a:prstGeom>
        </p:spPr>
        <p:txBody>
          <a:bodyPr/>
          <a:lstStyle>
            <a:lvl1pPr marL="0" indent="0">
              <a:lnSpc>
                <a:spcPct val="100000"/>
              </a:lnSpc>
              <a:buNone/>
              <a:defRPr sz="1800" b="1"/>
            </a:lvl1pPr>
            <a:lvl2pPr marL="228600">
              <a:lnSpc>
                <a:spcPct val="100000"/>
              </a:lnSpc>
              <a:spcBef>
                <a:spcPts val="1000"/>
              </a:spcBef>
              <a:defRPr sz="1800"/>
            </a:lvl2pPr>
          </a:lstStyle>
          <a:p>
            <a:pPr lvl="0"/>
            <a:r>
              <a:rPr lang="en-US" dirty="0"/>
              <a:t>Insert subtitle here</a:t>
            </a:r>
            <a:endParaRPr lang="en-US" dirty="0"/>
          </a:p>
          <a:p>
            <a:pPr lvl="1"/>
            <a:r>
              <a:rPr lang="en-US" dirty="0"/>
              <a:t>Insert content here</a:t>
            </a:r>
            <a:endParaRPr lang="en-US" dirty="0"/>
          </a:p>
        </p:txBody>
      </p:sp>
      <p:sp>
        <p:nvSpPr>
          <p:cNvPr id="9" name="Picture Placeholder 13"/>
          <p:cNvSpPr>
            <a:spLocks noGrp="1"/>
          </p:cNvSpPr>
          <p:nvPr>
            <p:ph type="pic" sz="quarter" idx="14"/>
          </p:nvPr>
        </p:nvSpPr>
        <p:spPr>
          <a:xfrm>
            <a:off x="6858000" y="715963"/>
            <a:ext cx="4572000" cy="2362200"/>
          </a:xfrm>
          <a:prstGeom prst="rect">
            <a:avLst/>
          </a:prstGeom>
          <a:solidFill>
            <a:schemeClr val="tx2"/>
          </a:solidFill>
        </p:spPr>
        <p:txBody>
          <a:bodyPr>
            <a:normAutofit/>
          </a:bodyPr>
          <a:lstStyle>
            <a:lvl1pPr algn="ctr">
              <a:buNone/>
              <a:defRPr sz="1600"/>
            </a:lvl1pPr>
          </a:lstStyle>
          <a:p>
            <a:r>
              <a:rPr lang="en-US"/>
              <a:t>Click icon to add picture</a:t>
            </a:r>
            <a:endParaRPr lang="en-US" dirty="0"/>
          </a:p>
        </p:txBody>
      </p:sp>
      <p:sp>
        <p:nvSpPr>
          <p:cNvPr id="8" name="Picture Placeholder 13"/>
          <p:cNvSpPr>
            <a:spLocks noGrp="1"/>
          </p:cNvSpPr>
          <p:nvPr>
            <p:ph type="pic" sz="quarter" idx="13"/>
          </p:nvPr>
        </p:nvSpPr>
        <p:spPr>
          <a:xfrm>
            <a:off x="6858000" y="3305541"/>
            <a:ext cx="4572000" cy="2362200"/>
          </a:xfrm>
          <a:prstGeom prst="rect">
            <a:avLst/>
          </a:prstGeom>
          <a:solidFill>
            <a:schemeClr val="tx2"/>
          </a:solidFill>
        </p:spPr>
        <p:txBody>
          <a:bodyPr>
            <a:normAutofit/>
          </a:bodyPr>
          <a:lstStyle>
            <a:lvl1pPr algn="ctr">
              <a:buNone/>
              <a:defRPr sz="1600"/>
            </a:lvl1pPr>
          </a:lstStyle>
          <a:p>
            <a:r>
              <a:rPr lang="en-US"/>
              <a:t>Click icon to add picture</a:t>
            </a:r>
            <a:endParaRPr lang="en-US" dirty="0"/>
          </a:p>
        </p:txBody>
      </p:sp>
      <p:pic>
        <p:nvPicPr>
          <p:cNvPr id="11" name="Picture Placeholder 5"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5980922"/>
            <a:ext cx="12192000" cy="877078"/>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Pattern Content Gray 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62000" y="715961"/>
            <a:ext cx="6477000" cy="1189038"/>
          </a:xfrm>
          <a:prstGeom prst="rect">
            <a:avLst/>
          </a:prstGeom>
        </p:spPr>
        <p:txBody>
          <a:bodyPr anchor="t">
            <a:noAutofit/>
          </a:bodyPr>
          <a:lstStyle>
            <a:lvl1pPr>
              <a:spcBef>
                <a:spcPts val="1000"/>
              </a:spcBef>
              <a:defRPr sz="4000" b="1">
                <a:solidFill>
                  <a:schemeClr val="accent3">
                    <a:lumMod val="75000"/>
                  </a:schemeClr>
                </a:solidFill>
              </a:defRPr>
            </a:lvl1pPr>
          </a:lstStyle>
          <a:p>
            <a:r>
              <a:rPr lang="en-US" dirty="0"/>
              <a:t>Insert title here</a:t>
            </a:r>
            <a:endParaRPr lang="en-US" dirty="0"/>
          </a:p>
        </p:txBody>
      </p:sp>
      <p:sp>
        <p:nvSpPr>
          <p:cNvPr id="12" name="Text Placeholder 15"/>
          <p:cNvSpPr>
            <a:spLocks noGrp="1"/>
          </p:cNvSpPr>
          <p:nvPr>
            <p:ph type="body" sz="quarter" idx="11" hasCustomPrompt="1"/>
          </p:nvPr>
        </p:nvSpPr>
        <p:spPr>
          <a:xfrm>
            <a:off x="762000" y="1905000"/>
            <a:ext cx="6477000" cy="3276600"/>
          </a:xfrm>
          <a:prstGeom prst="rect">
            <a:avLst/>
          </a:prstGeom>
        </p:spPr>
        <p:txBody>
          <a:bodyPr/>
          <a:lstStyle>
            <a:lvl1pPr marL="0" indent="0">
              <a:lnSpc>
                <a:spcPct val="100000"/>
              </a:lnSpc>
              <a:buNone/>
              <a:defRPr sz="1800" b="1">
                <a:solidFill>
                  <a:schemeClr val="bg1"/>
                </a:solidFill>
              </a:defRPr>
            </a:lvl1pPr>
            <a:lvl2pPr marL="228600">
              <a:lnSpc>
                <a:spcPct val="100000"/>
              </a:lnSpc>
              <a:spcBef>
                <a:spcPts val="1000"/>
              </a:spcBef>
              <a:defRPr sz="1800">
                <a:solidFill>
                  <a:schemeClr val="bg1"/>
                </a:solidFill>
              </a:defRPr>
            </a:lvl2pPr>
          </a:lstStyle>
          <a:p>
            <a:pPr lvl="0"/>
            <a:r>
              <a:rPr lang="en-US" dirty="0"/>
              <a:t>Insert subtitle here</a:t>
            </a:r>
            <a:endParaRPr lang="en-US" dirty="0"/>
          </a:p>
          <a:p>
            <a:pPr lvl="1"/>
            <a:r>
              <a:rPr lang="en-US" dirty="0"/>
              <a:t>Insert content here</a:t>
            </a:r>
            <a:endParaRPr lang="en-US" dirty="0"/>
          </a:p>
        </p:txBody>
      </p:sp>
      <p:pic>
        <p:nvPicPr>
          <p:cNvPr id="5" name="Picture Placeholder 6"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7427166" y="0"/>
            <a:ext cx="4764834"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
    <p:bg>
      <p:bgPr>
        <a:solidFill>
          <a:schemeClr val="accent1"/>
        </a:solidFill>
        <a:effectLst/>
      </p:bgPr>
    </p:bg>
    <p:spTree>
      <p:nvGrpSpPr>
        <p:cNvPr id="1" name=""/>
        <p:cNvGrpSpPr/>
        <p:nvPr/>
      </p:nvGrpSpPr>
      <p:grpSpPr>
        <a:xfrm>
          <a:off x="0" y="0"/>
          <a:ext cx="0" cy="0"/>
          <a:chOff x="0" y="0"/>
          <a:chExt cx="0" cy="0"/>
        </a:xfrm>
      </p:grpSpPr>
      <p:pic>
        <p:nvPicPr>
          <p:cNvPr id="8" name="Picture Placeholder 6" descr="Picture placeholder "/>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5" name="Title 1"/>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815" rtl="0" eaLnBrk="1" latinLnBrk="0" hangingPunct="1">
              <a:lnSpc>
                <a:spcPct val="100000"/>
              </a:lnSpc>
              <a:spcBef>
                <a:spcPct val="0"/>
              </a:spcBef>
              <a:buNone/>
              <a:defRPr lang="en-US" sz="4000" b="1" i="0" kern="1200" cap="none" spc="-50" baseline="0" dirty="0">
                <a:ln w="3175">
                  <a:noFill/>
                </a:ln>
                <a:solidFill>
                  <a:schemeClr val="tx1"/>
                </a:solidFill>
                <a:effectLst/>
                <a:latin typeface="+mj-lt"/>
                <a:ea typeface="+mn-ea"/>
                <a:cs typeface="Segoe UI" panose="020B0502040204020203" pitchFamily="34" charset="0"/>
              </a:defRPr>
            </a:lvl1pPr>
          </a:lstStyle>
          <a:p>
            <a:r>
              <a:rPr lang="en-US" dirty="0"/>
              <a:t>Insert title here</a:t>
            </a:r>
            <a:endParaRPr lang="en-US" dirty="0"/>
          </a:p>
        </p:txBody>
      </p:sp>
      <p:sp>
        <p:nvSpPr>
          <p:cNvPr id="6" name="Text Placeholder 4"/>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tx1"/>
                </a:solidFill>
                <a:latin typeface="+mn-lt"/>
                <a:ea typeface="+mn-ea"/>
                <a:cs typeface="+mn-cs"/>
              </a:defRPr>
            </a:lvl1pPr>
          </a:lstStyle>
          <a:p>
            <a:pPr lvl="0"/>
            <a:r>
              <a:rPr lang="en-US" dirty="0"/>
              <a:t>Insert content here</a:t>
            </a:r>
            <a:endParaRPr lang="en-U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Questions">
    <p:spTree>
      <p:nvGrpSpPr>
        <p:cNvPr id="1" name=""/>
        <p:cNvGrpSpPr/>
        <p:nvPr/>
      </p:nvGrpSpPr>
      <p:grpSpPr>
        <a:xfrm>
          <a:off x="0" y="0"/>
          <a:ext cx="0" cy="0"/>
          <a:chOff x="0" y="0"/>
          <a:chExt cx="0" cy="0"/>
        </a:xfrm>
      </p:grpSpPr>
      <p:sp>
        <p:nvSpPr>
          <p:cNvPr id="5" name="Title 1"/>
          <p:cNvSpPr>
            <a:spLocks noGrp="1"/>
          </p:cNvSpPr>
          <p:nvPr>
            <p:ph type="title" hasCustomPrompt="1"/>
          </p:nvPr>
        </p:nvSpPr>
        <p:spPr>
          <a:xfrm>
            <a:off x="1525301" y="1995467"/>
            <a:ext cx="9141397" cy="615553"/>
          </a:xfrm>
          <a:prstGeom prst="rect">
            <a:avLst/>
          </a:prstGeom>
          <a:noFill/>
        </p:spPr>
        <p:txBody>
          <a:bodyPr wrap="square" lIns="0" tIns="0" rIns="0" bIns="0" anchor="b" anchorCtr="0">
            <a:spAutoFit/>
          </a:bodyPr>
          <a:lstStyle>
            <a:lvl1pPr algn="ctr" defTabSz="932815" rtl="0" eaLnBrk="1" latinLnBrk="0" hangingPunct="1">
              <a:lnSpc>
                <a:spcPct val="100000"/>
              </a:lnSpc>
              <a:spcBef>
                <a:spcPct val="0"/>
              </a:spcBef>
              <a:buNone/>
              <a:defRPr lang="en-US" sz="4000" b="1" i="0" kern="1200" cap="none" spc="-50" baseline="0" dirty="0">
                <a:ln w="3175">
                  <a:noFill/>
                </a:ln>
                <a:solidFill>
                  <a:schemeClr val="accent1"/>
                </a:solidFill>
                <a:effectLst/>
                <a:latin typeface="+mj-lt"/>
                <a:ea typeface="+mn-ea"/>
                <a:cs typeface="Segoe UI" panose="020B0502040204020203" pitchFamily="34" charset="0"/>
              </a:defRPr>
            </a:lvl1pPr>
          </a:lstStyle>
          <a:p>
            <a:r>
              <a:rPr lang="en-US" dirty="0"/>
              <a:t>Insert title here</a:t>
            </a:r>
            <a:endParaRPr lang="en-US" dirty="0"/>
          </a:p>
        </p:txBody>
      </p:sp>
      <p:sp>
        <p:nvSpPr>
          <p:cNvPr id="14" name="Text Placeholder 4"/>
          <p:cNvSpPr>
            <a:spLocks noGrp="1"/>
          </p:cNvSpPr>
          <p:nvPr>
            <p:ph type="body" sz="quarter" idx="12" hasCustomPrompt="1"/>
          </p:nvPr>
        </p:nvSpPr>
        <p:spPr>
          <a:xfrm>
            <a:off x="2196307" y="3260705"/>
            <a:ext cx="7799387" cy="1534757"/>
          </a:xfrm>
          <a:prstGeom prst="rect">
            <a:avLst/>
          </a:prstGeom>
          <a:noFill/>
        </p:spPr>
        <p:txBody>
          <a:bodyPr wrap="square" lIns="0" tIns="0" rIns="0" bIns="0">
            <a:noAutofit/>
          </a:bodyPr>
          <a:lstStyle>
            <a:lvl1pPr marL="0" indent="0" algn="ctr">
              <a:lnSpc>
                <a:spcPct val="100000"/>
              </a:lnSpc>
              <a:spcBef>
                <a:spcPts val="0"/>
              </a:spcBef>
              <a:spcAft>
                <a:spcPts val="0"/>
              </a:spcAft>
              <a:buFont typeface="Arial" panose="020B0604020202020204" pitchFamily="34" charset="0"/>
              <a:buNone/>
              <a:defRPr lang="en-US" sz="1800" kern="1200" dirty="0">
                <a:solidFill>
                  <a:schemeClr val="bg1"/>
                </a:solidFill>
                <a:latin typeface="+mn-lt"/>
                <a:ea typeface="+mn-ea"/>
                <a:cs typeface="+mn-cs"/>
              </a:defRPr>
            </a:lvl1pPr>
          </a:lstStyle>
          <a:p>
            <a:pPr lvl="0"/>
            <a:r>
              <a:rPr lang="en-US" dirty="0"/>
              <a:t>Insert content here</a:t>
            </a:r>
            <a:endParaRPr lang="en-US" dirty="0"/>
          </a:p>
        </p:txBody>
      </p:sp>
      <p:pic>
        <p:nvPicPr>
          <p:cNvPr id="6" name="Picture Placeholder 5"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5999582"/>
            <a:ext cx="12192000" cy="858417"/>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eft Pattern Content Blue title">
    <p:spTree>
      <p:nvGrpSpPr>
        <p:cNvPr id="1" name=""/>
        <p:cNvGrpSpPr/>
        <p:nvPr/>
      </p:nvGrpSpPr>
      <p:grpSpPr>
        <a:xfrm>
          <a:off x="0" y="0"/>
          <a:ext cx="0" cy="0"/>
          <a:chOff x="0" y="0"/>
          <a:chExt cx="0" cy="0"/>
        </a:xfrm>
      </p:grpSpPr>
      <p:sp>
        <p:nvSpPr>
          <p:cNvPr id="3" name="Title 2"/>
          <p:cNvSpPr>
            <a:spLocks noGrp="1"/>
          </p:cNvSpPr>
          <p:nvPr>
            <p:ph type="title" hasCustomPrompt="1"/>
          </p:nvPr>
        </p:nvSpPr>
        <p:spPr>
          <a:xfrm>
            <a:off x="5199742" y="715961"/>
            <a:ext cx="6477000" cy="1189037"/>
          </a:xfrm>
          <a:prstGeom prst="rect">
            <a:avLst/>
          </a:prstGeom>
        </p:spPr>
        <p:txBody>
          <a:bodyPr anchor="t">
            <a:normAutofit/>
          </a:bodyPr>
          <a:lstStyle>
            <a:lvl1pPr>
              <a:spcBef>
                <a:spcPts val="1000"/>
              </a:spcBef>
              <a:defRPr sz="4000" b="1" spc="-50" baseline="0">
                <a:solidFill>
                  <a:schemeClr val="accent2"/>
                </a:solidFill>
              </a:defRPr>
            </a:lvl1pPr>
          </a:lstStyle>
          <a:p>
            <a:r>
              <a:rPr lang="en-US" dirty="0"/>
              <a:t>Insert title here</a:t>
            </a:r>
            <a:endParaRPr lang="en-US" dirty="0"/>
          </a:p>
        </p:txBody>
      </p:sp>
      <p:sp>
        <p:nvSpPr>
          <p:cNvPr id="12" name="Text Placeholder 15"/>
          <p:cNvSpPr>
            <a:spLocks noGrp="1"/>
          </p:cNvSpPr>
          <p:nvPr>
            <p:ph type="body" sz="quarter" idx="11" hasCustomPrompt="1"/>
          </p:nvPr>
        </p:nvSpPr>
        <p:spPr>
          <a:xfrm>
            <a:off x="5199743" y="1905000"/>
            <a:ext cx="6477000" cy="3276600"/>
          </a:xfrm>
          <a:prstGeom prst="rect">
            <a:avLst/>
          </a:prstGeom>
        </p:spPr>
        <p:txBody>
          <a:bodyPr/>
          <a:lstStyle>
            <a:lvl1pPr marL="0" indent="0">
              <a:lnSpc>
                <a:spcPct val="100000"/>
              </a:lnSpc>
              <a:buNone/>
              <a:defRPr sz="1800" b="1">
                <a:solidFill>
                  <a:schemeClr val="bg1"/>
                </a:solidFill>
              </a:defRPr>
            </a:lvl1pPr>
            <a:lvl2pPr marL="228600" indent="-228600">
              <a:lnSpc>
                <a:spcPct val="100000"/>
              </a:lnSpc>
              <a:spcBef>
                <a:spcPts val="1000"/>
              </a:spcBef>
              <a:defRPr sz="1800">
                <a:solidFill>
                  <a:schemeClr val="bg1"/>
                </a:solidFill>
              </a:defRPr>
            </a:lvl2pPr>
          </a:lstStyle>
          <a:p>
            <a:pPr lvl="0"/>
            <a:r>
              <a:rPr lang="en-US" dirty="0"/>
              <a:t>Insert subtitle here</a:t>
            </a:r>
            <a:endParaRPr lang="en-US" dirty="0"/>
          </a:p>
          <a:p>
            <a:pPr lvl="1"/>
            <a:r>
              <a:rPr lang="en-US" dirty="0"/>
              <a:t>Insert content here</a:t>
            </a:r>
            <a:endParaRPr lang="en-US" dirty="0"/>
          </a:p>
        </p:txBody>
      </p:sp>
      <p:pic>
        <p:nvPicPr>
          <p:cNvPr id="5" name="Picture Placeholder 6" descr="Red, blue grey white pattern background"/>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a:fillRect/>
          </a:stretch>
        </p:blipFill>
        <p:spPr>
          <a:xfrm>
            <a:off x="0" y="0"/>
            <a:ext cx="4767943"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5411189" y="2766218"/>
            <a:ext cx="6220101" cy="1325563"/>
          </a:xfrm>
        </p:spPr>
        <p:txBody>
          <a:bodyPr anchor="ctr">
            <a:noAutofit/>
          </a:bodyPr>
          <a:lstStyle/>
          <a:p>
            <a:pPr algn="ctr"/>
            <a:r>
              <a:rPr lang="en-US" altLang="en-US" dirty="0">
                <a:solidFill>
                  <a:schemeClr val="accent2"/>
                </a:solidFill>
              </a:rPr>
              <a:t>Process</a:t>
            </a:r>
            <a:br>
              <a:rPr lang="en-US" altLang="en-US" dirty="0">
                <a:solidFill>
                  <a:schemeClr val="accent2"/>
                </a:solidFill>
              </a:rPr>
            </a:br>
            <a:r>
              <a:rPr lang="en-US" altLang="en-US" dirty="0">
                <a:solidFill>
                  <a:schemeClr val="accent2"/>
                </a:solidFill>
              </a:rPr>
              <a:t>Management(Cont..)</a:t>
            </a:r>
            <a:br>
              <a:rPr lang="en-US" altLang="en-US" dirty="0">
                <a:solidFill>
                  <a:schemeClr val="accent2"/>
                </a:solidFill>
              </a:rPr>
            </a:br>
            <a:br>
              <a:rPr lang="en-US" altLang="en-US" dirty="0"/>
            </a:br>
            <a:r>
              <a:rPr lang="en-US" altLang="en-US" dirty="0"/>
              <a:t>Lesson 3</a:t>
            </a:r>
            <a:endParaRPr lang="en-US" altLang="en-U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475332"/>
            <a:ext cx="10591800" cy="646332"/>
          </a:xfrm>
        </p:spPr>
        <p:txBody>
          <a:bodyPr/>
          <a:lstStyle/>
          <a:p>
            <a:r>
              <a:rPr lang="en-GB" dirty="0"/>
              <a:t>Operations on Processes</a:t>
            </a:r>
            <a:endParaRPr lang="en-US" dirty="0"/>
          </a:p>
        </p:txBody>
      </p:sp>
      <p:sp>
        <p:nvSpPr>
          <p:cNvPr id="11" name="Text Placeholder 10"/>
          <p:cNvSpPr>
            <a:spLocks noGrp="1"/>
          </p:cNvSpPr>
          <p:nvPr>
            <p:ph type="body" sz="quarter" idx="11"/>
          </p:nvPr>
        </p:nvSpPr>
        <p:spPr>
          <a:xfrm>
            <a:off x="762000" y="1432562"/>
            <a:ext cx="10667999" cy="3899726"/>
          </a:xfrm>
        </p:spPr>
        <p:txBody>
          <a:bodyPr/>
          <a:lstStyle/>
          <a:p>
            <a:pPr>
              <a:lnSpc>
                <a:spcPct val="150000"/>
              </a:lnSpc>
            </a:pPr>
            <a:r>
              <a:rPr lang="en-GB" sz="2000" dirty="0"/>
              <a:t>To manage multiple processes effectively, the OS provides mechanisms for </a:t>
            </a:r>
            <a:r>
              <a:rPr lang="en-GB" sz="2000" b="1" dirty="0"/>
              <a:t>process creation, termination, and hierarchy management</a:t>
            </a:r>
            <a:r>
              <a:rPr lang="en-GB" sz="2000" dirty="0"/>
              <a:t>.</a:t>
            </a:r>
            <a:endParaRPr lang="en-GB" sz="2000" dirty="0"/>
          </a:p>
          <a:p>
            <a:pPr>
              <a:lnSpc>
                <a:spcPct val="150000"/>
              </a:lnSpc>
            </a:pPr>
            <a:endParaRPr lang="en-GB" sz="2000" dirty="0"/>
          </a:p>
          <a:p>
            <a:r>
              <a:rPr lang="en-GB" sz="2000" b="1" dirty="0"/>
              <a:t>Process Creation</a:t>
            </a:r>
            <a:endParaRPr lang="en-GB" sz="2000" b="1" dirty="0"/>
          </a:p>
          <a:p>
            <a:r>
              <a:rPr lang="en-GB" sz="2000" dirty="0"/>
              <a:t>A process can create one or more new processes during execution. The </a:t>
            </a:r>
            <a:r>
              <a:rPr lang="en-GB" sz="2000" b="1" dirty="0"/>
              <a:t>creating process</a:t>
            </a:r>
            <a:r>
              <a:rPr lang="en-GB" sz="2000" dirty="0"/>
              <a:t> is called the </a:t>
            </a:r>
            <a:r>
              <a:rPr lang="en-GB" sz="2000" b="1" dirty="0"/>
              <a:t>parent</a:t>
            </a:r>
            <a:r>
              <a:rPr lang="en-GB" sz="2000" dirty="0"/>
              <a:t>, and the new processes are called its </a:t>
            </a:r>
            <a:r>
              <a:rPr lang="en-GB" sz="2000" b="1" dirty="0"/>
              <a:t>children</a:t>
            </a:r>
            <a:r>
              <a:rPr lang="en-GB" sz="2000" dirty="0"/>
              <a:t>. Together, they form a </a:t>
            </a:r>
            <a:r>
              <a:rPr lang="en-GB" sz="2000" b="1" dirty="0"/>
              <a:t>process tree</a:t>
            </a:r>
            <a:r>
              <a:rPr lang="en-GB" sz="2000" dirty="0"/>
              <a:t> , that’s  a hierarchical structure that represents all active processes in the system.</a:t>
            </a:r>
            <a:endParaRPr lang="en-GB" sz="2000" dirty="0"/>
          </a:p>
          <a:p>
            <a:pPr>
              <a:lnSpc>
                <a:spcPct val="150000"/>
              </a:lnSpc>
            </a:pPr>
            <a:endParaRPr lang="en-US" altLang="en-U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475332"/>
            <a:ext cx="10591800" cy="646332"/>
          </a:xfrm>
        </p:spPr>
        <p:txBody>
          <a:bodyPr/>
          <a:lstStyle/>
          <a:p>
            <a:r>
              <a:rPr lang="en-GB" dirty="0"/>
              <a:t>Process Identifiers (PIDs)</a:t>
            </a:r>
            <a:endParaRPr lang="en-US" dirty="0"/>
          </a:p>
        </p:txBody>
      </p:sp>
      <p:sp>
        <p:nvSpPr>
          <p:cNvPr id="11" name="Text Placeholder 10"/>
          <p:cNvSpPr>
            <a:spLocks noGrp="1"/>
          </p:cNvSpPr>
          <p:nvPr>
            <p:ph type="body" sz="quarter" idx="11"/>
          </p:nvPr>
        </p:nvSpPr>
        <p:spPr>
          <a:xfrm>
            <a:off x="762000" y="1432562"/>
            <a:ext cx="10667999" cy="3899726"/>
          </a:xfrm>
        </p:spPr>
        <p:txBody>
          <a:bodyPr/>
          <a:lstStyle/>
          <a:p>
            <a:pPr>
              <a:buNone/>
            </a:pPr>
            <a:r>
              <a:rPr lang="en-GB" sz="2000" dirty="0"/>
              <a:t>Every process in an operating system is uniquely identified by a </a:t>
            </a:r>
            <a:r>
              <a:rPr lang="en-GB" sz="2000" b="1" dirty="0"/>
              <a:t>Process ID (PID)</a:t>
            </a:r>
            <a:r>
              <a:rPr lang="en-GB" sz="2000" dirty="0"/>
              <a:t> — an integer value assigned by the kernel when the process is created.</a:t>
            </a:r>
            <a:br>
              <a:rPr lang="en-GB" sz="2000" dirty="0"/>
            </a:br>
            <a:r>
              <a:rPr lang="en-GB" sz="2000" dirty="0"/>
              <a:t>The PID allows the OS to:</a:t>
            </a:r>
            <a:endParaRPr lang="en-GB" sz="2000" dirty="0"/>
          </a:p>
          <a:p>
            <a:pPr>
              <a:buFont typeface="Arial" panose="020B0604020202020204" pitchFamily="34" charset="0"/>
              <a:buChar char="•"/>
            </a:pPr>
            <a:r>
              <a:rPr lang="en-GB" sz="2000" dirty="0"/>
              <a:t>Track resource usage (CPU time, memory, I/O).</a:t>
            </a:r>
            <a:endParaRPr lang="en-GB" sz="2000" dirty="0"/>
          </a:p>
          <a:p>
            <a:pPr>
              <a:buFont typeface="Arial" panose="020B0604020202020204" pitchFamily="34" charset="0"/>
              <a:buChar char="•"/>
            </a:pPr>
            <a:r>
              <a:rPr lang="en-GB" sz="2000" dirty="0"/>
              <a:t>Identify relationships between processes (parent-child).</a:t>
            </a:r>
            <a:endParaRPr lang="en-GB" sz="2000" dirty="0"/>
          </a:p>
          <a:p>
            <a:pPr>
              <a:buFont typeface="Arial" panose="020B0604020202020204" pitchFamily="34" charset="0"/>
              <a:buChar char="•"/>
            </a:pPr>
            <a:r>
              <a:rPr lang="en-GB" sz="2000" dirty="0"/>
              <a:t>Terminate or signal a process when needed.</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00099" y="321327"/>
            <a:ext cx="10591800" cy="646332"/>
          </a:xfrm>
        </p:spPr>
        <p:txBody>
          <a:bodyPr/>
          <a:lstStyle/>
          <a:p>
            <a:r>
              <a:rPr lang="en-GB" sz="3600" dirty="0"/>
              <a:t>Execution Scenarios After Process Creation</a:t>
            </a:r>
            <a:endParaRPr lang="en-GB" sz="3600" dirty="0"/>
          </a:p>
        </p:txBody>
      </p:sp>
      <p:sp>
        <p:nvSpPr>
          <p:cNvPr id="11" name="Text Placeholder 10"/>
          <p:cNvSpPr>
            <a:spLocks noGrp="1"/>
          </p:cNvSpPr>
          <p:nvPr>
            <p:ph type="body" sz="quarter" idx="11"/>
          </p:nvPr>
        </p:nvSpPr>
        <p:spPr>
          <a:xfrm>
            <a:off x="762000" y="1432562"/>
            <a:ext cx="10667999" cy="3899726"/>
          </a:xfrm>
        </p:spPr>
        <p:txBody>
          <a:bodyPr/>
          <a:lstStyle/>
          <a:p>
            <a:r>
              <a:rPr lang="en-GB" sz="2000" dirty="0"/>
              <a:t>After creating a child, two things may happen regarding </a:t>
            </a:r>
            <a:r>
              <a:rPr lang="en-GB" sz="2000" b="1" dirty="0"/>
              <a:t>execution</a:t>
            </a:r>
            <a:r>
              <a:rPr lang="en-GB" sz="2000" dirty="0"/>
              <a:t>:</a:t>
            </a:r>
            <a:endParaRPr lang="en-GB" sz="2000" dirty="0"/>
          </a:p>
          <a:p>
            <a:pPr marL="342900" indent="-342900">
              <a:buFont typeface="Arial" panose="020B0604020202020204" pitchFamily="34" charset="0"/>
              <a:buChar char="•"/>
            </a:pPr>
            <a:r>
              <a:rPr lang="en-GB" sz="2000" b="1" dirty="0"/>
              <a:t>Parent and Child run concurrently</a:t>
            </a:r>
            <a:br>
              <a:rPr lang="en-GB" sz="2000" dirty="0"/>
            </a:br>
            <a:r>
              <a:rPr lang="en-GB" sz="2000" dirty="0"/>
              <a:t> Both processes execute independently.</a:t>
            </a:r>
            <a:br>
              <a:rPr lang="en-GB" sz="2000" dirty="0"/>
            </a:br>
            <a:r>
              <a:rPr lang="en-GB" sz="2000" dirty="0"/>
              <a:t>Example: a web server (parent) spawns threads (children) to handle multiple clients simultaneously.</a:t>
            </a:r>
            <a:endParaRPr lang="en-GB" sz="2000" dirty="0"/>
          </a:p>
          <a:p>
            <a:pPr marL="342900" indent="-342900">
              <a:buFont typeface="Arial" panose="020B0604020202020204" pitchFamily="34" charset="0"/>
              <a:buChar char="•"/>
            </a:pPr>
            <a:r>
              <a:rPr lang="en-GB" sz="2000" b="1" dirty="0"/>
              <a:t>Parent waits for child to complete</a:t>
            </a:r>
            <a:br>
              <a:rPr lang="en-GB" sz="2000" dirty="0"/>
            </a:br>
            <a:r>
              <a:rPr lang="en-GB" sz="2000" dirty="0"/>
              <a:t>The parent process pauses until the child finishes execution (using </a:t>
            </a:r>
            <a:r>
              <a:rPr lang="en-GB" dirty="0"/>
              <a:t>wait()</a:t>
            </a:r>
            <a:r>
              <a:rPr lang="en-GB" sz="2000" dirty="0"/>
              <a:t>).</a:t>
            </a:r>
            <a:endParaRPr lang="en-GB" sz="2000" dirty="0"/>
          </a:p>
          <a:p>
            <a:endParaRPr lang="en-GB" sz="2000" dirty="0"/>
          </a:p>
          <a:p>
            <a:r>
              <a:rPr lang="en-GB" sz="2000" dirty="0"/>
              <a:t>There are also </a:t>
            </a:r>
            <a:r>
              <a:rPr lang="en-GB" sz="2000" b="1" dirty="0"/>
              <a:t>two memory-space possibilities</a:t>
            </a:r>
            <a:r>
              <a:rPr lang="en-GB" sz="2000" dirty="0"/>
              <a:t> for the new process:</a:t>
            </a:r>
            <a:endParaRPr lang="en-GB" sz="2000" dirty="0"/>
          </a:p>
          <a:p>
            <a:r>
              <a:rPr lang="en-GB" sz="2000" b="1" dirty="0"/>
              <a:t>Duplicate of the parent process</a:t>
            </a:r>
            <a:r>
              <a:rPr lang="en-GB" sz="2000" dirty="0"/>
              <a:t> → child runs the same program as the parent.</a:t>
            </a:r>
            <a:endParaRPr lang="en-GB" sz="2000" dirty="0"/>
          </a:p>
          <a:p>
            <a:r>
              <a:rPr lang="en-GB" sz="2000" b="1" dirty="0"/>
              <a:t>Loads a new program</a:t>
            </a:r>
            <a:r>
              <a:rPr lang="en-GB" sz="2000" dirty="0"/>
              <a:t> → child replaces its memory with a new executable.</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147010" y="302077"/>
            <a:ext cx="10591800" cy="646332"/>
          </a:xfrm>
        </p:spPr>
        <p:txBody>
          <a:bodyPr/>
          <a:lstStyle/>
          <a:p>
            <a:r>
              <a:rPr lang="en-GB" sz="3600" dirty="0"/>
              <a:t>Process Termination</a:t>
            </a:r>
            <a:endParaRPr lang="en-US" sz="3600" dirty="0"/>
          </a:p>
        </p:txBody>
      </p:sp>
      <p:sp>
        <p:nvSpPr>
          <p:cNvPr id="11" name="Text Placeholder 10"/>
          <p:cNvSpPr>
            <a:spLocks noGrp="1"/>
          </p:cNvSpPr>
          <p:nvPr>
            <p:ph type="body" sz="quarter" idx="11"/>
          </p:nvPr>
        </p:nvSpPr>
        <p:spPr>
          <a:xfrm>
            <a:off x="762000" y="1432562"/>
            <a:ext cx="10667999" cy="3899726"/>
          </a:xfrm>
        </p:spPr>
        <p:txBody>
          <a:bodyPr/>
          <a:lstStyle/>
          <a:p>
            <a:pPr>
              <a:buNone/>
            </a:pPr>
            <a:r>
              <a:rPr lang="en-GB" sz="2000" dirty="0"/>
              <a:t>Every process that begins execution must eventually come to an end. The ending of a process called </a:t>
            </a:r>
            <a:r>
              <a:rPr lang="en-GB" sz="2000" b="1" dirty="0"/>
              <a:t>process termination, </a:t>
            </a:r>
            <a:r>
              <a:rPr lang="en-GB" sz="2000" dirty="0"/>
              <a:t>which</a:t>
            </a:r>
            <a:r>
              <a:rPr lang="en-GB" sz="2000" b="1" dirty="0"/>
              <a:t> </a:t>
            </a:r>
            <a:r>
              <a:rPr lang="en-GB" sz="2000" dirty="0"/>
              <a:t>marks the final stage of its lifecycle. </a:t>
            </a:r>
            <a:endParaRPr lang="en-GB" sz="2000" dirty="0"/>
          </a:p>
          <a:p>
            <a:pPr>
              <a:buNone/>
            </a:pPr>
            <a:r>
              <a:rPr lang="en-GB" sz="2000" dirty="0"/>
              <a:t>Once terminated, the process no longer exists in the system, and all resources it was using are freed for reuse.</a:t>
            </a:r>
            <a:endParaRPr lang="en-GB" sz="2000" dirty="0"/>
          </a:p>
          <a:p>
            <a:pPr>
              <a:buNone/>
            </a:pPr>
            <a:endParaRPr lang="en-GB" sz="2000" dirty="0"/>
          </a:p>
          <a:p>
            <a:r>
              <a:rPr lang="en-GB" sz="2000" dirty="0"/>
              <a:t>A process </a:t>
            </a:r>
            <a:r>
              <a:rPr lang="en-GB" sz="2000" b="1" dirty="0"/>
              <a:t>normally terminates</a:t>
            </a:r>
            <a:r>
              <a:rPr lang="en-GB" sz="2000" dirty="0"/>
              <a:t> when it has completed its assigned task successfully.</a:t>
            </a:r>
            <a:br>
              <a:rPr lang="en-GB" sz="2000" dirty="0"/>
            </a:br>
            <a:r>
              <a:rPr lang="en-GB" sz="2000" dirty="0"/>
              <a:t>For example, if a program was designed to calculate the average of a list of numbers, it will terminate after displaying the result.</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Process Termination</a:t>
            </a:r>
            <a:endParaRPr lang="en-US" sz="3600" dirty="0"/>
          </a:p>
        </p:txBody>
      </p:sp>
      <p:sp>
        <p:nvSpPr>
          <p:cNvPr id="11" name="Text Placeholder 10"/>
          <p:cNvSpPr>
            <a:spLocks noGrp="1"/>
          </p:cNvSpPr>
          <p:nvPr>
            <p:ph type="body" sz="quarter" idx="11"/>
          </p:nvPr>
        </p:nvSpPr>
        <p:spPr>
          <a:xfrm>
            <a:off x="762000" y="1432562"/>
            <a:ext cx="10667999" cy="3899726"/>
          </a:xfrm>
        </p:spPr>
        <p:txBody>
          <a:bodyPr/>
          <a:lstStyle/>
          <a:p>
            <a:r>
              <a:rPr lang="en-GB" sz="2000" dirty="0"/>
              <a:t>In most operating systems (like UNIX, Linux, or Windows), the process ends by calling the </a:t>
            </a:r>
            <a:r>
              <a:rPr lang="en-GB" b="1" dirty="0"/>
              <a:t>exit()</a:t>
            </a:r>
            <a:r>
              <a:rPr lang="en-GB" sz="2000" dirty="0"/>
              <a:t> system call.</a:t>
            </a:r>
            <a:endParaRPr lang="en-GB" sz="2000" dirty="0"/>
          </a:p>
          <a:p>
            <a:endParaRPr lang="en-GB" sz="2000" dirty="0"/>
          </a:p>
          <a:p>
            <a:r>
              <a:rPr lang="en-GB" sz="2000" dirty="0"/>
              <a:t>This call serves several important purposes:</a:t>
            </a:r>
            <a:endParaRPr lang="en-GB" sz="2000" dirty="0"/>
          </a:p>
          <a:p>
            <a:pPr marL="342900" indent="-342900">
              <a:buFont typeface="Arial" panose="020B0604020202020204" pitchFamily="34" charset="0"/>
              <a:buChar char="•"/>
            </a:pPr>
            <a:r>
              <a:rPr lang="en-GB" sz="2000" dirty="0"/>
              <a:t>It </a:t>
            </a:r>
            <a:r>
              <a:rPr lang="en-GB" sz="2000" b="1" dirty="0"/>
              <a:t>signals the operating system</a:t>
            </a:r>
            <a:r>
              <a:rPr lang="en-GB" sz="2000" dirty="0"/>
              <a:t> that the process has finished execution.</a:t>
            </a:r>
            <a:endParaRPr lang="en-GB" sz="2000" dirty="0"/>
          </a:p>
          <a:p>
            <a:pPr marL="342900" indent="-342900">
              <a:buFont typeface="Arial" panose="020B0604020202020204" pitchFamily="34" charset="0"/>
              <a:buChar char="•"/>
            </a:pPr>
            <a:r>
              <a:rPr lang="en-GB" sz="2000" dirty="0"/>
              <a:t>It allows the process to </a:t>
            </a:r>
            <a:r>
              <a:rPr lang="en-GB" sz="2000" b="1" dirty="0"/>
              <a:t>return a status code</a:t>
            </a:r>
            <a:r>
              <a:rPr lang="en-GB" sz="2000" dirty="0"/>
              <a:t> (usually an integer) to its </a:t>
            </a:r>
            <a:r>
              <a:rPr lang="en-GB" sz="2000" b="1" dirty="0"/>
              <a:t>parent process</a:t>
            </a:r>
            <a:r>
              <a:rPr lang="en-GB" sz="2000" dirty="0"/>
              <a:t>, indicating whether it ended successfully or encountered an error.</a:t>
            </a:r>
            <a:endParaRPr lang="en-GB" sz="2000" dirty="0"/>
          </a:p>
          <a:p>
            <a:pPr marL="342900" indent="-342900">
              <a:buFont typeface="Arial" panose="020B0604020202020204" pitchFamily="34" charset="0"/>
              <a:buChar char="•"/>
            </a:pPr>
            <a:r>
              <a:rPr lang="en-GB" sz="2000" dirty="0"/>
              <a:t>It triggers the </a:t>
            </a:r>
            <a:r>
              <a:rPr lang="en-GB" sz="2000" b="1" dirty="0"/>
              <a:t>cleanup of all resources</a:t>
            </a:r>
            <a:r>
              <a:rPr lang="en-GB" sz="2000" dirty="0"/>
              <a:t> the process was using—memory, open files, buffers, etc.</a:t>
            </a: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Process Termination</a:t>
            </a:r>
            <a:endParaRPr lang="en-US" sz="3600" dirty="0"/>
          </a:p>
        </p:txBody>
      </p:sp>
      <p:sp>
        <p:nvSpPr>
          <p:cNvPr id="11" name="Text Placeholder 10"/>
          <p:cNvSpPr>
            <a:spLocks noGrp="1"/>
          </p:cNvSpPr>
          <p:nvPr>
            <p:ph type="body" sz="quarter" idx="11"/>
          </p:nvPr>
        </p:nvSpPr>
        <p:spPr>
          <a:xfrm>
            <a:off x="762000" y="1432562"/>
            <a:ext cx="10667999" cy="3899726"/>
          </a:xfrm>
        </p:spPr>
        <p:txBody>
          <a:bodyPr/>
          <a:lstStyle/>
          <a:p>
            <a:r>
              <a:rPr lang="en-GB" sz="2000" dirty="0"/>
              <a:t>Sometimes, a process must end </a:t>
            </a:r>
            <a:r>
              <a:rPr lang="en-GB" sz="2000" b="1" dirty="0"/>
              <a:t>abruptly</a:t>
            </a:r>
            <a:r>
              <a:rPr lang="en-GB" sz="2000" dirty="0"/>
              <a:t> before finishing. This may occur when:</a:t>
            </a:r>
            <a:endParaRPr lang="en-GB" sz="2000" dirty="0"/>
          </a:p>
          <a:p>
            <a:pPr marL="342900" indent="-342900">
              <a:buFont typeface="Arial" panose="020B0604020202020204" pitchFamily="34" charset="0"/>
              <a:buChar char="•"/>
            </a:pPr>
            <a:r>
              <a:rPr lang="en-GB" sz="2000" dirty="0"/>
              <a:t>It encounters a runtime error (e.g., division by zero, invalid memory access).</a:t>
            </a:r>
            <a:endParaRPr lang="en-GB" sz="2000" dirty="0"/>
          </a:p>
          <a:p>
            <a:pPr marL="342900" indent="-342900">
              <a:buFont typeface="Arial" panose="020B0604020202020204" pitchFamily="34" charset="0"/>
              <a:buChar char="•"/>
            </a:pPr>
            <a:r>
              <a:rPr lang="en-GB" sz="2000" dirty="0"/>
              <a:t>It is </a:t>
            </a:r>
            <a:r>
              <a:rPr lang="en-GB" sz="2000" b="1" dirty="0"/>
              <a:t>killed</a:t>
            </a:r>
            <a:r>
              <a:rPr lang="en-GB" sz="2000" dirty="0"/>
              <a:t> by another process (usually its parent) using a system call like </a:t>
            </a:r>
            <a:r>
              <a:rPr lang="en-GB" dirty="0" err="1"/>
              <a:t>TerminateProcess</a:t>
            </a:r>
            <a:r>
              <a:rPr lang="en-GB" dirty="0"/>
              <a:t>()</a:t>
            </a:r>
            <a:r>
              <a:rPr lang="en-GB" sz="2000" dirty="0"/>
              <a:t> in Windows or </a:t>
            </a:r>
            <a:r>
              <a:rPr lang="en-GB" dirty="0"/>
              <a:t>kill()</a:t>
            </a:r>
            <a:r>
              <a:rPr lang="en-GB" sz="2000" dirty="0"/>
              <a:t> in Linux.</a:t>
            </a:r>
            <a:endParaRPr lang="en-GB" sz="2000" dirty="0"/>
          </a:p>
          <a:p>
            <a:pPr marL="342900" indent="-342900">
              <a:buFont typeface="Arial" panose="020B0604020202020204" pitchFamily="34" charset="0"/>
              <a:buChar char="•"/>
            </a:pPr>
            <a:r>
              <a:rPr lang="en-GB" sz="2000" dirty="0"/>
              <a:t>It exceeds resource limits (for example, uses too much memory or CPU time).</a:t>
            </a:r>
            <a:endParaRPr lang="en-GB" sz="2000" dirty="0"/>
          </a:p>
          <a:p>
            <a:pPr marL="342900" indent="-342900">
              <a:buFont typeface="Arial" panose="020B0604020202020204" pitchFamily="34" charset="0"/>
              <a:buChar char="•"/>
            </a:pPr>
            <a:r>
              <a:rPr lang="en-GB" sz="2000" dirty="0"/>
              <a:t>It loses its parent process or violates system security policies.</a:t>
            </a:r>
            <a:endParaRPr lang="en-GB" sz="2000" dirty="0"/>
          </a:p>
          <a:p>
            <a:endParaRPr lang="en-GB" sz="2000" dirty="0"/>
          </a:p>
          <a:p>
            <a:r>
              <a:rPr lang="en-GB" sz="2000" dirty="0"/>
              <a:t>In these cases, the termination is called </a:t>
            </a:r>
            <a:r>
              <a:rPr lang="en-GB" sz="2000" b="1" dirty="0"/>
              <a:t>abnormal termination</a:t>
            </a:r>
            <a:r>
              <a:rPr lang="en-GB" sz="2000" dirty="0"/>
              <a:t> or </a:t>
            </a:r>
            <a:r>
              <a:rPr lang="en-GB" sz="2000" b="1" dirty="0"/>
              <a:t>forced termination</a:t>
            </a:r>
            <a:r>
              <a:rPr lang="en-GB" sz="2000" dirty="0"/>
              <a:t>.</a:t>
            </a:r>
            <a:br>
              <a:rPr lang="en-GB" sz="2000" dirty="0"/>
            </a:br>
            <a:r>
              <a:rPr lang="en-GB" sz="2000" dirty="0"/>
              <a:t>Operating systems enforce strict controls. Typically, only a </a:t>
            </a:r>
            <a:r>
              <a:rPr lang="en-GB" sz="2000" b="1" dirty="0"/>
              <a:t>parent process</a:t>
            </a:r>
            <a:r>
              <a:rPr lang="en-GB" sz="2000" dirty="0"/>
              <a:t> can terminate its child directly, preventing unauthorized interference between unrelated programs.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Parent–Child Relationship and Termination</a:t>
            </a:r>
            <a:endParaRPr lang="en-GB" sz="3600" dirty="0"/>
          </a:p>
        </p:txBody>
      </p:sp>
      <p:sp>
        <p:nvSpPr>
          <p:cNvPr id="11" name="Text Placeholder 10"/>
          <p:cNvSpPr>
            <a:spLocks noGrp="1"/>
          </p:cNvSpPr>
          <p:nvPr>
            <p:ph type="body" sz="quarter" idx="11"/>
          </p:nvPr>
        </p:nvSpPr>
        <p:spPr>
          <a:xfrm>
            <a:off x="762000" y="1432562"/>
            <a:ext cx="10667999" cy="3899726"/>
          </a:xfrm>
        </p:spPr>
        <p:txBody>
          <a:bodyPr/>
          <a:lstStyle/>
          <a:p>
            <a:r>
              <a:rPr lang="en-GB" sz="2000" dirty="0"/>
              <a:t>In a multitasking OS, processes are often related hierarchically—parents create children. The </a:t>
            </a:r>
            <a:r>
              <a:rPr lang="en-GB" sz="2000" b="1" dirty="0"/>
              <a:t>parent process</a:t>
            </a:r>
            <a:r>
              <a:rPr lang="en-GB" sz="2000" dirty="0"/>
              <a:t> must manage its children responsibly.</a:t>
            </a:r>
            <a:endParaRPr lang="en-GB" sz="2000" dirty="0"/>
          </a:p>
          <a:p>
            <a:r>
              <a:rPr lang="en-GB" sz="2000" dirty="0"/>
              <a:t>A parent may terminate a child if:</a:t>
            </a:r>
            <a:endParaRPr lang="en-GB" sz="2000" dirty="0"/>
          </a:p>
          <a:p>
            <a:pPr marL="342900" indent="-342900">
              <a:buFont typeface="Arial" panose="020B0604020202020204" pitchFamily="34" charset="0"/>
              <a:buChar char="•"/>
            </a:pPr>
            <a:r>
              <a:rPr lang="en-GB" sz="2000" dirty="0"/>
              <a:t>The child has exceeded its allocated resources.</a:t>
            </a:r>
            <a:endParaRPr lang="en-GB" sz="2000" dirty="0"/>
          </a:p>
          <a:p>
            <a:pPr marL="342900" indent="-342900">
              <a:buFont typeface="Arial" panose="020B0604020202020204" pitchFamily="34" charset="0"/>
              <a:buChar char="•"/>
            </a:pPr>
            <a:r>
              <a:rPr lang="en-GB" sz="2000" dirty="0"/>
              <a:t>The child’s task is no longer needed.</a:t>
            </a:r>
            <a:endParaRPr lang="en-GB" sz="2000" dirty="0"/>
          </a:p>
          <a:p>
            <a:pPr marL="342900" indent="-342900">
              <a:buFont typeface="Arial" panose="020B0604020202020204" pitchFamily="34" charset="0"/>
              <a:buChar char="•"/>
            </a:pPr>
            <a:r>
              <a:rPr lang="en-GB" sz="2000" dirty="0"/>
              <a:t>The parent itself is exiting, and the OS doesn’t allow orphans (unattended child processes) to remain.</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Cascading Termination</a:t>
            </a:r>
            <a:endParaRPr lang="en-GB" sz="3600" dirty="0"/>
          </a:p>
        </p:txBody>
      </p:sp>
      <p:sp>
        <p:nvSpPr>
          <p:cNvPr id="11" name="Text Placeholder 10"/>
          <p:cNvSpPr>
            <a:spLocks noGrp="1"/>
          </p:cNvSpPr>
          <p:nvPr>
            <p:ph type="body" sz="quarter" idx="11"/>
          </p:nvPr>
        </p:nvSpPr>
        <p:spPr>
          <a:xfrm>
            <a:off x="762000" y="1432562"/>
            <a:ext cx="10667999" cy="3899726"/>
          </a:xfrm>
        </p:spPr>
        <p:txBody>
          <a:bodyPr/>
          <a:lstStyle/>
          <a:p>
            <a:r>
              <a:rPr lang="en-GB" sz="2000" dirty="0"/>
              <a:t>In some systems, when a </a:t>
            </a:r>
            <a:r>
              <a:rPr lang="en-GB" sz="2000" b="1" dirty="0"/>
              <a:t>parent process terminates</a:t>
            </a:r>
            <a:r>
              <a:rPr lang="en-GB" sz="2000" dirty="0"/>
              <a:t>, all its children are automatically terminated as well.</a:t>
            </a:r>
            <a:br>
              <a:rPr lang="en-GB" sz="2000" dirty="0"/>
            </a:br>
            <a:r>
              <a:rPr lang="en-GB" sz="2000" dirty="0"/>
              <a:t>This is known as </a:t>
            </a:r>
            <a:r>
              <a:rPr lang="en-GB" sz="2000" b="1" dirty="0"/>
              <a:t>cascading termination</a:t>
            </a:r>
            <a:r>
              <a:rPr lang="en-GB" sz="2000" dirty="0"/>
              <a:t>. It prevents processes from continuing without supervision.</a:t>
            </a:r>
            <a:endParaRPr lang="en-GB" sz="2000" dirty="0"/>
          </a:p>
          <a:p>
            <a:endParaRPr lang="en-GB" sz="2000" b="1" dirty="0"/>
          </a:p>
          <a:p>
            <a:r>
              <a:rPr lang="en-GB" sz="2000" b="1" dirty="0"/>
              <a:t>Example:</a:t>
            </a:r>
            <a:br>
              <a:rPr lang="en-GB" sz="2000" dirty="0"/>
            </a:br>
            <a:r>
              <a:rPr lang="en-GB" sz="2000" dirty="0"/>
              <a:t>If a word processor closes, any child processes it started (like a spell-checker subprocess) should also stop.</a:t>
            </a:r>
            <a:endParaRPr lang="en-GB" sz="2000" dirty="0"/>
          </a:p>
          <a:p>
            <a:r>
              <a:rPr lang="en-GB" sz="2000" dirty="0"/>
              <a:t>The OS handles this cascade to maintain system stability and ensure that no stray processes continue consuming resources unnecessarily.</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Zombie and Orphan Processes</a:t>
            </a:r>
            <a:endParaRPr lang="en-GB" sz="3600" dirty="0"/>
          </a:p>
        </p:txBody>
      </p:sp>
      <p:sp>
        <p:nvSpPr>
          <p:cNvPr id="11" name="Text Placeholder 10"/>
          <p:cNvSpPr>
            <a:spLocks noGrp="1"/>
          </p:cNvSpPr>
          <p:nvPr>
            <p:ph type="body" sz="quarter" idx="11"/>
          </p:nvPr>
        </p:nvSpPr>
        <p:spPr>
          <a:xfrm>
            <a:off x="723900" y="1220806"/>
            <a:ext cx="10667999" cy="3899726"/>
          </a:xfrm>
        </p:spPr>
        <p:txBody>
          <a:bodyPr/>
          <a:lstStyle/>
          <a:p>
            <a:r>
              <a:rPr lang="en-GB" sz="2000" b="1" dirty="0"/>
              <a:t>Zombie Process</a:t>
            </a:r>
            <a:endParaRPr lang="en-GB" sz="2000" b="1" dirty="0"/>
          </a:p>
          <a:p>
            <a:r>
              <a:rPr lang="en-GB" sz="2000" dirty="0"/>
              <a:t>A </a:t>
            </a:r>
            <a:r>
              <a:rPr lang="en-GB" sz="2000" b="1" dirty="0"/>
              <a:t>zombie</a:t>
            </a:r>
            <a:r>
              <a:rPr lang="en-GB" sz="2000" dirty="0"/>
              <a:t> is a process that has finished executing but still remains in the process table because its parent hasn’t called </a:t>
            </a:r>
            <a:r>
              <a:rPr lang="en-GB" dirty="0"/>
              <a:t>wait()</a:t>
            </a:r>
            <a:r>
              <a:rPr lang="en-GB" sz="2000" dirty="0"/>
              <a:t> yet.</a:t>
            </a:r>
            <a:endParaRPr lang="en-GB" sz="2000" dirty="0"/>
          </a:p>
          <a:p>
            <a:r>
              <a:rPr lang="en-GB" sz="2000" dirty="0"/>
              <a:t>It contains minimal information—mostly its </a:t>
            </a:r>
            <a:r>
              <a:rPr lang="en-GB" sz="2000" b="1" dirty="0"/>
              <a:t>exit status</a:t>
            </a:r>
            <a:r>
              <a:rPr lang="en-GB" sz="2000" dirty="0"/>
              <a:t>—but occupies a slot in the process table.</a:t>
            </a:r>
            <a:br>
              <a:rPr lang="en-GB" sz="2000" dirty="0"/>
            </a:br>
            <a:r>
              <a:rPr lang="en-GB" sz="2000" dirty="0"/>
              <a:t>Once the parent calls </a:t>
            </a:r>
            <a:r>
              <a:rPr lang="en-GB" dirty="0"/>
              <a:t>wait()( a system call )</a:t>
            </a:r>
            <a:r>
              <a:rPr lang="en-GB" sz="2000" dirty="0"/>
              <a:t>, the OS removes the zombie’s entry completely.</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Zombie and Orphan Processes</a:t>
            </a:r>
            <a:endParaRPr lang="en-GB" sz="3600" dirty="0"/>
          </a:p>
        </p:txBody>
      </p:sp>
      <p:sp>
        <p:nvSpPr>
          <p:cNvPr id="11" name="Text Placeholder 10"/>
          <p:cNvSpPr>
            <a:spLocks noGrp="1"/>
          </p:cNvSpPr>
          <p:nvPr>
            <p:ph type="body" sz="quarter" idx="11"/>
          </p:nvPr>
        </p:nvSpPr>
        <p:spPr>
          <a:xfrm>
            <a:off x="723900" y="1220806"/>
            <a:ext cx="10667999" cy="3899726"/>
          </a:xfrm>
        </p:spPr>
        <p:txBody>
          <a:bodyPr/>
          <a:lstStyle/>
          <a:p>
            <a:r>
              <a:rPr lang="en-GB" sz="2000" b="1" dirty="0"/>
              <a:t>Orphan Process</a:t>
            </a:r>
            <a:endParaRPr lang="en-GB" sz="2000" b="1" dirty="0"/>
          </a:p>
          <a:p>
            <a:r>
              <a:rPr lang="en-GB" sz="2000" dirty="0"/>
              <a:t>An </a:t>
            </a:r>
            <a:r>
              <a:rPr lang="en-GB" sz="2000" b="1" dirty="0"/>
              <a:t>orphan process</a:t>
            </a:r>
            <a:r>
              <a:rPr lang="en-GB" sz="2000" dirty="0"/>
              <a:t> occurs when a parent terminates before the child does.</a:t>
            </a:r>
            <a:br>
              <a:rPr lang="en-GB" sz="2000" dirty="0"/>
            </a:br>
            <a:r>
              <a:rPr lang="en-GB" sz="2000" dirty="0"/>
              <a:t>Instead of being abandoned, the OS automatically reassigns such orphans to a </a:t>
            </a:r>
            <a:r>
              <a:rPr lang="en-GB" sz="2000" b="1" dirty="0"/>
              <a:t>special parent process</a:t>
            </a:r>
            <a:r>
              <a:rPr lang="en-GB" sz="2000" dirty="0"/>
              <a:t>—traditionally </a:t>
            </a:r>
            <a:r>
              <a:rPr lang="en-GB" sz="2000" dirty="0" err="1"/>
              <a:t>init</a:t>
            </a:r>
            <a:r>
              <a:rPr lang="en-GB" sz="2000" dirty="0"/>
              <a:t>, or in modern Linux systems, </a:t>
            </a:r>
            <a:r>
              <a:rPr lang="en-GB" sz="2000" b="1" dirty="0" err="1"/>
              <a:t>systemd</a:t>
            </a:r>
            <a:r>
              <a:rPr lang="en-GB" sz="2000" dirty="0"/>
              <a:t>.</a:t>
            </a:r>
            <a:endParaRPr lang="en-GB" sz="2000" dirty="0"/>
          </a:p>
          <a:p>
            <a:r>
              <a:rPr lang="en-GB" sz="2000" dirty="0"/>
              <a:t>This ensures they can still be properly cleaned up when they finish.</a:t>
            </a:r>
            <a:endParaRPr lang="en-GB" sz="2000" dirty="0"/>
          </a:p>
          <a:p>
            <a:r>
              <a:rPr lang="en-GB" sz="2000" dirty="0"/>
              <a:t> Example:</a:t>
            </a:r>
            <a:br>
              <a:rPr lang="en-GB" sz="2000" dirty="0"/>
            </a:br>
            <a:r>
              <a:rPr lang="en-GB" sz="2000" dirty="0"/>
              <a:t>If a parent script starts a background job and then exits, the job continues running under </a:t>
            </a:r>
            <a:r>
              <a:rPr lang="en-GB" sz="2000" dirty="0" err="1"/>
              <a:t>systemd</a:t>
            </a:r>
            <a:r>
              <a:rPr lang="en-GB" sz="2000" dirty="0"/>
              <a:t> as its new parent.</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err="1"/>
              <a:t>Interprocess</a:t>
            </a:r>
            <a:r>
              <a:rPr lang="en-GB" sz="3600" dirty="0"/>
              <a:t> Communication (IPC)</a:t>
            </a:r>
            <a:endParaRPr lang="en-GB" sz="3600" dirty="0"/>
          </a:p>
        </p:txBody>
      </p:sp>
      <p:sp>
        <p:nvSpPr>
          <p:cNvPr id="11" name="Text Placeholder 10"/>
          <p:cNvSpPr>
            <a:spLocks noGrp="1"/>
          </p:cNvSpPr>
          <p:nvPr>
            <p:ph type="body" sz="quarter" idx="11"/>
          </p:nvPr>
        </p:nvSpPr>
        <p:spPr>
          <a:xfrm>
            <a:off x="723900" y="1220806"/>
            <a:ext cx="10667999" cy="3899726"/>
          </a:xfrm>
        </p:spPr>
        <p:txBody>
          <a:bodyPr/>
          <a:lstStyle/>
          <a:p>
            <a:r>
              <a:rPr lang="en-GB" sz="2000" dirty="0"/>
              <a:t>Processes executing concurrently in the operating system may be either </a:t>
            </a:r>
            <a:r>
              <a:rPr lang="en-GB" sz="2000" b="1" i="1" dirty="0"/>
              <a:t>independent</a:t>
            </a:r>
            <a:r>
              <a:rPr lang="en-GB" sz="2000" dirty="0"/>
              <a:t> </a:t>
            </a:r>
            <a:r>
              <a:rPr lang="en-GB" sz="2000" b="1" i="1" dirty="0"/>
              <a:t>processes</a:t>
            </a:r>
            <a:r>
              <a:rPr lang="en-GB" sz="2000" dirty="0"/>
              <a:t> or </a:t>
            </a:r>
            <a:r>
              <a:rPr lang="en-GB" sz="2000" b="1" i="1" dirty="0"/>
              <a:t>cooperating processes</a:t>
            </a:r>
            <a:r>
              <a:rPr lang="en-GB" sz="2000" dirty="0"/>
              <a:t>. </a:t>
            </a:r>
            <a:endParaRPr lang="en-GB" sz="2000" dirty="0"/>
          </a:p>
          <a:p>
            <a:r>
              <a:rPr lang="en-GB" sz="2000" dirty="0"/>
              <a:t>A process is independent if it does not share data with any other processes executing in the system. </a:t>
            </a:r>
            <a:endParaRPr lang="en-GB" sz="2000" dirty="0"/>
          </a:p>
          <a:p>
            <a:r>
              <a:rPr lang="en-GB" sz="2000" dirty="0"/>
              <a:t>A process is cooperating if it can affect or be affected by the other processes executing in the system. Clearly, any process that shares data with other processes is a cooperating process.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Why Allow Process Cooperation?</a:t>
            </a:r>
            <a:endParaRPr lang="en-GB" sz="3600" dirty="0"/>
          </a:p>
        </p:txBody>
      </p:sp>
      <p:sp>
        <p:nvSpPr>
          <p:cNvPr id="11" name="Text Placeholder 10"/>
          <p:cNvSpPr>
            <a:spLocks noGrp="1"/>
          </p:cNvSpPr>
          <p:nvPr>
            <p:ph type="body" sz="quarter" idx="11"/>
          </p:nvPr>
        </p:nvSpPr>
        <p:spPr>
          <a:xfrm>
            <a:off x="723900" y="1220806"/>
            <a:ext cx="10667999" cy="3899726"/>
          </a:xfrm>
        </p:spPr>
        <p:txBody>
          <a:bodyPr/>
          <a:lstStyle/>
          <a:p>
            <a:r>
              <a:rPr lang="en-GB" sz="2000" dirty="0"/>
              <a:t>Operating systems encourage process cooperation for several practical reasons:</a:t>
            </a:r>
            <a:endParaRPr lang="en-GB" sz="2000" dirty="0"/>
          </a:p>
          <a:p>
            <a:pPr marL="342900" indent="-342900">
              <a:buFont typeface="Arial" panose="020B0604020202020204" pitchFamily="34" charset="0"/>
              <a:buChar char="•"/>
            </a:pPr>
            <a:r>
              <a:rPr lang="en-GB" sz="2000" b="1" dirty="0"/>
              <a:t>Information sharing</a:t>
            </a:r>
            <a:r>
              <a:rPr lang="en-GB" sz="2000" dirty="0"/>
              <a:t>. Since several applications may be interested in the same piece of information, we must provide an environment to allow concurrent access to such information. </a:t>
            </a:r>
            <a:endParaRPr lang="en-GB" sz="2000" dirty="0"/>
          </a:p>
          <a:p>
            <a:r>
              <a:rPr lang="en-GB" sz="2000" dirty="0"/>
              <a:t>Example: When you copy text from Word and paste it into Chrome, both applications access a shared clipboard.</a:t>
            </a:r>
            <a:endParaRPr lang="en-GB" sz="2000" dirty="0"/>
          </a:p>
          <a:p>
            <a:r>
              <a:rPr lang="en-GB" sz="2000" dirty="0"/>
              <a:t>So, IPC enables processes to exchange information safely without corrupting each other’s data.</a:t>
            </a:r>
            <a:endParaRPr lang="en-GB" sz="2000" dirty="0"/>
          </a:p>
          <a:p>
            <a:pPr marL="342900" indent="-342900">
              <a:buFont typeface="Arial" panose="020B0604020202020204" pitchFamily="34" charset="0"/>
              <a:buChar char="•"/>
            </a:pP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Why Allow Process Cooperation?</a:t>
            </a:r>
            <a:endParaRPr lang="en-GB" sz="3600" dirty="0"/>
          </a:p>
        </p:txBody>
      </p:sp>
      <p:sp>
        <p:nvSpPr>
          <p:cNvPr id="11" name="Text Placeholder 10"/>
          <p:cNvSpPr>
            <a:spLocks noGrp="1"/>
          </p:cNvSpPr>
          <p:nvPr>
            <p:ph type="body" sz="quarter" idx="11"/>
          </p:nvPr>
        </p:nvSpPr>
        <p:spPr>
          <a:xfrm>
            <a:off x="723900" y="1220806"/>
            <a:ext cx="10667999" cy="4660230"/>
          </a:xfrm>
        </p:spPr>
        <p:txBody>
          <a:bodyPr/>
          <a:lstStyle/>
          <a:p>
            <a:pPr marL="342900" indent="-342900">
              <a:buFont typeface="Arial" panose="020B0604020202020204" pitchFamily="34" charset="0"/>
              <a:buChar char="•"/>
            </a:pPr>
            <a:r>
              <a:rPr lang="en-GB" sz="2000" dirty="0"/>
              <a:t> </a:t>
            </a:r>
            <a:r>
              <a:rPr lang="en-GB" sz="2000" b="1" dirty="0"/>
              <a:t>Computation speedup</a:t>
            </a:r>
            <a:r>
              <a:rPr lang="en-GB" sz="2000" dirty="0"/>
              <a:t>. If we want a particular task to run faster, we must break it into subtasks, each of which will be executing in parallel with the others. Notice that such a speedup can be achieved only if the computer has multiple processing cores. </a:t>
            </a:r>
            <a:endParaRPr lang="en-GB" sz="2000" dirty="0"/>
          </a:p>
          <a:p>
            <a:r>
              <a:rPr lang="en-GB" sz="2000" b="1" dirty="0"/>
              <a:t>Example:</a:t>
            </a:r>
            <a:br>
              <a:rPr lang="en-GB" sz="2000" dirty="0"/>
            </a:br>
            <a:r>
              <a:rPr lang="en-GB" sz="2000" dirty="0"/>
              <a:t>When rendering a 3D movie, one process could render lighting effects while another handles textures, speeding up the whole job.</a:t>
            </a:r>
            <a:endParaRPr lang="en-GB" sz="2000" dirty="0"/>
          </a:p>
          <a:p>
            <a:pPr marL="342900" indent="-342900">
              <a:buFont typeface="Arial" panose="020B0604020202020204" pitchFamily="34" charset="0"/>
              <a:buChar char="•"/>
            </a:pP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Why Allow Process Cooperation?</a:t>
            </a:r>
            <a:endParaRPr lang="en-GB" sz="3600" dirty="0"/>
          </a:p>
        </p:txBody>
      </p:sp>
      <p:sp>
        <p:nvSpPr>
          <p:cNvPr id="11" name="Text Placeholder 10"/>
          <p:cNvSpPr>
            <a:spLocks noGrp="1"/>
          </p:cNvSpPr>
          <p:nvPr>
            <p:ph type="body" sz="quarter" idx="11"/>
          </p:nvPr>
        </p:nvSpPr>
        <p:spPr>
          <a:xfrm>
            <a:off x="723900" y="1220806"/>
            <a:ext cx="10667999" cy="4660230"/>
          </a:xfrm>
        </p:spPr>
        <p:txBody>
          <a:bodyPr/>
          <a:lstStyle/>
          <a:p>
            <a:pPr marL="342900" marR="0" lvl="0" indent="-34290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0" lang="en-GB" sz="2000" b="1" i="0" u="none" strike="noStrike" kern="1200" cap="none" spc="0" normalizeH="0" baseline="0" noProof="0" dirty="0">
                <a:ln>
                  <a:noFill/>
                </a:ln>
                <a:solidFill>
                  <a:prstClr val="black"/>
                </a:solidFill>
                <a:effectLst/>
                <a:uLnTx/>
                <a:uFillTx/>
                <a:latin typeface="Segoe UI" panose="020B0502040204020203"/>
                <a:ea typeface="+mn-ea"/>
                <a:cs typeface="+mn-cs"/>
              </a:rPr>
              <a:t>Modularity. </a:t>
            </a: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We may want to construct the system in a modular fashion, dividing the system functions into separate processes or threads.</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R="0" lvl="0" algn="l" defTabSz="914400" rtl="0" eaLnBrk="1" fontAlgn="auto" latinLnBrk="0" hangingPunct="1">
              <a:lnSpc>
                <a:spcPct val="100000"/>
              </a:lnSpc>
              <a:spcBef>
                <a:spcPts val="1000"/>
              </a:spcBef>
              <a:spcAft>
                <a:spcPts val="0"/>
              </a:spcAft>
              <a:buClrTx/>
              <a:buSzTx/>
              <a:defRPr/>
            </a:pPr>
            <a:endParaRPr kumimoji="0" lang="en-GB" sz="2000" b="1" i="0" u="none" strike="noStrike" kern="1200" cap="none" spc="0" normalizeH="0" baseline="0" noProof="0" dirty="0">
              <a:ln>
                <a:noFill/>
              </a:ln>
              <a:solidFill>
                <a:prstClr val="black"/>
              </a:solidFill>
              <a:effectLst/>
              <a:uLnTx/>
              <a:uFillTx/>
              <a:latin typeface="Segoe UI" panose="020B0502040204020203"/>
              <a:ea typeface="+mn-ea"/>
              <a:cs typeface="+mn-cs"/>
            </a:endParaRPr>
          </a:p>
          <a:p>
            <a:pPr marR="0" lvl="0" algn="l" defTabSz="914400" rtl="0" eaLnBrk="1" fontAlgn="auto" latinLnBrk="0" hangingPunct="1">
              <a:lnSpc>
                <a:spcPct val="100000"/>
              </a:lnSpc>
              <a:spcBef>
                <a:spcPts val="1000"/>
              </a:spcBef>
              <a:spcAft>
                <a:spcPts val="0"/>
              </a:spcAft>
              <a:buClrTx/>
              <a:buSzTx/>
              <a:defRPr/>
            </a:pPr>
            <a:r>
              <a:rPr kumimoji="0" lang="en-GB" sz="2000" b="1" i="0" u="none" strike="noStrike" kern="1200" cap="none" spc="0" normalizeH="0" baseline="0" noProof="0" dirty="0">
                <a:ln>
                  <a:noFill/>
                </a:ln>
                <a:solidFill>
                  <a:prstClr val="black"/>
                </a:solidFill>
                <a:effectLst/>
                <a:uLnTx/>
                <a:uFillTx/>
                <a:latin typeface="Segoe UI" panose="020B0502040204020203"/>
                <a:ea typeface="+mn-ea"/>
                <a:cs typeface="+mn-cs"/>
              </a:rPr>
              <a:t>Example:</a:t>
            </a:r>
            <a:b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b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A word processor might have:</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342900" marR="0" lvl="0" indent="-34290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One process for user input</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342900" marR="0" lvl="0" indent="-34290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Another for spell checking</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342900" marR="0" lvl="0" indent="-34290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Another for autosaving your file</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defRPr/>
            </a:pPr>
            <a:r>
              <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rPr>
              <a:t>Each module (process) communicates with the others when needed through IPC.</a:t>
            </a: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0" marR="0" lvl="0" indent="0" algn="l" defTabSz="914400" rtl="0" eaLnBrk="1" fontAlgn="auto" latinLnBrk="0" hangingPunct="1">
              <a:lnSpc>
                <a:spcPct val="100000"/>
              </a:lnSpc>
              <a:spcBef>
                <a:spcPts val="1000"/>
              </a:spcBef>
              <a:spcAft>
                <a:spcPts val="0"/>
              </a:spcAft>
              <a:buClrTx/>
              <a:buSzTx/>
              <a:buFont typeface="Arial" panose="020B0604020202020204" pitchFamily="34" charset="0"/>
              <a:buNone/>
              <a:defRPr/>
            </a:pP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a:p>
            <a:pPr marL="342900" marR="0" lvl="0" indent="-34290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endParaRPr kumimoji="0" lang="en-GB" sz="2000" b="0" i="0" u="none" strike="noStrike" kern="1200" cap="none" spc="0" normalizeH="0" baseline="0" noProof="0" dirty="0">
              <a:ln>
                <a:noFill/>
              </a:ln>
              <a:solidFill>
                <a:prstClr val="black"/>
              </a:solidFill>
              <a:effectLst/>
              <a:uLnTx/>
              <a:uFillTx/>
              <a:latin typeface="Segoe UI" panose="020B0502040204020203"/>
              <a:ea typeface="+mn-ea"/>
              <a:cs typeface="+mn-cs"/>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What Is </a:t>
            </a:r>
            <a:r>
              <a:rPr lang="en-GB" sz="3600" dirty="0" err="1"/>
              <a:t>Interprocess</a:t>
            </a:r>
            <a:r>
              <a:rPr lang="en-GB" sz="3600" dirty="0"/>
              <a:t> Communication (IPC)?</a:t>
            </a:r>
            <a:endParaRPr lang="en-GB" sz="3600" dirty="0"/>
          </a:p>
        </p:txBody>
      </p:sp>
      <p:sp>
        <p:nvSpPr>
          <p:cNvPr id="11" name="Text Placeholder 10"/>
          <p:cNvSpPr>
            <a:spLocks noGrp="1"/>
          </p:cNvSpPr>
          <p:nvPr>
            <p:ph type="body" sz="quarter" idx="11"/>
          </p:nvPr>
        </p:nvSpPr>
        <p:spPr>
          <a:xfrm>
            <a:off x="723900" y="1220806"/>
            <a:ext cx="10667999" cy="4660230"/>
          </a:xfrm>
        </p:spPr>
        <p:txBody>
          <a:bodyPr/>
          <a:lstStyle/>
          <a:p>
            <a:r>
              <a:rPr lang="en-GB" sz="2000" b="1" dirty="0" err="1"/>
              <a:t>Interprocess</a:t>
            </a:r>
            <a:r>
              <a:rPr lang="en-GB" sz="2000" b="1" dirty="0"/>
              <a:t> Communication (IPC)</a:t>
            </a:r>
            <a:r>
              <a:rPr lang="en-GB" sz="2000" dirty="0"/>
              <a:t> is the mechanism that allows cooperating processes to exchange data or signals.</a:t>
            </a:r>
            <a:endParaRPr lang="en-GB" sz="2000" dirty="0"/>
          </a:p>
          <a:p>
            <a:r>
              <a:rPr lang="en-GB" sz="2000" dirty="0"/>
              <a:t>There are two fundamental models of </a:t>
            </a:r>
            <a:r>
              <a:rPr lang="en-GB" sz="2000" dirty="0" err="1"/>
              <a:t>interprocess</a:t>
            </a:r>
            <a:r>
              <a:rPr lang="en-GB" sz="2000" dirty="0"/>
              <a:t> communication: </a:t>
            </a:r>
            <a:r>
              <a:rPr lang="en-GB" sz="2000" b="1" dirty="0"/>
              <a:t>shared memory </a:t>
            </a:r>
            <a:r>
              <a:rPr lang="en-GB" sz="2000" dirty="0"/>
              <a:t>and </a:t>
            </a:r>
            <a:r>
              <a:rPr lang="en-GB" sz="2000" b="1" dirty="0"/>
              <a:t>message passing</a:t>
            </a:r>
            <a:r>
              <a:rPr lang="en-GB" sz="2000" dirty="0"/>
              <a:t>. </a:t>
            </a:r>
            <a:endParaRPr lang="en-GB" sz="2000" dirty="0"/>
          </a:p>
          <a:p>
            <a:endParaRPr lang="en-GB" sz="2000" dirty="0"/>
          </a:p>
          <a:p>
            <a:r>
              <a:rPr lang="en-GB" sz="2000" b="1" dirty="0"/>
              <a:t>In the shared-memory model</a:t>
            </a:r>
            <a:r>
              <a:rPr lang="en-GB" sz="2000" dirty="0"/>
              <a:t>, a region of memory that is shared by the cooperating processes is established. Processes can then exchange information by reading and writing data to the shared region. </a:t>
            </a:r>
            <a:endParaRPr lang="en-GB" sz="2000" dirty="0"/>
          </a:p>
          <a:p>
            <a:endParaRPr lang="en-GB" sz="2000" dirty="0"/>
          </a:p>
          <a:p>
            <a:r>
              <a:rPr lang="en-GB" sz="2000" b="1" dirty="0"/>
              <a:t>In the message-passing model</a:t>
            </a:r>
            <a:r>
              <a:rPr lang="en-GB" sz="2000" dirty="0"/>
              <a:t>, communication takes place by means of messages exchanged between the cooperating processes.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What Is </a:t>
            </a:r>
            <a:r>
              <a:rPr lang="en-GB" sz="3600" dirty="0" err="1"/>
              <a:t>Interprocess</a:t>
            </a:r>
            <a:r>
              <a:rPr lang="en-GB" sz="3600" dirty="0"/>
              <a:t> Communication (IPC)?</a:t>
            </a:r>
            <a:endParaRPr lang="en-GB" sz="3600" dirty="0"/>
          </a:p>
        </p:txBody>
      </p:sp>
      <p:pic>
        <p:nvPicPr>
          <p:cNvPr id="3" name="Picture 2"/>
          <p:cNvPicPr>
            <a:picLocks noChangeAspect="1"/>
          </p:cNvPicPr>
          <p:nvPr/>
        </p:nvPicPr>
        <p:blipFill>
          <a:blip r:embed="rId1"/>
          <a:stretch>
            <a:fillRect/>
          </a:stretch>
        </p:blipFill>
        <p:spPr>
          <a:xfrm>
            <a:off x="1819174" y="1279507"/>
            <a:ext cx="7161195" cy="4683302"/>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Quick Overview </a:t>
            </a:r>
            <a:endParaRPr lang="en-GB" sz="3600" dirty="0"/>
          </a:p>
        </p:txBody>
      </p:sp>
      <p:sp>
        <p:nvSpPr>
          <p:cNvPr id="11" name="Text Placeholder 10"/>
          <p:cNvSpPr>
            <a:spLocks noGrp="1"/>
          </p:cNvSpPr>
          <p:nvPr>
            <p:ph type="body" sz="quarter" idx="11"/>
          </p:nvPr>
        </p:nvSpPr>
        <p:spPr>
          <a:xfrm>
            <a:off x="723900" y="1220806"/>
            <a:ext cx="10667999" cy="4660230"/>
          </a:xfrm>
        </p:spPr>
        <p:txBody>
          <a:bodyPr/>
          <a:lstStyle/>
          <a:p>
            <a:pPr marL="342900" indent="-342900">
              <a:buFont typeface="Arial" panose="020B0604020202020204" pitchFamily="34" charset="0"/>
              <a:buChar char="•"/>
            </a:pPr>
            <a:r>
              <a:rPr lang="en-GB" sz="2000" dirty="0"/>
              <a:t>Message passing is useful for exchanging smaller amounts of data, because no conflicts need be avoided. </a:t>
            </a:r>
            <a:endParaRPr lang="en-GB" sz="2000" dirty="0"/>
          </a:p>
          <a:p>
            <a:pPr marL="342900" indent="-342900">
              <a:buFont typeface="Arial" panose="020B0604020202020204" pitchFamily="34" charset="0"/>
              <a:buChar char="•"/>
            </a:pPr>
            <a:r>
              <a:rPr lang="en-GB" sz="2000" dirty="0"/>
              <a:t>Message passing is also easier to implement in a distributed system than shared memory.</a:t>
            </a:r>
            <a:endParaRPr lang="en-GB" sz="2000" dirty="0"/>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r>
              <a:rPr lang="en-GB" sz="2000" dirty="0"/>
              <a:t>Shared memory can be faster than message passing, since message-passing systems are typically implemented using system calls and thus require the more time-consuming task of kernel intervention.</a:t>
            </a:r>
            <a:endParaRPr lang="en-GB" sz="2000" dirty="0"/>
          </a:p>
          <a:p>
            <a:pPr marL="342900" indent="-342900">
              <a:buFont typeface="Arial" panose="020B0604020202020204" pitchFamily="34" charset="0"/>
              <a:buChar char="•"/>
            </a:pPr>
            <a:r>
              <a:rPr lang="en-GB" sz="2000" dirty="0"/>
              <a:t>In shared-memory systems, system calls are required only to establish shared memory regions. Once shared memory is established, all accesses are treated as routine memory accesses, and no assistance from the kernel is required</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2000" y="340578"/>
            <a:ext cx="10591800" cy="646332"/>
          </a:xfrm>
        </p:spPr>
        <p:txBody>
          <a:bodyPr/>
          <a:lstStyle/>
          <a:p>
            <a:r>
              <a:rPr lang="en-GB" sz="3600" dirty="0"/>
              <a:t>IPC in Shared-Memory Systems</a:t>
            </a:r>
            <a:endParaRPr lang="en-GB" sz="3600" dirty="0"/>
          </a:p>
        </p:txBody>
      </p:sp>
      <p:sp>
        <p:nvSpPr>
          <p:cNvPr id="11" name="Text Placeholder 10"/>
          <p:cNvSpPr>
            <a:spLocks noGrp="1"/>
          </p:cNvSpPr>
          <p:nvPr>
            <p:ph type="body" sz="quarter" idx="11"/>
          </p:nvPr>
        </p:nvSpPr>
        <p:spPr>
          <a:xfrm>
            <a:off x="723900" y="1220806"/>
            <a:ext cx="10667999" cy="4660230"/>
          </a:xfrm>
        </p:spPr>
        <p:txBody>
          <a:bodyPr/>
          <a:lstStyle/>
          <a:p>
            <a:pPr marL="342900" indent="-342900">
              <a:buFont typeface="Arial" panose="020B0604020202020204" pitchFamily="34" charset="0"/>
              <a:buChar char="•"/>
            </a:pPr>
            <a:r>
              <a:rPr lang="en-GB" sz="2000" dirty="0" err="1"/>
              <a:t>Interprocess</a:t>
            </a:r>
            <a:r>
              <a:rPr lang="en-GB" sz="2000" dirty="0"/>
              <a:t> communication using shared memory requires communicating processes to establish a region of shared memory. </a:t>
            </a:r>
            <a:endParaRPr lang="en-GB" sz="2000" dirty="0"/>
          </a:p>
          <a:p>
            <a:pPr marL="342900" indent="-342900">
              <a:buFont typeface="Arial" panose="020B0604020202020204" pitchFamily="34" charset="0"/>
              <a:buChar char="•"/>
            </a:pPr>
            <a:r>
              <a:rPr lang="en-GB" sz="2000" dirty="0"/>
              <a:t>Typically, a shared-memory region resides in the address space of the process creating the shared-memory segment. Other processes that wish to communicate using this shared-memory segment must attach it to their address space. </a:t>
            </a:r>
            <a:endParaRPr lang="en-GB" sz="2000" dirty="0"/>
          </a:p>
          <a:p>
            <a:pPr marL="342900" indent="-342900">
              <a:buFont typeface="Arial" panose="020B0604020202020204" pitchFamily="34" charset="0"/>
              <a:buChar char="•"/>
            </a:pPr>
            <a:endParaRPr lang="en-GB" sz="2000" dirty="0"/>
          </a:p>
          <a:p>
            <a:pPr marL="342900" indent="-342900">
              <a:buFont typeface="Arial" panose="020B0604020202020204" pitchFamily="34" charset="0"/>
              <a:buChar char="•"/>
            </a:pP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IPC in Shared-Memory Systems</a:t>
            </a:r>
            <a:endParaRPr lang="en-GB" sz="3600" dirty="0"/>
          </a:p>
        </p:txBody>
      </p:sp>
      <p:sp>
        <p:nvSpPr>
          <p:cNvPr id="11" name="Text Placeholder 10"/>
          <p:cNvSpPr>
            <a:spLocks noGrp="1"/>
          </p:cNvSpPr>
          <p:nvPr>
            <p:ph type="body" sz="quarter" idx="11"/>
          </p:nvPr>
        </p:nvSpPr>
        <p:spPr>
          <a:xfrm>
            <a:off x="723900" y="986910"/>
            <a:ext cx="10667999" cy="4660230"/>
          </a:xfrm>
        </p:spPr>
        <p:txBody>
          <a:bodyPr/>
          <a:lstStyle/>
          <a:p>
            <a:r>
              <a:rPr lang="en-GB" sz="2000" dirty="0"/>
              <a:t>In most operating systems, each process operates in its own </a:t>
            </a:r>
            <a:r>
              <a:rPr lang="en-GB" sz="2000" b="1" dirty="0"/>
              <a:t>private memory space</a:t>
            </a:r>
            <a:r>
              <a:rPr lang="en-GB" sz="2000" dirty="0"/>
              <a:t>, isolated from others for protection and stability.</a:t>
            </a:r>
            <a:br>
              <a:rPr lang="en-GB" sz="2000" dirty="0"/>
            </a:br>
            <a:endParaRPr lang="en-GB" sz="2000" dirty="0"/>
          </a:p>
          <a:p>
            <a:r>
              <a:rPr lang="en-GB" sz="2000" dirty="0"/>
              <a:t>However, when two processes want to cooperate, this isolation becomes a barrier. Shared memory requires that two or more processes agree to remove this restriction. By doing these m the processes initiates </a:t>
            </a:r>
            <a:r>
              <a:rPr lang="en-GB" sz="2000" b="1" dirty="0"/>
              <a:t>creation a region of memory</a:t>
            </a:r>
            <a:r>
              <a:rPr lang="en-GB" sz="2000" dirty="0"/>
              <a:t> that both processes can access </a:t>
            </a:r>
            <a:r>
              <a:rPr lang="en-GB" sz="2000" b="1" dirty="0"/>
              <a:t>simultaneously</a:t>
            </a:r>
            <a:r>
              <a:rPr lang="en-GB" sz="2000" dirty="0"/>
              <a:t>.</a:t>
            </a:r>
            <a:endParaRPr lang="en-GB" sz="2000" dirty="0"/>
          </a:p>
          <a:p>
            <a:r>
              <a:rPr lang="en-GB" sz="2000" b="1" dirty="0"/>
              <a:t>How It Works:</a:t>
            </a:r>
            <a:endParaRPr lang="en-GB" sz="2000" b="1" dirty="0"/>
          </a:p>
          <a:p>
            <a:pPr marL="342900" indent="-342900">
              <a:buFont typeface="Arial" panose="020B0604020202020204" pitchFamily="34" charset="0"/>
              <a:buChar char="•"/>
            </a:pPr>
            <a:r>
              <a:rPr lang="en-GB" sz="2000" dirty="0"/>
              <a:t>After agreeing, one of the processes (usually the </a:t>
            </a:r>
            <a:r>
              <a:rPr lang="en-GB" sz="2000" b="1" dirty="0"/>
              <a:t>creator</a:t>
            </a:r>
            <a:r>
              <a:rPr lang="en-GB" sz="2000" dirty="0"/>
              <a:t>) requests the operating system to allocate a shared-memory segment.</a:t>
            </a:r>
            <a:endParaRPr lang="en-GB" sz="2000" dirty="0"/>
          </a:p>
          <a:p>
            <a:pPr marL="342900" indent="-342900">
              <a:buFont typeface="Arial" panose="020B0604020202020204" pitchFamily="34" charset="0"/>
              <a:buChar char="•"/>
            </a:pPr>
            <a:r>
              <a:rPr lang="en-GB" sz="2000" dirty="0"/>
              <a:t>The OS establishes that segment and provides identifiers or handles for other processes to </a:t>
            </a:r>
            <a:r>
              <a:rPr lang="en-GB" sz="2000" b="1" dirty="0"/>
              <a:t>attach</a:t>
            </a:r>
            <a:r>
              <a:rPr lang="en-GB" sz="2000" dirty="0"/>
              <a:t> it to their own address spaces.</a:t>
            </a:r>
            <a:endParaRPr lang="en-GB" sz="2000" dirty="0"/>
          </a:p>
          <a:p>
            <a:pPr marL="342900" indent="-342900">
              <a:buFont typeface="Arial" panose="020B0604020202020204" pitchFamily="34" charset="0"/>
              <a:buChar char="•"/>
            </a:pPr>
            <a:r>
              <a:rPr lang="en-GB" sz="2000" dirty="0"/>
              <a:t>Once attached, processes can </a:t>
            </a:r>
            <a:r>
              <a:rPr lang="en-GB" sz="2000" b="1" dirty="0"/>
              <a:t>read and write directly</a:t>
            </a:r>
            <a:r>
              <a:rPr lang="en-GB" sz="2000" dirty="0"/>
              <a:t> to this shared region—just like accessing their own memory.</a:t>
            </a:r>
            <a:endParaRPr lang="en-GB" sz="2000" dirty="0"/>
          </a:p>
          <a:p>
            <a:pPr marL="342900" indent="-342900">
              <a:buFont typeface="Arial" panose="020B0604020202020204" pitchFamily="34" charset="0"/>
              <a:buChar char="•"/>
            </a:pP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IPC in Shared-Memory Systems</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b="1" dirty="0"/>
              <a:t>Example:</a:t>
            </a:r>
            <a:br>
              <a:rPr lang="en-GB" sz="2000" dirty="0"/>
            </a:br>
            <a:r>
              <a:rPr lang="en-GB" sz="2000" dirty="0"/>
              <a:t>A video editing application might have:</a:t>
            </a:r>
            <a:endParaRPr lang="en-GB" sz="2000" dirty="0"/>
          </a:p>
          <a:p>
            <a:r>
              <a:rPr lang="en-GB" sz="2000" dirty="0"/>
              <a:t>Process A reading video frames from disk.</a:t>
            </a:r>
            <a:endParaRPr lang="en-GB" sz="2000" dirty="0"/>
          </a:p>
          <a:p>
            <a:r>
              <a:rPr lang="en-GB" sz="2000" dirty="0"/>
              <a:t>Process B applying </a:t>
            </a:r>
            <a:r>
              <a:rPr lang="en-GB" sz="2000" dirty="0" err="1"/>
              <a:t>color</a:t>
            </a:r>
            <a:r>
              <a:rPr lang="en-GB" sz="2000" dirty="0"/>
              <a:t> filters.</a:t>
            </a:r>
            <a:br>
              <a:rPr lang="en-GB" sz="2000" dirty="0"/>
            </a:br>
            <a:r>
              <a:rPr lang="en-GB" sz="2000" dirty="0"/>
              <a:t>Both access the same memory region to avoid copying data between them.</a:t>
            </a:r>
            <a:endParaRPr lang="en-GB" sz="2000" dirty="0"/>
          </a:p>
          <a:p>
            <a:endParaRPr lang="en-GB" sz="2000" dirty="0"/>
          </a:p>
          <a:p>
            <a:r>
              <a:rPr lang="en-GB" sz="2000" b="1" dirty="0"/>
              <a:t>Cooperation and Agreement</a:t>
            </a:r>
            <a:endParaRPr lang="en-GB" sz="2000" b="1" dirty="0"/>
          </a:p>
          <a:p>
            <a:pPr marL="342900" indent="-342900">
              <a:buFont typeface="Arial" panose="020B0604020202020204" pitchFamily="34" charset="0"/>
              <a:buChar char="•"/>
            </a:pPr>
            <a:r>
              <a:rPr lang="en-GB" sz="2000" dirty="0"/>
              <a:t>Shared memory requires </a:t>
            </a:r>
            <a:r>
              <a:rPr lang="en-GB" sz="2000" b="1" dirty="0"/>
              <a:t>mutual agreement</a:t>
            </a:r>
            <a:r>
              <a:rPr lang="en-GB" sz="2000" dirty="0"/>
              <a:t> among processes:</a:t>
            </a:r>
            <a:endParaRPr lang="en-GB" sz="2000" dirty="0"/>
          </a:p>
          <a:p>
            <a:pPr marL="342900" indent="-342900">
              <a:buFont typeface="Arial" panose="020B0604020202020204" pitchFamily="34" charset="0"/>
              <a:buChar char="•"/>
            </a:pPr>
            <a:r>
              <a:rPr lang="en-GB" sz="2000" dirty="0"/>
              <a:t>They must </a:t>
            </a:r>
            <a:r>
              <a:rPr lang="en-GB" sz="2000" i="1" dirty="0"/>
              <a:t>agree to remove memory protection barriers</a:t>
            </a:r>
            <a:r>
              <a:rPr lang="en-GB" sz="2000" dirty="0"/>
              <a:t> for the shared region.</a:t>
            </a:r>
            <a:endParaRPr lang="en-GB" sz="2000" dirty="0"/>
          </a:p>
          <a:p>
            <a:pPr marL="342900" indent="-342900">
              <a:buFont typeface="Arial" panose="020B0604020202020204" pitchFamily="34" charset="0"/>
              <a:buChar char="•"/>
            </a:pPr>
            <a:r>
              <a:rPr lang="en-GB" sz="2000" dirty="0"/>
              <a:t>They must also agree on </a:t>
            </a:r>
            <a:r>
              <a:rPr lang="en-GB" sz="2000" i="1" dirty="0"/>
              <a:t>what data format</a:t>
            </a:r>
            <a:r>
              <a:rPr lang="en-GB" sz="2000" dirty="0"/>
              <a:t> to use (for instance, integers, strings, or structured objects).</a:t>
            </a:r>
            <a:endParaRPr lang="en-GB" sz="2000" dirty="0"/>
          </a:p>
          <a:p>
            <a:r>
              <a:rPr lang="en-GB" sz="2000" dirty="0"/>
              <a:t>The </a:t>
            </a:r>
            <a:r>
              <a:rPr lang="en-GB" sz="2000" b="1" dirty="0"/>
              <a:t>operating system does not control</a:t>
            </a:r>
            <a:r>
              <a:rPr lang="en-GB" sz="2000" dirty="0"/>
              <a:t> what is stored in the shared area or how it is used.</a:t>
            </a:r>
            <a:br>
              <a:rPr lang="en-GB" sz="2000" dirty="0"/>
            </a:br>
            <a:r>
              <a:rPr lang="en-GB" sz="2000" dirty="0"/>
              <a:t>The responsibility lies entirely with the cooperating processes.</a:t>
            </a: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IPC in Shared-Memory Systems</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b="1" dirty="0"/>
              <a:t>Example:</a:t>
            </a:r>
            <a:br>
              <a:rPr lang="en-GB" sz="2000" dirty="0"/>
            </a:br>
            <a:r>
              <a:rPr lang="en-GB" sz="2000" dirty="0"/>
              <a:t>A video editing application might have:</a:t>
            </a:r>
            <a:endParaRPr lang="en-GB" sz="2000" dirty="0"/>
          </a:p>
          <a:p>
            <a:r>
              <a:rPr lang="en-GB" sz="2000" dirty="0"/>
              <a:t>Process A reading video frames from disk.</a:t>
            </a:r>
            <a:endParaRPr lang="en-GB" sz="2000" dirty="0"/>
          </a:p>
          <a:p>
            <a:r>
              <a:rPr lang="en-GB" sz="2000" dirty="0"/>
              <a:t>Process B applying </a:t>
            </a:r>
            <a:r>
              <a:rPr lang="en-GB" sz="2000" dirty="0" err="1"/>
              <a:t>color</a:t>
            </a:r>
            <a:r>
              <a:rPr lang="en-GB" sz="2000" dirty="0"/>
              <a:t> filters.</a:t>
            </a:r>
            <a:br>
              <a:rPr lang="en-GB" sz="2000" dirty="0"/>
            </a:br>
            <a:r>
              <a:rPr lang="en-GB" sz="2000" dirty="0"/>
              <a:t>Both access the same memory region to avoid copying data between them.</a:t>
            </a:r>
            <a:endParaRPr lang="en-GB" sz="2000" dirty="0"/>
          </a:p>
          <a:p>
            <a:endParaRPr lang="en-GB" sz="2000" dirty="0"/>
          </a:p>
          <a:p>
            <a:r>
              <a:rPr lang="en-GB" sz="2000" b="1" dirty="0"/>
              <a:t>Cooperation and Agreement</a:t>
            </a:r>
            <a:endParaRPr lang="en-GB" sz="2000" b="1" dirty="0"/>
          </a:p>
          <a:p>
            <a:pPr marL="342900" indent="-342900">
              <a:buFont typeface="Arial" panose="020B0604020202020204" pitchFamily="34" charset="0"/>
              <a:buChar char="•"/>
            </a:pPr>
            <a:r>
              <a:rPr lang="en-GB" sz="2000" dirty="0"/>
              <a:t>Shared memory requires </a:t>
            </a:r>
            <a:r>
              <a:rPr lang="en-GB" sz="2000" b="1" dirty="0"/>
              <a:t>mutual agreement</a:t>
            </a:r>
            <a:r>
              <a:rPr lang="en-GB" sz="2000" dirty="0"/>
              <a:t> among processes:</a:t>
            </a:r>
            <a:endParaRPr lang="en-GB" sz="2000" dirty="0"/>
          </a:p>
          <a:p>
            <a:pPr marL="342900" indent="-342900">
              <a:buFont typeface="Arial" panose="020B0604020202020204" pitchFamily="34" charset="0"/>
              <a:buChar char="•"/>
            </a:pPr>
            <a:r>
              <a:rPr lang="en-GB" sz="2000" dirty="0"/>
              <a:t>They must </a:t>
            </a:r>
            <a:r>
              <a:rPr lang="en-GB" sz="2000" i="1" dirty="0"/>
              <a:t>agree to remove memory protection barriers</a:t>
            </a:r>
            <a:r>
              <a:rPr lang="en-GB" sz="2000" dirty="0"/>
              <a:t> for the shared region.</a:t>
            </a:r>
            <a:endParaRPr lang="en-GB" sz="2000" dirty="0"/>
          </a:p>
          <a:p>
            <a:pPr marL="342900" indent="-342900">
              <a:buFont typeface="Arial" panose="020B0604020202020204" pitchFamily="34" charset="0"/>
              <a:buChar char="•"/>
            </a:pPr>
            <a:r>
              <a:rPr lang="en-GB" sz="2000" dirty="0"/>
              <a:t>They must also agree on </a:t>
            </a:r>
            <a:r>
              <a:rPr lang="en-GB" sz="2000" i="1" dirty="0"/>
              <a:t>what data format</a:t>
            </a:r>
            <a:r>
              <a:rPr lang="en-GB" sz="2000" dirty="0"/>
              <a:t> to use (for instance, integers, strings, or structured objects).</a:t>
            </a:r>
            <a:endParaRPr lang="en-GB" sz="2000" dirty="0"/>
          </a:p>
          <a:p>
            <a:r>
              <a:rPr lang="en-GB" sz="2000" dirty="0"/>
              <a:t>The </a:t>
            </a:r>
            <a:r>
              <a:rPr lang="en-GB" sz="2000" b="1" dirty="0"/>
              <a:t>operating system does not control</a:t>
            </a:r>
            <a:r>
              <a:rPr lang="en-GB" sz="2000" dirty="0"/>
              <a:t> what is stored in the shared area or how it is used.</a:t>
            </a:r>
            <a:br>
              <a:rPr lang="en-GB" sz="2000" dirty="0"/>
            </a:br>
            <a:r>
              <a:rPr lang="en-GB" sz="2000" dirty="0"/>
              <a:t>The responsibility lies entirely with the cooperating processes.</a:t>
            </a: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Race Condition  in Shared-Memory Systems</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dirty="0"/>
              <a:t>Because both can access the same data, </a:t>
            </a:r>
            <a:r>
              <a:rPr lang="en-GB" sz="2000" b="1" dirty="0"/>
              <a:t>conflicts can occur</a:t>
            </a:r>
            <a:r>
              <a:rPr lang="en-GB" sz="2000" dirty="0"/>
              <a:t> if they try to read and write at the same time.</a:t>
            </a:r>
            <a:br>
              <a:rPr lang="en-GB" sz="2000" dirty="0"/>
            </a:br>
            <a:r>
              <a:rPr lang="en-GB" sz="2000" dirty="0"/>
              <a:t>This problem is known as a </a:t>
            </a:r>
            <a:r>
              <a:rPr lang="en-GB" sz="2000" b="1" dirty="0"/>
              <a:t>race condition</a:t>
            </a:r>
            <a:r>
              <a:rPr lang="en-GB" sz="2000" dirty="0"/>
              <a:t>, and it requires </a:t>
            </a:r>
            <a:r>
              <a:rPr lang="en-GB" sz="2000" b="1" dirty="0"/>
              <a:t>synchronization mechanisms</a:t>
            </a:r>
            <a:r>
              <a:rPr lang="en-GB" sz="2000" dirty="0"/>
              <a:t> (like semaphores or mutex locks) to ensure safety — discussed later in </a:t>
            </a:r>
            <a:r>
              <a:rPr lang="en-GB" sz="2000" i="1" dirty="0"/>
              <a:t>Process Synchronization</a:t>
            </a:r>
            <a:r>
              <a:rPr lang="en-GB" sz="2000" dirty="0"/>
              <a:t> chapters.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Producer–Consumer Problem</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dirty="0"/>
              <a:t>To illustrate shared memory IPC, let’s examine the </a:t>
            </a:r>
            <a:r>
              <a:rPr lang="en-GB" sz="2000" b="1" dirty="0"/>
              <a:t>Producer–Consumer Problem</a:t>
            </a:r>
            <a:r>
              <a:rPr lang="en-GB" sz="2000" dirty="0"/>
              <a:t>, one of the most fundamental examples in operating systems</a:t>
            </a:r>
            <a:endParaRPr lang="en-GB" sz="2000" dirty="0"/>
          </a:p>
          <a:p>
            <a:r>
              <a:rPr lang="en-GB" sz="2000" b="1" dirty="0"/>
              <a:t>The Concept</a:t>
            </a:r>
            <a:endParaRPr lang="en-GB" sz="2000" b="1" dirty="0"/>
          </a:p>
          <a:p>
            <a:r>
              <a:rPr lang="en-GB" sz="2000" b="1" dirty="0"/>
              <a:t>Producer:</a:t>
            </a:r>
            <a:r>
              <a:rPr lang="en-GB" sz="2000" dirty="0"/>
              <a:t> A process that generates data or items (for example, a compiler producing assembly code).</a:t>
            </a:r>
            <a:endParaRPr lang="en-GB" sz="2000" dirty="0"/>
          </a:p>
          <a:p>
            <a:r>
              <a:rPr lang="en-GB" sz="2000" b="1" dirty="0"/>
              <a:t>Consumer:</a:t>
            </a:r>
            <a:r>
              <a:rPr lang="en-GB" sz="2000" dirty="0"/>
              <a:t> A process that uses or processes that data (for example, an assembler consuming the compiler’s output).</a:t>
            </a:r>
            <a:endParaRPr lang="en-GB" sz="2000" dirty="0"/>
          </a:p>
          <a:p>
            <a:r>
              <a:rPr lang="en-GB" sz="2000" dirty="0"/>
              <a:t>The challenge is </a:t>
            </a:r>
            <a:r>
              <a:rPr lang="en-GB" sz="2000" b="1" dirty="0"/>
              <a:t>synchronizing</a:t>
            </a:r>
            <a:r>
              <a:rPr lang="en-GB" sz="2000" dirty="0"/>
              <a:t> them so:</a:t>
            </a:r>
            <a:endParaRPr lang="en-GB" sz="2000" dirty="0"/>
          </a:p>
          <a:p>
            <a:r>
              <a:rPr lang="en-GB" sz="2000" dirty="0"/>
              <a:t>The consumer doesn’t try to read an item that hasn’t been produced yet.</a:t>
            </a:r>
            <a:endParaRPr lang="en-GB" sz="2000" dirty="0"/>
          </a:p>
          <a:p>
            <a:r>
              <a:rPr lang="en-GB" sz="2000" dirty="0"/>
              <a:t>The producer doesn’t overwrite data that hasn’t been consumed.</a:t>
            </a: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Producer–Consumer Problem</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dirty="0"/>
              <a:t>One solution to the producer–consumer problem uses shared memory. </a:t>
            </a:r>
            <a:endParaRPr lang="en-GB" sz="2000" dirty="0"/>
          </a:p>
          <a:p>
            <a:r>
              <a:rPr lang="en-GB" sz="2000" dirty="0"/>
              <a:t>To allow producer and consumer processes to run concurrently, we must have available a buffer of items that can be filled by the producer and emptied by the consumer. </a:t>
            </a:r>
            <a:endParaRPr lang="en-GB" sz="2000" dirty="0"/>
          </a:p>
          <a:p>
            <a:r>
              <a:rPr lang="en-GB" sz="2000" dirty="0"/>
              <a:t>This buffer will reside in a region of memory that is shared by the producer and consumer processes.</a:t>
            </a:r>
            <a:endParaRPr lang="en-GB" sz="2000" dirty="0"/>
          </a:p>
          <a:p>
            <a:r>
              <a:rPr lang="en-GB" sz="2000" dirty="0"/>
              <a:t> A producer can produce one item while the consumer is consuming another item. The producer and consumer must be synchronized, so that the consumer does not try to consume an item that has not yet been produced.</a:t>
            </a:r>
            <a:br>
              <a:rPr lang="en-GB" sz="2000" dirty="0"/>
            </a:br>
            <a:br>
              <a:rPr lang="en-GB" sz="2000" dirty="0"/>
            </a:br>
            <a:r>
              <a:rPr lang="en-GB" sz="2000" dirty="0"/>
              <a:t>This buffer acts as a “meeting point” where:</a:t>
            </a:r>
            <a:endParaRPr lang="en-GB" sz="2000" dirty="0"/>
          </a:p>
          <a:p>
            <a:pPr marL="342900" indent="-342900">
              <a:buFont typeface="Arial" panose="020B0604020202020204" pitchFamily="34" charset="0"/>
              <a:buChar char="•"/>
            </a:pPr>
            <a:r>
              <a:rPr lang="en-GB" sz="2000" dirty="0"/>
              <a:t>The producer places (produces) new items.</a:t>
            </a:r>
            <a:endParaRPr lang="en-GB" sz="2000" dirty="0"/>
          </a:p>
          <a:p>
            <a:pPr marL="342900" indent="-342900">
              <a:buFont typeface="Arial" panose="020B0604020202020204" pitchFamily="34" charset="0"/>
              <a:buChar char="•"/>
            </a:pPr>
            <a:r>
              <a:rPr lang="en-GB" sz="2000" dirty="0"/>
              <a:t>The consumer retrieves (consumes) items.</a:t>
            </a:r>
            <a:endParaRPr lang="en-GB" sz="2000" dirty="0"/>
          </a:p>
          <a:p>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Producer–Consumer Problem</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dirty="0"/>
              <a:t>Two types of buffers can be used. The </a:t>
            </a:r>
            <a:r>
              <a:rPr lang="en-GB" sz="2000" b="1" dirty="0"/>
              <a:t>unbounded buffer </a:t>
            </a:r>
            <a:r>
              <a:rPr lang="en-GB" sz="2000" dirty="0"/>
              <a:t>places no practical limit on the size of the buffer. The consumer may have to wait for new items, but the producer can always produce new items. </a:t>
            </a:r>
            <a:endParaRPr lang="en-GB" sz="2000" dirty="0"/>
          </a:p>
          <a:p>
            <a:endParaRPr lang="en-GB" sz="2000" dirty="0"/>
          </a:p>
          <a:p>
            <a:r>
              <a:rPr lang="en-GB" sz="2000" dirty="0"/>
              <a:t>The </a:t>
            </a:r>
            <a:r>
              <a:rPr lang="en-GB" sz="2000" b="1" dirty="0"/>
              <a:t>bounded buffer </a:t>
            </a:r>
            <a:r>
              <a:rPr lang="en-GB" sz="2000" dirty="0"/>
              <a:t>assumes a fixed buffer size. In this case, the consumer must wait if the buffer is empty, and the producer must wait if the buffer is full.</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Producer–Consumer Problem</a:t>
            </a:r>
            <a:endParaRPr lang="en-GB" sz="3600" dirty="0"/>
          </a:p>
        </p:txBody>
      </p:sp>
      <p:sp>
        <p:nvSpPr>
          <p:cNvPr id="11" name="Text Placeholder 10"/>
          <p:cNvSpPr>
            <a:spLocks noGrp="1"/>
          </p:cNvSpPr>
          <p:nvPr>
            <p:ph type="body" sz="quarter" idx="11"/>
          </p:nvPr>
        </p:nvSpPr>
        <p:spPr>
          <a:xfrm>
            <a:off x="723899" y="852156"/>
            <a:ext cx="10903419" cy="4660230"/>
          </a:xfrm>
        </p:spPr>
        <p:txBody>
          <a:bodyPr/>
          <a:lstStyle/>
          <a:p>
            <a:r>
              <a:rPr lang="en-GB" sz="2000" dirty="0"/>
              <a:t>Two types of buffers can be used. The </a:t>
            </a:r>
            <a:r>
              <a:rPr lang="en-GB" sz="2000" b="1" dirty="0"/>
              <a:t>unbounded buffer </a:t>
            </a:r>
            <a:r>
              <a:rPr lang="en-GB" sz="2000" dirty="0"/>
              <a:t>places no practical limit on the size of the buffer. The consumer may have to wait for new items, but the producer can always produce new items. </a:t>
            </a:r>
            <a:endParaRPr lang="en-GB" sz="2000" dirty="0"/>
          </a:p>
          <a:p>
            <a:endParaRPr lang="en-GB" sz="2000" dirty="0"/>
          </a:p>
          <a:p>
            <a:r>
              <a:rPr lang="en-GB" sz="2000" dirty="0"/>
              <a:t>The </a:t>
            </a:r>
            <a:r>
              <a:rPr lang="en-GB" sz="2000" b="1" dirty="0"/>
              <a:t>bounded buffer </a:t>
            </a:r>
            <a:r>
              <a:rPr lang="en-GB" sz="2000" dirty="0"/>
              <a:t>assumes a fixed buffer size. In this case, the consumer must wait if the buffer is empty, and the producer must wait if the buffer is full.</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IPC in Message-Passing Systems</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pPr marL="342900" indent="-342900">
              <a:buFont typeface="Arial" panose="020B0604020202020204" pitchFamily="34" charset="0"/>
              <a:buChar char="•"/>
            </a:pPr>
            <a:r>
              <a:rPr lang="en-GB" sz="2000" b="1" dirty="0"/>
              <a:t>Message passing</a:t>
            </a:r>
            <a:r>
              <a:rPr lang="en-GB" sz="2000" dirty="0"/>
              <a:t> provides a mechanism to allow processes to communicate and to synchronize their actions without sharing the same address space. </a:t>
            </a:r>
            <a:endParaRPr lang="en-GB" sz="2000" dirty="0"/>
          </a:p>
          <a:p>
            <a:pPr marL="342900" indent="-342900">
              <a:buFont typeface="Arial" panose="020B0604020202020204" pitchFamily="34" charset="0"/>
              <a:buChar char="•"/>
            </a:pPr>
            <a:r>
              <a:rPr lang="en-GB" sz="2000" dirty="0"/>
              <a:t>It is particularly useful in a distributed environment, where the communicating processes may reside on different computers connected by a network. </a:t>
            </a:r>
            <a:endParaRPr lang="en-GB" sz="2000" dirty="0"/>
          </a:p>
          <a:p>
            <a:pPr marL="342900" indent="-342900">
              <a:buFont typeface="Arial" panose="020B0604020202020204" pitchFamily="34" charset="0"/>
              <a:buChar char="•"/>
            </a:pPr>
            <a:r>
              <a:rPr lang="en-GB" sz="2000" dirty="0"/>
              <a:t>Messages sent by a process can be either fixed or variable in size.</a:t>
            </a:r>
            <a:endParaRPr lang="en-GB" sz="2000" dirty="0"/>
          </a:p>
          <a:p>
            <a:pPr marL="1485900" lvl="2" indent="-342900"/>
            <a:endParaRPr lang="en-GB" sz="2200" dirty="0"/>
          </a:p>
          <a:p>
            <a:pPr marL="1485900" lvl="2" indent="-342900"/>
            <a:endParaRPr lang="en-GB" sz="2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Basic Operations in Message Passing</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A message-passing system must provide at least two basic operations:</a:t>
            </a:r>
            <a:endParaRPr lang="en-GB" sz="2000" dirty="0"/>
          </a:p>
          <a:p>
            <a:r>
              <a:rPr lang="en-GB" sz="2000" b="1" dirty="0"/>
              <a:t>send(message)</a:t>
            </a:r>
            <a:r>
              <a:rPr lang="en-GB" sz="2000" dirty="0"/>
              <a:t> – Used by a process to send data to another process.</a:t>
            </a:r>
            <a:endParaRPr lang="en-GB" sz="2000" dirty="0"/>
          </a:p>
          <a:p>
            <a:r>
              <a:rPr lang="en-GB" sz="2000" b="1" dirty="0"/>
              <a:t>receive(message)</a:t>
            </a:r>
            <a:r>
              <a:rPr lang="en-GB" sz="2000" dirty="0"/>
              <a:t> – Used by a process to accept data that was sent.</a:t>
            </a:r>
            <a:endParaRPr lang="en-GB" sz="2000" dirty="0"/>
          </a:p>
          <a:p>
            <a:r>
              <a:rPr lang="en-GB" sz="2000" dirty="0"/>
              <a:t>These two actions form the foundation of all message-based communication.</a:t>
            </a:r>
            <a:endParaRPr lang="en-GB" sz="2000" dirty="0"/>
          </a:p>
          <a:p>
            <a:r>
              <a:rPr lang="en-GB" sz="2000" b="1" dirty="0"/>
              <a:t>Example:</a:t>
            </a:r>
            <a:br>
              <a:rPr lang="en-GB" sz="2000" dirty="0"/>
            </a:br>
            <a:r>
              <a:rPr lang="en-GB" sz="2000" dirty="0"/>
              <a:t>If process </a:t>
            </a:r>
            <a:r>
              <a:rPr lang="en-GB" dirty="0"/>
              <a:t>P</a:t>
            </a:r>
            <a:r>
              <a:rPr lang="en-GB" sz="2000" dirty="0"/>
              <a:t> wants to communicate with process </a:t>
            </a:r>
            <a:r>
              <a:rPr lang="en-GB" dirty="0"/>
              <a:t>Q</a:t>
            </a:r>
            <a:r>
              <a:rPr lang="en-GB" sz="2000" dirty="0"/>
              <a:t>, then:</a:t>
            </a:r>
            <a:endParaRPr lang="en-GB" sz="2000" dirty="0"/>
          </a:p>
          <a:p>
            <a:pPr lvl="2"/>
            <a:r>
              <a:rPr lang="en-GB" dirty="0"/>
              <a:t>P</a:t>
            </a:r>
            <a:r>
              <a:rPr lang="en-GB" sz="2200" dirty="0"/>
              <a:t> executes </a:t>
            </a:r>
            <a:r>
              <a:rPr lang="en-GB" dirty="0"/>
              <a:t>send(message)</a:t>
            </a:r>
            <a:r>
              <a:rPr lang="en-GB" sz="2200" dirty="0"/>
              <a:t> to transmit the message.</a:t>
            </a:r>
            <a:endParaRPr lang="en-GB" sz="2200" dirty="0"/>
          </a:p>
          <a:p>
            <a:pPr lvl="2"/>
            <a:r>
              <a:rPr lang="en-GB" dirty="0"/>
              <a:t>Q</a:t>
            </a:r>
            <a:r>
              <a:rPr lang="en-GB" sz="2200" dirty="0"/>
              <a:t> executes </a:t>
            </a:r>
            <a:r>
              <a:rPr lang="en-GB" dirty="0"/>
              <a:t>receive(message)</a:t>
            </a:r>
            <a:r>
              <a:rPr lang="en-GB" sz="2200" dirty="0"/>
              <a:t> to collect and use it.</a:t>
            </a:r>
            <a:endParaRPr lang="en-GB" sz="22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Communication Link</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For two processes to exchange messages, there must be a </a:t>
            </a:r>
            <a:r>
              <a:rPr lang="en-GB" sz="2000" b="1" dirty="0"/>
              <a:t>communication link</a:t>
            </a:r>
            <a:r>
              <a:rPr lang="en-GB" sz="2000" dirty="0"/>
              <a:t> between them.</a:t>
            </a:r>
            <a:endParaRPr lang="en-GB" sz="2000" dirty="0"/>
          </a:p>
          <a:p>
            <a:r>
              <a:rPr lang="en-GB" sz="2000" dirty="0"/>
              <a:t>This link can exist in both </a:t>
            </a:r>
            <a:r>
              <a:rPr lang="en-GB" sz="2000" b="1" dirty="0"/>
              <a:t>physical</a:t>
            </a:r>
            <a:r>
              <a:rPr lang="en-GB" sz="2000" dirty="0"/>
              <a:t> and </a:t>
            </a:r>
            <a:r>
              <a:rPr lang="en-GB" sz="2000" b="1" dirty="0"/>
              <a:t>logical</a:t>
            </a:r>
            <a:r>
              <a:rPr lang="en-GB" sz="2000" dirty="0"/>
              <a:t> forms.</a:t>
            </a:r>
            <a:endParaRPr lang="en-GB" sz="2000" dirty="0"/>
          </a:p>
          <a:p>
            <a:pPr lvl="2"/>
            <a:r>
              <a:rPr lang="en-GB" b="1" dirty="0"/>
              <a:t>Physically</a:t>
            </a:r>
            <a:r>
              <a:rPr lang="en-GB" dirty="0"/>
              <a:t>, the link might be a shared memory segment, a hardware bus, or a network connection (e.g., Wi-Fi or Ethernet).</a:t>
            </a:r>
            <a:endParaRPr lang="en-GB" dirty="0"/>
          </a:p>
          <a:p>
            <a:pPr lvl="2"/>
            <a:r>
              <a:rPr lang="en-GB" b="1" dirty="0"/>
              <a:t>Logically</a:t>
            </a:r>
            <a:r>
              <a:rPr lang="en-GB" dirty="0"/>
              <a:t>, however, it’s the method or rule the OS uses to let processes send and receive messages, regardless of how they are physically connected.</a:t>
            </a:r>
            <a:endParaRPr lang="en-GB" dirty="0"/>
          </a:p>
          <a:p>
            <a:r>
              <a:rPr lang="en-GB" sz="2000" dirty="0"/>
              <a:t>In this topic, we focus on </a:t>
            </a:r>
            <a:r>
              <a:rPr lang="en-GB" sz="2000" b="1" dirty="0"/>
              <a:t>logical implementation</a:t>
            </a:r>
            <a:r>
              <a:rPr lang="en-GB" sz="2000" dirty="0"/>
              <a:t>—the abstract way the OS sets up and manages the communication between processes.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The Communication Link</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For two processes to exchange messages, there must be a </a:t>
            </a:r>
            <a:r>
              <a:rPr lang="en-GB" sz="2000" b="1" dirty="0"/>
              <a:t>communication link</a:t>
            </a:r>
            <a:r>
              <a:rPr lang="en-GB" sz="2000" dirty="0"/>
              <a:t> between them.</a:t>
            </a:r>
            <a:endParaRPr lang="en-GB" sz="2000" dirty="0"/>
          </a:p>
          <a:p>
            <a:r>
              <a:rPr lang="en-GB" sz="2000" dirty="0"/>
              <a:t>This link can exist in both </a:t>
            </a:r>
            <a:r>
              <a:rPr lang="en-GB" sz="2000" b="1" dirty="0"/>
              <a:t>physical</a:t>
            </a:r>
            <a:r>
              <a:rPr lang="en-GB" sz="2000" dirty="0"/>
              <a:t> and </a:t>
            </a:r>
            <a:r>
              <a:rPr lang="en-GB" sz="2000" b="1" dirty="0"/>
              <a:t>logical</a:t>
            </a:r>
            <a:r>
              <a:rPr lang="en-GB" sz="2000" dirty="0"/>
              <a:t> forms.</a:t>
            </a:r>
            <a:endParaRPr lang="en-GB" sz="2000" dirty="0"/>
          </a:p>
          <a:p>
            <a:pPr lvl="2"/>
            <a:r>
              <a:rPr lang="en-GB" b="1" dirty="0"/>
              <a:t>Physically</a:t>
            </a:r>
            <a:r>
              <a:rPr lang="en-GB" dirty="0"/>
              <a:t>, the link might be a shared memory segment, a hardware bus, or a network connection (e.g., Wi-Fi or Ethernet).</a:t>
            </a:r>
            <a:endParaRPr lang="en-GB" dirty="0"/>
          </a:p>
          <a:p>
            <a:pPr lvl="2"/>
            <a:r>
              <a:rPr lang="en-GB" b="1" dirty="0"/>
              <a:t>Logically</a:t>
            </a:r>
            <a:r>
              <a:rPr lang="en-GB" dirty="0"/>
              <a:t>, however, it’s the method or rule the OS uses to let processes send and receive messages, regardless of how they are physically connected.</a:t>
            </a:r>
            <a:endParaRPr lang="en-GB" dirty="0"/>
          </a:p>
          <a:p>
            <a:r>
              <a:rPr lang="en-GB" sz="2000" dirty="0"/>
              <a:t>In this topic, we focus on </a:t>
            </a:r>
            <a:r>
              <a:rPr lang="en-GB" sz="2000" b="1" dirty="0"/>
              <a:t>logical implementation</a:t>
            </a:r>
            <a:r>
              <a:rPr lang="en-GB" sz="2000" dirty="0"/>
              <a:t>—the abstract way the OS sets up and manages the communication between processes.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Logical Methods for Implementing Message Passing</a:t>
            </a:r>
            <a:endParaRPr lang="en-GB" sz="3600" dirty="0"/>
          </a:p>
        </p:txBody>
      </p:sp>
      <p:sp>
        <p:nvSpPr>
          <p:cNvPr id="11" name="Text Placeholder 10"/>
          <p:cNvSpPr>
            <a:spLocks noGrp="1"/>
          </p:cNvSpPr>
          <p:nvPr>
            <p:ph type="body" sz="quarter" idx="11"/>
          </p:nvPr>
        </p:nvSpPr>
        <p:spPr>
          <a:xfrm>
            <a:off x="761999" y="1766556"/>
            <a:ext cx="10903419" cy="2988324"/>
          </a:xfrm>
        </p:spPr>
        <p:txBody>
          <a:bodyPr/>
          <a:lstStyle/>
          <a:p>
            <a:r>
              <a:rPr lang="en-GB" sz="2000" dirty="0"/>
              <a:t>Message-passing systems differ in </a:t>
            </a:r>
            <a:r>
              <a:rPr lang="en-GB" sz="2000" i="1" dirty="0"/>
              <a:t>how</a:t>
            </a:r>
            <a:r>
              <a:rPr lang="en-GB" sz="2000" dirty="0"/>
              <a:t> they establish and manage the communication link. Three key aspects define this behaviour:</a:t>
            </a:r>
            <a:endParaRPr lang="en-GB" sz="2000" dirty="0"/>
          </a:p>
          <a:p>
            <a:pPr marL="342900" indent="-342900">
              <a:buFont typeface="Arial" panose="020B0604020202020204" pitchFamily="34" charset="0"/>
              <a:buChar char="•"/>
            </a:pPr>
            <a:endParaRPr lang="en-GB" sz="2000" dirty="0"/>
          </a:p>
          <a:p>
            <a:pPr marL="1485900" lvl="2" indent="-342900"/>
            <a:r>
              <a:rPr lang="en-GB" dirty="0"/>
              <a:t>Direct or indirect communication </a:t>
            </a:r>
            <a:endParaRPr lang="en-GB" dirty="0"/>
          </a:p>
          <a:p>
            <a:pPr marL="1485900" lvl="2" indent="-342900"/>
            <a:r>
              <a:rPr lang="en-GB" dirty="0"/>
              <a:t> Synchronous or asynchronous communication </a:t>
            </a:r>
            <a:endParaRPr lang="en-GB" dirty="0"/>
          </a:p>
          <a:p>
            <a:pPr marL="1485900" lvl="2" indent="-342900"/>
            <a:r>
              <a:rPr lang="en-GB" dirty="0"/>
              <a:t> Automatic or explicit buffering</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IPC in Message-Passing Systems</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To best explore these , each category is explored in its own subsection:</a:t>
            </a:r>
            <a:endParaRPr lang="en-GB" sz="2000" dirty="0"/>
          </a:p>
          <a:p>
            <a:r>
              <a:rPr lang="en-GB" sz="2000" b="1" dirty="0"/>
              <a:t>3.6.1 Naming </a:t>
            </a:r>
            <a:r>
              <a:rPr lang="en-GB" sz="2000" dirty="0"/>
              <a:t> focuses on </a:t>
            </a:r>
            <a:r>
              <a:rPr lang="en-GB" sz="2000" b="1" dirty="0"/>
              <a:t>Direct vs. Indirect Communication</a:t>
            </a:r>
            <a:br>
              <a:rPr lang="en-GB" sz="2000" dirty="0"/>
            </a:br>
            <a:r>
              <a:rPr lang="en-GB" sz="2000" dirty="0"/>
              <a:t>(i.e., how processes identify each other — through explicit names or shared mailboxes)</a:t>
            </a:r>
            <a:endParaRPr lang="en-GB" sz="2000" dirty="0"/>
          </a:p>
          <a:p>
            <a:r>
              <a:rPr lang="en-GB" sz="2000" b="1" dirty="0"/>
              <a:t>3.6.2 Synchronization </a:t>
            </a:r>
            <a:r>
              <a:rPr lang="en-GB" sz="2000" dirty="0"/>
              <a:t> will handle </a:t>
            </a:r>
            <a:r>
              <a:rPr lang="en-GB" sz="2000" b="1" dirty="0"/>
              <a:t>Synchronous vs. Asynchronous Communication</a:t>
            </a:r>
            <a:br>
              <a:rPr lang="en-GB" sz="2000" dirty="0"/>
            </a:br>
            <a:r>
              <a:rPr lang="en-GB" sz="2000" dirty="0"/>
              <a:t>(i.e., whether sender/receiver wait for each other or not)</a:t>
            </a:r>
            <a:endParaRPr lang="en-GB" sz="2000" dirty="0"/>
          </a:p>
          <a:p>
            <a:r>
              <a:rPr lang="en-GB" sz="2000" b="1" dirty="0"/>
              <a:t>3.6.3 Buffering </a:t>
            </a:r>
            <a:r>
              <a:rPr lang="en-GB" sz="2000" dirty="0"/>
              <a:t> will cover </a:t>
            </a:r>
            <a:r>
              <a:rPr lang="en-GB" sz="2000" b="1" dirty="0"/>
              <a:t>Automatic vs. Explicit Buffering</a:t>
            </a:r>
            <a:br>
              <a:rPr lang="en-GB" sz="2000" dirty="0"/>
            </a:br>
            <a:r>
              <a:rPr lang="en-GB" sz="2000" dirty="0"/>
              <a:t>(i.e., how the system temporarily stores messages)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761998" y="219779"/>
            <a:ext cx="10667999" cy="1158237"/>
          </a:xfrm>
        </p:spPr>
        <p:txBody>
          <a:bodyPr/>
          <a:lstStyle/>
          <a:p>
            <a:pPr algn="ctr"/>
            <a:r>
              <a:rPr lang="en-GB" sz="3200" b="1" dirty="0">
                <a:solidFill>
                  <a:schemeClr val="accent2"/>
                </a:solidFill>
              </a:rPr>
              <a:t>How communication links</a:t>
            </a:r>
            <a:r>
              <a:rPr lang="en-GB" sz="3200" dirty="0">
                <a:solidFill>
                  <a:schemeClr val="accent2"/>
                </a:solidFill>
              </a:rPr>
              <a:t>, </a:t>
            </a:r>
            <a:r>
              <a:rPr lang="en-GB" sz="3200" b="1" dirty="0">
                <a:solidFill>
                  <a:schemeClr val="accent2"/>
                </a:solidFill>
              </a:rPr>
              <a:t>naming</a:t>
            </a:r>
            <a:r>
              <a:rPr lang="en-GB" sz="3200" dirty="0">
                <a:solidFill>
                  <a:schemeClr val="accent2"/>
                </a:solidFill>
              </a:rPr>
              <a:t>, </a:t>
            </a:r>
            <a:r>
              <a:rPr lang="en-GB" sz="3200" b="1" dirty="0">
                <a:solidFill>
                  <a:schemeClr val="accent2"/>
                </a:solidFill>
              </a:rPr>
              <a:t>synchronization</a:t>
            </a:r>
            <a:r>
              <a:rPr lang="en-GB" sz="3200" dirty="0">
                <a:solidFill>
                  <a:schemeClr val="accent2"/>
                </a:solidFill>
              </a:rPr>
              <a:t>, and </a:t>
            </a:r>
            <a:r>
              <a:rPr lang="en-GB" sz="3200" b="1" dirty="0">
                <a:solidFill>
                  <a:schemeClr val="accent2"/>
                </a:solidFill>
              </a:rPr>
              <a:t>buffering</a:t>
            </a:r>
            <a:r>
              <a:rPr lang="en-GB" sz="3200" dirty="0">
                <a:solidFill>
                  <a:schemeClr val="accent2"/>
                </a:solidFill>
              </a:rPr>
              <a:t> all fit together within </a:t>
            </a:r>
            <a:r>
              <a:rPr lang="en-GB" sz="3200" b="1" dirty="0">
                <a:solidFill>
                  <a:schemeClr val="accent2"/>
                </a:solidFill>
              </a:rPr>
              <a:t>message-passing systems</a:t>
            </a:r>
            <a:r>
              <a:rPr lang="en-GB" sz="3200" dirty="0">
                <a:solidFill>
                  <a:schemeClr val="accent2"/>
                </a:solidFill>
              </a:rPr>
              <a:t>.</a:t>
            </a:r>
            <a:endParaRPr lang="en-GB" sz="3200" dirty="0">
              <a:solidFill>
                <a:schemeClr val="accent2"/>
              </a:solidFill>
            </a:endParaRPr>
          </a:p>
        </p:txBody>
      </p:sp>
      <p:sp>
        <p:nvSpPr>
          <p:cNvPr id="5" name="Text Placeholder 2"/>
          <p:cNvSpPr txBox="1"/>
          <p:nvPr/>
        </p:nvSpPr>
        <p:spPr>
          <a:xfrm>
            <a:off x="761999" y="2032534"/>
            <a:ext cx="10667999" cy="3723373"/>
          </a:xfrm>
          <a:prstGeom prst="rect">
            <a:avLst/>
          </a:prstGeom>
        </p:spPr>
        <p:txBody>
          <a:bodyPr/>
          <a:lstStyle>
            <a:lvl1pPr marL="0" indent="0" algn="l" defTabSz="914400" rtl="0" eaLnBrk="1" latinLnBrk="0" hangingPunct="1">
              <a:lnSpc>
                <a:spcPct val="100000"/>
              </a:lnSpc>
              <a:spcBef>
                <a:spcPts val="1000"/>
              </a:spcBef>
              <a:buFont typeface="Arial" panose="020B0604020202020204" pitchFamily="34" charset="0"/>
              <a:buNone/>
              <a:defRPr sz="1800" b="0" kern="1200">
                <a:solidFill>
                  <a:schemeClr val="bg1"/>
                </a:solidFill>
                <a:latin typeface="+mn-lt"/>
                <a:ea typeface="+mn-ea"/>
                <a:cs typeface="+mn-cs"/>
              </a:defRPr>
            </a:lvl1pPr>
            <a:lvl2pPr marL="228600" indent="-228600" algn="l" defTabSz="914400" rtl="0" eaLnBrk="1" latinLnBrk="0" hangingPunct="1">
              <a:lnSpc>
                <a:spcPct val="100000"/>
              </a:lnSpc>
              <a:spcBef>
                <a:spcPts val="1000"/>
              </a:spcBef>
              <a:buFont typeface="Arial" panose="020B0604020202020204" pitchFamily="34" charset="0"/>
              <a:buChar char="•"/>
              <a:defRPr sz="1800" b="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Step 1: What Message Passing Actually Is</a:t>
            </a:r>
            <a:endParaRPr lang="en-GB" b="1" dirty="0"/>
          </a:p>
          <a:p>
            <a:r>
              <a:rPr lang="en-GB" dirty="0"/>
              <a:t>Message passing is a </a:t>
            </a:r>
            <a:r>
              <a:rPr lang="en-GB" b="1" dirty="0"/>
              <a:t>method of communication between processes</a:t>
            </a:r>
            <a:r>
              <a:rPr lang="en-GB" dirty="0"/>
              <a:t> that allows them to exchange data </a:t>
            </a:r>
            <a:r>
              <a:rPr lang="en-GB" b="1" dirty="0"/>
              <a:t>without sharing memory</a:t>
            </a:r>
            <a:r>
              <a:rPr lang="en-GB" dirty="0"/>
              <a:t>.</a:t>
            </a:r>
            <a:br>
              <a:rPr lang="en-GB" dirty="0"/>
            </a:br>
            <a:r>
              <a:rPr lang="en-GB" dirty="0"/>
              <a:t>Instead of both processes reading and writing to the same memory region (as in shared memory systems), here they </a:t>
            </a:r>
            <a:r>
              <a:rPr lang="en-GB" b="1" dirty="0"/>
              <a:t>send and receive messages</a:t>
            </a:r>
            <a:r>
              <a:rPr lang="en-GB" dirty="0"/>
              <a:t> through the operating system.</a:t>
            </a:r>
            <a:endParaRPr lang="en-GB" dirty="0"/>
          </a:p>
          <a:p>
            <a:r>
              <a:rPr lang="en-GB" dirty="0"/>
              <a:t>This means:</a:t>
            </a:r>
            <a:endParaRPr lang="en-GB" dirty="0"/>
          </a:p>
          <a:p>
            <a:pPr marL="285750" indent="-285750">
              <a:buFont typeface="Arial" panose="020B0604020202020204" pitchFamily="34" charset="0"/>
              <a:buChar char="•"/>
            </a:pPr>
            <a:r>
              <a:rPr lang="en-GB" dirty="0"/>
              <a:t>Each process has its </a:t>
            </a:r>
            <a:r>
              <a:rPr lang="en-GB" b="1" dirty="0"/>
              <a:t>own address space</a:t>
            </a:r>
            <a:r>
              <a:rPr lang="en-GB" dirty="0"/>
              <a:t>.</a:t>
            </a:r>
            <a:endParaRPr lang="en-GB" dirty="0"/>
          </a:p>
          <a:p>
            <a:pPr marL="285750" indent="-285750">
              <a:buFont typeface="Arial" panose="020B0604020202020204" pitchFamily="34" charset="0"/>
              <a:buChar char="•"/>
            </a:pPr>
            <a:r>
              <a:rPr lang="en-GB" dirty="0"/>
              <a:t>To communicate, one process must </a:t>
            </a:r>
            <a:r>
              <a:rPr lang="en-GB" b="1" dirty="0"/>
              <a:t>send a message</a:t>
            </a:r>
            <a:r>
              <a:rPr lang="en-GB" dirty="0"/>
              <a:t>, and another must </a:t>
            </a:r>
            <a:r>
              <a:rPr lang="en-GB" b="1" dirty="0"/>
              <a:t>receive it</a:t>
            </a:r>
            <a:r>
              <a:rPr lang="en-GB" dirty="0"/>
              <a:t>.</a:t>
            </a:r>
            <a:endParaRPr lang="en-GB" dirty="0"/>
          </a:p>
          <a:p>
            <a:pPr marL="285750" indent="-285750">
              <a:buFont typeface="Arial" panose="020B0604020202020204" pitchFamily="34" charset="0"/>
              <a:buChar char="•"/>
            </a:pPr>
            <a:r>
              <a:rPr lang="en-GB" dirty="0"/>
              <a:t>For that to happen, there must exist some </a:t>
            </a:r>
            <a:r>
              <a:rPr lang="en-GB" b="1" dirty="0"/>
              <a:t>logical communication path</a:t>
            </a:r>
            <a:r>
              <a:rPr lang="en-GB" dirty="0"/>
              <a:t> between them — this is what we call a </a:t>
            </a:r>
            <a:r>
              <a:rPr lang="en-GB" b="1" dirty="0"/>
              <a:t>communication link</a:t>
            </a:r>
            <a:r>
              <a:rPr lang="en-GB" dirty="0"/>
              <a:t>.</a:t>
            </a:r>
            <a:endParaRPr lang="en-GB"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761998" y="219779"/>
            <a:ext cx="10667999" cy="1158237"/>
          </a:xfrm>
        </p:spPr>
        <p:txBody>
          <a:bodyPr/>
          <a:lstStyle/>
          <a:p>
            <a:pPr algn="ctr"/>
            <a:r>
              <a:rPr lang="en-GB" sz="3200" b="1" dirty="0">
                <a:solidFill>
                  <a:schemeClr val="accent2"/>
                </a:solidFill>
              </a:rPr>
              <a:t>How communication links</a:t>
            </a:r>
            <a:r>
              <a:rPr lang="en-GB" sz="3200" dirty="0">
                <a:solidFill>
                  <a:schemeClr val="accent2"/>
                </a:solidFill>
              </a:rPr>
              <a:t>, </a:t>
            </a:r>
            <a:r>
              <a:rPr lang="en-GB" sz="3200" b="1" dirty="0">
                <a:solidFill>
                  <a:schemeClr val="accent2"/>
                </a:solidFill>
              </a:rPr>
              <a:t>naming</a:t>
            </a:r>
            <a:r>
              <a:rPr lang="en-GB" sz="3200" dirty="0">
                <a:solidFill>
                  <a:schemeClr val="accent2"/>
                </a:solidFill>
              </a:rPr>
              <a:t>, </a:t>
            </a:r>
            <a:r>
              <a:rPr lang="en-GB" sz="3200" b="1" dirty="0">
                <a:solidFill>
                  <a:schemeClr val="accent2"/>
                </a:solidFill>
              </a:rPr>
              <a:t>synchronization</a:t>
            </a:r>
            <a:r>
              <a:rPr lang="en-GB" sz="3200" dirty="0">
                <a:solidFill>
                  <a:schemeClr val="accent2"/>
                </a:solidFill>
              </a:rPr>
              <a:t>, and </a:t>
            </a:r>
            <a:r>
              <a:rPr lang="en-GB" sz="3200" b="1" dirty="0">
                <a:solidFill>
                  <a:schemeClr val="accent2"/>
                </a:solidFill>
              </a:rPr>
              <a:t>buffering</a:t>
            </a:r>
            <a:r>
              <a:rPr lang="en-GB" sz="3200" dirty="0">
                <a:solidFill>
                  <a:schemeClr val="accent2"/>
                </a:solidFill>
              </a:rPr>
              <a:t> all fit together within </a:t>
            </a:r>
            <a:r>
              <a:rPr lang="en-GB" sz="3200" b="1" dirty="0">
                <a:solidFill>
                  <a:schemeClr val="accent2"/>
                </a:solidFill>
              </a:rPr>
              <a:t>message-passing systems</a:t>
            </a:r>
            <a:r>
              <a:rPr lang="en-GB" sz="3200" dirty="0">
                <a:solidFill>
                  <a:schemeClr val="accent2"/>
                </a:solidFill>
              </a:rPr>
              <a:t>.</a:t>
            </a:r>
            <a:endParaRPr lang="en-GB" sz="3200" dirty="0">
              <a:solidFill>
                <a:schemeClr val="accent2"/>
              </a:solidFill>
            </a:endParaRPr>
          </a:p>
        </p:txBody>
      </p:sp>
      <p:sp>
        <p:nvSpPr>
          <p:cNvPr id="5" name="Text Placeholder 2"/>
          <p:cNvSpPr txBox="1"/>
          <p:nvPr/>
        </p:nvSpPr>
        <p:spPr>
          <a:xfrm>
            <a:off x="761999" y="2032534"/>
            <a:ext cx="10667999" cy="3723373"/>
          </a:xfrm>
          <a:prstGeom prst="rect">
            <a:avLst/>
          </a:prstGeom>
        </p:spPr>
        <p:txBody>
          <a:bodyPr/>
          <a:lstStyle>
            <a:lvl1pPr marL="0" indent="0" algn="l" defTabSz="914400" rtl="0" eaLnBrk="1" latinLnBrk="0" hangingPunct="1">
              <a:lnSpc>
                <a:spcPct val="100000"/>
              </a:lnSpc>
              <a:spcBef>
                <a:spcPts val="1000"/>
              </a:spcBef>
              <a:buFont typeface="Arial" panose="020B0604020202020204" pitchFamily="34" charset="0"/>
              <a:buNone/>
              <a:defRPr sz="1800" b="0" kern="1200">
                <a:solidFill>
                  <a:schemeClr val="bg1"/>
                </a:solidFill>
                <a:latin typeface="+mn-lt"/>
                <a:ea typeface="+mn-ea"/>
                <a:cs typeface="+mn-cs"/>
              </a:defRPr>
            </a:lvl1pPr>
            <a:lvl2pPr marL="228600" indent="-228600" algn="l" defTabSz="914400" rtl="0" eaLnBrk="1" latinLnBrk="0" hangingPunct="1">
              <a:lnSpc>
                <a:spcPct val="100000"/>
              </a:lnSpc>
              <a:spcBef>
                <a:spcPts val="1000"/>
              </a:spcBef>
              <a:buFont typeface="Arial" panose="020B0604020202020204" pitchFamily="34" charset="0"/>
              <a:buChar char="•"/>
              <a:defRPr sz="1800" b="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2. The Communication Link </a:t>
            </a:r>
            <a:endParaRPr lang="en-GB" b="1" dirty="0"/>
          </a:p>
          <a:p>
            <a:r>
              <a:rPr lang="en-GB" dirty="0"/>
              <a:t>A </a:t>
            </a:r>
            <a:r>
              <a:rPr lang="en-GB" b="1" dirty="0"/>
              <a:t>communication link</a:t>
            </a:r>
            <a:r>
              <a:rPr lang="en-GB" dirty="0"/>
              <a:t> is a logical connection that allows two or more processes to exchange messages.</a:t>
            </a:r>
            <a:br>
              <a:rPr lang="en-GB" dirty="0"/>
            </a:br>
            <a:r>
              <a:rPr lang="en-GB" dirty="0"/>
              <a:t>Think of it as a “virtual wire” or “pipeline” connecting processes, even if they’re on different computers in a network.</a:t>
            </a:r>
            <a:endParaRPr lang="en-GB" dirty="0"/>
          </a:p>
          <a:p>
            <a:r>
              <a:rPr lang="en-GB" dirty="0"/>
              <a:t>Before processes can communicate:</a:t>
            </a:r>
            <a:endParaRPr lang="en-GB" dirty="0"/>
          </a:p>
          <a:p>
            <a:r>
              <a:rPr lang="en-GB" dirty="0"/>
              <a:t>A link must be </a:t>
            </a:r>
            <a:r>
              <a:rPr lang="en-GB" b="1" dirty="0"/>
              <a:t>established</a:t>
            </a:r>
            <a:r>
              <a:rPr lang="en-GB" dirty="0"/>
              <a:t> between them.</a:t>
            </a:r>
            <a:endParaRPr lang="en-GB" dirty="0"/>
          </a:p>
          <a:p>
            <a:r>
              <a:rPr lang="en-GB" dirty="0"/>
              <a:t>The </a:t>
            </a:r>
            <a:r>
              <a:rPr lang="en-GB" b="1" dirty="0"/>
              <a:t>rules</a:t>
            </a:r>
            <a:r>
              <a:rPr lang="en-GB" dirty="0"/>
              <a:t> for how that link operates must be defined , and this is where </a:t>
            </a:r>
            <a:r>
              <a:rPr lang="en-GB" i="1" dirty="0"/>
              <a:t>naming</a:t>
            </a:r>
            <a:r>
              <a:rPr lang="en-GB" dirty="0"/>
              <a:t>, </a:t>
            </a:r>
            <a:r>
              <a:rPr lang="en-GB" i="1" dirty="0"/>
              <a:t>synchronization</a:t>
            </a:r>
            <a:r>
              <a:rPr lang="en-GB" dirty="0"/>
              <a:t>, and </a:t>
            </a:r>
            <a:r>
              <a:rPr lang="en-GB" i="1" dirty="0"/>
              <a:t>buffering</a:t>
            </a:r>
            <a:r>
              <a:rPr lang="en-GB" dirty="0"/>
              <a:t> come in.</a:t>
            </a:r>
            <a:endParaRPr lang="en-GB"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761998" y="219779"/>
            <a:ext cx="10667999" cy="1158237"/>
          </a:xfrm>
        </p:spPr>
        <p:txBody>
          <a:bodyPr/>
          <a:lstStyle/>
          <a:p>
            <a:pPr algn="ctr"/>
            <a:r>
              <a:rPr lang="en-GB" sz="3200" b="1" dirty="0">
                <a:solidFill>
                  <a:schemeClr val="accent2"/>
                </a:solidFill>
              </a:rPr>
              <a:t>How communication links</a:t>
            </a:r>
            <a:r>
              <a:rPr lang="en-GB" sz="3200" dirty="0">
                <a:solidFill>
                  <a:schemeClr val="accent2"/>
                </a:solidFill>
              </a:rPr>
              <a:t>, </a:t>
            </a:r>
            <a:r>
              <a:rPr lang="en-GB" sz="3200" b="1" dirty="0">
                <a:solidFill>
                  <a:schemeClr val="accent2"/>
                </a:solidFill>
              </a:rPr>
              <a:t>naming</a:t>
            </a:r>
            <a:r>
              <a:rPr lang="en-GB" sz="3200" dirty="0">
                <a:solidFill>
                  <a:schemeClr val="accent2"/>
                </a:solidFill>
              </a:rPr>
              <a:t>, </a:t>
            </a:r>
            <a:r>
              <a:rPr lang="en-GB" sz="3200" b="1" dirty="0">
                <a:solidFill>
                  <a:schemeClr val="accent2"/>
                </a:solidFill>
              </a:rPr>
              <a:t>synchronization</a:t>
            </a:r>
            <a:r>
              <a:rPr lang="en-GB" sz="3200" dirty="0">
                <a:solidFill>
                  <a:schemeClr val="accent2"/>
                </a:solidFill>
              </a:rPr>
              <a:t>, and </a:t>
            </a:r>
            <a:r>
              <a:rPr lang="en-GB" sz="3200" b="1" dirty="0">
                <a:solidFill>
                  <a:schemeClr val="accent2"/>
                </a:solidFill>
              </a:rPr>
              <a:t>buffering</a:t>
            </a:r>
            <a:r>
              <a:rPr lang="en-GB" sz="3200" dirty="0">
                <a:solidFill>
                  <a:schemeClr val="accent2"/>
                </a:solidFill>
              </a:rPr>
              <a:t> all fit together within </a:t>
            </a:r>
            <a:r>
              <a:rPr lang="en-GB" sz="3200" b="1" dirty="0">
                <a:solidFill>
                  <a:schemeClr val="accent2"/>
                </a:solidFill>
              </a:rPr>
              <a:t>message-passing systems</a:t>
            </a:r>
            <a:r>
              <a:rPr lang="en-GB" sz="3200" dirty="0">
                <a:solidFill>
                  <a:schemeClr val="accent2"/>
                </a:solidFill>
              </a:rPr>
              <a:t>.</a:t>
            </a:r>
            <a:endParaRPr lang="en-GB" sz="3200" dirty="0">
              <a:solidFill>
                <a:schemeClr val="accent2"/>
              </a:solidFill>
            </a:endParaRPr>
          </a:p>
        </p:txBody>
      </p:sp>
      <p:sp>
        <p:nvSpPr>
          <p:cNvPr id="5" name="Text Placeholder 2"/>
          <p:cNvSpPr txBox="1"/>
          <p:nvPr/>
        </p:nvSpPr>
        <p:spPr>
          <a:xfrm>
            <a:off x="761999" y="2032534"/>
            <a:ext cx="10667999" cy="3723373"/>
          </a:xfrm>
          <a:prstGeom prst="rect">
            <a:avLst/>
          </a:prstGeom>
        </p:spPr>
        <p:txBody>
          <a:bodyPr/>
          <a:lstStyle>
            <a:lvl1pPr marL="0" indent="0" algn="l" defTabSz="914400" rtl="0" eaLnBrk="1" latinLnBrk="0" hangingPunct="1">
              <a:lnSpc>
                <a:spcPct val="100000"/>
              </a:lnSpc>
              <a:spcBef>
                <a:spcPts val="1000"/>
              </a:spcBef>
              <a:buFont typeface="Arial" panose="020B0604020202020204" pitchFamily="34" charset="0"/>
              <a:buNone/>
              <a:defRPr sz="1800" b="0" kern="1200">
                <a:solidFill>
                  <a:schemeClr val="bg1"/>
                </a:solidFill>
                <a:latin typeface="+mn-lt"/>
                <a:ea typeface="+mn-ea"/>
                <a:cs typeface="+mn-cs"/>
              </a:defRPr>
            </a:lvl1pPr>
            <a:lvl2pPr marL="228600" indent="-228600" algn="l" defTabSz="914400" rtl="0" eaLnBrk="1" latinLnBrk="0" hangingPunct="1">
              <a:lnSpc>
                <a:spcPct val="100000"/>
              </a:lnSpc>
              <a:spcBef>
                <a:spcPts val="1000"/>
              </a:spcBef>
              <a:buFont typeface="Arial" panose="020B0604020202020204" pitchFamily="34" charset="0"/>
              <a:buChar char="•"/>
              <a:defRPr sz="1800" b="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Step 3: How the Three Aspects Fit Into Message Passing</a:t>
            </a:r>
            <a:endParaRPr lang="en-GB" b="1" dirty="0"/>
          </a:p>
          <a:p>
            <a:r>
              <a:rPr lang="en-GB" dirty="0"/>
              <a:t>Now, each message-passing system defines </a:t>
            </a:r>
            <a:r>
              <a:rPr lang="en-GB" b="1" dirty="0"/>
              <a:t>how communication links work</a:t>
            </a:r>
            <a:r>
              <a:rPr lang="en-GB" dirty="0"/>
              <a:t> in three key ways:</a:t>
            </a:r>
            <a:endParaRPr lang="en-GB" dirty="0"/>
          </a:p>
          <a:p>
            <a:endParaRPr lang="en-GB" dirty="0"/>
          </a:p>
          <a:p>
            <a:r>
              <a:rPr lang="en-GB" b="1" dirty="0"/>
              <a:t>1. Naming : </a:t>
            </a:r>
            <a:r>
              <a:rPr lang="en-GB" dirty="0"/>
              <a:t>naming determines </a:t>
            </a:r>
            <a:r>
              <a:rPr lang="en-GB" b="1" dirty="0"/>
              <a:t>how the communication link is established,</a:t>
            </a:r>
            <a:r>
              <a:rPr lang="en-GB" dirty="0"/>
              <a:t> directly or through an intermediary.</a:t>
            </a:r>
            <a:endParaRPr lang="en-GB" dirty="0"/>
          </a:p>
          <a:p>
            <a:r>
              <a:rPr lang="en-GB" b="1" dirty="0"/>
              <a:t>2. Synchronization : </a:t>
            </a:r>
            <a:r>
              <a:rPr lang="en-GB" dirty="0"/>
              <a:t>synchronization determines </a:t>
            </a:r>
            <a:r>
              <a:rPr lang="en-GB" b="1" dirty="0"/>
              <a:t>how the send/receive operations behave in time</a:t>
            </a:r>
            <a:r>
              <a:rPr lang="en-GB" dirty="0"/>
              <a:t>  whether processes must wait for each other or not.</a:t>
            </a:r>
            <a:endParaRPr lang="en-GB" dirty="0"/>
          </a:p>
          <a:p>
            <a:r>
              <a:rPr lang="en-GB" b="1" dirty="0"/>
              <a:t>3. Buffering: </a:t>
            </a:r>
            <a:r>
              <a:rPr lang="en-GB" dirty="0"/>
              <a:t>buffering defines </a:t>
            </a:r>
            <a:r>
              <a:rPr lang="en-GB" b="1" dirty="0"/>
              <a:t>how the communication link holds messages</a:t>
            </a:r>
            <a:r>
              <a:rPr lang="en-GB" dirty="0"/>
              <a:t> , is it system-managed or user-managed?</a:t>
            </a:r>
            <a:endParaRPr lang="en-GB" b="1"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1"/>
          </p:nvPr>
        </p:nvSpPr>
        <p:spPr>
          <a:xfrm>
            <a:off x="761998" y="219779"/>
            <a:ext cx="10667999" cy="1158237"/>
          </a:xfrm>
        </p:spPr>
        <p:txBody>
          <a:bodyPr/>
          <a:lstStyle/>
          <a:p>
            <a:pPr algn="ctr"/>
            <a:r>
              <a:rPr lang="en-GB" sz="3200" b="1" dirty="0">
                <a:solidFill>
                  <a:schemeClr val="accent2"/>
                </a:solidFill>
              </a:rPr>
              <a:t>How communication links</a:t>
            </a:r>
            <a:r>
              <a:rPr lang="en-GB" sz="3200" dirty="0">
                <a:solidFill>
                  <a:schemeClr val="accent2"/>
                </a:solidFill>
              </a:rPr>
              <a:t>, </a:t>
            </a:r>
            <a:r>
              <a:rPr lang="en-GB" sz="3200" b="1" dirty="0">
                <a:solidFill>
                  <a:schemeClr val="accent2"/>
                </a:solidFill>
              </a:rPr>
              <a:t>naming</a:t>
            </a:r>
            <a:r>
              <a:rPr lang="en-GB" sz="3200" dirty="0">
                <a:solidFill>
                  <a:schemeClr val="accent2"/>
                </a:solidFill>
              </a:rPr>
              <a:t>, </a:t>
            </a:r>
            <a:r>
              <a:rPr lang="en-GB" sz="3200" b="1" dirty="0">
                <a:solidFill>
                  <a:schemeClr val="accent2"/>
                </a:solidFill>
              </a:rPr>
              <a:t>synchronization</a:t>
            </a:r>
            <a:r>
              <a:rPr lang="en-GB" sz="3200" dirty="0">
                <a:solidFill>
                  <a:schemeClr val="accent2"/>
                </a:solidFill>
              </a:rPr>
              <a:t>, and </a:t>
            </a:r>
            <a:r>
              <a:rPr lang="en-GB" sz="3200" b="1" dirty="0">
                <a:solidFill>
                  <a:schemeClr val="accent2"/>
                </a:solidFill>
              </a:rPr>
              <a:t>buffering</a:t>
            </a:r>
            <a:r>
              <a:rPr lang="en-GB" sz="3200" dirty="0">
                <a:solidFill>
                  <a:schemeClr val="accent2"/>
                </a:solidFill>
              </a:rPr>
              <a:t> all fit together within </a:t>
            </a:r>
            <a:r>
              <a:rPr lang="en-GB" sz="3200" b="1" dirty="0">
                <a:solidFill>
                  <a:schemeClr val="accent2"/>
                </a:solidFill>
              </a:rPr>
              <a:t>message-passing systems</a:t>
            </a:r>
            <a:r>
              <a:rPr lang="en-GB" sz="3200" dirty="0">
                <a:solidFill>
                  <a:schemeClr val="accent2"/>
                </a:solidFill>
              </a:rPr>
              <a:t>.</a:t>
            </a:r>
            <a:endParaRPr lang="en-GB" sz="3200" dirty="0">
              <a:solidFill>
                <a:schemeClr val="accent2"/>
              </a:solidFill>
            </a:endParaRPr>
          </a:p>
        </p:txBody>
      </p:sp>
      <p:sp>
        <p:nvSpPr>
          <p:cNvPr id="5" name="Text Placeholder 2"/>
          <p:cNvSpPr txBox="1"/>
          <p:nvPr/>
        </p:nvSpPr>
        <p:spPr>
          <a:xfrm>
            <a:off x="761999" y="2032534"/>
            <a:ext cx="10667999" cy="3723373"/>
          </a:xfrm>
          <a:prstGeom prst="rect">
            <a:avLst/>
          </a:prstGeom>
        </p:spPr>
        <p:txBody>
          <a:bodyPr/>
          <a:lstStyle>
            <a:lvl1pPr marL="0" indent="0" algn="l" defTabSz="914400" rtl="0" eaLnBrk="1" latinLnBrk="0" hangingPunct="1">
              <a:lnSpc>
                <a:spcPct val="100000"/>
              </a:lnSpc>
              <a:spcBef>
                <a:spcPts val="1000"/>
              </a:spcBef>
              <a:buFont typeface="Arial" panose="020B0604020202020204" pitchFamily="34" charset="0"/>
              <a:buNone/>
              <a:defRPr sz="1800" b="0" kern="1200">
                <a:solidFill>
                  <a:schemeClr val="bg1"/>
                </a:solidFill>
                <a:latin typeface="+mn-lt"/>
                <a:ea typeface="+mn-ea"/>
                <a:cs typeface="+mn-cs"/>
              </a:defRPr>
            </a:lvl1pPr>
            <a:lvl2pPr marL="228600" indent="-228600" algn="l" defTabSz="914400" rtl="0" eaLnBrk="1" latinLnBrk="0" hangingPunct="1">
              <a:lnSpc>
                <a:spcPct val="100000"/>
              </a:lnSpc>
              <a:spcBef>
                <a:spcPts val="1000"/>
              </a:spcBef>
              <a:buFont typeface="Arial" panose="020B0604020202020204" pitchFamily="34" charset="0"/>
              <a:buChar char="•"/>
              <a:defRPr sz="1800" b="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All </a:t>
            </a:r>
            <a:r>
              <a:rPr lang="en-GB" b="1" dirty="0"/>
              <a:t>three aspects — naming, synchronization, and buffering — operate together</a:t>
            </a:r>
            <a:r>
              <a:rPr lang="en-GB" dirty="0"/>
              <a:t> within a single message exchange between two (or more) processes. They aren’t separate stages or alternatives; they are </a:t>
            </a:r>
            <a:r>
              <a:rPr lang="en-GB" b="1" dirty="0"/>
              <a:t>different dimensions</a:t>
            </a:r>
            <a:r>
              <a:rPr lang="en-GB" dirty="0"/>
              <a:t> of how the same communication event behaves.</a:t>
            </a:r>
            <a:endParaRPr lang="en-GB" dirty="0"/>
          </a:p>
          <a:p>
            <a:endParaRPr lang="en-GB" dirty="0"/>
          </a:p>
          <a:p>
            <a:pPr marL="285750" indent="-285750">
              <a:buFont typeface="Arial" panose="020B0604020202020204" pitchFamily="34" charset="0"/>
              <a:buChar char="•"/>
            </a:pPr>
            <a:r>
              <a:rPr lang="en-GB" dirty="0"/>
              <a:t>The communication link is the </a:t>
            </a:r>
            <a:r>
              <a:rPr lang="en-GB" i="1" dirty="0"/>
              <a:t>“channel.”</a:t>
            </a:r>
            <a:endParaRPr lang="en-GB" i="1" dirty="0"/>
          </a:p>
          <a:p>
            <a:pPr marL="285750" indent="-285750">
              <a:buFont typeface="Arial" panose="020B0604020202020204" pitchFamily="34" charset="0"/>
              <a:buChar char="•"/>
            </a:pPr>
            <a:r>
              <a:rPr lang="en-GB" dirty="0"/>
              <a:t>Naming decides </a:t>
            </a:r>
            <a:r>
              <a:rPr lang="en-GB" i="1" dirty="0"/>
              <a:t>who talks to whom</a:t>
            </a:r>
            <a:r>
              <a:rPr lang="en-GB" dirty="0"/>
              <a:t>.</a:t>
            </a:r>
            <a:endParaRPr lang="en-GB" dirty="0"/>
          </a:p>
          <a:p>
            <a:pPr marL="285750" indent="-285750">
              <a:buFont typeface="Arial" panose="020B0604020202020204" pitchFamily="34" charset="0"/>
              <a:buChar char="•"/>
            </a:pPr>
            <a:r>
              <a:rPr lang="en-GB" dirty="0"/>
              <a:t>Synchronization decides </a:t>
            </a:r>
            <a:r>
              <a:rPr lang="en-GB" i="1" dirty="0"/>
              <a:t>when they talk</a:t>
            </a:r>
            <a:r>
              <a:rPr lang="en-GB" dirty="0"/>
              <a:t>.</a:t>
            </a:r>
            <a:endParaRPr lang="en-GB" dirty="0"/>
          </a:p>
          <a:p>
            <a:pPr marL="285750" indent="-285750">
              <a:buFont typeface="Arial" panose="020B0604020202020204" pitchFamily="34" charset="0"/>
              <a:buChar char="•"/>
            </a:pPr>
            <a:r>
              <a:rPr lang="en-GB" dirty="0"/>
              <a:t>Buffering decides </a:t>
            </a:r>
            <a:r>
              <a:rPr lang="en-GB" i="1" dirty="0"/>
              <a:t>how messages are held in between</a:t>
            </a:r>
            <a:r>
              <a:rPr lang="en-GB" dirty="0"/>
              <a:t>.</a:t>
            </a:r>
            <a:endParaRPr lang="en-GB"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Naming in Message-Passing Systems</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When processes need to exchange information, they must have a way to </a:t>
            </a:r>
            <a:r>
              <a:rPr lang="en-GB" sz="2000" b="1" dirty="0"/>
              <a:t>refer to each other</a:t>
            </a:r>
            <a:r>
              <a:rPr lang="en-GB" sz="2000" dirty="0"/>
              <a:t>. This means there must be a mechanism that identifies </a:t>
            </a:r>
            <a:r>
              <a:rPr lang="en-GB" sz="2000" i="1" dirty="0"/>
              <a:t>who is sending</a:t>
            </a:r>
            <a:r>
              <a:rPr lang="en-GB" sz="2000" dirty="0"/>
              <a:t> and </a:t>
            </a:r>
            <a:r>
              <a:rPr lang="en-GB" sz="2000" i="1" dirty="0"/>
              <a:t>who is receiving</a:t>
            </a:r>
            <a:r>
              <a:rPr lang="en-GB" sz="2000" dirty="0"/>
              <a:t> the message. The method used to identify communicating partners is known as </a:t>
            </a:r>
            <a:r>
              <a:rPr lang="en-GB" sz="2000" b="1" dirty="0"/>
              <a:t>naming</a:t>
            </a:r>
            <a:r>
              <a:rPr lang="en-GB" sz="2000" dirty="0"/>
              <a:t>.</a:t>
            </a:r>
            <a:endParaRPr lang="en-GB" sz="2000" dirty="0"/>
          </a:p>
          <a:p>
            <a:r>
              <a:rPr lang="en-GB" sz="2000" dirty="0"/>
              <a:t>There are two main approaches to naming in message-passing systems:</a:t>
            </a:r>
            <a:endParaRPr lang="en-GB" sz="2000" dirty="0"/>
          </a:p>
          <a:p>
            <a:pPr marL="342900" indent="-342900">
              <a:buFont typeface="Arial" panose="020B0604020202020204" pitchFamily="34" charset="0"/>
              <a:buChar char="•"/>
            </a:pPr>
            <a:r>
              <a:rPr lang="en-GB" sz="2000" b="1" dirty="0"/>
              <a:t>Direct Communication</a:t>
            </a:r>
            <a:endParaRPr lang="en-GB" sz="2000" dirty="0"/>
          </a:p>
          <a:p>
            <a:pPr marL="342900" indent="-342900">
              <a:buFont typeface="Arial" panose="020B0604020202020204" pitchFamily="34" charset="0"/>
              <a:buChar char="•"/>
            </a:pPr>
            <a:r>
              <a:rPr lang="en-GB" sz="2000" b="1" dirty="0"/>
              <a:t>Indirect Communication</a:t>
            </a:r>
            <a:endParaRPr lang="en-GB" sz="2000" dirty="0"/>
          </a:p>
          <a:p>
            <a:r>
              <a:rPr lang="en-GB" sz="2000" dirty="0"/>
              <a:t>Both approaches define how processes establish communication links and how messages are exchanged between them.</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1. Direct Communication</a:t>
            </a:r>
            <a:endParaRPr lang="en-GB" sz="3600" dirty="0"/>
          </a:p>
        </p:txBody>
      </p:sp>
      <p:sp>
        <p:nvSpPr>
          <p:cNvPr id="11" name="Text Placeholder 10"/>
          <p:cNvSpPr>
            <a:spLocks noGrp="1"/>
          </p:cNvSpPr>
          <p:nvPr>
            <p:ph type="body" sz="quarter" idx="11"/>
          </p:nvPr>
        </p:nvSpPr>
        <p:spPr>
          <a:xfrm>
            <a:off x="761999" y="1227541"/>
            <a:ext cx="10903419" cy="4660230"/>
          </a:xfrm>
        </p:spPr>
        <p:txBody>
          <a:bodyPr/>
          <a:lstStyle/>
          <a:p>
            <a:r>
              <a:rPr lang="en-GB" sz="2000" dirty="0"/>
              <a:t>Under </a:t>
            </a:r>
            <a:r>
              <a:rPr lang="en-GB" sz="2000" b="1" dirty="0"/>
              <a:t>direct communication</a:t>
            </a:r>
            <a:r>
              <a:rPr lang="en-GB" sz="2000" dirty="0"/>
              <a:t>, processes refer to each other </a:t>
            </a:r>
            <a:r>
              <a:rPr lang="en-GB" sz="2000" b="1" dirty="0"/>
              <a:t>explicitly</a:t>
            </a:r>
            <a:r>
              <a:rPr lang="en-GB" sz="2000" dirty="0"/>
              <a:t> by name whenever they send or receive messages. This means that the sender and receiver must know each other’s unique identifiers beforehand.</a:t>
            </a:r>
            <a:endParaRPr lang="en-GB" sz="2000" dirty="0"/>
          </a:p>
          <a:p>
            <a:r>
              <a:rPr lang="en-GB" sz="2000" dirty="0"/>
              <a:t>The communication primitives are defined as follows:</a:t>
            </a:r>
            <a:endParaRPr lang="en-GB" sz="2000" dirty="0"/>
          </a:p>
          <a:p>
            <a:r>
              <a:rPr lang="en-GB" sz="2000" b="1" dirty="0"/>
              <a:t>send(P, message)</a:t>
            </a:r>
            <a:r>
              <a:rPr lang="en-GB" sz="2000" dirty="0"/>
              <a:t> → Send a message to process </a:t>
            </a:r>
            <a:r>
              <a:rPr lang="en-GB" sz="2000" b="1" dirty="0"/>
              <a:t>P</a:t>
            </a:r>
            <a:endParaRPr lang="en-GB" sz="2000" dirty="0"/>
          </a:p>
          <a:p>
            <a:r>
              <a:rPr lang="en-GB" sz="2000" b="1" dirty="0"/>
              <a:t>receive(Q, message)</a:t>
            </a:r>
            <a:r>
              <a:rPr lang="en-GB" sz="2000" dirty="0"/>
              <a:t> → Receive a message from process </a:t>
            </a:r>
            <a:r>
              <a:rPr lang="en-GB" sz="2000" b="1" dirty="0"/>
              <a:t>Q</a:t>
            </a:r>
            <a:endParaRPr lang="en-GB" sz="2000" dirty="0"/>
          </a:p>
          <a:p>
            <a:r>
              <a:rPr lang="en-GB" sz="2000" dirty="0"/>
              <a:t>In this model, the operating system automatically establishes a </a:t>
            </a:r>
            <a:r>
              <a:rPr lang="en-GB" sz="2000" b="1" dirty="0"/>
              <a:t>communication link</a:t>
            </a:r>
            <a:r>
              <a:rPr lang="en-GB" sz="2000" dirty="0"/>
              <a:t> between any two processes that wish to communicate. The processes only need to know each other’s identity (name or ID).</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Properties of Direct Communication Links</a:t>
            </a:r>
            <a:endParaRPr lang="en-GB" sz="3600" dirty="0"/>
          </a:p>
        </p:txBody>
      </p:sp>
      <p:sp>
        <p:nvSpPr>
          <p:cNvPr id="11" name="Text Placeholder 10"/>
          <p:cNvSpPr>
            <a:spLocks noGrp="1"/>
          </p:cNvSpPr>
          <p:nvPr>
            <p:ph type="body" sz="quarter" idx="11"/>
          </p:nvPr>
        </p:nvSpPr>
        <p:spPr>
          <a:xfrm>
            <a:off x="761999" y="1670303"/>
            <a:ext cx="10903419" cy="4660230"/>
          </a:xfrm>
        </p:spPr>
        <p:txBody>
          <a:bodyPr/>
          <a:lstStyle/>
          <a:p>
            <a:pPr marL="457200" indent="-457200">
              <a:buFont typeface="+mj-lt"/>
              <a:buAutoNum type="arabicPeriod"/>
            </a:pPr>
            <a:r>
              <a:rPr lang="en-GB" sz="2000" dirty="0"/>
              <a:t>A link is automatically created between every pair of processes that wish to communicate.</a:t>
            </a:r>
            <a:endParaRPr lang="en-GB" sz="2000" dirty="0"/>
          </a:p>
          <a:p>
            <a:pPr marL="457200" indent="-457200">
              <a:buFont typeface="+mj-lt"/>
              <a:buAutoNum type="arabicPeriod"/>
            </a:pPr>
            <a:r>
              <a:rPr lang="en-GB" sz="2000" dirty="0"/>
              <a:t>Each link is associated with </a:t>
            </a:r>
            <a:r>
              <a:rPr lang="en-GB" sz="2000" b="1" dirty="0"/>
              <a:t>exactly two processes</a:t>
            </a:r>
            <a:r>
              <a:rPr lang="en-GB" sz="2000" dirty="0"/>
              <a:t> — the sender and receiver.</a:t>
            </a:r>
            <a:endParaRPr lang="en-GB" sz="2000" dirty="0"/>
          </a:p>
          <a:p>
            <a:pPr marL="457200" indent="-457200">
              <a:buFont typeface="+mj-lt"/>
              <a:buAutoNum type="arabicPeriod"/>
            </a:pPr>
            <a:r>
              <a:rPr lang="en-GB" sz="2000" dirty="0"/>
              <a:t>There is </a:t>
            </a:r>
            <a:r>
              <a:rPr lang="en-GB" sz="2000" b="1" dirty="0"/>
              <a:t>only one link</a:t>
            </a:r>
            <a:r>
              <a:rPr lang="en-GB" sz="2000" dirty="0"/>
              <a:t> between each pair of communicating processes.</a:t>
            </a:r>
            <a:endParaRPr lang="en-GB" sz="2000" dirty="0"/>
          </a:p>
          <a:p>
            <a:r>
              <a:rPr lang="en-GB" sz="2000" dirty="0"/>
              <a:t>This method exhibits </a:t>
            </a:r>
            <a:r>
              <a:rPr lang="en-GB" sz="2000" b="1" dirty="0"/>
              <a:t>symmetry</a:t>
            </a:r>
            <a:r>
              <a:rPr lang="en-GB" sz="2000" dirty="0"/>
              <a:t> because both sender and receiver must specify the other’s name. For example, process </a:t>
            </a:r>
            <a:r>
              <a:rPr lang="en-GB" dirty="0"/>
              <a:t>P1</a:t>
            </a:r>
            <a:r>
              <a:rPr lang="en-GB" sz="2000" dirty="0"/>
              <a:t> must name </a:t>
            </a:r>
            <a:r>
              <a:rPr lang="en-GB" dirty="0"/>
              <a:t>P2</a:t>
            </a:r>
            <a:r>
              <a:rPr lang="en-GB" sz="2000" dirty="0"/>
              <a:t> in its </a:t>
            </a:r>
            <a:r>
              <a:rPr lang="en-GB" dirty="0"/>
              <a:t>send()</a:t>
            </a:r>
            <a:r>
              <a:rPr lang="en-GB" sz="2000" dirty="0"/>
              <a:t> call, and </a:t>
            </a:r>
            <a:r>
              <a:rPr lang="en-GB" dirty="0"/>
              <a:t>P2</a:t>
            </a:r>
            <a:r>
              <a:rPr lang="en-GB" sz="2000" dirty="0"/>
              <a:t> must name </a:t>
            </a:r>
            <a:r>
              <a:rPr lang="en-GB" dirty="0"/>
              <a:t>P1</a:t>
            </a:r>
            <a:r>
              <a:rPr lang="en-GB" sz="2000" dirty="0"/>
              <a:t> in its </a:t>
            </a:r>
            <a:r>
              <a:rPr lang="en-GB" dirty="0"/>
              <a:t>receive()</a:t>
            </a:r>
            <a:r>
              <a:rPr lang="en-GB" sz="2000" dirty="0"/>
              <a:t> call.</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Properties of Direct Communication Links</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sz="2000" b="1" dirty="0"/>
              <a:t>Symmetric vs. Asymmetric Addressing</a:t>
            </a:r>
            <a:endParaRPr lang="en-GB" sz="2000" b="1" dirty="0"/>
          </a:p>
          <a:p>
            <a:r>
              <a:rPr lang="en-GB" sz="2000" dirty="0"/>
              <a:t>While the symmetric model requires both sender and receiver to know each other’s names, a variant known as </a:t>
            </a:r>
            <a:r>
              <a:rPr lang="en-GB" sz="2000" b="1" dirty="0"/>
              <a:t>asymmetric communication</a:t>
            </a:r>
            <a:r>
              <a:rPr lang="en-GB" sz="2000" dirty="0"/>
              <a:t> removes this restriction for the receiver.</a:t>
            </a:r>
            <a:endParaRPr lang="en-GB" sz="2000" dirty="0"/>
          </a:p>
          <a:p>
            <a:r>
              <a:rPr lang="en-GB" sz="2000" dirty="0"/>
              <a:t>In the </a:t>
            </a:r>
            <a:r>
              <a:rPr lang="en-GB" sz="2000" b="1" dirty="0"/>
              <a:t>asymmetric</a:t>
            </a:r>
            <a:r>
              <a:rPr lang="en-GB" sz="2000" dirty="0"/>
              <a:t> version:</a:t>
            </a:r>
            <a:endParaRPr lang="en-GB" sz="2000" dirty="0"/>
          </a:p>
          <a:p>
            <a:r>
              <a:rPr lang="en-GB" sz="2000" b="1" dirty="0"/>
              <a:t>send(P, message)</a:t>
            </a:r>
            <a:r>
              <a:rPr lang="en-GB" sz="2000" dirty="0"/>
              <a:t> → Send a message to process </a:t>
            </a:r>
            <a:r>
              <a:rPr lang="en-GB" sz="2000" b="1" dirty="0"/>
              <a:t>P</a:t>
            </a:r>
            <a:r>
              <a:rPr lang="en-GB" sz="2000" dirty="0"/>
              <a:t>.</a:t>
            </a:r>
            <a:endParaRPr lang="en-GB" sz="2000" dirty="0"/>
          </a:p>
          <a:p>
            <a:r>
              <a:rPr lang="en-GB" sz="2000" b="1" dirty="0"/>
              <a:t>receive(id, message)</a:t>
            </a:r>
            <a:r>
              <a:rPr lang="en-GB" sz="2000" dirty="0"/>
              <a:t> → Receive a message from </a:t>
            </a:r>
            <a:r>
              <a:rPr lang="en-GB" sz="2000" i="1" dirty="0"/>
              <a:t>any process</a:t>
            </a:r>
            <a:r>
              <a:rPr lang="en-GB" sz="2000" dirty="0"/>
              <a:t>; the variable </a:t>
            </a:r>
            <a:r>
              <a:rPr lang="en-GB" sz="2000" b="1" dirty="0"/>
              <a:t>id</a:t>
            </a:r>
            <a:r>
              <a:rPr lang="en-GB" sz="2000" dirty="0"/>
              <a:t> is automatically set to the name of the process that sent the message.</a:t>
            </a:r>
            <a:endParaRPr lang="en-GB" sz="2000" dirty="0"/>
          </a:p>
          <a:p>
            <a:r>
              <a:rPr lang="en-GB" sz="2000" dirty="0"/>
              <a:t>This design allows a receiver to accept messages from multiple sources without knowing in advance who will send them. The system identifies the sender automatically.</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Properties of Direct Communication Links</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b="1" dirty="0"/>
              <a:t>Example:</a:t>
            </a:r>
            <a:endParaRPr lang="en-GB" dirty="0"/>
          </a:p>
          <a:p>
            <a:r>
              <a:rPr lang="en-GB" dirty="0"/>
              <a:t>Suppose three processes — Client1, Client2, and Server — exist.</a:t>
            </a:r>
            <a:endParaRPr lang="en-GB" dirty="0"/>
          </a:p>
          <a:p>
            <a:pPr lvl="1"/>
            <a:r>
              <a:rPr lang="en-GB" dirty="0"/>
              <a:t>Both clients send messages using send(Server, message).</a:t>
            </a:r>
            <a:endParaRPr lang="en-GB" dirty="0"/>
          </a:p>
          <a:p>
            <a:pPr lvl="1"/>
            <a:r>
              <a:rPr lang="en-GB" dirty="0"/>
              <a:t>The server executes receive(id, message).</a:t>
            </a:r>
            <a:endParaRPr lang="en-GB" dirty="0"/>
          </a:p>
          <a:p>
            <a:pPr lvl="1"/>
            <a:r>
              <a:rPr lang="en-GB" dirty="0"/>
              <a:t>The variable id tells the server which client sent the message.</a:t>
            </a:r>
            <a:endParaRPr lang="en-GB" dirty="0"/>
          </a:p>
          <a:p>
            <a:r>
              <a:rPr lang="en-GB" dirty="0"/>
              <a:t>This is useful for </a:t>
            </a:r>
            <a:r>
              <a:rPr lang="en-GB" b="1" dirty="0"/>
              <a:t>client-server models</a:t>
            </a:r>
            <a:r>
              <a:rPr lang="en-GB" dirty="0"/>
              <a:t> where the server handles many clients simultaneously.</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Limitations of Direct Communication</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dirty="0"/>
              <a:t>Despite being simple, direct communication has a major drawback — </a:t>
            </a:r>
            <a:r>
              <a:rPr lang="en-GB" b="1" dirty="0"/>
              <a:t>poor modularity</a:t>
            </a:r>
            <a:r>
              <a:rPr lang="en-GB" dirty="0"/>
              <a:t>.</a:t>
            </a:r>
            <a:endParaRPr lang="en-GB" dirty="0"/>
          </a:p>
          <a:p>
            <a:r>
              <a:rPr lang="en-GB" dirty="0"/>
              <a:t>When process identifiers are </a:t>
            </a:r>
            <a:r>
              <a:rPr lang="en-GB" b="1" dirty="0"/>
              <a:t>hard-coded</a:t>
            </a:r>
            <a:r>
              <a:rPr lang="en-GB" dirty="0"/>
              <a:t>, any change to a process’s name or ID forces the programmer to update all references throughout the system. This reduces flexibility and makes code harder to maintain or scale.</a:t>
            </a:r>
            <a:endParaRPr lang="en-GB" dirty="0"/>
          </a:p>
          <a:p>
            <a:r>
              <a:rPr lang="en-GB" b="1" dirty="0"/>
              <a:t>Example:</a:t>
            </a:r>
            <a:br>
              <a:rPr lang="en-GB" dirty="0"/>
            </a:br>
            <a:r>
              <a:rPr lang="en-GB" dirty="0"/>
              <a:t>If a system has 10 processes all referencing </a:t>
            </a:r>
            <a:r>
              <a:rPr lang="en-GB" dirty="0" err="1"/>
              <a:t>Process_A</a:t>
            </a:r>
            <a:r>
              <a:rPr lang="en-GB" dirty="0"/>
              <a:t> directly, and we rename </a:t>
            </a:r>
            <a:r>
              <a:rPr lang="en-GB" dirty="0" err="1"/>
              <a:t>Process_A</a:t>
            </a:r>
            <a:r>
              <a:rPr lang="en-GB" dirty="0"/>
              <a:t> to </a:t>
            </a:r>
            <a:r>
              <a:rPr lang="en-GB" dirty="0" err="1"/>
              <a:t>Process_Main</a:t>
            </a:r>
            <a:r>
              <a:rPr lang="en-GB" dirty="0"/>
              <a:t>, every send() or receive() call across all processes must be updated.</a:t>
            </a:r>
            <a:endParaRPr lang="en-GB" dirty="0"/>
          </a:p>
          <a:p>
            <a:r>
              <a:rPr lang="en-GB" dirty="0"/>
              <a:t>Because of this inflexibility, operating systems often prefer </a:t>
            </a:r>
            <a:r>
              <a:rPr lang="en-GB" b="1" dirty="0"/>
              <a:t>indirect communication</a:t>
            </a:r>
            <a:r>
              <a:rPr lang="en-GB" dirty="0"/>
              <a:t>, which provides better modularity and dynamic message routing.</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2. Indirect Communication</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dirty="0"/>
              <a:t>In </a:t>
            </a:r>
            <a:r>
              <a:rPr lang="en-GB" b="1" dirty="0"/>
              <a:t>indirect communication</a:t>
            </a:r>
            <a:r>
              <a:rPr lang="en-GB" dirty="0"/>
              <a:t>, processes do not send messages directly to one another. Instead, they communicate through </a:t>
            </a:r>
            <a:r>
              <a:rPr lang="en-GB" b="1" dirty="0"/>
              <a:t>mailboxes</a:t>
            </a:r>
            <a:r>
              <a:rPr lang="en-GB" dirty="0"/>
              <a:t> (also called </a:t>
            </a:r>
            <a:r>
              <a:rPr lang="en-GB" b="1" dirty="0"/>
              <a:t>ports</a:t>
            </a:r>
            <a:r>
              <a:rPr lang="en-GB" dirty="0"/>
              <a:t>).</a:t>
            </a:r>
            <a:endParaRPr lang="en-GB" dirty="0"/>
          </a:p>
          <a:p>
            <a:r>
              <a:rPr lang="en-GB" dirty="0"/>
              <a:t>A </a:t>
            </a:r>
            <a:r>
              <a:rPr lang="en-GB" b="1" dirty="0"/>
              <a:t>mailbox</a:t>
            </a:r>
            <a:r>
              <a:rPr lang="en-GB" dirty="0"/>
              <a:t> acts as an intermediary — a container or channel where one process can </a:t>
            </a:r>
            <a:r>
              <a:rPr lang="en-GB" b="1" dirty="0"/>
              <a:t>place</a:t>
            </a:r>
            <a:r>
              <a:rPr lang="en-GB" dirty="0"/>
              <a:t> a message, and another process can </a:t>
            </a:r>
            <a:r>
              <a:rPr lang="en-GB" b="1" dirty="0"/>
              <a:t>retrieve</a:t>
            </a:r>
            <a:r>
              <a:rPr lang="en-GB" dirty="0"/>
              <a:t> it later.</a:t>
            </a:r>
            <a:endParaRPr lang="en-GB" dirty="0"/>
          </a:p>
          <a:p>
            <a:r>
              <a:rPr lang="en-GB" dirty="0"/>
              <a:t>Each mailbox has a </a:t>
            </a:r>
            <a:r>
              <a:rPr lang="en-GB" b="1" dirty="0"/>
              <a:t>unique identifier</a:t>
            </a:r>
            <a:r>
              <a:rPr lang="en-GB" dirty="0"/>
              <a:t>, such as an integer value (as in POSIX message queues). Communication occurs only if processes share access to the same mailbox.</a:t>
            </a:r>
            <a:endParaRPr lang="en-GB" dirty="0"/>
          </a:p>
          <a:p>
            <a:r>
              <a:rPr lang="en-GB" dirty="0"/>
              <a:t>The primitives are defined as:</a:t>
            </a:r>
            <a:endParaRPr lang="en-GB" dirty="0"/>
          </a:p>
          <a:p>
            <a:r>
              <a:rPr lang="en-GB" b="1" dirty="0"/>
              <a:t>send(A, message)</a:t>
            </a:r>
            <a:r>
              <a:rPr lang="en-GB" dirty="0"/>
              <a:t> → Send a message to mailbox </a:t>
            </a:r>
            <a:r>
              <a:rPr lang="en-GB" b="1" dirty="0"/>
              <a:t>A</a:t>
            </a:r>
            <a:endParaRPr lang="en-GB" dirty="0"/>
          </a:p>
          <a:p>
            <a:r>
              <a:rPr lang="en-GB" b="1" dirty="0"/>
              <a:t>receive(A, message)</a:t>
            </a:r>
            <a:r>
              <a:rPr lang="en-GB" dirty="0"/>
              <a:t> → Receive a message from mailbox </a:t>
            </a:r>
            <a:r>
              <a:rPr lang="en-GB" b="1" dirty="0"/>
              <a:t>A</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Properties of Indirect Communication Links</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pPr marL="342900" indent="-342900">
              <a:buFont typeface="+mj-lt"/>
              <a:buAutoNum type="arabicPeriod"/>
            </a:pPr>
            <a:r>
              <a:rPr lang="en-GB" dirty="0"/>
              <a:t>A communication link exists only if both processes share a common mailbox.</a:t>
            </a:r>
            <a:endParaRPr lang="en-GB" dirty="0"/>
          </a:p>
          <a:p>
            <a:pPr marL="342900" indent="-342900">
              <a:buFont typeface="+mj-lt"/>
              <a:buAutoNum type="arabicPeriod"/>
            </a:pPr>
            <a:r>
              <a:rPr lang="en-GB" dirty="0"/>
              <a:t>A single mailbox can be associated with </a:t>
            </a:r>
            <a:r>
              <a:rPr lang="en-GB" b="1" dirty="0"/>
              <a:t>more than two processes</a:t>
            </a:r>
            <a:r>
              <a:rPr lang="en-GB" dirty="0"/>
              <a:t>.</a:t>
            </a:r>
            <a:endParaRPr lang="en-GB" dirty="0"/>
          </a:p>
          <a:p>
            <a:pPr marL="342900" indent="-342900">
              <a:buFont typeface="+mj-lt"/>
              <a:buAutoNum type="arabicPeriod"/>
            </a:pPr>
            <a:r>
              <a:rPr lang="en-GB" dirty="0"/>
              <a:t>Multiple links can exist between the same pair of processes, with each link represented by a different mailbox.</a:t>
            </a:r>
            <a:endParaRPr lang="en-GB" dirty="0"/>
          </a:p>
          <a:p>
            <a:r>
              <a:rPr lang="en-GB" dirty="0"/>
              <a:t>This makes the model far more flexible. A single process can communicate with several others simply by using different mailboxes.</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Example: Multiple Receivers Problem</a:t>
            </a:r>
            <a:endParaRPr lang="en-GB" sz="3600" dirty="0"/>
          </a:p>
        </p:txBody>
      </p:sp>
      <p:sp>
        <p:nvSpPr>
          <p:cNvPr id="11" name="Text Placeholder 10"/>
          <p:cNvSpPr>
            <a:spLocks noGrp="1"/>
          </p:cNvSpPr>
          <p:nvPr>
            <p:ph type="body" sz="quarter" idx="11"/>
          </p:nvPr>
        </p:nvSpPr>
        <p:spPr>
          <a:xfrm>
            <a:off x="644290" y="993007"/>
            <a:ext cx="10903419" cy="4660230"/>
          </a:xfrm>
        </p:spPr>
        <p:txBody>
          <a:bodyPr/>
          <a:lstStyle/>
          <a:p>
            <a:r>
              <a:rPr lang="en-GB" sz="2000" dirty="0"/>
              <a:t>Consider three processes: P1, P2, and P3, all sharing the same mailbox A.</a:t>
            </a:r>
            <a:endParaRPr lang="en-GB" sz="2000" dirty="0"/>
          </a:p>
          <a:p>
            <a:r>
              <a:rPr lang="en-GB" sz="2000" dirty="0"/>
              <a:t>P1 executes send(A, message) to place a message into mailbox A.</a:t>
            </a:r>
            <a:endParaRPr lang="en-GB" sz="2000" dirty="0"/>
          </a:p>
          <a:p>
            <a:r>
              <a:rPr lang="en-GB" sz="2000" dirty="0"/>
              <a:t>Both P2 and P3 execute receive(A, message) to retrieve messages.</a:t>
            </a:r>
            <a:endParaRPr lang="en-GB" sz="2000" dirty="0"/>
          </a:p>
          <a:p>
            <a:r>
              <a:rPr lang="en-GB" sz="2000" dirty="0"/>
              <a:t>The question arises: </a:t>
            </a:r>
            <a:r>
              <a:rPr lang="en-GB" sz="2000" b="1" dirty="0"/>
              <a:t>Who actually receives the message?</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Example: Multiple Receivers Problem</a:t>
            </a:r>
            <a:endParaRPr lang="en-GB" sz="3600" dirty="0"/>
          </a:p>
        </p:txBody>
      </p:sp>
      <p:sp>
        <p:nvSpPr>
          <p:cNvPr id="11" name="Text Placeholder 10"/>
          <p:cNvSpPr>
            <a:spLocks noGrp="1"/>
          </p:cNvSpPr>
          <p:nvPr>
            <p:ph type="body" sz="quarter" idx="11"/>
          </p:nvPr>
        </p:nvSpPr>
        <p:spPr>
          <a:xfrm>
            <a:off x="644290" y="993007"/>
            <a:ext cx="10903419" cy="4660230"/>
          </a:xfrm>
        </p:spPr>
        <p:txBody>
          <a:bodyPr/>
          <a:lstStyle/>
          <a:p>
            <a:r>
              <a:rPr lang="en-GB" sz="2000" dirty="0"/>
              <a:t>This depends on the system’s design. Several strategies are possible:</a:t>
            </a:r>
            <a:endParaRPr lang="en-GB" sz="2000" dirty="0"/>
          </a:p>
          <a:p>
            <a:r>
              <a:rPr lang="en-GB" sz="2000" b="1" dirty="0"/>
              <a:t>One-to-One Restriction:</a:t>
            </a:r>
            <a:br>
              <a:rPr lang="en-GB" sz="2000" dirty="0"/>
            </a:br>
            <a:r>
              <a:rPr lang="en-GB" sz="2000" dirty="0"/>
              <a:t>Only two processes can share a mailbox at a time (e.g., one sender and one receiver).</a:t>
            </a:r>
            <a:endParaRPr lang="en-GB" sz="2000" dirty="0"/>
          </a:p>
          <a:p>
            <a:r>
              <a:rPr lang="en-GB" sz="2000" b="1" dirty="0"/>
              <a:t>Single Receiver Restriction:</a:t>
            </a:r>
            <a:br>
              <a:rPr lang="en-GB" sz="2000" dirty="0"/>
            </a:br>
            <a:r>
              <a:rPr lang="en-GB" sz="2000" dirty="0"/>
              <a:t>Only one process at a time is allowed to execute a receive() from that mailbox. Others must wait.</a:t>
            </a:r>
            <a:endParaRPr lang="en-GB" sz="2000" dirty="0"/>
          </a:p>
          <a:p>
            <a:r>
              <a:rPr lang="en-GB" sz="2000" b="1" dirty="0"/>
              <a:t>System-Selected Receiver:</a:t>
            </a:r>
            <a:br>
              <a:rPr lang="en-GB" sz="2000" dirty="0"/>
            </a:br>
            <a:r>
              <a:rPr lang="en-GB" sz="2000" dirty="0"/>
              <a:t>The operating system automatically decides which process receives the message—either </a:t>
            </a:r>
            <a:r>
              <a:rPr lang="en-GB" sz="2000" b="1" dirty="0"/>
              <a:t>randomly</a:t>
            </a:r>
            <a:r>
              <a:rPr lang="en-GB" sz="2000" dirty="0"/>
              <a:t> or using a defined algorithm like </a:t>
            </a:r>
            <a:r>
              <a:rPr lang="en-GB" sz="2000" b="1" dirty="0"/>
              <a:t>round-robin</a:t>
            </a:r>
            <a:r>
              <a:rPr lang="en-GB" sz="2000" dirty="0"/>
              <a:t>, where receivers take turns.</a:t>
            </a:r>
            <a:endParaRPr lang="en-GB" sz="2000" dirty="0"/>
          </a:p>
          <a:p>
            <a:r>
              <a:rPr lang="en-GB" sz="2000" dirty="0"/>
              <a:t>The system may also inform the sender which process actually received the message, which can be useful for tracking communication in distributed systems.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Mailbox Ownership</a:t>
            </a:r>
            <a:endParaRPr lang="en-GB" sz="3600" dirty="0"/>
          </a:p>
        </p:txBody>
      </p:sp>
      <p:sp>
        <p:nvSpPr>
          <p:cNvPr id="11" name="Text Placeholder 10"/>
          <p:cNvSpPr>
            <a:spLocks noGrp="1"/>
          </p:cNvSpPr>
          <p:nvPr>
            <p:ph type="body" sz="quarter" idx="11"/>
          </p:nvPr>
        </p:nvSpPr>
        <p:spPr>
          <a:xfrm>
            <a:off x="644290" y="993007"/>
            <a:ext cx="10903419" cy="4660230"/>
          </a:xfrm>
        </p:spPr>
        <p:txBody>
          <a:bodyPr/>
          <a:lstStyle/>
          <a:p>
            <a:r>
              <a:rPr lang="en-GB" sz="2000" dirty="0"/>
              <a:t>Mailboxes can be </a:t>
            </a:r>
            <a:r>
              <a:rPr lang="en-GB" sz="2000" b="1" dirty="0"/>
              <a:t>owned</a:t>
            </a:r>
            <a:r>
              <a:rPr lang="en-GB" sz="2000" dirty="0"/>
              <a:t> either by a process or by the </a:t>
            </a:r>
            <a:r>
              <a:rPr lang="en-GB" sz="2000" b="1" dirty="0"/>
              <a:t>operating system</a:t>
            </a:r>
            <a:r>
              <a:rPr lang="en-GB" sz="2000" dirty="0"/>
              <a:t> itself, and ownership determines how long the mailbox exists and who can use it.</a:t>
            </a:r>
            <a:endParaRPr lang="en-GB" sz="2000" dirty="0"/>
          </a:p>
          <a:p>
            <a:r>
              <a:rPr lang="en-GB" sz="2000" b="1" dirty="0"/>
              <a:t>a. Mailbox Owned by a Process</a:t>
            </a:r>
            <a:endParaRPr lang="en-GB" sz="2000" b="1" dirty="0"/>
          </a:p>
          <a:p>
            <a:pPr marL="342900" indent="-342900">
              <a:buFont typeface="Arial" panose="020B0604020202020204" pitchFamily="34" charset="0"/>
              <a:buChar char="•"/>
            </a:pPr>
            <a:r>
              <a:rPr lang="en-GB" sz="2000" dirty="0"/>
              <a:t>The mailbox belongs to a specific process and is part of its address space.</a:t>
            </a:r>
            <a:endParaRPr lang="en-GB" sz="2000" dirty="0"/>
          </a:p>
          <a:p>
            <a:pPr marL="342900" indent="-342900">
              <a:buFont typeface="Arial" panose="020B0604020202020204" pitchFamily="34" charset="0"/>
              <a:buChar char="•"/>
            </a:pPr>
            <a:r>
              <a:rPr lang="en-GB" sz="2000" dirty="0"/>
              <a:t>The </a:t>
            </a:r>
            <a:r>
              <a:rPr lang="en-GB" sz="2000" b="1" dirty="0"/>
              <a:t>owner</a:t>
            </a:r>
            <a:r>
              <a:rPr lang="en-GB" sz="2000" dirty="0"/>
              <a:t> can only </a:t>
            </a:r>
            <a:r>
              <a:rPr lang="en-GB" sz="2000" b="1" dirty="0"/>
              <a:t>receive</a:t>
            </a:r>
            <a:r>
              <a:rPr lang="en-GB" sz="2000" dirty="0"/>
              <a:t> messages from it.</a:t>
            </a:r>
            <a:endParaRPr lang="en-GB" sz="2000" dirty="0"/>
          </a:p>
          <a:p>
            <a:pPr marL="342900" indent="-342900">
              <a:buFont typeface="Arial" panose="020B0604020202020204" pitchFamily="34" charset="0"/>
              <a:buChar char="•"/>
            </a:pPr>
            <a:r>
              <a:rPr lang="en-GB" sz="2000" dirty="0"/>
              <a:t>Other processes (called </a:t>
            </a:r>
            <a:r>
              <a:rPr lang="en-GB" sz="2000" b="1" dirty="0"/>
              <a:t>users</a:t>
            </a:r>
            <a:r>
              <a:rPr lang="en-GB" sz="2000" dirty="0"/>
              <a:t>) can only </a:t>
            </a:r>
            <a:r>
              <a:rPr lang="en-GB" sz="2000" b="1" dirty="0"/>
              <a:t>send</a:t>
            </a:r>
            <a:r>
              <a:rPr lang="en-GB" sz="2000" dirty="0"/>
              <a:t> messages to it.</a:t>
            </a:r>
            <a:endParaRPr lang="en-GB" sz="2000" dirty="0"/>
          </a:p>
          <a:p>
            <a:pPr marL="342900" indent="-342900">
              <a:buFont typeface="Arial" panose="020B0604020202020204" pitchFamily="34" charset="0"/>
              <a:buChar char="•"/>
            </a:pPr>
            <a:r>
              <a:rPr lang="en-GB" sz="2000" dirty="0"/>
              <a:t>When the owner terminates, the mailbox is automatically destroyed.</a:t>
            </a:r>
            <a:endParaRPr lang="en-GB" sz="2000" dirty="0"/>
          </a:p>
          <a:p>
            <a:pPr marL="342900" indent="-342900">
              <a:buFont typeface="Arial" panose="020B0604020202020204" pitchFamily="34" charset="0"/>
              <a:buChar char="•"/>
            </a:pPr>
            <a:r>
              <a:rPr lang="en-GB" sz="2000" dirty="0"/>
              <a:t>Any process trying to send to this mailbox afterward must be notified that it no longer exists.</a:t>
            </a:r>
            <a:endParaRPr lang="en-GB" sz="2000" dirty="0"/>
          </a:p>
          <a:p>
            <a:r>
              <a:rPr lang="en-GB" sz="2000" b="1" dirty="0"/>
              <a:t>Example:</a:t>
            </a:r>
            <a:br>
              <a:rPr lang="en-GB" sz="2000" dirty="0"/>
            </a:br>
            <a:r>
              <a:rPr lang="en-GB" sz="2000" dirty="0"/>
              <a:t>If </a:t>
            </a:r>
            <a:r>
              <a:rPr lang="en-GB" dirty="0" err="1"/>
              <a:t>Process_A</a:t>
            </a:r>
            <a:r>
              <a:rPr lang="en-GB" sz="2000" dirty="0"/>
              <a:t> owns mailbox </a:t>
            </a:r>
            <a:r>
              <a:rPr lang="en-GB" dirty="0"/>
              <a:t>M1</a:t>
            </a:r>
            <a:r>
              <a:rPr lang="en-GB" sz="2000" dirty="0"/>
              <a:t>, and </a:t>
            </a:r>
            <a:r>
              <a:rPr lang="en-GB" dirty="0" err="1"/>
              <a:t>Process_B</a:t>
            </a:r>
            <a:r>
              <a:rPr lang="en-GB" sz="2000" dirty="0"/>
              <a:t> sends a message to </a:t>
            </a:r>
            <a:r>
              <a:rPr lang="en-GB" dirty="0"/>
              <a:t>M1</a:t>
            </a:r>
            <a:r>
              <a:rPr lang="en-GB" sz="2000" dirty="0"/>
              <a:t>, only </a:t>
            </a:r>
            <a:r>
              <a:rPr lang="en-GB" dirty="0" err="1"/>
              <a:t>Process_A</a:t>
            </a:r>
            <a:r>
              <a:rPr lang="en-GB" sz="2000" dirty="0"/>
              <a:t> can receive it. When </a:t>
            </a:r>
            <a:r>
              <a:rPr lang="en-GB" dirty="0" err="1"/>
              <a:t>Process_A</a:t>
            </a:r>
            <a:r>
              <a:rPr lang="en-GB" sz="2000" dirty="0"/>
              <a:t> ends, </a:t>
            </a:r>
            <a:r>
              <a:rPr lang="en-GB" dirty="0"/>
              <a:t>M1</a:t>
            </a:r>
            <a:r>
              <a:rPr lang="en-GB" sz="2000" dirty="0"/>
              <a:t> is deleted automatically.</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Mailbox Ownership</a:t>
            </a:r>
            <a:endParaRPr lang="en-GB" sz="3600" dirty="0"/>
          </a:p>
        </p:txBody>
      </p:sp>
      <p:sp>
        <p:nvSpPr>
          <p:cNvPr id="11" name="Text Placeholder 10"/>
          <p:cNvSpPr>
            <a:spLocks noGrp="1"/>
          </p:cNvSpPr>
          <p:nvPr>
            <p:ph type="body" sz="quarter" idx="11"/>
          </p:nvPr>
        </p:nvSpPr>
        <p:spPr>
          <a:xfrm>
            <a:off x="644290" y="993007"/>
            <a:ext cx="10903419" cy="4660230"/>
          </a:xfrm>
        </p:spPr>
        <p:txBody>
          <a:bodyPr/>
          <a:lstStyle/>
          <a:p>
            <a:r>
              <a:rPr lang="en-GB" b="1" dirty="0"/>
              <a:t>b. Mailbox Owned by the Operating System</a:t>
            </a:r>
            <a:endParaRPr lang="en-GB" b="1" dirty="0"/>
          </a:p>
          <a:p>
            <a:r>
              <a:rPr lang="en-GB" dirty="0"/>
              <a:t>The mailbox exists independently of any specific process.</a:t>
            </a:r>
            <a:endParaRPr lang="en-GB" dirty="0"/>
          </a:p>
          <a:p>
            <a:r>
              <a:rPr lang="en-GB" dirty="0"/>
              <a:t>It continues to exist even if processes that use it terminate.</a:t>
            </a:r>
            <a:endParaRPr lang="en-GB" dirty="0"/>
          </a:p>
          <a:p>
            <a:r>
              <a:rPr lang="en-GB" dirty="0"/>
              <a:t>The OS provides system calls for:</a:t>
            </a:r>
            <a:endParaRPr lang="en-GB" dirty="0"/>
          </a:p>
          <a:p>
            <a:pPr lvl="1"/>
            <a:r>
              <a:rPr lang="en-GB" b="1" dirty="0"/>
              <a:t>Creating</a:t>
            </a:r>
            <a:r>
              <a:rPr lang="en-GB" dirty="0"/>
              <a:t> a new mailbox.</a:t>
            </a:r>
            <a:endParaRPr lang="en-GB" dirty="0"/>
          </a:p>
          <a:p>
            <a:pPr lvl="1"/>
            <a:r>
              <a:rPr lang="en-GB" b="1" dirty="0"/>
              <a:t>Sending/receiving</a:t>
            </a:r>
            <a:r>
              <a:rPr lang="en-GB" dirty="0"/>
              <a:t> messages through it.</a:t>
            </a:r>
            <a:endParaRPr lang="en-GB" dirty="0"/>
          </a:p>
          <a:p>
            <a:pPr lvl="1"/>
            <a:r>
              <a:rPr lang="en-GB" b="1" dirty="0"/>
              <a:t>Deleting</a:t>
            </a:r>
            <a:r>
              <a:rPr lang="en-GB" dirty="0"/>
              <a:t> the mailbox.</a:t>
            </a:r>
            <a:endParaRPr lang="en-GB" dirty="0"/>
          </a:p>
          <a:p>
            <a:r>
              <a:rPr lang="en-GB" dirty="0"/>
              <a:t>By default, the process that creates a mailbox becomes its </a:t>
            </a:r>
            <a:r>
              <a:rPr lang="en-GB" b="1" dirty="0"/>
              <a:t>owner</a:t>
            </a:r>
            <a:r>
              <a:rPr lang="en-GB" dirty="0"/>
              <a:t>. Initially, only the owner can receive messages from it. However, ownership and receiving privileges can be </a:t>
            </a:r>
            <a:r>
              <a:rPr lang="en-GB" b="1" dirty="0"/>
              <a:t>transferred</a:t>
            </a:r>
            <a:r>
              <a:rPr lang="en-GB" dirty="0"/>
              <a:t> to other processes through special system calls.</a:t>
            </a:r>
            <a:endParaRPr lang="en-GB" dirty="0"/>
          </a:p>
          <a:p>
            <a:r>
              <a:rPr lang="en-GB" dirty="0"/>
              <a:t>This flexibility allows for </a:t>
            </a:r>
            <a:r>
              <a:rPr lang="en-GB" b="1" dirty="0"/>
              <a:t>multiple receivers</a:t>
            </a:r>
            <a:r>
              <a:rPr lang="en-GB" dirty="0"/>
              <a:t> per mailbox — a feature useful in applications like </a:t>
            </a:r>
            <a:r>
              <a:rPr lang="en-GB" b="1" dirty="0"/>
              <a:t>load balancing</a:t>
            </a:r>
            <a:r>
              <a:rPr lang="en-GB" dirty="0"/>
              <a:t>, where multiple worker processes receive tasks from a shared queue.</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Synchronization</a:t>
            </a:r>
            <a:endParaRPr lang="en-GB" sz="3600" dirty="0"/>
          </a:p>
        </p:txBody>
      </p:sp>
      <p:sp>
        <p:nvSpPr>
          <p:cNvPr id="11" name="Text Placeholder 10"/>
          <p:cNvSpPr>
            <a:spLocks noGrp="1"/>
          </p:cNvSpPr>
          <p:nvPr>
            <p:ph type="body" sz="quarter" idx="11"/>
          </p:nvPr>
        </p:nvSpPr>
        <p:spPr>
          <a:xfrm>
            <a:off x="644290" y="993007"/>
            <a:ext cx="10903419" cy="4660230"/>
          </a:xfrm>
        </p:spPr>
        <p:txBody>
          <a:bodyPr/>
          <a:lstStyle/>
          <a:p>
            <a:r>
              <a:rPr lang="en-GB" sz="2000" dirty="0"/>
              <a:t>Communication between processes takes place through calls to send() and receive() primitives. There are different design options for implementing each primitive. </a:t>
            </a:r>
            <a:endParaRPr lang="en-GB" sz="2000" dirty="0"/>
          </a:p>
          <a:p>
            <a:r>
              <a:rPr lang="en-GB" sz="2000" dirty="0"/>
              <a:t>Message passing may be either blocking or nonblocking— also known as synchronous and asynchronous</a:t>
            </a:r>
            <a:endParaRPr lang="en-GB" sz="2000" dirty="0"/>
          </a:p>
          <a:p>
            <a:pPr marL="285750" indent="-285750">
              <a:buFont typeface="Arial" panose="020B0604020202020204" pitchFamily="34" charset="0"/>
              <a:buChar char="•"/>
            </a:pPr>
            <a:r>
              <a:rPr lang="en-GB" sz="2000" b="1" dirty="0"/>
              <a:t>Blocking send. </a:t>
            </a:r>
            <a:r>
              <a:rPr lang="en-GB" sz="2000" dirty="0"/>
              <a:t>The sending process is blocked until the message is received by the receiving process or by the mailbox. </a:t>
            </a:r>
            <a:endParaRPr lang="en-GB" sz="2000" dirty="0"/>
          </a:p>
          <a:p>
            <a:pPr marL="285750" indent="-285750">
              <a:buFont typeface="Arial" panose="020B0604020202020204" pitchFamily="34" charset="0"/>
              <a:buChar char="•"/>
            </a:pPr>
            <a:r>
              <a:rPr lang="en-GB" sz="2000" b="1" dirty="0"/>
              <a:t>Nonblocking send</a:t>
            </a:r>
            <a:r>
              <a:rPr lang="en-GB" sz="2000" dirty="0"/>
              <a:t>. The sending process sends the message and resumes operation. </a:t>
            </a:r>
            <a:endParaRPr lang="en-GB" sz="2000" dirty="0"/>
          </a:p>
          <a:p>
            <a:pPr marL="285750" indent="-285750">
              <a:buFont typeface="Arial" panose="020B0604020202020204" pitchFamily="34" charset="0"/>
              <a:buChar char="•"/>
            </a:pPr>
            <a:r>
              <a:rPr lang="en-GB" sz="2000" b="1" dirty="0"/>
              <a:t>Blocking receive. </a:t>
            </a:r>
            <a:r>
              <a:rPr lang="en-GB" sz="2000" dirty="0"/>
              <a:t>The receiver blocks until a message is available. </a:t>
            </a:r>
            <a:endParaRPr lang="en-GB" sz="2000" dirty="0"/>
          </a:p>
          <a:p>
            <a:pPr marL="285750" indent="-285750">
              <a:buFont typeface="Arial" panose="020B0604020202020204" pitchFamily="34" charset="0"/>
              <a:buChar char="•"/>
            </a:pPr>
            <a:r>
              <a:rPr lang="en-GB" sz="2000" b="1" dirty="0"/>
              <a:t>Nonblocking receive. </a:t>
            </a:r>
            <a:r>
              <a:rPr lang="en-GB" sz="2000" dirty="0"/>
              <a:t>The receiver retrieves either a valid message or a null</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Buffering</a:t>
            </a:r>
            <a:endParaRPr lang="en-GB" sz="3600" dirty="0"/>
          </a:p>
        </p:txBody>
      </p:sp>
      <p:sp>
        <p:nvSpPr>
          <p:cNvPr id="11" name="Text Placeholder 10"/>
          <p:cNvSpPr>
            <a:spLocks noGrp="1"/>
          </p:cNvSpPr>
          <p:nvPr>
            <p:ph type="body" sz="quarter" idx="11"/>
          </p:nvPr>
        </p:nvSpPr>
        <p:spPr>
          <a:xfrm>
            <a:off x="644290" y="852156"/>
            <a:ext cx="10903419" cy="4660230"/>
          </a:xfrm>
        </p:spPr>
        <p:txBody>
          <a:bodyPr/>
          <a:lstStyle/>
          <a:p>
            <a:pPr>
              <a:lnSpc>
                <a:spcPct val="150000"/>
              </a:lnSpc>
            </a:pPr>
            <a:r>
              <a:rPr lang="en-GB" sz="1900" dirty="0"/>
              <a:t>Whether communication is direct or indirect, messages exchanged by communicating processes reside in a temporary queue. Basically, such queues can be implemented in three ways: </a:t>
            </a:r>
            <a:endParaRPr lang="en-GB" sz="1900" dirty="0"/>
          </a:p>
          <a:p>
            <a:r>
              <a:rPr lang="en-GB" sz="1900" b="1" dirty="0"/>
              <a:t>• Zero capacity</a:t>
            </a:r>
            <a:r>
              <a:rPr lang="en-GB" sz="1900" dirty="0"/>
              <a:t>. The queue has a maximum length of zero; thus, the link cannot have any messages waiting in it. In this case, the sender must block until the recipient receives the message. </a:t>
            </a:r>
            <a:endParaRPr lang="en-GB" sz="1900" dirty="0"/>
          </a:p>
          <a:p>
            <a:r>
              <a:rPr lang="en-GB" sz="1900" dirty="0"/>
              <a:t>• </a:t>
            </a:r>
            <a:r>
              <a:rPr lang="en-GB" sz="1900" b="1" dirty="0"/>
              <a:t>Bounded capacity. </a:t>
            </a:r>
            <a:r>
              <a:rPr lang="en-GB" sz="1900" dirty="0"/>
              <a:t>The queue has finite length </a:t>
            </a:r>
            <a:r>
              <a:rPr lang="en-GB" sz="1900" i="1" dirty="0"/>
              <a:t>n</a:t>
            </a:r>
            <a:r>
              <a:rPr lang="en-GB" sz="1900" dirty="0"/>
              <a:t>; thus, at most </a:t>
            </a:r>
            <a:r>
              <a:rPr lang="en-GB" sz="1900" i="1" dirty="0"/>
              <a:t>n</a:t>
            </a:r>
            <a:r>
              <a:rPr lang="en-GB" sz="1900" dirty="0"/>
              <a:t> messages can reside in it. If the queue is not full when a new message is sent, the message is placed in the queue (either the message is copied or a pointer to the message is kept), and the sender can continue execution without waiting. The link’s capacity is finite, however. If the link is full, the sender must block until space is available in the queue. </a:t>
            </a:r>
            <a:endParaRPr lang="en-GB" sz="1900" dirty="0"/>
          </a:p>
          <a:p>
            <a:r>
              <a:rPr lang="en-GB" sz="1900" dirty="0"/>
              <a:t>• </a:t>
            </a:r>
            <a:r>
              <a:rPr lang="en-GB" sz="1900" b="1" dirty="0"/>
              <a:t>Unbounded capacity. </a:t>
            </a:r>
            <a:r>
              <a:rPr lang="en-GB" sz="1900" dirty="0"/>
              <a:t>The queue’s length is potentially infinite; thus, any number of messages can wait in it. The sender never blocks. The zero-capacity case is sometimes referred to as a message system with no buffering. The other cases are referred to as systems with automatic buffering</a:t>
            </a:r>
            <a:endParaRPr lang="en-GB" sz="19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Communication in Client–Server Systems </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sz="2000" dirty="0"/>
              <a:t>So far, we have  discussed  how processes can communicate using </a:t>
            </a:r>
            <a:r>
              <a:rPr lang="en-GB" sz="2000" b="1" dirty="0"/>
              <a:t>shared memory</a:t>
            </a:r>
            <a:r>
              <a:rPr lang="en-GB" sz="2000" dirty="0"/>
              <a:t> and </a:t>
            </a:r>
            <a:r>
              <a:rPr lang="en-GB" sz="2000" b="1" dirty="0"/>
              <a:t>message passing</a:t>
            </a:r>
            <a:r>
              <a:rPr lang="en-GB" sz="2000" dirty="0"/>
              <a:t>. Those methods work well when the processes are on the same machine.</a:t>
            </a:r>
            <a:endParaRPr lang="en-GB" sz="2000" dirty="0"/>
          </a:p>
          <a:p>
            <a:br>
              <a:rPr lang="en-GB" sz="2000" dirty="0"/>
            </a:br>
            <a:r>
              <a:rPr lang="en-GB" sz="2000" dirty="0"/>
              <a:t>However, in </a:t>
            </a:r>
            <a:r>
              <a:rPr lang="en-GB" sz="2000" b="1" dirty="0"/>
              <a:t>client–server systems</a:t>
            </a:r>
            <a:r>
              <a:rPr lang="en-GB" sz="2000" dirty="0"/>
              <a:t>, processes are often on </a:t>
            </a:r>
            <a:r>
              <a:rPr lang="en-GB" sz="2000" b="1" dirty="0"/>
              <a:t>different machines</a:t>
            </a:r>
            <a:r>
              <a:rPr lang="en-GB" sz="2000" dirty="0"/>
              <a:t> connected through a network ; for example, a web browser (client) connecting to a web server.</a:t>
            </a:r>
            <a:endParaRPr lang="en-GB" sz="2000" dirty="0"/>
          </a:p>
          <a:p>
            <a:endParaRPr lang="en-GB" sz="2000" dirty="0"/>
          </a:p>
          <a:p>
            <a:r>
              <a:rPr lang="en-GB" sz="2000" dirty="0"/>
              <a:t>In such cases, we need mechanisms that support </a:t>
            </a:r>
            <a:r>
              <a:rPr lang="en-GB" sz="2000" b="1" dirty="0"/>
              <a:t>communication across network boundaries</a:t>
            </a:r>
            <a:r>
              <a:rPr lang="en-GB" sz="2000" dirty="0"/>
              <a:t>.</a:t>
            </a:r>
            <a:br>
              <a:rPr lang="en-GB" sz="2000" dirty="0"/>
            </a:br>
            <a:r>
              <a:rPr lang="en-GB" sz="2000" dirty="0"/>
              <a:t>Two of the most common ones are:</a:t>
            </a:r>
            <a:endParaRPr lang="en-GB" sz="2000" dirty="0"/>
          </a:p>
          <a:p>
            <a:pPr marL="342900" indent="-342900">
              <a:buFont typeface="Arial" panose="020B0604020202020204" pitchFamily="34" charset="0"/>
              <a:buChar char="•"/>
            </a:pPr>
            <a:r>
              <a:rPr lang="en-GB" sz="2000" b="1" dirty="0"/>
              <a:t>Sockets</a:t>
            </a:r>
            <a:endParaRPr lang="en-GB" sz="2000" dirty="0"/>
          </a:p>
          <a:p>
            <a:pPr marL="342900" indent="-342900">
              <a:buFont typeface="Arial" panose="020B0604020202020204" pitchFamily="34" charset="0"/>
              <a:buChar char="•"/>
            </a:pPr>
            <a:r>
              <a:rPr lang="en-GB" sz="2000" b="1" dirty="0"/>
              <a:t>Remote Procedure Calls (RPCs)</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What is a Socket?</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sz="2000" dirty="0"/>
              <a:t>A </a:t>
            </a:r>
            <a:r>
              <a:rPr lang="en-GB" sz="2000" b="1" dirty="0"/>
              <a:t>socket</a:t>
            </a:r>
            <a:r>
              <a:rPr lang="en-GB" sz="2000" dirty="0"/>
              <a:t> is an </a:t>
            </a:r>
            <a:r>
              <a:rPr lang="en-GB" sz="2000" b="1" dirty="0"/>
              <a:t>endpoint for communication</a:t>
            </a:r>
            <a:r>
              <a:rPr lang="en-GB" sz="2000" dirty="0"/>
              <a:t> between two processes.</a:t>
            </a:r>
            <a:br>
              <a:rPr lang="en-GB" sz="2000" dirty="0"/>
            </a:br>
            <a:r>
              <a:rPr lang="en-GB" sz="2000" dirty="0"/>
              <a:t>If two processes want to communicate over a network, </a:t>
            </a:r>
            <a:r>
              <a:rPr lang="en-GB" sz="2000" b="1" dirty="0"/>
              <a:t>each one has its own socket</a:t>
            </a:r>
            <a:r>
              <a:rPr lang="en-GB" sz="2000" dirty="0"/>
              <a:t>, and together they form a </a:t>
            </a:r>
            <a:r>
              <a:rPr lang="en-GB" sz="2000" b="1" dirty="0"/>
              <a:t>pair of sockets</a:t>
            </a:r>
            <a:r>
              <a:rPr lang="en-GB" sz="2000" dirty="0"/>
              <a:t> that defines the connection.</a:t>
            </a:r>
            <a:endParaRPr lang="en-GB" sz="2000" dirty="0"/>
          </a:p>
          <a:p>
            <a:r>
              <a:rPr lang="en-GB" sz="2000" dirty="0"/>
              <a:t>Think of a socket like a </a:t>
            </a:r>
            <a:r>
              <a:rPr lang="en-GB" sz="2000" b="1" dirty="0"/>
              <a:t>virtual plug</a:t>
            </a:r>
            <a:r>
              <a:rPr lang="en-GB" sz="2000" dirty="0"/>
              <a:t> that connects two computers.</a:t>
            </a:r>
            <a:br>
              <a:rPr lang="en-GB" sz="2000" dirty="0"/>
            </a:br>
            <a:r>
              <a:rPr lang="en-GB" sz="2000" dirty="0"/>
              <a:t>Each side plugs into the network using a socket, and once both are connected, they can send data back and forth.</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How Sockets are Identified</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sz="2000" dirty="0"/>
              <a:t>Each socket is identified by a combination of:</a:t>
            </a:r>
            <a:endParaRPr lang="en-GB" sz="2000" dirty="0"/>
          </a:p>
          <a:p>
            <a:r>
              <a:rPr lang="en-GB" sz="2000" b="1" dirty="0"/>
              <a:t>IP Address</a:t>
            </a:r>
            <a:r>
              <a:rPr lang="en-GB" sz="2000" dirty="0"/>
              <a:t> → Identifies the host (computer) on the network.</a:t>
            </a:r>
            <a:endParaRPr lang="en-GB" sz="2000" dirty="0"/>
          </a:p>
          <a:p>
            <a:r>
              <a:rPr lang="en-GB" sz="2000" b="1" dirty="0"/>
              <a:t>Port Number</a:t>
            </a:r>
            <a:r>
              <a:rPr lang="en-GB" sz="2000" dirty="0"/>
              <a:t> → Identifies a specific process (or service) running on that host.</a:t>
            </a:r>
            <a:endParaRPr lang="en-GB" sz="2000" dirty="0"/>
          </a:p>
          <a:p>
            <a:endParaRPr lang="en-GB" sz="2000" dirty="0"/>
          </a:p>
          <a:p>
            <a:r>
              <a:rPr lang="en-GB" sz="2000" dirty="0"/>
              <a:t>So a complete socket address looks like this:</a:t>
            </a:r>
            <a:endParaRPr lang="en-GB" sz="2000" dirty="0"/>
          </a:p>
          <a:p>
            <a:r>
              <a:rPr lang="en-GB" dirty="0"/>
              <a:t>&lt;IP address&gt;:&lt;Port number&gt;</a:t>
            </a:r>
            <a:endParaRPr lang="en-GB" dirty="0"/>
          </a:p>
          <a:p>
            <a:r>
              <a:rPr lang="en-GB" sz="2000" dirty="0"/>
              <a:t>For example:</a:t>
            </a:r>
            <a:endParaRPr lang="en-GB" sz="2000" dirty="0"/>
          </a:p>
          <a:p>
            <a:r>
              <a:rPr lang="en-GB" dirty="0"/>
              <a:t>161.25.19.8:80</a:t>
            </a:r>
            <a:endParaRPr lang="en-GB" dirty="0"/>
          </a:p>
          <a:p>
            <a:r>
              <a:rPr lang="en-GB" sz="2000" dirty="0"/>
              <a:t>This could represent a web server running on host </a:t>
            </a:r>
            <a:r>
              <a:rPr lang="en-GB" dirty="0"/>
              <a:t>161.25.19.8</a:t>
            </a:r>
            <a:r>
              <a:rPr lang="en-GB" sz="2000" dirty="0"/>
              <a:t> and listening on port </a:t>
            </a:r>
            <a:r>
              <a:rPr lang="en-GB" dirty="0"/>
              <a:t>80</a:t>
            </a:r>
            <a:r>
              <a:rPr lang="en-GB" sz="2000" dirty="0"/>
              <a:t>.</a:t>
            </a:r>
            <a:endParaRPr lang="en-GB" sz="20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Client–Server Model Using Sockets</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dirty="0"/>
              <a:t>Sockets typically follow a </a:t>
            </a:r>
            <a:r>
              <a:rPr lang="en-GB" b="1" dirty="0"/>
              <a:t>client–server architecture</a:t>
            </a:r>
            <a:r>
              <a:rPr lang="en-GB" dirty="0"/>
              <a:t>:</a:t>
            </a:r>
            <a:endParaRPr lang="en-GB" dirty="0"/>
          </a:p>
          <a:p>
            <a:pPr marL="342900" indent="-342900">
              <a:buFont typeface="Arial" panose="020B0604020202020204" pitchFamily="34" charset="0"/>
              <a:buChar char="•"/>
            </a:pPr>
            <a:r>
              <a:rPr lang="en-GB" dirty="0"/>
              <a:t>The </a:t>
            </a:r>
            <a:r>
              <a:rPr lang="en-GB" b="1" dirty="0"/>
              <a:t>server</a:t>
            </a:r>
            <a:r>
              <a:rPr lang="en-GB" dirty="0"/>
              <a:t> creates a socket and </a:t>
            </a:r>
            <a:r>
              <a:rPr lang="en-GB" b="1" dirty="0"/>
              <a:t>listens</a:t>
            </a:r>
            <a:r>
              <a:rPr lang="en-GB" dirty="0"/>
              <a:t> on a specific port for incoming requests.</a:t>
            </a:r>
            <a:endParaRPr lang="en-GB" dirty="0"/>
          </a:p>
          <a:p>
            <a:pPr marL="342900" indent="-342900">
              <a:buFont typeface="Arial" panose="020B0604020202020204" pitchFamily="34" charset="0"/>
              <a:buChar char="•"/>
            </a:pPr>
            <a:r>
              <a:rPr lang="en-GB" dirty="0"/>
              <a:t>The </a:t>
            </a:r>
            <a:r>
              <a:rPr lang="en-GB" b="1" dirty="0"/>
              <a:t>client</a:t>
            </a:r>
            <a:r>
              <a:rPr lang="en-GB" dirty="0"/>
              <a:t> creates its own socket and </a:t>
            </a:r>
            <a:r>
              <a:rPr lang="en-GB" b="1" dirty="0"/>
              <a:t>connects</a:t>
            </a:r>
            <a:r>
              <a:rPr lang="en-GB" dirty="0"/>
              <a:t> to the server’s socket.</a:t>
            </a:r>
            <a:endParaRPr lang="en-GB" dirty="0"/>
          </a:p>
          <a:p>
            <a:pPr marL="342900" indent="-342900">
              <a:buFont typeface="Arial" panose="020B0604020202020204" pitchFamily="34" charset="0"/>
              <a:buChar char="•"/>
            </a:pPr>
            <a:r>
              <a:rPr lang="en-GB" dirty="0"/>
              <a:t>Once the connection is established, both can exchange data.</a:t>
            </a:r>
            <a:endParaRPr lang="en-GB" dirty="0"/>
          </a:p>
          <a:p>
            <a:r>
              <a:rPr lang="en-GB" b="1" dirty="0"/>
              <a:t>Example:</a:t>
            </a:r>
            <a:endParaRPr lang="en-GB" b="1" dirty="0"/>
          </a:p>
          <a:p>
            <a:r>
              <a:rPr lang="en-GB" dirty="0"/>
              <a:t>A web server runs at IP </a:t>
            </a:r>
            <a:r>
              <a:rPr lang="en-GB" sz="1600" dirty="0"/>
              <a:t>161.25.19.8</a:t>
            </a:r>
            <a:r>
              <a:rPr lang="en-GB" dirty="0"/>
              <a:t> and listens on </a:t>
            </a:r>
            <a:r>
              <a:rPr lang="en-GB" b="1" dirty="0"/>
              <a:t>port 80</a:t>
            </a:r>
            <a:r>
              <a:rPr lang="en-GB" dirty="0"/>
              <a:t>.</a:t>
            </a:r>
            <a:endParaRPr lang="en-GB" dirty="0"/>
          </a:p>
          <a:p>
            <a:r>
              <a:rPr lang="en-GB" dirty="0"/>
              <a:t>A client on host </a:t>
            </a:r>
            <a:r>
              <a:rPr lang="en-GB" sz="1600" dirty="0"/>
              <a:t>146.86.5.20</a:t>
            </a:r>
            <a:r>
              <a:rPr lang="en-GB" dirty="0"/>
              <a:t> wants to connect.</a:t>
            </a:r>
            <a:br>
              <a:rPr lang="en-GB" dirty="0"/>
            </a:br>
            <a:r>
              <a:rPr lang="en-GB" dirty="0"/>
              <a:t>Its operating system assigns it an </a:t>
            </a:r>
            <a:r>
              <a:rPr lang="en-GB" b="1" dirty="0"/>
              <a:t>ephemeral port</a:t>
            </a:r>
            <a:r>
              <a:rPr lang="en-GB" dirty="0"/>
              <a:t> (a temporary one above 1024), say </a:t>
            </a:r>
            <a:r>
              <a:rPr lang="en-GB" b="1" dirty="0"/>
              <a:t>1625</a:t>
            </a:r>
            <a:r>
              <a:rPr lang="en-GB" dirty="0"/>
              <a:t>.</a:t>
            </a:r>
            <a:endParaRPr lang="en-GB" dirty="0"/>
          </a:p>
          <a:p>
            <a:r>
              <a:rPr lang="en-GB" dirty="0"/>
              <a:t>Thus, the connection is defined by:</a:t>
            </a:r>
            <a:endParaRPr lang="en-GB" dirty="0"/>
          </a:p>
          <a:p>
            <a:r>
              <a:rPr lang="en-GB" sz="1600" dirty="0"/>
              <a:t>Client socket: 146.86.5.20:1625</a:t>
            </a:r>
            <a:endParaRPr lang="en-GB" sz="1600" dirty="0"/>
          </a:p>
          <a:p>
            <a:r>
              <a:rPr lang="en-GB" sz="1600" dirty="0"/>
              <a:t>Server socket: 161.25.19.8:80</a:t>
            </a:r>
            <a:endParaRPr lang="en-GB" sz="1600" dirty="0"/>
          </a:p>
          <a:p>
            <a:r>
              <a:rPr lang="en-GB" dirty="0"/>
              <a:t>This pair of sockets uniquely identifies the communication session.</a:t>
            </a:r>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761999" y="205824"/>
            <a:ext cx="10591800" cy="646332"/>
          </a:xfrm>
        </p:spPr>
        <p:txBody>
          <a:bodyPr/>
          <a:lstStyle/>
          <a:p>
            <a:r>
              <a:rPr lang="en-GB" sz="3600" dirty="0"/>
              <a:t>Reading Assignment </a:t>
            </a:r>
            <a:endParaRPr lang="en-GB" sz="3600" dirty="0"/>
          </a:p>
        </p:txBody>
      </p:sp>
      <p:sp>
        <p:nvSpPr>
          <p:cNvPr id="11" name="Text Placeholder 10"/>
          <p:cNvSpPr>
            <a:spLocks noGrp="1"/>
          </p:cNvSpPr>
          <p:nvPr>
            <p:ph type="body" sz="quarter" idx="11"/>
          </p:nvPr>
        </p:nvSpPr>
        <p:spPr>
          <a:xfrm>
            <a:off x="644290" y="1098885"/>
            <a:ext cx="10903419" cy="4660230"/>
          </a:xfrm>
        </p:spPr>
        <p:txBody>
          <a:bodyPr/>
          <a:lstStyle/>
          <a:p>
            <a:r>
              <a:rPr lang="en-GB" sz="2400" b="1" dirty="0"/>
              <a:t>Remote Procedure Calls (RPC)</a:t>
            </a:r>
            <a:endParaRPr lang="en-GB" sz="2400" b="1"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6345148" y="3045275"/>
            <a:ext cx="6477000" cy="1189037"/>
          </a:xfrm>
        </p:spPr>
        <p:txBody>
          <a:bodyPr/>
          <a:lstStyle/>
          <a:p>
            <a:r>
              <a:rPr lang="en-US" dirty="0"/>
              <a:t>THANK YOU</a:t>
            </a:r>
            <a:endParaRPr lang="en-US"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Custom 117">
      <a:dk1>
        <a:sysClr val="windowText" lastClr="000000"/>
      </a:dk1>
      <a:lt1>
        <a:sysClr val="window" lastClr="FFFFFF"/>
      </a:lt1>
      <a:dk2>
        <a:srgbClr val="44546A"/>
      </a:dk2>
      <a:lt2>
        <a:srgbClr val="E7E6E6"/>
      </a:lt2>
      <a:accent1>
        <a:srgbClr val="E23042"/>
      </a:accent1>
      <a:accent2>
        <a:srgbClr val="3578AF"/>
      </a:accent2>
      <a:accent3>
        <a:srgbClr val="C4C4C4"/>
      </a:accent3>
      <a:accent4>
        <a:srgbClr val="A80B22"/>
      </a:accent4>
      <a:accent5>
        <a:srgbClr val="E2E2E2"/>
      </a:accent5>
      <a:accent6>
        <a:srgbClr val="2A6187"/>
      </a:accent6>
      <a:hlink>
        <a:srgbClr val="0563C1"/>
      </a:hlink>
      <a:folHlink>
        <a:srgbClr val="954F72"/>
      </a:folHlink>
    </a:clrScheme>
    <a:fontScheme name="Custom 8">
      <a:majorFont>
        <a:latin typeface="Segoe UI"/>
        <a:ea typeface=""/>
        <a:cs typeface=""/>
      </a:majorFont>
      <a:minorFont>
        <a:latin typeface="Segoe UI"/>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915C1F8C-D27A-4CE7-9DF4-4AFDB2880FA9}">
  <ds:schemaRefs/>
</ds:datastoreItem>
</file>

<file path=customXml/itemProps2.xml><?xml version="1.0" encoding="utf-8"?>
<ds:datastoreItem xmlns:ds="http://schemas.openxmlformats.org/officeDocument/2006/customXml" ds:itemID="{D4EE2DFF-920A-42C9-AEE0-3A0BF6AF4609}">
  <ds:schemaRefs/>
</ds:datastoreItem>
</file>

<file path=customXml/itemProps3.xml><?xml version="1.0" encoding="utf-8"?>
<ds:datastoreItem xmlns:ds="http://schemas.openxmlformats.org/officeDocument/2006/customXml" ds:itemID="{FDF283A3-AA81-4663-8764-64F64C723FD1}">
  <ds:schemaRefs/>
</ds:datastoreItem>
</file>

<file path=docProps/app.xml><?xml version="1.0" encoding="utf-8"?>
<Properties xmlns="http://schemas.openxmlformats.org/officeDocument/2006/extended-properties" xmlns:vt="http://schemas.openxmlformats.org/officeDocument/2006/docPropsVTypes">
  <Template>Jewish American Heritage Month presentation</Template>
  <TotalTime>0</TotalTime>
  <Words>28204</Words>
  <Application>WPS Presentation</Application>
  <PresentationFormat>Widescreen</PresentationFormat>
  <Paragraphs>463</Paragraphs>
  <Slides>57</Slides>
  <Notes>53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57</vt:i4>
      </vt:variant>
    </vt:vector>
  </HeadingPairs>
  <TitlesOfParts>
    <vt:vector size="65" baseType="lpstr">
      <vt:lpstr>Arial</vt:lpstr>
      <vt:lpstr>SimSun</vt:lpstr>
      <vt:lpstr>Wingdings</vt:lpstr>
      <vt:lpstr>Segoe UI</vt:lpstr>
      <vt:lpstr>Microsoft YaHei</vt:lpstr>
      <vt:lpstr>Arial Unicode MS</vt:lpstr>
      <vt:lpstr>Segoe UI</vt:lpstr>
      <vt:lpstr>Office Theme</vt:lpstr>
      <vt:lpstr>Process Management(Cont..)  Lesson 3</vt:lpstr>
      <vt:lpstr>Operations on Processes</vt:lpstr>
      <vt:lpstr>Process Identifiers (PIDs)</vt:lpstr>
      <vt:lpstr>Execution Scenarios After Process Creation</vt:lpstr>
      <vt:lpstr>Process Termination</vt:lpstr>
      <vt:lpstr>Process Termination</vt:lpstr>
      <vt:lpstr>Process Termination</vt:lpstr>
      <vt:lpstr>Parent–Child Relationship and Termination</vt:lpstr>
      <vt:lpstr>Cascading Termination</vt:lpstr>
      <vt:lpstr>Zombie and Orphan Processes</vt:lpstr>
      <vt:lpstr>Zombie and Orphan Processes</vt:lpstr>
      <vt:lpstr>Interprocess Communication (IPC)</vt:lpstr>
      <vt:lpstr>Why Allow Process Cooperation?</vt:lpstr>
      <vt:lpstr>Why Allow Process Cooperation?</vt:lpstr>
      <vt:lpstr>Why Allow Process Cooperation?</vt:lpstr>
      <vt:lpstr>What Is Interprocess Communication (IPC)?</vt:lpstr>
      <vt:lpstr>What Is Interprocess Communication (IPC)?</vt:lpstr>
      <vt:lpstr>Quick Overview </vt:lpstr>
      <vt:lpstr>IPC in Shared-Memory Systems</vt:lpstr>
      <vt:lpstr>IPC in Shared-Memory Systems</vt:lpstr>
      <vt:lpstr>IPC in Shared-Memory Systems</vt:lpstr>
      <vt:lpstr>IPC in Shared-Memory Systems</vt:lpstr>
      <vt:lpstr>Race Condition  in Shared-Memory Systems</vt:lpstr>
      <vt:lpstr>The Producer–Consumer Problem</vt:lpstr>
      <vt:lpstr>The Producer–Consumer Problem</vt:lpstr>
      <vt:lpstr>The Producer–Consumer Problem</vt:lpstr>
      <vt:lpstr>The Producer–Consumer Problem</vt:lpstr>
      <vt:lpstr>IPC in Message-Passing Systems</vt:lpstr>
      <vt:lpstr>Basic Operations in Message Passing</vt:lpstr>
      <vt:lpstr>The Communication Link</vt:lpstr>
      <vt:lpstr>The Communication Link</vt:lpstr>
      <vt:lpstr>Logical Methods for Implementing Message Passing</vt:lpstr>
      <vt:lpstr>IPC in Message-Passing Systems</vt:lpstr>
      <vt:lpstr>PowerPoint 演示文稿</vt:lpstr>
      <vt:lpstr>PowerPoint 演示文稿</vt:lpstr>
      <vt:lpstr>PowerPoint 演示文稿</vt:lpstr>
      <vt:lpstr>PowerPoint 演示文稿</vt:lpstr>
      <vt:lpstr>Naming in Message-Passing Systems</vt:lpstr>
      <vt:lpstr>1. Direct Communication</vt:lpstr>
      <vt:lpstr>Properties of Direct Communication Links</vt:lpstr>
      <vt:lpstr>Properties of Direct Communication Links</vt:lpstr>
      <vt:lpstr>Properties of Direct Communication Links</vt:lpstr>
      <vt:lpstr>Limitations of Direct Communication</vt:lpstr>
      <vt:lpstr>2. Indirect Communication</vt:lpstr>
      <vt:lpstr>Properties of Indirect Communication Links</vt:lpstr>
      <vt:lpstr>Example: Multiple Receivers Problem</vt:lpstr>
      <vt:lpstr>Example: Multiple Receivers Problem</vt:lpstr>
      <vt:lpstr>Mailbox Ownership</vt:lpstr>
      <vt:lpstr>Mailbox Ownership</vt:lpstr>
      <vt:lpstr>Synchronization</vt:lpstr>
      <vt:lpstr>Buffering</vt:lpstr>
      <vt:lpstr>Communication in Client–Server Systems </vt:lpstr>
      <vt:lpstr>What is a Socket?</vt:lpstr>
      <vt:lpstr>How Sockets are Identified</vt:lpstr>
      <vt:lpstr>Client–Server Model Using Sockets</vt:lpstr>
      <vt:lpstr>Reading Assignment </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DELL XPS</dc:creator>
  <cp:lastModifiedBy>Martin Gulo</cp:lastModifiedBy>
  <cp:revision>66</cp:revision>
  <dcterms:created xsi:type="dcterms:W3CDTF">2025-10-16T08:09:00Z</dcterms:created>
  <dcterms:modified xsi:type="dcterms:W3CDTF">2026-01-04T12:49:34Z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E806A8EE30304B58A6C697ADBF05E69D_12</vt:lpwstr>
  </property>
  <property fmtid="{D5CDD505-2E9C-101B-9397-08002B2CF9AE}" pid="4" name="KSOProductBuildVer">
    <vt:lpwstr>2057-12.2.0.23196</vt:lpwstr>
  </property>
</Properties>
</file>