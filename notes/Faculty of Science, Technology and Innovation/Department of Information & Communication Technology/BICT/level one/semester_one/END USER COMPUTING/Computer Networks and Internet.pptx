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9"/>
  </p:notesMasterIdLst>
  <p:handoutMasterIdLst>
    <p:handoutMasterId r:id="rId50"/>
  </p:handoutMasterIdLst>
  <p:sldIdLst>
    <p:sldId id="258" r:id="rId3"/>
    <p:sldId id="294" r:id="rId4"/>
    <p:sldId id="295" r:id="rId5"/>
    <p:sldId id="296" r:id="rId6"/>
    <p:sldId id="298" r:id="rId7"/>
    <p:sldId id="297" r:id="rId8"/>
    <p:sldId id="301" r:id="rId9"/>
    <p:sldId id="299" r:id="rId10"/>
    <p:sldId id="300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38" r:id="rId44"/>
    <p:sldId id="335" r:id="rId45"/>
    <p:sldId id="336" r:id="rId46"/>
    <p:sldId id="337" r:id="rId47"/>
    <p:sldId id="293" r:id="rId4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r>
              <a:rPr lang="en-US" smtClean="0"/>
              <a:t>INS-111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1"/>
            <a:ext cx="3170238" cy="481013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5D2CAA24-25E5-46A5-850B-ADB43292322B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11039F13-F709-43FE-805F-F5CDC3A05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39082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r>
              <a:rPr lang="en-US" smtClean="0"/>
              <a:t>INS-111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1"/>
            <a:ext cx="3170238" cy="481013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1D39E5A9-B252-4EA7-A8AC-C9CC4823C465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9" y="4621213"/>
            <a:ext cx="5851525" cy="3779837"/>
          </a:xfrm>
          <a:prstGeom prst="rect">
            <a:avLst/>
          </a:prstGeom>
        </p:spPr>
        <p:txBody>
          <a:bodyPr vert="horz" lIns="91433" tIns="45717" rIns="91433" bIns="45717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BECDEC5E-6C39-46E1-A185-72546593EC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4408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4D2F17-53EE-447B-B71A-DD6CE5FFC6DD}" type="datetime1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742AD4-1B80-4ADD-BD3A-FA691F8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4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B3F5E6-38E5-4C36-A12F-3E518FF64B16}" type="datetime1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742AD4-1B80-4ADD-BD3A-FA691F8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452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90CF2F-0CD5-46C1-A4BF-4823023C7B11}" type="datetime1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742AD4-1B80-4ADD-BD3A-FA691F8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60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7D7104-CBB2-4C2C-B43A-E24AD24027EE}" type="datetime1">
              <a:rPr lang="en-US" smtClean="0"/>
              <a:t>5/8/2017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742AD4-1B80-4ADD-BD3A-FA691F8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A198E0-F071-4020-AD0A-51DECC864214}" type="datetime1">
              <a:rPr lang="en-US" smtClean="0"/>
              <a:t>5/8/2017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742AD4-1B80-4ADD-BD3A-FA691F8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02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4F7DE4-2B66-46E6-8AC1-09AE7DC2E498}" type="datetime1">
              <a:rPr lang="en-US" smtClean="0"/>
              <a:t>5/8/2017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742AD4-1B80-4ADD-BD3A-FA691F8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1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D6245CC-A1DF-4B74-B78F-F345AAD91A39}" type="datetime1">
              <a:rPr lang="en-US" smtClean="0"/>
              <a:t>5/8/2017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742AD4-1B80-4ADD-BD3A-FA691F8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27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F2C9B6-E5BC-402E-B133-609A0A860611}" type="datetime1">
              <a:rPr lang="en-US" smtClean="0"/>
              <a:t>5/8/2017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742AD4-1B80-4ADD-BD3A-FA691F8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82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D020E6-59E6-4D57-9DA5-B625CCFA4AED}" type="datetime1">
              <a:rPr lang="en-US" smtClean="0"/>
              <a:t>5/8/2017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742AD4-1B80-4ADD-BD3A-FA691F8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042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1E9DE8-76C6-435A-8441-96E3FEE566FF}" type="datetime1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742AD4-1B80-4ADD-BD3A-FA691F8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91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A694C5-39AC-467A-93A4-654FE68CF9F5}" type="datetime1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742AD4-1B80-4ADD-BD3A-FA691F8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86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5DA44-5EC1-49DB-A1BC-0DB0D3FF6A07}" type="datetime1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D093-3897-41E4-B31D-5747CA814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71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7ABD0-9BA6-4B4A-B388-70BAEC890EE6}" type="datetime1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D093-3897-41E4-B31D-5747CA814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94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BD4A-00DE-4EB0-A63C-3C381A354EC1}" type="datetime1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D093-3897-41E4-B31D-5747CA814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044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2486-AB66-45B6-A6D8-8C95778C42AC}" type="datetime1">
              <a:rPr lang="en-US" smtClean="0"/>
              <a:t>5/8/2017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D093-3897-41E4-B31D-5747CA814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556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7865-371C-4845-8752-2B9B3498D0B2}" type="datetime1">
              <a:rPr lang="en-US" smtClean="0"/>
              <a:t>5/8/2017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D093-3897-41E4-B31D-5747CA814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04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F988B-5FEF-4C09-92D9-EB47A1992D10}" type="datetime1">
              <a:rPr lang="en-US" smtClean="0"/>
              <a:t>5/8/2017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D093-3897-41E4-B31D-5747CA814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30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D8A5-1CB9-4F81-9F8A-5C28D6375373}" type="datetime1">
              <a:rPr lang="en-US" smtClean="0"/>
              <a:t>5/8/2017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D093-3897-41E4-B31D-5747CA814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242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5CFB-64F5-472C-9F7F-B34437133231}" type="datetime1">
              <a:rPr lang="en-US" smtClean="0"/>
              <a:t>5/8/2017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D093-3897-41E4-B31D-5747CA814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0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8A664-7FFD-41CE-91CF-9A1D899D1312}" type="datetime1">
              <a:rPr lang="en-US" smtClean="0"/>
              <a:t>5/8/2017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D093-3897-41E4-B31D-5747CA814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268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19546-A342-420A-A97D-22057F0F35DD}" type="datetime1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D093-3897-41E4-B31D-5747CA814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562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3E2B2-26B2-4C0F-A978-92FA0DAF44BC}" type="datetime1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D093-3897-41E4-B31D-5747CA814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3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76963"/>
            <a:ext cx="12192000" cy="6477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8" y="1658088"/>
            <a:ext cx="12023966" cy="1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67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­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123E7-08CB-4001-A7AF-9379C440C527}" type="datetime1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3D093-3897-41E4-B31D-5747CA814D7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8" y="1387629"/>
            <a:ext cx="12023966" cy="128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76963"/>
            <a:ext cx="121920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44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835094"/>
            <a:ext cx="12083143" cy="43418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858598" y="3448594"/>
            <a:ext cx="9101818" cy="241042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16576" y="41949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61311" y="200012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 smtClean="0">
                <a:latin typeface="Palatino Linotype" panose="02040502050505030304" pitchFamily="18" charset="0"/>
              </a:rPr>
              <a:t>Information Systems</a:t>
            </a:r>
          </a:p>
          <a:p>
            <a:pPr marL="0" indent="0" algn="ctr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smtClean="0"/>
              <a:t>INS-1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11)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b="1" dirty="0"/>
              <a:t>Computer </a:t>
            </a:r>
            <a:r>
              <a:rPr lang="en-US" b="1" dirty="0" smtClean="0"/>
              <a:t>Networks and Internet</a:t>
            </a: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Michael R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Chinguwo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and Information Technology Department</a:t>
            </a:r>
          </a:p>
          <a:p>
            <a:pPr marL="0" indent="0" algn="ctr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Polytechnic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 descr="K:\LOGOS\UNIMA COLOUR LOGO HIGH RESO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90487" y="101551"/>
            <a:ext cx="1245443" cy="1517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1084423" y="6176963"/>
            <a:ext cx="1026937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200" b="1" i="1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i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:265 (0) 993 </a:t>
            </a:r>
            <a:r>
              <a:rPr lang="en-US" sz="1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195 721                                                                                                                                                    </a:t>
            </a:r>
            <a:r>
              <a:rPr 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n-US" sz="14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chinguwom@gmail.com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004" y="6387323"/>
            <a:ext cx="413148" cy="3362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11" y="6387323"/>
            <a:ext cx="246222" cy="24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9963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Computer </a:t>
            </a:r>
            <a:r>
              <a:rPr lang="en-US" dirty="0"/>
              <a:t>network is comprised of at least two, connected, by wire or wireless, computers that can exchange data i.e. communicate</a:t>
            </a:r>
            <a:r>
              <a:rPr lang="en-US" dirty="0" smtClean="0"/>
              <a:t>.</a:t>
            </a:r>
          </a:p>
          <a:p>
            <a:r>
              <a:rPr lang="en-US" dirty="0"/>
              <a:t>Reasons for connecting computers Include: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2800" dirty="0"/>
              <a:t>Exchange of data between users that have network access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2800" dirty="0"/>
              <a:t>Access to shared devices, such as network printers, network disks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2800" dirty="0"/>
              <a:t>Enables user communication and </a:t>
            </a:r>
            <a:r>
              <a:rPr lang="en-US" sz="2800" dirty="0" smtClean="0"/>
              <a:t>socializing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2800" dirty="0" smtClean="0"/>
              <a:t>Centralized Administration:- One administrator can control data, devices and permissions of users on the network.</a:t>
            </a:r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0231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Computer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Different types of networks are given different descriptive names.</a:t>
            </a:r>
          </a:p>
          <a:p>
            <a:r>
              <a:rPr lang="en-US" dirty="0" smtClean="0"/>
              <a:t>A computer network is identified by the following specific characteristics:</a:t>
            </a:r>
          </a:p>
          <a:p>
            <a:pPr lvl="1"/>
            <a:r>
              <a:rPr lang="en-US" dirty="0" smtClean="0"/>
              <a:t>The area it serves</a:t>
            </a:r>
          </a:p>
          <a:p>
            <a:pPr lvl="1"/>
            <a:r>
              <a:rPr lang="en-US" dirty="0" smtClean="0"/>
              <a:t>How data is stored</a:t>
            </a:r>
          </a:p>
          <a:p>
            <a:pPr lvl="1"/>
            <a:r>
              <a:rPr lang="en-US" dirty="0" smtClean="0"/>
              <a:t>How the resources are managed</a:t>
            </a:r>
          </a:p>
          <a:p>
            <a:pPr lvl="1"/>
            <a:r>
              <a:rPr lang="en-US" dirty="0" smtClean="0"/>
              <a:t>How the network is organized</a:t>
            </a:r>
          </a:p>
          <a:p>
            <a:pPr lvl="1"/>
            <a:r>
              <a:rPr lang="en-US" dirty="0" smtClean="0"/>
              <a:t>The type of network devices used</a:t>
            </a:r>
          </a:p>
          <a:p>
            <a:pPr lvl="1"/>
            <a:r>
              <a:rPr lang="en-US" dirty="0" smtClean="0"/>
              <a:t>The type of media used to connect the devices.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1176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Categories of Computer </a:t>
            </a:r>
            <a:r>
              <a:rPr lang="en-US" dirty="0" smtClean="0"/>
              <a:t>Networks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Networks can be categorized based on many factors. Some of factors used to categorize networks include: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i="1" dirty="0"/>
              <a:t>Coverage Area</a:t>
            </a:r>
            <a:r>
              <a:rPr lang="en-US" dirty="0"/>
              <a:t>:- Personal Area Networks, Local Area Networks, Metropolitan Area Network, Wide Area Network.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i="1" dirty="0"/>
              <a:t>Transmission Media Used</a:t>
            </a:r>
            <a:r>
              <a:rPr lang="en-US" dirty="0"/>
              <a:t>:- Cable/Wire or Wireless Networks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i="1" dirty="0"/>
              <a:t>Architecture:- </a:t>
            </a:r>
            <a:r>
              <a:rPr lang="en-US" dirty="0"/>
              <a:t>Client-Server or Peer to Peer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i="1" dirty="0"/>
              <a:t>Topology:- </a:t>
            </a:r>
            <a:r>
              <a:rPr lang="en-US" dirty="0"/>
              <a:t>Bus, Ring, Star, Mesh, Tree and Hybrid Topology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i="1" dirty="0"/>
              <a:t>Transmission Technology used:- </a:t>
            </a:r>
            <a:r>
              <a:rPr lang="en-US" dirty="0"/>
              <a:t>Broadcast networks or Point-to Point networks</a:t>
            </a:r>
          </a:p>
        </p:txBody>
      </p:sp>
    </p:spTree>
    <p:extLst>
      <p:ext uri="{BB962C8B-B14F-4D97-AF65-F5344CB8AC3E}">
        <p14:creationId xmlns:p14="http://schemas.microsoft.com/office/powerpoint/2010/main" val="35644709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Computer Networks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 Area Network (LAN)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 that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nearby computers; e.g., a home or office network. Computers on the network can share resources, as well as devices connected to the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covers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relatively small geographical area- it connects computers within a firm or household by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wire or wireless technologies.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Wide Area Network (WAN)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covers a relatively large geographical area - it connects a greater number of computers and local networks.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together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computers through dedicated communications channels or the Internet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5654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Computer </a:t>
            </a:r>
            <a:r>
              <a:rPr lang="en-US" dirty="0" smtClean="0"/>
              <a:t>Networks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3. Wireless Local Area Network (WLAN)</a:t>
            </a:r>
          </a:p>
          <a:p>
            <a:r>
              <a:rPr lang="en-US" dirty="0" smtClean="0"/>
              <a:t>This is Local Area Network that uses wireless devices to transmit and receive data using radio waves.</a:t>
            </a:r>
          </a:p>
          <a:p>
            <a:r>
              <a:rPr lang="en-US" dirty="0" smtClean="0"/>
              <a:t>On WLAN you can share resources such as: </a:t>
            </a:r>
          </a:p>
          <a:p>
            <a:pPr lvl="2"/>
            <a:r>
              <a:rPr lang="en-US" sz="2800" dirty="0" smtClean="0"/>
              <a:t>Files, </a:t>
            </a:r>
          </a:p>
          <a:p>
            <a:pPr lvl="2"/>
            <a:r>
              <a:rPr lang="en-US" sz="2800" dirty="0" smtClean="0"/>
              <a:t>Printers</a:t>
            </a:r>
          </a:p>
          <a:p>
            <a:pPr lvl="2"/>
            <a:r>
              <a:rPr lang="en-US" sz="2800" dirty="0" smtClean="0"/>
              <a:t>Access to internet.</a:t>
            </a:r>
          </a:p>
        </p:txBody>
      </p:sp>
    </p:spTree>
    <p:extLst>
      <p:ext uri="{BB962C8B-B14F-4D97-AF65-F5344CB8AC3E}">
        <p14:creationId xmlns:p14="http://schemas.microsoft.com/office/powerpoint/2010/main" val="3094760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Computer Networks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Peer to Peer Network (P2P)</a:t>
            </a:r>
          </a:p>
          <a:p>
            <a:r>
              <a:rPr lang="en-US" dirty="0"/>
              <a:t>All computers are clients and servers at the same time</a:t>
            </a:r>
          </a:p>
          <a:p>
            <a:r>
              <a:rPr lang="en-US" dirty="0"/>
              <a:t>All computers can share responsibility of Processing, storage, printing and communication </a:t>
            </a:r>
            <a:r>
              <a:rPr lang="en-US" dirty="0" smtClean="0"/>
              <a:t>tasks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679" y="3725839"/>
            <a:ext cx="7948555" cy="231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195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Computer Networks (Cont’d)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773" y="3111690"/>
            <a:ext cx="5784623" cy="306527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5</a:t>
            </a:r>
            <a:r>
              <a:rPr lang="en-US" dirty="0" smtClean="0"/>
              <a:t>. </a:t>
            </a:r>
            <a:r>
              <a:rPr lang="en-US" b="1" dirty="0" smtClean="0"/>
              <a:t>Client-Server </a:t>
            </a:r>
            <a:r>
              <a:rPr lang="en-US" b="1" dirty="0"/>
              <a:t>Network</a:t>
            </a:r>
          </a:p>
          <a:p>
            <a:r>
              <a:rPr lang="en-US" dirty="0"/>
              <a:t>A computer network model where data resources and software are located on special high-performance computers called servers.</a:t>
            </a:r>
          </a:p>
          <a:p>
            <a:r>
              <a:rPr lang="en-US" dirty="0"/>
              <a:t>Service requesters, referred to as clients</a:t>
            </a:r>
            <a:r>
              <a:rPr lang="en-US" dirty="0" smtClean="0"/>
              <a:t>,                                      </a:t>
            </a:r>
            <a:r>
              <a:rPr lang="en-US" dirty="0"/>
              <a:t>connect to the server through </a:t>
            </a:r>
            <a:r>
              <a:rPr lang="en-US" dirty="0" smtClean="0"/>
              <a:t>the                                                  </a:t>
            </a:r>
            <a:r>
              <a:rPr lang="en-US" dirty="0"/>
              <a:t>network and use these resources.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3968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a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96646" indent="-514350" algn="just">
              <a:buFont typeface="+mj-lt"/>
              <a:buAutoNum type="arabicPeriod"/>
            </a:pPr>
            <a:r>
              <a:rPr lang="en-US" b="1" dirty="0"/>
              <a:t>Rules (protocols)</a:t>
            </a:r>
          </a:p>
          <a:p>
            <a:pPr lvl="1" algn="just"/>
            <a:r>
              <a:rPr lang="en-US" sz="2800" dirty="0"/>
              <a:t>Protocols that govern how messages are sent, directed, received and interpreted.</a:t>
            </a:r>
          </a:p>
          <a:p>
            <a:pPr marL="596646" indent="-514350" algn="just">
              <a:buFont typeface="+mj-lt"/>
              <a:buAutoNum type="arabicPeriod" startAt="2"/>
            </a:pPr>
            <a:r>
              <a:rPr lang="en-US" b="1" dirty="0"/>
              <a:t>Packets(messages)</a:t>
            </a:r>
          </a:p>
          <a:p>
            <a:pPr lvl="1" algn="just"/>
            <a:r>
              <a:rPr lang="en-US" sz="2800" dirty="0"/>
              <a:t>Electronic messages are sent as packets. Units of information travelling from one device to another.</a:t>
            </a:r>
          </a:p>
          <a:p>
            <a:pPr marL="596646" indent="-514350" algn="just">
              <a:buFont typeface="+mj-lt"/>
              <a:buAutoNum type="arabicPeriod" startAt="3"/>
            </a:pPr>
            <a:r>
              <a:rPr lang="en-US" b="1" dirty="0"/>
              <a:t>Medium</a:t>
            </a:r>
          </a:p>
          <a:p>
            <a:pPr marL="813816" lvl="1" indent="-457200" algn="just"/>
            <a:r>
              <a:rPr lang="en-US" sz="2800" dirty="0"/>
              <a:t>Means of interconnecting network devices. A medium transports the messages from one device to another</a:t>
            </a:r>
          </a:p>
        </p:txBody>
      </p:sp>
    </p:spTree>
    <p:extLst>
      <p:ext uri="{BB962C8B-B14F-4D97-AF65-F5344CB8AC3E}">
        <p14:creationId xmlns:p14="http://schemas.microsoft.com/office/powerpoint/2010/main" val="1499382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a </a:t>
            </a:r>
            <a:r>
              <a:rPr lang="en-US" dirty="0" smtClean="0"/>
              <a:t>network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96646" indent="-514350" algn="just">
              <a:buFont typeface="+mj-lt"/>
              <a:buAutoNum type="arabicPeriod" startAt="4"/>
            </a:pPr>
            <a:r>
              <a:rPr lang="en-US" b="1" dirty="0"/>
              <a:t>Devices ( host and nodes)</a:t>
            </a:r>
          </a:p>
          <a:p>
            <a:pPr lvl="1" algn="just"/>
            <a:r>
              <a:rPr lang="en-US" sz="2800" dirty="0"/>
              <a:t>Devices on the network exchange messages with each other</a:t>
            </a:r>
          </a:p>
        </p:txBody>
      </p:sp>
    </p:spTree>
    <p:extLst>
      <p:ext uri="{BB962C8B-B14F-4D97-AF65-F5344CB8AC3E}">
        <p14:creationId xmlns:p14="http://schemas.microsoft.com/office/powerpoint/2010/main" val="18351113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Network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34232"/>
          </a:xfrm>
        </p:spPr>
        <p:txBody>
          <a:bodyPr>
            <a:normAutofit/>
          </a:bodyPr>
          <a:lstStyle/>
          <a:p>
            <a:r>
              <a:rPr lang="en-US" dirty="0" smtClean="0"/>
              <a:t>There are many components that can be part of a network.</a:t>
            </a:r>
          </a:p>
          <a:p>
            <a:r>
              <a:rPr lang="en-US" dirty="0" smtClean="0"/>
              <a:t>For example PCs, Servers, Networking Devices and Cabling.</a:t>
            </a:r>
          </a:p>
          <a:p>
            <a:r>
              <a:rPr lang="en-US" dirty="0" smtClean="0"/>
              <a:t>These components can be grouped into four main categories:</a:t>
            </a:r>
          </a:p>
          <a:p>
            <a:pPr lvl="1"/>
            <a:r>
              <a:rPr lang="en-US" dirty="0" smtClean="0"/>
              <a:t>Hosts</a:t>
            </a:r>
          </a:p>
          <a:p>
            <a:pPr lvl="1"/>
            <a:r>
              <a:rPr lang="en-US" dirty="0" smtClean="0"/>
              <a:t>Shared Peripherals</a:t>
            </a:r>
          </a:p>
          <a:p>
            <a:pPr lvl="1"/>
            <a:r>
              <a:rPr lang="en-US" dirty="0" smtClean="0"/>
              <a:t>Networking Devices</a:t>
            </a:r>
          </a:p>
          <a:p>
            <a:pPr lvl="1"/>
            <a:r>
              <a:rPr lang="en-US" dirty="0" smtClean="0"/>
              <a:t>Networking Media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 smtClean="0"/>
              <a:t>Hosts</a:t>
            </a:r>
          </a:p>
          <a:p>
            <a:pPr lvl="1"/>
            <a:r>
              <a:rPr lang="en-US" dirty="0" smtClean="0"/>
              <a:t>Devices that send and receive messages directly across the network</a:t>
            </a:r>
          </a:p>
          <a:p>
            <a:pPr lvl="1"/>
            <a:r>
              <a:rPr lang="en-US" dirty="0" smtClean="0"/>
              <a:t>Examples are: - PCs, Server, Laptop, Network Printer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6087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</a:t>
            </a:r>
            <a:r>
              <a:rPr lang="en-US" dirty="0" smtClean="0"/>
              <a:t>Components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2800" b="1" dirty="0" smtClean="0"/>
              <a:t>ii. </a:t>
            </a:r>
            <a:r>
              <a:rPr lang="en-US" sz="2800" b="1" dirty="0"/>
              <a:t>Shared </a:t>
            </a:r>
            <a:r>
              <a:rPr lang="en-US" sz="2800" b="1" dirty="0" smtClean="0"/>
              <a:t>Peripherals</a:t>
            </a:r>
          </a:p>
          <a:p>
            <a:pPr marL="914400" lvl="2" indent="-457200">
              <a:spcBef>
                <a:spcPts val="1000"/>
              </a:spcBef>
              <a:buFont typeface="Times New Roman" panose="02020603050405020304" pitchFamily="18" charset="0"/>
              <a:buChar char="­"/>
            </a:pPr>
            <a:r>
              <a:rPr lang="en-US" sz="2400" dirty="0" smtClean="0"/>
              <a:t>Devices that are connected to hosts, not directly connected to the network.</a:t>
            </a:r>
          </a:p>
          <a:p>
            <a:pPr marL="914400" lvl="2" indent="-457200">
              <a:spcBef>
                <a:spcPts val="1000"/>
              </a:spcBef>
              <a:buFont typeface="Times New Roman" panose="02020603050405020304" pitchFamily="18" charset="0"/>
              <a:buChar char="­"/>
            </a:pPr>
            <a:r>
              <a:rPr lang="en-US" sz="2400" dirty="0" smtClean="0"/>
              <a:t>Examples are Printer, Scanner, Webcam</a:t>
            </a:r>
            <a:endParaRPr lang="en-US" sz="24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dirty="0" smtClean="0"/>
              <a:t> </a:t>
            </a:r>
            <a:r>
              <a:rPr lang="en-US" sz="2800" b="1" dirty="0" smtClean="0"/>
              <a:t>iii. </a:t>
            </a:r>
            <a:r>
              <a:rPr lang="en-US" sz="2800" b="1" dirty="0"/>
              <a:t>Networking </a:t>
            </a:r>
            <a:r>
              <a:rPr lang="en-US" sz="2800" b="1" dirty="0" smtClean="0"/>
              <a:t>Devices</a:t>
            </a:r>
          </a:p>
          <a:p>
            <a:pPr marL="914400" lvl="2" indent="-457200">
              <a:spcBef>
                <a:spcPts val="1000"/>
              </a:spcBef>
              <a:buFont typeface="Times New Roman" panose="02020603050405020304" pitchFamily="18" charset="0"/>
              <a:buChar char="­"/>
            </a:pPr>
            <a:r>
              <a:rPr lang="en-US" sz="2400" dirty="0" smtClean="0"/>
              <a:t>Used to interconnect hosts</a:t>
            </a:r>
          </a:p>
          <a:p>
            <a:pPr marL="914400" lvl="2" indent="-457200">
              <a:spcBef>
                <a:spcPts val="1000"/>
              </a:spcBef>
              <a:buFont typeface="Times New Roman" panose="02020603050405020304" pitchFamily="18" charset="0"/>
              <a:buChar char="­"/>
            </a:pPr>
            <a:r>
              <a:rPr lang="en-US" sz="2400" dirty="0" smtClean="0"/>
              <a:t>Examples are Hub, Switch, Router etc.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b="1" dirty="0" smtClean="0"/>
              <a:t>iv. </a:t>
            </a:r>
            <a:r>
              <a:rPr lang="en-US" sz="2800" b="1" dirty="0"/>
              <a:t>Networking </a:t>
            </a:r>
            <a:r>
              <a:rPr lang="en-US" sz="2800" b="1" dirty="0" smtClean="0"/>
              <a:t>Media</a:t>
            </a:r>
          </a:p>
          <a:p>
            <a:pPr marL="914400" lvl="2" indent="-457200">
              <a:spcBef>
                <a:spcPts val="1000"/>
              </a:spcBef>
              <a:buFont typeface="Times New Roman" panose="02020603050405020304" pitchFamily="18" charset="0"/>
              <a:buChar char="­"/>
            </a:pPr>
            <a:r>
              <a:rPr lang="en-US" sz="2400" dirty="0"/>
              <a:t>Used to interconnect hosts</a:t>
            </a:r>
          </a:p>
          <a:p>
            <a:pPr marL="914400" lvl="2" indent="-457200">
              <a:spcBef>
                <a:spcPts val="1000"/>
              </a:spcBef>
              <a:buFont typeface="Times New Roman" panose="02020603050405020304" pitchFamily="18" charset="0"/>
              <a:buChar char="­"/>
            </a:pPr>
            <a:r>
              <a:rPr lang="en-US" sz="2400" dirty="0" smtClean="0"/>
              <a:t>Examples are cables.</a:t>
            </a:r>
            <a:endParaRPr lang="en-US" sz="2800" b="1" dirty="0"/>
          </a:p>
          <a:p>
            <a:pPr marL="0" lvl="1" indent="0">
              <a:spcBef>
                <a:spcPts val="1000"/>
              </a:spcBef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3459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Components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Note:</a:t>
            </a:r>
          </a:p>
          <a:p>
            <a:r>
              <a:rPr lang="en-US" dirty="0" smtClean="0"/>
              <a:t>Some devices can play more than one role, depending on how they are connected.</a:t>
            </a:r>
          </a:p>
          <a:p>
            <a:r>
              <a:rPr lang="en-US" dirty="0" smtClean="0"/>
              <a:t>For Example</a:t>
            </a:r>
          </a:p>
          <a:p>
            <a:pPr lvl="1"/>
            <a:r>
              <a:rPr lang="en-US" dirty="0" smtClean="0"/>
              <a:t>A printer directly connected to a host (local printer) is a </a:t>
            </a:r>
            <a:r>
              <a:rPr lang="en-US" b="1" dirty="0" smtClean="0"/>
              <a:t>peripheral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A printer directly connected to a network device and participates directly in network communications is a </a:t>
            </a:r>
            <a:r>
              <a:rPr lang="en-US" b="1" dirty="0" smtClean="0"/>
              <a:t>hosts</a:t>
            </a:r>
          </a:p>
          <a:p>
            <a:r>
              <a:rPr lang="en-US" dirty="0" smtClean="0"/>
              <a:t>The physical components of a network are needed to move data between devices. The common media used on networks include:</a:t>
            </a:r>
          </a:p>
          <a:p>
            <a:pPr lvl="1"/>
            <a:r>
              <a:rPr lang="en-US" dirty="0" smtClean="0"/>
              <a:t>Cables (Twisted pair and Fiber Optic)</a:t>
            </a:r>
          </a:p>
          <a:p>
            <a:pPr lvl="1"/>
            <a:r>
              <a:rPr lang="en-US" dirty="0" smtClean="0"/>
              <a:t>Radio Waves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3678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07806" cy="4351338"/>
          </a:xfrm>
        </p:spPr>
        <p:txBody>
          <a:bodyPr/>
          <a:lstStyle/>
          <a:p>
            <a:r>
              <a:rPr lang="en-US" dirty="0" smtClean="0"/>
              <a:t>Devices which are used to send data between devices. Some of them include: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 smtClean="0"/>
              <a:t>Repeater</a:t>
            </a:r>
          </a:p>
          <a:p>
            <a:pPr lvl="1"/>
            <a:r>
              <a:rPr lang="en-US" dirty="0" smtClean="0"/>
              <a:t>Is a network device that is used to retransmit the weaker signals in a network.</a:t>
            </a:r>
          </a:p>
          <a:p>
            <a:pPr lvl="1"/>
            <a:r>
              <a:rPr lang="en-US" dirty="0" smtClean="0"/>
              <a:t>Used to amplify the signals in the big network.</a:t>
            </a:r>
          </a:p>
          <a:p>
            <a:pPr marL="571500" indent="-571500">
              <a:buFont typeface="+mj-lt"/>
              <a:buAutoNum type="romanLcPeriod"/>
            </a:pPr>
            <a:r>
              <a:rPr lang="en-US" b="1" dirty="0" smtClean="0"/>
              <a:t>Hubs </a:t>
            </a:r>
          </a:p>
          <a:p>
            <a:pPr lvl="1"/>
            <a:r>
              <a:rPr lang="en-US" dirty="0" smtClean="0"/>
              <a:t>Devices that is used to extend the range of a network by receiving data on one port and then regenerate the data and sending it to all other ports.</a:t>
            </a:r>
          </a:p>
          <a:p>
            <a:pPr lvl="1"/>
            <a:r>
              <a:rPr lang="en-US" dirty="0" smtClean="0"/>
              <a:t>They serve as central connection point for LAN, hence also called concentrators</a:t>
            </a:r>
          </a:p>
          <a:p>
            <a:pPr lvl="1"/>
            <a:r>
              <a:rPr lang="en-US" dirty="0" smtClean="0"/>
              <a:t>Used to connect two segments of wired network.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849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</a:t>
            </a:r>
            <a:r>
              <a:rPr lang="en-US" dirty="0" smtClean="0"/>
              <a:t>Devices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44284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iii. Bridges</a:t>
            </a:r>
          </a:p>
          <a:p>
            <a:pPr lvl="1"/>
            <a:r>
              <a:rPr lang="en-US" dirty="0" smtClean="0"/>
              <a:t>Device used to filter network traffic between LAN segments.</a:t>
            </a:r>
          </a:p>
          <a:p>
            <a:pPr lvl="1"/>
            <a:r>
              <a:rPr lang="en-US" dirty="0" smtClean="0"/>
              <a:t>It keeps record of all the devices on each segment to which the bridge is connected.</a:t>
            </a:r>
          </a:p>
          <a:p>
            <a:pPr lvl="1"/>
            <a:r>
              <a:rPr lang="en-US" dirty="0" smtClean="0"/>
              <a:t>A typical bridge may have just two points, linking two segments of the same network </a:t>
            </a:r>
          </a:p>
          <a:p>
            <a:pPr marL="0" indent="0">
              <a:buNone/>
            </a:pPr>
            <a:r>
              <a:rPr lang="en-US" b="1" dirty="0" smtClean="0"/>
              <a:t>iv. Switches</a:t>
            </a:r>
          </a:p>
          <a:p>
            <a:pPr lvl="1"/>
            <a:r>
              <a:rPr lang="en-US" dirty="0" smtClean="0"/>
              <a:t>Sometimes called multi-port bridges because it has several ports depending on how many network segments are to be linked</a:t>
            </a:r>
          </a:p>
          <a:p>
            <a:pPr lvl="1"/>
            <a:r>
              <a:rPr lang="en-US" dirty="0" smtClean="0"/>
              <a:t>Is used to forward packets within a network by using MAC addresses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1644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Devices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v. Routers</a:t>
            </a:r>
          </a:p>
          <a:p>
            <a:pPr lvl="1"/>
            <a:r>
              <a:rPr lang="en-US" dirty="0" smtClean="0"/>
              <a:t>Devices that connect entire networks to each other.</a:t>
            </a:r>
          </a:p>
          <a:p>
            <a:pPr lvl="1"/>
            <a:r>
              <a:rPr lang="en-US" dirty="0" smtClean="0"/>
              <a:t>It uses IP addresses to forward packets to other networks.</a:t>
            </a:r>
          </a:p>
          <a:p>
            <a:pPr lvl="1"/>
            <a:r>
              <a:rPr lang="en-US" dirty="0" smtClean="0"/>
              <a:t>Used in WAN to connect LANs that are separated by great distances.</a:t>
            </a:r>
          </a:p>
          <a:p>
            <a:pPr marL="0" indent="0">
              <a:buNone/>
            </a:pPr>
            <a:r>
              <a:rPr lang="en-US" b="1" dirty="0" smtClean="0"/>
              <a:t>vi. LAN Card </a:t>
            </a:r>
          </a:p>
          <a:p>
            <a:pPr lvl="1"/>
            <a:r>
              <a:rPr lang="en-US" dirty="0" smtClean="0"/>
              <a:t>Network Interface Card (NIC) is used to join the computers in a network.</a:t>
            </a:r>
          </a:p>
          <a:p>
            <a:pPr lvl="1"/>
            <a:r>
              <a:rPr lang="en-US" dirty="0" smtClean="0"/>
              <a:t>A NIC is installed in PCI port inside the computer.</a:t>
            </a:r>
          </a:p>
          <a:p>
            <a:pPr lvl="1"/>
            <a:r>
              <a:rPr lang="en-US" dirty="0" smtClean="0"/>
              <a:t>A Unique Media Control Access (MAC) address is assigned to LAN Card.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2111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Devices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viii</a:t>
            </a:r>
            <a:r>
              <a:rPr lang="en-US" dirty="0" smtClean="0"/>
              <a:t>. </a:t>
            </a:r>
            <a:r>
              <a:rPr lang="en-US" b="1" dirty="0" smtClean="0"/>
              <a:t>Gateway</a:t>
            </a:r>
            <a:endParaRPr lang="en-US" b="1" dirty="0"/>
          </a:p>
          <a:p>
            <a:pPr lvl="1"/>
            <a:r>
              <a:rPr lang="en-US" dirty="0" smtClean="0"/>
              <a:t>Can be hardware or software and it acts as a bridge between two networks.</a:t>
            </a:r>
          </a:p>
          <a:p>
            <a:pPr lvl="1"/>
            <a:r>
              <a:rPr lang="en-US" dirty="0" smtClean="0"/>
              <a:t>It is an entrance point of a network.</a:t>
            </a:r>
          </a:p>
          <a:p>
            <a:pPr lvl="1"/>
            <a:r>
              <a:rPr lang="en-US" dirty="0" smtClean="0"/>
              <a:t>It connects a LAN with Internet.</a:t>
            </a:r>
          </a:p>
          <a:p>
            <a:pPr lvl="1"/>
            <a:r>
              <a:rPr lang="en-US" dirty="0" smtClean="0"/>
              <a:t>A router acts as a gateway device in a network.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5158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Topologies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 Topology is the physical layout of computers, cables and other components on a network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a number of different network topologies, and a network may be built using multiple topologies.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different types of network layouts are.</a:t>
            </a:r>
          </a:p>
          <a:p>
            <a:pPr marL="514350" indent="-514350">
              <a:buAutoNum type="arabicPeriod"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 Topology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topology uses one cable as a main trunk to connect devices together. 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very easy to set up and requires no additional hardware such as hub</a:t>
            </a:r>
          </a:p>
          <a:p>
            <a:pPr lvl="1"/>
            <a:r>
              <a:rPr lang="en-US" dirty="0"/>
              <a:t>The cable is called a trunk, a backbone or a segment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9257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 smtClean="0"/>
              <a:t>Network Topologies (Cont’d)</a:t>
            </a:r>
            <a:endParaRPr lang="en-US" dirty="0"/>
          </a:p>
        </p:txBody>
      </p:sp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785" y="1825625"/>
            <a:ext cx="6858000" cy="1933845"/>
          </a:xfrm>
          <a:prstGeom prst="rect">
            <a:avLst/>
          </a:prstGeom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6599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sz="4500" b="1" dirty="0" smtClean="0"/>
              <a:t>Advantages </a:t>
            </a:r>
            <a:r>
              <a:rPr lang="en-US" sz="4500" b="1" dirty="0"/>
              <a:t>of Bus Topology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4700" dirty="0"/>
              <a:t>It is cheaper:- it uses less cable than star or mesh topology and no need for additional device like hubs.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4700" dirty="0"/>
              <a:t>It is easy to install:- simply connect the workstation to the cable segment or backbone.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sz="4700" dirty="0"/>
              <a:t>If a computer fails, the network stays functional</a:t>
            </a:r>
          </a:p>
          <a:p>
            <a:pPr marL="457200" lvl="1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6782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Topologies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Bus Topology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troubleshoot, due to break in cable segments, this problem can b tough to isolate in large network.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not scalable:-its not easy to make changes within the size and layout of bus topology.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38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Topologies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Star Topology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computers are connected through one central device known as a hub or a switch.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Breaks in the cable causes only the workstation that is connected to the cable to go down, not the entire network as with bus topology.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71" y="4181494"/>
            <a:ext cx="6398418" cy="230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8924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Topologies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35930"/>
            <a:ext cx="10515600" cy="4446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Star Topology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ease of adding another system to the network, simply connect the system to an unused port on the hub.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Break in the cable, affects only the system that is connected to that cable.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easy to add or change configurations because all of the connections come to a central point.</a:t>
            </a:r>
          </a:p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Star Topology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Central Device (Hub) fails, the entire network comes down, but this is much easier to find than finding cable break in bus topology.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costly:-to connect workstation, there is a need of a hub with an available port and a cable from the workstation to the hub.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4875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Topologies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Mesh Topology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Mesh Topology, every workstation has a connection to every other component of the network.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126" y="3242818"/>
            <a:ext cx="7411956" cy="293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7003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Topologies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Mesh Topology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fault tolerance:-when there is a break in a cable segment, traffic can be routed through a different pathway because there are multiple pathways to send data from one system to another.</a:t>
            </a:r>
          </a:p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Mesh Topology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costly:- there is a need of additional cabling and network interfaces to create the multiple pathways between each system.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very hard to administer and manage because of numerous connections.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5592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Topologies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Ring Topology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computers are connected via a cable that loops in a ring or circle.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circle has no start and no end, hence terminators are not necessary in a ring topology.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Signals travel in one direction on a ring while they are passed from one computer to the next.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computer regenerate the signal so that it may travel the distance required.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333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Topologies (Cont’d)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469" y="1825625"/>
            <a:ext cx="5212859" cy="291014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Ring Topology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 Degeneration is low because each workstation is responsible for generating or boosting the signals. Hence strong signal when reaching its destination and seldom needs to be retransmitted.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554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Topologies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Ring Topology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one computer fails or the cable link is broken, the entire network could go down.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Isolating a problem can be difficult in some ring configurations.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Brief disconnection can interrupt or bring down the entire network i.e. making cabling change to the network or move a workstation.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732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Topologies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Hybrid Topology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is mixture of topologies to form a hybrid topology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 star-bus topology, a number of star topologies connected by a central bus. This is popular topology because the bus will connect hubs that are spread over distance.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Another popular hybrid topology is the star-ring topology. It looks as a star but acts as a ring.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6377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Topologies (Cont’d)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146" y="2142700"/>
            <a:ext cx="8169559" cy="403426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Star-bus Topology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7158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Begun in 1957 when Soviet Union Launched Sputnik.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1969 ARPANET (Advanced Research Projects Agency) connected Computers at UCLA, Stanford Research Institute.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1985, National Science Foundation (NSF) used ARPANET Technology to create a larger Network, Connecting entire LANs to each other.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NSF network was internet, as this network grew throughout the world, it became Internet.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450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Infrastructure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is not owned or operated by any single organisation or government. It is network connected to other networks and to the internet backbone.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Backbone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 network of high-capacity communications links that provides the main routes for data traffic across the internet.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Service Providers (NSPs)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NSP Maintain internet backbone links and routes.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NSP Equipment and links are tied together by Network Access Points (NAPs) to transfer data from source to destination.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5144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</a:t>
            </a:r>
            <a:r>
              <a:rPr lang="en-US" dirty="0" smtClean="0"/>
              <a:t>Infrastructure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Internet Service Provide (ISP)</a:t>
            </a:r>
          </a:p>
          <a:p>
            <a:r>
              <a:rPr lang="en-US" dirty="0"/>
              <a:t>Is a company that offers Internet access to individuals, businesses, and smaller ISPs.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6930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Infrastructure (Cont’d)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158" y="1825625"/>
            <a:ext cx="7268583" cy="452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7311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Protocols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Rules that govern communication on the Internet.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Internet uses a variety of communications protocols to support basic data transport and services, such as e-mail, web access and downloading.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 Main Protocols used on the Internet include:</a:t>
            </a:r>
          </a:p>
          <a:p>
            <a:pPr marL="514350" indent="-514350">
              <a:buAutoNum type="arabicPeriod"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Control Protocol (TCP)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Creates connections and exchange packets of data</a:t>
            </a:r>
          </a:p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Protocol (IP)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devices with unique addresses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4894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</a:t>
            </a:r>
            <a:r>
              <a:rPr lang="en-US" dirty="0" smtClean="0"/>
              <a:t>Protocols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User Datagram Protocol (UDP)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to TCP used for DNS, VoIP and File Sharing</a:t>
            </a:r>
          </a:p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Hypertext Transfer Protocol (HTTP)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Exchanges information over the web</a:t>
            </a:r>
          </a:p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File Transfer protocol(FTP)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Transfers files between local and remote host computers</a:t>
            </a:r>
          </a:p>
        </p:txBody>
      </p:sp>
    </p:spTree>
    <p:extLst>
      <p:ext uri="{BB962C8B-B14F-4D97-AF65-F5344CB8AC3E}">
        <p14:creationId xmlns:p14="http://schemas.microsoft.com/office/powerpoint/2010/main" val="26879052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Protocols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6. Post Office Protocol (POP)</a:t>
            </a:r>
          </a:p>
          <a:p>
            <a:r>
              <a:rPr lang="en-US" dirty="0"/>
              <a:t>Transfers mail from an e-mail server to client Inbox</a:t>
            </a:r>
          </a:p>
          <a:p>
            <a:pPr marL="0" indent="0">
              <a:buNone/>
            </a:pPr>
            <a:r>
              <a:rPr lang="en-US" b="1" i="1" dirty="0"/>
              <a:t>7.Simple Mail Transfer Protocol (SMTP) </a:t>
            </a:r>
          </a:p>
          <a:p>
            <a:r>
              <a:rPr lang="en-US" dirty="0"/>
              <a:t>Transfers e-mail messages from client computers to an e-mail server</a:t>
            </a:r>
            <a:r>
              <a:rPr lang="en-US" dirty="0" smtClean="0"/>
              <a:t>.</a:t>
            </a:r>
            <a:endParaRPr lang="en-US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Voice over Internet Protocol (VoIP)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Transmits voice conversations over the Internet</a:t>
            </a:r>
          </a:p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 Internet Relay Chat (IRC)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Transmits text messages in real time between online users.</a:t>
            </a:r>
          </a:p>
        </p:txBody>
      </p:sp>
    </p:spTree>
    <p:extLst>
      <p:ext uri="{BB962C8B-B14F-4D97-AF65-F5344CB8AC3E}">
        <p14:creationId xmlns:p14="http://schemas.microsoft.com/office/powerpoint/2010/main" val="29078112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 </a:t>
            </a:r>
            <a:r>
              <a:rPr lang="en-US" dirty="0" smtClean="0"/>
              <a:t>Suite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</a:t>
            </a:r>
            <a:r>
              <a:rPr lang="en-US" dirty="0"/>
              <a:t>a combination of protocols that work together, example TCP/IP.</a:t>
            </a:r>
          </a:p>
          <a:p>
            <a:r>
              <a:rPr lang="en-US" dirty="0"/>
              <a:t>TCP Breaks a message or file into packets. IP is responsible for addressing the packets so that they can be routed to their destination.</a:t>
            </a:r>
          </a:p>
          <a:p>
            <a:r>
              <a:rPr lang="en-US" dirty="0"/>
              <a:t>TCP/IP provides a protocol standard for the internet that is public, free, extensible and easy to implement.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5445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6336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1316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Downloading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Receiving/taking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copy of digital data from a network computer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local computer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downloading a file from the Internet to the computer’s hard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drive.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Uploading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Sending of data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 computer 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computer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uploading a video to a specialized server on the Internet.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Bitrate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speed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which data is transferred through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measured in bit/s (bit per second)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4020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Internet Connections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transfer rate varies depending on the network technology used and the type of connection to the particular computer or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Internet.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 ways to get connected to Internet include:</a:t>
            </a:r>
          </a:p>
          <a:p>
            <a:pPr marL="0" indent="0">
              <a:buNone/>
            </a:pPr>
            <a:r>
              <a:rPr lang="en-US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Dial-up Connection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computer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standard telephone line to connect to the Internet. A dial-up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slow-speed technology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Digital Subscriber Line (DSL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technology that provides high speed Internet connections using regular telephone lines</a:t>
            </a:r>
          </a:p>
        </p:txBody>
      </p:sp>
    </p:spTree>
    <p:extLst>
      <p:ext uri="{BB962C8B-B14F-4D97-AF65-F5344CB8AC3E}">
        <p14:creationId xmlns:p14="http://schemas.microsoft.com/office/powerpoint/2010/main" val="38125340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Internet </a:t>
            </a:r>
            <a:r>
              <a:rPr lang="en-US" dirty="0" smtClean="0"/>
              <a:t>Connections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Mobile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the Internet is provided by a mobile communications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a mobile network (GPRS, EDGE, UMTS, HSPA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Modem communicates with a satellite dish to provide high-speed Internet connections via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satellite.</a:t>
            </a:r>
          </a:p>
          <a:p>
            <a:pPr marL="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Wireless (Wi-Fi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 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transferred between computers by using radio frequencies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corresponding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antennas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3979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Internet Connections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vi. Cable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cable Modem allows access to high speed Internet services through the cable television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network.</a:t>
            </a:r>
          </a:p>
          <a:p>
            <a:pPr marL="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vii.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Fiber-optic connection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optical fibers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metal wires, and transmits pulses of light rather than electrical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signals.</a:t>
            </a:r>
          </a:p>
          <a:p>
            <a:pPr marL="0" indent="0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viii. Broadband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Broadband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characterized by a high-speed data transfer, permanent access to the Internet, and thus the risk of unauthorized access to the network or your personal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219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Intranet </a:t>
            </a:r>
            <a:r>
              <a:rPr lang="en-US" dirty="0"/>
              <a:t>and Extranet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Intranet</a:t>
            </a:r>
          </a:p>
          <a:p>
            <a:r>
              <a:rPr lang="en-US" dirty="0"/>
              <a:t> Typically a computer network used by a single organization, in which resources are shared by using Internet </a:t>
            </a:r>
            <a:r>
              <a:rPr lang="en-US" dirty="0" smtClean="0"/>
              <a:t>technologies</a:t>
            </a:r>
          </a:p>
          <a:p>
            <a:r>
              <a:rPr lang="en-US" dirty="0" smtClean="0"/>
              <a:t>An organizations </a:t>
            </a:r>
            <a:r>
              <a:rPr lang="en-US" dirty="0"/>
              <a:t>internal private network that uses the infrastructure and standards of the internet and the </a:t>
            </a:r>
            <a:r>
              <a:rPr lang="en-US" dirty="0" smtClean="0"/>
              <a:t>web.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Extranet</a:t>
            </a:r>
            <a:endParaRPr lang="en-US" b="1" dirty="0"/>
          </a:p>
          <a:p>
            <a:r>
              <a:rPr lang="en-US" dirty="0"/>
              <a:t>An intranet with limited access from the outside. Access is usually granted to trusted and authorized </a:t>
            </a:r>
            <a:r>
              <a:rPr lang="en-US" dirty="0" smtClean="0"/>
              <a:t>users.</a:t>
            </a:r>
          </a:p>
          <a:p>
            <a:r>
              <a:rPr lang="en-US" dirty="0" smtClean="0"/>
              <a:t>Are private intranets that connect not only internal personnel but also other strategic parties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8399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World Wide Web (W3)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51692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for accessing documents supported by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collection of information often accessed by navigation through a graphical user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 documents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linked together because they are created in a format known as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Hypertext.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Hypertext systems provide an easy way to manage large collections of data, which can include text files,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pictures, etc.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hypertext documents, the web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Hypertext document 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file that uses Hypertext Markup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(HTML)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6585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World Wide Web (W3)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 allows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embed hypertext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links (Links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document.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Hypertext document is called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clicking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word, or a picture encoded as a hypertext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link, you are directed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another location within the same document or to a different Web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or related Web pages is called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website is housed on a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computer that delivers requested Web pages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client computer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 Publishing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maintenance of Website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i="1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675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World Wide Web (W3)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application that allows users to access and view Web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browse the Web you need a computer that is connected to the Internet and that has a Web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Browser.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Web Browsers include:- Google Chrome, Internet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Explorer, Netscape,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Mozilla Firefox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Opera,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Safari. 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Navigating the Web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from one web page to another or from one website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another.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URLs (Uniform Resource Locator) are the key to navigating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250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835094"/>
            <a:ext cx="12083143" cy="43418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858598" y="3448594"/>
            <a:ext cx="9101818" cy="241042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16576" y="41949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61311" y="2000124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 smtClean="0">
              <a:ln w="0"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endParaRPr lang="en-US" sz="2400" dirty="0">
              <a:ln w="0"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endParaRPr lang="en-US" sz="2400" dirty="0" smtClean="0">
              <a:ln w="0"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Palatino Linotype" panose="02040502050505030304" pitchFamily="18" charset="0"/>
            </a:endParaRPr>
          </a:p>
          <a:p>
            <a:pPr marL="0" indent="0" algn="ctr">
              <a:buNone/>
            </a:pPr>
            <a:r>
              <a:rPr lang="en-US" sz="7200" dirty="0" smtClean="0">
                <a:ln w="0">
                  <a:solidFill>
                    <a:schemeClr val="bg2">
                      <a:lumMod val="10000"/>
                    </a:schemeClr>
                  </a:solidFill>
                </a:ln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Palatino Linotype" panose="02040502050505030304" pitchFamily="18" charset="0"/>
              </a:rPr>
              <a:t>END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5102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2297</TotalTime>
  <Words>2992</Words>
  <Application>Microsoft Office PowerPoint</Application>
  <PresentationFormat>Widescreen</PresentationFormat>
  <Paragraphs>309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Calibri</vt:lpstr>
      <vt:lpstr>Calibri Light</vt:lpstr>
      <vt:lpstr>Palatino Linotype</vt:lpstr>
      <vt:lpstr>Times New Roman</vt:lpstr>
      <vt:lpstr>Wingdings</vt:lpstr>
      <vt:lpstr>Office Theme</vt:lpstr>
      <vt:lpstr>Custom Design</vt:lpstr>
      <vt:lpstr> </vt:lpstr>
      <vt:lpstr>Introduction</vt:lpstr>
      <vt:lpstr>Categories of Computer Networks</vt:lpstr>
      <vt:lpstr>Categories of Computer Networks (Cont’d)</vt:lpstr>
      <vt:lpstr>Types of Computer Networks</vt:lpstr>
      <vt:lpstr>Types of Computer Networks (Cont’d)</vt:lpstr>
      <vt:lpstr>Types of Computer Networks (Cont’d)</vt:lpstr>
      <vt:lpstr>Types of Computer Networks (Cont’d)</vt:lpstr>
      <vt:lpstr>Elements of a network</vt:lpstr>
      <vt:lpstr>Elements of a network (Cont’d)</vt:lpstr>
      <vt:lpstr>Basic Network Components</vt:lpstr>
      <vt:lpstr>Basic Network Components (Cont’d)</vt:lpstr>
      <vt:lpstr>Basic Network Components (Cont’d)</vt:lpstr>
      <vt:lpstr>Network Devices</vt:lpstr>
      <vt:lpstr>Network Devices (Cont’d)</vt:lpstr>
      <vt:lpstr>Network Devices (Cont’d)</vt:lpstr>
      <vt:lpstr>Network Devices (Cont’d)</vt:lpstr>
      <vt:lpstr>Network Topologies</vt:lpstr>
      <vt:lpstr>Network Topologies (Cont’d)</vt:lpstr>
      <vt:lpstr>Network Topologies (Cont’d)</vt:lpstr>
      <vt:lpstr>Network Topologies (Cont’d)</vt:lpstr>
      <vt:lpstr>Network Topologies (Cont’d)</vt:lpstr>
      <vt:lpstr>Network Topologies (Cont’d)</vt:lpstr>
      <vt:lpstr>Network Topologies (Cont’d)</vt:lpstr>
      <vt:lpstr>Network Topologies (Cont’d)</vt:lpstr>
      <vt:lpstr>Network Topologies (Cont’d)</vt:lpstr>
      <vt:lpstr>Network Topologies (Cont’d)</vt:lpstr>
      <vt:lpstr>Network Topologies (Cont’d)</vt:lpstr>
      <vt:lpstr>Network Topologies (Cont’d)</vt:lpstr>
      <vt:lpstr>Internet</vt:lpstr>
      <vt:lpstr>Internet Infrastructure</vt:lpstr>
      <vt:lpstr>Internet Infrastructure (Cont’d)</vt:lpstr>
      <vt:lpstr>Internet Infrastructure (Cont’d)</vt:lpstr>
      <vt:lpstr>Internet Protocols</vt:lpstr>
      <vt:lpstr>Internet Protocols (Cont’d)</vt:lpstr>
      <vt:lpstr>Internet Protocols (Cont’d)</vt:lpstr>
      <vt:lpstr>Protocol Suite</vt:lpstr>
      <vt:lpstr>Data Transfer</vt:lpstr>
      <vt:lpstr>Types of Internet Connections</vt:lpstr>
      <vt:lpstr>Types of Internet Connections (Cont’d)</vt:lpstr>
      <vt:lpstr>Types of Internet Connections (Cont’d)</vt:lpstr>
      <vt:lpstr>Intranet and Extranet</vt:lpstr>
      <vt:lpstr>The World Wide Web (W3)</vt:lpstr>
      <vt:lpstr>The World Wide Web (W3)</vt:lpstr>
      <vt:lpstr>The World Wide Web (W3)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CHINGS</dc:creator>
  <cp:lastModifiedBy>CHINGS</cp:lastModifiedBy>
  <cp:revision>135</cp:revision>
  <cp:lastPrinted>2017-05-08T12:43:09Z</cp:lastPrinted>
  <dcterms:created xsi:type="dcterms:W3CDTF">2017-02-17T14:41:39Z</dcterms:created>
  <dcterms:modified xsi:type="dcterms:W3CDTF">2017-05-08T15:11:25Z</dcterms:modified>
</cp:coreProperties>
</file>