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7" r:id="rId1"/>
  </p:sldMasterIdLst>
  <p:sldIdLst>
    <p:sldId id="256" r:id="rId2"/>
    <p:sldId id="273" r:id="rId3"/>
    <p:sldId id="274" r:id="rId4"/>
    <p:sldId id="316" r:id="rId5"/>
    <p:sldId id="464" r:id="rId6"/>
    <p:sldId id="468" r:id="rId7"/>
    <p:sldId id="488" r:id="rId8"/>
    <p:sldId id="481" r:id="rId9"/>
    <p:sldId id="487" r:id="rId10"/>
    <p:sldId id="486" r:id="rId11"/>
    <p:sldId id="469" r:id="rId12"/>
    <p:sldId id="482" r:id="rId13"/>
    <p:sldId id="470" r:id="rId14"/>
    <p:sldId id="483" r:id="rId15"/>
    <p:sldId id="465" r:id="rId16"/>
    <p:sldId id="466" r:id="rId17"/>
    <p:sldId id="484" r:id="rId18"/>
    <p:sldId id="467" r:id="rId19"/>
    <p:sldId id="485" r:id="rId20"/>
    <p:sldId id="427" r:id="rId21"/>
    <p:sldId id="428" r:id="rId22"/>
    <p:sldId id="472" r:id="rId23"/>
    <p:sldId id="471" r:id="rId24"/>
    <p:sldId id="473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324" autoAdjust="0"/>
    <p:restoredTop sz="94291" autoAdjust="0"/>
  </p:normalViewPr>
  <p:slideViewPr>
    <p:cSldViewPr snapToGrid="0">
      <p:cViewPr varScale="1">
        <p:scale>
          <a:sx n="68" d="100"/>
          <a:sy n="68" d="100"/>
        </p:scale>
        <p:origin x="100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7D0524-A34C-4900-845A-4E9C83E337B2}" type="datetimeFigureOut">
              <a:rPr lang="en-US" smtClean="0"/>
              <a:t>5/25/2021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2D60242A-277F-4FDB-BCE8-613D7EDF74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40458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7D0524-A34C-4900-845A-4E9C83E337B2}" type="datetimeFigureOut">
              <a:rPr lang="en-US" smtClean="0"/>
              <a:t>5/25/2021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60242A-277F-4FDB-BCE8-613D7EDF74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94497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7D0524-A34C-4900-845A-4E9C83E337B2}" type="datetimeFigureOut">
              <a:rPr lang="en-US" smtClean="0"/>
              <a:t>5/25/2021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2D60242A-277F-4FDB-BCE8-613D7EDF74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82972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7D0524-A34C-4900-845A-4E9C83E337B2}" type="datetimeFigureOut">
              <a:rPr lang="en-US" smtClean="0"/>
              <a:t>5/25/2021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2D60242A-277F-4FDB-BCE8-613D7EDF74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67497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7D0524-A34C-4900-845A-4E9C83E337B2}" type="datetimeFigureOut">
              <a:rPr lang="en-US" smtClean="0"/>
              <a:t>5/25/2021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2D60242A-277F-4FDB-BCE8-613D7EDF74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35951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7D0524-A34C-4900-845A-4E9C83E337B2}" type="datetimeFigureOut">
              <a:rPr lang="en-US" smtClean="0"/>
              <a:t>5/25/2021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60242A-277F-4FDB-BCE8-613D7EDF74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65021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7D0524-A34C-4900-845A-4E9C83E337B2}" type="datetimeFigureOut">
              <a:rPr lang="en-US" smtClean="0"/>
              <a:t>5/25/2021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60242A-277F-4FDB-BCE8-613D7EDF74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54761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7D0524-A34C-4900-845A-4E9C83E337B2}" type="datetimeFigureOut">
              <a:rPr lang="en-US" smtClean="0"/>
              <a:t>5/25/2021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60242A-277F-4FDB-BCE8-613D7EDF74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28059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7D0524-A34C-4900-845A-4E9C83E337B2}" type="datetimeFigureOut">
              <a:rPr lang="en-US" smtClean="0"/>
              <a:t>5/25/2021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2D60242A-277F-4FDB-BCE8-613D7EDF74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43731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7D0524-A34C-4900-845A-4E9C83E337B2}" type="datetimeFigureOut">
              <a:rPr lang="en-US" smtClean="0"/>
              <a:t>5/25/2021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2D60242A-277F-4FDB-BCE8-613D7EDF74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3471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7D0524-A34C-4900-845A-4E9C83E337B2}" type="datetimeFigureOut">
              <a:rPr lang="en-US" smtClean="0"/>
              <a:t>5/25/2021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2D60242A-277F-4FDB-BCE8-613D7EDF74E6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3259027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7D0524-A34C-4900-845A-4E9C83E337B2}" type="datetimeFigureOut">
              <a:rPr lang="en-US" smtClean="0"/>
              <a:t>5/25/2021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2D60242A-277F-4FDB-BCE8-613D7EDF74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960200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7D0524-A34C-4900-845A-4E9C83E337B2}" type="datetimeFigureOut">
              <a:rPr lang="en-US" smtClean="0"/>
              <a:t>5/25/2021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2D60242A-277F-4FDB-BCE8-613D7EDF74E6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59125298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7D0524-A34C-4900-845A-4E9C83E337B2}" type="datetimeFigureOut">
              <a:rPr lang="en-US" smtClean="0"/>
              <a:t>5/25/2021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2D60242A-277F-4FDB-BCE8-613D7EDF74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976692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7D0524-A34C-4900-845A-4E9C83E337B2}" type="datetimeFigureOut">
              <a:rPr lang="en-US" smtClean="0"/>
              <a:t>5/25/2021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60242A-277F-4FDB-BCE8-613D7EDF74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761467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7D0524-A34C-4900-845A-4E9C83E337B2}" type="datetimeFigureOut">
              <a:rPr lang="en-US" smtClean="0"/>
              <a:t>5/25/2021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60242A-277F-4FDB-BCE8-613D7EDF74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63695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7D0524-A34C-4900-845A-4E9C83E337B2}" type="datetimeFigureOut">
              <a:rPr lang="en-US" smtClean="0"/>
              <a:t>5/25/2021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2D60242A-277F-4FDB-BCE8-613D7EDF74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98885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  <p:sldLayoutId id="2147483709" r:id="rId2"/>
    <p:sldLayoutId id="2147483710" r:id="rId3"/>
    <p:sldLayoutId id="2147483711" r:id="rId4"/>
    <p:sldLayoutId id="2147483712" r:id="rId5"/>
    <p:sldLayoutId id="2147483713" r:id="rId6"/>
    <p:sldLayoutId id="2147483714" r:id="rId7"/>
    <p:sldLayoutId id="2147483715" r:id="rId8"/>
    <p:sldLayoutId id="2147483716" r:id="rId9"/>
    <p:sldLayoutId id="2147483717" r:id="rId10"/>
    <p:sldLayoutId id="2147483718" r:id="rId11"/>
    <p:sldLayoutId id="2147483719" r:id="rId12"/>
    <p:sldLayoutId id="2147483720" r:id="rId13"/>
    <p:sldLayoutId id="2147483721" r:id="rId14"/>
    <p:sldLayoutId id="2147483722" r:id="rId15"/>
    <p:sldLayoutId id="214748372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E5616A-176D-41C7-8FC0-815DC3364E5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kumimoji="0" lang="en-GB" sz="4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END USER COMPUTING.</a:t>
            </a:r>
            <a:b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b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GB" sz="4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BICT 1101</a:t>
            </a:r>
            <a:endParaRPr lang="en-US" sz="4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94158F-1A6E-4430-854C-952EAA8BC32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Lecture 3: Spreadsheets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16539741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74F3E8-E785-4A1C-9083-FF5980A540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dirty="0"/>
            </a:br>
            <a:r>
              <a:rPr lang="en-US" dirty="0"/>
              <a:t>COPYING FORMULAS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81E11C-2047-410F-B9BC-679BC07A41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A53010"/>
              </a:buClr>
              <a:buSzTx/>
              <a:buFont typeface="Wingdings 3" charset="2"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Copying Formulas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A53010"/>
              </a:buClr>
              <a:buSzTx/>
              <a:buFont typeface="Wingdings 3" charset="2"/>
              <a:buChar char="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Like many things in Excel, there is more than one way to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copy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 formulas. Feel free to choose what works best for you.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A53010"/>
              </a:buClr>
              <a:buSzTx/>
              <a:buFont typeface="Wingdings 3" charset="2"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To Copy Formulas Using Autofill:</a:t>
            </a:r>
          </a:p>
          <a:p>
            <a:pPr marL="742950" marR="0" lvl="1" indent="-34290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A53010"/>
              </a:buClr>
              <a:buSzTx/>
              <a:buFont typeface="Wingdings 3" charset="2"/>
              <a:buChar char="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Click in the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cell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 that contains the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formula</a:t>
            </a:r>
          </a:p>
          <a:p>
            <a:pPr marL="742950" marR="0" lvl="1" indent="-34290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A53010"/>
              </a:buClr>
              <a:buSzTx/>
              <a:buFont typeface="Wingdings 3" charset="2"/>
              <a:buChar char="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Position the mouse on the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Autofill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 handle (a thin black cross will appear)</a:t>
            </a:r>
          </a:p>
          <a:p>
            <a:pPr marL="742950" marR="0" lvl="1" indent="-34290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A53010"/>
              </a:buClr>
              <a:buSzTx/>
              <a:buFont typeface="Wingdings 3" charset="2"/>
              <a:buChar char=""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Click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 and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drag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 to copy the formula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24435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B087F8-16A5-4F6B-9EF6-3CE60386E1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dirty="0"/>
            </a:br>
            <a:r>
              <a:rPr lang="en-US" dirty="0"/>
              <a:t>COPYING FORMULAS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9335DE-E2F2-4D40-9437-8E895D3677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Copying Formulas Using Copy and Paste:</a:t>
            </a:r>
          </a:p>
          <a:p>
            <a:pPr lvl="1"/>
            <a:r>
              <a:rPr lang="en-US" sz="2400" dirty="0"/>
              <a:t>Click in the </a:t>
            </a:r>
            <a:r>
              <a:rPr lang="en-US" sz="2400" b="1" dirty="0"/>
              <a:t>cell</a:t>
            </a:r>
            <a:r>
              <a:rPr lang="en-US" sz="2400" dirty="0"/>
              <a:t> that contains a </a:t>
            </a:r>
            <a:r>
              <a:rPr lang="en-US" sz="2400" b="1" dirty="0"/>
              <a:t>formula.</a:t>
            </a:r>
          </a:p>
          <a:p>
            <a:pPr lvl="1"/>
            <a:r>
              <a:rPr lang="en-US" sz="2400" dirty="0"/>
              <a:t>Select </a:t>
            </a:r>
            <a:r>
              <a:rPr lang="en-US" sz="2400" b="1" dirty="0"/>
              <a:t>Copy</a:t>
            </a:r>
            <a:r>
              <a:rPr lang="en-US" sz="2400" dirty="0"/>
              <a:t> on the </a:t>
            </a:r>
            <a:r>
              <a:rPr lang="en-US" sz="2400" b="1" dirty="0"/>
              <a:t>Home Tab </a:t>
            </a:r>
            <a:r>
              <a:rPr lang="en-US" sz="2400" dirty="0"/>
              <a:t>in the </a:t>
            </a:r>
            <a:r>
              <a:rPr lang="en-US" sz="2400" b="1" dirty="0"/>
              <a:t>Editing group.</a:t>
            </a:r>
          </a:p>
          <a:p>
            <a:pPr lvl="1"/>
            <a:r>
              <a:rPr lang="en-US" sz="2400" dirty="0"/>
              <a:t>Highlight the </a:t>
            </a:r>
            <a:r>
              <a:rPr lang="en-US" sz="2400" b="1" dirty="0"/>
              <a:t>cell</a:t>
            </a:r>
            <a:r>
              <a:rPr lang="en-US" sz="2400" dirty="0"/>
              <a:t> where you would like to </a:t>
            </a:r>
            <a:r>
              <a:rPr lang="en-US" sz="2400" b="1" dirty="0"/>
              <a:t>paste</a:t>
            </a:r>
            <a:r>
              <a:rPr lang="en-US" sz="2400" dirty="0"/>
              <a:t> the formula.</a:t>
            </a:r>
          </a:p>
          <a:p>
            <a:pPr lvl="1"/>
            <a:r>
              <a:rPr lang="en-US" sz="2400" dirty="0"/>
              <a:t>Select </a:t>
            </a:r>
            <a:r>
              <a:rPr lang="en-US" sz="2400" b="1" dirty="0"/>
              <a:t>Paste</a:t>
            </a:r>
            <a:r>
              <a:rPr lang="en-US" sz="2400" dirty="0"/>
              <a:t> on the </a:t>
            </a:r>
            <a:r>
              <a:rPr lang="en-US" sz="2400" b="1" dirty="0"/>
              <a:t>Home Tab </a:t>
            </a:r>
            <a:r>
              <a:rPr lang="en-US" sz="2400" dirty="0"/>
              <a:t>in the </a:t>
            </a:r>
            <a:r>
              <a:rPr lang="en-US" sz="2400" b="1" dirty="0"/>
              <a:t>Editing group.</a:t>
            </a:r>
          </a:p>
        </p:txBody>
      </p:sp>
    </p:spTree>
    <p:extLst>
      <p:ext uri="{BB962C8B-B14F-4D97-AF65-F5344CB8AC3E}">
        <p14:creationId xmlns:p14="http://schemas.microsoft.com/office/powerpoint/2010/main" val="10727537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30F9AC-5B34-4B2C-AFC9-8E8C81A195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dirty="0"/>
            </a:br>
            <a:r>
              <a:rPr lang="en-US" dirty="0"/>
              <a:t>COPYING FORMULAS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1E8010-F7B5-48F8-A9C3-C8DF405819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A53010"/>
              </a:buClr>
              <a:buSzTx/>
              <a:buFont typeface="Wingdings 3" charset="2"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ALTERNATIVE METHODS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A53010"/>
              </a:buClr>
              <a:buSzTx/>
              <a:buFont typeface="Wingdings 3" charset="2"/>
              <a:buChar char=""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Keyboard:</a:t>
            </a:r>
          </a:p>
          <a:p>
            <a:pPr marL="742950" marR="0" lvl="1" indent="-28575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A53010"/>
              </a:buClr>
              <a:buSzTx/>
              <a:buFont typeface="Wingdings 3" charset="2"/>
              <a:buChar char="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Press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CTRL + C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A53010"/>
              </a:buClr>
              <a:buSzTx/>
              <a:buFont typeface="Wingdings 3" charset="2"/>
              <a:buChar char=""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Ribbon: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 </a:t>
            </a:r>
          </a:p>
          <a:p>
            <a:pPr marL="742950" marR="0" lvl="1" indent="-28575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A53010"/>
              </a:buClr>
              <a:buSzTx/>
              <a:buFont typeface="Wingdings 3" charset="2"/>
              <a:buChar char="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Home Tab, Clipboard Group 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A53010"/>
              </a:buClr>
              <a:buSzTx/>
              <a:buFont typeface="Wingdings 3" charset="2"/>
              <a:buChar char=""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Mouse:</a:t>
            </a:r>
          </a:p>
          <a:p>
            <a:pPr marL="742950" marR="0" lvl="1" indent="-28575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A53010"/>
              </a:buClr>
              <a:buSzTx/>
              <a:buFont typeface="Wingdings 3" charset="2"/>
              <a:buChar char="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Right-click and choose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339C11C-B521-44EC-A93E-2DF4962AAB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0651" y="2968712"/>
            <a:ext cx="841321" cy="920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12733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A6C0FF-F406-4991-AA36-19D63B377C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dirty="0"/>
            </a:br>
            <a:r>
              <a:rPr lang="en-US" dirty="0"/>
              <a:t>USING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A91718-1E0D-4D98-B41A-EB3B4D578B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905000"/>
            <a:ext cx="8915400" cy="4006222"/>
          </a:xfrm>
        </p:spPr>
        <p:txBody>
          <a:bodyPr/>
          <a:lstStyle/>
          <a:p>
            <a:pPr marL="0" indent="0">
              <a:buNone/>
            </a:pPr>
            <a:r>
              <a:rPr lang="en-US" sz="2000" b="1" dirty="0"/>
              <a:t>Formulas Tab</a:t>
            </a:r>
          </a:p>
          <a:p>
            <a:r>
              <a:rPr lang="en-US" sz="2000" dirty="0"/>
              <a:t>The </a:t>
            </a:r>
            <a:r>
              <a:rPr lang="en-US" sz="2000" b="1" dirty="0"/>
              <a:t>Formulas tab </a:t>
            </a:r>
            <a:r>
              <a:rPr lang="en-US" sz="2000" dirty="0"/>
              <a:t>in Excel, provides access to a </a:t>
            </a:r>
            <a:r>
              <a:rPr lang="en-US" sz="2000" b="1" dirty="0"/>
              <a:t>library of formulas </a:t>
            </a:r>
            <a:r>
              <a:rPr lang="en-US" sz="2000" dirty="0"/>
              <a:t>and </a:t>
            </a:r>
            <a:r>
              <a:rPr lang="en-US" sz="2000" b="1" dirty="0"/>
              <a:t>functions.</a:t>
            </a:r>
            <a:r>
              <a:rPr lang="en-US" sz="2000" dirty="0"/>
              <a:t> </a:t>
            </a:r>
          </a:p>
          <a:p>
            <a:r>
              <a:rPr lang="en-US" sz="2000" dirty="0"/>
              <a:t>On this tab, you can use </a:t>
            </a:r>
            <a:r>
              <a:rPr lang="en-US" sz="2000" b="1" dirty="0"/>
              <a:t>commands</a:t>
            </a:r>
            <a:r>
              <a:rPr lang="en-US" sz="2000" dirty="0"/>
              <a:t> for quickly </a:t>
            </a:r>
            <a:r>
              <a:rPr lang="en-US" sz="2000" b="1" dirty="0"/>
              <a:t>inserting functions</a:t>
            </a:r>
            <a:r>
              <a:rPr lang="en-US" sz="2000" dirty="0"/>
              <a:t>, </a:t>
            </a:r>
            <a:r>
              <a:rPr lang="en-US" sz="2000" b="1" dirty="0"/>
              <a:t>inserting totals</a:t>
            </a:r>
            <a:r>
              <a:rPr lang="en-US" sz="2000" dirty="0"/>
              <a:t>, and </a:t>
            </a:r>
            <a:r>
              <a:rPr lang="en-US" sz="2000" b="1" dirty="0"/>
              <a:t>displaying a visual map of cells </a:t>
            </a:r>
            <a:r>
              <a:rPr lang="en-US" sz="2000" dirty="0"/>
              <a:t>that are dependent on a formula.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B8AE62E-DCF9-49A0-A1DA-4F3DFF7B15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5064" y="4244560"/>
            <a:ext cx="7579262" cy="1666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51390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38D1AC-3B04-421B-B431-B20BA4D59B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Century Gothic" panose="020B0502020202020204"/>
                <a:ea typeface="+mj-ea"/>
                <a:cs typeface="+mj-cs"/>
              </a:rPr>
            </a:b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Century Gothic" panose="020B0502020202020204"/>
                <a:ea typeface="+mj-ea"/>
                <a:cs typeface="+mj-cs"/>
              </a:rPr>
              <a:t>USING FUNCTIONS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31A298-5A53-438C-9C79-BADE6D25DF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905000"/>
            <a:ext cx="8915400" cy="432889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SUMMARIZING DATA WITH FUNCTIONS</a:t>
            </a:r>
          </a:p>
          <a:p>
            <a:r>
              <a:rPr lang="en-US" sz="2400" b="1" dirty="0"/>
              <a:t>Functions </a:t>
            </a:r>
            <a:r>
              <a:rPr lang="en-US" sz="2400" dirty="0"/>
              <a:t>are more </a:t>
            </a:r>
            <a:r>
              <a:rPr lang="en-US" sz="2400" b="1" dirty="0"/>
              <a:t>complex formulas </a:t>
            </a:r>
            <a:r>
              <a:rPr lang="en-US" sz="2400" dirty="0"/>
              <a:t>that are invoked by </a:t>
            </a:r>
            <a:r>
              <a:rPr lang="en-US" sz="2400" b="1" dirty="0"/>
              <a:t>typing their name</a:t>
            </a:r>
            <a:r>
              <a:rPr lang="en-US" sz="2400" dirty="0"/>
              <a:t>.  </a:t>
            </a:r>
          </a:p>
          <a:p>
            <a:r>
              <a:rPr lang="en-US" sz="2400" dirty="0"/>
              <a:t>They provide an easy way to perform </a:t>
            </a:r>
            <a:r>
              <a:rPr lang="en-US" sz="2400" b="1" dirty="0"/>
              <a:t>mathematical work on a range of cells</a:t>
            </a:r>
            <a:r>
              <a:rPr lang="en-US" sz="2400" dirty="0"/>
              <a:t>, </a:t>
            </a:r>
            <a:r>
              <a:rPr lang="en-US" sz="2400" b="1" dirty="0"/>
              <a:t>quickly</a:t>
            </a:r>
            <a:r>
              <a:rPr lang="en-US" sz="2400" dirty="0"/>
              <a:t> and </a:t>
            </a:r>
            <a:r>
              <a:rPr lang="en-US" sz="2400" b="1" dirty="0"/>
              <a:t>conveniently. </a:t>
            </a:r>
          </a:p>
          <a:p>
            <a:r>
              <a:rPr lang="en-US" sz="2400" dirty="0"/>
              <a:t>When working with functions, the cells used in the formula are referred to as the </a:t>
            </a:r>
            <a:r>
              <a:rPr lang="en-US" sz="2400" b="1" dirty="0"/>
              <a:t>range</a:t>
            </a:r>
            <a:r>
              <a:rPr lang="en-US" sz="2400" dirty="0"/>
              <a:t>. 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A53010"/>
              </a:buClr>
              <a:buSzTx/>
              <a:buFont typeface="Wingdings 3" charset="2"/>
              <a:buChar char="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A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 range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is a group of cells that are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specified by naming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the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first cell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in the group and the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last cell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. For example,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A1:D1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is a range that includes cells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A1, B1, C1 and D1</a:t>
            </a:r>
            <a:endParaRPr lang="en-US" sz="2400" dirty="0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922673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6D544C-8BF2-4A51-BA65-F6624147DA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dirty="0"/>
            </a:b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Century Gothic" panose="020B0502020202020204"/>
                <a:ea typeface="+mj-ea"/>
                <a:cs typeface="+mj-cs"/>
              </a:rPr>
              <a:t>USING FUNCTIONS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B33ECA-B2DA-4D2C-9765-E8BDFDBF92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A53010"/>
              </a:buClr>
              <a:buSzTx/>
              <a:buFont typeface="Wingdings 3" charset="2"/>
              <a:buChar char="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We will look at how to use some of the basic functions in Excel: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SUM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,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COUNT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,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COUNTA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,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COUNTBLANK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,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AVERAGE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,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MIN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, and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MAX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31036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BC357-CFFF-4FE4-8A0E-4307E7D3C4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dirty="0"/>
            </a:b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Century Gothic" panose="020B0502020202020204"/>
                <a:ea typeface="+mj-ea"/>
                <a:cs typeface="+mj-cs"/>
              </a:rPr>
              <a:t>USING FUNCTIONS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CBF16D-1CB7-459A-8390-6ADF8EC21B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905001"/>
            <a:ext cx="8915400" cy="4453596"/>
          </a:xfrm>
        </p:spPr>
        <p:txBody>
          <a:bodyPr>
            <a:normAutofit lnSpcReduction="10000"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A53010"/>
              </a:buClr>
              <a:buSzTx/>
              <a:buFont typeface="Wingdings 3" charset="2"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Using the SUM Function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A53010"/>
              </a:buClr>
              <a:buSzTx/>
              <a:buFont typeface="Wingdings 3" charset="2"/>
              <a:buChar char="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The most common calculations formula performed in Excel worksheet is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SUM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, or the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addition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 of multiple values. It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adds a range of cells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A53010"/>
              </a:buClr>
              <a:buSzTx/>
              <a:buFont typeface="Wingdings 3" charset="2"/>
              <a:buChar char="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The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SUM function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totals all of the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cells in a range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,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easily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and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accurately.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 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A53010"/>
              </a:buClr>
              <a:buSzTx/>
              <a:buFont typeface="Wingdings 3" charset="2"/>
              <a:buChar char=""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AutoSum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 makes that task even easier by calculating (by default) the total from the adjacent cell up to the first nonnumeric cell, using the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SUM function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in its formula. 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A53010"/>
              </a:buClr>
              <a:buSzTx/>
              <a:buFont typeface="Wingdings 3" charset="2"/>
              <a:buChar char=""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SUM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 is usually the first function most people learn how to use in Excel.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19059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52C583-B1E6-4ED9-8627-8A9132A37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Century Gothic" panose="020B0502020202020204"/>
                <a:ea typeface="+mj-ea"/>
                <a:cs typeface="+mj-cs"/>
              </a:rPr>
            </a:b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Century Gothic" panose="020B0502020202020204"/>
                <a:ea typeface="+mj-ea"/>
                <a:cs typeface="+mj-cs"/>
              </a:rPr>
              <a:t>USING FUNCTIONS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5743C6-72F4-4D1F-AF05-09A9FABCBB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A53010"/>
              </a:buClr>
              <a:buSzTx/>
              <a:buFont typeface="Wingdings 3" charset="2"/>
              <a:buChar char="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Excel has over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200 functions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that can be used. Because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SUM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 is the most common function, it is the only one with its own toolbar button. 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A53010"/>
              </a:buClr>
              <a:buSzTx/>
              <a:buFont typeface="Wingdings 3" charset="2"/>
              <a:buChar char="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A formula can be created that reads =C6+D6+E6+F6+G6+H6. 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A53010"/>
              </a:buClr>
              <a:buSzTx/>
              <a:buFont typeface="Wingdings 3" charset="2"/>
              <a:buChar char="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That’s a lot of typing! 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A53010"/>
              </a:buClr>
              <a:buSzTx/>
              <a:buFont typeface="Wingdings 3" charset="2"/>
              <a:buChar char="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Instead, we can use the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SUM function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and specify a range of cells.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A53010"/>
              </a:buClr>
              <a:buSzTx/>
              <a:buFont typeface="Wingdings 3" charset="2"/>
              <a:buChar char="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93491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09E760-BC44-42F2-9000-0BD0E2E2E3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br>
              <a:rPr lang="en-US" dirty="0"/>
            </a:b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Century Gothic" panose="020B0502020202020204"/>
                <a:ea typeface="+mj-ea"/>
                <a:cs typeface="+mj-cs"/>
              </a:rPr>
              <a:t>USING FUNCTIONS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B54317-FD62-42D4-834B-E850EBA49C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2053883"/>
            <a:ext cx="8915400" cy="4180007"/>
          </a:xfrm>
        </p:spPr>
        <p:txBody>
          <a:bodyPr>
            <a:normAutofit lnSpcReduction="10000"/>
          </a:bodyPr>
          <a:lstStyle/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A53010"/>
              </a:buClr>
              <a:buSzTx/>
              <a:buFont typeface="Wingdings 3" charset="2"/>
              <a:buChar char="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The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Autosum function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automatically looks for cells that have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values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 in them. It will read values until it finds the first blank cell. 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A53010"/>
              </a:buClr>
              <a:buSzTx/>
              <a:buFont typeface="Wingdings 3" charset="2"/>
              <a:buChar char=""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Autosum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 will select the range of cells to use in the formula by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highlighting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the range.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A53010"/>
              </a:buClr>
              <a:buSzTx/>
              <a:buFont typeface="Wingdings 3" charset="2"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To Create the Total Column’s Values Using Autosum:</a:t>
            </a:r>
          </a:p>
          <a:p>
            <a:pPr marL="742950" marR="0" lvl="1" indent="-28575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A53010"/>
              </a:buClr>
              <a:buSzTx/>
              <a:buFont typeface="Wingdings 3" charset="2"/>
              <a:buChar char="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Click in the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cell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 where you would like the Total to be located</a:t>
            </a:r>
          </a:p>
          <a:p>
            <a:pPr marL="742950" marR="0" lvl="1" indent="-28575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A53010"/>
              </a:buClr>
              <a:buSzTx/>
              <a:buFont typeface="Wingdings 3" charset="2"/>
              <a:buChar char="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Press the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Autosum button.</a:t>
            </a:r>
          </a:p>
          <a:p>
            <a:pPr marL="742950" marR="0" lvl="1" indent="-28575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A53010"/>
              </a:buClr>
              <a:buSzTx/>
              <a:buFont typeface="Wingdings 3" charset="2"/>
              <a:buChar char="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Press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Enter.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A53010"/>
              </a:buClr>
              <a:buSz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05500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D70AEB-82D5-4801-82C9-1DCE652E59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dirty="0"/>
            </a:b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Century Gothic" panose="020B0502020202020204"/>
                <a:ea typeface="+mj-ea"/>
                <a:cs typeface="+mj-cs"/>
              </a:rPr>
              <a:t>USING FUNCTIONS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EF78FF-EEE8-44A9-92BC-DA243A09CE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905000"/>
            <a:ext cx="8915400" cy="400622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b="1" dirty="0"/>
              <a:t>Use the SUM Function</a:t>
            </a:r>
          </a:p>
          <a:p>
            <a:r>
              <a:rPr lang="en-US" sz="2400" dirty="0"/>
              <a:t>LAUNCH Excel if it is not already running.</a:t>
            </a:r>
          </a:p>
          <a:p>
            <a:pPr lvl="1"/>
            <a:r>
              <a:rPr lang="en-US" sz="2400" dirty="0"/>
              <a:t>1. OPEN the </a:t>
            </a:r>
            <a:r>
              <a:rPr lang="en-US" sz="2400" b="1" dirty="0"/>
              <a:t>House Expenses File.</a:t>
            </a:r>
            <a:endParaRPr lang="en-US" sz="2400" b="1" dirty="0">
              <a:solidFill>
                <a:srgbClr val="FF0000"/>
              </a:solidFill>
            </a:endParaRPr>
          </a:p>
          <a:p>
            <a:pPr lvl="2"/>
            <a:r>
              <a:rPr lang="en-US" sz="2400" dirty="0">
                <a:solidFill>
                  <a:srgbClr val="FF0000"/>
                </a:solidFill>
              </a:rPr>
              <a:t>Click Enable Editing, if prompted.</a:t>
            </a:r>
          </a:p>
          <a:p>
            <a:pPr lvl="1"/>
            <a:r>
              <a:rPr lang="en-US" sz="2400" dirty="0"/>
              <a:t>2. In cell </a:t>
            </a:r>
            <a:r>
              <a:rPr lang="en-US" sz="2400" b="1" dirty="0"/>
              <a:t>B7</a:t>
            </a:r>
            <a:r>
              <a:rPr lang="en-US" sz="2400" dirty="0"/>
              <a:t>, type </a:t>
            </a:r>
            <a:r>
              <a:rPr lang="en-US" sz="2400" b="1" dirty="0"/>
              <a:t>=SUM(B3:B6) </a:t>
            </a:r>
            <a:r>
              <a:rPr lang="en-US" sz="2400" dirty="0"/>
              <a:t>and press </a:t>
            </a:r>
            <a:r>
              <a:rPr lang="en-US" sz="2400" b="1" dirty="0"/>
              <a:t>Enter</a:t>
            </a:r>
            <a:r>
              <a:rPr lang="en-US" sz="2400" dirty="0"/>
              <a:t>. </a:t>
            </a:r>
          </a:p>
          <a:p>
            <a:r>
              <a:rPr lang="en-US" sz="2400" dirty="0"/>
              <a:t>Remember that all formulas must start with an equal sign (=). A function is simply a predefined formula, so you must use the equal sign.</a:t>
            </a:r>
          </a:p>
        </p:txBody>
      </p:sp>
    </p:spTree>
    <p:extLst>
      <p:ext uri="{BB962C8B-B14F-4D97-AF65-F5344CB8AC3E}">
        <p14:creationId xmlns:p14="http://schemas.microsoft.com/office/powerpoint/2010/main" val="33726176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688B52-B01B-436F-A866-51B2EB73D5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Century Gothic" panose="020B0502020202020204"/>
                <a:ea typeface="+mj-ea"/>
                <a:cs typeface="+mj-cs"/>
              </a:rPr>
            </a:b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Century Gothic" panose="020B0502020202020204"/>
                <a:ea typeface="+mj-ea"/>
                <a:cs typeface="+mj-cs"/>
              </a:rPr>
              <a:t>USING FUNCTIONS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2A8A09-DFCE-43EA-80F5-97A0E139DF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742950" marR="0" lvl="1" indent="-28575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A53010"/>
              </a:buClr>
              <a:buSzTx/>
              <a:buFont typeface="Wingdings 3" charset="2"/>
              <a:buChar char="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3. Click in cell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C7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. Click the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Formulas tab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and then click the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top part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of the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AutoSum button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. </a:t>
            </a:r>
          </a:p>
          <a:p>
            <a:pPr marL="1143000" marR="0" lvl="2" indent="-22860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A53010"/>
              </a:buClr>
              <a:buSzTx/>
              <a:buFont typeface="Wingdings 3" charset="2"/>
              <a:buChar char="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The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SUM function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appears with arguments filled in, but only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C6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 is included. </a:t>
            </a:r>
          </a:p>
          <a:p>
            <a:pPr marL="1143000" marR="0" lvl="2" indent="-22860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A53010"/>
              </a:buClr>
              <a:buSzTx/>
              <a:buFont typeface="Wingdings 3" charset="2"/>
              <a:buChar char="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Type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C3: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 before C6 to correct the range. </a:t>
            </a:r>
          </a:p>
          <a:p>
            <a:pPr marL="1143000" marR="0" lvl="2" indent="-22860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A53010"/>
              </a:buClr>
              <a:buSzTx/>
              <a:buFont typeface="Wingdings 3" charset="2"/>
              <a:buChar char="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Press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Enter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. </a:t>
            </a:r>
          </a:p>
          <a:p>
            <a:pPr marL="742950" marR="0" lvl="1" indent="-28575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A53010"/>
              </a:buClr>
              <a:buSzTx/>
              <a:buFont typeface="Wingdings 3" charset="2"/>
              <a:buChar char="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4. Copy cell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C7 to D7:M7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to enter the remaining subtotals.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16000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F78CA6-DD41-405F-83BE-A006389E7F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dirty="0"/>
            </a:b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Century Gothic" panose="020B0502020202020204"/>
                <a:ea typeface="+mj-ea"/>
                <a:cs typeface="+mj-cs"/>
              </a:rPr>
              <a:t>USING FUNCTIONS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08C822-D4BE-4660-B6A9-711CE4294F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742950" marR="0" lvl="1" indent="-28575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A53010"/>
              </a:buClr>
              <a:buSzTx/>
              <a:buFont typeface="Wingdings 3" charset="2"/>
              <a:buChar char="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5. Copy cell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N6 to N7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to enter the total nonutility expenses.</a:t>
            </a:r>
          </a:p>
          <a:p>
            <a:pPr marL="742950" marR="0" lvl="1" indent="-28575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A53010"/>
              </a:buClr>
              <a:buSzTx/>
              <a:buFont typeface="Wingdings 3" charset="2"/>
              <a:buChar char="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6.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SAVE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 the workbook </a:t>
            </a:r>
            <a:r>
              <a:rPr lang="en-US" sz="2400" dirty="0">
                <a:solidFill>
                  <a:prstClr val="black">
                    <a:lumMod val="75000"/>
                    <a:lumOff val="25000"/>
                  </a:prstClr>
                </a:solidFill>
                <a:latin typeface="Century Gothic" panose="020B0502020202020204"/>
              </a:rPr>
              <a:t>in your </a:t>
            </a:r>
            <a:r>
              <a:rPr lang="en-US" sz="2400" b="1" dirty="0">
                <a:solidFill>
                  <a:prstClr val="black">
                    <a:lumMod val="75000"/>
                    <a:lumOff val="25000"/>
                  </a:prstClr>
                </a:solidFill>
                <a:latin typeface="Century Gothic" panose="020B0502020202020204"/>
              </a:rPr>
              <a:t>folder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.</a:t>
            </a:r>
            <a:endParaRPr lang="en-US" sz="2400" dirty="0"/>
          </a:p>
          <a:p>
            <a:r>
              <a:rPr lang="en-US" sz="2400" dirty="0"/>
              <a:t>The alternative to the </a:t>
            </a:r>
            <a:r>
              <a:rPr lang="en-US" sz="2400" b="1" dirty="0"/>
              <a:t>SUM function </a:t>
            </a:r>
            <a:r>
              <a:rPr lang="en-US" sz="2400" dirty="0"/>
              <a:t>is to create an addition formula using </a:t>
            </a:r>
            <a:r>
              <a:rPr lang="en-US" sz="2400" b="1" dirty="0"/>
              <a:t>cell references </a:t>
            </a:r>
            <a:r>
              <a:rPr lang="en-US" sz="2400" dirty="0"/>
              <a:t>for every cell value to be added, such as the following: =B7+C7+D7+E7+F7+G7+H7+I7+J7+K7+L7+M7</a:t>
            </a:r>
          </a:p>
        </p:txBody>
      </p:sp>
    </p:spTree>
    <p:extLst>
      <p:ext uri="{BB962C8B-B14F-4D97-AF65-F5344CB8AC3E}">
        <p14:creationId xmlns:p14="http://schemas.microsoft.com/office/powerpoint/2010/main" val="24336474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8ECBE0-4C32-47B9-9B6E-136F8EAAF1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dirty="0"/>
            </a:b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Century Gothic" panose="020B0502020202020204"/>
                <a:ea typeface="+mj-ea"/>
                <a:cs typeface="+mj-cs"/>
              </a:rPr>
              <a:t>USING FUNCTIONS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FE68DD-6380-4A92-85B9-765A04D140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A53010"/>
              </a:buClr>
              <a:buSzTx/>
              <a:buFont typeface="Wingdings 3" charset="2"/>
              <a:buChar char="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The easier way to achieve the same result is to use the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SUM function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or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AutoSum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. 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A53010"/>
              </a:buClr>
              <a:buSzTx/>
              <a:buFont typeface="Wingdings 3" charset="2"/>
              <a:buChar char=""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AutoSum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 is a built-in feature of Excel that recognizes adjacent cells in rows and columns as the logical selection to perform the AutoSum.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6641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3A85D9-5E29-4C6D-9EEC-CE7B10E2C7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dirty="0"/>
            </a:b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Century Gothic" panose="020B0502020202020204"/>
                <a:ea typeface="+mj-ea"/>
                <a:cs typeface="+mj-cs"/>
              </a:rPr>
              <a:t>USING FUNCTIONS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8CC78A-B428-4970-A043-0082B70490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905000"/>
            <a:ext cx="8915400" cy="432889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b="1" dirty="0"/>
              <a:t>Using the COUNT, COUNTA, and COUNTBLANK Functions</a:t>
            </a:r>
          </a:p>
          <a:p>
            <a:r>
              <a:rPr lang="en-US" sz="2400" dirty="0"/>
              <a:t>Statistical functions, such as </a:t>
            </a:r>
            <a:r>
              <a:rPr lang="en-US" sz="2400" b="1" dirty="0"/>
              <a:t>SUM</a:t>
            </a:r>
            <a:r>
              <a:rPr lang="en-US" sz="2400" dirty="0"/>
              <a:t> and </a:t>
            </a:r>
            <a:r>
              <a:rPr lang="en-US" sz="2400" b="1" dirty="0"/>
              <a:t>COUNT</a:t>
            </a:r>
            <a:r>
              <a:rPr lang="en-US" sz="2400" dirty="0"/>
              <a:t>, </a:t>
            </a:r>
            <a:r>
              <a:rPr lang="en-US" sz="2400" b="1" dirty="0"/>
              <a:t>compile and classify data </a:t>
            </a:r>
            <a:r>
              <a:rPr lang="en-US" sz="2400" dirty="0"/>
              <a:t>to present significant information. </a:t>
            </a:r>
          </a:p>
          <a:p>
            <a:r>
              <a:rPr lang="en-US" sz="2400" dirty="0"/>
              <a:t>Use the </a:t>
            </a:r>
            <a:r>
              <a:rPr lang="en-US" sz="2400" b="1" dirty="0"/>
              <a:t>COUNT function </a:t>
            </a:r>
            <a:r>
              <a:rPr lang="en-US" sz="2400" dirty="0"/>
              <a:t>when you want to determine how many cells in a range contain a number. </a:t>
            </a:r>
          </a:p>
          <a:p>
            <a:r>
              <a:rPr lang="en-US" sz="2400" dirty="0"/>
              <a:t>There are other variations of the </a:t>
            </a:r>
            <a:r>
              <a:rPr lang="en-US" sz="2400" b="1" dirty="0"/>
              <a:t>COUNT function</a:t>
            </a:r>
            <a:r>
              <a:rPr lang="en-US" sz="2400" dirty="0"/>
              <a:t>. </a:t>
            </a:r>
          </a:p>
          <a:p>
            <a:pPr lvl="1"/>
            <a:r>
              <a:rPr lang="en-US" sz="2400" dirty="0"/>
              <a:t>The </a:t>
            </a:r>
            <a:r>
              <a:rPr lang="en-US" sz="2400" b="1" dirty="0"/>
              <a:t>COUNTA</a:t>
            </a:r>
            <a:r>
              <a:rPr lang="en-US" sz="2400" dirty="0"/>
              <a:t> </a:t>
            </a:r>
            <a:r>
              <a:rPr lang="en-US" sz="2400" b="1" dirty="0"/>
              <a:t>function </a:t>
            </a:r>
            <a:r>
              <a:rPr lang="en-US" sz="2400" dirty="0"/>
              <a:t>counts </a:t>
            </a:r>
            <a:r>
              <a:rPr lang="en-US" sz="2400" b="1" dirty="0"/>
              <a:t>all nonblank entries in a range</a:t>
            </a:r>
            <a:r>
              <a:rPr lang="en-US" sz="2400" dirty="0"/>
              <a:t>, whether they include text or numbers. </a:t>
            </a:r>
          </a:p>
          <a:p>
            <a:pPr lvl="1"/>
            <a:r>
              <a:rPr lang="en-US" sz="2400" dirty="0"/>
              <a:t>The </a:t>
            </a:r>
            <a:r>
              <a:rPr lang="en-US" sz="2400" b="1" dirty="0"/>
              <a:t>COUNTBLANK</a:t>
            </a:r>
            <a:r>
              <a:rPr lang="en-US" sz="2400" dirty="0"/>
              <a:t> </a:t>
            </a:r>
            <a:r>
              <a:rPr lang="en-US" sz="2400" b="1" dirty="0"/>
              <a:t>function</a:t>
            </a:r>
            <a:r>
              <a:rPr lang="en-US" sz="2400" dirty="0"/>
              <a:t> counts the number of </a:t>
            </a:r>
            <a:r>
              <a:rPr lang="en-US" sz="2400" b="1" dirty="0"/>
              <a:t>blank cells in a range</a:t>
            </a:r>
          </a:p>
        </p:txBody>
      </p:sp>
    </p:spTree>
    <p:extLst>
      <p:ext uri="{BB962C8B-B14F-4D97-AF65-F5344CB8AC3E}">
        <p14:creationId xmlns:p14="http://schemas.microsoft.com/office/powerpoint/2010/main" val="17602960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78B473-2618-4A68-A17A-0E987FE923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dirty="0"/>
            </a:b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Century Gothic" panose="020B0502020202020204"/>
                <a:ea typeface="+mj-ea"/>
                <a:cs typeface="+mj-cs"/>
              </a:rPr>
              <a:t>USING FUNCTIONS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123040-0E0F-4956-A0A1-C2D1B3E2DA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905000"/>
            <a:ext cx="8915400" cy="420551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b="1" dirty="0"/>
              <a:t>Use the COUNT, COUNTA, and COUNTBLANK Functions</a:t>
            </a:r>
          </a:p>
          <a:p>
            <a:pPr lvl="1"/>
            <a:r>
              <a:rPr lang="en-US" sz="2400" dirty="0"/>
              <a:t>1. In cell </a:t>
            </a:r>
            <a:r>
              <a:rPr lang="en-US" sz="2400" b="1" dirty="0"/>
              <a:t>O5,</a:t>
            </a:r>
            <a:r>
              <a:rPr lang="en-US" sz="2400" dirty="0"/>
              <a:t> type </a:t>
            </a:r>
            <a:r>
              <a:rPr lang="en-US" sz="2400" b="1" dirty="0"/>
              <a:t>COUNT</a:t>
            </a:r>
            <a:r>
              <a:rPr lang="en-US" sz="2400" dirty="0"/>
              <a:t> and then press </a:t>
            </a:r>
            <a:r>
              <a:rPr lang="en-US" sz="2400" b="1" dirty="0"/>
              <a:t>Enter</a:t>
            </a:r>
            <a:r>
              <a:rPr lang="en-US" sz="2400" dirty="0"/>
              <a:t>. This is the label identifying the formula you will enter in the next step.</a:t>
            </a:r>
          </a:p>
          <a:p>
            <a:pPr lvl="1"/>
            <a:r>
              <a:rPr lang="en-US" sz="2400" dirty="0"/>
              <a:t>2. In cell </a:t>
            </a:r>
            <a:r>
              <a:rPr lang="en-US" sz="2400" b="1" dirty="0"/>
              <a:t>O6</a:t>
            </a:r>
            <a:r>
              <a:rPr lang="en-US" sz="2400" dirty="0"/>
              <a:t>, type </a:t>
            </a:r>
            <a:r>
              <a:rPr lang="en-US" sz="2400" b="1" dirty="0"/>
              <a:t>=COUNT(A6:M6) </a:t>
            </a:r>
            <a:r>
              <a:rPr lang="en-US" sz="2400" dirty="0"/>
              <a:t>and then press </a:t>
            </a:r>
            <a:r>
              <a:rPr lang="en-US" sz="2400" b="1" dirty="0"/>
              <a:t>Enter</a:t>
            </a:r>
            <a:r>
              <a:rPr lang="en-US" sz="2400" dirty="0"/>
              <a:t>.  </a:t>
            </a:r>
          </a:p>
          <a:p>
            <a:pPr lvl="2"/>
            <a:r>
              <a:rPr lang="en-US" sz="2400" dirty="0"/>
              <a:t>The </a:t>
            </a:r>
            <a:r>
              <a:rPr lang="en-US" sz="2400" b="1" dirty="0"/>
              <a:t>COUNT function </a:t>
            </a:r>
            <a:r>
              <a:rPr lang="en-US" sz="2400" dirty="0"/>
              <a:t>disregards the entry in </a:t>
            </a:r>
            <a:r>
              <a:rPr lang="en-US" sz="2400" b="1" dirty="0"/>
              <a:t>A6 </a:t>
            </a:r>
            <a:r>
              <a:rPr lang="en-US" sz="2400" dirty="0"/>
              <a:t>because it doesn’t contain a </a:t>
            </a:r>
            <a:r>
              <a:rPr lang="en-US" sz="2400" b="1" dirty="0"/>
              <a:t>number</a:t>
            </a:r>
            <a:r>
              <a:rPr lang="en-US" sz="2400" dirty="0"/>
              <a:t>, and the function also disregards </a:t>
            </a:r>
            <a:r>
              <a:rPr lang="en-US" sz="2400" b="1" dirty="0"/>
              <a:t>blank cells</a:t>
            </a:r>
            <a:r>
              <a:rPr lang="en-US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820688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085AFA-F81A-4BD0-A2D1-B53C1C1394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Century Gothic" panose="020B0502020202020204"/>
                <a:ea typeface="+mj-ea"/>
                <a:cs typeface="+mj-cs"/>
              </a:rPr>
            </a:b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Century Gothic" panose="020B0502020202020204"/>
                <a:ea typeface="+mj-ea"/>
                <a:cs typeface="+mj-cs"/>
              </a:rPr>
              <a:t>USING FUNCTIONS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400381-7E01-4779-9C81-41654E5270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742950" marR="0" lvl="1" indent="-28575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A53010"/>
              </a:buClr>
              <a:buSzTx/>
              <a:buFont typeface="Wingdings 3" charset="2"/>
              <a:buChar char="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3. In cell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P5,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type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COUNTA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 and then press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Enter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. This is the label identifying the formula you will enter in the next step.</a:t>
            </a:r>
          </a:p>
          <a:p>
            <a:pPr marL="742950" marR="0" lvl="1" indent="-28575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A53010"/>
              </a:buClr>
              <a:buSzTx/>
              <a:buFont typeface="Wingdings 3" charset="2"/>
              <a:buChar char="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4. In cell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P6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, type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=COUNTA(A6:M6)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and then press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Enter.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 </a:t>
            </a:r>
          </a:p>
          <a:p>
            <a:pPr marL="742950" marR="0" lvl="1" indent="-28575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A53010"/>
              </a:buClr>
              <a:buSzTx/>
              <a:buFont typeface="Wingdings 3" charset="2"/>
              <a:buChar char="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5. In cell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Q5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, type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COUNTBLANK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 and then press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Enter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. This is the label identifying the formula you will enter in the next step.</a:t>
            </a:r>
          </a:p>
          <a:p>
            <a:pPr marL="742950" marR="0" lvl="1" indent="-28575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A53010"/>
              </a:buClr>
              <a:buSzTx/>
              <a:buFont typeface="Wingdings 3" charset="2"/>
              <a:buChar char="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6. In cell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Q6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, type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=COUNTBLANK(A6:M6)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and then press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Enter.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26033334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DA8F68-CCEB-4F96-AE6C-A3BC0C9B70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dirty="0"/>
            </a:b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Century Gothic" panose="020B0502020202020204"/>
                <a:ea typeface="+mj-ea"/>
                <a:cs typeface="+mj-cs"/>
              </a:rPr>
              <a:t>USING FUNCTIONS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15B3E1-2172-459B-9951-E6F972FC79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Using the AVERAGE Function</a:t>
            </a:r>
          </a:p>
          <a:p>
            <a:r>
              <a:rPr lang="en-US" sz="2400" dirty="0"/>
              <a:t>The </a:t>
            </a:r>
            <a:r>
              <a:rPr lang="en-US" sz="2400" b="1" dirty="0"/>
              <a:t>AVERAGE function adds</a:t>
            </a:r>
            <a:r>
              <a:rPr lang="en-US" sz="2400" dirty="0"/>
              <a:t> a range of cells and then </a:t>
            </a:r>
            <a:r>
              <a:rPr lang="en-US" sz="2400" b="1" dirty="0"/>
              <a:t>divides</a:t>
            </a:r>
            <a:r>
              <a:rPr lang="en-US" sz="2400" dirty="0"/>
              <a:t> by the number of </a:t>
            </a:r>
            <a:r>
              <a:rPr lang="en-US" sz="2400" b="1" dirty="0"/>
              <a:t>cell entries</a:t>
            </a:r>
            <a:r>
              <a:rPr lang="en-US" sz="2400" dirty="0"/>
              <a:t>, determining the </a:t>
            </a:r>
            <a:r>
              <a:rPr lang="en-US" sz="2400" b="1" dirty="0"/>
              <a:t>mean value </a:t>
            </a:r>
            <a:r>
              <a:rPr lang="en-US" sz="2400" dirty="0"/>
              <a:t>of all values in the range. </a:t>
            </a:r>
          </a:p>
          <a:p>
            <a:r>
              <a:rPr lang="en-US" sz="2400" dirty="0"/>
              <a:t>The cost of other expenses varies with time e.g. Electricity and gas, one might be interested to know the average monthly amount they might spend over an entire year.</a:t>
            </a:r>
          </a:p>
        </p:txBody>
      </p:sp>
    </p:spTree>
    <p:extLst>
      <p:ext uri="{BB962C8B-B14F-4D97-AF65-F5344CB8AC3E}">
        <p14:creationId xmlns:p14="http://schemas.microsoft.com/office/powerpoint/2010/main" val="206279867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772772-C818-476E-AAA0-25C3B3720E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Century Gothic" panose="020B0502020202020204"/>
                <a:ea typeface="+mj-ea"/>
                <a:cs typeface="+mj-cs"/>
              </a:rPr>
            </a:b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Century Gothic" panose="020B0502020202020204"/>
                <a:ea typeface="+mj-ea"/>
                <a:cs typeface="+mj-cs"/>
              </a:rPr>
              <a:t>USING FUNCTIONS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744B57-49C3-4AE6-B628-A2D610154A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A53010"/>
              </a:buClr>
              <a:buSzTx/>
              <a:buFont typeface="Wingdings 3" charset="2"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Use the AVERAGE Function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  <a:p>
            <a:pPr marL="742950" marR="0" lvl="1" indent="-28575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A53010"/>
              </a:buClr>
              <a:buSzTx/>
              <a:buFont typeface="Wingdings 3" charset="2"/>
              <a:buChar char="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1. In cell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O8,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 type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AVERAGE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 and then press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Enter.</a:t>
            </a:r>
          </a:p>
          <a:p>
            <a:pPr marL="742950" marR="0" lvl="1" indent="-28575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A53010"/>
              </a:buClr>
              <a:buSzTx/>
              <a:buFont typeface="Wingdings 3" charset="2"/>
              <a:buChar char="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2. In cell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O9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, type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=AVERAGE(B9:M9)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and then press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Enter.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 </a:t>
            </a:r>
          </a:p>
          <a:p>
            <a:pPr marL="742950" marR="0" lvl="1" indent="-28575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A53010"/>
              </a:buClr>
              <a:buSzTx/>
              <a:buFont typeface="Wingdings 3" charset="2"/>
              <a:buChar char="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3. In cell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O10,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 type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=AVERAGE(B10:M10)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and then press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Enter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835483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FC66D9-867F-451A-A294-9AD4370216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dirty="0"/>
            </a:b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Century Gothic" panose="020B0502020202020204"/>
                <a:ea typeface="+mj-ea"/>
                <a:cs typeface="+mj-cs"/>
              </a:rPr>
              <a:t>USING FUNCTIONS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7DA316-87E5-4E67-97A2-DD133E7C81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Using the MIN Function</a:t>
            </a:r>
          </a:p>
          <a:p>
            <a:r>
              <a:rPr lang="en-US" sz="2400" dirty="0"/>
              <a:t>The </a:t>
            </a:r>
            <a:r>
              <a:rPr lang="en-US" sz="2400" b="1" dirty="0"/>
              <a:t>MIN function </a:t>
            </a:r>
            <a:r>
              <a:rPr lang="en-US" sz="2400" dirty="0"/>
              <a:t>allows you to determine the </a:t>
            </a:r>
            <a:r>
              <a:rPr lang="en-US" sz="2400" b="1" dirty="0"/>
              <a:t>minimum value </a:t>
            </a:r>
            <a:r>
              <a:rPr lang="en-US" sz="2400" dirty="0"/>
              <a:t>in a </a:t>
            </a:r>
            <a:r>
              <a:rPr lang="en-US" sz="2400" b="1" dirty="0"/>
              <a:t>range of cells</a:t>
            </a:r>
            <a:r>
              <a:rPr lang="en-US" sz="2400" dirty="0"/>
              <a:t>. </a:t>
            </a:r>
          </a:p>
          <a:p>
            <a:r>
              <a:rPr lang="en-US" sz="2400" dirty="0"/>
              <a:t>Let’s use this function to determine what the minimum electricity and gas bills will be in our budget data file.</a:t>
            </a:r>
          </a:p>
          <a:p>
            <a:r>
              <a:rPr lang="en-US" sz="2400" dirty="0"/>
              <a:t>Instead of entering the formula manually, use the </a:t>
            </a:r>
            <a:r>
              <a:rPr lang="en-US" sz="2400" b="1" dirty="0"/>
              <a:t>Function Library group </a:t>
            </a:r>
            <a:r>
              <a:rPr lang="en-US" sz="2400" dirty="0"/>
              <a:t>on the </a:t>
            </a:r>
            <a:r>
              <a:rPr lang="en-US" sz="2400" b="1" dirty="0"/>
              <a:t>Formulas tab </a:t>
            </a:r>
            <a:r>
              <a:rPr lang="en-US" sz="2400" dirty="0"/>
              <a:t>to build the formula.</a:t>
            </a:r>
          </a:p>
        </p:txBody>
      </p:sp>
    </p:spTree>
    <p:extLst>
      <p:ext uri="{BB962C8B-B14F-4D97-AF65-F5344CB8AC3E}">
        <p14:creationId xmlns:p14="http://schemas.microsoft.com/office/powerpoint/2010/main" val="257230229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C13C40-310D-4F80-B852-E25384721A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dirty="0"/>
            </a:b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Century Gothic" panose="020B0502020202020204"/>
                <a:ea typeface="+mj-ea"/>
                <a:cs typeface="+mj-cs"/>
              </a:rPr>
              <a:t>USING FUNCTIONS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51A45D-BD64-4819-9EBC-D04D38A54B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A53010"/>
              </a:buClr>
              <a:buSzTx/>
              <a:buFont typeface="Wingdings 3" charset="2"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Use the MIN Function</a:t>
            </a:r>
          </a:p>
          <a:p>
            <a:pPr marL="742950" marR="0" lvl="1" indent="-28575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A53010"/>
              </a:buClr>
              <a:buSzTx/>
              <a:buFont typeface="Wingdings 3" charset="2"/>
              <a:buChar char="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1. In cell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P8,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 type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MIN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 and then press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Enter.</a:t>
            </a:r>
          </a:p>
          <a:p>
            <a:pPr marL="742950" marR="0" lvl="1" indent="-28575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A53010"/>
              </a:buClr>
              <a:buSzTx/>
              <a:buFont typeface="Wingdings 3" charset="2"/>
              <a:buChar char="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2. Click in cell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P9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 and then click the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Formulas tab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.</a:t>
            </a:r>
          </a:p>
          <a:p>
            <a:pPr marL="742950" marR="0" lvl="1" indent="-28575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A53010"/>
              </a:buClr>
              <a:buSzTx/>
              <a:buFont typeface="Wingdings 3" charset="2"/>
              <a:buChar char="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3. Click the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AutoSum button arrow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and then select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Min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 from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the menu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. The range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B9:O9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is automatically selected. This range is incorrect, so you need to edit it.</a:t>
            </a:r>
          </a:p>
        </p:txBody>
      </p:sp>
    </p:spTree>
    <p:extLst>
      <p:ext uri="{BB962C8B-B14F-4D97-AF65-F5344CB8AC3E}">
        <p14:creationId xmlns:p14="http://schemas.microsoft.com/office/powerpoint/2010/main" val="235435412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40B7B4-9C92-479D-9936-A4BAFD11F4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dirty="0"/>
            </a:b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Century Gothic" panose="020B0502020202020204"/>
                <a:ea typeface="+mj-ea"/>
                <a:cs typeface="+mj-cs"/>
              </a:rPr>
              <a:t>USING FUNCTIONS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69F1E9-015F-4ECE-8600-1C1A7BE4B1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742950" marR="0" lvl="1" indent="-28575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A53010"/>
              </a:buClr>
              <a:buSzTx/>
              <a:buFont typeface="Wingdings 3" charset="2"/>
              <a:buChar char="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4. Click cell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B9,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 hold down the Shift key, and then click cell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M9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. The range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B9:M9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appears in the function, which now looks like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=MIN(B9:M9). </a:t>
            </a:r>
          </a:p>
          <a:p>
            <a:pPr marL="1143000" marR="0" lvl="2" indent="-22860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A53010"/>
              </a:buClr>
              <a:buSzTx/>
              <a:buFont typeface="Wingdings 3" charset="2"/>
              <a:buChar char="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Press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Enter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. </a:t>
            </a:r>
          </a:p>
          <a:p>
            <a:pPr marL="742950" marR="0" lvl="1" indent="-28575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A53010"/>
              </a:buClr>
              <a:buSzTx/>
              <a:buFont typeface="Wingdings 3" charset="2"/>
              <a:buChar char="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5. Copy cell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P9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 to cell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P10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. </a:t>
            </a:r>
          </a:p>
          <a:p>
            <a:pPr marL="742950" marR="0" lvl="1" indent="-28575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A53010"/>
              </a:buClr>
              <a:buSzTx/>
              <a:buFont typeface="Wingdings 3" charset="2"/>
              <a:buChar char="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6. SAVE the workbook.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886932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F372C4-2D9A-47AD-9251-32E1F89A65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dirty="0"/>
            </a:b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Century Gothic" panose="020B0502020202020204"/>
                <a:ea typeface="+mj-ea"/>
                <a:cs typeface="+mj-cs"/>
              </a:rPr>
              <a:t>USING FUNCTIONS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C353E8-F7B5-4BC7-BF60-38AD64A265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Using the MAX Function</a:t>
            </a:r>
          </a:p>
          <a:p>
            <a:r>
              <a:rPr lang="en-US" sz="2400" dirty="0"/>
              <a:t>The </a:t>
            </a:r>
            <a:r>
              <a:rPr lang="en-US" sz="2400" b="1" dirty="0"/>
              <a:t>MAX function </a:t>
            </a:r>
            <a:r>
              <a:rPr lang="en-US" sz="2400" dirty="0"/>
              <a:t>returns the </a:t>
            </a:r>
            <a:r>
              <a:rPr lang="en-US" sz="2400" b="1" dirty="0"/>
              <a:t>largest value </a:t>
            </a:r>
            <a:r>
              <a:rPr lang="en-US" sz="2400" dirty="0"/>
              <a:t>in a set of values. </a:t>
            </a:r>
          </a:p>
          <a:p>
            <a:r>
              <a:rPr lang="en-US" sz="2400" dirty="0"/>
              <a:t>The </a:t>
            </a:r>
            <a:r>
              <a:rPr lang="en-US" sz="2400" b="1" dirty="0"/>
              <a:t>MAX function </a:t>
            </a:r>
            <a:r>
              <a:rPr lang="en-US" sz="2400" dirty="0"/>
              <a:t>works the same way as </a:t>
            </a:r>
            <a:r>
              <a:rPr lang="en-US" sz="2400" b="1" dirty="0"/>
              <a:t>MIN</a:t>
            </a:r>
            <a:r>
              <a:rPr lang="en-US" sz="2400" dirty="0"/>
              <a:t>, except MAX determines the </a:t>
            </a:r>
            <a:r>
              <a:rPr lang="en-US" sz="2400" b="1" dirty="0"/>
              <a:t>maximum value </a:t>
            </a:r>
            <a:r>
              <a:rPr lang="en-US" sz="2400" dirty="0"/>
              <a:t>in a range of cells. </a:t>
            </a:r>
          </a:p>
          <a:p>
            <a:r>
              <a:rPr lang="en-US" sz="2400" dirty="0"/>
              <a:t>Let us enter the function </a:t>
            </a:r>
            <a:r>
              <a:rPr lang="en-US" sz="2400" b="1" dirty="0"/>
              <a:t>manually</a:t>
            </a:r>
            <a:r>
              <a:rPr lang="en-US" sz="2400" dirty="0"/>
              <a:t> to use </a:t>
            </a:r>
            <a:r>
              <a:rPr lang="en-US" sz="2400" b="1" dirty="0"/>
              <a:t>MAX</a:t>
            </a:r>
            <a:r>
              <a:rPr lang="en-US" sz="2400" dirty="0"/>
              <a:t> in a formula.</a:t>
            </a:r>
          </a:p>
        </p:txBody>
      </p:sp>
    </p:spTree>
    <p:extLst>
      <p:ext uri="{BB962C8B-B14F-4D97-AF65-F5344CB8AC3E}">
        <p14:creationId xmlns:p14="http://schemas.microsoft.com/office/powerpoint/2010/main" val="79518948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F13CB5-6F1B-4B6C-81F2-E244E82085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dirty="0"/>
            </a:b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Century Gothic" panose="020B0502020202020204"/>
                <a:ea typeface="+mj-ea"/>
                <a:cs typeface="+mj-cs"/>
              </a:rPr>
              <a:t>USING FUNCTIONS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B0CE3D-1831-40C3-8F93-A956A4CCF1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A53010"/>
              </a:buClr>
              <a:buSzTx/>
              <a:buFont typeface="Wingdings 3" charset="2"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Use the MAX Function</a:t>
            </a:r>
          </a:p>
          <a:p>
            <a:pPr marL="742950" marR="0" lvl="1" indent="-28575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A53010"/>
              </a:buClr>
              <a:buSzTx/>
              <a:buFont typeface="Wingdings 3" charset="2"/>
              <a:buChar char="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1. In cell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Q8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, type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MAX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 and then press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Enter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.</a:t>
            </a:r>
          </a:p>
          <a:p>
            <a:pPr marL="742950" marR="0" lvl="1" indent="-28575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A53010"/>
              </a:buClr>
              <a:buSzTx/>
              <a:buFont typeface="Wingdings 3" charset="2"/>
              <a:buChar char="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2. In cell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Q9,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 type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=MAX(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and then drag over the range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B9:M9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. Press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Enter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. </a:t>
            </a:r>
          </a:p>
          <a:p>
            <a:pPr lvl="2" indent="-285750">
              <a:buClr>
                <a:srgbClr val="A53010"/>
              </a:buClr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Notice that Excel supplies the missing right parenthesis when you press Enter. 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  <a:p>
            <a:pPr marL="742950" marR="0" lvl="1" indent="-28575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A53010"/>
              </a:buClr>
              <a:buSzTx/>
              <a:buFont typeface="Wingdings 3" charset="2"/>
              <a:buChar char="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3. Copy cell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Q9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 to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Q10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. </a:t>
            </a:r>
          </a:p>
          <a:p>
            <a:pPr marL="742950" marR="0" lvl="1" indent="-28575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A53010"/>
              </a:buClr>
              <a:buSzTx/>
              <a:buFont typeface="Wingdings 3" charset="2"/>
              <a:buChar char="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4.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SAVE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 the workbook to your folder and then CLOSE.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6276303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TM02892315[[fn=Wisp]]</Template>
  <TotalTime>7106</TotalTime>
  <Words>1570</Words>
  <Application>Microsoft Office PowerPoint</Application>
  <PresentationFormat>Widescreen</PresentationFormat>
  <Paragraphs>127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Arial</vt:lpstr>
      <vt:lpstr>Century Gothic</vt:lpstr>
      <vt:lpstr>Times New Roman</vt:lpstr>
      <vt:lpstr>Wingdings 3</vt:lpstr>
      <vt:lpstr>Wisp</vt:lpstr>
      <vt:lpstr>END USER COMPUTING.   BICT 1101</vt:lpstr>
      <vt:lpstr> COPYING FORMULAS</vt:lpstr>
      <vt:lpstr> COPYING FORMULAS</vt:lpstr>
      <vt:lpstr> COPYING FORMULAS</vt:lpstr>
      <vt:lpstr> USING FUNCTIONS</vt:lpstr>
      <vt:lpstr> USING FUNCTIONS</vt:lpstr>
      <vt:lpstr> USING FUNCTIONS</vt:lpstr>
      <vt:lpstr> USING FUNCTIONS</vt:lpstr>
      <vt:lpstr> USING FUNCTIONS</vt:lpstr>
      <vt:lpstr> USING FUNCTIONS</vt:lpstr>
      <vt:lpstr> USING FUNCTIONS</vt:lpstr>
      <vt:lpstr> USING FUNCTIONS</vt:lpstr>
      <vt:lpstr> USING FUNCTIONS</vt:lpstr>
      <vt:lpstr> USING FUNCTIONS</vt:lpstr>
      <vt:lpstr> USING FUNCTIONS</vt:lpstr>
      <vt:lpstr> USING FUNCTIONS</vt:lpstr>
      <vt:lpstr> USING FUNCTIONS</vt:lpstr>
      <vt:lpstr> USING FUNCTIONS</vt:lpstr>
      <vt:lpstr> USING FUNCTIONS</vt:lpstr>
      <vt:lpstr> USING FUNCTIONS</vt:lpstr>
      <vt:lpstr> USING FUNCTIONS</vt:lpstr>
      <vt:lpstr> USING FUNCTIONS</vt:lpstr>
      <vt:lpstr> USING FUNCTIONS</vt:lpstr>
      <vt:lpstr> USING FUNCTIONS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Patricia Khonje</dc:creator>
  <cp:lastModifiedBy>Patricia Khonje</cp:lastModifiedBy>
  <cp:revision>221</cp:revision>
  <dcterms:created xsi:type="dcterms:W3CDTF">2021-04-25T22:35:39Z</dcterms:created>
  <dcterms:modified xsi:type="dcterms:W3CDTF">2021-05-24T21:54:57Z</dcterms:modified>
</cp:coreProperties>
</file>