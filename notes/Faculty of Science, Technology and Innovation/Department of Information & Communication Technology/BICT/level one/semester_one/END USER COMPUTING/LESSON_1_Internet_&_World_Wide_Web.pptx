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257" r:id="rId3"/>
    <p:sldId id="355" r:id="rId4"/>
    <p:sldId id="273" r:id="rId5"/>
    <p:sldId id="358" r:id="rId6"/>
    <p:sldId id="359" r:id="rId7"/>
    <p:sldId id="274" r:id="rId8"/>
    <p:sldId id="275" r:id="rId9"/>
    <p:sldId id="258" r:id="rId10"/>
    <p:sldId id="363" r:id="rId11"/>
    <p:sldId id="364" r:id="rId12"/>
    <p:sldId id="365" r:id="rId13"/>
    <p:sldId id="260" r:id="rId14"/>
    <p:sldId id="281" r:id="rId15"/>
    <p:sldId id="338" r:id="rId16"/>
    <p:sldId id="367" r:id="rId17"/>
    <p:sldId id="368" r:id="rId18"/>
    <p:sldId id="282" r:id="rId19"/>
    <p:sldId id="262" r:id="rId20"/>
    <p:sldId id="265" r:id="rId21"/>
    <p:sldId id="286" r:id="rId22"/>
    <p:sldId id="269" r:id="rId23"/>
    <p:sldId id="270" r:id="rId24"/>
    <p:sldId id="332" r:id="rId25"/>
    <p:sldId id="276" r:id="rId26"/>
    <p:sldId id="279" r:id="rId27"/>
    <p:sldId id="370" r:id="rId28"/>
    <p:sldId id="296" r:id="rId29"/>
    <p:sldId id="297" r:id="rId30"/>
    <p:sldId id="306" r:id="rId31"/>
    <p:sldId id="334" r:id="rId32"/>
    <p:sldId id="335" r:id="rId33"/>
    <p:sldId id="307" r:id="rId34"/>
    <p:sldId id="299" r:id="rId35"/>
    <p:sldId id="342" r:id="rId36"/>
    <p:sldId id="349" r:id="rId37"/>
    <p:sldId id="343" r:id="rId38"/>
    <p:sldId id="344" r:id="rId39"/>
    <p:sldId id="345" r:id="rId40"/>
    <p:sldId id="346" r:id="rId41"/>
    <p:sldId id="347" r:id="rId42"/>
    <p:sldId id="348" r:id="rId43"/>
    <p:sldId id="314" r:id="rId44"/>
    <p:sldId id="317" r:id="rId45"/>
    <p:sldId id="318" r:id="rId46"/>
    <p:sldId id="319"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218"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2CDE34-905D-4A4E-96F6-892DC539B740}" type="datetimeFigureOut">
              <a:rPr lang="en-US" smtClean="0"/>
              <a:t>12/14/2018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C77CB1-0FDD-4585-9A21-ECD18CDA7414}" type="slidenum">
              <a:rPr lang="en-US" smtClean="0"/>
              <a:t>‹#›</a:t>
            </a:fld>
            <a:endParaRPr lang="en-US"/>
          </a:p>
        </p:txBody>
      </p:sp>
    </p:spTree>
    <p:extLst>
      <p:ext uri="{BB962C8B-B14F-4D97-AF65-F5344CB8AC3E}">
        <p14:creationId xmlns:p14="http://schemas.microsoft.com/office/powerpoint/2010/main" val="4087776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2B1C1C-B6F9-4094-9523-A76F81B8988F}" type="slidenum">
              <a:rPr lang="en-US"/>
              <a:pPr/>
              <a:t>20</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eaLnBrk="0" hangingPunct="0">
              <a:defRPr sz="4400" b="1">
                <a:solidFill>
                  <a:schemeClr val="tx1"/>
                </a:solidFill>
                <a:latin typeface="Arial" charset="0"/>
              </a:defRPr>
            </a:lvl1pPr>
            <a:lvl2pPr marL="742950" indent="-285750" eaLnBrk="0" hangingPunct="0">
              <a:defRPr sz="4400" b="1">
                <a:solidFill>
                  <a:schemeClr val="tx1"/>
                </a:solidFill>
                <a:latin typeface="Arial" charset="0"/>
              </a:defRPr>
            </a:lvl2pPr>
            <a:lvl3pPr marL="1143000" indent="-228600" eaLnBrk="0" hangingPunct="0">
              <a:defRPr sz="4400" b="1">
                <a:solidFill>
                  <a:schemeClr val="tx1"/>
                </a:solidFill>
                <a:latin typeface="Arial" charset="0"/>
              </a:defRPr>
            </a:lvl3pPr>
            <a:lvl4pPr marL="1600200" indent="-228600" eaLnBrk="0" hangingPunct="0">
              <a:defRPr sz="4400" b="1">
                <a:solidFill>
                  <a:schemeClr val="tx1"/>
                </a:solidFill>
                <a:latin typeface="Arial" charset="0"/>
              </a:defRPr>
            </a:lvl4pPr>
            <a:lvl5pPr marL="2057400" indent="-228600" eaLnBrk="0" hangingPunct="0">
              <a:defRPr sz="4400" b="1">
                <a:solidFill>
                  <a:schemeClr val="tx1"/>
                </a:solidFill>
                <a:latin typeface="Arial" charset="0"/>
              </a:defRPr>
            </a:lvl5pPr>
            <a:lvl6pPr marL="2514600" indent="-228600" eaLnBrk="0" fontAlgn="base" hangingPunct="0">
              <a:spcBef>
                <a:spcPct val="0"/>
              </a:spcBef>
              <a:spcAft>
                <a:spcPct val="0"/>
              </a:spcAft>
              <a:defRPr sz="4400" b="1">
                <a:solidFill>
                  <a:schemeClr val="tx1"/>
                </a:solidFill>
                <a:latin typeface="Arial" charset="0"/>
              </a:defRPr>
            </a:lvl6pPr>
            <a:lvl7pPr marL="2971800" indent="-228600" eaLnBrk="0" fontAlgn="base" hangingPunct="0">
              <a:spcBef>
                <a:spcPct val="0"/>
              </a:spcBef>
              <a:spcAft>
                <a:spcPct val="0"/>
              </a:spcAft>
              <a:defRPr sz="4400" b="1">
                <a:solidFill>
                  <a:schemeClr val="tx1"/>
                </a:solidFill>
                <a:latin typeface="Arial" charset="0"/>
              </a:defRPr>
            </a:lvl7pPr>
            <a:lvl8pPr marL="3429000" indent="-228600" eaLnBrk="0" fontAlgn="base" hangingPunct="0">
              <a:spcBef>
                <a:spcPct val="0"/>
              </a:spcBef>
              <a:spcAft>
                <a:spcPct val="0"/>
              </a:spcAft>
              <a:defRPr sz="4400" b="1">
                <a:solidFill>
                  <a:schemeClr val="tx1"/>
                </a:solidFill>
                <a:latin typeface="Arial" charset="0"/>
              </a:defRPr>
            </a:lvl8pPr>
            <a:lvl9pPr marL="3886200" indent="-228600" eaLnBrk="0" fontAlgn="base" hangingPunct="0">
              <a:spcBef>
                <a:spcPct val="0"/>
              </a:spcBef>
              <a:spcAft>
                <a:spcPct val="0"/>
              </a:spcAft>
              <a:defRPr sz="4400" b="1">
                <a:solidFill>
                  <a:schemeClr val="tx1"/>
                </a:solidFill>
                <a:latin typeface="Arial" charset="0"/>
              </a:defRPr>
            </a:lvl9pPr>
          </a:lstStyle>
          <a:p>
            <a:pPr eaLnBrk="1" hangingPunct="1"/>
            <a:fld id="{F3E96192-CAB1-439F-BC09-883BED05713E}" type="slidenum">
              <a:rPr lang="en-US" sz="1200" b="0"/>
              <a:pPr eaLnBrk="1" hangingPunct="1"/>
              <a:t>24</a:t>
            </a:fld>
            <a:endParaRPr 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p>
        </p:txBody>
      </p:sp>
      <p:sp>
        <p:nvSpPr>
          <p:cNvPr id="942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CD53EBD5-9A92-499A-849A-3E17D180CBD5}" type="slidenum">
              <a:rPr lang="en-GB" smtClean="0"/>
              <a:pPr/>
              <a:t>28</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8BA2C850-7DD6-490D-9295-8B14746EE9A2}" type="slidenum">
              <a:rPr lang="en-GB" smtClean="0"/>
              <a:pPr/>
              <a:t>29</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F89A7291-8D51-4E1B-A5B5-E82799A5C18F}" type="slidenum">
              <a:rPr lang="en-GB" smtClean="0"/>
              <a:pPr/>
              <a:t>34</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4D97900D-3027-4941-BB34-3576A48B8DF7}" type="datetimeFigureOut">
              <a:rPr lang="en-US" smtClean="0"/>
              <a:t>12/14/2018</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9DB2E34D-B612-4057-8924-9A352A9491BE}"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D97900D-3027-4941-BB34-3576A48B8DF7}" type="datetimeFigureOut">
              <a:rPr lang="en-US" smtClean="0"/>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D97900D-3027-4941-BB34-3576A48B8DF7}" type="datetimeFigureOut">
              <a:rPr lang="en-US" smtClean="0"/>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2E34D-B612-4057-8924-9A352A9491BE}"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D97900D-3027-4941-BB34-3576A48B8DF7}" type="datetimeFigureOut">
              <a:rPr lang="en-US" smtClean="0"/>
              <a:t>12/14/2018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D97900D-3027-4941-BB34-3576A48B8DF7}" type="datetimeFigureOut">
              <a:rPr lang="en-US" smtClean="0"/>
              <a:t>12/14/2018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4D97900D-3027-4941-BB34-3576A48B8DF7}" type="datetimeFigureOut">
              <a:rPr lang="en-US" smtClean="0"/>
              <a:t>12/14/2018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4D97900D-3027-4941-BB34-3576A48B8DF7}" type="datetimeFigureOut">
              <a:rPr lang="en-US" smtClean="0"/>
              <a:t>12/14/2018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B2E34D-B612-4057-8924-9A352A9491BE}"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D97900D-3027-4941-BB34-3576A48B8DF7}" type="datetimeFigureOut">
              <a:rPr lang="en-US" smtClean="0"/>
              <a:t>12/14/2018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4D97900D-3027-4941-BB34-3576A48B8DF7}" type="datetimeFigureOut">
              <a:rPr lang="en-US" smtClean="0"/>
              <a:t>12/14/2018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2E34D-B612-4057-8924-9A352A9491BE}"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D97900D-3027-4941-BB34-3576A48B8DF7}" type="datetimeFigureOut">
              <a:rPr lang="en-US" smtClean="0"/>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D97900D-3027-4941-BB34-3576A48B8DF7}" type="datetimeFigureOut">
              <a:rPr lang="en-US" smtClean="0"/>
              <a:t>12/14/2018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2E34D-B612-4057-8924-9A352A9491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a:t>Click to edit Master title style</a:t>
            </a:r>
          </a:p>
        </p:txBody>
      </p:sp>
      <p:sp>
        <p:nvSpPr>
          <p:cNvPr id="3" name="Content Placeholder 2"/>
          <p:cNvSpPr>
            <a:spLocks noGrp="1"/>
          </p:cNvSpPr>
          <p:nvPr>
            <p:ph sz="half" idx="1"/>
          </p:nvPr>
        </p:nvSpPr>
        <p:spPr>
          <a:xfrm>
            <a:off x="838200"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00600" y="19050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00600" y="40386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a:defRPr/>
            </a:lvl1pPr>
          </a:lstStyle>
          <a:p>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6E2E8520-BA3E-4F16-A5F0-5E42449FB60F}" type="slidenum">
              <a:rPr lang="en-US"/>
              <a:pPr/>
              <a:t>‹#›</a:t>
            </a:fld>
            <a:endParaRPr lang="en-US"/>
          </a:p>
        </p:txBody>
      </p:sp>
    </p:spTree>
    <p:extLst>
      <p:ext uri="{BB962C8B-B14F-4D97-AF65-F5344CB8AC3E}">
        <p14:creationId xmlns:p14="http://schemas.microsoft.com/office/powerpoint/2010/main" val="1569080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dt" sz="half" idx="10"/>
          </p:nvPr>
        </p:nvSpPr>
        <p:spPr>
          <a:ln/>
        </p:spPr>
        <p:txBody>
          <a:bodyPr/>
          <a:lstStyle>
            <a:lvl1pPr>
              <a:defRPr/>
            </a:lvl1pPr>
          </a:lstStyle>
          <a:p>
            <a:pPr>
              <a:defRPr/>
            </a:pPr>
            <a:endParaRPr lang="en-US"/>
          </a:p>
        </p:txBody>
      </p:sp>
      <p:sp>
        <p:nvSpPr>
          <p:cNvPr id="7" name="Rectangle 6"/>
          <p:cNvSpPr>
            <a:spLocks noGrp="1" noChangeArrowheads="1"/>
          </p:cNvSpPr>
          <p:nvPr>
            <p:ph type="ftr" sz="quarter" idx="11"/>
          </p:nvPr>
        </p:nvSpPr>
        <p:spPr>
          <a:ln/>
        </p:spPr>
        <p:txBody>
          <a:bodyPr/>
          <a:lstStyle>
            <a:lvl1pPr>
              <a:defRPr/>
            </a:lvl1pPr>
          </a:lstStyle>
          <a:p>
            <a:pPr>
              <a:defRPr/>
            </a:pPr>
            <a:endParaRPr lang="en-US"/>
          </a:p>
        </p:txBody>
      </p:sp>
      <p:sp>
        <p:nvSpPr>
          <p:cNvPr id="8" name="Rectangle 7"/>
          <p:cNvSpPr>
            <a:spLocks noGrp="1" noChangeArrowheads="1"/>
          </p:cNvSpPr>
          <p:nvPr>
            <p:ph type="sldNum" sz="quarter" idx="12"/>
          </p:nvPr>
        </p:nvSpPr>
        <p:spPr>
          <a:ln/>
        </p:spPr>
        <p:txBody>
          <a:bodyPr/>
          <a:lstStyle>
            <a:lvl1pPr>
              <a:defRPr/>
            </a:lvl1pPr>
          </a:lstStyle>
          <a:p>
            <a:pPr>
              <a:defRPr/>
            </a:pPr>
            <a:fld id="{966B20BD-CE04-4DEE-8018-40CDE57048B2}" type="slidenum">
              <a:rPr lang="en-US"/>
              <a:pPr>
                <a:defRPr/>
              </a:pPr>
              <a:t>‹#›</a:t>
            </a:fld>
            <a:endParaRPr lang="en-US"/>
          </a:p>
        </p:txBody>
      </p:sp>
    </p:spTree>
    <p:extLst>
      <p:ext uri="{BB962C8B-B14F-4D97-AF65-F5344CB8AC3E}">
        <p14:creationId xmlns:p14="http://schemas.microsoft.com/office/powerpoint/2010/main" val="22233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D97900D-3027-4941-BB34-3576A48B8DF7}" type="datetimeFigureOut">
              <a:rPr lang="en-US" smtClean="0"/>
              <a:t>12/14/2018</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9DB2E34D-B612-4057-8924-9A352A9491BE}"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4.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 Id="rId9" Type="http://schemas.openxmlformats.org/officeDocument/2006/relationships/image" Target="../media/image5.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mzuni.ac.mw/"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mzuni.ac.mw/downloads/student_handbook.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mailto:yournickname@somewhere.com.au"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da-DK" dirty="0"/>
              <a:t>Internet &amp; World Wide Web</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61730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7498080" cy="685800"/>
          </a:xfrm>
        </p:spPr>
        <p:txBody>
          <a:bodyPr>
            <a:normAutofit fontScale="90000"/>
          </a:bodyPr>
          <a:lstStyle/>
          <a:p>
            <a:r>
              <a:rPr lang="en-US" sz="3200" dirty="0"/>
              <a:t>I</a:t>
            </a:r>
            <a:r>
              <a:rPr lang="en-US" sz="4000" dirty="0"/>
              <a:t>nternet</a:t>
            </a:r>
            <a:r>
              <a:rPr lang="en-US" sz="3200" dirty="0"/>
              <a:t> </a:t>
            </a:r>
            <a:endParaRPr lang="en-US" sz="3200" i="1" dirty="0"/>
          </a:p>
        </p:txBody>
      </p:sp>
      <p:sp>
        <p:nvSpPr>
          <p:cNvPr id="3" name="Content Placeholder 2"/>
          <p:cNvSpPr>
            <a:spLocks noGrp="1"/>
          </p:cNvSpPr>
          <p:nvPr>
            <p:ph idx="1"/>
          </p:nvPr>
        </p:nvSpPr>
        <p:spPr>
          <a:xfrm>
            <a:off x="1435608" y="1219200"/>
            <a:ext cx="7327392" cy="5257800"/>
          </a:xfrm>
        </p:spPr>
        <p:txBody>
          <a:bodyPr>
            <a:noAutofit/>
          </a:bodyPr>
          <a:lstStyle/>
          <a:p>
            <a:pPr>
              <a:buFont typeface="Wingdings" pitchFamily="2" charset="2"/>
              <a:buChar char="Ø"/>
              <a:defRPr/>
            </a:pPr>
            <a:r>
              <a:rPr lang="en-US" sz="2400" dirty="0"/>
              <a:t>It is the interconnection of computer networks all over the world so that users can share and exchange information and communicate with each other</a:t>
            </a:r>
            <a:r>
              <a:rPr lang="en-US" sz="1800" dirty="0"/>
              <a:t>. </a:t>
            </a:r>
          </a:p>
          <a:p>
            <a:pPr marL="365760" lvl="1" indent="-283464">
              <a:spcBef>
                <a:spcPts val="600"/>
              </a:spcBef>
              <a:buSzPct val="80000"/>
              <a:buFont typeface="Wingdings" pitchFamily="2" charset="2"/>
              <a:buChar char="Ø"/>
              <a:defRPr/>
            </a:pPr>
            <a:r>
              <a:rPr kumimoji="1" lang="en-US" sz="2400" dirty="0">
                <a:solidFill>
                  <a:srgbClr val="000000"/>
                </a:solidFill>
              </a:rPr>
              <a:t>It is worldwide collection of </a:t>
            </a:r>
            <a:r>
              <a:rPr kumimoji="1" lang="en-US" sz="2400" i="1" dirty="0">
                <a:solidFill>
                  <a:srgbClr val="000000"/>
                </a:solidFill>
              </a:rPr>
              <a:t>networks</a:t>
            </a:r>
            <a:r>
              <a:rPr kumimoji="1" lang="en-US" sz="2400" dirty="0">
                <a:solidFill>
                  <a:srgbClr val="000000"/>
                </a:solidFill>
              </a:rPr>
              <a:t> that connects millions of businesses, government agencies, educational institutions and individuals.</a:t>
            </a:r>
          </a:p>
          <a:p>
            <a:pPr marL="365760" lvl="1" indent="-283464">
              <a:spcBef>
                <a:spcPts val="600"/>
              </a:spcBef>
              <a:buSzPct val="80000"/>
              <a:buFont typeface="Wingdings" pitchFamily="2" charset="2"/>
              <a:buChar char="Ø"/>
              <a:defRPr/>
            </a:pPr>
            <a:r>
              <a:rPr lang="en-US" sz="2400" dirty="0"/>
              <a:t>Internet is a network made up of hundred of thousand of computers all over the world, with millions of users connected electronically by communication lines (telephone lines, fiber-optic cables and other links).</a:t>
            </a:r>
          </a:p>
          <a:p>
            <a:pPr marL="365760" lvl="1" indent="-283464">
              <a:spcBef>
                <a:spcPts val="600"/>
              </a:spcBef>
              <a:buSzPct val="80000"/>
              <a:buFont typeface="Wingdings" pitchFamily="2" charset="2"/>
              <a:buChar char="Ø"/>
              <a:defRPr/>
            </a:pPr>
            <a:r>
              <a:rPr lang="en-US" sz="2400" i="1" dirty="0"/>
              <a:t>Internet is a huge network of computers all connected together.</a:t>
            </a:r>
            <a:endParaRPr lang="en-US" sz="2400" i="1" dirty="0">
              <a:cs typeface="Times New Roman" pitchFamily="18" charset="0"/>
            </a:endParaRPr>
          </a:p>
        </p:txBody>
      </p:sp>
    </p:spTree>
    <p:extLst>
      <p:ext uri="{BB962C8B-B14F-4D97-AF65-F5344CB8AC3E}">
        <p14:creationId xmlns:p14="http://schemas.microsoft.com/office/powerpoint/2010/main" val="832957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251192" cy="5638800"/>
          </a:xfrm>
        </p:spPr>
        <p:txBody>
          <a:bodyPr>
            <a:normAutofit fontScale="92500"/>
          </a:bodyPr>
          <a:lstStyle/>
          <a:p>
            <a:pPr>
              <a:buFont typeface="Wingdings" pitchFamily="2" charset="2"/>
              <a:buChar char="Ø"/>
              <a:defRPr/>
            </a:pPr>
            <a:r>
              <a:rPr lang="en-US" sz="2600" dirty="0"/>
              <a:t>A </a:t>
            </a:r>
            <a:r>
              <a:rPr lang="en-US" sz="2600" b="1" dirty="0"/>
              <a:t>computer network </a:t>
            </a:r>
            <a:r>
              <a:rPr lang="en-US" sz="2600" dirty="0"/>
              <a:t>is a connection of two or more computers for the purpose of communicating and sharing information and other resources.</a:t>
            </a:r>
          </a:p>
          <a:p>
            <a:pPr>
              <a:buFont typeface="Wingdings" pitchFamily="2" charset="2"/>
              <a:buChar char="Ø"/>
              <a:defRPr/>
            </a:pPr>
            <a:r>
              <a:rPr lang="en-US" sz="2600" dirty="0"/>
              <a:t>A </a:t>
            </a:r>
            <a:r>
              <a:rPr lang="en-US" sz="2600" b="1" dirty="0"/>
              <a:t>computer network</a:t>
            </a:r>
            <a:r>
              <a:rPr lang="en-US" sz="2600" dirty="0"/>
              <a:t> is a set of computers</a:t>
            </a:r>
            <a:r>
              <a:rPr lang="en-US" sz="2600" b="1" dirty="0"/>
              <a:t> </a:t>
            </a:r>
            <a:r>
              <a:rPr lang="en-US" sz="2600" dirty="0"/>
              <a:t>connected together for the purpose of sharing resources. </a:t>
            </a:r>
          </a:p>
          <a:p>
            <a:pPr>
              <a:buFont typeface="Wingdings" pitchFamily="2" charset="2"/>
              <a:buChar char="Ø"/>
              <a:defRPr/>
            </a:pPr>
            <a:r>
              <a:rPr lang="en-US" sz="2600" dirty="0"/>
              <a:t>Computers on a network can be connected through cables, telephone lines, radio waves, satellites, or infrared light beams or through wireless communication. </a:t>
            </a:r>
            <a:endParaRPr lang="en-US" sz="2200" dirty="0"/>
          </a:p>
          <a:p>
            <a:pPr>
              <a:buFont typeface="Wingdings" pitchFamily="2" charset="2"/>
              <a:buChar char="Ø"/>
              <a:defRPr/>
            </a:pPr>
            <a:r>
              <a:rPr lang="en-US" sz="2600" dirty="0"/>
              <a:t>The aim of connecting these computers is to enable sharing of resources such as printers, documents, computer programs, hard disk etc.</a:t>
            </a:r>
          </a:p>
          <a:p>
            <a:pPr marL="612648" lvl="2" indent="-283464">
              <a:spcBef>
                <a:spcPts val="600"/>
              </a:spcBef>
              <a:buSzPct val="80000"/>
              <a:buFont typeface="Wingdings" pitchFamily="2" charset="2"/>
              <a:buChar char="Ø"/>
              <a:defRPr/>
            </a:pPr>
            <a:r>
              <a:rPr lang="en-US" sz="1900" dirty="0"/>
              <a:t>Common resource shared today is connection to the Internet. </a:t>
            </a:r>
            <a:endParaRPr lang="en-US" sz="2200" dirty="0"/>
          </a:p>
          <a:p>
            <a:endParaRPr lang="en-GB" dirty="0"/>
          </a:p>
        </p:txBody>
      </p:sp>
    </p:spTree>
    <p:extLst>
      <p:ext uri="{BB962C8B-B14F-4D97-AF65-F5344CB8AC3E}">
        <p14:creationId xmlns:p14="http://schemas.microsoft.com/office/powerpoint/2010/main" val="113862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Computer Network</a:t>
            </a:r>
          </a:p>
        </p:txBody>
      </p:sp>
      <p:sp>
        <p:nvSpPr>
          <p:cNvPr id="3" name="Content Placeholder 2"/>
          <p:cNvSpPr>
            <a:spLocks noGrp="1"/>
          </p:cNvSpPr>
          <p:nvPr>
            <p:ph idx="1"/>
          </p:nvPr>
        </p:nvSpPr>
        <p:spPr>
          <a:xfrm>
            <a:off x="1435608" y="1447800"/>
            <a:ext cx="7098792" cy="4800600"/>
          </a:xfrm>
        </p:spPr>
        <p:txBody>
          <a:bodyPr>
            <a:normAutofit/>
          </a:bodyPr>
          <a:lstStyle/>
          <a:p>
            <a:pPr>
              <a:buFont typeface="Wingdings" pitchFamily="2" charset="2"/>
              <a:buChar char="Ø"/>
              <a:defRPr/>
            </a:pPr>
            <a:r>
              <a:rPr lang="da-DK" dirty="0"/>
              <a:t>Local Area Network (LAN)</a:t>
            </a:r>
          </a:p>
          <a:p>
            <a:pPr lvl="1">
              <a:buFont typeface="Wingdings" pitchFamily="2" charset="2"/>
              <a:buChar char="§"/>
              <a:defRPr/>
            </a:pPr>
            <a:r>
              <a:rPr lang="en-US" dirty="0"/>
              <a:t>An interconnection of computers and other devices in a limited geographical area.</a:t>
            </a:r>
            <a:endParaRPr lang="da-DK" dirty="0"/>
          </a:p>
          <a:p>
            <a:pPr>
              <a:buFont typeface="Wingdings" pitchFamily="2" charset="2"/>
              <a:buChar char="Ø"/>
              <a:defRPr/>
            </a:pPr>
            <a:r>
              <a:rPr lang="da-DK" dirty="0"/>
              <a:t>Wide Area Network (WAN)</a:t>
            </a:r>
          </a:p>
          <a:p>
            <a:pPr lvl="1">
              <a:buFont typeface="Wingdings" pitchFamily="2" charset="2"/>
              <a:buChar char="§"/>
              <a:defRPr/>
            </a:pPr>
            <a:r>
              <a:rPr lang="en-US" dirty="0"/>
              <a:t>Covers a large geographical area to provide national and international communication.</a:t>
            </a:r>
          </a:p>
          <a:p>
            <a:pPr lvl="1">
              <a:buFont typeface="Wingdings" pitchFamily="2" charset="2"/>
              <a:buChar char="Ø"/>
              <a:defRPr/>
            </a:pPr>
            <a:endParaRPr lang="da-DK" dirty="0"/>
          </a:p>
          <a:p>
            <a:endParaRPr lang="en-US" dirty="0"/>
          </a:p>
        </p:txBody>
      </p:sp>
    </p:spTree>
    <p:extLst>
      <p:ext uri="{BB962C8B-B14F-4D97-AF65-F5344CB8AC3E}">
        <p14:creationId xmlns:p14="http://schemas.microsoft.com/office/powerpoint/2010/main" val="2538660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487362"/>
          </a:xfrm>
        </p:spPr>
        <p:txBody>
          <a:bodyPr>
            <a:noAutofit/>
          </a:bodyPr>
          <a:lstStyle/>
          <a:p>
            <a:r>
              <a:rPr lang="en-US" sz="3600" dirty="0">
                <a:effectLst/>
              </a:rPr>
              <a:t>Local Area Network (LAN)</a:t>
            </a:r>
          </a:p>
        </p:txBody>
      </p:sp>
      <p:sp>
        <p:nvSpPr>
          <p:cNvPr id="3" name="Content Placeholder 2"/>
          <p:cNvSpPr>
            <a:spLocks noGrp="1"/>
          </p:cNvSpPr>
          <p:nvPr>
            <p:ph idx="1"/>
          </p:nvPr>
        </p:nvSpPr>
        <p:spPr>
          <a:xfrm>
            <a:off x="1435608" y="914400"/>
            <a:ext cx="7327392" cy="5334000"/>
          </a:xfrm>
        </p:spPr>
        <p:txBody>
          <a:bodyPr>
            <a:noAutofit/>
          </a:bodyPr>
          <a:lstStyle/>
          <a:p>
            <a:r>
              <a:rPr lang="en-US" sz="2000" dirty="0"/>
              <a:t>LAN connects computers and other devices in a limited geographical area such as a home, school, office building, or closely positioned group of buildings</a:t>
            </a:r>
          </a:p>
          <a:p>
            <a:r>
              <a:rPr lang="en-US" sz="2000" dirty="0"/>
              <a:t>LAN is an interconnection of computers and other devices at a single geographical site.</a:t>
            </a:r>
          </a:p>
          <a:p>
            <a:r>
              <a:rPr lang="en-US" sz="2000" dirty="0"/>
              <a:t>LAN is a private network that offer reliable high speed communications for interconnecting equipment in a limited geographical area.</a:t>
            </a:r>
          </a:p>
          <a:p>
            <a:r>
              <a:rPr lang="en-US" sz="2000" dirty="0"/>
              <a:t>Do not require external network services  e.g. telephone network or leased data lines.</a:t>
            </a:r>
          </a:p>
          <a:p>
            <a:r>
              <a:rPr lang="en-US" sz="2000" dirty="0"/>
              <a:t>LANs used by companies are called </a:t>
            </a:r>
            <a:r>
              <a:rPr lang="en-US" sz="2000" b="1" dirty="0"/>
              <a:t>enterprise networks</a:t>
            </a:r>
            <a:r>
              <a:rPr lang="en-US" sz="2000" dirty="0"/>
              <a:t>.</a:t>
            </a:r>
          </a:p>
          <a:p>
            <a:r>
              <a:rPr lang="en-US" sz="2000" dirty="0"/>
              <a:t>LAN are widespread as a result of:</a:t>
            </a:r>
          </a:p>
          <a:p>
            <a:pPr lvl="1"/>
            <a:r>
              <a:rPr lang="en-US" sz="1800" dirty="0"/>
              <a:t>Increasing need to transfer data between computers within the </a:t>
            </a:r>
            <a:r>
              <a:rPr lang="en-US" sz="1800" dirty="0" err="1"/>
              <a:t>organisation</a:t>
            </a:r>
            <a:r>
              <a:rPr lang="en-US" sz="1800" dirty="0"/>
              <a:t>.</a:t>
            </a:r>
          </a:p>
        </p:txBody>
      </p:sp>
    </p:spTree>
    <p:extLst>
      <p:ext uri="{BB962C8B-B14F-4D97-AF65-F5344CB8AC3E}">
        <p14:creationId xmlns:p14="http://schemas.microsoft.com/office/powerpoint/2010/main" val="7758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LAN</a:t>
            </a:r>
          </a:p>
        </p:txBody>
      </p:sp>
      <p:sp>
        <p:nvSpPr>
          <p:cNvPr id="3" name="Content Placeholder 2"/>
          <p:cNvSpPr>
            <a:spLocks noGrp="1"/>
          </p:cNvSpPr>
          <p:nvPr>
            <p:ph idx="1"/>
          </p:nvPr>
        </p:nvSpPr>
        <p:spPr/>
        <p:txBody>
          <a:bodyPr/>
          <a:lstStyle/>
          <a:p>
            <a:r>
              <a:rPr lang="en-US" dirty="0"/>
              <a:t>LANs allow:</a:t>
            </a:r>
          </a:p>
          <a:p>
            <a:pPr lvl="1"/>
            <a:r>
              <a:rPr lang="en-US" dirty="0"/>
              <a:t>Data transfer between computers</a:t>
            </a:r>
          </a:p>
          <a:p>
            <a:pPr lvl="1"/>
            <a:r>
              <a:rPr lang="en-US" dirty="0"/>
              <a:t>Access to data stored somewhere </a:t>
            </a:r>
          </a:p>
          <a:p>
            <a:pPr lvl="1"/>
            <a:r>
              <a:rPr lang="en-US" dirty="0"/>
              <a:t>Messages to be passed between computers</a:t>
            </a:r>
          </a:p>
          <a:p>
            <a:pPr lvl="1"/>
            <a:r>
              <a:rPr lang="en-US" dirty="0"/>
              <a:t>Shared use of peripherals e.g. printers</a:t>
            </a:r>
          </a:p>
          <a:p>
            <a:pPr lvl="1"/>
            <a:r>
              <a:rPr lang="en-US" dirty="0"/>
              <a:t>Shared use of computing resources</a:t>
            </a:r>
          </a:p>
          <a:p>
            <a:endParaRPr lang="en-US" dirty="0"/>
          </a:p>
        </p:txBody>
      </p:sp>
    </p:spTree>
    <p:extLst>
      <p:ext uri="{BB962C8B-B14F-4D97-AF65-F5344CB8AC3E}">
        <p14:creationId xmlns:p14="http://schemas.microsoft.com/office/powerpoint/2010/main" val="2719737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04800"/>
            <a:ext cx="7498080" cy="5943600"/>
          </a:xfrm>
        </p:spPr>
        <p:txBody>
          <a:bodyPr>
            <a:normAutofit fontScale="92500" lnSpcReduction="10000"/>
          </a:bodyPr>
          <a:lstStyle/>
          <a:p>
            <a:pPr marL="82296" indent="0">
              <a:buNone/>
            </a:pPr>
            <a:r>
              <a:rPr lang="da-DK" sz="3500" b="1" dirty="0"/>
              <a:t>Wide Area Network (WAN)</a:t>
            </a:r>
            <a:endParaRPr lang="en-US" sz="3500" b="1" dirty="0"/>
          </a:p>
          <a:p>
            <a:pPr>
              <a:buFont typeface="Wingdings" pitchFamily="2" charset="2"/>
              <a:buChar char="Ø"/>
              <a:defRPr/>
            </a:pPr>
            <a:r>
              <a:rPr lang="en-US" sz="3000" dirty="0"/>
              <a:t>Covers a large geographical area to provide national and international communication.</a:t>
            </a:r>
          </a:p>
          <a:p>
            <a:pPr lvl="1">
              <a:buFont typeface="Wingdings" pitchFamily="2" charset="2"/>
              <a:buChar char="Ø"/>
              <a:defRPr/>
            </a:pPr>
            <a:r>
              <a:rPr lang="en-US" sz="2600" dirty="0"/>
              <a:t>A network that connects computers in different locations either regional, national or International. </a:t>
            </a:r>
          </a:p>
          <a:p>
            <a:pPr>
              <a:buFont typeface="Wingdings" pitchFamily="2" charset="2"/>
              <a:buChar char="Ø"/>
              <a:defRPr/>
            </a:pPr>
            <a:r>
              <a:rPr lang="en-US" sz="3000" dirty="0"/>
              <a:t>Connections require the use of Telecommunication equipment  such Telephone lines, radio waves,  satellites or wireless communication.</a:t>
            </a:r>
          </a:p>
          <a:p>
            <a:pPr>
              <a:buFont typeface="Wingdings" pitchFamily="2" charset="2"/>
              <a:buChar char="Ø"/>
              <a:defRPr/>
            </a:pPr>
            <a:r>
              <a:rPr lang="en-US" sz="3000" dirty="0"/>
              <a:t>WANs can be accessed through dial-up using a modem  (dongle e.g. MTL, TNM, </a:t>
            </a:r>
            <a:r>
              <a:rPr lang="en-US" sz="3000" dirty="0" err="1"/>
              <a:t>Airtel</a:t>
            </a:r>
            <a:r>
              <a:rPr lang="en-US" sz="3000" dirty="0"/>
              <a:t>) or leased-line direct connection used by large </a:t>
            </a:r>
            <a:r>
              <a:rPr lang="en-US" sz="3000" dirty="0" err="1"/>
              <a:t>organisation</a:t>
            </a:r>
            <a:r>
              <a:rPr lang="en-US" sz="3000" dirty="0"/>
              <a:t>. </a:t>
            </a:r>
          </a:p>
          <a:p>
            <a:pPr>
              <a:buFont typeface="Wingdings" pitchFamily="2" charset="2"/>
              <a:buChar char="Ø"/>
              <a:defRPr/>
            </a:pPr>
            <a:r>
              <a:rPr lang="en-US" sz="3000" dirty="0"/>
              <a:t>A good example of WAN is the Internet.</a:t>
            </a:r>
          </a:p>
        </p:txBody>
      </p:sp>
    </p:spTree>
    <p:extLst>
      <p:ext uri="{BB962C8B-B14F-4D97-AF65-F5344CB8AC3E}">
        <p14:creationId xmlns:p14="http://schemas.microsoft.com/office/powerpoint/2010/main" val="2660367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638288" cy="487362"/>
          </a:xfrm>
        </p:spPr>
        <p:txBody>
          <a:bodyPr>
            <a:noAutofit/>
          </a:bodyPr>
          <a:lstStyle/>
          <a:p>
            <a:r>
              <a:rPr lang="en-US" sz="3200" dirty="0"/>
              <a:t>What is needed to connect to the Internet ?</a:t>
            </a:r>
          </a:p>
        </p:txBody>
      </p:sp>
      <p:sp>
        <p:nvSpPr>
          <p:cNvPr id="3" name="Content Placeholder 2"/>
          <p:cNvSpPr>
            <a:spLocks noGrp="1"/>
          </p:cNvSpPr>
          <p:nvPr>
            <p:ph idx="1"/>
          </p:nvPr>
        </p:nvSpPr>
        <p:spPr>
          <a:xfrm>
            <a:off x="1435608" y="990600"/>
            <a:ext cx="7498080" cy="5334000"/>
          </a:xfrm>
        </p:spPr>
        <p:txBody>
          <a:bodyPr>
            <a:noAutofit/>
          </a:bodyPr>
          <a:lstStyle/>
          <a:p>
            <a:pPr>
              <a:buFont typeface="Wingdings" pitchFamily="2" charset="2"/>
              <a:buChar char="Ø"/>
              <a:defRPr/>
            </a:pPr>
            <a:r>
              <a:rPr lang="en-US" sz="2800" dirty="0"/>
              <a:t>Hardware</a:t>
            </a:r>
          </a:p>
          <a:p>
            <a:pPr lvl="1">
              <a:buFont typeface="Wingdings" pitchFamily="2" charset="2"/>
              <a:buChar char="l"/>
              <a:defRPr/>
            </a:pPr>
            <a:r>
              <a:rPr lang="en-US" sz="2400" dirty="0" err="1"/>
              <a:t>I.e</a:t>
            </a:r>
            <a:r>
              <a:rPr lang="en-US" sz="2400" dirty="0"/>
              <a:t> Computer, Modem, Dongle, Telephone line, Wireless infrastructure, cables, hub, switch, routers etc.</a:t>
            </a:r>
          </a:p>
          <a:p>
            <a:pPr>
              <a:buFont typeface="Wingdings" pitchFamily="2" charset="2"/>
              <a:buChar char="Ø"/>
              <a:defRPr/>
            </a:pPr>
            <a:r>
              <a:rPr lang="en-US" sz="2800" dirty="0"/>
              <a:t>Internet Service Providers (ISP)</a:t>
            </a:r>
          </a:p>
          <a:p>
            <a:pPr lvl="1">
              <a:buFont typeface="Wingdings" pitchFamily="2" charset="2"/>
              <a:buChar char="Ø"/>
              <a:defRPr/>
            </a:pPr>
            <a:r>
              <a:rPr lang="en-US" sz="2400" b="1" dirty="0"/>
              <a:t>ISP</a:t>
            </a:r>
            <a:r>
              <a:rPr lang="en-US" sz="2400" dirty="0"/>
              <a:t> refers to a company that provides Internet services, for personal and business access to the Internet.</a:t>
            </a:r>
          </a:p>
          <a:p>
            <a:pPr lvl="1">
              <a:buFont typeface="Wingdings" pitchFamily="2" charset="2"/>
              <a:buChar char="Ø"/>
              <a:defRPr/>
            </a:pPr>
            <a:r>
              <a:rPr lang="en-US" sz="2400" dirty="0" err="1"/>
              <a:t>i.e</a:t>
            </a:r>
            <a:r>
              <a:rPr lang="en-US" sz="2400" dirty="0"/>
              <a:t> MTL, </a:t>
            </a:r>
            <a:r>
              <a:rPr lang="en-US" sz="2400" dirty="0" err="1"/>
              <a:t>Airtel</a:t>
            </a:r>
            <a:r>
              <a:rPr lang="en-US" sz="2400" dirty="0"/>
              <a:t>, TNM, Globe Internet, </a:t>
            </a:r>
            <a:r>
              <a:rPr lang="en-US" sz="2400" dirty="0" err="1"/>
              <a:t>Skyband</a:t>
            </a:r>
            <a:r>
              <a:rPr lang="en-US" sz="2400" dirty="0"/>
              <a:t> etc..</a:t>
            </a:r>
          </a:p>
          <a:p>
            <a:pPr>
              <a:buFont typeface="Wingdings" pitchFamily="2" charset="2"/>
              <a:buChar char="Ø"/>
              <a:defRPr/>
            </a:pPr>
            <a:r>
              <a:rPr lang="en-US" sz="2800" dirty="0"/>
              <a:t>Software</a:t>
            </a:r>
          </a:p>
          <a:p>
            <a:pPr lvl="1">
              <a:buFont typeface="Wingdings" pitchFamily="2" charset="2"/>
              <a:buChar char="l"/>
              <a:defRPr/>
            </a:pPr>
            <a:r>
              <a:rPr lang="en-US" sz="2400" dirty="0"/>
              <a:t>Web Client Software (Browsers) e.g. Internet Explorer, Mozilla Firefox, Google Chrome.</a:t>
            </a:r>
          </a:p>
        </p:txBody>
      </p:sp>
    </p:spTree>
    <p:extLst>
      <p:ext uri="{BB962C8B-B14F-4D97-AF65-F5344CB8AC3E}">
        <p14:creationId xmlns:p14="http://schemas.microsoft.com/office/powerpoint/2010/main" val="265543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r>
              <a:rPr lang="en-US" sz="3200" dirty="0"/>
              <a:t>What can you do with the Internet ?</a:t>
            </a:r>
          </a:p>
        </p:txBody>
      </p:sp>
      <p:sp>
        <p:nvSpPr>
          <p:cNvPr id="3" name="Content Placeholder 2"/>
          <p:cNvSpPr>
            <a:spLocks noGrp="1"/>
          </p:cNvSpPr>
          <p:nvPr>
            <p:ph idx="1"/>
          </p:nvPr>
        </p:nvSpPr>
        <p:spPr>
          <a:xfrm>
            <a:off x="1435608" y="1143000"/>
            <a:ext cx="7174992" cy="5105400"/>
          </a:xfrm>
        </p:spPr>
        <p:txBody>
          <a:bodyPr>
            <a:normAutofit fontScale="62500" lnSpcReduction="20000"/>
          </a:bodyPr>
          <a:lstStyle/>
          <a:p>
            <a:r>
              <a:rPr lang="en-US" dirty="0"/>
              <a:t>Find information by using search engines </a:t>
            </a:r>
          </a:p>
          <a:p>
            <a:r>
              <a:rPr lang="en-US" dirty="0"/>
              <a:t>File Transfer (download &amp; upload files)</a:t>
            </a:r>
          </a:p>
          <a:p>
            <a:r>
              <a:rPr lang="en-US" dirty="0"/>
              <a:t>Send and receive messages by electronic mail (email)</a:t>
            </a:r>
          </a:p>
          <a:p>
            <a:r>
              <a:rPr lang="da-DK" dirty="0"/>
              <a:t>School (eLearning)</a:t>
            </a:r>
          </a:p>
          <a:p>
            <a:r>
              <a:rPr lang="da-DK" dirty="0"/>
              <a:t>Electronic Trading (eCommerce)</a:t>
            </a:r>
          </a:p>
          <a:p>
            <a:pPr lvl="1"/>
            <a:r>
              <a:rPr lang="da-DK" dirty="0"/>
              <a:t>Companies and their customers making use of networks as a means of advertising, buying and selling goods and services</a:t>
            </a:r>
          </a:p>
          <a:p>
            <a:r>
              <a:rPr lang="da-DK" dirty="0"/>
              <a:t>Teleworking or Telecommuting</a:t>
            </a:r>
          </a:p>
          <a:p>
            <a:pPr lvl="1"/>
            <a:r>
              <a:rPr lang="da-DK" dirty="0"/>
              <a:t>Making use of networking technology to allow working at different  location while keeping in touch with co-workers</a:t>
            </a:r>
          </a:p>
          <a:p>
            <a:r>
              <a:rPr lang="da-DK" dirty="0"/>
              <a:t>Tele and video conferencing</a:t>
            </a:r>
          </a:p>
          <a:p>
            <a:pPr lvl="1"/>
            <a:r>
              <a:rPr lang="da-DK" dirty="0"/>
              <a:t>Groups of people conducting meetings via a telephone or video  network.</a:t>
            </a:r>
          </a:p>
          <a:p>
            <a:r>
              <a:rPr lang="en-US" dirty="0"/>
              <a:t>Publish information on your own web site  </a:t>
            </a:r>
          </a:p>
          <a:p>
            <a:r>
              <a:rPr lang="en-US" dirty="0"/>
              <a:t>Make airline reservations</a:t>
            </a:r>
          </a:p>
          <a:p>
            <a:r>
              <a:rPr lang="en-US" dirty="0"/>
              <a:t>Get directions and draw maps </a:t>
            </a:r>
          </a:p>
          <a:p>
            <a:r>
              <a:rPr lang="en-US" dirty="0"/>
              <a:t>International debates or discussion groups </a:t>
            </a:r>
          </a:p>
          <a:p>
            <a:endParaRPr lang="en-US" dirty="0"/>
          </a:p>
        </p:txBody>
      </p:sp>
    </p:spTree>
    <p:extLst>
      <p:ext uri="{BB962C8B-B14F-4D97-AF65-F5344CB8AC3E}">
        <p14:creationId xmlns:p14="http://schemas.microsoft.com/office/powerpoint/2010/main" val="2490292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791200"/>
          </a:xfrm>
        </p:spPr>
        <p:txBody>
          <a:bodyPr>
            <a:normAutofit fontScale="92500" lnSpcReduction="20000"/>
          </a:bodyPr>
          <a:lstStyle/>
          <a:p>
            <a:r>
              <a:rPr lang="en-US" dirty="0">
                <a:cs typeface="Times New Roman" pitchFamily="18" charset="0"/>
              </a:rPr>
              <a:t>In order to communicate across the Internet, a computer must have a unique address.</a:t>
            </a:r>
          </a:p>
          <a:p>
            <a:r>
              <a:rPr lang="en-US" dirty="0">
                <a:cs typeface="Times New Roman" pitchFamily="18" charset="0"/>
              </a:rPr>
              <a:t>Every computer on the Internet has a unique numeric identifier, called an </a:t>
            </a:r>
            <a:r>
              <a:rPr lang="en-US" b="1" dirty="0">
                <a:cs typeface="Times New Roman" pitchFamily="18" charset="0"/>
              </a:rPr>
              <a:t>Internet Protocol (IP) address</a:t>
            </a:r>
            <a:r>
              <a:rPr lang="en-US" dirty="0">
                <a:cs typeface="Times New Roman" pitchFamily="18" charset="0"/>
              </a:rPr>
              <a:t>.</a:t>
            </a:r>
          </a:p>
          <a:p>
            <a:r>
              <a:rPr lang="en-US" dirty="0"/>
              <a:t>An </a:t>
            </a:r>
            <a:r>
              <a:rPr lang="en-US" b="1" dirty="0"/>
              <a:t>IP address</a:t>
            </a:r>
            <a:r>
              <a:rPr lang="en-US" dirty="0"/>
              <a:t>, is a number that uniquely identifies each computer or device connected to the Internet.</a:t>
            </a:r>
          </a:p>
          <a:p>
            <a:r>
              <a:rPr lang="en-US" dirty="0"/>
              <a:t>IP address usually consists of four groups of numbers, each separated by a period. </a:t>
            </a:r>
          </a:p>
          <a:p>
            <a:r>
              <a:rPr lang="en-US" dirty="0"/>
              <a:t>The number in each group is between 0 and 255. For example, the numbers 72.14.207.99 and 192.168.10.33 are IP addresses.</a:t>
            </a:r>
          </a:p>
        </p:txBody>
      </p:sp>
    </p:spTree>
    <p:extLst>
      <p:ext uri="{BB962C8B-B14F-4D97-AF65-F5344CB8AC3E}">
        <p14:creationId xmlns:p14="http://schemas.microsoft.com/office/powerpoint/2010/main" val="184678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normAutofit lnSpcReduction="10000"/>
          </a:bodyPr>
          <a:lstStyle/>
          <a:p>
            <a:r>
              <a:rPr lang="en-US" sz="2400" dirty="0">
                <a:cs typeface="Times New Roman" pitchFamily="18" charset="0"/>
              </a:rPr>
              <a:t>In addition to an IP address, most Internet hosts or servers have a Domain Name System (DNS) address which uses words.</a:t>
            </a:r>
          </a:p>
          <a:p>
            <a:pPr marL="365760" lvl="1" indent="-283464">
              <a:spcBef>
                <a:spcPts val="600"/>
              </a:spcBef>
              <a:buSzPct val="80000"/>
              <a:buFont typeface="Wingdings 2"/>
              <a:buChar char=""/>
            </a:pPr>
            <a:r>
              <a:rPr lang="en-US" sz="2400" dirty="0"/>
              <a:t>A </a:t>
            </a:r>
            <a:r>
              <a:rPr lang="en-US" sz="2400" b="1" dirty="0"/>
              <a:t>domain name</a:t>
            </a:r>
            <a:r>
              <a:rPr lang="en-US" sz="2400" dirty="0"/>
              <a:t> is a unique name that identifies an internet resource such as a website</a:t>
            </a:r>
          </a:p>
          <a:p>
            <a:pPr marL="365760" lvl="1" indent="-283464">
              <a:spcBef>
                <a:spcPts val="600"/>
              </a:spcBef>
              <a:buSzPct val="80000"/>
              <a:buFont typeface="Wingdings 2"/>
              <a:buChar char=""/>
            </a:pPr>
            <a:r>
              <a:rPr lang="en-US" sz="2400" dirty="0"/>
              <a:t>A </a:t>
            </a:r>
            <a:r>
              <a:rPr lang="en-US" sz="2400" b="1" dirty="0"/>
              <a:t>domain name </a:t>
            </a:r>
            <a:r>
              <a:rPr lang="en-US" sz="2400" dirty="0"/>
              <a:t>is the text version of an IP address.</a:t>
            </a:r>
            <a:endParaRPr lang="en-US" sz="2400" dirty="0">
              <a:cs typeface="Times New Roman" pitchFamily="18" charset="0"/>
            </a:endParaRPr>
          </a:p>
          <a:p>
            <a:r>
              <a:rPr lang="en-US" sz="2400" dirty="0"/>
              <a:t>Numeric IP addresses are difficult to remember and use. </a:t>
            </a:r>
          </a:p>
          <a:p>
            <a:r>
              <a:rPr lang="en-US" sz="2400" dirty="0"/>
              <a:t>Thus, Internet supports the use of a text name that represents one or more IP addresses. </a:t>
            </a:r>
            <a:endParaRPr lang="en-US" sz="2400" dirty="0">
              <a:cs typeface="Times New Roman" pitchFamily="18" charset="0"/>
            </a:endParaRPr>
          </a:p>
          <a:p>
            <a:r>
              <a:rPr lang="en-US" sz="2400" dirty="0">
                <a:cs typeface="Times New Roman" pitchFamily="18" charset="0"/>
              </a:rPr>
              <a:t>A domain name identifies the type of institution that owns the computer.  </a:t>
            </a:r>
          </a:p>
          <a:p>
            <a:pPr lvl="1"/>
            <a:r>
              <a:rPr lang="en-US" sz="2000" dirty="0">
                <a:cs typeface="Times New Roman" pitchFamily="18" charset="0"/>
              </a:rPr>
              <a:t>An Internet server owned by IBM might have the domain name ibm.com.</a:t>
            </a:r>
          </a:p>
          <a:p>
            <a:pPr lvl="1"/>
            <a:r>
              <a:rPr lang="en-US" sz="2000" dirty="0">
                <a:cs typeface="Times New Roman" pitchFamily="18" charset="0"/>
              </a:rPr>
              <a:t>An Internet server owned by </a:t>
            </a:r>
            <a:r>
              <a:rPr lang="en-US" sz="2000" dirty="0" err="1">
                <a:cs typeface="Times New Roman" pitchFamily="18" charset="0"/>
              </a:rPr>
              <a:t>Mzuzu</a:t>
            </a:r>
            <a:r>
              <a:rPr lang="en-US" sz="2000" dirty="0">
                <a:cs typeface="Times New Roman" pitchFamily="18" charset="0"/>
              </a:rPr>
              <a:t> University have the domain name mzuni.ac.mw.</a:t>
            </a:r>
            <a:endParaRPr lang="en-US" dirty="0"/>
          </a:p>
          <a:p>
            <a:endParaRPr lang="en-US" dirty="0"/>
          </a:p>
        </p:txBody>
      </p:sp>
    </p:spTree>
    <p:extLst>
      <p:ext uri="{BB962C8B-B14F-4D97-AF65-F5344CB8AC3E}">
        <p14:creationId xmlns:p14="http://schemas.microsoft.com/office/powerpoint/2010/main" val="1913030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1349148" y="533400"/>
            <a:ext cx="7490051" cy="5802310"/>
            <a:chOff x="288" y="288"/>
            <a:chExt cx="5376" cy="3703"/>
          </a:xfrm>
        </p:grpSpPr>
        <p:pic>
          <p:nvPicPr>
            <p:cNvPr id="13315" name="Picture 3" descr="TABL19-2"/>
            <p:cNvPicPr>
              <a:picLocks noChangeAspect="1" noChangeArrowheads="1"/>
            </p:cNvPicPr>
            <p:nvPr/>
          </p:nvPicPr>
          <p:blipFill>
            <a:blip r:embed="rId2">
              <a:extLst>
                <a:ext uri="{28A0092B-C50C-407E-A947-70E740481C1C}">
                  <a14:useLocalDpi xmlns:a14="http://schemas.microsoft.com/office/drawing/2010/main" val="0"/>
                </a:ext>
              </a:extLst>
            </a:blip>
            <a:srcRect l="928" t="16667" r="15625" b="6696"/>
            <a:stretch>
              <a:fillRect/>
            </a:stretch>
          </p:blipFill>
          <p:spPr bwMode="auto">
            <a:xfrm>
              <a:off x="288" y="288"/>
              <a:ext cx="5376" cy="3703"/>
            </a:xfrm>
            <a:prstGeom prst="rect">
              <a:avLst/>
            </a:prstGeom>
            <a:noFill/>
          </p:spPr>
        </p:pic>
        <p:pic>
          <p:nvPicPr>
            <p:cNvPr id="13316" name="Picture 4" descr="TABL19-2"/>
            <p:cNvPicPr>
              <a:picLocks noChangeAspect="1" noChangeArrowheads="1"/>
            </p:cNvPicPr>
            <p:nvPr/>
          </p:nvPicPr>
          <p:blipFill>
            <a:blip r:embed="rId2">
              <a:extLst>
                <a:ext uri="{28A0092B-C50C-407E-A947-70E740481C1C}">
                  <a14:useLocalDpi xmlns:a14="http://schemas.microsoft.com/office/drawing/2010/main" val="0"/>
                </a:ext>
              </a:extLst>
            </a:blip>
            <a:srcRect l="51591" t="23621" r="22331" b="67438"/>
            <a:stretch>
              <a:fillRect/>
            </a:stretch>
          </p:blipFill>
          <p:spPr bwMode="auto">
            <a:xfrm>
              <a:off x="432" y="608"/>
              <a:ext cx="1680" cy="432"/>
            </a:xfrm>
            <a:prstGeom prst="rect">
              <a:avLst/>
            </a:prstGeom>
            <a:noFill/>
          </p:spPr>
        </p:pic>
      </p:grpSp>
    </p:spTree>
    <p:extLst>
      <p:ext uri="{BB962C8B-B14F-4D97-AF65-F5344CB8AC3E}">
        <p14:creationId xmlns:p14="http://schemas.microsoft.com/office/powerpoint/2010/main" val="14896855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ppt_x"/>
                                          </p:val>
                                        </p:tav>
                                        <p:tav tm="100000">
                                          <p:val>
                                            <p:strVal val="#ppt_x"/>
                                          </p:val>
                                        </p:tav>
                                      </p:tavLst>
                                    </p:anim>
                                    <p:anim calcmode="lin" valueType="num">
                                      <p:cBhvr additive="base">
                                        <p:cTn id="8"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US" dirty="0"/>
              <a:t>World Wide Web (www, web)</a:t>
            </a:r>
          </a:p>
        </p:txBody>
      </p:sp>
      <p:sp>
        <p:nvSpPr>
          <p:cNvPr id="3" name="Content Placeholder 2"/>
          <p:cNvSpPr>
            <a:spLocks noGrp="1"/>
          </p:cNvSpPr>
          <p:nvPr>
            <p:ph idx="1"/>
          </p:nvPr>
        </p:nvSpPr>
        <p:spPr>
          <a:xfrm>
            <a:off x="1435608" y="1143000"/>
            <a:ext cx="7327392" cy="5105400"/>
          </a:xfrm>
        </p:spPr>
        <p:txBody>
          <a:bodyPr>
            <a:normAutofit fontScale="92500"/>
          </a:bodyPr>
          <a:lstStyle/>
          <a:p>
            <a:pPr>
              <a:lnSpc>
                <a:spcPct val="90000"/>
              </a:lnSpc>
              <a:buFont typeface="Wingdings" pitchFamily="2" charset="2"/>
              <a:buChar char="Ø"/>
              <a:defRPr/>
            </a:pPr>
            <a:r>
              <a:rPr lang="en-US" sz="2800" b="1" dirty="0">
                <a:solidFill>
                  <a:srgbClr val="006633"/>
                </a:solidFill>
              </a:rPr>
              <a:t>World Wide Web </a:t>
            </a:r>
            <a:r>
              <a:rPr lang="en-US" sz="2800" dirty="0"/>
              <a:t>is a system of connected documents on the Internet that can be searched for information about a particular subject.</a:t>
            </a:r>
          </a:p>
          <a:p>
            <a:pPr>
              <a:lnSpc>
                <a:spcPct val="90000"/>
              </a:lnSpc>
              <a:buFont typeface="Wingdings" pitchFamily="2" charset="2"/>
              <a:buChar char="Ø"/>
              <a:defRPr/>
            </a:pPr>
            <a:r>
              <a:rPr lang="en-US" sz="2800" b="1" dirty="0">
                <a:solidFill>
                  <a:srgbClr val="006633"/>
                </a:solidFill>
              </a:rPr>
              <a:t>World Wide Web</a:t>
            </a:r>
            <a:r>
              <a:rPr lang="en-US" sz="2800" dirty="0"/>
              <a:t> is a collection of electronic documents that are linked together like a spider web.  </a:t>
            </a:r>
          </a:p>
          <a:p>
            <a:pPr>
              <a:lnSpc>
                <a:spcPct val="90000"/>
              </a:lnSpc>
              <a:buFont typeface="Wingdings" pitchFamily="2" charset="2"/>
              <a:buChar char="Ø"/>
              <a:defRPr/>
            </a:pPr>
            <a:r>
              <a:rPr lang="en-US" sz="2800" b="1" dirty="0">
                <a:solidFill>
                  <a:srgbClr val="006633"/>
                </a:solidFill>
              </a:rPr>
              <a:t>Web</a:t>
            </a:r>
            <a:r>
              <a:rPr lang="en-US" sz="2800" dirty="0"/>
              <a:t> is a collection of webpages found on the network of computers.</a:t>
            </a:r>
          </a:p>
          <a:p>
            <a:pPr>
              <a:lnSpc>
                <a:spcPct val="90000"/>
              </a:lnSpc>
              <a:buFont typeface="Wingdings" pitchFamily="2" charset="2"/>
              <a:buChar char="Ø"/>
              <a:defRPr/>
            </a:pPr>
            <a:r>
              <a:rPr lang="en-US" sz="2800" b="1" dirty="0">
                <a:solidFill>
                  <a:srgbClr val="006633"/>
                </a:solidFill>
              </a:rPr>
              <a:t>Web</a:t>
            </a:r>
            <a:r>
              <a:rPr lang="en-US" sz="2800" dirty="0">
                <a:solidFill>
                  <a:schemeClr val="accent4">
                    <a:lumMod val="75000"/>
                  </a:schemeClr>
                </a:solidFill>
              </a:rPr>
              <a:t> </a:t>
            </a:r>
            <a:r>
              <a:rPr lang="en-US" sz="2800" dirty="0"/>
              <a:t>is part or service of the Internet that uses text, images, sound, and video.</a:t>
            </a:r>
          </a:p>
          <a:p>
            <a:pPr>
              <a:lnSpc>
                <a:spcPct val="90000"/>
              </a:lnSpc>
              <a:buFont typeface="Wingdings" pitchFamily="2" charset="2"/>
              <a:buChar char="Ø"/>
              <a:defRPr/>
            </a:pPr>
            <a:r>
              <a:rPr lang="en-US" sz="2800" dirty="0"/>
              <a:t>These electronic documents are stored on computers called </a:t>
            </a:r>
            <a:r>
              <a:rPr lang="en-US" sz="2800" b="1" dirty="0"/>
              <a:t>servers</a:t>
            </a:r>
            <a:r>
              <a:rPr lang="en-US" sz="2800" dirty="0"/>
              <a:t> located around the world.</a:t>
            </a:r>
          </a:p>
          <a:p>
            <a:endParaRPr lang="en-US" dirty="0"/>
          </a:p>
        </p:txBody>
      </p:sp>
    </p:spTree>
    <p:extLst>
      <p:ext uri="{BB962C8B-B14F-4D97-AF65-F5344CB8AC3E}">
        <p14:creationId xmlns:p14="http://schemas.microsoft.com/office/powerpoint/2010/main" val="1965104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81000"/>
            <a:ext cx="7498080" cy="457200"/>
          </a:xfrm>
        </p:spPr>
        <p:txBody>
          <a:bodyPr>
            <a:normAutofit fontScale="90000"/>
          </a:bodyPr>
          <a:lstStyle/>
          <a:p>
            <a:r>
              <a:rPr lang="en-US" dirty="0"/>
              <a:t>Web Page </a:t>
            </a:r>
          </a:p>
        </p:txBody>
      </p:sp>
      <p:sp>
        <p:nvSpPr>
          <p:cNvPr id="3" name="Content Placeholder 2"/>
          <p:cNvSpPr>
            <a:spLocks noGrp="1"/>
          </p:cNvSpPr>
          <p:nvPr>
            <p:ph idx="1"/>
          </p:nvPr>
        </p:nvSpPr>
        <p:spPr>
          <a:xfrm>
            <a:off x="1371600" y="1066800"/>
            <a:ext cx="7391400" cy="5334000"/>
          </a:xfrm>
        </p:spPr>
        <p:txBody>
          <a:bodyPr>
            <a:noAutofit/>
          </a:bodyPr>
          <a:lstStyle/>
          <a:p>
            <a:pPr>
              <a:buFont typeface="Wingdings" pitchFamily="2" charset="2"/>
              <a:buChar char="Ø"/>
              <a:defRPr/>
            </a:pPr>
            <a:r>
              <a:rPr lang="en-US" sz="2800" dirty="0"/>
              <a:t>A web page is an electronic document or resource of information that can be accessed through a web browser.</a:t>
            </a:r>
          </a:p>
          <a:p>
            <a:pPr>
              <a:buFont typeface="Wingdings" pitchFamily="2" charset="2"/>
              <a:buChar char="Ø"/>
              <a:defRPr/>
            </a:pPr>
            <a:r>
              <a:rPr lang="en-US" sz="2800" dirty="0"/>
              <a:t>A web page is a page of information on the Internet about a particular subject that forms (a part) a website</a:t>
            </a:r>
          </a:p>
          <a:p>
            <a:pPr>
              <a:buFont typeface="Wingdings" pitchFamily="2" charset="2"/>
              <a:buChar char="Ø"/>
              <a:defRPr/>
            </a:pPr>
            <a:r>
              <a:rPr lang="en-US" sz="2800" dirty="0"/>
              <a:t>A web page is an electronic document on the world wide web.</a:t>
            </a:r>
          </a:p>
          <a:p>
            <a:pPr>
              <a:buFont typeface="Wingdings" pitchFamily="2" charset="2"/>
              <a:buChar char="Ø"/>
              <a:defRPr/>
            </a:pPr>
            <a:r>
              <a:rPr lang="en-US" sz="2800" dirty="0"/>
              <a:t>A web page is an electronic document written in a computer language called </a:t>
            </a:r>
            <a:r>
              <a:rPr lang="en-US" sz="2800" b="1" dirty="0"/>
              <a:t>HTML</a:t>
            </a:r>
            <a:r>
              <a:rPr lang="en-US" sz="2800" dirty="0"/>
              <a:t> (Hypertext Markup Language). </a:t>
            </a:r>
          </a:p>
        </p:txBody>
      </p:sp>
    </p:spTree>
    <p:extLst>
      <p:ext uri="{BB962C8B-B14F-4D97-AF65-F5344CB8AC3E}">
        <p14:creationId xmlns:p14="http://schemas.microsoft.com/office/powerpoint/2010/main" val="98327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da-DK" dirty="0"/>
              <a:t>Web page </a:t>
            </a:r>
            <a:endParaRPr lang="en-US" dirty="0"/>
          </a:p>
        </p:txBody>
      </p:sp>
      <p:sp>
        <p:nvSpPr>
          <p:cNvPr id="3" name="Content Placeholder 2"/>
          <p:cNvSpPr>
            <a:spLocks noGrp="1"/>
          </p:cNvSpPr>
          <p:nvPr>
            <p:ph idx="1"/>
          </p:nvPr>
        </p:nvSpPr>
        <p:spPr>
          <a:xfrm>
            <a:off x="1435608" y="1219200"/>
            <a:ext cx="7327392" cy="5029200"/>
          </a:xfrm>
        </p:spPr>
        <p:txBody>
          <a:bodyPr>
            <a:normAutofit fontScale="92500"/>
          </a:bodyPr>
          <a:lstStyle/>
          <a:p>
            <a:r>
              <a:rPr lang="en-US" dirty="0"/>
              <a:t>Web pages are stored on web servers located around the globe. </a:t>
            </a:r>
          </a:p>
          <a:p>
            <a:r>
              <a:rPr lang="en-US" dirty="0"/>
              <a:t>Web server is a computer system or program that finds and send web pages in response to requests from Internet users.</a:t>
            </a:r>
          </a:p>
          <a:p>
            <a:r>
              <a:rPr lang="en-US" dirty="0"/>
              <a:t>A web page can contain text, graphics, video, animation, links to other pages, links to other files, and sound, as well as interactive features, such as data entry forms.</a:t>
            </a:r>
          </a:p>
          <a:p>
            <a:endParaRPr lang="en-US" dirty="0"/>
          </a:p>
        </p:txBody>
      </p:sp>
    </p:spTree>
    <p:extLst>
      <p:ext uri="{BB962C8B-B14F-4D97-AF65-F5344CB8AC3E}">
        <p14:creationId xmlns:p14="http://schemas.microsoft.com/office/powerpoint/2010/main" val="697613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411162"/>
          </a:xfrm>
        </p:spPr>
        <p:txBody>
          <a:bodyPr>
            <a:normAutofit fontScale="90000"/>
          </a:bodyPr>
          <a:lstStyle/>
          <a:p>
            <a:r>
              <a:rPr lang="da-DK" dirty="0"/>
              <a:t>Hyperlink</a:t>
            </a:r>
            <a:endParaRPr lang="en-US" dirty="0"/>
          </a:p>
        </p:txBody>
      </p:sp>
      <p:sp>
        <p:nvSpPr>
          <p:cNvPr id="3" name="Content Placeholder 2"/>
          <p:cNvSpPr>
            <a:spLocks noGrp="1"/>
          </p:cNvSpPr>
          <p:nvPr>
            <p:ph idx="1"/>
          </p:nvPr>
        </p:nvSpPr>
        <p:spPr>
          <a:xfrm>
            <a:off x="1435608" y="990600"/>
            <a:ext cx="7327392" cy="5257800"/>
          </a:xfrm>
        </p:spPr>
        <p:txBody>
          <a:bodyPr>
            <a:normAutofit/>
          </a:bodyPr>
          <a:lstStyle/>
          <a:p>
            <a:pPr>
              <a:lnSpc>
                <a:spcPct val="90000"/>
              </a:lnSpc>
              <a:buFont typeface="Wingdings" pitchFamily="2" charset="2"/>
              <a:buChar char="Ø"/>
              <a:defRPr/>
            </a:pPr>
            <a:r>
              <a:rPr lang="en-US" dirty="0"/>
              <a:t>Hyperlink is a connection that allow users to move between two web pages on the Internet</a:t>
            </a:r>
          </a:p>
          <a:p>
            <a:pPr>
              <a:lnSpc>
                <a:spcPct val="90000"/>
              </a:lnSpc>
              <a:buFont typeface="Wingdings" pitchFamily="2" charset="2"/>
              <a:buChar char="Ø"/>
              <a:defRPr/>
            </a:pPr>
            <a:r>
              <a:rPr lang="en-US" dirty="0"/>
              <a:t>A web page contains links to other web pages as well.</a:t>
            </a:r>
          </a:p>
          <a:p>
            <a:pPr>
              <a:lnSpc>
                <a:spcPct val="90000"/>
              </a:lnSpc>
              <a:buFont typeface="Wingdings" pitchFamily="2" charset="2"/>
              <a:buChar char="Ø"/>
              <a:defRPr/>
            </a:pPr>
            <a:r>
              <a:rPr lang="en-US" dirty="0"/>
              <a:t>These links are called hyperlinks and </a:t>
            </a:r>
          </a:p>
          <a:p>
            <a:pPr>
              <a:lnSpc>
                <a:spcPct val="90000"/>
              </a:lnSpc>
              <a:buFont typeface="Wingdings" pitchFamily="2" charset="2"/>
              <a:buChar char="Ø"/>
              <a:defRPr/>
            </a:pPr>
            <a:r>
              <a:rPr lang="en-US" dirty="0"/>
              <a:t>Hyperlinks could be words, pictures or any graphics </a:t>
            </a:r>
          </a:p>
          <a:p>
            <a:pPr>
              <a:lnSpc>
                <a:spcPct val="90000"/>
              </a:lnSpc>
              <a:buFont typeface="Wingdings" pitchFamily="2" charset="2"/>
              <a:buChar char="Ø"/>
              <a:defRPr/>
            </a:pPr>
            <a:r>
              <a:rPr lang="en-US" i="1" dirty="0"/>
              <a:t>Hyperlinks</a:t>
            </a:r>
            <a:r>
              <a:rPr lang="en-US" dirty="0"/>
              <a:t> connects users to other pages of related information.</a:t>
            </a:r>
            <a:endParaRPr lang="en-US" sz="2800" dirty="0"/>
          </a:p>
          <a:p>
            <a:endParaRPr lang="en-US" sz="2800" dirty="0"/>
          </a:p>
        </p:txBody>
      </p:sp>
    </p:spTree>
    <p:extLst>
      <p:ext uri="{BB962C8B-B14F-4D97-AF65-F5344CB8AC3E}">
        <p14:creationId xmlns:p14="http://schemas.microsoft.com/office/powerpoint/2010/main" val="2867118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a:bodyPr>
          <a:lstStyle/>
          <a:p>
            <a:r>
              <a:rPr lang="en-US" dirty="0"/>
              <a:t>Hyperlink </a:t>
            </a:r>
          </a:p>
        </p:txBody>
      </p:sp>
      <p:sp>
        <p:nvSpPr>
          <p:cNvPr id="3" name="Content Placeholder 2"/>
          <p:cNvSpPr>
            <a:spLocks noGrp="1"/>
          </p:cNvSpPr>
          <p:nvPr>
            <p:ph idx="1"/>
          </p:nvPr>
        </p:nvSpPr>
        <p:spPr>
          <a:xfrm>
            <a:off x="1435608" y="1219200"/>
            <a:ext cx="6793992" cy="4876800"/>
          </a:xfrm>
        </p:spPr>
        <p:txBody>
          <a:bodyPr>
            <a:normAutofit/>
          </a:bodyPr>
          <a:lstStyle/>
          <a:p>
            <a:pPr>
              <a:lnSpc>
                <a:spcPct val="80000"/>
              </a:lnSpc>
              <a:buFont typeface="Wingdings" pitchFamily="2" charset="2"/>
              <a:buChar char="Ø"/>
              <a:defRPr/>
            </a:pPr>
            <a:r>
              <a:rPr lang="en-GB" sz="2800" dirty="0">
                <a:solidFill>
                  <a:srgbClr val="000000"/>
                </a:solidFill>
              </a:rPr>
              <a:t>Allows quick navigation through a website or to a new website.</a:t>
            </a:r>
          </a:p>
          <a:p>
            <a:pPr>
              <a:lnSpc>
                <a:spcPct val="80000"/>
              </a:lnSpc>
              <a:buFont typeface="Wingdings" pitchFamily="2" charset="2"/>
              <a:buChar char="Ø"/>
              <a:defRPr/>
            </a:pPr>
            <a:r>
              <a:rPr lang="en-GB" sz="2800" dirty="0">
                <a:solidFill>
                  <a:srgbClr val="000000"/>
                </a:solidFill>
              </a:rPr>
              <a:t>Mouse pointer will turn into a hand shape when moved over a link.</a:t>
            </a:r>
            <a:endParaRPr lang="en-US" sz="2800" dirty="0"/>
          </a:p>
          <a:p>
            <a:pPr>
              <a:lnSpc>
                <a:spcPct val="80000"/>
              </a:lnSpc>
              <a:buFont typeface="Wingdings" pitchFamily="2" charset="2"/>
              <a:buChar char="Ø"/>
              <a:defRPr/>
            </a:pPr>
            <a:r>
              <a:rPr lang="en-US" sz="2800" dirty="0"/>
              <a:t>With hyperlinks one can move through a vast amount of information by jumping from one web page to another. </a:t>
            </a:r>
          </a:p>
          <a:p>
            <a:pPr>
              <a:lnSpc>
                <a:spcPct val="80000"/>
              </a:lnSpc>
              <a:buFont typeface="Wingdings" pitchFamily="2" charset="2"/>
              <a:buChar char="Ø"/>
              <a:defRPr/>
            </a:pPr>
            <a:r>
              <a:rPr lang="en-US" sz="2800" b="1" i="1" dirty="0"/>
              <a:t>Navigation through pages of information is called surfing or browsing.</a:t>
            </a:r>
          </a:p>
        </p:txBody>
      </p:sp>
    </p:spTree>
    <p:extLst>
      <p:ext uri="{BB962C8B-B14F-4D97-AF65-F5344CB8AC3E}">
        <p14:creationId xmlns:p14="http://schemas.microsoft.com/office/powerpoint/2010/main" val="219505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63562"/>
          </a:xfrm>
        </p:spPr>
        <p:txBody>
          <a:bodyPr>
            <a:normAutofit fontScale="90000"/>
          </a:bodyPr>
          <a:lstStyle/>
          <a:p>
            <a:r>
              <a:rPr lang="en-US" dirty="0"/>
              <a:t>Web Site</a:t>
            </a:r>
          </a:p>
        </p:txBody>
      </p:sp>
      <p:sp>
        <p:nvSpPr>
          <p:cNvPr id="3" name="Content Placeholder 2"/>
          <p:cNvSpPr>
            <a:spLocks noGrp="1"/>
          </p:cNvSpPr>
          <p:nvPr>
            <p:ph idx="1"/>
          </p:nvPr>
        </p:nvSpPr>
        <p:spPr>
          <a:xfrm>
            <a:off x="1435608" y="914400"/>
            <a:ext cx="7498080" cy="5334000"/>
          </a:xfrm>
        </p:spPr>
        <p:txBody>
          <a:bodyPr>
            <a:noAutofit/>
          </a:bodyPr>
          <a:lstStyle/>
          <a:p>
            <a:r>
              <a:rPr lang="en-US" sz="2400" dirty="0"/>
              <a:t>A website is a set of pages of information on the Internet about a particular subject.</a:t>
            </a:r>
          </a:p>
          <a:p>
            <a:r>
              <a:rPr lang="en-US" sz="2400" dirty="0"/>
              <a:t>A </a:t>
            </a:r>
            <a:r>
              <a:rPr lang="en-US" sz="2400" b="1" dirty="0"/>
              <a:t>website </a:t>
            </a:r>
            <a:r>
              <a:rPr lang="en-US" sz="2400" dirty="0"/>
              <a:t>is one or more web pages that relate to a common theme, such as a person, business, organization or a subject, such as sports.</a:t>
            </a:r>
          </a:p>
          <a:p>
            <a:r>
              <a:rPr lang="en-GB" sz="2400" dirty="0"/>
              <a:t>A website is a set of web pages consisting of text, audio and video.</a:t>
            </a:r>
            <a:endParaRPr lang="en-US" sz="2400" dirty="0"/>
          </a:p>
          <a:p>
            <a:pPr>
              <a:lnSpc>
                <a:spcPct val="90000"/>
              </a:lnSpc>
            </a:pPr>
            <a:r>
              <a:rPr lang="en-US" sz="2400" dirty="0"/>
              <a:t>A web site is similar to a magazine with  articles. It is a collection of web pages.</a:t>
            </a:r>
          </a:p>
          <a:p>
            <a:pPr>
              <a:lnSpc>
                <a:spcPct val="90000"/>
              </a:lnSpc>
            </a:pPr>
            <a:r>
              <a:rPr lang="en-US" sz="2400" dirty="0"/>
              <a:t>A web page is an individual page that can be found on a web site.</a:t>
            </a:r>
            <a:r>
              <a:rPr lang="en-US" sz="2400" b="1" dirty="0"/>
              <a:t> </a:t>
            </a:r>
          </a:p>
          <a:p>
            <a:pPr>
              <a:lnSpc>
                <a:spcPct val="90000"/>
              </a:lnSpc>
            </a:pPr>
            <a:r>
              <a:rPr lang="en-US" sz="2400" dirty="0"/>
              <a:t>Most websites have a home page as their starting  point, which functions as a table of contents for the site. </a:t>
            </a:r>
          </a:p>
          <a:p>
            <a:pPr>
              <a:lnSpc>
                <a:spcPct val="90000"/>
              </a:lnSpc>
            </a:pPr>
            <a:endParaRPr lang="en-US" sz="2200" dirty="0"/>
          </a:p>
        </p:txBody>
      </p:sp>
    </p:spTree>
    <p:extLst>
      <p:ext uri="{BB962C8B-B14F-4D97-AF65-F5344CB8AC3E}">
        <p14:creationId xmlns:p14="http://schemas.microsoft.com/office/powerpoint/2010/main" val="1129376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US" sz="3600" dirty="0"/>
              <a:t>Web Browser </a:t>
            </a:r>
          </a:p>
        </p:txBody>
      </p:sp>
      <p:sp>
        <p:nvSpPr>
          <p:cNvPr id="3" name="Content Placeholder 2"/>
          <p:cNvSpPr>
            <a:spLocks noGrp="1"/>
          </p:cNvSpPr>
          <p:nvPr>
            <p:ph idx="1"/>
          </p:nvPr>
        </p:nvSpPr>
        <p:spPr>
          <a:xfrm>
            <a:off x="1447800" y="990600"/>
            <a:ext cx="7098792" cy="5257800"/>
          </a:xfrm>
        </p:spPr>
        <p:txBody>
          <a:bodyPr>
            <a:noAutofit/>
          </a:bodyPr>
          <a:lstStyle/>
          <a:p>
            <a:pPr>
              <a:spcBef>
                <a:spcPts val="500"/>
              </a:spcBef>
              <a:spcAft>
                <a:spcPts val="500"/>
              </a:spcAft>
            </a:pPr>
            <a:r>
              <a:rPr lang="en-US" sz="2000" b="1" dirty="0"/>
              <a:t>Web browser</a:t>
            </a:r>
            <a:r>
              <a:rPr lang="en-US" sz="2000" dirty="0"/>
              <a:t> is a software application used to locate, retrieve and display content on the World Wide Web, including Web pages, images and video.</a:t>
            </a:r>
          </a:p>
          <a:p>
            <a:pPr>
              <a:spcBef>
                <a:spcPts val="500"/>
              </a:spcBef>
              <a:spcAft>
                <a:spcPts val="500"/>
              </a:spcAft>
            </a:pPr>
            <a:r>
              <a:rPr lang="en-US" sz="2000" dirty="0"/>
              <a:t>A web browser is a computer program that makes it possible for users to read information on the Internet.</a:t>
            </a:r>
          </a:p>
          <a:p>
            <a:pPr>
              <a:spcBef>
                <a:spcPts val="500"/>
              </a:spcBef>
              <a:spcAft>
                <a:spcPts val="500"/>
              </a:spcAft>
            </a:pPr>
            <a:r>
              <a:rPr lang="en-US" sz="2000" dirty="0"/>
              <a:t>A web browser is the software that users need in order to find, retrieve, view, and send information over the Internet. </a:t>
            </a:r>
          </a:p>
          <a:p>
            <a:pPr>
              <a:spcBef>
                <a:spcPts val="750"/>
              </a:spcBef>
              <a:buSzPct val="45000"/>
              <a:buFont typeface="Wingdings" charset="2"/>
              <a:buChar char=""/>
            </a:pPr>
            <a:r>
              <a:rPr lang="en-GB" sz="2000" dirty="0">
                <a:solidFill>
                  <a:srgbClr val="000000"/>
                </a:solidFill>
              </a:rPr>
              <a:t>User enters web address (URL) into the web browser’s address bar.</a:t>
            </a:r>
          </a:p>
          <a:p>
            <a:pPr>
              <a:spcBef>
                <a:spcPts val="750"/>
              </a:spcBef>
              <a:buSzPct val="45000"/>
              <a:buFont typeface="Wingdings" charset="2"/>
              <a:buChar char=""/>
            </a:pPr>
            <a:r>
              <a:rPr lang="en-GB" sz="2000" dirty="0">
                <a:solidFill>
                  <a:srgbClr val="000000"/>
                </a:solidFill>
              </a:rPr>
              <a:t>The browser communicates with the server to get the information requested by the user.</a:t>
            </a:r>
            <a:endParaRPr lang="en-US" sz="2000" dirty="0"/>
          </a:p>
          <a:p>
            <a:pPr>
              <a:spcBef>
                <a:spcPts val="500"/>
              </a:spcBef>
              <a:spcAft>
                <a:spcPts val="500"/>
              </a:spcAft>
            </a:pPr>
            <a:r>
              <a:rPr lang="en-US" sz="2000" dirty="0"/>
              <a:t>Examples of  Web Browsers are:  Mozilla Firefox, Google Chrome, Apple Safari, Opera, Internet Explorer etc.</a:t>
            </a:r>
            <a:endParaRPr lang="en-US" sz="700" dirty="0"/>
          </a:p>
        </p:txBody>
      </p:sp>
    </p:spTree>
    <p:extLst>
      <p:ext uri="{BB962C8B-B14F-4D97-AF65-F5344CB8AC3E}">
        <p14:creationId xmlns:p14="http://schemas.microsoft.com/office/powerpoint/2010/main" val="1769157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8" name="Rectangle 12"/>
          <p:cNvSpPr>
            <a:spLocks noGrp="1" noChangeArrowheads="1"/>
          </p:cNvSpPr>
          <p:nvPr>
            <p:ph type="title"/>
          </p:nvPr>
        </p:nvSpPr>
        <p:spPr>
          <a:xfrm>
            <a:off x="1219200" y="304800"/>
            <a:ext cx="7162800" cy="990600"/>
          </a:xfrm>
        </p:spPr>
        <p:txBody>
          <a:bodyPr/>
          <a:lstStyle/>
          <a:p>
            <a:r>
              <a:rPr lang="en-GB" dirty="0"/>
              <a:t>How the Web Works</a:t>
            </a:r>
            <a:endParaRPr lang="en-US" dirty="0"/>
          </a:p>
        </p:txBody>
      </p:sp>
      <p:graphicFrame>
        <p:nvGraphicFramePr>
          <p:cNvPr id="96260" name="Object 4">
            <a:hlinkClick r:id="" action="ppaction://ole?verb=0"/>
          </p:cNvPr>
          <p:cNvGraphicFramePr>
            <a:graphicFrameLocks noGrp="1"/>
          </p:cNvGraphicFramePr>
          <p:nvPr>
            <p:ph sz="half" idx="1"/>
          </p:nvPr>
        </p:nvGraphicFramePr>
        <p:xfrm>
          <a:off x="838200" y="2895600"/>
          <a:ext cx="2209800" cy="1884363"/>
        </p:xfrm>
        <a:graphic>
          <a:graphicData uri="http://schemas.openxmlformats.org/presentationml/2006/ole">
            <mc:AlternateContent xmlns:mc="http://schemas.openxmlformats.org/markup-compatibility/2006">
              <mc:Choice xmlns:v="urn:schemas-microsoft-com:vml" Requires="v">
                <p:oleObj spid="_x0000_s1431" name="Microsoft ClipArt Gallery" r:id="rId4" imgW="3936960" imgH="3419280" progId="MS_ClipArt_Gallery">
                  <p:embed/>
                </p:oleObj>
              </mc:Choice>
              <mc:Fallback>
                <p:oleObj name="Microsoft ClipArt Gallery" r:id="rId4" imgW="3936960" imgH="3419280" progId="MS_ClipArt_Gallery">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895600"/>
                        <a:ext cx="2209800" cy="188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4" name="Object 8"/>
          <p:cNvGraphicFramePr>
            <a:graphicFrameLocks noGrp="1" noChangeAspect="1"/>
          </p:cNvGraphicFramePr>
          <p:nvPr>
            <p:ph sz="quarter" idx="2"/>
          </p:nvPr>
        </p:nvGraphicFramePr>
        <p:xfrm>
          <a:off x="3962400" y="3352800"/>
          <a:ext cx="2057400" cy="1379538"/>
        </p:xfrm>
        <a:graphic>
          <a:graphicData uri="http://schemas.openxmlformats.org/presentationml/2006/ole">
            <mc:AlternateContent xmlns:mc="http://schemas.openxmlformats.org/markup-compatibility/2006">
              <mc:Choice xmlns:v="urn:schemas-microsoft-com:vml" Requires="v">
                <p:oleObj spid="_x0000_s1432" name="Clip" r:id="rId6" imgW="2223360" imgH="1490040" progId="MS_ClipArt_Gallery.2">
                  <p:embed/>
                </p:oleObj>
              </mc:Choice>
              <mc:Fallback>
                <p:oleObj name="Clip" r:id="rId6" imgW="2223360" imgH="1490040"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3352800"/>
                        <a:ext cx="2057400" cy="1379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3" name="Text Box 7"/>
          <p:cNvSpPr txBox="1">
            <a:spLocks noChangeArrowheads="1"/>
          </p:cNvSpPr>
          <p:nvPr/>
        </p:nvSpPr>
        <p:spPr bwMode="auto">
          <a:xfrm>
            <a:off x="4318000" y="3581400"/>
            <a:ext cx="124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b="1" dirty="0">
                <a:solidFill>
                  <a:srgbClr val="FFFFFF"/>
                </a:solidFill>
                <a:latin typeface="Garamond" pitchFamily="18" charset="0"/>
              </a:rPr>
              <a:t>Browser</a:t>
            </a:r>
            <a:endParaRPr lang="en-US" dirty="0">
              <a:solidFill>
                <a:srgbClr val="FFFFFF"/>
              </a:solidFill>
              <a:latin typeface="Times New Roman" charset="0"/>
            </a:endParaRPr>
          </a:p>
        </p:txBody>
      </p:sp>
      <p:graphicFrame>
        <p:nvGraphicFramePr>
          <p:cNvPr id="96267" name="Object 11">
            <a:hlinkClick r:id="" action="ppaction://ole?verb=0"/>
          </p:cNvPr>
          <p:cNvGraphicFramePr>
            <a:graphicFrameLocks noGrp="1"/>
          </p:cNvGraphicFramePr>
          <p:nvPr>
            <p:ph sz="quarter" idx="3"/>
          </p:nvPr>
        </p:nvGraphicFramePr>
        <p:xfrm>
          <a:off x="7162800" y="3276600"/>
          <a:ext cx="990600" cy="1600200"/>
        </p:xfrm>
        <a:graphic>
          <a:graphicData uri="http://schemas.openxmlformats.org/presentationml/2006/ole">
            <mc:AlternateContent xmlns:mc="http://schemas.openxmlformats.org/markup-compatibility/2006">
              <mc:Choice xmlns:v="urn:schemas-microsoft-com:vml" Requires="v">
                <p:oleObj spid="_x0000_s1433" name="Microsoft ClipArt Gallery" r:id="rId8" imgW="1925280" imgH="3381120" progId="MS_ClipArt_Gallery">
                  <p:embed/>
                </p:oleObj>
              </mc:Choice>
              <mc:Fallback>
                <p:oleObj name="Microsoft ClipArt Gallery" r:id="rId8" imgW="1925280" imgH="3381120" progId="MS_ClipArt_Gallery">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2800" y="3276600"/>
                        <a:ext cx="990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70" name="Line 14"/>
          <p:cNvSpPr>
            <a:spLocks noChangeShapeType="1"/>
          </p:cNvSpPr>
          <p:nvPr/>
        </p:nvSpPr>
        <p:spPr bwMode="auto">
          <a:xfrm flipH="1">
            <a:off x="3124200" y="3581400"/>
            <a:ext cx="9144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1" name="Line 15"/>
          <p:cNvSpPr>
            <a:spLocks noChangeShapeType="1"/>
          </p:cNvSpPr>
          <p:nvPr/>
        </p:nvSpPr>
        <p:spPr bwMode="auto">
          <a:xfrm>
            <a:off x="3124200" y="4495800"/>
            <a:ext cx="9906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2" name="Line 16"/>
          <p:cNvSpPr>
            <a:spLocks noChangeShapeType="1"/>
          </p:cNvSpPr>
          <p:nvPr/>
        </p:nvSpPr>
        <p:spPr bwMode="auto">
          <a:xfrm>
            <a:off x="6019800" y="4495800"/>
            <a:ext cx="9906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3" name="Line 17"/>
          <p:cNvSpPr>
            <a:spLocks noChangeShapeType="1"/>
          </p:cNvSpPr>
          <p:nvPr/>
        </p:nvSpPr>
        <p:spPr bwMode="auto">
          <a:xfrm flipH="1">
            <a:off x="6096000" y="3581400"/>
            <a:ext cx="91440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74" name="Rectangle 18"/>
          <p:cNvSpPr>
            <a:spLocks noChangeArrowheads="1"/>
          </p:cNvSpPr>
          <p:nvPr/>
        </p:nvSpPr>
        <p:spPr bwMode="auto">
          <a:xfrm>
            <a:off x="762000" y="1447799"/>
            <a:ext cx="2286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b="1" dirty="0"/>
              <a:t>5.</a:t>
            </a:r>
            <a:r>
              <a:rPr lang="en-US" sz="2000" dirty="0"/>
              <a:t> User receives file displayed by the browser</a:t>
            </a:r>
          </a:p>
        </p:txBody>
      </p:sp>
      <p:sp>
        <p:nvSpPr>
          <p:cNvPr id="96275" name="Rectangle 19"/>
          <p:cNvSpPr>
            <a:spLocks noChangeArrowheads="1"/>
          </p:cNvSpPr>
          <p:nvPr/>
        </p:nvSpPr>
        <p:spPr bwMode="auto">
          <a:xfrm>
            <a:off x="5867400" y="1295400"/>
            <a:ext cx="2362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2000" b="1" dirty="0"/>
              <a:t>4.</a:t>
            </a:r>
            <a:r>
              <a:rPr lang="en-US" sz="2000" dirty="0"/>
              <a:t> Server sends requested files to browser to be interpreted</a:t>
            </a:r>
          </a:p>
        </p:txBody>
      </p:sp>
      <p:sp>
        <p:nvSpPr>
          <p:cNvPr id="96276" name="Rectangle 20"/>
          <p:cNvSpPr>
            <a:spLocks noChangeArrowheads="1"/>
          </p:cNvSpPr>
          <p:nvPr/>
        </p:nvSpPr>
        <p:spPr bwMode="auto">
          <a:xfrm>
            <a:off x="381000" y="4953000"/>
            <a:ext cx="2924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rgbClr val="FFFFFF"/>
                </a:solidFill>
              </a:rPr>
              <a:t>1.</a:t>
            </a:r>
            <a:r>
              <a:rPr lang="en-US"/>
              <a:t> </a:t>
            </a:r>
            <a:r>
              <a:rPr lang="en-US" sz="2000"/>
              <a:t>1.User sends request</a:t>
            </a:r>
          </a:p>
        </p:txBody>
      </p:sp>
      <p:sp>
        <p:nvSpPr>
          <p:cNvPr id="96277" name="Rectangle 21"/>
          <p:cNvSpPr>
            <a:spLocks noChangeArrowheads="1"/>
          </p:cNvSpPr>
          <p:nvPr/>
        </p:nvSpPr>
        <p:spPr bwMode="auto">
          <a:xfrm>
            <a:off x="2209800" y="5486400"/>
            <a:ext cx="4114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b="1" dirty="0"/>
              <a:t>2. </a:t>
            </a:r>
            <a:r>
              <a:rPr lang="en-US" sz="2000" dirty="0"/>
              <a:t>Browser interprets user</a:t>
            </a:r>
            <a:r>
              <a:rPr lang="en-US" sz="2000" dirty="0">
                <a:latin typeface="Times New Roman"/>
              </a:rPr>
              <a:t>’</a:t>
            </a:r>
            <a:r>
              <a:rPr lang="en-US" sz="2000" dirty="0"/>
              <a:t>s </a:t>
            </a:r>
          </a:p>
          <a:p>
            <a:r>
              <a:rPr lang="en-US" sz="2000" dirty="0"/>
              <a:t>selection and makes request from appropriate server</a:t>
            </a:r>
          </a:p>
        </p:txBody>
      </p:sp>
      <p:sp>
        <p:nvSpPr>
          <p:cNvPr id="96278" name="Rectangle 22"/>
          <p:cNvSpPr>
            <a:spLocks noChangeArrowheads="1"/>
          </p:cNvSpPr>
          <p:nvPr/>
        </p:nvSpPr>
        <p:spPr bwMode="auto">
          <a:xfrm>
            <a:off x="6248400" y="4800600"/>
            <a:ext cx="2590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b="1" dirty="0"/>
              <a:t>3.</a:t>
            </a:r>
            <a:r>
              <a:rPr lang="en-US" sz="2000" dirty="0"/>
              <a:t> Server accepts </a:t>
            </a:r>
          </a:p>
          <a:p>
            <a:r>
              <a:rPr lang="en-US" sz="2000" dirty="0"/>
              <a:t>and processes </a:t>
            </a:r>
          </a:p>
          <a:p>
            <a:r>
              <a:rPr lang="en-US" sz="2000" dirty="0"/>
              <a:t>request from </a:t>
            </a:r>
          </a:p>
          <a:p>
            <a:r>
              <a:rPr lang="en-US" sz="2000" dirty="0"/>
              <a:t>browser</a:t>
            </a:r>
          </a:p>
        </p:txBody>
      </p:sp>
    </p:spTree>
    <p:extLst>
      <p:ext uri="{BB962C8B-B14F-4D97-AF65-F5344CB8AC3E}">
        <p14:creationId xmlns:p14="http://schemas.microsoft.com/office/powerpoint/2010/main" val="42054838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dissolve">
                                      <p:cBhvr>
                                        <p:cTn id="7" dur="500"/>
                                        <p:tgtEl>
                                          <p:spTgt spid="962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6263"/>
                                        </p:tgtEl>
                                        <p:attrNameLst>
                                          <p:attrName>style.visibility</p:attrName>
                                        </p:attrNameLst>
                                      </p:cBhvr>
                                      <p:to>
                                        <p:strVal val="visible"/>
                                      </p:to>
                                    </p:set>
                                    <p:animEffect transition="in" filter="dissolve">
                                      <p:cBhvr>
                                        <p:cTn id="12" dur="500"/>
                                        <p:tgtEl>
                                          <p:spTgt spid="962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6264"/>
                                        </p:tgtEl>
                                        <p:attrNameLst>
                                          <p:attrName>style.visibility</p:attrName>
                                        </p:attrNameLst>
                                      </p:cBhvr>
                                      <p:to>
                                        <p:strVal val="visible"/>
                                      </p:to>
                                    </p:set>
                                    <p:animEffect transition="in" filter="dissolve">
                                      <p:cBhvr>
                                        <p:cTn id="17" dur="500"/>
                                        <p:tgtEl>
                                          <p:spTgt spid="962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6267"/>
                                        </p:tgtEl>
                                        <p:attrNameLst>
                                          <p:attrName>style.visibility</p:attrName>
                                        </p:attrNameLst>
                                      </p:cBhvr>
                                      <p:to>
                                        <p:strVal val="visible"/>
                                      </p:to>
                                    </p:set>
                                    <p:animEffect transition="in" filter="dissolve">
                                      <p:cBhvr>
                                        <p:cTn id="22" dur="500"/>
                                        <p:tgtEl>
                                          <p:spTgt spid="962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6271"/>
                                        </p:tgtEl>
                                        <p:attrNameLst>
                                          <p:attrName>style.visibility</p:attrName>
                                        </p:attrNameLst>
                                      </p:cBhvr>
                                      <p:to>
                                        <p:strVal val="visible"/>
                                      </p:to>
                                    </p:set>
                                    <p:animEffect transition="in" filter="dissolve">
                                      <p:cBhvr>
                                        <p:cTn id="27" dur="500"/>
                                        <p:tgtEl>
                                          <p:spTgt spid="962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6272"/>
                                        </p:tgtEl>
                                        <p:attrNameLst>
                                          <p:attrName>style.visibility</p:attrName>
                                        </p:attrNameLst>
                                      </p:cBhvr>
                                      <p:to>
                                        <p:strVal val="visible"/>
                                      </p:to>
                                    </p:set>
                                    <p:animEffect transition="in" filter="dissolve">
                                      <p:cBhvr>
                                        <p:cTn id="32" dur="500"/>
                                        <p:tgtEl>
                                          <p:spTgt spid="962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6273"/>
                                        </p:tgtEl>
                                        <p:attrNameLst>
                                          <p:attrName>style.visibility</p:attrName>
                                        </p:attrNameLst>
                                      </p:cBhvr>
                                      <p:to>
                                        <p:strVal val="visible"/>
                                      </p:to>
                                    </p:set>
                                    <p:animEffect transition="in" filter="dissolve">
                                      <p:cBhvr>
                                        <p:cTn id="37" dur="500"/>
                                        <p:tgtEl>
                                          <p:spTgt spid="9627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6270"/>
                                        </p:tgtEl>
                                        <p:attrNameLst>
                                          <p:attrName>style.visibility</p:attrName>
                                        </p:attrNameLst>
                                      </p:cBhvr>
                                      <p:to>
                                        <p:strVal val="visible"/>
                                      </p:to>
                                    </p:set>
                                    <p:animEffect transition="in" filter="dissolve">
                                      <p:cBhvr>
                                        <p:cTn id="42" dur="500"/>
                                        <p:tgtEl>
                                          <p:spTgt spid="96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3" grpId="0" autoUpdateAnimBg="0"/>
      <p:bldP spid="96270" grpId="0" animBg="1"/>
      <p:bldP spid="96271" grpId="0" animBg="1"/>
      <p:bldP spid="96272" grpId="0" animBg="1"/>
      <p:bldP spid="9627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Web Server</a:t>
            </a:r>
          </a:p>
        </p:txBody>
      </p:sp>
      <p:sp>
        <p:nvSpPr>
          <p:cNvPr id="7" name="Content Placeholder 6"/>
          <p:cNvSpPr>
            <a:spLocks noGrp="1"/>
          </p:cNvSpPr>
          <p:nvPr>
            <p:ph idx="1"/>
          </p:nvPr>
        </p:nvSpPr>
        <p:spPr>
          <a:xfrm>
            <a:off x="1435608" y="1447800"/>
            <a:ext cx="7251192" cy="4800600"/>
          </a:xfrm>
        </p:spPr>
        <p:txBody>
          <a:bodyPr>
            <a:normAutofit fontScale="85000" lnSpcReduction="20000"/>
          </a:bodyPr>
          <a:lstStyle/>
          <a:p>
            <a:pPr>
              <a:buFont typeface="Wingdings" pitchFamily="2" charset="2"/>
              <a:buChar char="Ø"/>
              <a:defRPr/>
            </a:pPr>
            <a:r>
              <a:rPr lang="en-US" dirty="0"/>
              <a:t>Web Server is a computer that provides world wide web services on the Internet. </a:t>
            </a:r>
          </a:p>
          <a:p>
            <a:pPr>
              <a:buFont typeface="Wingdings" pitchFamily="2" charset="2"/>
              <a:buChar char="Ø"/>
              <a:defRPr/>
            </a:pPr>
            <a:r>
              <a:rPr lang="en-US" dirty="0"/>
              <a:t>Web servers are computers that deliver (</a:t>
            </a:r>
            <a:r>
              <a:rPr lang="en-US" i="1" dirty="0"/>
              <a:t>serves up</a:t>
            </a:r>
            <a:r>
              <a:rPr lang="en-US" dirty="0"/>
              <a:t>) Web pages. </a:t>
            </a:r>
          </a:p>
          <a:p>
            <a:r>
              <a:rPr lang="en-US" dirty="0"/>
              <a:t>A Web server is a system that delivers content or services to end users over the Internet. </a:t>
            </a:r>
          </a:p>
          <a:p>
            <a:r>
              <a:rPr lang="en-US" dirty="0"/>
              <a:t>A Web server consists of a physical server (hardware), server operating system (OS) and software used to facilitate HTTP communication.</a:t>
            </a:r>
          </a:p>
          <a:p>
            <a:r>
              <a:rPr lang="en-US" dirty="0"/>
              <a:t>A Web server is also known as an Internet server.</a:t>
            </a:r>
          </a:p>
        </p:txBody>
      </p:sp>
    </p:spTree>
    <p:extLst>
      <p:ext uri="{BB962C8B-B14F-4D97-AF65-F5344CB8AC3E}">
        <p14:creationId xmlns:p14="http://schemas.microsoft.com/office/powerpoint/2010/main" val="2770185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35608" y="274638"/>
            <a:ext cx="7498080" cy="639762"/>
          </a:xfrm>
        </p:spPr>
        <p:txBody>
          <a:bodyPr>
            <a:noAutofit/>
          </a:bodyPr>
          <a:lstStyle/>
          <a:p>
            <a:r>
              <a:rPr lang="en-US" sz="3600" dirty="0"/>
              <a:t>Uniform Resource Locator </a:t>
            </a:r>
            <a:r>
              <a:rPr lang="en-US" sz="3200" dirty="0"/>
              <a:t>(</a:t>
            </a:r>
            <a:r>
              <a:rPr lang="en-US" sz="3600" dirty="0">
                <a:solidFill>
                  <a:schemeClr val="tx2"/>
                </a:solidFill>
              </a:rPr>
              <a:t>URL)</a:t>
            </a:r>
            <a:endParaRPr lang="en-US" sz="4000" dirty="0"/>
          </a:p>
        </p:txBody>
      </p:sp>
      <p:sp>
        <p:nvSpPr>
          <p:cNvPr id="7" name="Content Placeholder 6"/>
          <p:cNvSpPr>
            <a:spLocks noGrp="1"/>
          </p:cNvSpPr>
          <p:nvPr>
            <p:ph idx="1"/>
          </p:nvPr>
        </p:nvSpPr>
        <p:spPr>
          <a:xfrm>
            <a:off x="1435608" y="1066800"/>
            <a:ext cx="7498080" cy="5181600"/>
          </a:xfrm>
        </p:spPr>
        <p:txBody>
          <a:bodyPr>
            <a:normAutofit fontScale="47500" lnSpcReduction="20000"/>
          </a:bodyPr>
          <a:lstStyle/>
          <a:p>
            <a:endParaRPr lang="da-DK" dirty="0"/>
          </a:p>
          <a:p>
            <a:endParaRPr lang="da-DK" dirty="0"/>
          </a:p>
          <a:p>
            <a:endParaRPr lang="da-DK" dirty="0"/>
          </a:p>
          <a:p>
            <a:pPr marL="82296" indent="0">
              <a:buNone/>
            </a:pPr>
            <a:endParaRPr lang="da-DK" dirty="0"/>
          </a:p>
          <a:p>
            <a:pPr>
              <a:lnSpc>
                <a:spcPct val="80000"/>
              </a:lnSpc>
              <a:buFont typeface="Wingdings" pitchFamily="2" charset="2"/>
              <a:buChar char="Ø"/>
              <a:defRPr/>
            </a:pPr>
            <a:endParaRPr lang="en-US" dirty="0"/>
          </a:p>
          <a:p>
            <a:pPr>
              <a:lnSpc>
                <a:spcPct val="80000"/>
              </a:lnSpc>
              <a:buFont typeface="Wingdings" pitchFamily="2" charset="2"/>
              <a:buChar char="Ø"/>
              <a:defRPr/>
            </a:pPr>
            <a:endParaRPr lang="en-US" dirty="0"/>
          </a:p>
          <a:p>
            <a:pPr marL="82296" indent="0">
              <a:lnSpc>
                <a:spcPct val="80000"/>
              </a:lnSpc>
              <a:buNone/>
              <a:defRPr/>
            </a:pPr>
            <a:endParaRPr lang="en-US" dirty="0"/>
          </a:p>
          <a:p>
            <a:pPr>
              <a:lnSpc>
                <a:spcPct val="80000"/>
              </a:lnSpc>
              <a:buFont typeface="Wingdings" pitchFamily="2" charset="2"/>
              <a:buChar char="Ø"/>
              <a:defRPr/>
            </a:pPr>
            <a:r>
              <a:rPr lang="en-US" sz="5100" dirty="0"/>
              <a:t>URL is the address of an Internet page on a Web site. </a:t>
            </a:r>
            <a:r>
              <a:rPr lang="en-US" sz="4200" dirty="0"/>
              <a:t>E.g. </a:t>
            </a:r>
            <a:r>
              <a:rPr lang="en-US" sz="4200" dirty="0">
                <a:hlinkClick r:id="rId2"/>
              </a:rPr>
              <a:t>http://www.mzuni.ac.mw</a:t>
            </a:r>
            <a:endParaRPr lang="en-US" sz="4200" dirty="0"/>
          </a:p>
          <a:p>
            <a:pPr>
              <a:lnSpc>
                <a:spcPct val="80000"/>
              </a:lnSpc>
              <a:buFont typeface="Wingdings" pitchFamily="2" charset="2"/>
              <a:buChar char="Ø"/>
              <a:defRPr/>
            </a:pPr>
            <a:r>
              <a:rPr lang="en-US" sz="5100" dirty="0"/>
              <a:t>URL is the address that defines the route to a file on the Web. </a:t>
            </a:r>
          </a:p>
          <a:p>
            <a:pPr>
              <a:lnSpc>
                <a:spcPct val="80000"/>
              </a:lnSpc>
              <a:buFont typeface="Wingdings" pitchFamily="2" charset="2"/>
              <a:buChar char="Ø"/>
              <a:defRPr/>
            </a:pPr>
            <a:r>
              <a:rPr lang="en-US" sz="5100" dirty="0"/>
              <a:t>URL indicates where a web page is located on the internet.</a:t>
            </a:r>
          </a:p>
          <a:p>
            <a:pPr>
              <a:buFont typeface="Wingdings" pitchFamily="2" charset="2"/>
              <a:buChar char="Ø"/>
            </a:pPr>
            <a:r>
              <a:rPr lang="en-US" sz="5100" dirty="0">
                <a:cs typeface="Times New Roman" pitchFamily="18" charset="0"/>
              </a:rPr>
              <a:t>URL is a location identifier associated with a particular webpage or file on the Internet.</a:t>
            </a:r>
            <a:endParaRPr lang="en-US" sz="4700" dirty="0">
              <a:solidFill>
                <a:srgbClr val="000000"/>
              </a:solidFill>
              <a:cs typeface="Times New Roman" pitchFamily="18" charset="0"/>
            </a:endParaRPr>
          </a:p>
          <a:p>
            <a:pPr>
              <a:buFont typeface="Wingdings" pitchFamily="2" charset="2"/>
              <a:buChar char="Ø"/>
            </a:pPr>
            <a:r>
              <a:rPr lang="en-US" sz="5100" dirty="0"/>
              <a:t>URL is typed into web browser’s address bar to access web pages.</a:t>
            </a:r>
          </a:p>
        </p:txBody>
      </p:sp>
      <p:pic>
        <p:nvPicPr>
          <p:cNvPr id="9" name="Picture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219200"/>
            <a:ext cx="59817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1929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92500"/>
          </a:bodyPr>
          <a:lstStyle/>
          <a:p>
            <a:pPr>
              <a:lnSpc>
                <a:spcPct val="80000"/>
              </a:lnSpc>
              <a:buFont typeface="Wingdings" pitchFamily="2" charset="2"/>
              <a:buChar char="Ø"/>
              <a:defRPr/>
            </a:pPr>
            <a:r>
              <a:rPr lang="en-US" dirty="0"/>
              <a:t>URL contains protocol prefix, domain name, subdirectory name and file name. E.g.</a:t>
            </a:r>
          </a:p>
          <a:p>
            <a:pPr lvl="1">
              <a:lnSpc>
                <a:spcPct val="80000"/>
              </a:lnSpc>
              <a:buFont typeface="Wingdings" pitchFamily="2" charset="2"/>
              <a:buChar char="Ø"/>
              <a:defRPr/>
            </a:pPr>
            <a:r>
              <a:rPr lang="en-US" dirty="0">
                <a:hlinkClick r:id="rId2"/>
              </a:rPr>
              <a:t>http://www.mzuni.ac.mw/downloads/student_handbook.pdf</a:t>
            </a:r>
            <a:endParaRPr lang="en-US" dirty="0"/>
          </a:p>
          <a:p>
            <a:r>
              <a:rPr lang="en-US" dirty="0"/>
              <a:t>URL specifies Internet address of a file stored on a host computer connected to the Internet. </a:t>
            </a:r>
          </a:p>
          <a:p>
            <a:r>
              <a:rPr lang="en-US" dirty="0"/>
              <a:t>Every file on the Internet, has a unique URL. </a:t>
            </a:r>
          </a:p>
          <a:p>
            <a:r>
              <a:rPr lang="en-US" dirty="0"/>
              <a:t>Web browsers use URL to retrieve a file from a web server in which it resides.</a:t>
            </a:r>
          </a:p>
          <a:p>
            <a:r>
              <a:rPr lang="en-US" dirty="0"/>
              <a:t>This file is then displayed on the monitor connected to the user's local machine.</a:t>
            </a:r>
          </a:p>
          <a:p>
            <a:endParaRPr lang="en-US" dirty="0"/>
          </a:p>
        </p:txBody>
      </p:sp>
    </p:spTree>
    <p:extLst>
      <p:ext uri="{BB962C8B-B14F-4D97-AF65-F5344CB8AC3E}">
        <p14:creationId xmlns:p14="http://schemas.microsoft.com/office/powerpoint/2010/main" val="1726673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219200" y="274638"/>
            <a:ext cx="7714488" cy="1143000"/>
          </a:xfrm>
          <a:noFill/>
        </p:spPr>
        <p:txBody>
          <a:bodyPr lIns="92075" tIns="46037" rIns="92075" bIns="46037">
            <a:normAutofit/>
          </a:bodyPr>
          <a:lstStyle/>
          <a:p>
            <a:pPr eaLnBrk="1" hangingPunct="1"/>
            <a:r>
              <a:rPr lang="en-US" sz="4000" dirty="0"/>
              <a:t>URL format </a:t>
            </a:r>
          </a:p>
        </p:txBody>
      </p:sp>
      <p:sp>
        <p:nvSpPr>
          <p:cNvPr id="22531" name="Rectangle 3"/>
          <p:cNvSpPr>
            <a:spLocks noGrp="1" noChangeArrowheads="1"/>
          </p:cNvSpPr>
          <p:nvPr>
            <p:ph type="body" idx="1"/>
          </p:nvPr>
        </p:nvSpPr>
        <p:spPr>
          <a:xfrm>
            <a:off x="1066800" y="2133600"/>
            <a:ext cx="7620000" cy="3881438"/>
          </a:xfrm>
          <a:noFill/>
        </p:spPr>
        <p:txBody>
          <a:bodyPr lIns="92075" tIns="46037" rIns="92075" bIns="46037"/>
          <a:lstStyle/>
          <a:p>
            <a:pPr eaLnBrk="1" hangingPunct="1"/>
            <a:r>
              <a:rPr lang="en-US" dirty="0"/>
              <a:t>Each part of the URL directs the browser to the correct web page.</a:t>
            </a:r>
            <a:r>
              <a:rPr lang="en-US" dirty="0">
                <a:solidFill>
                  <a:srgbClr val="FF9933"/>
                </a:solidFill>
              </a:rPr>
              <a:t> </a:t>
            </a:r>
          </a:p>
        </p:txBody>
      </p:sp>
      <p:sp>
        <p:nvSpPr>
          <p:cNvPr id="22532" name="Line 4"/>
          <p:cNvSpPr>
            <a:spLocks noChangeShapeType="1"/>
          </p:cNvSpPr>
          <p:nvPr/>
        </p:nvSpPr>
        <p:spPr bwMode="auto">
          <a:xfrm>
            <a:off x="304800" y="6019800"/>
            <a:ext cx="8610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6"/>
          <p:cNvSpPr>
            <a:spLocks noChangeArrowheads="1"/>
          </p:cNvSpPr>
          <p:nvPr/>
        </p:nvSpPr>
        <p:spPr bwMode="auto">
          <a:xfrm>
            <a:off x="1219200" y="33528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lstStyle/>
          <a:p>
            <a:pPr algn="ctr">
              <a:spcBef>
                <a:spcPct val="20000"/>
              </a:spcBef>
            </a:pPr>
            <a:r>
              <a:rPr lang="en-US" sz="3200" b="0" dirty="0">
                <a:solidFill>
                  <a:srgbClr val="3333FF"/>
                </a:solidFill>
              </a:rPr>
              <a:t>http://library.sullivan.edu/datainfo.html</a:t>
            </a:r>
          </a:p>
        </p:txBody>
      </p:sp>
      <p:sp>
        <p:nvSpPr>
          <p:cNvPr id="22534" name="Text Box 8"/>
          <p:cNvSpPr txBox="1">
            <a:spLocks noChangeArrowheads="1"/>
          </p:cNvSpPr>
          <p:nvPr/>
        </p:nvSpPr>
        <p:spPr bwMode="auto">
          <a:xfrm>
            <a:off x="609600" y="4343400"/>
            <a:ext cx="16764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4400" b="1">
                <a:solidFill>
                  <a:schemeClr val="tx1"/>
                </a:solidFill>
                <a:latin typeface="Arial" charset="0"/>
              </a:defRPr>
            </a:lvl1pPr>
            <a:lvl2pPr marL="742950" indent="-285750" eaLnBrk="0" hangingPunct="0">
              <a:defRPr sz="4400" b="1">
                <a:solidFill>
                  <a:schemeClr val="tx1"/>
                </a:solidFill>
                <a:latin typeface="Arial" charset="0"/>
              </a:defRPr>
            </a:lvl2pPr>
            <a:lvl3pPr marL="1143000" indent="-228600" eaLnBrk="0" hangingPunct="0">
              <a:defRPr sz="4400" b="1">
                <a:solidFill>
                  <a:schemeClr val="tx1"/>
                </a:solidFill>
                <a:latin typeface="Arial" charset="0"/>
              </a:defRPr>
            </a:lvl3pPr>
            <a:lvl4pPr marL="1600200" indent="-228600" eaLnBrk="0" hangingPunct="0">
              <a:defRPr sz="4400" b="1">
                <a:solidFill>
                  <a:schemeClr val="tx1"/>
                </a:solidFill>
                <a:latin typeface="Arial" charset="0"/>
              </a:defRPr>
            </a:lvl4pPr>
            <a:lvl5pPr marL="2057400" indent="-228600" eaLnBrk="0" hangingPunct="0">
              <a:defRPr sz="4400" b="1">
                <a:solidFill>
                  <a:schemeClr val="tx1"/>
                </a:solidFill>
                <a:latin typeface="Arial" charset="0"/>
              </a:defRPr>
            </a:lvl5pPr>
            <a:lvl6pPr marL="2514600" indent="-228600" eaLnBrk="0" fontAlgn="base" hangingPunct="0">
              <a:spcBef>
                <a:spcPct val="0"/>
              </a:spcBef>
              <a:spcAft>
                <a:spcPct val="0"/>
              </a:spcAft>
              <a:defRPr sz="4400" b="1">
                <a:solidFill>
                  <a:schemeClr val="tx1"/>
                </a:solidFill>
                <a:latin typeface="Arial" charset="0"/>
              </a:defRPr>
            </a:lvl6pPr>
            <a:lvl7pPr marL="2971800" indent="-228600" eaLnBrk="0" fontAlgn="base" hangingPunct="0">
              <a:spcBef>
                <a:spcPct val="0"/>
              </a:spcBef>
              <a:spcAft>
                <a:spcPct val="0"/>
              </a:spcAft>
              <a:defRPr sz="4400" b="1">
                <a:solidFill>
                  <a:schemeClr val="tx1"/>
                </a:solidFill>
                <a:latin typeface="Arial" charset="0"/>
              </a:defRPr>
            </a:lvl7pPr>
            <a:lvl8pPr marL="3429000" indent="-228600" eaLnBrk="0" fontAlgn="base" hangingPunct="0">
              <a:spcBef>
                <a:spcPct val="0"/>
              </a:spcBef>
              <a:spcAft>
                <a:spcPct val="0"/>
              </a:spcAft>
              <a:defRPr sz="4400" b="1">
                <a:solidFill>
                  <a:schemeClr val="tx1"/>
                </a:solidFill>
                <a:latin typeface="Arial" charset="0"/>
              </a:defRPr>
            </a:lvl8pPr>
            <a:lvl9pPr marL="3886200" indent="-228600" eaLnBrk="0" fontAlgn="base" hangingPunct="0">
              <a:spcBef>
                <a:spcPct val="0"/>
              </a:spcBef>
              <a:spcAft>
                <a:spcPct val="0"/>
              </a:spcAft>
              <a:defRPr sz="4400" b="1">
                <a:solidFill>
                  <a:schemeClr val="tx1"/>
                </a:solidFill>
                <a:latin typeface="Arial" charset="0"/>
              </a:defRPr>
            </a:lvl9pPr>
          </a:lstStyle>
          <a:p>
            <a:pPr algn="ctr" eaLnBrk="1" hangingPunct="1">
              <a:spcBef>
                <a:spcPct val="50000"/>
              </a:spcBef>
            </a:pPr>
            <a:r>
              <a:rPr lang="en-US" sz="2000" dirty="0">
                <a:solidFill>
                  <a:srgbClr val="3333FF"/>
                </a:solidFill>
              </a:rPr>
              <a:t>Hypertext Transfer Protocol  (HTTP)</a:t>
            </a:r>
          </a:p>
        </p:txBody>
      </p:sp>
      <p:sp>
        <p:nvSpPr>
          <p:cNvPr id="22535" name="Text Box 9"/>
          <p:cNvSpPr txBox="1">
            <a:spLocks noChangeArrowheads="1"/>
          </p:cNvSpPr>
          <p:nvPr/>
        </p:nvSpPr>
        <p:spPr bwMode="auto">
          <a:xfrm>
            <a:off x="3124200" y="4419600"/>
            <a:ext cx="2286000" cy="707886"/>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4400" b="1">
                <a:solidFill>
                  <a:schemeClr val="tx1"/>
                </a:solidFill>
                <a:latin typeface="Arial" charset="0"/>
              </a:defRPr>
            </a:lvl1pPr>
            <a:lvl2pPr marL="742950" indent="-285750" eaLnBrk="0" hangingPunct="0">
              <a:defRPr sz="4400" b="1">
                <a:solidFill>
                  <a:schemeClr val="tx1"/>
                </a:solidFill>
                <a:latin typeface="Arial" charset="0"/>
              </a:defRPr>
            </a:lvl2pPr>
            <a:lvl3pPr marL="1143000" indent="-228600" eaLnBrk="0" hangingPunct="0">
              <a:defRPr sz="4400" b="1">
                <a:solidFill>
                  <a:schemeClr val="tx1"/>
                </a:solidFill>
                <a:latin typeface="Arial" charset="0"/>
              </a:defRPr>
            </a:lvl3pPr>
            <a:lvl4pPr marL="1600200" indent="-228600" eaLnBrk="0" hangingPunct="0">
              <a:defRPr sz="4400" b="1">
                <a:solidFill>
                  <a:schemeClr val="tx1"/>
                </a:solidFill>
                <a:latin typeface="Arial" charset="0"/>
              </a:defRPr>
            </a:lvl4pPr>
            <a:lvl5pPr marL="2057400" indent="-228600" eaLnBrk="0" hangingPunct="0">
              <a:defRPr sz="4400" b="1">
                <a:solidFill>
                  <a:schemeClr val="tx1"/>
                </a:solidFill>
                <a:latin typeface="Arial" charset="0"/>
              </a:defRPr>
            </a:lvl5pPr>
            <a:lvl6pPr marL="2514600" indent="-228600" eaLnBrk="0" fontAlgn="base" hangingPunct="0">
              <a:spcBef>
                <a:spcPct val="0"/>
              </a:spcBef>
              <a:spcAft>
                <a:spcPct val="0"/>
              </a:spcAft>
              <a:defRPr sz="4400" b="1">
                <a:solidFill>
                  <a:schemeClr val="tx1"/>
                </a:solidFill>
                <a:latin typeface="Arial" charset="0"/>
              </a:defRPr>
            </a:lvl6pPr>
            <a:lvl7pPr marL="2971800" indent="-228600" eaLnBrk="0" fontAlgn="base" hangingPunct="0">
              <a:spcBef>
                <a:spcPct val="0"/>
              </a:spcBef>
              <a:spcAft>
                <a:spcPct val="0"/>
              </a:spcAft>
              <a:defRPr sz="4400" b="1">
                <a:solidFill>
                  <a:schemeClr val="tx1"/>
                </a:solidFill>
                <a:latin typeface="Arial" charset="0"/>
              </a:defRPr>
            </a:lvl7pPr>
            <a:lvl8pPr marL="3429000" indent="-228600" eaLnBrk="0" fontAlgn="base" hangingPunct="0">
              <a:spcBef>
                <a:spcPct val="0"/>
              </a:spcBef>
              <a:spcAft>
                <a:spcPct val="0"/>
              </a:spcAft>
              <a:defRPr sz="4400" b="1">
                <a:solidFill>
                  <a:schemeClr val="tx1"/>
                </a:solidFill>
                <a:latin typeface="Arial" charset="0"/>
              </a:defRPr>
            </a:lvl8pPr>
            <a:lvl9pPr marL="3886200" indent="-228600" eaLnBrk="0" fontAlgn="base" hangingPunct="0">
              <a:spcBef>
                <a:spcPct val="0"/>
              </a:spcBef>
              <a:spcAft>
                <a:spcPct val="0"/>
              </a:spcAft>
              <a:defRPr sz="4400" b="1">
                <a:solidFill>
                  <a:schemeClr val="tx1"/>
                </a:solidFill>
                <a:latin typeface="Arial" charset="0"/>
              </a:defRPr>
            </a:lvl9pPr>
          </a:lstStyle>
          <a:p>
            <a:pPr algn="ctr" eaLnBrk="1" hangingPunct="1">
              <a:spcBef>
                <a:spcPct val="50000"/>
              </a:spcBef>
            </a:pPr>
            <a:r>
              <a:rPr lang="en-US" sz="2000" dirty="0">
                <a:solidFill>
                  <a:srgbClr val="3333FF"/>
                </a:solidFill>
              </a:rPr>
              <a:t>Network Domain (domain name)</a:t>
            </a:r>
          </a:p>
        </p:txBody>
      </p:sp>
      <p:sp>
        <p:nvSpPr>
          <p:cNvPr id="22536" name="Text Box 10"/>
          <p:cNvSpPr txBox="1">
            <a:spLocks noChangeArrowheads="1"/>
          </p:cNvSpPr>
          <p:nvPr/>
        </p:nvSpPr>
        <p:spPr bwMode="auto">
          <a:xfrm>
            <a:off x="6553200" y="4343400"/>
            <a:ext cx="1600200" cy="707886"/>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4400" b="1">
                <a:solidFill>
                  <a:schemeClr val="tx1"/>
                </a:solidFill>
                <a:latin typeface="Arial" charset="0"/>
              </a:defRPr>
            </a:lvl1pPr>
            <a:lvl2pPr marL="742950" indent="-285750" eaLnBrk="0" hangingPunct="0">
              <a:defRPr sz="4400" b="1">
                <a:solidFill>
                  <a:schemeClr val="tx1"/>
                </a:solidFill>
                <a:latin typeface="Arial" charset="0"/>
              </a:defRPr>
            </a:lvl2pPr>
            <a:lvl3pPr marL="1143000" indent="-228600" eaLnBrk="0" hangingPunct="0">
              <a:defRPr sz="4400" b="1">
                <a:solidFill>
                  <a:schemeClr val="tx1"/>
                </a:solidFill>
                <a:latin typeface="Arial" charset="0"/>
              </a:defRPr>
            </a:lvl3pPr>
            <a:lvl4pPr marL="1600200" indent="-228600" eaLnBrk="0" hangingPunct="0">
              <a:defRPr sz="4400" b="1">
                <a:solidFill>
                  <a:schemeClr val="tx1"/>
                </a:solidFill>
                <a:latin typeface="Arial" charset="0"/>
              </a:defRPr>
            </a:lvl4pPr>
            <a:lvl5pPr marL="2057400" indent="-228600" eaLnBrk="0" hangingPunct="0">
              <a:defRPr sz="4400" b="1">
                <a:solidFill>
                  <a:schemeClr val="tx1"/>
                </a:solidFill>
                <a:latin typeface="Arial" charset="0"/>
              </a:defRPr>
            </a:lvl5pPr>
            <a:lvl6pPr marL="2514600" indent="-228600" eaLnBrk="0" fontAlgn="base" hangingPunct="0">
              <a:spcBef>
                <a:spcPct val="0"/>
              </a:spcBef>
              <a:spcAft>
                <a:spcPct val="0"/>
              </a:spcAft>
              <a:defRPr sz="4400" b="1">
                <a:solidFill>
                  <a:schemeClr val="tx1"/>
                </a:solidFill>
                <a:latin typeface="Arial" charset="0"/>
              </a:defRPr>
            </a:lvl6pPr>
            <a:lvl7pPr marL="2971800" indent="-228600" eaLnBrk="0" fontAlgn="base" hangingPunct="0">
              <a:spcBef>
                <a:spcPct val="0"/>
              </a:spcBef>
              <a:spcAft>
                <a:spcPct val="0"/>
              </a:spcAft>
              <a:defRPr sz="4400" b="1">
                <a:solidFill>
                  <a:schemeClr val="tx1"/>
                </a:solidFill>
                <a:latin typeface="Arial" charset="0"/>
              </a:defRPr>
            </a:lvl7pPr>
            <a:lvl8pPr marL="3429000" indent="-228600" eaLnBrk="0" fontAlgn="base" hangingPunct="0">
              <a:spcBef>
                <a:spcPct val="0"/>
              </a:spcBef>
              <a:spcAft>
                <a:spcPct val="0"/>
              </a:spcAft>
              <a:defRPr sz="4400" b="1">
                <a:solidFill>
                  <a:schemeClr val="tx1"/>
                </a:solidFill>
                <a:latin typeface="Arial" charset="0"/>
              </a:defRPr>
            </a:lvl8pPr>
            <a:lvl9pPr marL="3886200" indent="-228600" eaLnBrk="0" fontAlgn="base" hangingPunct="0">
              <a:spcBef>
                <a:spcPct val="0"/>
              </a:spcBef>
              <a:spcAft>
                <a:spcPct val="0"/>
              </a:spcAft>
              <a:defRPr sz="4400" b="1">
                <a:solidFill>
                  <a:schemeClr val="tx1"/>
                </a:solidFill>
                <a:latin typeface="Arial" charset="0"/>
              </a:defRPr>
            </a:lvl9pPr>
          </a:lstStyle>
          <a:p>
            <a:pPr algn="ctr" eaLnBrk="1" hangingPunct="1">
              <a:spcBef>
                <a:spcPct val="50000"/>
              </a:spcBef>
            </a:pPr>
            <a:r>
              <a:rPr lang="en-US" sz="2000" dirty="0">
                <a:solidFill>
                  <a:srgbClr val="3333FF"/>
                </a:solidFill>
              </a:rPr>
              <a:t>Filename  (path)</a:t>
            </a:r>
          </a:p>
        </p:txBody>
      </p:sp>
      <p:sp>
        <p:nvSpPr>
          <p:cNvPr id="22537" name="Line 11"/>
          <p:cNvSpPr>
            <a:spLocks noChangeShapeType="1"/>
          </p:cNvSpPr>
          <p:nvPr/>
        </p:nvSpPr>
        <p:spPr bwMode="auto">
          <a:xfrm flipV="1">
            <a:off x="1219200" y="4419600"/>
            <a:ext cx="228600" cy="228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2538" name="Line 12"/>
          <p:cNvSpPr>
            <a:spLocks noChangeShapeType="1"/>
          </p:cNvSpPr>
          <p:nvPr/>
        </p:nvSpPr>
        <p:spPr bwMode="auto">
          <a:xfrm flipV="1">
            <a:off x="1295400" y="3962400"/>
            <a:ext cx="4572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2539" name="AutoShape 14"/>
          <p:cNvSpPr>
            <a:spLocks/>
          </p:cNvSpPr>
          <p:nvPr/>
        </p:nvSpPr>
        <p:spPr bwMode="auto">
          <a:xfrm rot="5400000" flipH="1">
            <a:off x="3575050" y="3041650"/>
            <a:ext cx="165100" cy="1981200"/>
          </a:xfrm>
          <a:prstGeom prst="leftBrace">
            <a:avLst>
              <a:gd name="adj1" fmla="val 100000"/>
              <a:gd name="adj2" fmla="val 49838"/>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0" name="Line 15"/>
          <p:cNvSpPr>
            <a:spLocks noChangeShapeType="1"/>
          </p:cNvSpPr>
          <p:nvPr/>
        </p:nvSpPr>
        <p:spPr bwMode="auto">
          <a:xfrm flipH="1" flipV="1">
            <a:off x="7010400" y="3886200"/>
            <a:ext cx="304800" cy="381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extLst>
      <p:ext uri="{BB962C8B-B14F-4D97-AF65-F5344CB8AC3E}">
        <p14:creationId xmlns:p14="http://schemas.microsoft.com/office/powerpoint/2010/main" val="3424321393"/>
      </p:ext>
    </p:extLst>
  </p:cSld>
  <p:clrMapOvr>
    <a:masterClrMapping/>
  </p:clrMapOvr>
  <p:transition advTm="600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Protocols</a:t>
            </a:r>
            <a:endParaRPr lang="en-US" dirty="0"/>
          </a:p>
        </p:txBody>
      </p:sp>
      <p:sp>
        <p:nvSpPr>
          <p:cNvPr id="3" name="Content Placeholder 2"/>
          <p:cNvSpPr>
            <a:spLocks noGrp="1"/>
          </p:cNvSpPr>
          <p:nvPr>
            <p:ph idx="1"/>
          </p:nvPr>
        </p:nvSpPr>
        <p:spPr/>
        <p:txBody>
          <a:bodyPr>
            <a:normAutofit fontScale="85000" lnSpcReduction="20000"/>
          </a:bodyPr>
          <a:lstStyle/>
          <a:p>
            <a:pPr algn="just">
              <a:defRPr/>
            </a:pPr>
            <a:r>
              <a:rPr lang="en-US" dirty="0"/>
              <a:t>A set of rules that enable two devices to connect and transmit data to one another. </a:t>
            </a:r>
          </a:p>
          <a:p>
            <a:pPr algn="just">
              <a:defRPr/>
            </a:pPr>
            <a:r>
              <a:rPr lang="en-US" dirty="0"/>
              <a:t>A computer language allowing computers that are connected to each other to communicate </a:t>
            </a:r>
          </a:p>
          <a:p>
            <a:pPr algn="just">
              <a:defRPr/>
            </a:pPr>
            <a:r>
              <a:rPr lang="en-US" dirty="0"/>
              <a:t>Protocols determine how data is transmitted between computing devices and over networks.</a:t>
            </a:r>
            <a:endParaRPr lang="en-US" b="1" dirty="0">
              <a:cs typeface="Times New Roman" pitchFamily="18" charset="0"/>
            </a:endParaRPr>
          </a:p>
          <a:p>
            <a:pPr marL="82296" indent="0" algn="just">
              <a:buNone/>
              <a:defRPr/>
            </a:pPr>
            <a:r>
              <a:rPr lang="en-US" b="1" dirty="0">
                <a:cs typeface="Times New Roman" pitchFamily="18" charset="0"/>
              </a:rPr>
              <a:t>TCP /IP</a:t>
            </a:r>
          </a:p>
          <a:p>
            <a:pPr algn="just">
              <a:defRPr/>
            </a:pPr>
            <a:r>
              <a:rPr lang="en-US" dirty="0">
                <a:cs typeface="Times New Roman" pitchFamily="18" charset="0"/>
              </a:rPr>
              <a:t>i)Transmission Control Protocol.  </a:t>
            </a:r>
          </a:p>
          <a:p>
            <a:pPr lvl="1" algn="just">
              <a:buFont typeface="Wingdings" pitchFamily="2" charset="2"/>
              <a:buChar char="Ø"/>
              <a:defRPr/>
            </a:pPr>
            <a:r>
              <a:rPr lang="en-US" dirty="0">
                <a:cs typeface="Times New Roman" pitchFamily="18" charset="0"/>
              </a:rPr>
              <a:t>This is the standard protocol computers utilize to communicate with one another over a network.</a:t>
            </a:r>
          </a:p>
          <a:p>
            <a:pPr algn="just">
              <a:defRPr/>
            </a:pPr>
            <a:r>
              <a:rPr lang="en-US" dirty="0">
                <a:cs typeface="Times New Roman" pitchFamily="18" charset="0"/>
              </a:rPr>
              <a:t>ii) Internet Protocol</a:t>
            </a:r>
          </a:p>
          <a:p>
            <a:pPr lvl="1" algn="just">
              <a:buFont typeface="Wingdings" pitchFamily="2" charset="2"/>
              <a:buChar char="Ø"/>
              <a:defRPr/>
            </a:pPr>
            <a:r>
              <a:rPr lang="en-US" dirty="0">
                <a:cs typeface="Times New Roman" pitchFamily="18" charset="0"/>
              </a:rPr>
              <a:t>This a protocol that enable computers to identify each other over the Internet</a:t>
            </a:r>
          </a:p>
          <a:p>
            <a:endParaRPr lang="en-US" dirty="0"/>
          </a:p>
        </p:txBody>
      </p:sp>
    </p:spTree>
    <p:extLst>
      <p:ext uri="{BB962C8B-B14F-4D97-AF65-F5344CB8AC3E}">
        <p14:creationId xmlns:p14="http://schemas.microsoft.com/office/powerpoint/2010/main" val="2912813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914400"/>
            <a:ext cx="7498080" cy="5334000"/>
          </a:xfrm>
        </p:spPr>
        <p:txBody>
          <a:bodyPr>
            <a:normAutofit fontScale="85000" lnSpcReduction="20000"/>
          </a:bodyPr>
          <a:lstStyle/>
          <a:p>
            <a:pPr marL="457200" indent="-457200">
              <a:defRPr/>
            </a:pPr>
            <a:r>
              <a:rPr lang="en-US" sz="2800" b="1" dirty="0">
                <a:cs typeface="Times New Roman" pitchFamily="18" charset="0"/>
              </a:rPr>
              <a:t>HTTP</a:t>
            </a:r>
            <a:r>
              <a:rPr lang="en-US" sz="2800" dirty="0">
                <a:cs typeface="Times New Roman" pitchFamily="18" charset="0"/>
              </a:rPr>
              <a:t> </a:t>
            </a:r>
            <a:r>
              <a:rPr lang="en-US" sz="2800" dirty="0"/>
              <a:t>–</a:t>
            </a:r>
            <a:r>
              <a:rPr lang="en-US" sz="2800" dirty="0">
                <a:cs typeface="Times New Roman" pitchFamily="18" charset="0"/>
              </a:rPr>
              <a:t> Hypertext Transfer Protocol </a:t>
            </a:r>
          </a:p>
          <a:p>
            <a:pPr marL="731520" lvl="1" indent="-457200">
              <a:defRPr/>
            </a:pPr>
            <a:r>
              <a:rPr lang="en-US" sz="2400" dirty="0"/>
              <a:t>HTTP is the set of rules for transferring files (text, graphic images, sound, video, and other multimedia files) on the World Wide Web.</a:t>
            </a:r>
            <a:endParaRPr lang="en-US" sz="2400" dirty="0">
              <a:cs typeface="Times New Roman" pitchFamily="18" charset="0"/>
            </a:endParaRPr>
          </a:p>
          <a:p>
            <a:pPr marL="731520" lvl="1" indent="-457200">
              <a:defRPr/>
            </a:pPr>
            <a:r>
              <a:rPr lang="en-US" sz="2400" dirty="0">
                <a:cs typeface="Times New Roman" pitchFamily="18" charset="0"/>
              </a:rPr>
              <a:t>A protocol for informing web browsers how to display information found on a particular webpage.</a:t>
            </a:r>
          </a:p>
          <a:p>
            <a:pPr marL="731520" lvl="1" indent="-457200">
              <a:defRPr/>
            </a:pPr>
            <a:r>
              <a:rPr lang="en-US" sz="2400" dirty="0"/>
              <a:t>The main protocol used by the World Wide Web to define how messages are formatted and transmitted.</a:t>
            </a:r>
            <a:endParaRPr lang="en-US" sz="2400" dirty="0">
              <a:cs typeface="Times New Roman" pitchFamily="18" charset="0"/>
            </a:endParaRPr>
          </a:p>
          <a:p>
            <a:pPr marL="731520" lvl="1" indent="-457200">
              <a:defRPr/>
            </a:pPr>
            <a:r>
              <a:rPr lang="en-US" sz="2400" dirty="0">
                <a:cs typeface="Times New Roman" pitchFamily="18" charset="0"/>
              </a:rPr>
              <a:t>All Web Pages on World Wide Web use HTTP, making them accessible to all other Web computers.</a:t>
            </a:r>
            <a:endParaRPr lang="en-US" sz="2400" b="1" dirty="0"/>
          </a:p>
          <a:p>
            <a:pPr>
              <a:defRPr/>
            </a:pPr>
            <a:r>
              <a:rPr lang="en-US" sz="2800" b="1" dirty="0"/>
              <a:t>FTP</a:t>
            </a:r>
            <a:r>
              <a:rPr lang="en-US" sz="2800" dirty="0"/>
              <a:t> –  </a:t>
            </a:r>
            <a:r>
              <a:rPr lang="en-US" sz="2800" dirty="0">
                <a:cs typeface="Times New Roman" pitchFamily="18" charset="0"/>
              </a:rPr>
              <a:t>File Transfer Protocol</a:t>
            </a:r>
            <a:r>
              <a:rPr lang="en-US" sz="2400" dirty="0">
                <a:cs typeface="Times New Roman" pitchFamily="18" charset="0"/>
              </a:rPr>
              <a:t>. </a:t>
            </a:r>
          </a:p>
          <a:p>
            <a:pPr lvl="1">
              <a:defRPr/>
            </a:pPr>
            <a:r>
              <a:rPr lang="en-US" sz="2600" dirty="0">
                <a:cs typeface="Times New Roman" pitchFamily="18" charset="0"/>
              </a:rPr>
              <a:t>This is a protocol computers use to send files to one another. </a:t>
            </a:r>
          </a:p>
          <a:p>
            <a:pPr lvl="1">
              <a:defRPr/>
            </a:pPr>
            <a:r>
              <a:rPr lang="en-US" sz="2600" dirty="0">
                <a:cs typeface="Times New Roman" pitchFamily="18" charset="0"/>
              </a:rPr>
              <a:t>You may either upload or download files using FTP</a:t>
            </a:r>
          </a:p>
          <a:p>
            <a:pPr lvl="2">
              <a:defRPr/>
            </a:pPr>
            <a:r>
              <a:rPr lang="en-US" sz="2200" b="1" dirty="0"/>
              <a:t>Upload</a:t>
            </a:r>
            <a:r>
              <a:rPr lang="en-US" sz="2200" dirty="0"/>
              <a:t> –  To forward a file to a server for later access over the Internet.</a:t>
            </a:r>
          </a:p>
          <a:p>
            <a:pPr lvl="2">
              <a:defRPr/>
            </a:pPr>
            <a:r>
              <a:rPr lang="en-US" sz="2200" b="1" dirty="0"/>
              <a:t>Download</a:t>
            </a:r>
            <a:r>
              <a:rPr lang="en-US" sz="2200" dirty="0"/>
              <a:t> – To copy a file from an Internet server to recordable media, such as a hard drive, CD, DVD or flash disk.</a:t>
            </a:r>
          </a:p>
        </p:txBody>
      </p:sp>
      <p:sp>
        <p:nvSpPr>
          <p:cNvPr id="4" name="Title 3"/>
          <p:cNvSpPr>
            <a:spLocks noGrp="1"/>
          </p:cNvSpPr>
          <p:nvPr>
            <p:ph type="title"/>
          </p:nvPr>
        </p:nvSpPr>
        <p:spPr>
          <a:xfrm>
            <a:off x="1435608" y="274638"/>
            <a:ext cx="7498080" cy="563562"/>
          </a:xfrm>
        </p:spPr>
        <p:txBody>
          <a:bodyPr>
            <a:normAutofit fontScale="90000"/>
          </a:bodyPr>
          <a:lstStyle/>
          <a:p>
            <a:r>
              <a:rPr lang="en-US" dirty="0"/>
              <a:t>Protocols</a:t>
            </a:r>
            <a:endParaRPr lang="en-GB" dirty="0"/>
          </a:p>
        </p:txBody>
      </p:sp>
    </p:spTree>
    <p:extLst>
      <p:ext uri="{BB962C8B-B14F-4D97-AF65-F5344CB8AC3E}">
        <p14:creationId xmlns:p14="http://schemas.microsoft.com/office/powerpoint/2010/main" val="1549777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914400"/>
            <a:ext cx="6946392" cy="5334000"/>
          </a:xfrm>
        </p:spPr>
        <p:txBody>
          <a:bodyPr/>
          <a:lstStyle/>
          <a:p>
            <a:r>
              <a:rPr lang="en-US" dirty="0"/>
              <a:t>Protocols involved in sending and receiving emails:</a:t>
            </a:r>
          </a:p>
          <a:p>
            <a:pPr lvl="1">
              <a:defRPr/>
            </a:pPr>
            <a:r>
              <a:rPr lang="en-US" dirty="0"/>
              <a:t>Post Office Protocol 3 (POP3)</a:t>
            </a:r>
          </a:p>
          <a:p>
            <a:pPr lvl="1">
              <a:defRPr/>
            </a:pPr>
            <a:r>
              <a:rPr lang="en-US" dirty="0"/>
              <a:t>Internet Message Access Protocol (IMAP)</a:t>
            </a:r>
          </a:p>
          <a:p>
            <a:pPr lvl="1">
              <a:defRPr/>
            </a:pPr>
            <a:r>
              <a:rPr lang="en-US" dirty="0"/>
              <a:t>Simple Mail Transfer Protocol (SMTP)</a:t>
            </a:r>
          </a:p>
          <a:p>
            <a:pPr lvl="1"/>
            <a:endParaRPr lang="en-GB" dirty="0"/>
          </a:p>
        </p:txBody>
      </p:sp>
    </p:spTree>
    <p:extLst>
      <p:ext uri="{BB962C8B-B14F-4D97-AF65-F5344CB8AC3E}">
        <p14:creationId xmlns:p14="http://schemas.microsoft.com/office/powerpoint/2010/main" val="1983331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pPr eaLnBrk="1" hangingPunct="1">
              <a:defRPr/>
            </a:pPr>
            <a:r>
              <a:rPr lang="en-US" sz="3200" dirty="0"/>
              <a:t>Web Browsers: Microsoft Internet Explorer</a:t>
            </a:r>
          </a:p>
        </p:txBody>
      </p:sp>
      <p:sp>
        <p:nvSpPr>
          <p:cNvPr id="20483" name="Rectangle 3"/>
          <p:cNvSpPr>
            <a:spLocks noGrp="1" noChangeArrowheads="1"/>
          </p:cNvSpPr>
          <p:nvPr>
            <p:ph type="body" idx="1"/>
          </p:nvPr>
        </p:nvSpPr>
        <p:spPr/>
        <p:txBody>
          <a:bodyPr>
            <a:normAutofit/>
          </a:bodyPr>
          <a:lstStyle/>
          <a:p>
            <a:pPr eaLnBrk="1" hangingPunct="1">
              <a:lnSpc>
                <a:spcPct val="90000"/>
              </a:lnSpc>
              <a:defRPr/>
            </a:pPr>
            <a:r>
              <a:rPr lang="en-US" sz="2400" dirty="0"/>
              <a:t>Microsoft Internet Explorer is the one example of web browser. </a:t>
            </a:r>
          </a:p>
          <a:p>
            <a:pPr eaLnBrk="1" hangingPunct="1">
              <a:lnSpc>
                <a:spcPct val="90000"/>
              </a:lnSpc>
              <a:defRPr/>
            </a:pPr>
            <a:r>
              <a:rPr lang="en-US" sz="2400" dirty="0"/>
              <a:t>It comes with windows operating system.</a:t>
            </a:r>
          </a:p>
          <a:p>
            <a:pPr eaLnBrk="1" hangingPunct="1">
              <a:lnSpc>
                <a:spcPct val="90000"/>
              </a:lnSpc>
              <a:defRPr/>
            </a:pPr>
            <a:r>
              <a:rPr lang="en-US" sz="2400" dirty="0"/>
              <a:t>When you start Internet Explorer, Internet Explorer’s main browser window opens automatically</a:t>
            </a:r>
          </a:p>
          <a:p>
            <a:pPr eaLnBrk="1" hangingPunct="1">
              <a:lnSpc>
                <a:spcPct val="90000"/>
              </a:lnSpc>
              <a:defRPr/>
            </a:pPr>
            <a:r>
              <a:rPr lang="en-US" sz="2400" dirty="0"/>
              <a:t>To display a web page you want, you need to know the website address of the web page you want to view</a:t>
            </a:r>
          </a:p>
        </p:txBody>
      </p:sp>
    </p:spTree>
    <p:extLst>
      <p:ext uri="{BB962C8B-B14F-4D97-AF65-F5344CB8AC3E}">
        <p14:creationId xmlns:p14="http://schemas.microsoft.com/office/powerpoint/2010/main" val="3086743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defRPr/>
            </a:pPr>
            <a:r>
              <a:rPr lang="en-US" dirty="0"/>
              <a:t>Microsoft Page</a:t>
            </a:r>
          </a:p>
        </p:txBody>
      </p:sp>
      <p:pic>
        <p:nvPicPr>
          <p:cNvPr id="44035" name="Picture 4"/>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447800" y="1600200"/>
            <a:ext cx="7239000" cy="4800600"/>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473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Autofit/>
          </a:bodyPr>
          <a:lstStyle/>
          <a:p>
            <a:r>
              <a:rPr lang="en-US" sz="2800" dirty="0"/>
              <a:t>Getting Started with Microsoft Internet Explorer</a:t>
            </a:r>
          </a:p>
        </p:txBody>
      </p:sp>
      <p:sp>
        <p:nvSpPr>
          <p:cNvPr id="9219" name="Content Placeholder 2"/>
          <p:cNvSpPr>
            <a:spLocks noGrp="1"/>
          </p:cNvSpPr>
          <p:nvPr>
            <p:ph idx="1"/>
          </p:nvPr>
        </p:nvSpPr>
        <p:spPr>
          <a:xfrm>
            <a:off x="1435608" y="1447800"/>
            <a:ext cx="7498080" cy="5029200"/>
          </a:xfrm>
        </p:spPr>
        <p:txBody>
          <a:bodyPr>
            <a:normAutofit/>
          </a:bodyPr>
          <a:lstStyle/>
          <a:p>
            <a:r>
              <a:rPr lang="en-US" sz="2000" dirty="0"/>
              <a:t>Click the </a:t>
            </a:r>
            <a:r>
              <a:rPr lang="en-US" sz="2000" b="1" dirty="0"/>
              <a:t>Start button</a:t>
            </a:r>
            <a:r>
              <a:rPr lang="en-US" sz="2000" dirty="0"/>
              <a:t> on the taskbar, and then click</a:t>
            </a:r>
            <a:r>
              <a:rPr lang="en-US" sz="2000" b="1" dirty="0"/>
              <a:t> Internet Explorer</a:t>
            </a:r>
            <a:endParaRPr lang="en-US" sz="2000" dirty="0"/>
          </a:p>
        </p:txBody>
      </p:sp>
      <p:pic>
        <p:nvPicPr>
          <p:cNvPr id="9222" name="Picture 2"/>
          <p:cNvPicPr>
            <a:picLocks noChangeAspect="1" noChangeArrowheads="1"/>
          </p:cNvPicPr>
          <p:nvPr/>
        </p:nvPicPr>
        <p:blipFill>
          <a:blip r:embed="rId2">
            <a:clrChange>
              <a:clrFrom>
                <a:srgbClr val="F5EDD5"/>
              </a:clrFrom>
              <a:clrTo>
                <a:srgbClr val="F5EDD5">
                  <a:alpha val="0"/>
                </a:srgbClr>
              </a:clrTo>
            </a:clrChange>
            <a:extLst>
              <a:ext uri="{28A0092B-C50C-407E-A947-70E740481C1C}">
                <a14:useLocalDpi xmlns:a14="http://schemas.microsoft.com/office/drawing/2010/main" val="0"/>
              </a:ext>
            </a:extLst>
          </a:blip>
          <a:srcRect/>
          <a:stretch>
            <a:fillRect/>
          </a:stretch>
        </p:blipFill>
        <p:spPr bwMode="auto">
          <a:xfrm>
            <a:off x="1600200" y="2286000"/>
            <a:ext cx="6781800"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352984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extLst>
            <a:ext uri="{909E8E84-426E-40DD-AFC4-6F175D3DCCD1}">
              <a14:hiddenFill xmlns:a14="http://schemas.microsoft.com/office/drawing/2010/main">
                <a:solidFill>
                  <a:schemeClr val="bg2"/>
                </a:solidFill>
              </a14:hiddenFill>
            </a:ext>
          </a:extLst>
        </p:spPr>
        <p:txBody>
          <a:bodyPr/>
          <a:lstStyle/>
          <a:p>
            <a:pPr eaLnBrk="1" hangingPunct="1"/>
            <a:r>
              <a:rPr lang="en-US"/>
              <a:t>How to Access Web Pages</a:t>
            </a:r>
          </a:p>
        </p:txBody>
      </p:sp>
      <p:sp>
        <p:nvSpPr>
          <p:cNvPr id="129027" name="Rectangle 3"/>
          <p:cNvSpPr>
            <a:spLocks noGrp="1" noChangeArrowheads="1"/>
          </p:cNvSpPr>
          <p:nvPr>
            <p:ph type="body" idx="1"/>
          </p:nvPr>
        </p:nvSpPr>
        <p:spPr/>
        <p:txBody>
          <a:bodyPr/>
          <a:lstStyle/>
          <a:p>
            <a:pPr marL="609600" indent="-609600" eaLnBrk="1" hangingPunct="1">
              <a:buFontTx/>
              <a:buNone/>
            </a:pPr>
            <a:r>
              <a:rPr lang="en-US" dirty="0"/>
              <a:t>Three ways to access Web pages:</a:t>
            </a:r>
          </a:p>
          <a:p>
            <a:pPr marL="457200" indent="-457200"/>
            <a:r>
              <a:rPr lang="en-US" sz="2800" dirty="0"/>
              <a:t>Type the Uniform Resource Locator (URL) in the address box.</a:t>
            </a:r>
          </a:p>
          <a:p>
            <a:pPr marL="457200" indent="-457200"/>
            <a:r>
              <a:rPr lang="en-US" sz="2800" dirty="0"/>
              <a:t>Click on hyperlinks on a web page.</a:t>
            </a:r>
          </a:p>
          <a:p>
            <a:pPr marL="457200" indent="-457200"/>
            <a:r>
              <a:rPr lang="en-US" sz="2800" dirty="0"/>
              <a:t>Use a search tool such as search engine or web directory. </a:t>
            </a:r>
          </a:p>
        </p:txBody>
      </p:sp>
    </p:spTree>
    <p:extLst>
      <p:ext uri="{BB962C8B-B14F-4D97-AF65-F5344CB8AC3E}">
        <p14:creationId xmlns:p14="http://schemas.microsoft.com/office/powerpoint/2010/main" val="1916446485"/>
      </p:ext>
    </p:extLst>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129027">
                                            <p:txEl>
                                              <p:pRg st="1" end="1"/>
                                            </p:txEl>
                                          </p:spTgt>
                                        </p:tgtEl>
                                        <p:attrNameLst>
                                          <p:attrName>style.visibility</p:attrName>
                                        </p:attrNameLst>
                                      </p:cBhvr>
                                      <p:to>
                                        <p:strVal val="visible"/>
                                      </p:to>
                                    </p:set>
                                    <p:anim calcmode="lin" valueType="num">
                                      <p:cBhvr additive="base">
                                        <p:cTn id="7" dur="2000" fill="hold"/>
                                        <p:tgtEl>
                                          <p:spTgt spid="129027">
                                            <p:txEl>
                                              <p:pRg st="1" end="1"/>
                                            </p:txEl>
                                          </p:spTgt>
                                        </p:tgtEl>
                                        <p:attrNameLst>
                                          <p:attrName>ppt_x</p:attrName>
                                        </p:attrNameLst>
                                      </p:cBhvr>
                                      <p:tavLst>
                                        <p:tav tm="0">
                                          <p:val>
                                            <p:strVal val="0-#ppt_w/2"/>
                                          </p:val>
                                        </p:tav>
                                        <p:tav tm="100000">
                                          <p:val>
                                            <p:strVal val="#ppt_x"/>
                                          </p:val>
                                        </p:tav>
                                      </p:tavLst>
                                    </p:anim>
                                    <p:anim calcmode="lin" valueType="num">
                                      <p:cBhvr additive="base">
                                        <p:cTn id="8" dur="2000" fill="hold"/>
                                        <p:tgtEl>
                                          <p:spTgt spid="129027">
                                            <p:txEl>
                                              <p:pRg st="1" end="1"/>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2000"/>
                            </p:stCondLst>
                            <p:childTnLst>
                              <p:par>
                                <p:cTn id="10" presetID="2" presetClass="entr" presetSubtype="8" fill="hold" nodeType="afterEffect">
                                  <p:stCondLst>
                                    <p:cond delay="0"/>
                                  </p:stCondLst>
                                  <p:childTnLst>
                                    <p:set>
                                      <p:cBhvr>
                                        <p:cTn id="11" dur="1" fill="hold">
                                          <p:stCondLst>
                                            <p:cond delay="0"/>
                                          </p:stCondLst>
                                        </p:cTn>
                                        <p:tgtEl>
                                          <p:spTgt spid="129027">
                                            <p:txEl>
                                              <p:pRg st="2" end="2"/>
                                            </p:txEl>
                                          </p:spTgt>
                                        </p:tgtEl>
                                        <p:attrNameLst>
                                          <p:attrName>style.visibility</p:attrName>
                                        </p:attrNameLst>
                                      </p:cBhvr>
                                      <p:to>
                                        <p:strVal val="visible"/>
                                      </p:to>
                                    </p:set>
                                    <p:anim calcmode="lin" valueType="num">
                                      <p:cBhvr additive="base">
                                        <p:cTn id="12" dur="2000" fill="hold"/>
                                        <p:tgtEl>
                                          <p:spTgt spid="129027">
                                            <p:txEl>
                                              <p:pRg st="2" end="2"/>
                                            </p:txEl>
                                          </p:spTgt>
                                        </p:tgtEl>
                                        <p:attrNameLst>
                                          <p:attrName>ppt_x</p:attrName>
                                        </p:attrNameLst>
                                      </p:cBhvr>
                                      <p:tavLst>
                                        <p:tav tm="0">
                                          <p:val>
                                            <p:strVal val="0-#ppt_w/2"/>
                                          </p:val>
                                        </p:tav>
                                        <p:tav tm="100000">
                                          <p:val>
                                            <p:strVal val="#ppt_x"/>
                                          </p:val>
                                        </p:tav>
                                      </p:tavLst>
                                    </p:anim>
                                    <p:anim calcmode="lin" valueType="num">
                                      <p:cBhvr additive="base">
                                        <p:cTn id="13" dur="2000" fill="hold"/>
                                        <p:tgtEl>
                                          <p:spTgt spid="129027">
                                            <p:txEl>
                                              <p:pRg st="2" end="2"/>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4000"/>
                            </p:stCondLst>
                            <p:childTnLst>
                              <p:par>
                                <p:cTn id="15" presetID="2" presetClass="entr" presetSubtype="8" fill="hold" nodeType="afterEffect">
                                  <p:stCondLst>
                                    <p:cond delay="0"/>
                                  </p:stCondLst>
                                  <p:childTnLst>
                                    <p:set>
                                      <p:cBhvr>
                                        <p:cTn id="16" dur="1" fill="hold">
                                          <p:stCondLst>
                                            <p:cond delay="0"/>
                                          </p:stCondLst>
                                        </p:cTn>
                                        <p:tgtEl>
                                          <p:spTgt spid="129027">
                                            <p:txEl>
                                              <p:pRg st="3" end="3"/>
                                            </p:txEl>
                                          </p:spTgt>
                                        </p:tgtEl>
                                        <p:attrNameLst>
                                          <p:attrName>style.visibility</p:attrName>
                                        </p:attrNameLst>
                                      </p:cBhvr>
                                      <p:to>
                                        <p:strVal val="visible"/>
                                      </p:to>
                                    </p:set>
                                    <p:anim calcmode="lin" valueType="num">
                                      <p:cBhvr additive="base">
                                        <p:cTn id="17" dur="2000" fill="hold"/>
                                        <p:tgtEl>
                                          <p:spTgt spid="129027">
                                            <p:txEl>
                                              <p:pRg st="3" end="3"/>
                                            </p:txEl>
                                          </p:spTgt>
                                        </p:tgtEl>
                                        <p:attrNameLst>
                                          <p:attrName>ppt_x</p:attrName>
                                        </p:attrNameLst>
                                      </p:cBhvr>
                                      <p:tavLst>
                                        <p:tav tm="0">
                                          <p:val>
                                            <p:strVal val="0-#ppt_w/2"/>
                                          </p:val>
                                        </p:tav>
                                        <p:tav tm="100000">
                                          <p:val>
                                            <p:strVal val="#ppt_x"/>
                                          </p:val>
                                        </p:tav>
                                      </p:tavLst>
                                    </p:anim>
                                    <p:anim calcmode="lin" valueType="num">
                                      <p:cBhvr additive="base">
                                        <p:cTn id="18" dur="2000" fill="hold"/>
                                        <p:tgtEl>
                                          <p:spTgt spid="12902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447800" y="274638"/>
            <a:ext cx="7239000" cy="1143000"/>
          </a:xfrm>
          <a:extLst>
            <a:ext uri="{909E8E84-426E-40DD-AFC4-6F175D3DCCD1}">
              <a14:hiddenFill xmlns:a14="http://schemas.microsoft.com/office/drawing/2010/main">
                <a:solidFill>
                  <a:schemeClr val="bg2"/>
                </a:solidFill>
              </a14:hiddenFill>
            </a:ext>
          </a:extLst>
        </p:spPr>
        <p:txBody>
          <a:bodyPr>
            <a:normAutofit/>
          </a:bodyPr>
          <a:lstStyle/>
          <a:p>
            <a:pPr eaLnBrk="1" hangingPunct="1"/>
            <a:r>
              <a:rPr lang="en-US" sz="3200" dirty="0"/>
              <a:t>How to Access Web Pages: Type the URL in the Address Box</a:t>
            </a:r>
          </a:p>
        </p:txBody>
      </p:sp>
      <p:sp>
        <p:nvSpPr>
          <p:cNvPr id="25603" name="Rectangle 3"/>
          <p:cNvSpPr>
            <a:spLocks noGrp="1" noChangeArrowheads="1"/>
          </p:cNvSpPr>
          <p:nvPr>
            <p:ph type="body" sz="half" idx="1"/>
          </p:nvPr>
        </p:nvSpPr>
        <p:spPr>
          <a:xfrm>
            <a:off x="1600200" y="1600200"/>
            <a:ext cx="7010400" cy="4525963"/>
          </a:xfrm>
          <a:extLst>
            <a:ext uri="{909E8E84-426E-40DD-AFC4-6F175D3DCCD1}">
              <a14:hiddenFill xmlns:a14="http://schemas.microsoft.com/office/drawing/2010/main">
                <a:solidFill>
                  <a:schemeClr val="bg2"/>
                </a:solidFill>
              </a14:hiddenFill>
            </a:ext>
          </a:extLst>
        </p:spPr>
        <p:txBody>
          <a:bodyPr/>
          <a:lstStyle/>
          <a:p>
            <a:pPr marL="609600" indent="-609600" eaLnBrk="1" hangingPunct="1"/>
            <a:r>
              <a:rPr lang="en-US" sz="2800" dirty="0"/>
              <a:t>Type the Uniform Resource Locator (web address) in the browser address box.</a:t>
            </a:r>
          </a:p>
          <a:p>
            <a:pPr marL="609600" indent="-609600" eaLnBrk="1" hangingPunct="1"/>
            <a:r>
              <a:rPr lang="en-US" sz="2800" dirty="0"/>
              <a:t>Click GO (or press ENTER key on the keyboard).</a:t>
            </a:r>
          </a:p>
          <a:p>
            <a:pPr marL="609600" indent="-609600" eaLnBrk="1" hangingPunct="1"/>
            <a:r>
              <a:rPr lang="en-US" sz="2800" dirty="0"/>
              <a:t>The URL must be correct (no misspellings, extra spaces, etc.) to go to the correct web page. </a:t>
            </a:r>
          </a:p>
        </p:txBody>
      </p:sp>
    </p:spTree>
    <p:extLst>
      <p:ext uri="{BB962C8B-B14F-4D97-AF65-F5344CB8AC3E}">
        <p14:creationId xmlns:p14="http://schemas.microsoft.com/office/powerpoint/2010/main" val="40569325"/>
      </p:ext>
    </p:extLst>
  </p:cSld>
  <p:clrMapOvr>
    <a:masterClrMapping/>
  </p:clrMapOvr>
  <p:transition advTm="600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435608" y="274638"/>
            <a:ext cx="7498080" cy="563562"/>
          </a:xfrm>
        </p:spPr>
        <p:txBody>
          <a:bodyPr>
            <a:normAutofit fontScale="90000"/>
          </a:bodyPr>
          <a:lstStyle/>
          <a:p>
            <a:r>
              <a:rPr lang="en-US" sz="3600" dirty="0"/>
              <a:t>Opening a Page on the Web</a:t>
            </a:r>
          </a:p>
        </p:txBody>
      </p:sp>
      <p:sp>
        <p:nvSpPr>
          <p:cNvPr id="3" name="Content Placeholder 2"/>
          <p:cNvSpPr>
            <a:spLocks noGrp="1"/>
          </p:cNvSpPr>
          <p:nvPr>
            <p:ph idx="1"/>
          </p:nvPr>
        </p:nvSpPr>
        <p:spPr>
          <a:xfrm>
            <a:off x="1435608" y="914400"/>
            <a:ext cx="7498080" cy="5334000"/>
          </a:xfrm>
        </p:spPr>
        <p:txBody>
          <a:bodyPr>
            <a:normAutofit/>
          </a:bodyPr>
          <a:lstStyle/>
          <a:p>
            <a:r>
              <a:rPr lang="en-US" sz="2800" dirty="0"/>
              <a:t>Use Back and Forward buttons to navigate through the pages you have visited</a:t>
            </a:r>
          </a:p>
          <a:p>
            <a:r>
              <a:rPr lang="en-US" sz="2800" dirty="0"/>
              <a:t>To open a Web page you visited in the last few days, use History list or Bookmarks.</a:t>
            </a:r>
          </a:p>
          <a:p>
            <a:r>
              <a:rPr lang="en-US" sz="2800" dirty="0"/>
              <a:t>To open a new Web page without closing the one you’re currently viewing, use tabbed browsing</a:t>
            </a:r>
          </a:p>
          <a:p>
            <a:pPr lvl="1"/>
            <a:r>
              <a:rPr lang="en-US" sz="2400" dirty="0"/>
              <a:t>If you have two or more tabs open, use Quick Tabs button to display a thumbnail of each Web page</a:t>
            </a:r>
          </a:p>
        </p:txBody>
      </p:sp>
    </p:spTree>
    <p:extLst>
      <p:ext uri="{BB962C8B-B14F-4D97-AF65-F5344CB8AC3E}">
        <p14:creationId xmlns:p14="http://schemas.microsoft.com/office/powerpoint/2010/main" val="1929135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435608" y="274638"/>
            <a:ext cx="7498080" cy="792162"/>
          </a:xfrm>
        </p:spPr>
        <p:txBody>
          <a:bodyPr>
            <a:normAutofit/>
          </a:bodyPr>
          <a:lstStyle/>
          <a:p>
            <a:pPr eaLnBrk="1" hangingPunct="1">
              <a:defRPr/>
            </a:pPr>
            <a:r>
              <a:rPr lang="en-US" sz="3600" dirty="0"/>
              <a:t>Changing Home Page</a:t>
            </a:r>
          </a:p>
        </p:txBody>
      </p:sp>
      <p:sp>
        <p:nvSpPr>
          <p:cNvPr id="23555" name="Rectangle 3"/>
          <p:cNvSpPr>
            <a:spLocks noGrp="1" noChangeArrowheads="1"/>
          </p:cNvSpPr>
          <p:nvPr>
            <p:ph type="body" idx="1"/>
          </p:nvPr>
        </p:nvSpPr>
        <p:spPr>
          <a:xfrm>
            <a:off x="1435608" y="990600"/>
            <a:ext cx="7498080" cy="5257800"/>
          </a:xfrm>
        </p:spPr>
        <p:txBody>
          <a:bodyPr>
            <a:normAutofit fontScale="92500" lnSpcReduction="10000"/>
          </a:bodyPr>
          <a:lstStyle/>
          <a:p>
            <a:pPr eaLnBrk="1" hangingPunct="1">
              <a:lnSpc>
                <a:spcPct val="80000"/>
              </a:lnSpc>
              <a:defRPr/>
            </a:pPr>
            <a:r>
              <a:rPr lang="en-US" sz="2800" dirty="0"/>
              <a:t>Home Page is the first page which appears every time you start Internet Explorer. </a:t>
            </a:r>
          </a:p>
          <a:p>
            <a:pPr eaLnBrk="1" hangingPunct="1">
              <a:lnSpc>
                <a:spcPct val="80000"/>
              </a:lnSpc>
              <a:defRPr/>
            </a:pPr>
            <a:r>
              <a:rPr lang="en-US" sz="2800" dirty="0"/>
              <a:t>You can display or even change your home page.</a:t>
            </a:r>
          </a:p>
          <a:p>
            <a:pPr eaLnBrk="1" hangingPunct="1">
              <a:lnSpc>
                <a:spcPct val="80000"/>
              </a:lnSpc>
              <a:defRPr/>
            </a:pPr>
            <a:r>
              <a:rPr lang="en-US" sz="2800" dirty="0"/>
              <a:t>To display the web page you want and set as your home page</a:t>
            </a:r>
          </a:p>
          <a:p>
            <a:pPr lvl="1">
              <a:lnSpc>
                <a:spcPct val="80000"/>
              </a:lnSpc>
              <a:defRPr/>
            </a:pPr>
            <a:r>
              <a:rPr lang="en-US" sz="2400" dirty="0"/>
              <a:t>Click on Tools in the menu bar. The Tools Menu will appear.</a:t>
            </a:r>
          </a:p>
          <a:p>
            <a:pPr lvl="1">
              <a:lnSpc>
                <a:spcPct val="80000"/>
              </a:lnSpc>
              <a:defRPr/>
            </a:pPr>
            <a:r>
              <a:rPr lang="en-US" sz="2400" dirty="0"/>
              <a:t>Click on Internet Options</a:t>
            </a:r>
          </a:p>
          <a:p>
            <a:pPr lvl="1">
              <a:lnSpc>
                <a:spcPct val="80000"/>
              </a:lnSpc>
              <a:defRPr/>
            </a:pPr>
            <a:r>
              <a:rPr lang="en-US" sz="2400" dirty="0"/>
              <a:t>Internet Options dialog box will appear</a:t>
            </a:r>
          </a:p>
          <a:p>
            <a:pPr lvl="1">
              <a:lnSpc>
                <a:spcPct val="80000"/>
              </a:lnSpc>
              <a:defRPr/>
            </a:pPr>
            <a:r>
              <a:rPr lang="en-US" sz="2800" dirty="0"/>
              <a:t>The page displays the address of your current home page</a:t>
            </a:r>
          </a:p>
          <a:p>
            <a:pPr lvl="1">
              <a:defRPr/>
            </a:pPr>
            <a:r>
              <a:rPr lang="en-US" dirty="0"/>
              <a:t>To set the web page displayed on your screen as your new home page, click on use current button</a:t>
            </a:r>
          </a:p>
          <a:p>
            <a:pPr lvl="1">
              <a:defRPr/>
            </a:pPr>
            <a:r>
              <a:rPr lang="en-US" dirty="0"/>
              <a:t>The address box displays the address of your new home page</a:t>
            </a:r>
          </a:p>
          <a:p>
            <a:pPr lvl="1">
              <a:defRPr/>
            </a:pPr>
            <a:r>
              <a:rPr lang="en-US" dirty="0"/>
              <a:t>Click on the OK button</a:t>
            </a:r>
          </a:p>
          <a:p>
            <a:pPr lvl="1">
              <a:lnSpc>
                <a:spcPct val="80000"/>
              </a:lnSpc>
              <a:defRPr/>
            </a:pPr>
            <a:endParaRPr lang="en-US" sz="2800" dirty="0"/>
          </a:p>
          <a:p>
            <a:pPr lvl="1">
              <a:lnSpc>
                <a:spcPct val="80000"/>
              </a:lnSpc>
              <a:defRPr/>
            </a:pPr>
            <a:endParaRPr lang="en-US" sz="2800" dirty="0"/>
          </a:p>
        </p:txBody>
      </p:sp>
    </p:spTree>
    <p:extLst>
      <p:ext uri="{BB962C8B-B14F-4D97-AF65-F5344CB8AC3E}">
        <p14:creationId xmlns:p14="http://schemas.microsoft.com/office/powerpoint/2010/main" val="4042289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(Electronic mail)</a:t>
            </a:r>
          </a:p>
        </p:txBody>
      </p:sp>
      <p:sp>
        <p:nvSpPr>
          <p:cNvPr id="3" name="Content Placeholder 2"/>
          <p:cNvSpPr>
            <a:spLocks noGrp="1"/>
          </p:cNvSpPr>
          <p:nvPr>
            <p:ph idx="1"/>
          </p:nvPr>
        </p:nvSpPr>
        <p:spPr/>
        <p:txBody>
          <a:bodyPr>
            <a:normAutofit fontScale="85000" lnSpcReduction="10000"/>
          </a:bodyPr>
          <a:lstStyle/>
          <a:p>
            <a:r>
              <a:rPr lang="en-US" dirty="0"/>
              <a:t>Email is a method of exchanging digital messages from an author to one or more recipients.</a:t>
            </a:r>
          </a:p>
          <a:p>
            <a:r>
              <a:rPr lang="en-US" dirty="0"/>
              <a:t>Email is like sending a letter, only you send the message over the internet and it gets to the other person's email account within seconds.</a:t>
            </a:r>
          </a:p>
          <a:p>
            <a:r>
              <a:rPr lang="en-US" dirty="0"/>
              <a:t>If you have an email address, you can email anyone else who has an email address.</a:t>
            </a:r>
          </a:p>
          <a:p>
            <a:r>
              <a:rPr lang="en-US" dirty="0"/>
              <a:t>Once you've got an email account, you can store your emails on the internet, or store them on a computer, laptop or another internet-connected device. </a:t>
            </a:r>
          </a:p>
          <a:p>
            <a:endParaRPr lang="en-US" dirty="0"/>
          </a:p>
        </p:txBody>
      </p:sp>
    </p:spTree>
    <p:extLst>
      <p:ext uri="{BB962C8B-B14F-4D97-AF65-F5344CB8AC3E}">
        <p14:creationId xmlns:p14="http://schemas.microsoft.com/office/powerpoint/2010/main" val="1202399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92500"/>
          </a:bodyPr>
          <a:lstStyle/>
          <a:p>
            <a:pPr marL="82296" indent="0">
              <a:buNone/>
            </a:pPr>
            <a:r>
              <a:rPr lang="en-US" b="1" dirty="0"/>
              <a:t>Key benefits and features of using email</a:t>
            </a:r>
            <a:endParaRPr lang="en-US" dirty="0"/>
          </a:p>
          <a:p>
            <a:r>
              <a:rPr lang="en-US" dirty="0"/>
              <a:t>It's quick – your recipient receives your email as soon as they go online and collect their mail.</a:t>
            </a:r>
          </a:p>
          <a:p>
            <a:r>
              <a:rPr lang="en-US" dirty="0"/>
              <a:t>It's secure.</a:t>
            </a:r>
          </a:p>
          <a:p>
            <a:r>
              <a:rPr lang="en-US" dirty="0"/>
              <a:t>It's low cost.</a:t>
            </a:r>
          </a:p>
          <a:p>
            <a:r>
              <a:rPr lang="en-US" dirty="0"/>
              <a:t>Photos, documents and other files can be attached to an email, so that more information can be shared.</a:t>
            </a:r>
          </a:p>
          <a:p>
            <a:r>
              <a:rPr lang="en-US" dirty="0"/>
              <a:t>One email can be sent to more than one recipient at a time.</a:t>
            </a:r>
          </a:p>
          <a:p>
            <a:endParaRPr lang="en-US" dirty="0"/>
          </a:p>
        </p:txBody>
      </p:sp>
    </p:spTree>
    <p:extLst>
      <p:ext uri="{BB962C8B-B14F-4D97-AF65-F5344CB8AC3E}">
        <p14:creationId xmlns:p14="http://schemas.microsoft.com/office/powerpoint/2010/main" val="3693544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lnSpcReduction="10000"/>
          </a:bodyPr>
          <a:lstStyle/>
          <a:p>
            <a:r>
              <a:rPr lang="en-US" dirty="0"/>
              <a:t>If your email is stored on the web, it's called 'webmail'.</a:t>
            </a:r>
          </a:p>
          <a:p>
            <a:r>
              <a:rPr lang="en-US" dirty="0"/>
              <a:t>To access a webmail account, you get onto the internet, go to the website where your webmail is hosted and 'log in' or 'sign in' with your username and password.</a:t>
            </a:r>
          </a:p>
          <a:p>
            <a:pPr marL="82296" indent="0">
              <a:buNone/>
            </a:pPr>
            <a:r>
              <a:rPr lang="en-US" b="1" dirty="0"/>
              <a:t>Email addresses</a:t>
            </a:r>
          </a:p>
          <a:p>
            <a:r>
              <a:rPr lang="en-US" dirty="0"/>
              <a:t>Email addresses use a standard formula.</a:t>
            </a:r>
          </a:p>
          <a:p>
            <a:r>
              <a:rPr lang="en-US" dirty="0"/>
              <a:t>They are always separated into two parts by the @ symbol.</a:t>
            </a:r>
          </a:p>
          <a:p>
            <a:endParaRPr lang="en-US" dirty="0"/>
          </a:p>
          <a:p>
            <a:endParaRPr lang="en-US" dirty="0"/>
          </a:p>
        </p:txBody>
      </p:sp>
    </p:spTree>
    <p:extLst>
      <p:ext uri="{BB962C8B-B14F-4D97-AF65-F5344CB8AC3E}">
        <p14:creationId xmlns:p14="http://schemas.microsoft.com/office/powerpoint/2010/main" val="3358666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fontScale="92500" lnSpcReduction="20000"/>
          </a:bodyPr>
          <a:lstStyle/>
          <a:p>
            <a:r>
              <a:rPr lang="en-US" dirty="0"/>
              <a:t>The first part of the email address  identifies the user.</a:t>
            </a:r>
          </a:p>
          <a:p>
            <a:r>
              <a:rPr lang="en-US" dirty="0"/>
              <a:t> You can use real names for the first part of your email address, or you could use a nickname that your friends and family will </a:t>
            </a:r>
            <a:r>
              <a:rPr lang="en-US" dirty="0" err="1"/>
              <a:t>recognise</a:t>
            </a:r>
            <a:r>
              <a:rPr lang="en-US" dirty="0"/>
              <a:t>.</a:t>
            </a:r>
          </a:p>
          <a:p>
            <a:r>
              <a:rPr lang="en-US" dirty="0"/>
              <a:t>The second part of an email address comes from your webmail provider or the internet service provider you use.</a:t>
            </a:r>
          </a:p>
          <a:p>
            <a:r>
              <a:rPr lang="en-US" dirty="0"/>
              <a:t>This gives a standard formula for all email addresses which will look something like firstname.surname@somewhere.com.au or </a:t>
            </a:r>
            <a:r>
              <a:rPr lang="en-US" dirty="0">
                <a:hlinkClick r:id="rId2"/>
              </a:rPr>
              <a:t>yournickname@somewhere.com.au</a:t>
            </a:r>
            <a:endParaRPr lang="en-US" dirty="0"/>
          </a:p>
          <a:p>
            <a:endParaRPr lang="en-US" dirty="0"/>
          </a:p>
        </p:txBody>
      </p:sp>
    </p:spTree>
    <p:extLst>
      <p:ext uri="{BB962C8B-B14F-4D97-AF65-F5344CB8AC3E}">
        <p14:creationId xmlns:p14="http://schemas.microsoft.com/office/powerpoint/2010/main" val="2742277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lstStyle/>
          <a:p>
            <a:pPr marL="82296" indent="0">
              <a:buNone/>
            </a:pPr>
            <a:r>
              <a:rPr lang="en-US" b="1" dirty="0"/>
              <a:t>Using email</a:t>
            </a:r>
          </a:p>
          <a:p>
            <a:r>
              <a:rPr lang="en-US" dirty="0"/>
              <a:t>All email accounts have the same basic features.</a:t>
            </a:r>
          </a:p>
          <a:p>
            <a:r>
              <a:rPr lang="en-US" dirty="0"/>
              <a:t>They will have an ‘</a:t>
            </a:r>
            <a:r>
              <a:rPr lang="en-US" b="1" dirty="0"/>
              <a:t>Inbox</a:t>
            </a:r>
            <a:r>
              <a:rPr lang="en-US" dirty="0"/>
              <a:t>' for the emails you've received. </a:t>
            </a:r>
          </a:p>
          <a:p>
            <a:r>
              <a:rPr lang="en-US" dirty="0"/>
              <a:t>There will also be a ‘</a:t>
            </a:r>
            <a:r>
              <a:rPr lang="en-US" b="1" dirty="0"/>
              <a:t>Sent</a:t>
            </a:r>
            <a:r>
              <a:rPr lang="en-US" dirty="0"/>
              <a:t>' items folder where the emails that you've sent to other people can be saved.</a:t>
            </a:r>
          </a:p>
          <a:p>
            <a:r>
              <a:rPr lang="en-US" dirty="0"/>
              <a:t>And there will be an ‘</a:t>
            </a:r>
            <a:r>
              <a:rPr lang="en-US" b="1" dirty="0"/>
              <a:t>Address book</a:t>
            </a:r>
            <a:r>
              <a:rPr lang="en-US" dirty="0"/>
              <a:t>' or ‘</a:t>
            </a:r>
            <a:r>
              <a:rPr lang="en-US" b="1" dirty="0"/>
              <a:t>Contacts</a:t>
            </a:r>
            <a:r>
              <a:rPr lang="en-US" dirty="0"/>
              <a:t>' list where you can save other people's email addresses.</a:t>
            </a:r>
          </a:p>
          <a:p>
            <a:endParaRPr lang="en-US" dirty="0"/>
          </a:p>
        </p:txBody>
      </p:sp>
    </p:spTree>
    <p:extLst>
      <p:ext uri="{BB962C8B-B14F-4D97-AF65-F5344CB8AC3E}">
        <p14:creationId xmlns:p14="http://schemas.microsoft.com/office/powerpoint/2010/main" val="2195931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85000" lnSpcReduction="20000"/>
          </a:bodyPr>
          <a:lstStyle/>
          <a:p>
            <a:pPr marL="82296" indent="0">
              <a:buNone/>
            </a:pPr>
            <a:r>
              <a:rPr lang="en-US" b="1" dirty="0"/>
              <a:t>Sending emails</a:t>
            </a:r>
          </a:p>
          <a:p>
            <a:r>
              <a:rPr lang="en-US" dirty="0"/>
              <a:t>You can create new emails to send to people. </a:t>
            </a:r>
          </a:p>
          <a:p>
            <a:r>
              <a:rPr lang="en-US" dirty="0"/>
              <a:t>Creating a new email might be called 'compose', 'create', or 'new email'.</a:t>
            </a:r>
          </a:p>
          <a:p>
            <a:r>
              <a:rPr lang="en-US" dirty="0"/>
              <a:t>To send an email, you type the email address or email addresses into the 'to' field. </a:t>
            </a:r>
          </a:p>
          <a:p>
            <a:r>
              <a:rPr lang="en-US" dirty="0"/>
              <a:t>There is also a 'cc' field and a 'bcc' field showing that you can use to send copies of this email to other people.</a:t>
            </a:r>
          </a:p>
          <a:p>
            <a:r>
              <a:rPr lang="en-US" dirty="0"/>
              <a:t>In the subject field, you tell the other person what the email is about and then write the email in the body field. </a:t>
            </a:r>
          </a:p>
          <a:p>
            <a:r>
              <a:rPr lang="en-US" dirty="0"/>
              <a:t>You can also attach files to emails including photos and documents. </a:t>
            </a:r>
          </a:p>
          <a:p>
            <a:endParaRPr lang="en-US" dirty="0"/>
          </a:p>
        </p:txBody>
      </p:sp>
    </p:spTree>
    <p:extLst>
      <p:ext uri="{BB962C8B-B14F-4D97-AF65-F5344CB8AC3E}">
        <p14:creationId xmlns:p14="http://schemas.microsoft.com/office/powerpoint/2010/main" val="700004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92500" lnSpcReduction="20000"/>
          </a:bodyPr>
          <a:lstStyle/>
          <a:p>
            <a:r>
              <a:rPr lang="en-US" dirty="0"/>
              <a:t>When you click </a:t>
            </a:r>
            <a:r>
              <a:rPr lang="en-US" b="1" dirty="0"/>
              <a:t>Send</a:t>
            </a:r>
            <a:r>
              <a:rPr lang="en-US" dirty="0"/>
              <a:t>, the email is sent to the other person's email account over the internet. </a:t>
            </a:r>
          </a:p>
          <a:p>
            <a:r>
              <a:rPr lang="en-US" dirty="0"/>
              <a:t>They'll get your email next time they log into their account.</a:t>
            </a:r>
          </a:p>
          <a:p>
            <a:r>
              <a:rPr lang="en-US" dirty="0"/>
              <a:t>If the email didn't reach the other person, you'll get an automated email telling you that the email was undeliverable. </a:t>
            </a:r>
          </a:p>
          <a:p>
            <a:r>
              <a:rPr lang="en-US" dirty="0"/>
              <a:t>This could be because the email address was spelled incorrectly, you accidently included spaces, or sometimes it's because the other person's inbox is full and can't receive any more emails until they delete some emails to make space for new ones. </a:t>
            </a:r>
          </a:p>
          <a:p>
            <a:endParaRPr lang="en-US" dirty="0"/>
          </a:p>
        </p:txBody>
      </p:sp>
    </p:spTree>
    <p:extLst>
      <p:ext uri="{BB962C8B-B14F-4D97-AF65-F5344CB8AC3E}">
        <p14:creationId xmlns:p14="http://schemas.microsoft.com/office/powerpoint/2010/main" val="493665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lnSpcReduction="10000"/>
          </a:bodyPr>
          <a:lstStyle/>
          <a:p>
            <a:pPr marL="82296" indent="0">
              <a:buNone/>
            </a:pPr>
            <a:r>
              <a:rPr lang="en-US" b="1" dirty="0"/>
              <a:t>Replying to and forwarding emails</a:t>
            </a:r>
          </a:p>
          <a:p>
            <a:r>
              <a:rPr lang="en-US" dirty="0"/>
              <a:t>If someone emails you, you can reply to them by selecting the ‘</a:t>
            </a:r>
            <a:r>
              <a:rPr lang="en-US" b="1" dirty="0"/>
              <a:t>Reply</a:t>
            </a:r>
            <a:r>
              <a:rPr lang="en-US" dirty="0"/>
              <a:t>' button. </a:t>
            </a:r>
          </a:p>
          <a:p>
            <a:r>
              <a:rPr lang="en-US" dirty="0"/>
              <a:t>You then write back to them and then select ‘</a:t>
            </a:r>
            <a:r>
              <a:rPr lang="en-US" b="1" dirty="0"/>
              <a:t>Send</a:t>
            </a:r>
            <a:r>
              <a:rPr lang="en-US" dirty="0"/>
              <a:t>'.</a:t>
            </a:r>
          </a:p>
          <a:p>
            <a:r>
              <a:rPr lang="en-US" dirty="0"/>
              <a:t>And if you receive an email that you'd like to share with someone else, you can forward the email to other people by selecting the ‘</a:t>
            </a:r>
            <a:r>
              <a:rPr lang="en-US" b="1" dirty="0"/>
              <a:t>Forward</a:t>
            </a:r>
            <a:r>
              <a:rPr lang="en-US" dirty="0"/>
              <a:t>' button, putting in other people's email addresses, typing in a message and selecting 'send'.</a:t>
            </a:r>
          </a:p>
          <a:p>
            <a:endParaRPr lang="en-US" dirty="0"/>
          </a:p>
        </p:txBody>
      </p:sp>
    </p:spTree>
    <p:extLst>
      <p:ext uri="{BB962C8B-B14F-4D97-AF65-F5344CB8AC3E}">
        <p14:creationId xmlns:p14="http://schemas.microsoft.com/office/powerpoint/2010/main" val="3792265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r>
              <a:rPr lang="en-US" dirty="0"/>
              <a:t>Tips on emails</a:t>
            </a:r>
          </a:p>
        </p:txBody>
      </p:sp>
      <p:sp>
        <p:nvSpPr>
          <p:cNvPr id="20483" name="Content Placeholder 2"/>
          <p:cNvSpPr>
            <a:spLocks noGrp="1"/>
          </p:cNvSpPr>
          <p:nvPr>
            <p:ph idx="1"/>
          </p:nvPr>
        </p:nvSpPr>
        <p:spPr/>
        <p:txBody>
          <a:bodyPr>
            <a:normAutofit/>
          </a:bodyPr>
          <a:lstStyle/>
          <a:p>
            <a:r>
              <a:rPr lang="en-US" dirty="0"/>
              <a:t>Respond only as necessary</a:t>
            </a:r>
          </a:p>
          <a:p>
            <a:r>
              <a:rPr lang="en-US" dirty="0"/>
              <a:t>State your subject clearly</a:t>
            </a:r>
          </a:p>
          <a:p>
            <a:r>
              <a:rPr lang="en-US" dirty="0"/>
              <a:t>Don’t e-mail sensitive or confidential information</a:t>
            </a:r>
          </a:p>
          <a:p>
            <a:r>
              <a:rPr lang="en-US" dirty="0"/>
              <a:t>Be concise and direct</a:t>
            </a:r>
          </a:p>
          <a:p>
            <a:r>
              <a:rPr lang="en-US" dirty="0"/>
              <a:t>Avoid abbreviations</a:t>
            </a:r>
          </a:p>
          <a:p>
            <a:r>
              <a:rPr lang="en-US" dirty="0"/>
              <a:t>Don’t use all capital letters</a:t>
            </a:r>
          </a:p>
          <a:p>
            <a:r>
              <a:rPr lang="en-US" dirty="0"/>
              <a:t>Pause and reread before sending</a:t>
            </a:r>
          </a:p>
        </p:txBody>
      </p:sp>
    </p:spTree>
    <p:extLst>
      <p:ext uri="{BB962C8B-B14F-4D97-AF65-F5344CB8AC3E}">
        <p14:creationId xmlns:p14="http://schemas.microsoft.com/office/powerpoint/2010/main" val="3419161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Autofit/>
          </a:bodyPr>
          <a:lstStyle/>
          <a:p>
            <a:r>
              <a:rPr lang="en-US" sz="3200" dirty="0"/>
              <a:t>Creating and Sending Email Message</a:t>
            </a:r>
          </a:p>
        </p:txBody>
      </p:sp>
      <p:sp>
        <p:nvSpPr>
          <p:cNvPr id="23555" name="Content Placeholder 2"/>
          <p:cNvSpPr>
            <a:spLocks noGrp="1"/>
          </p:cNvSpPr>
          <p:nvPr>
            <p:ph idx="1"/>
          </p:nvPr>
        </p:nvSpPr>
        <p:spPr/>
        <p:txBody>
          <a:bodyPr/>
          <a:lstStyle/>
          <a:p>
            <a:r>
              <a:rPr lang="en-US" dirty="0"/>
              <a:t>Click Create Mail button on the toolbar</a:t>
            </a:r>
          </a:p>
          <a:p>
            <a:r>
              <a:rPr lang="en-US" dirty="0"/>
              <a:t>Enter e-mail address of the recipient in the To box</a:t>
            </a:r>
          </a:p>
          <a:p>
            <a:r>
              <a:rPr lang="en-US" dirty="0"/>
              <a:t>Click Subject box and then type the subject of the message</a:t>
            </a:r>
          </a:p>
          <a:p>
            <a:r>
              <a:rPr lang="en-US" dirty="0"/>
              <a:t>Click the message area and then type the content of the message</a:t>
            </a:r>
          </a:p>
          <a:p>
            <a:r>
              <a:rPr lang="en-US" dirty="0"/>
              <a:t>Click Send button.</a:t>
            </a:r>
          </a:p>
        </p:txBody>
      </p:sp>
    </p:spTree>
    <p:extLst>
      <p:ext uri="{BB962C8B-B14F-4D97-AF65-F5344CB8AC3E}">
        <p14:creationId xmlns:p14="http://schemas.microsoft.com/office/powerpoint/2010/main" val="2001887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fontScale="90000"/>
          </a:bodyPr>
          <a:lstStyle/>
          <a:p>
            <a:r>
              <a:rPr lang="en-US"/>
              <a:t>Creating and Sending </a:t>
            </a:r>
            <a:br>
              <a:rPr lang="en-US"/>
            </a:br>
            <a:r>
              <a:rPr lang="en-US"/>
              <a:t>an E-mail Message</a:t>
            </a:r>
          </a:p>
        </p:txBody>
      </p:sp>
      <p:pic>
        <p:nvPicPr>
          <p:cNvPr id="24579" name="Picture 2"/>
          <p:cNvPicPr>
            <a:picLocks noGrp="1" noChangeAspect="1" noChangeArrowheads="1"/>
          </p:cNvPicPr>
          <p:nvPr>
            <p:ph idx="1"/>
          </p:nvPr>
        </p:nvPicPr>
        <p:blipFill>
          <a:blip r:embed="rId2">
            <a:clrChange>
              <a:clrFrom>
                <a:srgbClr val="F5EDD5"/>
              </a:clrFrom>
              <a:clrTo>
                <a:srgbClr val="F5EDD5">
                  <a:alpha val="0"/>
                </a:srgbClr>
              </a:clrTo>
            </a:clrChange>
            <a:extLst>
              <a:ext uri="{28A0092B-C50C-407E-A947-70E740481C1C}">
                <a14:useLocalDpi xmlns:a14="http://schemas.microsoft.com/office/drawing/2010/main" val="0"/>
              </a:ext>
            </a:extLst>
          </a:blip>
          <a:srcRect/>
          <a:stretch>
            <a:fillRect/>
          </a:stretch>
        </p:blipFill>
        <p:spPr>
          <a:xfrm>
            <a:off x="1066800" y="1468438"/>
            <a:ext cx="7467600" cy="4408487"/>
          </a:xfrm>
          <a:noFill/>
        </p:spPr>
      </p:pic>
    </p:spTree>
    <p:extLst>
      <p:ext uri="{BB962C8B-B14F-4D97-AF65-F5344CB8AC3E}">
        <p14:creationId xmlns:p14="http://schemas.microsoft.com/office/powerpoint/2010/main" val="2836329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Receiving an E-mail Message</a:t>
            </a:r>
          </a:p>
        </p:txBody>
      </p:sp>
      <p:pic>
        <p:nvPicPr>
          <p:cNvPr id="25603" name="Picture 2"/>
          <p:cNvPicPr>
            <a:picLocks noGrp="1" noChangeAspect="1" noChangeArrowheads="1"/>
          </p:cNvPicPr>
          <p:nvPr>
            <p:ph idx="1"/>
          </p:nvPr>
        </p:nvPicPr>
        <p:blipFill>
          <a:blip r:embed="rId2">
            <a:clrChange>
              <a:clrFrom>
                <a:srgbClr val="F5EDD5"/>
              </a:clrFrom>
              <a:clrTo>
                <a:srgbClr val="F5EDD5">
                  <a:alpha val="0"/>
                </a:srgbClr>
              </a:clrTo>
            </a:clrChange>
            <a:extLst>
              <a:ext uri="{28A0092B-C50C-407E-A947-70E740481C1C}">
                <a14:useLocalDpi xmlns:a14="http://schemas.microsoft.com/office/drawing/2010/main" val="0"/>
              </a:ext>
            </a:extLst>
          </a:blip>
          <a:srcRect/>
          <a:stretch>
            <a:fillRect/>
          </a:stretch>
        </p:blipFill>
        <p:spPr>
          <a:xfrm>
            <a:off x="1219200" y="1219200"/>
            <a:ext cx="7239000" cy="4906963"/>
          </a:xfrm>
          <a:noFill/>
        </p:spPr>
      </p:pic>
    </p:spTree>
    <p:extLst>
      <p:ext uri="{BB962C8B-B14F-4D97-AF65-F5344CB8AC3E}">
        <p14:creationId xmlns:p14="http://schemas.microsoft.com/office/powerpoint/2010/main" val="8268383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3688</TotalTime>
  <Words>2889</Words>
  <Application>Microsoft Office PowerPoint</Application>
  <PresentationFormat>On-screen Show (4:3)</PresentationFormat>
  <Paragraphs>273</Paragraphs>
  <Slides>46</Slides>
  <Notes>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7" baseType="lpstr">
      <vt:lpstr>Arial</vt:lpstr>
      <vt:lpstr>Calibri</vt:lpstr>
      <vt:lpstr>Garamond</vt:lpstr>
      <vt:lpstr>Gill Sans MT</vt:lpstr>
      <vt:lpstr>Times New Roman</vt:lpstr>
      <vt:lpstr>Verdana</vt:lpstr>
      <vt:lpstr>Wingdings</vt:lpstr>
      <vt:lpstr>Wingdings 2</vt:lpstr>
      <vt:lpstr>Solstice</vt:lpstr>
      <vt:lpstr>Microsoft ClipArt Gallery</vt:lpstr>
      <vt:lpstr>Clip</vt:lpstr>
      <vt:lpstr>Internet &amp; World Wide Web</vt:lpstr>
      <vt:lpstr>Internet </vt:lpstr>
      <vt:lpstr>PowerPoint Presentation</vt:lpstr>
      <vt:lpstr>Types of Computer Network</vt:lpstr>
      <vt:lpstr>Local Area Network (LAN)</vt:lpstr>
      <vt:lpstr>Purpose of LAN</vt:lpstr>
      <vt:lpstr>PowerPoint Presentation</vt:lpstr>
      <vt:lpstr>What is needed to connect to the Internet ?</vt:lpstr>
      <vt:lpstr>What can you do with the Internet ?</vt:lpstr>
      <vt:lpstr>PowerPoint Presentation</vt:lpstr>
      <vt:lpstr>PowerPoint Presentation</vt:lpstr>
      <vt:lpstr>PowerPoint Presentation</vt:lpstr>
      <vt:lpstr>World Wide Web (www, web)</vt:lpstr>
      <vt:lpstr>Web Page </vt:lpstr>
      <vt:lpstr>Web page </vt:lpstr>
      <vt:lpstr>Hyperlink</vt:lpstr>
      <vt:lpstr>Hyperlink </vt:lpstr>
      <vt:lpstr>Web Site</vt:lpstr>
      <vt:lpstr>Web Browser </vt:lpstr>
      <vt:lpstr>How the Web Works</vt:lpstr>
      <vt:lpstr>Web Server</vt:lpstr>
      <vt:lpstr>Uniform Resource Locator (URL)</vt:lpstr>
      <vt:lpstr>PowerPoint Presentation</vt:lpstr>
      <vt:lpstr>URL format </vt:lpstr>
      <vt:lpstr>Protocols</vt:lpstr>
      <vt:lpstr>Protocols</vt:lpstr>
      <vt:lpstr>PowerPoint Presentation</vt:lpstr>
      <vt:lpstr>Web Browsers: Microsoft Internet Explorer</vt:lpstr>
      <vt:lpstr>Microsoft Page</vt:lpstr>
      <vt:lpstr>Getting Started with Microsoft Internet Explorer</vt:lpstr>
      <vt:lpstr>How to Access Web Pages</vt:lpstr>
      <vt:lpstr>How to Access Web Pages: Type the URL in the Address Box</vt:lpstr>
      <vt:lpstr>Opening a Page on the Web</vt:lpstr>
      <vt:lpstr>Changing Home Page</vt:lpstr>
      <vt:lpstr>Email (Electronic mail)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Tips on emails</vt:lpstr>
      <vt:lpstr>Creating and Sending Email Message</vt:lpstr>
      <vt:lpstr>Creating and Sending  an E-mail Message</vt:lpstr>
      <vt:lpstr>Receiving an E-mail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&amp; World Wide Web</dc:title>
  <dc:creator>FAIR</dc:creator>
  <cp:lastModifiedBy>LOMIE</cp:lastModifiedBy>
  <cp:revision>162</cp:revision>
  <dcterms:created xsi:type="dcterms:W3CDTF">2014-10-13T19:41:50Z</dcterms:created>
  <dcterms:modified xsi:type="dcterms:W3CDTF">2018-12-14T12:41:13Z</dcterms:modified>
</cp:coreProperties>
</file>