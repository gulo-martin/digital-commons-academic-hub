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notesMasterIdLst>
    <p:notesMasterId r:id="rId61"/>
  </p:notesMasterIdLst>
  <p:sldIdLst>
    <p:sldId id="256" r:id="rId2"/>
    <p:sldId id="258" r:id="rId3"/>
    <p:sldId id="331" r:id="rId4"/>
    <p:sldId id="332" r:id="rId5"/>
    <p:sldId id="334" r:id="rId6"/>
    <p:sldId id="336" r:id="rId7"/>
    <p:sldId id="335" r:id="rId8"/>
    <p:sldId id="330" r:id="rId9"/>
    <p:sldId id="333" r:id="rId10"/>
    <p:sldId id="308" r:id="rId11"/>
    <p:sldId id="259" r:id="rId12"/>
    <p:sldId id="260" r:id="rId13"/>
    <p:sldId id="309" r:id="rId14"/>
    <p:sldId id="261" r:id="rId15"/>
    <p:sldId id="310" r:id="rId16"/>
    <p:sldId id="262" r:id="rId17"/>
    <p:sldId id="311" r:id="rId18"/>
    <p:sldId id="345" r:id="rId19"/>
    <p:sldId id="344" r:id="rId20"/>
    <p:sldId id="346" r:id="rId21"/>
    <p:sldId id="347" r:id="rId22"/>
    <p:sldId id="348" r:id="rId23"/>
    <p:sldId id="349" r:id="rId24"/>
    <p:sldId id="350" r:id="rId25"/>
    <p:sldId id="263" r:id="rId26"/>
    <p:sldId id="337" r:id="rId27"/>
    <p:sldId id="312" r:id="rId28"/>
    <p:sldId id="351" r:id="rId29"/>
    <p:sldId id="352" r:id="rId30"/>
    <p:sldId id="264" r:id="rId31"/>
    <p:sldId id="266" r:id="rId32"/>
    <p:sldId id="313" r:id="rId33"/>
    <p:sldId id="276" r:id="rId34"/>
    <p:sldId id="267" r:id="rId35"/>
    <p:sldId id="314" r:id="rId36"/>
    <p:sldId id="268" r:id="rId37"/>
    <p:sldId id="269" r:id="rId38"/>
    <p:sldId id="429" r:id="rId39"/>
    <p:sldId id="430" r:id="rId40"/>
    <p:sldId id="431" r:id="rId41"/>
    <p:sldId id="444" r:id="rId42"/>
    <p:sldId id="272" r:id="rId43"/>
    <p:sldId id="432" r:id="rId44"/>
    <p:sldId id="445" r:id="rId45"/>
    <p:sldId id="433" r:id="rId46"/>
    <p:sldId id="434" r:id="rId47"/>
    <p:sldId id="446" r:id="rId48"/>
    <p:sldId id="447" r:id="rId49"/>
    <p:sldId id="435" r:id="rId50"/>
    <p:sldId id="442" r:id="rId51"/>
    <p:sldId id="436" r:id="rId52"/>
    <p:sldId id="448" r:id="rId53"/>
    <p:sldId id="437" r:id="rId54"/>
    <p:sldId id="449" r:id="rId55"/>
    <p:sldId id="438" r:id="rId56"/>
    <p:sldId id="439" r:id="rId57"/>
    <p:sldId id="440" r:id="rId58"/>
    <p:sldId id="354" r:id="rId59"/>
    <p:sldId id="355"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24" autoAdjust="0"/>
    <p:restoredTop sz="94291" autoAdjust="0"/>
  </p:normalViewPr>
  <p:slideViewPr>
    <p:cSldViewPr snapToGrid="0">
      <p:cViewPr varScale="1">
        <p:scale>
          <a:sx n="68" d="100"/>
          <a:sy n="68" d="100"/>
        </p:scale>
        <p:origin x="100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W"/>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58E881-28E2-466A-9162-0577DEFB7354}" type="datetimeFigureOut">
              <a:rPr lang="en-MW" smtClean="0"/>
              <a:t>05/19/2021</a:t>
            </a:fld>
            <a:endParaRPr lang="en-MW"/>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W"/>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W"/>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W"/>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B5CC37-51A8-44C0-96CF-B217674FF8F3}" type="slidenum">
              <a:rPr lang="en-MW" smtClean="0"/>
              <a:t>‹#›</a:t>
            </a:fld>
            <a:endParaRPr lang="en-MW"/>
          </a:p>
        </p:txBody>
      </p:sp>
    </p:spTree>
    <p:extLst>
      <p:ext uri="{BB962C8B-B14F-4D97-AF65-F5344CB8AC3E}">
        <p14:creationId xmlns:p14="http://schemas.microsoft.com/office/powerpoint/2010/main" val="808752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27D0524-A34C-4900-845A-4E9C83E337B2}" type="datetimeFigureOut">
              <a:rPr lang="en-US" smtClean="0"/>
              <a:t>5/19/2021</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3304045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7D0524-A34C-4900-845A-4E9C83E337B2}" type="datetimeFigureOut">
              <a:rPr lang="en-US" smtClean="0"/>
              <a:t>5/19/2021</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3539449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7D0524-A34C-4900-845A-4E9C83E337B2}" type="datetimeFigureOut">
              <a:rPr lang="en-US" smtClean="0"/>
              <a:t>5/19/2021</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1228297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27D0524-A34C-4900-845A-4E9C83E337B2}" type="datetimeFigureOut">
              <a:rPr lang="en-US" smtClean="0"/>
              <a:t>5/19/2021</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916749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27D0524-A34C-4900-845A-4E9C83E337B2}" type="datetimeFigureOut">
              <a:rPr lang="en-US" smtClean="0"/>
              <a:t>5/19/2021</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473595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7D0524-A34C-4900-845A-4E9C83E337B2}" type="datetimeFigureOut">
              <a:rPr lang="en-US" smtClean="0"/>
              <a:t>5/19/2021</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3396502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7D0524-A34C-4900-845A-4E9C83E337B2}" type="datetimeFigureOut">
              <a:rPr lang="en-US" smtClean="0"/>
              <a:t>5/19/2021</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785476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5/19/2021</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1462805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5/19/2021</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604373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7D0524-A34C-4900-845A-4E9C83E337B2}" type="datetimeFigureOut">
              <a:rPr lang="en-US" smtClean="0"/>
              <a:t>5/19/2021</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3300347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7D0524-A34C-4900-845A-4E9C83E337B2}" type="datetimeFigureOut">
              <a:rPr lang="en-US" smtClean="0"/>
              <a:t>5/19/2021</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D60242A-277F-4FDB-BCE8-613D7EDF74E6}"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32590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5/19/2021</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869602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5/19/2021</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D60242A-277F-4FDB-BCE8-613D7EDF74E6}"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912529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5/19/2021</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739766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7D0524-A34C-4900-845A-4E9C83E337B2}" type="datetimeFigureOut">
              <a:rPr lang="en-US" smtClean="0"/>
              <a:t>5/19/2021</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1157614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7D0524-A34C-4900-845A-4E9C83E337B2}" type="datetimeFigureOut">
              <a:rPr lang="en-US" smtClean="0"/>
              <a:t>5/19/2021</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246369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27D0524-A34C-4900-845A-4E9C83E337B2}" type="datetimeFigureOut">
              <a:rPr lang="en-US" smtClean="0"/>
              <a:t>5/19/2021</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2D60242A-277F-4FDB-BCE8-613D7EDF74E6}" type="slidenum">
              <a:rPr lang="en-US" smtClean="0"/>
              <a:t>‹#›</a:t>
            </a:fld>
            <a:endParaRPr lang="en-US"/>
          </a:p>
        </p:txBody>
      </p:sp>
    </p:spTree>
    <p:extLst>
      <p:ext uri="{BB962C8B-B14F-4D97-AF65-F5344CB8AC3E}">
        <p14:creationId xmlns:p14="http://schemas.microsoft.com/office/powerpoint/2010/main" val="3699888556"/>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5616A-176D-41C7-8FC0-815DC3364E50}"/>
              </a:ext>
            </a:extLst>
          </p:cNvPr>
          <p:cNvSpPr>
            <a:spLocks noGrp="1"/>
          </p:cNvSpPr>
          <p:nvPr>
            <p:ph type="ctrTitle"/>
          </p:nvPr>
        </p:nvSpPr>
        <p:spPr/>
        <p:txBody>
          <a:bodyPr>
            <a:noAutofit/>
          </a:bodyPr>
          <a:lstStyle/>
          <a:p>
            <a:r>
              <a:rPr kumimoji="0" lang="en-GB"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END USER COMPUTING.</a:t>
            </a:r>
            <a:br>
              <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br>
              <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GB"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BICT 1101</a:t>
            </a:r>
            <a:endParaRPr lang="en-US" sz="4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594158F-1A6E-4430-854C-952EAA8BC32C}"/>
              </a:ext>
            </a:extLst>
          </p:cNvPr>
          <p:cNvSpPr>
            <a:spLocks noGrp="1"/>
          </p:cNvSpPr>
          <p:nvPr>
            <p:ph type="subTitle" idx="1"/>
          </p:nvPr>
        </p:nvSpPr>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0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Lecture 3.1: Spreadsheets</a:t>
            </a:r>
            <a:endParaRPr lang="en-US" sz="4000" dirty="0"/>
          </a:p>
        </p:txBody>
      </p:sp>
    </p:spTree>
    <p:extLst>
      <p:ext uri="{BB962C8B-B14F-4D97-AF65-F5344CB8AC3E}">
        <p14:creationId xmlns:p14="http://schemas.microsoft.com/office/powerpoint/2010/main" val="1653974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9D210-F336-4B01-956A-F002FD01F6AF}"/>
              </a:ext>
            </a:extLst>
          </p:cNvPr>
          <p:cNvSpPr>
            <a:spLocks noGrp="1"/>
          </p:cNvSpPr>
          <p:nvPr>
            <p:ph type="title"/>
          </p:nvPr>
        </p:nvSpPr>
        <p:spPr/>
        <p:txBody>
          <a:bodyPr/>
          <a:lstStyle/>
          <a:p>
            <a:br>
              <a:rPr lang="en-US" dirty="0"/>
            </a:br>
            <a:r>
              <a:rPr lang="en-US" dirty="0"/>
              <a:t>Microsoft Excel </a:t>
            </a:r>
          </a:p>
        </p:txBody>
      </p:sp>
      <p:sp>
        <p:nvSpPr>
          <p:cNvPr id="3" name="Content Placeholder 2">
            <a:extLst>
              <a:ext uri="{FF2B5EF4-FFF2-40B4-BE49-F238E27FC236}">
                <a16:creationId xmlns:a16="http://schemas.microsoft.com/office/drawing/2014/main" id="{67486382-D503-49E8-A2DB-AC4B978D9B2E}"/>
              </a:ext>
            </a:extLst>
          </p:cNvPr>
          <p:cNvSpPr>
            <a:spLocks noGrp="1"/>
          </p:cNvSpPr>
          <p:nvPr>
            <p:ph idx="1"/>
          </p:nvPr>
        </p:nvSpPr>
        <p:spPr/>
        <p:txBody>
          <a:bodyPr>
            <a:normAutofit fontScale="92500" lnSpcReduction="20000"/>
          </a:bodyPr>
          <a:lstStyle/>
          <a:p>
            <a:r>
              <a:rPr lang="en-US" sz="2400" dirty="0"/>
              <a:t>Microsoft Office Excel  provides tools that enable users to </a:t>
            </a:r>
            <a:r>
              <a:rPr lang="en-US" sz="2400" b="1" dirty="0"/>
              <a:t>organize</a:t>
            </a:r>
            <a:r>
              <a:rPr lang="en-US" sz="2400" dirty="0"/>
              <a:t>, </a:t>
            </a:r>
            <a:r>
              <a:rPr lang="en-US" sz="2400" b="1" dirty="0"/>
              <a:t>analyze</a:t>
            </a:r>
            <a:r>
              <a:rPr lang="en-US" sz="2400" dirty="0"/>
              <a:t>, </a:t>
            </a:r>
            <a:r>
              <a:rPr lang="en-US" sz="2400" b="1" dirty="0"/>
              <a:t>manage, </a:t>
            </a:r>
            <a:r>
              <a:rPr lang="en-US" sz="2400" dirty="0"/>
              <a:t>and </a:t>
            </a:r>
            <a:r>
              <a:rPr lang="en-US" sz="2400" b="1" dirty="0"/>
              <a:t>share information easily</a:t>
            </a:r>
            <a:r>
              <a:rPr lang="en-US" sz="2400" dirty="0"/>
              <a:t>. </a:t>
            </a:r>
          </a:p>
          <a:p>
            <a:r>
              <a:rPr lang="en-US" sz="2400" dirty="0"/>
              <a:t>To open Microsoft Excel 2016 in Windows 10 click on </a:t>
            </a:r>
            <a:r>
              <a:rPr lang="en-US" sz="2400" b="1" dirty="0"/>
              <a:t>Start menu</a:t>
            </a:r>
            <a:r>
              <a:rPr lang="en-US" sz="2400" dirty="0"/>
              <a:t>, clicking </a:t>
            </a:r>
            <a:r>
              <a:rPr lang="en-US" sz="2400" b="1" dirty="0"/>
              <a:t>All Apps </a:t>
            </a:r>
            <a:r>
              <a:rPr lang="en-US" sz="2400" dirty="0"/>
              <a:t>or </a:t>
            </a:r>
            <a:r>
              <a:rPr lang="en-US" sz="2400" b="1" dirty="0"/>
              <a:t>All Programs</a:t>
            </a:r>
            <a:r>
              <a:rPr lang="en-US" sz="2400" dirty="0"/>
              <a:t>, and then click Excel 2016. Or it can be launched through the </a:t>
            </a:r>
            <a:r>
              <a:rPr lang="en-US" sz="2400" b="1" dirty="0"/>
              <a:t>taskbar</a:t>
            </a:r>
            <a:r>
              <a:rPr lang="en-US" sz="2400" dirty="0"/>
              <a:t> if it is pinned there.</a:t>
            </a:r>
          </a:p>
          <a:p>
            <a:r>
              <a:rPr lang="en-US" sz="2400" dirty="0"/>
              <a:t> If you use Excel often, you can pin the application to the </a:t>
            </a:r>
            <a:r>
              <a:rPr lang="en-US" sz="2400" b="1" dirty="0"/>
              <a:t>Start menu</a:t>
            </a:r>
            <a:r>
              <a:rPr lang="en-US" sz="2400" dirty="0"/>
              <a:t>. </a:t>
            </a:r>
          </a:p>
          <a:p>
            <a:r>
              <a:rPr lang="en-US" sz="2400" dirty="0"/>
              <a:t>From the </a:t>
            </a:r>
            <a:r>
              <a:rPr lang="en-US" sz="2400" b="1" dirty="0"/>
              <a:t>All apps </a:t>
            </a:r>
            <a:r>
              <a:rPr lang="en-US" sz="2400" dirty="0"/>
              <a:t>menu, right-click the app name, and choose </a:t>
            </a:r>
            <a:r>
              <a:rPr lang="en-US" sz="2400" b="1" dirty="0"/>
              <a:t>Pin to Start</a:t>
            </a:r>
            <a:r>
              <a:rPr lang="en-US" sz="2400" dirty="0"/>
              <a:t>. You can also choose </a:t>
            </a:r>
            <a:r>
              <a:rPr lang="en-US" sz="2400" b="1" dirty="0"/>
              <a:t>More</a:t>
            </a:r>
            <a:r>
              <a:rPr lang="en-US" sz="2400" dirty="0"/>
              <a:t> and then </a:t>
            </a:r>
            <a:r>
              <a:rPr lang="en-US" sz="2400" b="1" dirty="0"/>
              <a:t>Pin to taskbar </a:t>
            </a:r>
            <a:r>
              <a:rPr lang="en-US" sz="2400" dirty="0"/>
              <a:t>to allow you to click the icon in the Windows taskbar at the bottom of the screen to start Excel.</a:t>
            </a:r>
          </a:p>
        </p:txBody>
      </p:sp>
    </p:spTree>
    <p:extLst>
      <p:ext uri="{BB962C8B-B14F-4D97-AF65-F5344CB8AC3E}">
        <p14:creationId xmlns:p14="http://schemas.microsoft.com/office/powerpoint/2010/main" val="728280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18B1C-4E21-4A71-A1CD-7C3A6BAD7330}"/>
              </a:ext>
            </a:extLst>
          </p:cNvPr>
          <p:cNvSpPr>
            <a:spLocks noGrp="1"/>
          </p:cNvSpPr>
          <p:nvPr>
            <p:ph type="title"/>
          </p:nvPr>
        </p:nvSpPr>
        <p:spPr/>
        <p:txBody>
          <a:bodyPr>
            <a:normAutofit fontScale="90000"/>
          </a:bodyPr>
          <a:lstStyle/>
          <a:p>
            <a:br>
              <a:rPr lang="en-US" dirty="0"/>
            </a:br>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Microsoft Excel </a:t>
            </a:r>
            <a:br>
              <a:rPr lang="en-US" dirty="0"/>
            </a:br>
            <a:endParaRPr lang="en-US" dirty="0"/>
          </a:p>
        </p:txBody>
      </p:sp>
      <p:sp>
        <p:nvSpPr>
          <p:cNvPr id="3" name="Content Placeholder 2">
            <a:extLst>
              <a:ext uri="{FF2B5EF4-FFF2-40B4-BE49-F238E27FC236}">
                <a16:creationId xmlns:a16="http://schemas.microsoft.com/office/drawing/2014/main" id="{D994F486-449A-40CB-B882-AD221F854F74}"/>
              </a:ext>
            </a:extLst>
          </p:cNvPr>
          <p:cNvSpPr>
            <a:spLocks noGrp="1"/>
          </p:cNvSpPr>
          <p:nvPr>
            <p:ph idx="1"/>
          </p:nvPr>
        </p:nvSpPr>
        <p:spPr/>
        <p:txBody>
          <a:bodyPr>
            <a:normAutofit/>
          </a:bodyPr>
          <a:lstStyle/>
          <a:p>
            <a:r>
              <a:rPr lang="en-US" sz="2400" dirty="0"/>
              <a:t>Excel opens to a </a:t>
            </a:r>
            <a:r>
              <a:rPr lang="en-US" sz="2400" b="1" dirty="0"/>
              <a:t>list of templates </a:t>
            </a:r>
            <a:r>
              <a:rPr lang="en-US" sz="2400" dirty="0"/>
              <a:t>and in most cases you choose </a:t>
            </a:r>
            <a:r>
              <a:rPr lang="en-US" sz="2400" b="1" dirty="0"/>
              <a:t>Blank workbook </a:t>
            </a:r>
            <a:r>
              <a:rPr lang="en-US" sz="2400" dirty="0"/>
              <a:t>or open a </a:t>
            </a:r>
            <a:r>
              <a:rPr lang="en-US" sz="2400" b="1" dirty="0"/>
              <a:t>previous file</a:t>
            </a:r>
            <a:r>
              <a:rPr lang="en-US" sz="2400" dirty="0"/>
              <a:t>. </a:t>
            </a:r>
          </a:p>
          <a:p>
            <a:r>
              <a:rPr lang="en-US" sz="2400" dirty="0"/>
              <a:t>Think of a workbook or spreadsheet file as a physical book with many pages. </a:t>
            </a:r>
          </a:p>
          <a:p>
            <a:r>
              <a:rPr lang="en-US" sz="2400" dirty="0"/>
              <a:t>The </a:t>
            </a:r>
            <a:r>
              <a:rPr lang="en-US" sz="2400" b="1" dirty="0"/>
              <a:t>filename (Book1) </a:t>
            </a:r>
            <a:r>
              <a:rPr lang="en-US" sz="2400" dirty="0"/>
              <a:t>and the program name </a:t>
            </a:r>
            <a:r>
              <a:rPr lang="en-US" sz="2400" b="1" dirty="0"/>
              <a:t>(Excel) </a:t>
            </a:r>
            <a:r>
              <a:rPr lang="en-US" sz="2400" dirty="0"/>
              <a:t>appear in the </a:t>
            </a:r>
            <a:r>
              <a:rPr lang="en-US" sz="2400" b="1" dirty="0"/>
              <a:t>title bar </a:t>
            </a:r>
            <a:r>
              <a:rPr lang="en-US" sz="2400" dirty="0"/>
              <a:t>at the top of the screen. </a:t>
            </a:r>
          </a:p>
          <a:p>
            <a:r>
              <a:rPr lang="en-US" sz="2400" dirty="0"/>
              <a:t>Book1 (or Book2, Book3, and so on) is a temporary title for your workbook until you save the workbook with a name of your choice. </a:t>
            </a:r>
          </a:p>
        </p:txBody>
      </p:sp>
    </p:spTree>
    <p:extLst>
      <p:ext uri="{BB962C8B-B14F-4D97-AF65-F5344CB8AC3E}">
        <p14:creationId xmlns:p14="http://schemas.microsoft.com/office/powerpoint/2010/main" val="3630359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598AA-40E7-459A-A563-356F73C7A34C}"/>
              </a:ext>
            </a:extLst>
          </p:cNvPr>
          <p:cNvSpPr>
            <a:spLocks noGrp="1"/>
          </p:cNvSpPr>
          <p:nvPr>
            <p:ph type="title"/>
          </p:nvPr>
        </p:nvSpPr>
        <p:spPr/>
        <p:txBody>
          <a:bodyPr/>
          <a:lstStyle/>
          <a:p>
            <a:br>
              <a:rPr kumimoji="0" lang="en-US" sz="32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br>
            <a:r>
              <a:rPr kumimoji="0" lang="en-US" sz="32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Microsoft Excel</a:t>
            </a:r>
            <a:endParaRPr lang="en-US" dirty="0"/>
          </a:p>
        </p:txBody>
      </p:sp>
      <p:sp>
        <p:nvSpPr>
          <p:cNvPr id="3" name="Content Placeholder 2">
            <a:extLst>
              <a:ext uri="{FF2B5EF4-FFF2-40B4-BE49-F238E27FC236}">
                <a16:creationId xmlns:a16="http://schemas.microsoft.com/office/drawing/2014/main" id="{EBEA1535-D9F0-42CE-840D-87D2C39C0103}"/>
              </a:ext>
            </a:extLst>
          </p:cNvPr>
          <p:cNvSpPr>
            <a:spLocks noGrp="1"/>
          </p:cNvSpPr>
          <p:nvPr>
            <p:ph idx="1"/>
          </p:nvPr>
        </p:nvSpPr>
        <p:spPr/>
        <p:txBody>
          <a:bodyPr/>
          <a:lstStyle/>
          <a:p>
            <a:r>
              <a:rPr lang="en-US" sz="2400" dirty="0"/>
              <a:t>The new workbook contains </a:t>
            </a:r>
            <a:r>
              <a:rPr lang="en-US" sz="2400" b="1" dirty="0"/>
              <a:t>one worksheet (Sheet1) </a:t>
            </a:r>
            <a:r>
              <a:rPr lang="en-US" sz="2400" dirty="0"/>
              <a:t>by default—similar to the first page in a book—where you enter information.</a:t>
            </a:r>
          </a:p>
          <a:p>
            <a:r>
              <a:rPr lang="en-US" sz="2400" dirty="0"/>
              <a:t>If a workbook has more pages (or worksheets), you use the </a:t>
            </a:r>
            <a:r>
              <a:rPr lang="en-US" sz="2400" b="1" dirty="0"/>
              <a:t>sheet tabs </a:t>
            </a:r>
            <a:r>
              <a:rPr lang="en-US" sz="2400" dirty="0"/>
              <a:t>that are located just above the Status bar and are identified as Sheet1, Sheet2, and Sheet3. </a:t>
            </a:r>
          </a:p>
          <a:p>
            <a:r>
              <a:rPr lang="en-US" sz="2400" dirty="0"/>
              <a:t>You can rename worksheets to identify their content and add worksheets with the </a:t>
            </a:r>
            <a:r>
              <a:rPr lang="en-US" sz="2400" b="1" dirty="0"/>
              <a:t>New sheet (+) </a:t>
            </a:r>
            <a:r>
              <a:rPr lang="en-US" sz="2400" dirty="0"/>
              <a:t>button as needed.</a:t>
            </a:r>
          </a:p>
          <a:p>
            <a:endParaRPr lang="en-US" dirty="0"/>
          </a:p>
        </p:txBody>
      </p:sp>
    </p:spTree>
    <p:extLst>
      <p:ext uri="{BB962C8B-B14F-4D97-AF65-F5344CB8AC3E}">
        <p14:creationId xmlns:p14="http://schemas.microsoft.com/office/powerpoint/2010/main" val="2904343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5DB03-F9B2-4018-B407-C6D2CB287852}"/>
              </a:ext>
            </a:extLst>
          </p:cNvPr>
          <p:cNvSpPr>
            <a:spLocks noGrp="1"/>
          </p:cNvSpPr>
          <p:nvPr>
            <p:ph type="title"/>
          </p:nvPr>
        </p:nvSpPr>
        <p:spPr/>
        <p:txBody>
          <a:bodyPr>
            <a:normAutofit fontScale="90000"/>
          </a:bodyPr>
          <a:lstStyle/>
          <a:p>
            <a:br>
              <a:rPr lang="en-US" dirty="0"/>
            </a:br>
            <a:r>
              <a:rPr lang="en-US" dirty="0"/>
              <a:t>CREATING WORKBOOKS</a:t>
            </a:r>
            <a:br>
              <a:rPr lang="en-US" dirty="0"/>
            </a:br>
            <a:endParaRPr lang="en-US" dirty="0"/>
          </a:p>
        </p:txBody>
      </p:sp>
      <p:sp>
        <p:nvSpPr>
          <p:cNvPr id="3" name="Content Placeholder 2">
            <a:extLst>
              <a:ext uri="{FF2B5EF4-FFF2-40B4-BE49-F238E27FC236}">
                <a16:creationId xmlns:a16="http://schemas.microsoft.com/office/drawing/2014/main" id="{33E260CD-B0FE-4C0C-86B0-3AA48381071F}"/>
              </a:ext>
            </a:extLst>
          </p:cNvPr>
          <p:cNvSpPr>
            <a:spLocks noGrp="1"/>
          </p:cNvSpPr>
          <p:nvPr>
            <p:ph idx="1"/>
          </p:nvPr>
        </p:nvSpPr>
        <p:spPr/>
        <p:txBody>
          <a:bodyPr>
            <a:normAutofit/>
          </a:bodyPr>
          <a:lstStyle/>
          <a:p>
            <a:r>
              <a:rPr lang="en-US" sz="2000" dirty="0"/>
              <a:t>There are </a:t>
            </a:r>
            <a:r>
              <a:rPr lang="en-US" sz="2000" b="1" dirty="0"/>
              <a:t>three ways </a:t>
            </a:r>
            <a:r>
              <a:rPr lang="en-US" sz="2000" dirty="0"/>
              <a:t>to create a new Microsoft Excel workbook. </a:t>
            </a:r>
          </a:p>
          <a:p>
            <a:pPr lvl="1"/>
            <a:r>
              <a:rPr lang="en-US" sz="2000" dirty="0"/>
              <a:t>You can open </a:t>
            </a:r>
            <a:r>
              <a:rPr lang="en-US" sz="2000" b="1" dirty="0"/>
              <a:t>a new, blank workbook </a:t>
            </a:r>
            <a:r>
              <a:rPr lang="en-US" sz="2000" dirty="0"/>
              <a:t>when you launch Excel or by using </a:t>
            </a:r>
            <a:r>
              <a:rPr lang="en-US" sz="2000" b="1" dirty="0"/>
              <a:t>the File tab </a:t>
            </a:r>
            <a:r>
              <a:rPr lang="en-US" sz="2000" dirty="0"/>
              <a:t>to access Backstage view. </a:t>
            </a:r>
          </a:p>
          <a:p>
            <a:pPr lvl="1"/>
            <a:r>
              <a:rPr lang="en-US" sz="2000" dirty="0"/>
              <a:t>You can open an </a:t>
            </a:r>
            <a:r>
              <a:rPr lang="en-US" sz="2000" b="1" dirty="0"/>
              <a:t>existing Excel workbook</a:t>
            </a:r>
            <a:r>
              <a:rPr lang="en-US" sz="2000" dirty="0"/>
              <a:t>, enter </a:t>
            </a:r>
            <a:r>
              <a:rPr lang="en-US" sz="2000" b="1" dirty="0"/>
              <a:t>new or additional data</a:t>
            </a:r>
            <a:r>
              <a:rPr lang="en-US" sz="2000" dirty="0"/>
              <a:t>, and save the file with a new name, thus creating a new workbook. </a:t>
            </a:r>
          </a:p>
          <a:p>
            <a:pPr lvl="1"/>
            <a:r>
              <a:rPr lang="en-US" sz="2000" dirty="0"/>
              <a:t>You can also use </a:t>
            </a:r>
            <a:r>
              <a:rPr lang="en-US" sz="2000" b="1" dirty="0"/>
              <a:t>a template </a:t>
            </a:r>
            <a:r>
              <a:rPr lang="en-US" sz="2000" dirty="0"/>
              <a:t>to create a new workbook. A template is a model that has already been set up to display certain kinds of data, such as sales reports, invoices, and so on.</a:t>
            </a:r>
          </a:p>
        </p:txBody>
      </p:sp>
    </p:spTree>
    <p:extLst>
      <p:ext uri="{BB962C8B-B14F-4D97-AF65-F5344CB8AC3E}">
        <p14:creationId xmlns:p14="http://schemas.microsoft.com/office/powerpoint/2010/main" val="553179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BDF56-03EA-42C8-8669-B8ACA2A5A72B}"/>
              </a:ext>
            </a:extLst>
          </p:cNvPr>
          <p:cNvSpPr>
            <a:spLocks noGrp="1"/>
          </p:cNvSpPr>
          <p:nvPr>
            <p:ph type="title"/>
          </p:nvPr>
        </p:nvSpPr>
        <p:spPr/>
        <p:txBody>
          <a:bodyPr/>
          <a:lstStyle/>
          <a:p>
            <a:br>
              <a:rPr lang="en-US" dirty="0"/>
            </a:br>
            <a:r>
              <a:rPr kumimoji="0" lang="en-US" sz="32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CREATING WORKBOOKS</a:t>
            </a:r>
            <a:endParaRPr lang="en-US" dirty="0"/>
          </a:p>
        </p:txBody>
      </p:sp>
      <p:sp>
        <p:nvSpPr>
          <p:cNvPr id="3" name="Content Placeholder 2">
            <a:extLst>
              <a:ext uri="{FF2B5EF4-FFF2-40B4-BE49-F238E27FC236}">
                <a16:creationId xmlns:a16="http://schemas.microsoft.com/office/drawing/2014/main" id="{304A5206-A783-4152-A108-2A44060DFF76}"/>
              </a:ext>
            </a:extLst>
          </p:cNvPr>
          <p:cNvSpPr>
            <a:spLocks noGrp="1"/>
          </p:cNvSpPr>
          <p:nvPr>
            <p:ph idx="1"/>
          </p:nvPr>
        </p:nvSpPr>
        <p:spPr/>
        <p:txBody>
          <a:bodyPr/>
          <a:lstStyle/>
          <a:p>
            <a:pPr marL="0" marR="0" lvl="0" indent="0" algn="l" defTabSz="457200" rtl="0" eaLnBrk="1" fontAlgn="auto" latinLnBrk="0" hangingPunct="1">
              <a:lnSpc>
                <a:spcPct val="100000"/>
              </a:lnSpc>
              <a:spcBef>
                <a:spcPts val="1000"/>
              </a:spcBef>
              <a:spcAft>
                <a:spcPts val="0"/>
              </a:spcAft>
              <a:buClr>
                <a:srgbClr val="A53010"/>
              </a:buClr>
              <a:buSzTx/>
              <a:buFont typeface="Wingdings 3" charset="2"/>
              <a:buNone/>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Creating a Workbook from Scratch</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To create a new workbook, launch Excel and select a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blank workbook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or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another type of template</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If you are working in Excel and want to begin a new workbook, click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File tab</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click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New</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and then click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Blank workbook</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Worksheets often include text that describes the content of the worksheet. </a:t>
            </a:r>
          </a:p>
          <a:p>
            <a:endParaRPr lang="en-US" dirty="0"/>
          </a:p>
        </p:txBody>
      </p:sp>
    </p:spTree>
    <p:extLst>
      <p:ext uri="{BB962C8B-B14F-4D97-AF65-F5344CB8AC3E}">
        <p14:creationId xmlns:p14="http://schemas.microsoft.com/office/powerpoint/2010/main" val="1263584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DF3F4-4E07-447B-B53F-2F42C5CC266C}"/>
              </a:ext>
            </a:extLst>
          </p:cNvPr>
          <p:cNvSpPr>
            <a:spLocks noGrp="1"/>
          </p:cNvSpPr>
          <p:nvPr>
            <p:ph type="title"/>
          </p:nvPr>
        </p:nvSpPr>
        <p:spPr/>
        <p:txBody>
          <a:bodyPr/>
          <a:lstStyle/>
          <a:p>
            <a:br>
              <a:rPr lang="en-US" dirty="0"/>
            </a:br>
            <a:r>
              <a:rPr lang="en-US" dirty="0"/>
              <a:t>SAVING WORKBOOKS</a:t>
            </a:r>
          </a:p>
        </p:txBody>
      </p:sp>
      <p:sp>
        <p:nvSpPr>
          <p:cNvPr id="3" name="Content Placeholder 2">
            <a:extLst>
              <a:ext uri="{FF2B5EF4-FFF2-40B4-BE49-F238E27FC236}">
                <a16:creationId xmlns:a16="http://schemas.microsoft.com/office/drawing/2014/main" id="{A1F358F8-D7DE-4C91-959B-05099895E1C9}"/>
              </a:ext>
            </a:extLst>
          </p:cNvPr>
          <p:cNvSpPr>
            <a:spLocks noGrp="1"/>
          </p:cNvSpPr>
          <p:nvPr>
            <p:ph idx="1"/>
          </p:nvPr>
        </p:nvSpPr>
        <p:spPr/>
        <p:txBody>
          <a:bodyPr>
            <a:noAutofit/>
          </a:bodyPr>
          <a:lstStyle/>
          <a:p>
            <a:r>
              <a:rPr lang="en-US" sz="2400" dirty="0"/>
              <a:t>Save your workbook often and especially before opening another workbook, printing, or after you enter information</a:t>
            </a:r>
          </a:p>
          <a:p>
            <a:r>
              <a:rPr lang="en-US" sz="2400" dirty="0"/>
              <a:t>Save and Name your workbook</a:t>
            </a:r>
          </a:p>
          <a:p>
            <a:pPr marL="0" indent="0">
              <a:buNone/>
            </a:pPr>
            <a:r>
              <a:rPr lang="en-US" sz="2400" b="1" dirty="0"/>
              <a:t>Saving a Workbook Under a Different Name</a:t>
            </a:r>
          </a:p>
          <a:p>
            <a:r>
              <a:rPr lang="en-US" sz="2400" dirty="0"/>
              <a:t>You can rename an existing workbook to create a new workbook. F</a:t>
            </a:r>
          </a:p>
          <a:p>
            <a:r>
              <a:rPr lang="en-US" sz="2400" dirty="0"/>
              <a:t>You can also use an existing workbook as a template to create new workbooks. </a:t>
            </a:r>
          </a:p>
        </p:txBody>
      </p:sp>
    </p:spTree>
    <p:extLst>
      <p:ext uri="{BB962C8B-B14F-4D97-AF65-F5344CB8AC3E}">
        <p14:creationId xmlns:p14="http://schemas.microsoft.com/office/powerpoint/2010/main" val="1324154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1B521-B270-4C26-B870-1D247F43097F}"/>
              </a:ext>
            </a:extLst>
          </p:cNvPr>
          <p:cNvSpPr>
            <a:spLocks noGrp="1"/>
          </p:cNvSpPr>
          <p:nvPr>
            <p:ph type="title"/>
          </p:nvPr>
        </p:nvSpPr>
        <p:spPr/>
        <p:txBody>
          <a:bodyPr/>
          <a:lstStyle/>
          <a:p>
            <a:br>
              <a:rPr lang="en-US" dirty="0"/>
            </a:br>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Microsoft Excel (Worksheets)</a:t>
            </a:r>
            <a:endParaRPr lang="en-US" dirty="0"/>
          </a:p>
        </p:txBody>
      </p:sp>
      <p:sp>
        <p:nvSpPr>
          <p:cNvPr id="3" name="Content Placeholder 2">
            <a:extLst>
              <a:ext uri="{FF2B5EF4-FFF2-40B4-BE49-F238E27FC236}">
                <a16:creationId xmlns:a16="http://schemas.microsoft.com/office/drawing/2014/main" id="{4C938590-F6AD-4970-A3F3-F26F4DD5E436}"/>
              </a:ext>
            </a:extLst>
          </p:cNvPr>
          <p:cNvSpPr>
            <a:spLocks noGrp="1"/>
          </p:cNvSpPr>
          <p:nvPr>
            <p:ph idx="1"/>
          </p:nvPr>
        </p:nvSpPr>
        <p:spPr/>
        <p:txBody>
          <a:bodyPr>
            <a:normAutofit lnSpcReduction="10000"/>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 Excel the locations where you do your work are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cells, rows, and columns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within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 worksheet</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and worksheets as part of a workbook. </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 worksheet is a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grid</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composed of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rows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columns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and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cells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Each worksheet column starts at the top of the worksheet and goes to the bottom of the worksheet and is identified by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 letter</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Each row starts at the left edge of the worksheet and continues to the right and is identified by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 number</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p:txBody>
      </p:sp>
    </p:spTree>
    <p:extLst>
      <p:ext uri="{BB962C8B-B14F-4D97-AF65-F5344CB8AC3E}">
        <p14:creationId xmlns:p14="http://schemas.microsoft.com/office/powerpoint/2010/main" val="2981128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5A1C6-A666-4880-AC89-AE0EE87015CF}"/>
              </a:ext>
            </a:extLst>
          </p:cNvPr>
          <p:cNvSpPr>
            <a:spLocks noGrp="1"/>
          </p:cNvSpPr>
          <p:nvPr>
            <p:ph type="title"/>
          </p:nvPr>
        </p:nvSpPr>
        <p:spPr/>
        <p:txBody>
          <a:bodyPr/>
          <a:lstStyle/>
          <a:p>
            <a:b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br>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Microsoft Excel (Worksheets)</a:t>
            </a:r>
            <a:endParaRPr lang="en-US" dirty="0"/>
          </a:p>
        </p:txBody>
      </p:sp>
      <p:sp>
        <p:nvSpPr>
          <p:cNvPr id="3" name="Content Placeholder 2">
            <a:extLst>
              <a:ext uri="{FF2B5EF4-FFF2-40B4-BE49-F238E27FC236}">
                <a16:creationId xmlns:a16="http://schemas.microsoft.com/office/drawing/2014/main" id="{8943C6E0-418D-4424-BE4C-CFB1F0DBA493}"/>
              </a:ext>
            </a:extLst>
          </p:cNvPr>
          <p:cNvSpPr>
            <a:spLocks noGrp="1"/>
          </p:cNvSpPr>
          <p:nvPr>
            <p:ph idx="1"/>
          </p:nvPr>
        </p:nvSpPr>
        <p:spPr/>
        <p:txBody>
          <a:bodyPr/>
          <a:lstStyle/>
          <a:p>
            <a:r>
              <a:rPr lang="en-US" sz="2400" dirty="0"/>
              <a:t>Each box, or cell, on the grid is identified by the intersection of a column and a row. </a:t>
            </a:r>
          </a:p>
          <a:p>
            <a:r>
              <a:rPr lang="en-US" sz="2400" dirty="0"/>
              <a:t>Thus, the first cell in an open worksheet is </a:t>
            </a:r>
            <a:r>
              <a:rPr lang="en-US" sz="2400" b="1" dirty="0"/>
              <a:t>A1</a:t>
            </a:r>
            <a:r>
              <a:rPr lang="en-US" sz="2400" dirty="0"/>
              <a:t>. </a:t>
            </a:r>
          </a:p>
          <a:p>
            <a:r>
              <a:rPr lang="en-US" sz="2400" dirty="0"/>
              <a:t>You enter information by typing it into the </a:t>
            </a:r>
            <a:r>
              <a:rPr lang="en-US" sz="2400" b="1" dirty="0"/>
              <a:t>selected </a:t>
            </a:r>
            <a:r>
              <a:rPr lang="en-US" sz="2400" dirty="0"/>
              <a:t>or </a:t>
            </a:r>
            <a:r>
              <a:rPr lang="en-US" sz="2400" b="1" dirty="0"/>
              <a:t>active cell</a:t>
            </a:r>
            <a:r>
              <a:rPr lang="en-US" sz="2400" dirty="0"/>
              <a:t>, which is outlined by a </a:t>
            </a:r>
            <a:r>
              <a:rPr lang="en-US" sz="2400" b="1" dirty="0"/>
              <a:t>bold rectangle</a:t>
            </a:r>
            <a:r>
              <a:rPr lang="en-US" sz="2400" dirty="0"/>
              <a:t>. This is also called the </a:t>
            </a:r>
            <a:r>
              <a:rPr lang="en-US" sz="2400" b="1" dirty="0"/>
              <a:t>current</a:t>
            </a:r>
            <a:r>
              <a:rPr lang="en-US" sz="2400" dirty="0"/>
              <a:t> or </a:t>
            </a:r>
            <a:r>
              <a:rPr lang="en-US" sz="2400" b="1" dirty="0"/>
              <a:t>highlighted cell</a:t>
            </a:r>
            <a:r>
              <a:rPr lang="en-US" sz="2400" dirty="0"/>
              <a:t>.</a:t>
            </a:r>
          </a:p>
        </p:txBody>
      </p:sp>
    </p:spTree>
    <p:extLst>
      <p:ext uri="{BB962C8B-B14F-4D97-AF65-F5344CB8AC3E}">
        <p14:creationId xmlns:p14="http://schemas.microsoft.com/office/powerpoint/2010/main" val="2457883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49999-B5C8-4E19-AF06-142E09F43E12}"/>
              </a:ext>
            </a:extLst>
          </p:cNvPr>
          <p:cNvSpPr>
            <a:spLocks noGrp="1"/>
          </p:cNvSpPr>
          <p:nvPr>
            <p:ph type="title"/>
          </p:nvPr>
        </p:nvSpPr>
        <p:spPr/>
        <p:txBody>
          <a:bodyPr/>
          <a:lstStyle/>
          <a:p>
            <a:b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br>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Microsoft Excel’s (Workbook) </a:t>
            </a:r>
            <a:endParaRPr lang="en-US" dirty="0"/>
          </a:p>
        </p:txBody>
      </p:sp>
      <p:sp>
        <p:nvSpPr>
          <p:cNvPr id="3" name="Content Placeholder 2">
            <a:extLst>
              <a:ext uri="{FF2B5EF4-FFF2-40B4-BE49-F238E27FC236}">
                <a16:creationId xmlns:a16="http://schemas.microsoft.com/office/drawing/2014/main" id="{7155E048-A5E3-42E5-9A5E-A042E77A4823}"/>
              </a:ext>
            </a:extLst>
          </p:cNvPr>
          <p:cNvSpPr>
            <a:spLocks noGrp="1"/>
          </p:cNvSpPr>
          <p:nvPr>
            <p:ph idx="1"/>
          </p:nvPr>
        </p:nvSpPr>
        <p:spPr/>
        <p:txBody>
          <a:bodyPr>
            <a:normAutofit fontScale="92500"/>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Many of the tools you use while working in Excel are located on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ribbon</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that displays across the top of the window.</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ribbon is organized into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task-oriented command tabs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Each tab is divided into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task-specific command groups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with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commands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and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options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that relate to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group name</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ribbon can be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customized</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making new tabs to appear, such as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Developer</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and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Add-Ins tabs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If your ribbon is customized your screen might appear different than the one below.</a:t>
            </a:r>
          </a:p>
          <a:p>
            <a:endParaRPr lang="en-US" dirty="0"/>
          </a:p>
        </p:txBody>
      </p:sp>
    </p:spTree>
    <p:extLst>
      <p:ext uri="{BB962C8B-B14F-4D97-AF65-F5344CB8AC3E}">
        <p14:creationId xmlns:p14="http://schemas.microsoft.com/office/powerpoint/2010/main" val="2842110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6B28D-19DB-40CC-9F95-34199D21ACFA}"/>
              </a:ext>
            </a:extLst>
          </p:cNvPr>
          <p:cNvSpPr>
            <a:spLocks noGrp="1"/>
          </p:cNvSpPr>
          <p:nvPr>
            <p:ph type="title"/>
          </p:nvPr>
        </p:nvSpPr>
        <p:spPr/>
        <p:txBody>
          <a:bodyPr/>
          <a:lstStyle/>
          <a:p>
            <a:r>
              <a:rPr lang="en-US" dirty="0"/>
              <a:t>MICROSOFT EXCEL SCREEN ELEMENTS</a:t>
            </a:r>
            <a:br>
              <a:rPr lang="en-US" dirty="0"/>
            </a:br>
            <a:r>
              <a:rPr lang="en-US" dirty="0"/>
              <a:t>(Excel’s Blank Worksheet)</a:t>
            </a:r>
          </a:p>
        </p:txBody>
      </p:sp>
      <p:pic>
        <p:nvPicPr>
          <p:cNvPr id="5" name="Content Placeholder 4">
            <a:extLst>
              <a:ext uri="{FF2B5EF4-FFF2-40B4-BE49-F238E27FC236}">
                <a16:creationId xmlns:a16="http://schemas.microsoft.com/office/drawing/2014/main" id="{02F09EBA-292E-4A8D-9D57-6F978C79D7E1}"/>
              </a:ext>
            </a:extLst>
          </p:cNvPr>
          <p:cNvPicPr>
            <a:picLocks noGrp="1" noChangeAspect="1"/>
          </p:cNvPicPr>
          <p:nvPr>
            <p:ph idx="1"/>
          </p:nvPr>
        </p:nvPicPr>
        <p:blipFill>
          <a:blip r:embed="rId2"/>
          <a:stretch>
            <a:fillRect/>
          </a:stretch>
        </p:blipFill>
        <p:spPr>
          <a:xfrm>
            <a:off x="2592925" y="2133600"/>
            <a:ext cx="8234101" cy="4100290"/>
          </a:xfrm>
        </p:spPr>
      </p:pic>
    </p:spTree>
    <p:extLst>
      <p:ext uri="{BB962C8B-B14F-4D97-AF65-F5344CB8AC3E}">
        <p14:creationId xmlns:p14="http://schemas.microsoft.com/office/powerpoint/2010/main" val="738170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7C150-1174-487B-91BA-843DDEED5506}"/>
              </a:ext>
            </a:extLst>
          </p:cNvPr>
          <p:cNvSpPr>
            <a:spLocks noGrp="1"/>
          </p:cNvSpPr>
          <p:nvPr>
            <p:ph type="title"/>
          </p:nvPr>
        </p:nvSpPr>
        <p:spPr/>
        <p:txBody>
          <a:bodyPr/>
          <a:lstStyle/>
          <a:p>
            <a:br>
              <a:rPr lang="en-US" dirty="0"/>
            </a:br>
            <a:r>
              <a:rPr lang="en-US" dirty="0"/>
              <a:t>MICROSOFT EXCEL SCREEN ELEMENTS</a:t>
            </a:r>
          </a:p>
        </p:txBody>
      </p:sp>
      <p:sp>
        <p:nvSpPr>
          <p:cNvPr id="3" name="Content Placeholder 2">
            <a:extLst>
              <a:ext uri="{FF2B5EF4-FFF2-40B4-BE49-F238E27FC236}">
                <a16:creationId xmlns:a16="http://schemas.microsoft.com/office/drawing/2014/main" id="{573BAA6D-9E5C-42F7-8F77-C009373D1A0C}"/>
              </a:ext>
            </a:extLst>
          </p:cNvPr>
          <p:cNvSpPr>
            <a:spLocks noGrp="1"/>
          </p:cNvSpPr>
          <p:nvPr>
            <p:ph idx="1"/>
          </p:nvPr>
        </p:nvSpPr>
        <p:spPr/>
        <p:txBody>
          <a:bodyPr>
            <a:normAutofit fontScale="92500" lnSpcReduction="10000"/>
          </a:bodyPr>
          <a:lstStyle/>
          <a:p>
            <a:pPr marL="0" indent="0">
              <a:buNone/>
            </a:pPr>
            <a:r>
              <a:rPr lang="en-US" sz="2400" b="1" dirty="0"/>
              <a:t>The Ribbon</a:t>
            </a:r>
          </a:p>
          <a:p>
            <a:r>
              <a:rPr lang="en-US" sz="2400" dirty="0"/>
              <a:t>The Ribbon is designed to help you quickly find the </a:t>
            </a:r>
            <a:r>
              <a:rPr lang="en-US" sz="2400" b="1" dirty="0"/>
              <a:t>commands</a:t>
            </a:r>
            <a:r>
              <a:rPr lang="en-US" sz="2400" dirty="0"/>
              <a:t> that you need to complete a task. </a:t>
            </a:r>
          </a:p>
          <a:p>
            <a:r>
              <a:rPr lang="en-US" sz="2400" dirty="0"/>
              <a:t>Commands are organized </a:t>
            </a:r>
            <a:r>
              <a:rPr lang="en-US" sz="2400" b="1" dirty="0"/>
              <a:t>in logical groups</a:t>
            </a:r>
            <a:r>
              <a:rPr lang="en-US" sz="2400" dirty="0"/>
              <a:t>, which are collected together </a:t>
            </a:r>
            <a:r>
              <a:rPr lang="en-US" sz="2400" b="1" dirty="0"/>
              <a:t>under Tabs</a:t>
            </a:r>
            <a:r>
              <a:rPr lang="en-US" sz="2400" dirty="0"/>
              <a:t>. </a:t>
            </a:r>
          </a:p>
          <a:p>
            <a:r>
              <a:rPr lang="en-US" sz="2400" dirty="0"/>
              <a:t>Each </a:t>
            </a:r>
            <a:r>
              <a:rPr lang="en-US" sz="2400" b="1" dirty="0"/>
              <a:t>Tab</a:t>
            </a:r>
            <a:r>
              <a:rPr lang="en-US" sz="2400" dirty="0"/>
              <a:t> relates to a type of activity, such </a:t>
            </a:r>
            <a:r>
              <a:rPr lang="en-US" sz="2400" b="1" dirty="0"/>
              <a:t>as formatting or laying out a page</a:t>
            </a:r>
            <a:r>
              <a:rPr lang="en-US" sz="2400" dirty="0"/>
              <a:t>. </a:t>
            </a:r>
          </a:p>
          <a:p>
            <a:r>
              <a:rPr lang="en-US" sz="2400" dirty="0"/>
              <a:t>To reduce clutter, some Tabs are shown only when needed. For example, the </a:t>
            </a:r>
            <a:r>
              <a:rPr lang="en-US" sz="2400" b="1" dirty="0"/>
              <a:t>Picture Tools tab</a:t>
            </a:r>
            <a:r>
              <a:rPr lang="en-US" sz="2400" dirty="0"/>
              <a:t> is shown only when a picture is selected.</a:t>
            </a:r>
          </a:p>
        </p:txBody>
      </p:sp>
    </p:spTree>
    <p:extLst>
      <p:ext uri="{BB962C8B-B14F-4D97-AF65-F5344CB8AC3E}">
        <p14:creationId xmlns:p14="http://schemas.microsoft.com/office/powerpoint/2010/main" val="1144529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719D3-A3D9-4849-B00C-89FFB12D430D}"/>
              </a:ext>
            </a:extLst>
          </p:cNvPr>
          <p:cNvSpPr>
            <a:spLocks noGrp="1"/>
          </p:cNvSpPr>
          <p:nvPr>
            <p:ph type="title"/>
          </p:nvPr>
        </p:nvSpPr>
        <p:spPr/>
        <p:txBody>
          <a:bodyPr/>
          <a:lstStyle/>
          <a:p>
            <a:br>
              <a:rPr lang="en-US" dirty="0"/>
            </a:br>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MICROSOFT EXCEL SCREEN ELEMENTS</a:t>
            </a:r>
            <a:endParaRPr lang="en-US" dirty="0"/>
          </a:p>
        </p:txBody>
      </p:sp>
      <p:sp>
        <p:nvSpPr>
          <p:cNvPr id="3" name="Content Placeholder 2">
            <a:extLst>
              <a:ext uri="{FF2B5EF4-FFF2-40B4-BE49-F238E27FC236}">
                <a16:creationId xmlns:a16="http://schemas.microsoft.com/office/drawing/2014/main" id="{8E7BF738-A017-4AE5-B839-840A502AED79}"/>
              </a:ext>
            </a:extLst>
          </p:cNvPr>
          <p:cNvSpPr>
            <a:spLocks noGrp="1"/>
          </p:cNvSpPr>
          <p:nvPr>
            <p:ph idx="1"/>
          </p:nvPr>
        </p:nvSpPr>
        <p:spPr/>
        <p:txBody>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File Menu: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Here you will find the basic commands such as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open, save, print, etc</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Quick Access Toolbar: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place to keep the items that you not only need to access quickly, but want to be immediately available regardless of which of the Ribbon's tabs you're working on. </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If you put so many items on the Quick Access Toolbar that it becomes too big to fit on the title bar, you can move it onto its own line.</a:t>
            </a:r>
          </a:p>
          <a:p>
            <a:endParaRPr lang="en-US" dirty="0"/>
          </a:p>
        </p:txBody>
      </p:sp>
    </p:spTree>
    <p:extLst>
      <p:ext uri="{BB962C8B-B14F-4D97-AF65-F5344CB8AC3E}">
        <p14:creationId xmlns:p14="http://schemas.microsoft.com/office/powerpoint/2010/main" val="1906643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35183-D748-4560-971D-2943376ED926}"/>
              </a:ext>
            </a:extLst>
          </p:cNvPr>
          <p:cNvSpPr>
            <a:spLocks noGrp="1"/>
          </p:cNvSpPr>
          <p:nvPr>
            <p:ph type="title"/>
          </p:nvPr>
        </p:nvSpPr>
        <p:spPr/>
        <p:txBody>
          <a:bodyPr/>
          <a:lstStyle/>
          <a:p>
            <a:br>
              <a:rPr lang="en-US" dirty="0"/>
            </a:br>
            <a:r>
              <a:rPr lang="en-US" dirty="0"/>
              <a:t>MICROSOFT EXCEL SCREEN ELEMENTS</a:t>
            </a:r>
          </a:p>
        </p:txBody>
      </p:sp>
      <p:sp>
        <p:nvSpPr>
          <p:cNvPr id="3" name="Content Placeholder 2">
            <a:extLst>
              <a:ext uri="{FF2B5EF4-FFF2-40B4-BE49-F238E27FC236}">
                <a16:creationId xmlns:a16="http://schemas.microsoft.com/office/drawing/2014/main" id="{2A75FB62-BF4F-4852-973C-C4C95D13C6AD}"/>
              </a:ext>
            </a:extLst>
          </p:cNvPr>
          <p:cNvSpPr>
            <a:spLocks noGrp="1"/>
          </p:cNvSpPr>
          <p:nvPr>
            <p:ph idx="1"/>
          </p:nvPr>
        </p:nvSpPr>
        <p:spPr/>
        <p:txBody>
          <a:bodyPr>
            <a:normAutofit/>
          </a:bodyPr>
          <a:lstStyle/>
          <a:p>
            <a:r>
              <a:rPr lang="en-US" sz="2400" b="1" dirty="0"/>
              <a:t>Tell Me: </a:t>
            </a:r>
            <a:r>
              <a:rPr lang="en-US" sz="2400" dirty="0"/>
              <a:t>This is a text field where you can enter words and phrases about what you want to do next and quickly get to features you want to use or actions you want to perform. </a:t>
            </a:r>
          </a:p>
          <a:p>
            <a:pPr lvl="1"/>
            <a:r>
              <a:rPr lang="en-US" sz="2400" dirty="0"/>
              <a:t>You can also use Tell Me to find help about what you're looking for, or to use Smart Lookup to research or define the term you entered.</a:t>
            </a:r>
          </a:p>
          <a:p>
            <a:r>
              <a:rPr lang="en-US" sz="2400" b="1" dirty="0"/>
              <a:t>Formula Bar: </a:t>
            </a:r>
            <a:r>
              <a:rPr lang="en-US" sz="2400" dirty="0"/>
              <a:t>A place where you can </a:t>
            </a:r>
            <a:r>
              <a:rPr lang="en-US" sz="2400" b="1" dirty="0"/>
              <a:t>enter</a:t>
            </a:r>
            <a:r>
              <a:rPr lang="en-US" sz="2400" dirty="0"/>
              <a:t> or </a:t>
            </a:r>
            <a:r>
              <a:rPr lang="en-US" sz="2400" b="1" dirty="0"/>
              <a:t>view formulas </a:t>
            </a:r>
            <a:r>
              <a:rPr lang="en-US" sz="2400" dirty="0"/>
              <a:t>or </a:t>
            </a:r>
            <a:r>
              <a:rPr lang="en-US" sz="2400" b="1" dirty="0"/>
              <a:t>text.</a:t>
            </a:r>
          </a:p>
          <a:p>
            <a:pPr marL="0" indent="0">
              <a:buNone/>
            </a:pPr>
            <a:endParaRPr lang="en-US" dirty="0"/>
          </a:p>
          <a:p>
            <a:endParaRPr lang="en-US" dirty="0"/>
          </a:p>
        </p:txBody>
      </p:sp>
    </p:spTree>
    <p:extLst>
      <p:ext uri="{BB962C8B-B14F-4D97-AF65-F5344CB8AC3E}">
        <p14:creationId xmlns:p14="http://schemas.microsoft.com/office/powerpoint/2010/main" val="1061822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6AC22-989B-4932-9830-09FBA39E9B5F}"/>
              </a:ext>
            </a:extLst>
          </p:cNvPr>
          <p:cNvSpPr>
            <a:spLocks noGrp="1"/>
          </p:cNvSpPr>
          <p:nvPr>
            <p:ph type="title"/>
          </p:nvPr>
        </p:nvSpPr>
        <p:spPr/>
        <p:txBody>
          <a:bodyPr/>
          <a:lstStyle/>
          <a:p>
            <a:br>
              <a:rPr lang="en-US" dirty="0"/>
            </a:br>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MICROSOFT EXCEL SCREEN ELEMENTS</a:t>
            </a:r>
            <a:endParaRPr lang="en-US" dirty="0"/>
          </a:p>
        </p:txBody>
      </p:sp>
      <p:sp>
        <p:nvSpPr>
          <p:cNvPr id="3" name="Content Placeholder 2">
            <a:extLst>
              <a:ext uri="{FF2B5EF4-FFF2-40B4-BE49-F238E27FC236}">
                <a16:creationId xmlns:a16="http://schemas.microsoft.com/office/drawing/2014/main" id="{60F254E7-8E4A-4444-8D88-6FE57D010E28}"/>
              </a:ext>
            </a:extLst>
          </p:cNvPr>
          <p:cNvSpPr>
            <a:spLocks noGrp="1"/>
          </p:cNvSpPr>
          <p:nvPr>
            <p:ph idx="1"/>
          </p:nvPr>
        </p:nvSpPr>
        <p:spPr/>
        <p:txBody>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Expand Formula Bar Button</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This button allows you to expand the formula bar. This is helpful when you have either a long formula or large piece of text in a cell.</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Worksheet Navigation Tabs: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By default, every workbook starts with 1 sheet. </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Insert Worksheet Button: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 the Insert New Worksheet button to insert a new worksheet in your workbook.</a:t>
            </a:r>
          </a:p>
          <a:p>
            <a:endParaRPr lang="en-US" dirty="0"/>
          </a:p>
        </p:txBody>
      </p:sp>
    </p:spTree>
    <p:extLst>
      <p:ext uri="{BB962C8B-B14F-4D97-AF65-F5344CB8AC3E}">
        <p14:creationId xmlns:p14="http://schemas.microsoft.com/office/powerpoint/2010/main" val="1492864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1A7A4-9C0F-40BC-86C9-4DAD3C164B09}"/>
              </a:ext>
            </a:extLst>
          </p:cNvPr>
          <p:cNvSpPr>
            <a:spLocks noGrp="1"/>
          </p:cNvSpPr>
          <p:nvPr>
            <p:ph type="title"/>
          </p:nvPr>
        </p:nvSpPr>
        <p:spPr/>
        <p:txBody>
          <a:bodyPr/>
          <a:lstStyle/>
          <a:p>
            <a:br>
              <a:rPr lang="en-US" dirty="0"/>
            </a:br>
            <a:r>
              <a:rPr lang="en-US" dirty="0"/>
              <a:t>MICROSOFT EXCEL SCREEN ELEMENTS</a:t>
            </a:r>
          </a:p>
        </p:txBody>
      </p:sp>
      <p:sp>
        <p:nvSpPr>
          <p:cNvPr id="3" name="Content Placeholder 2">
            <a:extLst>
              <a:ext uri="{FF2B5EF4-FFF2-40B4-BE49-F238E27FC236}">
                <a16:creationId xmlns:a16="http://schemas.microsoft.com/office/drawing/2014/main" id="{BA3924D2-CA6C-4D44-B610-ED5E43FEC58A}"/>
              </a:ext>
            </a:extLst>
          </p:cNvPr>
          <p:cNvSpPr>
            <a:spLocks noGrp="1"/>
          </p:cNvSpPr>
          <p:nvPr>
            <p:ph idx="1"/>
          </p:nvPr>
        </p:nvSpPr>
        <p:spPr/>
        <p:txBody>
          <a:bodyPr>
            <a:normAutofit/>
          </a:bodyPr>
          <a:lstStyle/>
          <a:p>
            <a:r>
              <a:rPr lang="en-US" sz="2400" b="1" dirty="0"/>
              <a:t>Horizontal/Vertical Scroll: </a:t>
            </a:r>
            <a:r>
              <a:rPr lang="en-US" sz="2400" dirty="0"/>
              <a:t>Allows you to scroll vertically/horizontally in the worksheet.</a:t>
            </a:r>
          </a:p>
          <a:p>
            <a:r>
              <a:rPr lang="en-US" sz="2400" b="1" dirty="0"/>
              <a:t>Normal View</a:t>
            </a:r>
            <a:r>
              <a:rPr lang="en-US" sz="2400" dirty="0"/>
              <a:t>: This is the “normal view” for working on a spreadsheet in Excel.</a:t>
            </a:r>
          </a:p>
          <a:p>
            <a:r>
              <a:rPr lang="en-US" sz="2400" b="1" dirty="0"/>
              <a:t>Page Layout View</a:t>
            </a:r>
            <a:r>
              <a:rPr lang="en-US" sz="2400" dirty="0"/>
              <a:t>: View the document as it will appear on the printed page.</a:t>
            </a:r>
          </a:p>
        </p:txBody>
      </p:sp>
    </p:spTree>
    <p:extLst>
      <p:ext uri="{BB962C8B-B14F-4D97-AF65-F5344CB8AC3E}">
        <p14:creationId xmlns:p14="http://schemas.microsoft.com/office/powerpoint/2010/main" val="1874538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64D60-7EE3-4C54-B488-A25F8FABEA1F}"/>
              </a:ext>
            </a:extLst>
          </p:cNvPr>
          <p:cNvSpPr>
            <a:spLocks noGrp="1"/>
          </p:cNvSpPr>
          <p:nvPr>
            <p:ph type="title"/>
          </p:nvPr>
        </p:nvSpPr>
        <p:spPr/>
        <p:txBody>
          <a:bodyPr/>
          <a:lstStyle/>
          <a:p>
            <a:br>
              <a:rPr lang="en-US" dirty="0"/>
            </a:br>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MICROSOFT EXCEL SCREEN ELEMENTS</a:t>
            </a:r>
            <a:endParaRPr lang="en-US" dirty="0"/>
          </a:p>
        </p:txBody>
      </p:sp>
      <p:sp>
        <p:nvSpPr>
          <p:cNvPr id="3" name="Content Placeholder 2">
            <a:extLst>
              <a:ext uri="{FF2B5EF4-FFF2-40B4-BE49-F238E27FC236}">
                <a16:creationId xmlns:a16="http://schemas.microsoft.com/office/drawing/2014/main" id="{5271B324-AD28-4A06-BF18-8674E7E63477}"/>
              </a:ext>
            </a:extLst>
          </p:cNvPr>
          <p:cNvSpPr>
            <a:spLocks noGrp="1"/>
          </p:cNvSpPr>
          <p:nvPr>
            <p:ph idx="1"/>
          </p:nvPr>
        </p:nvSpPr>
        <p:spPr/>
        <p:txBody>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Page Break Preview: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View a preview of where pages will break when the document is printed.</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Zoom Level: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Allows you to quickly zoom in or zoom out of the worksheet</a:t>
            </a:r>
          </a:p>
          <a:p>
            <a:endParaRPr lang="en-US" dirty="0"/>
          </a:p>
        </p:txBody>
      </p:sp>
    </p:spTree>
    <p:extLst>
      <p:ext uri="{BB962C8B-B14F-4D97-AF65-F5344CB8AC3E}">
        <p14:creationId xmlns:p14="http://schemas.microsoft.com/office/powerpoint/2010/main" val="3943481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566CC-7280-4C02-9AAB-51E203AC3E0A}"/>
              </a:ext>
            </a:extLst>
          </p:cNvPr>
          <p:cNvSpPr>
            <a:spLocks noGrp="1"/>
          </p:cNvSpPr>
          <p:nvPr>
            <p:ph type="title"/>
          </p:nvPr>
        </p:nvSpPr>
        <p:spPr/>
        <p:txBody>
          <a:bodyPr/>
          <a:lstStyle/>
          <a:p>
            <a:r>
              <a:rPr lang="en-US" dirty="0"/>
              <a:t>ENTERING AND EDITING BASIC DATA IN A WORKSHEET</a:t>
            </a:r>
          </a:p>
        </p:txBody>
      </p:sp>
      <p:sp>
        <p:nvSpPr>
          <p:cNvPr id="3" name="Content Placeholder 2">
            <a:extLst>
              <a:ext uri="{FF2B5EF4-FFF2-40B4-BE49-F238E27FC236}">
                <a16:creationId xmlns:a16="http://schemas.microsoft.com/office/drawing/2014/main" id="{22C0804E-DCAA-47F0-B52F-8B6627F43FE1}"/>
              </a:ext>
            </a:extLst>
          </p:cNvPr>
          <p:cNvSpPr>
            <a:spLocks noGrp="1"/>
          </p:cNvSpPr>
          <p:nvPr>
            <p:ph idx="1"/>
          </p:nvPr>
        </p:nvSpPr>
        <p:spPr/>
        <p:txBody>
          <a:bodyPr>
            <a:noAutofit/>
          </a:bodyPr>
          <a:lstStyle/>
          <a:p>
            <a:r>
              <a:rPr lang="en-US" sz="2000" dirty="0"/>
              <a:t>You can type data directly into a worksheet cell. You can also copy and paste information from another worksheet or from other programs. </a:t>
            </a:r>
          </a:p>
          <a:p>
            <a:r>
              <a:rPr lang="en-US" sz="2000" dirty="0"/>
              <a:t>Copy takes the information from one location and duplicates it. You use Paste to put this information into another location. </a:t>
            </a:r>
          </a:p>
          <a:p>
            <a:r>
              <a:rPr lang="en-US" sz="2000" dirty="0"/>
              <a:t>To enter data in a cell in a worksheet, you must make the desired cell </a:t>
            </a:r>
            <a:r>
              <a:rPr lang="en-US" sz="2000" b="1" dirty="0"/>
              <a:t>active</a:t>
            </a:r>
            <a:r>
              <a:rPr lang="en-US" sz="2000" dirty="0"/>
              <a:t> and then type the data. </a:t>
            </a:r>
          </a:p>
          <a:p>
            <a:r>
              <a:rPr lang="en-US" sz="2000" dirty="0"/>
              <a:t>To move to the next column after text is entered, </a:t>
            </a:r>
            <a:r>
              <a:rPr lang="en-US" sz="2000" b="1" dirty="0"/>
              <a:t>press Tab</a:t>
            </a:r>
            <a:r>
              <a:rPr lang="en-US" sz="2000" dirty="0"/>
              <a:t>. Continue to press Tab to go to the next column.</a:t>
            </a:r>
          </a:p>
        </p:txBody>
      </p:sp>
    </p:spTree>
    <p:extLst>
      <p:ext uri="{BB962C8B-B14F-4D97-AF65-F5344CB8AC3E}">
        <p14:creationId xmlns:p14="http://schemas.microsoft.com/office/powerpoint/2010/main" val="3947873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C4101-0CBC-414F-B037-83004062E668}"/>
              </a:ext>
            </a:extLst>
          </p:cNvPr>
          <p:cNvSpPr>
            <a:spLocks noGrp="1"/>
          </p:cNvSpPr>
          <p:nvPr>
            <p:ph type="title"/>
          </p:nvPr>
        </p:nvSpPr>
        <p:spPr/>
        <p:txBody>
          <a:bodyPr/>
          <a:lstStyle/>
          <a:p>
            <a:r>
              <a:rPr lang="en-US" dirty="0"/>
              <a:t>ENTERING AND EDITING BASIC DATA IN A WORKSHEET</a:t>
            </a:r>
          </a:p>
        </p:txBody>
      </p:sp>
      <p:sp>
        <p:nvSpPr>
          <p:cNvPr id="3" name="Content Placeholder 2">
            <a:extLst>
              <a:ext uri="{FF2B5EF4-FFF2-40B4-BE49-F238E27FC236}">
                <a16:creationId xmlns:a16="http://schemas.microsoft.com/office/drawing/2014/main" id="{F9B5ACDD-7991-476C-B6FB-1EE0B8575864}"/>
              </a:ext>
            </a:extLst>
          </p:cNvPr>
          <p:cNvSpPr>
            <a:spLocks noGrp="1"/>
          </p:cNvSpPr>
          <p:nvPr>
            <p:ph idx="1"/>
          </p:nvPr>
        </p:nvSpPr>
        <p:spPr/>
        <p:txBody>
          <a:bodyPr>
            <a:normAutofit/>
          </a:bodyPr>
          <a:lstStyle/>
          <a:p>
            <a:pPr marL="0" marR="0" lvl="0" indent="0" algn="l" defTabSz="457200" rtl="0" eaLnBrk="1" fontAlgn="auto" latinLnBrk="0" hangingPunct="1">
              <a:lnSpc>
                <a:spcPct val="100000"/>
              </a:lnSpc>
              <a:spcBef>
                <a:spcPts val="1000"/>
              </a:spcBef>
              <a:spcAft>
                <a:spcPts val="0"/>
              </a:spcAft>
              <a:buClr>
                <a:srgbClr val="A53010"/>
              </a:buClr>
              <a:buSzTx/>
              <a:buNone/>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Entering Basic Data in a Worksheet</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When you finish typing the entries in a row, press Enter to move to the next row. </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You can also use the arrow keys to move to an adjacent cell or click on any cell to make that cell active. </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Press Enter to accept the entry and move down one row. </a:t>
            </a:r>
          </a:p>
        </p:txBody>
      </p:sp>
    </p:spTree>
    <p:extLst>
      <p:ext uri="{BB962C8B-B14F-4D97-AF65-F5344CB8AC3E}">
        <p14:creationId xmlns:p14="http://schemas.microsoft.com/office/powerpoint/2010/main" val="37800334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E8D92-229E-490E-8E80-F62421E34070}"/>
              </a:ext>
            </a:extLst>
          </p:cNvPr>
          <p:cNvSpPr>
            <a:spLocks noGrp="1"/>
          </p:cNvSpPr>
          <p:nvPr>
            <p:ph type="title"/>
          </p:nvPr>
        </p:nvSpPr>
        <p:spPr/>
        <p:txBody>
          <a:bodyPr/>
          <a:lstStyle/>
          <a:p>
            <a:r>
              <a:rPr lang="en-US" dirty="0"/>
              <a:t>ENTERING AND EDITING BASIC DATA IN A WORKSHEET</a:t>
            </a:r>
          </a:p>
        </p:txBody>
      </p:sp>
      <p:sp>
        <p:nvSpPr>
          <p:cNvPr id="3" name="Content Placeholder 2">
            <a:extLst>
              <a:ext uri="{FF2B5EF4-FFF2-40B4-BE49-F238E27FC236}">
                <a16:creationId xmlns:a16="http://schemas.microsoft.com/office/drawing/2014/main" id="{764D2D6C-E293-4814-9875-5E21BAF661A5}"/>
              </a:ext>
            </a:extLst>
          </p:cNvPr>
          <p:cNvSpPr>
            <a:spLocks noGrp="1"/>
          </p:cNvSpPr>
          <p:nvPr>
            <p:ph idx="1"/>
          </p:nvPr>
        </p:nvSpPr>
        <p:spPr/>
        <p:txBody>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Text is stored in only one cell, even when it appears to extend into adjacent cells. </a:t>
            </a:r>
          </a:p>
          <a:p>
            <a:pPr marL="742950" marR="0" lvl="1"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If an entry is longer than the cell width and the next cell contains data, the entry appears in truncated form. </a:t>
            </a:r>
          </a:p>
          <a:p>
            <a:pPr marL="742950" marR="0" lvl="1"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To edit the data, you need to go to the cell where the text starts and not to the adjacent cells.</a:t>
            </a:r>
          </a:p>
          <a:p>
            <a:endParaRPr lang="en-US" dirty="0"/>
          </a:p>
        </p:txBody>
      </p:sp>
    </p:spTree>
    <p:extLst>
      <p:ext uri="{BB962C8B-B14F-4D97-AF65-F5344CB8AC3E}">
        <p14:creationId xmlns:p14="http://schemas.microsoft.com/office/powerpoint/2010/main" val="2669197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815CB-96FB-4D11-8522-7A1FC238DA9C}"/>
              </a:ext>
            </a:extLst>
          </p:cNvPr>
          <p:cNvSpPr>
            <a:spLocks noGrp="1"/>
          </p:cNvSpPr>
          <p:nvPr>
            <p:ph type="title"/>
          </p:nvPr>
        </p:nvSpPr>
        <p:spPr/>
        <p:txBody>
          <a:bodyPr/>
          <a:lstStyle/>
          <a:p>
            <a:r>
              <a:rPr lang="en-US" dirty="0"/>
              <a:t>ENTERING AND EDITING BASIC DATA IN A WORKSHEET</a:t>
            </a:r>
          </a:p>
        </p:txBody>
      </p:sp>
      <p:sp>
        <p:nvSpPr>
          <p:cNvPr id="3" name="Content Placeholder 2">
            <a:extLst>
              <a:ext uri="{FF2B5EF4-FFF2-40B4-BE49-F238E27FC236}">
                <a16:creationId xmlns:a16="http://schemas.microsoft.com/office/drawing/2014/main" id="{E3233EAD-CC6A-4516-96CB-A4E2A006F3EA}"/>
              </a:ext>
            </a:extLst>
          </p:cNvPr>
          <p:cNvSpPr>
            <a:spLocks noGrp="1"/>
          </p:cNvSpPr>
          <p:nvPr>
            <p:ph idx="1"/>
          </p:nvPr>
        </p:nvSpPr>
        <p:spPr/>
        <p:txBody>
          <a:bodyPr>
            <a:normAutofit/>
          </a:bodyPr>
          <a:lstStyle/>
          <a:p>
            <a:pPr marL="0" indent="0">
              <a:buNone/>
            </a:pPr>
            <a:r>
              <a:rPr lang="en-US" sz="2000" b="1" dirty="0"/>
              <a:t>Create a Workbook</a:t>
            </a:r>
          </a:p>
          <a:p>
            <a:r>
              <a:rPr lang="en-US" sz="2000" dirty="0"/>
              <a:t>Create a new workbook End User Computing Class., </a:t>
            </a:r>
          </a:p>
          <a:p>
            <a:r>
              <a:rPr lang="en-US" sz="2000" dirty="0"/>
              <a:t>LAUNCH Excel and start a new blank workbook.</a:t>
            </a:r>
          </a:p>
          <a:p>
            <a:pPr lvl="1"/>
            <a:r>
              <a:rPr lang="en-US" sz="2000" dirty="0"/>
              <a:t>1. Click cell A1, type Students List., and then press Enter.</a:t>
            </a:r>
          </a:p>
          <a:p>
            <a:pPr lvl="1"/>
            <a:r>
              <a:rPr lang="en-US" sz="2000" dirty="0"/>
              <a:t>2. Click cell A2 and type Attendance.</a:t>
            </a:r>
          </a:p>
          <a:p>
            <a:pPr lvl="1"/>
            <a:r>
              <a:rPr lang="en-US" sz="2000" dirty="0"/>
              <a:t>3. Beginning in A4, type the following. Press Tab between each new cell and Enter to move to a new row:</a:t>
            </a:r>
          </a:p>
          <a:p>
            <a:pPr marL="0" indent="0">
              <a:buNone/>
            </a:pPr>
            <a:r>
              <a:rPr lang="en-US" sz="2000" dirty="0"/>
              <a:t>	LastName 		FirstName		RegNum</a:t>
            </a:r>
          </a:p>
          <a:p>
            <a:pPr marL="0" indent="0">
              <a:buNone/>
            </a:pPr>
            <a:r>
              <a:rPr lang="en-US" sz="2000" b="1" dirty="0"/>
              <a:t>****Fill each column with Seven(7) items.</a:t>
            </a:r>
            <a:r>
              <a:rPr lang="en-US" sz="2000" dirty="0"/>
              <a:t>	</a:t>
            </a:r>
          </a:p>
        </p:txBody>
      </p:sp>
    </p:spTree>
    <p:extLst>
      <p:ext uri="{BB962C8B-B14F-4D97-AF65-F5344CB8AC3E}">
        <p14:creationId xmlns:p14="http://schemas.microsoft.com/office/powerpoint/2010/main" val="4221667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6A406-DAFF-43DE-A136-05DF67570F13}"/>
              </a:ext>
            </a:extLst>
          </p:cNvPr>
          <p:cNvSpPr>
            <a:spLocks noGrp="1"/>
          </p:cNvSpPr>
          <p:nvPr>
            <p:ph type="title"/>
          </p:nvPr>
        </p:nvSpPr>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ENTERING AND EDITING BASIC DATA IN A WORKSHEET</a:t>
            </a:r>
            <a:endParaRPr lang="en-US" dirty="0"/>
          </a:p>
        </p:txBody>
      </p:sp>
      <p:sp>
        <p:nvSpPr>
          <p:cNvPr id="3" name="Content Placeholder 2">
            <a:extLst>
              <a:ext uri="{FF2B5EF4-FFF2-40B4-BE49-F238E27FC236}">
                <a16:creationId xmlns:a16="http://schemas.microsoft.com/office/drawing/2014/main" id="{C2E44A90-DA56-4F4C-8826-43C8359060D7}"/>
              </a:ext>
            </a:extLst>
          </p:cNvPr>
          <p:cNvSpPr>
            <a:spLocks noGrp="1"/>
          </p:cNvSpPr>
          <p:nvPr>
            <p:ph idx="1"/>
          </p:nvPr>
        </p:nvSpPr>
        <p:spPr/>
        <p:txBody>
          <a:bodyPr>
            <a:normAutofit/>
          </a:bodyPr>
          <a:lstStyle/>
          <a:p>
            <a:pPr marL="0" indent="0">
              <a:buNone/>
            </a:pPr>
            <a:r>
              <a:rPr lang="en-US" sz="2000" b="1" dirty="0"/>
              <a:t>Changing the Column Width</a:t>
            </a:r>
          </a:p>
          <a:p>
            <a:r>
              <a:rPr lang="en-US" sz="2000" dirty="0"/>
              <a:t>In Excel, column width is established based on the existing data. When you add an entry in a column that extends beyond the column’s width, it is necessary to adjust the column width to accommodate the entry.</a:t>
            </a:r>
          </a:p>
          <a:p>
            <a:pPr lvl="1"/>
            <a:r>
              <a:rPr lang="en-US" sz="2000" dirty="0"/>
              <a:t>1. Move the mouse pointer between columns A and B, to the column markers at the top of the worksheet. The mouse pointer changes to a double-headed arrow.</a:t>
            </a:r>
          </a:p>
          <a:p>
            <a:pPr lvl="1"/>
            <a:r>
              <a:rPr lang="en-US" sz="2000" dirty="0"/>
              <a:t>2. Double-click the column marker between A and B. The width of the column changes to the widest entry in column A. </a:t>
            </a:r>
          </a:p>
        </p:txBody>
      </p:sp>
    </p:spTree>
    <p:extLst>
      <p:ext uri="{BB962C8B-B14F-4D97-AF65-F5344CB8AC3E}">
        <p14:creationId xmlns:p14="http://schemas.microsoft.com/office/powerpoint/2010/main" val="4649490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6832B-64C4-4203-B27A-F9C0E5FC1382}"/>
              </a:ext>
            </a:extLst>
          </p:cNvPr>
          <p:cNvSpPr>
            <a:spLocks noGrp="1"/>
          </p:cNvSpPr>
          <p:nvPr>
            <p:ph type="title"/>
          </p:nvPr>
        </p:nvSpPr>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ENTERING AND EDITING BASIC DATA IN A WORKSHEET</a:t>
            </a:r>
            <a:endParaRPr lang="en-US" dirty="0"/>
          </a:p>
        </p:txBody>
      </p:sp>
      <p:sp>
        <p:nvSpPr>
          <p:cNvPr id="3" name="Content Placeholder 2">
            <a:extLst>
              <a:ext uri="{FF2B5EF4-FFF2-40B4-BE49-F238E27FC236}">
                <a16:creationId xmlns:a16="http://schemas.microsoft.com/office/drawing/2014/main" id="{F643E2FB-5770-4637-82F2-7A2A69885B78}"/>
              </a:ext>
            </a:extLst>
          </p:cNvPr>
          <p:cNvSpPr>
            <a:spLocks noGrp="1"/>
          </p:cNvSpPr>
          <p:nvPr>
            <p:ph idx="1"/>
          </p:nvPr>
        </p:nvSpPr>
        <p:spPr/>
        <p:txBody>
          <a:bodyPr/>
          <a:lstStyle/>
          <a:p>
            <a:r>
              <a:rPr lang="en-US" sz="2400" dirty="0"/>
              <a:t>To change the column width manually, point to the column marker between columns A and B and drag the pointer left or right instead of double-clicking.</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3. Drag the double-headed arrow mouse pointer between columns B and C until the ScreenTip shows some amount of Width: … (and pixels), and then release the mouse button.</a:t>
            </a:r>
          </a:p>
          <a:p>
            <a:endParaRPr lang="en-US" dirty="0"/>
          </a:p>
        </p:txBody>
      </p:sp>
    </p:spTree>
    <p:extLst>
      <p:ext uri="{BB962C8B-B14F-4D97-AF65-F5344CB8AC3E}">
        <p14:creationId xmlns:p14="http://schemas.microsoft.com/office/powerpoint/2010/main" val="36188116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9B645-2AE2-4C0B-87F9-E64CFF3C39C3}"/>
              </a:ext>
            </a:extLst>
          </p:cNvPr>
          <p:cNvSpPr>
            <a:spLocks noGrp="1"/>
          </p:cNvSpPr>
          <p:nvPr>
            <p:ph type="title"/>
          </p:nvPr>
        </p:nvSpPr>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ENTERING AND EDITING BASIC DATA IN A WORKSHEET</a:t>
            </a:r>
            <a:endParaRPr lang="en-US" dirty="0"/>
          </a:p>
        </p:txBody>
      </p:sp>
      <p:sp>
        <p:nvSpPr>
          <p:cNvPr id="3" name="Content Placeholder 2">
            <a:extLst>
              <a:ext uri="{FF2B5EF4-FFF2-40B4-BE49-F238E27FC236}">
                <a16:creationId xmlns:a16="http://schemas.microsoft.com/office/drawing/2014/main" id="{1A35BC07-F272-47A7-B4E6-B38A7FE957CE}"/>
              </a:ext>
            </a:extLst>
          </p:cNvPr>
          <p:cNvSpPr>
            <a:spLocks noGrp="1"/>
          </p:cNvSpPr>
          <p:nvPr>
            <p:ph idx="1"/>
          </p:nvPr>
        </p:nvSpPr>
        <p:spPr/>
        <p:txBody>
          <a:bodyPr>
            <a:noAutofit/>
          </a:bodyPr>
          <a:lstStyle/>
          <a:p>
            <a:r>
              <a:rPr lang="en-US" sz="2000" dirty="0"/>
              <a:t>When you type text that is longer than the cell’s width, the text appears as if it extends into the next cell. However, when you type in the next cell, the overflow text does not display. </a:t>
            </a:r>
          </a:p>
          <a:p>
            <a:r>
              <a:rPr lang="en-US" sz="2000" dirty="0"/>
              <a:t>The text is still there. It is often easier to proof your work if you have the column widths match the longest text entries. </a:t>
            </a:r>
          </a:p>
          <a:p>
            <a:r>
              <a:rPr lang="en-US" sz="2000" dirty="0"/>
              <a:t>You can double-click on the column markers to automatically adjust to the widest entry or drag the column marker to adjust the column width to your desired width.</a:t>
            </a:r>
          </a:p>
        </p:txBody>
      </p:sp>
    </p:spTree>
    <p:extLst>
      <p:ext uri="{BB962C8B-B14F-4D97-AF65-F5344CB8AC3E}">
        <p14:creationId xmlns:p14="http://schemas.microsoft.com/office/powerpoint/2010/main" val="10150904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59D79-7CCD-47E3-BF4D-18E6CEBB5BB6}"/>
              </a:ext>
            </a:extLst>
          </p:cNvPr>
          <p:cNvSpPr>
            <a:spLocks noGrp="1"/>
          </p:cNvSpPr>
          <p:nvPr>
            <p:ph type="title"/>
          </p:nvPr>
        </p:nvSpPr>
        <p:spPr/>
        <p:txBody>
          <a:bodyPr>
            <a:normAutofit fontScale="90000"/>
          </a:bodyPr>
          <a:lstStyle/>
          <a:p>
            <a:br>
              <a:rPr lang="en-US" dirty="0"/>
            </a:br>
            <a:r>
              <a:rPr lang="en-US" dirty="0"/>
              <a:t>MOVING AROUND IN  EXCEL (KEYS)</a:t>
            </a:r>
            <a:br>
              <a:rPr lang="en-US" dirty="0"/>
            </a:br>
            <a:endParaRPr lang="en-US" dirty="0"/>
          </a:p>
        </p:txBody>
      </p:sp>
      <p:sp>
        <p:nvSpPr>
          <p:cNvPr id="3" name="Content Placeholder 2">
            <a:extLst>
              <a:ext uri="{FF2B5EF4-FFF2-40B4-BE49-F238E27FC236}">
                <a16:creationId xmlns:a16="http://schemas.microsoft.com/office/drawing/2014/main" id="{F78F49EA-1190-4B0F-BEAD-A749EC7ADCBF}"/>
              </a:ext>
            </a:extLst>
          </p:cNvPr>
          <p:cNvSpPr>
            <a:spLocks noGrp="1"/>
          </p:cNvSpPr>
          <p:nvPr>
            <p:ph idx="1"/>
          </p:nvPr>
        </p:nvSpPr>
        <p:spPr/>
        <p:txBody>
          <a:bodyPr>
            <a:noAutofit/>
          </a:bodyPr>
          <a:lstStyle/>
          <a:p>
            <a:r>
              <a:rPr lang="en-US" sz="2400" dirty="0"/>
              <a:t>An Excel worksheet can contain more than one million rows and more than sixteen thousand columns (Available columns go from A through XFD, and available rows can go from 1 through 1,048,576).</a:t>
            </a:r>
          </a:p>
          <a:p>
            <a:r>
              <a:rPr lang="en-US" sz="2400" b="1" dirty="0"/>
              <a:t>ARROW KEYS: </a:t>
            </a:r>
            <a:r>
              <a:rPr lang="en-US" sz="2400" dirty="0"/>
              <a:t>Move one cell up, down, left, or right in a worksheet. </a:t>
            </a:r>
            <a:r>
              <a:rPr lang="en-US" sz="2400" b="1" dirty="0"/>
              <a:t>SHIFT+ARROW KEY </a:t>
            </a:r>
            <a:r>
              <a:rPr lang="en-US" sz="2400" dirty="0"/>
              <a:t>extends the selection of cells by one cell. </a:t>
            </a:r>
          </a:p>
        </p:txBody>
      </p:sp>
    </p:spTree>
    <p:extLst>
      <p:ext uri="{BB962C8B-B14F-4D97-AF65-F5344CB8AC3E}">
        <p14:creationId xmlns:p14="http://schemas.microsoft.com/office/powerpoint/2010/main" val="36746356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471CB-A2EC-4247-93D1-BF8F98023F1C}"/>
              </a:ext>
            </a:extLst>
          </p:cNvPr>
          <p:cNvSpPr>
            <a:spLocks noGrp="1"/>
          </p:cNvSpPr>
          <p:nvPr>
            <p:ph type="title"/>
          </p:nvPr>
        </p:nvSpPr>
        <p:spPr/>
        <p:txBody>
          <a:bodyPr/>
          <a:lstStyle/>
          <a:p>
            <a:br>
              <a:rPr lang="en-US" dirty="0"/>
            </a:br>
            <a:r>
              <a:rPr lang="en-US" dirty="0"/>
              <a:t>MOVING AROUND IN  EXCEL (KEYS)</a:t>
            </a:r>
          </a:p>
        </p:txBody>
      </p:sp>
      <p:sp>
        <p:nvSpPr>
          <p:cNvPr id="3" name="Content Placeholder 2">
            <a:extLst>
              <a:ext uri="{FF2B5EF4-FFF2-40B4-BE49-F238E27FC236}">
                <a16:creationId xmlns:a16="http://schemas.microsoft.com/office/drawing/2014/main" id="{0E55B066-5720-41AC-8E45-E03F3F61F789}"/>
              </a:ext>
            </a:extLst>
          </p:cNvPr>
          <p:cNvSpPr>
            <a:spLocks noGrp="1"/>
          </p:cNvSpPr>
          <p:nvPr>
            <p:ph idx="1"/>
          </p:nvPr>
        </p:nvSpPr>
        <p:spPr/>
        <p:txBody>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BACKSPACE: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Deletes one character to the left in the Formula Bar. Also clears the content of the active cell. In cell editing mode, it deletes the character to the left of the insertion point.</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DELETE:</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Removes the cell contents (data and formulas) from selected cells without affecting cell formats or comments. In cell editing mode, it deletes the character to the right of the insertion point.</a:t>
            </a:r>
          </a:p>
          <a:p>
            <a:endParaRPr lang="en-US" dirty="0"/>
          </a:p>
        </p:txBody>
      </p:sp>
    </p:spTree>
    <p:extLst>
      <p:ext uri="{BB962C8B-B14F-4D97-AF65-F5344CB8AC3E}">
        <p14:creationId xmlns:p14="http://schemas.microsoft.com/office/powerpoint/2010/main" val="15359693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A8945-E33B-4D3C-9E3A-1CD513382D7C}"/>
              </a:ext>
            </a:extLst>
          </p:cNvPr>
          <p:cNvSpPr>
            <a:spLocks noGrp="1"/>
          </p:cNvSpPr>
          <p:nvPr>
            <p:ph type="title"/>
          </p:nvPr>
        </p:nvSpPr>
        <p:spPr/>
        <p:txBody>
          <a:bodyPr/>
          <a:lstStyle/>
          <a:p>
            <a:r>
              <a:rPr kumimoji="0" lang="en-US" sz="32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MOVING AROUND IN  EXCEL (KEYS)</a:t>
            </a:r>
            <a:endParaRPr lang="en-US" dirty="0"/>
          </a:p>
        </p:txBody>
      </p:sp>
      <p:sp>
        <p:nvSpPr>
          <p:cNvPr id="3" name="Content Placeholder 2">
            <a:extLst>
              <a:ext uri="{FF2B5EF4-FFF2-40B4-BE49-F238E27FC236}">
                <a16:creationId xmlns:a16="http://schemas.microsoft.com/office/drawing/2014/main" id="{18EEC3BB-79B5-4AAD-97F4-38E6F5E56E90}"/>
              </a:ext>
            </a:extLst>
          </p:cNvPr>
          <p:cNvSpPr>
            <a:spLocks noGrp="1"/>
          </p:cNvSpPr>
          <p:nvPr>
            <p:ph idx="1"/>
          </p:nvPr>
        </p:nvSpPr>
        <p:spPr/>
        <p:txBody>
          <a:bodyPr>
            <a:normAutofit/>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ENTER: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Completes a cell entry from the cell or the Formula Bar, and selects the cell below (by default). </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ESC: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Closes an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open menu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or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submenu</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dialog box</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or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message window</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endParaRPr lang="en-US" dirty="0"/>
          </a:p>
        </p:txBody>
      </p:sp>
    </p:spTree>
    <p:extLst>
      <p:ext uri="{BB962C8B-B14F-4D97-AF65-F5344CB8AC3E}">
        <p14:creationId xmlns:p14="http://schemas.microsoft.com/office/powerpoint/2010/main" val="17457367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59257-B9D6-46C8-92DA-8F322AFA3B92}"/>
              </a:ext>
            </a:extLst>
          </p:cNvPr>
          <p:cNvSpPr>
            <a:spLocks noGrp="1"/>
          </p:cNvSpPr>
          <p:nvPr>
            <p:ph type="title"/>
          </p:nvPr>
        </p:nvSpPr>
        <p:spPr/>
        <p:txBody>
          <a:bodyPr/>
          <a:lstStyle/>
          <a:p>
            <a:br>
              <a:rPr lang="en-US" dirty="0"/>
            </a:br>
            <a:r>
              <a:rPr lang="en-US" dirty="0"/>
              <a:t>MOVING AROUND IN EXCEL (KEYS)</a:t>
            </a:r>
            <a:endParaRPr lang="en-MW" dirty="0"/>
          </a:p>
        </p:txBody>
      </p:sp>
      <p:sp>
        <p:nvSpPr>
          <p:cNvPr id="3" name="Content Placeholder 2">
            <a:extLst>
              <a:ext uri="{FF2B5EF4-FFF2-40B4-BE49-F238E27FC236}">
                <a16:creationId xmlns:a16="http://schemas.microsoft.com/office/drawing/2014/main" id="{6E0B317A-F1D9-4075-AB52-B8D68A1803AA}"/>
              </a:ext>
            </a:extLst>
          </p:cNvPr>
          <p:cNvSpPr>
            <a:spLocks noGrp="1"/>
          </p:cNvSpPr>
          <p:nvPr>
            <p:ph idx="1"/>
          </p:nvPr>
        </p:nvSpPr>
        <p:spPr/>
        <p:txBody>
          <a:bodyPr>
            <a:noAutofit/>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END:</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Turns End Mode On or Off. In End Mode you can press an arrow key to move to the next nonblank cell in the same column or row as the active cell.</a:t>
            </a:r>
          </a:p>
          <a:p>
            <a:pPr marL="742950" marR="0" lvl="1"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End Mode turns off automatically after pressing the arrow key.</a:t>
            </a:r>
          </a:p>
          <a:p>
            <a:pPr marL="742950" marR="0" lvl="1"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Make sure to press End again before pressing the next arrow key.</a:t>
            </a:r>
          </a:p>
          <a:p>
            <a:pPr marL="742950" marR="0" lvl="1"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End Mode is shown in the status bar when it is on.</a:t>
            </a:r>
          </a:p>
        </p:txBody>
      </p:sp>
    </p:spTree>
    <p:extLst>
      <p:ext uri="{BB962C8B-B14F-4D97-AF65-F5344CB8AC3E}">
        <p14:creationId xmlns:p14="http://schemas.microsoft.com/office/powerpoint/2010/main" val="37257133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C8AC7-1F9B-4108-BB22-9F67163FBE07}"/>
              </a:ext>
            </a:extLst>
          </p:cNvPr>
          <p:cNvSpPr>
            <a:spLocks noGrp="1"/>
          </p:cNvSpPr>
          <p:nvPr>
            <p:ph type="title"/>
          </p:nvPr>
        </p:nvSpPr>
        <p:spPr/>
        <p:txBody>
          <a:bodyPr/>
          <a:lstStyle/>
          <a:p>
            <a:br>
              <a:rPr lang="en-US" dirty="0"/>
            </a:br>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MOVING AROUND IN EXCEL (KEYS)</a:t>
            </a:r>
            <a:endParaRPr lang="en-MW" dirty="0"/>
          </a:p>
        </p:txBody>
      </p:sp>
      <p:sp>
        <p:nvSpPr>
          <p:cNvPr id="3" name="Content Placeholder 2">
            <a:extLst>
              <a:ext uri="{FF2B5EF4-FFF2-40B4-BE49-F238E27FC236}">
                <a16:creationId xmlns:a16="http://schemas.microsoft.com/office/drawing/2014/main" id="{EA1C92EF-E8A3-4849-93D2-73D6FA7806ED}"/>
              </a:ext>
            </a:extLst>
          </p:cNvPr>
          <p:cNvSpPr>
            <a:spLocks noGrp="1"/>
          </p:cNvSpPr>
          <p:nvPr>
            <p:ph idx="1"/>
          </p:nvPr>
        </p:nvSpPr>
        <p:spPr/>
        <p:txBody>
          <a:bodyPr>
            <a:normAutofit fontScale="92500" lnSpcReduction="10000"/>
          </a:bodyPr>
          <a:lstStyle/>
          <a:p>
            <a:pPr marL="742950" marR="0" lvl="1"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If the cells are blank, pressing End followed by an arrow key moves to the last cell in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row</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or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column</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742950" marR="0" lvl="1"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End also selects the last command on the Menu when a menu or submenu is visible</a:t>
            </a:r>
          </a:p>
          <a:p>
            <a:pPr marL="742950" marR="0" lvl="1"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CTRL+END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moves to the last cell on a worksheet, to the lowest used row of the rightmost used column. </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If the cursor is in the formula bar,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CTRL+END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moves the cursor to the end of the text. </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CTRL+SHIFT+END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extends the selection of cells to the last used cell on the worksheet (lower-right corner). </a:t>
            </a:r>
          </a:p>
          <a:p>
            <a:pPr marL="400050" marR="0" lvl="1" indent="0" algn="l" defTabSz="457200" rtl="0" eaLnBrk="1" fontAlgn="auto" latinLnBrk="0" hangingPunct="1">
              <a:lnSpc>
                <a:spcPct val="100000"/>
              </a:lnSpc>
              <a:spcBef>
                <a:spcPts val="1000"/>
              </a:spcBef>
              <a:spcAft>
                <a:spcPts val="0"/>
              </a:spcAft>
              <a:buClr>
                <a:srgbClr val="A53010"/>
              </a:buClr>
              <a:buSzTx/>
              <a:buNone/>
              <a:tabLst/>
              <a:defRPr/>
            </a:pPr>
            <a:endParaRPr kumimoji="0" lang="en-MW" sz="1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endParaRPr lang="en-MW" dirty="0"/>
          </a:p>
        </p:txBody>
      </p:sp>
    </p:spTree>
    <p:extLst>
      <p:ext uri="{BB962C8B-B14F-4D97-AF65-F5344CB8AC3E}">
        <p14:creationId xmlns:p14="http://schemas.microsoft.com/office/powerpoint/2010/main" val="40359205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F0713-E798-4DE5-94D2-9C9EECF3EDB3}"/>
              </a:ext>
            </a:extLst>
          </p:cNvPr>
          <p:cNvSpPr>
            <a:spLocks noGrp="1"/>
          </p:cNvSpPr>
          <p:nvPr>
            <p:ph type="title"/>
          </p:nvPr>
        </p:nvSpPr>
        <p:spPr/>
        <p:txBody>
          <a:bodyPr>
            <a:normAutofit/>
          </a:bodyPr>
          <a:lstStyle/>
          <a:p>
            <a:br>
              <a:rPr lang="en-US" dirty="0"/>
            </a:br>
            <a:r>
              <a:rPr lang="en-US" dirty="0"/>
              <a:t>MOVING AROUND IN  EXCEL (KEYS)</a:t>
            </a:r>
          </a:p>
        </p:txBody>
      </p:sp>
      <p:sp>
        <p:nvSpPr>
          <p:cNvPr id="3" name="Content Placeholder 2">
            <a:extLst>
              <a:ext uri="{FF2B5EF4-FFF2-40B4-BE49-F238E27FC236}">
                <a16:creationId xmlns:a16="http://schemas.microsoft.com/office/drawing/2014/main" id="{9E2DA125-C0E0-4050-82AF-3F2B9A1FED84}"/>
              </a:ext>
            </a:extLst>
          </p:cNvPr>
          <p:cNvSpPr>
            <a:spLocks noGrp="1"/>
          </p:cNvSpPr>
          <p:nvPr>
            <p:ph idx="1"/>
          </p:nvPr>
        </p:nvSpPr>
        <p:spPr/>
        <p:txBody>
          <a:bodyPr>
            <a:normAutofit/>
          </a:bodyPr>
          <a:lstStyle/>
          <a:p>
            <a:pPr lvl="1"/>
            <a:r>
              <a:rPr lang="en-US" sz="2400" dirty="0"/>
              <a:t>If the cursor is in the formula bar, </a:t>
            </a:r>
            <a:r>
              <a:rPr lang="en-US" sz="2400" b="1" dirty="0"/>
              <a:t>CTRL+SHIFT+END </a:t>
            </a:r>
            <a:r>
              <a:rPr lang="en-US" sz="2400" dirty="0"/>
              <a:t>selects all text in the formula bar from the cursor position to the end—this does not affect the height of the formula bar.</a:t>
            </a:r>
          </a:p>
          <a:p>
            <a:pPr lvl="1" indent="-342900">
              <a:buClr>
                <a:srgbClr val="A53010"/>
              </a:buClr>
              <a:defRPr/>
            </a:pPr>
            <a:r>
              <a:rPr kumimoji="0" lang="en-US" sz="2400" b="1" i="0" u="none" strike="noStrike" kern="1200" cap="none" spc="0" normalizeH="0" baseline="0" noProof="0" dirty="0">
                <a:ln>
                  <a:noFill/>
                </a:ln>
                <a:solidFill>
                  <a:prstClr val="black">
                    <a:lumMod val="75000"/>
                    <a:lumOff val="25000"/>
                  </a:prstClr>
                </a:solidFill>
                <a:effectLst/>
                <a:uLnTx/>
                <a:uFillTx/>
                <a:ea typeface="+mn-ea"/>
                <a:cs typeface="+mn-cs"/>
              </a:rPr>
              <a:t>HOME: </a:t>
            </a: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Moves to the beginning of a row in a worksheet. </a:t>
            </a:r>
            <a:r>
              <a:rPr kumimoji="0" lang="en-US" sz="2400" b="1" i="0" u="none" strike="noStrike" kern="1200" cap="none" spc="0" normalizeH="0" baseline="0" noProof="0" dirty="0">
                <a:ln>
                  <a:noFill/>
                </a:ln>
                <a:solidFill>
                  <a:prstClr val="black">
                    <a:lumMod val="75000"/>
                    <a:lumOff val="25000"/>
                  </a:prstClr>
                </a:solidFill>
                <a:effectLst/>
                <a:uLnTx/>
                <a:uFillTx/>
                <a:ea typeface="+mn-ea"/>
                <a:cs typeface="+mn-cs"/>
              </a:rPr>
              <a:t>CTRL+HOME</a:t>
            </a: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 moves to the beginning of a worksheet.</a:t>
            </a:r>
          </a:p>
          <a:p>
            <a:pPr lvl="1" indent="-342900">
              <a:buClr>
                <a:srgbClr val="A53010"/>
              </a:buClr>
              <a:defRPr/>
            </a:pPr>
            <a:r>
              <a:rPr kumimoji="0" lang="en-US" sz="2400" b="1" i="0" u="none" strike="noStrike" kern="1200" cap="none" spc="0" normalizeH="0" baseline="0" noProof="0" dirty="0">
                <a:ln>
                  <a:noFill/>
                </a:ln>
                <a:solidFill>
                  <a:prstClr val="black">
                    <a:lumMod val="75000"/>
                    <a:lumOff val="25000"/>
                  </a:prstClr>
                </a:solidFill>
                <a:effectLst/>
                <a:uLnTx/>
                <a:uFillTx/>
                <a:ea typeface="+mn-ea"/>
                <a:cs typeface="+mn-cs"/>
              </a:rPr>
              <a:t>PAGE DOWN: </a:t>
            </a: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Moves one screen down in a worksheet. </a:t>
            </a:r>
          </a:p>
          <a:p>
            <a:pPr lvl="1" indent="-342900">
              <a:buClr>
                <a:srgbClr val="A53010"/>
              </a:buClr>
              <a:defRPr/>
            </a:pPr>
            <a:r>
              <a:rPr kumimoji="0" lang="en-US" sz="2400" b="1" i="0" u="none" strike="noStrike" kern="1200" cap="none" spc="0" normalizeH="0" baseline="0" noProof="0" dirty="0">
                <a:ln>
                  <a:noFill/>
                </a:ln>
                <a:solidFill>
                  <a:prstClr val="black">
                    <a:lumMod val="75000"/>
                    <a:lumOff val="25000"/>
                  </a:prstClr>
                </a:solidFill>
                <a:effectLst/>
                <a:uLnTx/>
                <a:uFillTx/>
                <a:ea typeface="+mn-ea"/>
                <a:cs typeface="+mn-cs"/>
              </a:rPr>
              <a:t>PAGE UP: </a:t>
            </a: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Moves one screen up in a worksheet. </a:t>
            </a:r>
          </a:p>
          <a:p>
            <a:pPr lvl="1"/>
            <a:endParaRPr lang="en-US" sz="2400" dirty="0"/>
          </a:p>
        </p:txBody>
      </p:sp>
    </p:spTree>
    <p:extLst>
      <p:ext uri="{BB962C8B-B14F-4D97-AF65-F5344CB8AC3E}">
        <p14:creationId xmlns:p14="http://schemas.microsoft.com/office/powerpoint/2010/main" val="32800080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EC5ED-34B0-4B33-A101-C1CA5248A936}"/>
              </a:ext>
            </a:extLst>
          </p:cNvPr>
          <p:cNvSpPr>
            <a:spLocks noGrp="1"/>
          </p:cNvSpPr>
          <p:nvPr>
            <p:ph type="title"/>
          </p:nvPr>
        </p:nvSpPr>
        <p:spPr/>
        <p:txBody>
          <a:bodyPr>
            <a:normAutofit/>
          </a:bodyPr>
          <a:lstStyle/>
          <a:p>
            <a:br>
              <a:rPr lang="en-US" dirty="0"/>
            </a:br>
            <a:r>
              <a:rPr lang="en-US" dirty="0"/>
              <a:t>MOVING AROUND IN  EXCEL (KEYS)</a:t>
            </a:r>
          </a:p>
        </p:txBody>
      </p:sp>
      <p:sp>
        <p:nvSpPr>
          <p:cNvPr id="3" name="Content Placeholder 2">
            <a:extLst>
              <a:ext uri="{FF2B5EF4-FFF2-40B4-BE49-F238E27FC236}">
                <a16:creationId xmlns:a16="http://schemas.microsoft.com/office/drawing/2014/main" id="{E6D034AA-F25A-4A4B-A096-36579CC9DBE7}"/>
              </a:ext>
            </a:extLst>
          </p:cNvPr>
          <p:cNvSpPr>
            <a:spLocks noGrp="1"/>
          </p:cNvSpPr>
          <p:nvPr>
            <p:ph idx="1"/>
          </p:nvPr>
        </p:nvSpPr>
        <p:spPr/>
        <p:txBody>
          <a:bodyPr>
            <a:normAutofit/>
          </a:bodyPr>
          <a:lstStyle/>
          <a:p>
            <a:r>
              <a:rPr lang="en-US" sz="2400" b="1" dirty="0" err="1"/>
              <a:t>Ctrl+Down</a:t>
            </a:r>
            <a:r>
              <a:rPr lang="en-US" sz="2400" b="1" dirty="0"/>
              <a:t> Arrow:  </a:t>
            </a:r>
            <a:r>
              <a:rPr lang="en-US" sz="2400" dirty="0"/>
              <a:t>to go to the last row of data (The last possible row in the worksheet displays). </a:t>
            </a:r>
          </a:p>
          <a:p>
            <a:r>
              <a:rPr lang="en-US" sz="2400" b="1" dirty="0" err="1"/>
              <a:t>Ctrl+Right</a:t>
            </a:r>
            <a:r>
              <a:rPr lang="en-US" sz="2400" b="1" dirty="0"/>
              <a:t> Arrow: </a:t>
            </a:r>
            <a:r>
              <a:rPr lang="en-US" sz="2400" dirty="0"/>
              <a:t>the last column in the range of data, becomes the active cell.</a:t>
            </a:r>
          </a:p>
          <a:p>
            <a:endParaRPr lang="en-US" sz="2400" dirty="0"/>
          </a:p>
          <a:p>
            <a:endParaRPr lang="en-US" dirty="0"/>
          </a:p>
        </p:txBody>
      </p:sp>
    </p:spTree>
    <p:extLst>
      <p:ext uri="{BB962C8B-B14F-4D97-AF65-F5344CB8AC3E}">
        <p14:creationId xmlns:p14="http://schemas.microsoft.com/office/powerpoint/2010/main" val="15150348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41A99-05EA-4120-AB2D-FA8EC16507D2}"/>
              </a:ext>
            </a:extLst>
          </p:cNvPr>
          <p:cNvSpPr>
            <a:spLocks noGrp="1"/>
          </p:cNvSpPr>
          <p:nvPr>
            <p:ph type="title"/>
          </p:nvPr>
        </p:nvSpPr>
        <p:spPr/>
        <p:txBody>
          <a:bodyPr/>
          <a:lstStyle/>
          <a:p>
            <a:br>
              <a:rPr lang="en-US" dirty="0"/>
            </a:br>
            <a:r>
              <a:rPr kumimoji="0" lang="en-US" sz="32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MOVING AROUND IN  EXCEL (KEYS)</a:t>
            </a:r>
            <a:endParaRPr lang="en-US" dirty="0"/>
          </a:p>
        </p:txBody>
      </p:sp>
      <p:sp>
        <p:nvSpPr>
          <p:cNvPr id="3" name="Content Placeholder 2">
            <a:extLst>
              <a:ext uri="{FF2B5EF4-FFF2-40B4-BE49-F238E27FC236}">
                <a16:creationId xmlns:a16="http://schemas.microsoft.com/office/drawing/2014/main" id="{24E0C1EA-B261-4E16-B28E-D2E2BE04AA8C}"/>
              </a:ext>
            </a:extLst>
          </p:cNvPr>
          <p:cNvSpPr>
            <a:spLocks noGrp="1"/>
          </p:cNvSpPr>
          <p:nvPr>
            <p:ph idx="1"/>
          </p:nvPr>
        </p:nvSpPr>
        <p:spPr/>
        <p:txBody>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SPACEBAR: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 a dialog box, performs the action for the selected button, or selects or clears a check box.</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CTRL+SPACEBAR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selects an entire column in a worksheet.</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SHIFT+SPACEBAR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selects an entire row in a worksheet.</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CTRL+SHIFT+SPACEBAR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selects the entire worksheet. </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TAB: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Moves one cell to the right in a worksheet.</a:t>
            </a:r>
          </a:p>
          <a:p>
            <a:endParaRPr lang="en-US" dirty="0"/>
          </a:p>
        </p:txBody>
      </p:sp>
    </p:spTree>
    <p:extLst>
      <p:ext uri="{BB962C8B-B14F-4D97-AF65-F5344CB8AC3E}">
        <p14:creationId xmlns:p14="http://schemas.microsoft.com/office/powerpoint/2010/main" val="32840915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DEC04-007D-43D4-A459-F8E77DE36985}"/>
              </a:ext>
            </a:extLst>
          </p:cNvPr>
          <p:cNvSpPr>
            <a:spLocks noGrp="1"/>
          </p:cNvSpPr>
          <p:nvPr>
            <p:ph type="title"/>
          </p:nvPr>
        </p:nvSpPr>
        <p:spPr/>
        <p:txBody>
          <a:bodyPr>
            <a:normAutofit/>
          </a:bodyPr>
          <a:lstStyle/>
          <a:p>
            <a:r>
              <a:rPr lang="en-US" dirty="0"/>
              <a:t>Highlighting/Selecting Areas Using the Mouse</a:t>
            </a:r>
          </a:p>
        </p:txBody>
      </p:sp>
      <p:sp>
        <p:nvSpPr>
          <p:cNvPr id="3" name="Content Placeholder 2">
            <a:extLst>
              <a:ext uri="{FF2B5EF4-FFF2-40B4-BE49-F238E27FC236}">
                <a16:creationId xmlns:a16="http://schemas.microsoft.com/office/drawing/2014/main" id="{FD95D1CF-CDC9-4329-9CBA-8BAAE0E1EC90}"/>
              </a:ext>
            </a:extLst>
          </p:cNvPr>
          <p:cNvSpPr>
            <a:spLocks noGrp="1"/>
          </p:cNvSpPr>
          <p:nvPr>
            <p:ph idx="1"/>
          </p:nvPr>
        </p:nvSpPr>
        <p:spPr/>
        <p:txBody>
          <a:bodyPr/>
          <a:lstStyle/>
          <a:p>
            <a:r>
              <a:rPr lang="en-US" sz="2400" b="1" dirty="0"/>
              <a:t>Select cells: </a:t>
            </a:r>
          </a:p>
          <a:p>
            <a:r>
              <a:rPr lang="en-US" sz="2400" b="1" dirty="0"/>
              <a:t>Moves a cell’s contents: </a:t>
            </a:r>
          </a:p>
          <a:p>
            <a:r>
              <a:rPr lang="en-US" sz="2400" b="1" dirty="0"/>
              <a:t>Activate the Autofill feature: </a:t>
            </a:r>
            <a:endParaRPr lang="en-US" sz="2400" dirty="0"/>
          </a:p>
          <a:p>
            <a:r>
              <a:rPr lang="en-US" sz="2400" b="1" dirty="0"/>
              <a:t>To Select a Column: </a:t>
            </a:r>
            <a:r>
              <a:rPr lang="en-US" sz="2400" dirty="0"/>
              <a:t>Click on the column letter</a:t>
            </a:r>
          </a:p>
          <a:p>
            <a:r>
              <a:rPr lang="en-US" sz="2400" b="1" dirty="0"/>
              <a:t>To Select a Row: </a:t>
            </a:r>
            <a:r>
              <a:rPr lang="en-US" sz="2400" dirty="0"/>
              <a:t>Click on the row number</a:t>
            </a:r>
          </a:p>
          <a:p>
            <a:r>
              <a:rPr lang="en-US" sz="2400" b="1" dirty="0"/>
              <a:t>To Select the Entire Worksheet: </a:t>
            </a:r>
            <a:r>
              <a:rPr lang="en-US" sz="2400" dirty="0"/>
              <a:t>Click above </a:t>
            </a:r>
            <a:r>
              <a:rPr lang="en-US" sz="2400" b="1" dirty="0"/>
              <a:t>row 1 </a:t>
            </a:r>
            <a:r>
              <a:rPr lang="en-US" sz="2400" dirty="0"/>
              <a:t>and to the left of </a:t>
            </a:r>
            <a:r>
              <a:rPr lang="en-US" sz="2400" b="1" dirty="0"/>
              <a:t>column A </a:t>
            </a:r>
            <a:r>
              <a:rPr lang="en-US" sz="2400" dirty="0"/>
              <a:t>or hit </a:t>
            </a:r>
            <a:r>
              <a:rPr lang="en-US" sz="2400" b="1" dirty="0"/>
              <a:t>CTRL A</a:t>
            </a:r>
            <a:r>
              <a:rPr lang="en-US" sz="2400" dirty="0"/>
              <a:t> on the keyboard</a:t>
            </a:r>
          </a:p>
          <a:p>
            <a:endParaRPr lang="en-US" dirty="0"/>
          </a:p>
        </p:txBody>
      </p:sp>
      <p:pic>
        <p:nvPicPr>
          <p:cNvPr id="5" name="Picture 4">
            <a:extLst>
              <a:ext uri="{FF2B5EF4-FFF2-40B4-BE49-F238E27FC236}">
                <a16:creationId xmlns:a16="http://schemas.microsoft.com/office/drawing/2014/main" id="{E79328B4-75F5-46D7-B59E-0802FB7C517E}"/>
              </a:ext>
            </a:extLst>
          </p:cNvPr>
          <p:cNvPicPr>
            <a:picLocks noChangeAspect="1"/>
          </p:cNvPicPr>
          <p:nvPr/>
        </p:nvPicPr>
        <p:blipFill>
          <a:blip r:embed="rId2"/>
          <a:stretch>
            <a:fillRect/>
          </a:stretch>
        </p:blipFill>
        <p:spPr>
          <a:xfrm>
            <a:off x="4830831" y="2183296"/>
            <a:ext cx="781050" cy="352425"/>
          </a:xfrm>
          <a:prstGeom prst="rect">
            <a:avLst/>
          </a:prstGeom>
        </p:spPr>
      </p:pic>
      <p:pic>
        <p:nvPicPr>
          <p:cNvPr id="7" name="Picture 6">
            <a:extLst>
              <a:ext uri="{FF2B5EF4-FFF2-40B4-BE49-F238E27FC236}">
                <a16:creationId xmlns:a16="http://schemas.microsoft.com/office/drawing/2014/main" id="{6BFC4879-783C-43FF-A095-D6FD451E75A0}"/>
              </a:ext>
            </a:extLst>
          </p:cNvPr>
          <p:cNvPicPr>
            <a:picLocks noChangeAspect="1"/>
          </p:cNvPicPr>
          <p:nvPr/>
        </p:nvPicPr>
        <p:blipFill>
          <a:blip r:embed="rId3"/>
          <a:stretch>
            <a:fillRect/>
          </a:stretch>
        </p:blipFill>
        <p:spPr>
          <a:xfrm>
            <a:off x="6661149" y="2599892"/>
            <a:ext cx="771525" cy="476250"/>
          </a:xfrm>
          <a:prstGeom prst="rect">
            <a:avLst/>
          </a:prstGeom>
        </p:spPr>
      </p:pic>
      <p:pic>
        <p:nvPicPr>
          <p:cNvPr id="9" name="Picture 8">
            <a:extLst>
              <a:ext uri="{FF2B5EF4-FFF2-40B4-BE49-F238E27FC236}">
                <a16:creationId xmlns:a16="http://schemas.microsoft.com/office/drawing/2014/main" id="{F6B41EB2-0193-404B-A571-9BFA57704D38}"/>
              </a:ext>
            </a:extLst>
          </p:cNvPr>
          <p:cNvPicPr>
            <a:picLocks noChangeAspect="1"/>
          </p:cNvPicPr>
          <p:nvPr/>
        </p:nvPicPr>
        <p:blipFill>
          <a:blip r:embed="rId4"/>
          <a:stretch>
            <a:fillRect/>
          </a:stretch>
        </p:blipFill>
        <p:spPr>
          <a:xfrm>
            <a:off x="7462423" y="3140313"/>
            <a:ext cx="838200" cy="428625"/>
          </a:xfrm>
          <a:prstGeom prst="rect">
            <a:avLst/>
          </a:prstGeom>
        </p:spPr>
      </p:pic>
    </p:spTree>
    <p:extLst>
      <p:ext uri="{BB962C8B-B14F-4D97-AF65-F5344CB8AC3E}">
        <p14:creationId xmlns:p14="http://schemas.microsoft.com/office/powerpoint/2010/main" val="39133084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E595E-4841-4EA8-A056-5373DFBB05B6}"/>
              </a:ext>
            </a:extLst>
          </p:cNvPr>
          <p:cNvSpPr>
            <a:spLocks noGrp="1"/>
          </p:cNvSpPr>
          <p:nvPr>
            <p:ph type="title"/>
          </p:nvPr>
        </p:nvSpPr>
        <p:spPr/>
        <p:txBody>
          <a:bodyPr/>
          <a:lstStyle/>
          <a:p>
            <a:br>
              <a:rPr lang="en-US" dirty="0"/>
            </a:br>
            <a:r>
              <a:rPr lang="en-US" dirty="0"/>
              <a:t>ENTERING TEXT</a:t>
            </a:r>
          </a:p>
        </p:txBody>
      </p:sp>
      <p:sp>
        <p:nvSpPr>
          <p:cNvPr id="3" name="Content Placeholder 2">
            <a:extLst>
              <a:ext uri="{FF2B5EF4-FFF2-40B4-BE49-F238E27FC236}">
                <a16:creationId xmlns:a16="http://schemas.microsoft.com/office/drawing/2014/main" id="{09B19DB9-73F2-46E4-9251-93B6DF87411E}"/>
              </a:ext>
            </a:extLst>
          </p:cNvPr>
          <p:cNvSpPr>
            <a:spLocks noGrp="1"/>
          </p:cNvSpPr>
          <p:nvPr>
            <p:ph idx="1"/>
          </p:nvPr>
        </p:nvSpPr>
        <p:spPr/>
        <p:txBody>
          <a:bodyPr>
            <a:noAutofit/>
          </a:bodyPr>
          <a:lstStyle/>
          <a:p>
            <a:r>
              <a:rPr lang="en-US" sz="2400" dirty="0"/>
              <a:t>Any items that are not to be used in calculations are considered, in Excel’s terminology as </a:t>
            </a:r>
            <a:r>
              <a:rPr lang="en-US" sz="2400" b="1" dirty="0"/>
              <a:t>labels</a:t>
            </a:r>
            <a:r>
              <a:rPr lang="en-US" sz="2400" dirty="0"/>
              <a:t>. This includes </a:t>
            </a:r>
            <a:r>
              <a:rPr lang="en-US" sz="2400" b="1" dirty="0"/>
              <a:t>numerical information</a:t>
            </a:r>
            <a:r>
              <a:rPr lang="en-US" sz="2400" dirty="0"/>
              <a:t>, such as </a:t>
            </a:r>
            <a:r>
              <a:rPr lang="en-US" sz="2400" b="1" dirty="0"/>
              <a:t>phone numbers </a:t>
            </a:r>
            <a:r>
              <a:rPr lang="en-US" sz="2400" dirty="0"/>
              <a:t>and </a:t>
            </a:r>
            <a:r>
              <a:rPr lang="en-US" sz="2400" b="1" dirty="0"/>
              <a:t>zip/postal codes</a:t>
            </a:r>
            <a:r>
              <a:rPr lang="en-US" sz="2400" dirty="0"/>
              <a:t>. Labels usually include the title, column and row headings.</a:t>
            </a:r>
          </a:p>
          <a:p>
            <a:pPr marL="0" indent="0">
              <a:buNone/>
            </a:pPr>
            <a:r>
              <a:rPr lang="en-US" sz="2400" b="1" dirty="0"/>
              <a:t>To Enter Text/Labels:</a:t>
            </a:r>
          </a:p>
          <a:p>
            <a:pPr lvl="1"/>
            <a:r>
              <a:rPr lang="en-US" sz="2400" dirty="0"/>
              <a:t>Click in a cell </a:t>
            </a:r>
          </a:p>
          <a:p>
            <a:pPr lvl="1"/>
            <a:r>
              <a:rPr lang="en-US" sz="2400" dirty="0"/>
              <a:t>Type text</a:t>
            </a:r>
          </a:p>
          <a:p>
            <a:pPr lvl="1"/>
            <a:r>
              <a:rPr lang="en-US" sz="2400" dirty="0"/>
              <a:t>Press Enter</a:t>
            </a:r>
          </a:p>
        </p:txBody>
      </p:sp>
    </p:spTree>
    <p:extLst>
      <p:ext uri="{BB962C8B-B14F-4D97-AF65-F5344CB8AC3E}">
        <p14:creationId xmlns:p14="http://schemas.microsoft.com/office/powerpoint/2010/main" val="22037563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F2891-B2DC-4A0E-BAB1-22DC753E53B8}"/>
              </a:ext>
            </a:extLst>
          </p:cNvPr>
          <p:cNvSpPr>
            <a:spLocks noGrp="1"/>
          </p:cNvSpPr>
          <p:nvPr>
            <p:ph type="title"/>
          </p:nvPr>
        </p:nvSpPr>
        <p:spPr/>
        <p:txBody>
          <a:bodyPr/>
          <a:lstStyle/>
          <a:p>
            <a:br>
              <a:rPr lang="en-US" dirty="0"/>
            </a:br>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ENTERING TEXT</a:t>
            </a:r>
            <a:endParaRPr lang="en-US" dirty="0"/>
          </a:p>
        </p:txBody>
      </p:sp>
      <p:sp>
        <p:nvSpPr>
          <p:cNvPr id="3" name="Content Placeholder 2">
            <a:extLst>
              <a:ext uri="{FF2B5EF4-FFF2-40B4-BE49-F238E27FC236}">
                <a16:creationId xmlns:a16="http://schemas.microsoft.com/office/drawing/2014/main" id="{024B6023-ED11-430B-95BA-3EB8C0E79BEB}"/>
              </a:ext>
            </a:extLst>
          </p:cNvPr>
          <p:cNvSpPr>
            <a:spLocks noGrp="1"/>
          </p:cNvSpPr>
          <p:nvPr>
            <p:ph idx="1"/>
          </p:nvPr>
        </p:nvSpPr>
        <p:spPr/>
        <p:txBody>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NOTE: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By default, pressing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Enter key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will move you to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cell below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active cell.</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label actually “lives” in the cell you typed it into. If you type long text it might appear to be in multiple columns. It is important to understand this concept when trying to apply formatting to a cell. Using the formula bar will confirm where the label actually “lives.”</a:t>
            </a:r>
          </a:p>
          <a:p>
            <a:endParaRPr lang="en-US" dirty="0"/>
          </a:p>
        </p:txBody>
      </p:sp>
    </p:spTree>
    <p:extLst>
      <p:ext uri="{BB962C8B-B14F-4D97-AF65-F5344CB8AC3E}">
        <p14:creationId xmlns:p14="http://schemas.microsoft.com/office/powerpoint/2010/main" val="1671576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D9E0B-6965-4E20-BF01-70E3A3164164}"/>
              </a:ext>
            </a:extLst>
          </p:cNvPr>
          <p:cNvSpPr>
            <a:spLocks noGrp="1"/>
          </p:cNvSpPr>
          <p:nvPr>
            <p:ph type="title"/>
          </p:nvPr>
        </p:nvSpPr>
        <p:spPr/>
        <p:txBody>
          <a:bodyPr/>
          <a:lstStyle/>
          <a:p>
            <a:b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br>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ENTERING TEXT (Autofill)</a:t>
            </a:r>
            <a:endParaRPr lang="en-US" dirty="0"/>
          </a:p>
        </p:txBody>
      </p:sp>
      <p:sp>
        <p:nvSpPr>
          <p:cNvPr id="3" name="Content Placeholder 2">
            <a:extLst>
              <a:ext uri="{FF2B5EF4-FFF2-40B4-BE49-F238E27FC236}">
                <a16:creationId xmlns:a16="http://schemas.microsoft.com/office/drawing/2014/main" id="{212617CC-8771-47B0-B052-225E166C8141}"/>
              </a:ext>
            </a:extLst>
          </p:cNvPr>
          <p:cNvSpPr>
            <a:spLocks noGrp="1"/>
          </p:cNvSpPr>
          <p:nvPr>
            <p:ph idx="1"/>
          </p:nvPr>
        </p:nvSpPr>
        <p:spPr/>
        <p:txBody>
          <a:bodyPr/>
          <a:lstStyle/>
          <a:p>
            <a:pPr marL="0" indent="0">
              <a:buNone/>
            </a:pPr>
            <a:r>
              <a:rPr lang="en-US" sz="2400" b="1" dirty="0"/>
              <a:t>Autofill</a:t>
            </a:r>
          </a:p>
          <a:p>
            <a:r>
              <a:rPr lang="en-US" sz="2400" dirty="0"/>
              <a:t>Frequently, it is necessary to enter lists of information. For example, if column headings are often the months of the year or the days of the week. </a:t>
            </a:r>
          </a:p>
          <a:p>
            <a:r>
              <a:rPr lang="en-US" sz="2400" dirty="0"/>
              <a:t>To simplify entering repetitive or sequential lists of information, Excel has a tool called Autofill. This tool allows preprogrammed lists, as well as custom lists, to be easily added to a spreadsheet. </a:t>
            </a:r>
          </a:p>
          <a:p>
            <a:pPr marL="0" indent="0">
              <a:buNone/>
            </a:pPr>
            <a:endParaRPr lang="en-US" dirty="0"/>
          </a:p>
          <a:p>
            <a:endParaRPr lang="en-US" dirty="0"/>
          </a:p>
          <a:p>
            <a:endParaRPr lang="en-US" dirty="0"/>
          </a:p>
        </p:txBody>
      </p:sp>
      <p:pic>
        <p:nvPicPr>
          <p:cNvPr id="5" name="Picture 4">
            <a:extLst>
              <a:ext uri="{FF2B5EF4-FFF2-40B4-BE49-F238E27FC236}">
                <a16:creationId xmlns:a16="http://schemas.microsoft.com/office/drawing/2014/main" id="{A32D9A1F-DEDC-40EC-BB48-9BD827565A20}"/>
              </a:ext>
            </a:extLst>
          </p:cNvPr>
          <p:cNvPicPr>
            <a:picLocks noChangeAspect="1"/>
          </p:cNvPicPr>
          <p:nvPr/>
        </p:nvPicPr>
        <p:blipFill>
          <a:blip r:embed="rId2"/>
          <a:stretch>
            <a:fillRect/>
          </a:stretch>
        </p:blipFill>
        <p:spPr>
          <a:xfrm>
            <a:off x="7879644" y="5029699"/>
            <a:ext cx="857250" cy="457200"/>
          </a:xfrm>
          <a:prstGeom prst="rect">
            <a:avLst/>
          </a:prstGeom>
        </p:spPr>
      </p:pic>
    </p:spTree>
    <p:extLst>
      <p:ext uri="{BB962C8B-B14F-4D97-AF65-F5344CB8AC3E}">
        <p14:creationId xmlns:p14="http://schemas.microsoft.com/office/powerpoint/2010/main" val="7611519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CCBA2-E201-4EF6-A81A-D8E2A275A41C}"/>
              </a:ext>
            </a:extLst>
          </p:cNvPr>
          <p:cNvSpPr>
            <a:spLocks noGrp="1"/>
          </p:cNvSpPr>
          <p:nvPr>
            <p:ph type="title"/>
          </p:nvPr>
        </p:nvSpPr>
        <p:spPr/>
        <p:txBody>
          <a:bodyPr/>
          <a:lstStyle/>
          <a:p>
            <a:br>
              <a:rPr lang="en-US" dirty="0"/>
            </a:br>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ENTERING VALUES</a:t>
            </a:r>
            <a:endParaRPr lang="en-US" dirty="0"/>
          </a:p>
        </p:txBody>
      </p:sp>
      <p:sp>
        <p:nvSpPr>
          <p:cNvPr id="3" name="Content Placeholder 2">
            <a:extLst>
              <a:ext uri="{FF2B5EF4-FFF2-40B4-BE49-F238E27FC236}">
                <a16:creationId xmlns:a16="http://schemas.microsoft.com/office/drawing/2014/main" id="{4F0D060B-AA84-4883-BDCB-B9213E2AB920}"/>
              </a:ext>
            </a:extLst>
          </p:cNvPr>
          <p:cNvSpPr>
            <a:spLocks noGrp="1"/>
          </p:cNvSpPr>
          <p:nvPr>
            <p:ph idx="1"/>
          </p:nvPr>
        </p:nvSpPr>
        <p:spPr/>
        <p:txBody>
          <a:bodyPr>
            <a:noAutofit/>
          </a:bodyPr>
          <a:lstStyle/>
          <a:p>
            <a:pPr marL="0" indent="0">
              <a:buNone/>
            </a:pPr>
            <a:r>
              <a:rPr lang="en-US" sz="2400" b="1" dirty="0"/>
              <a:t>Entering Values</a:t>
            </a:r>
          </a:p>
          <a:p>
            <a:r>
              <a:rPr lang="en-US" sz="2400" dirty="0"/>
              <a:t>Numerical pieces of information that will be used for calculations are called </a:t>
            </a:r>
            <a:r>
              <a:rPr lang="en-US" sz="2400" b="1" dirty="0"/>
              <a:t>values</a:t>
            </a:r>
            <a:r>
              <a:rPr lang="en-US" sz="2400" dirty="0"/>
              <a:t>. They are entered the same way as </a:t>
            </a:r>
            <a:r>
              <a:rPr lang="en-US" sz="2400" b="1" dirty="0"/>
              <a:t>labels</a:t>
            </a:r>
            <a:r>
              <a:rPr lang="en-US" sz="2400" dirty="0"/>
              <a:t>. </a:t>
            </a:r>
          </a:p>
          <a:p>
            <a:pPr marL="0" indent="0">
              <a:buNone/>
            </a:pPr>
            <a:r>
              <a:rPr lang="en-US" sz="2400" b="1" dirty="0"/>
              <a:t>To Enter Values:</a:t>
            </a:r>
          </a:p>
          <a:p>
            <a:pPr lvl="1"/>
            <a:r>
              <a:rPr lang="en-US" sz="2400" dirty="0"/>
              <a:t>Navigate to a cell </a:t>
            </a:r>
          </a:p>
          <a:p>
            <a:pPr lvl="1"/>
            <a:r>
              <a:rPr lang="en-US" sz="2400" dirty="0"/>
              <a:t>Type a value</a:t>
            </a:r>
          </a:p>
          <a:p>
            <a:pPr lvl="1"/>
            <a:r>
              <a:rPr lang="en-US" sz="2400" dirty="0"/>
              <a:t>Press Enter</a:t>
            </a:r>
          </a:p>
        </p:txBody>
      </p:sp>
    </p:spTree>
    <p:extLst>
      <p:ext uri="{BB962C8B-B14F-4D97-AF65-F5344CB8AC3E}">
        <p14:creationId xmlns:p14="http://schemas.microsoft.com/office/powerpoint/2010/main" val="8995243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10899-9FC2-4E28-AE02-4D1107D00391}"/>
              </a:ext>
            </a:extLst>
          </p:cNvPr>
          <p:cNvSpPr>
            <a:spLocks noGrp="1"/>
          </p:cNvSpPr>
          <p:nvPr>
            <p:ph type="title"/>
          </p:nvPr>
        </p:nvSpPr>
        <p:spPr/>
        <p:txBody>
          <a:bodyPr/>
          <a:lstStyle/>
          <a:p>
            <a:br>
              <a:rPr lang="en-US" dirty="0"/>
            </a:br>
            <a:r>
              <a:rPr lang="en-US" dirty="0"/>
              <a:t>USING BASIC FORMULAS</a:t>
            </a:r>
          </a:p>
        </p:txBody>
      </p:sp>
      <p:sp>
        <p:nvSpPr>
          <p:cNvPr id="3" name="Content Placeholder 2">
            <a:extLst>
              <a:ext uri="{FF2B5EF4-FFF2-40B4-BE49-F238E27FC236}">
                <a16:creationId xmlns:a16="http://schemas.microsoft.com/office/drawing/2014/main" id="{E4B7381E-3831-426F-A138-3DC74F4BF1B8}"/>
              </a:ext>
            </a:extLst>
          </p:cNvPr>
          <p:cNvSpPr>
            <a:spLocks noGrp="1"/>
          </p:cNvSpPr>
          <p:nvPr>
            <p:ph idx="1"/>
          </p:nvPr>
        </p:nvSpPr>
        <p:spPr/>
        <p:txBody>
          <a:bodyPr/>
          <a:lstStyle/>
          <a:p>
            <a:r>
              <a:rPr lang="en-US" sz="2400" dirty="0"/>
              <a:t>Excel enables you to create </a:t>
            </a:r>
            <a:r>
              <a:rPr lang="en-US" sz="2400" b="1" dirty="0"/>
              <a:t>many formulas </a:t>
            </a:r>
            <a:r>
              <a:rPr lang="en-US" sz="2400" dirty="0"/>
              <a:t>by simply </a:t>
            </a:r>
            <a:r>
              <a:rPr lang="en-US" sz="2400" b="1" dirty="0"/>
              <a:t>typing in a cell </a:t>
            </a:r>
            <a:r>
              <a:rPr lang="en-US" sz="2400" dirty="0"/>
              <a:t>or using </a:t>
            </a:r>
            <a:r>
              <a:rPr lang="en-US" sz="2400" b="1" dirty="0"/>
              <a:t>your mouse pointer to select cells to include in a formula</a:t>
            </a:r>
            <a:r>
              <a:rPr lang="en-US" sz="2400" dirty="0"/>
              <a:t>. </a:t>
            </a:r>
          </a:p>
          <a:p>
            <a:r>
              <a:rPr lang="en-US" sz="2400" dirty="0"/>
              <a:t>For example, you can create basic formulas for </a:t>
            </a:r>
            <a:r>
              <a:rPr lang="en-US" sz="2400" b="1" dirty="0"/>
              <a:t>addition</a:t>
            </a:r>
            <a:r>
              <a:rPr lang="en-US" sz="2400" dirty="0"/>
              <a:t>, </a:t>
            </a:r>
            <a:r>
              <a:rPr lang="en-US" sz="2400" b="1" dirty="0"/>
              <a:t>subtraction,</a:t>
            </a:r>
            <a:r>
              <a:rPr lang="en-US" sz="2400" dirty="0"/>
              <a:t> </a:t>
            </a:r>
            <a:r>
              <a:rPr lang="en-US" sz="2400" b="1" dirty="0"/>
              <a:t>multiplication,</a:t>
            </a:r>
            <a:r>
              <a:rPr lang="en-US" sz="2400" dirty="0"/>
              <a:t> and </a:t>
            </a:r>
            <a:r>
              <a:rPr lang="en-US" sz="2400" b="1" dirty="0"/>
              <a:t>division</a:t>
            </a:r>
            <a:r>
              <a:rPr lang="en-US" sz="2400" dirty="0"/>
              <a:t> using these methods. </a:t>
            </a:r>
          </a:p>
          <a:p>
            <a:r>
              <a:rPr lang="en-US" sz="2400" dirty="0"/>
              <a:t>We will use a few </a:t>
            </a:r>
            <a:r>
              <a:rPr lang="en-US" sz="2400" b="1" dirty="0"/>
              <a:t>command groups </a:t>
            </a:r>
            <a:r>
              <a:rPr lang="en-US" sz="2400" dirty="0"/>
              <a:t>on the </a:t>
            </a:r>
            <a:r>
              <a:rPr lang="en-US" sz="2400" b="1" dirty="0"/>
              <a:t>Formulas tab </a:t>
            </a:r>
            <a:r>
              <a:rPr lang="en-US" sz="2400" dirty="0"/>
              <a:t>to display </a:t>
            </a:r>
            <a:r>
              <a:rPr lang="en-US" sz="2400" b="1" dirty="0"/>
              <a:t>formulas</a:t>
            </a:r>
            <a:r>
              <a:rPr lang="en-US" sz="2400" dirty="0"/>
              <a:t> and </a:t>
            </a:r>
            <a:r>
              <a:rPr lang="en-US" sz="2400" b="1" dirty="0"/>
              <a:t>name ranges </a:t>
            </a:r>
            <a:r>
              <a:rPr lang="en-US" sz="2400" dirty="0"/>
              <a:t>that can be used.</a:t>
            </a:r>
          </a:p>
          <a:p>
            <a:pPr marL="0" indent="0">
              <a:buNone/>
            </a:pPr>
            <a:endParaRPr lang="en-US" dirty="0"/>
          </a:p>
        </p:txBody>
      </p:sp>
    </p:spTree>
    <p:extLst>
      <p:ext uri="{BB962C8B-B14F-4D97-AF65-F5344CB8AC3E}">
        <p14:creationId xmlns:p14="http://schemas.microsoft.com/office/powerpoint/2010/main" val="3959183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7519E-3A96-4F4C-A5D7-AB68936CF1E9}"/>
              </a:ext>
            </a:extLst>
          </p:cNvPr>
          <p:cNvSpPr>
            <a:spLocks noGrp="1"/>
          </p:cNvSpPr>
          <p:nvPr>
            <p:ph type="title"/>
          </p:nvPr>
        </p:nvSpPr>
        <p:spPr/>
        <p:txBody>
          <a:bodyPr/>
          <a:lstStyle/>
          <a:p>
            <a:br>
              <a:rPr lang="en-US" dirty="0"/>
            </a:br>
            <a:r>
              <a:rPr lang="en-US" dirty="0"/>
              <a:t>CREATING FORMULAS (FORMULAS TAB)</a:t>
            </a:r>
          </a:p>
        </p:txBody>
      </p:sp>
      <p:pic>
        <p:nvPicPr>
          <p:cNvPr id="9" name="Picture 8">
            <a:extLst>
              <a:ext uri="{FF2B5EF4-FFF2-40B4-BE49-F238E27FC236}">
                <a16:creationId xmlns:a16="http://schemas.microsoft.com/office/drawing/2014/main" id="{33AAD04C-0648-4D31-B1E1-3FE07457E232}"/>
              </a:ext>
            </a:extLst>
          </p:cNvPr>
          <p:cNvPicPr>
            <a:picLocks noChangeAspect="1"/>
          </p:cNvPicPr>
          <p:nvPr/>
        </p:nvPicPr>
        <p:blipFill>
          <a:blip r:embed="rId2"/>
          <a:stretch>
            <a:fillRect/>
          </a:stretch>
        </p:blipFill>
        <p:spPr>
          <a:xfrm>
            <a:off x="3074988" y="3669361"/>
            <a:ext cx="7678738" cy="1516890"/>
          </a:xfrm>
          <a:prstGeom prst="rect">
            <a:avLst/>
          </a:prstGeom>
        </p:spPr>
      </p:pic>
      <p:pic>
        <p:nvPicPr>
          <p:cNvPr id="13" name="Content Placeholder 12">
            <a:extLst>
              <a:ext uri="{FF2B5EF4-FFF2-40B4-BE49-F238E27FC236}">
                <a16:creationId xmlns:a16="http://schemas.microsoft.com/office/drawing/2014/main" id="{75DE9D3E-BC1B-457D-A925-2180606E305E}"/>
              </a:ext>
            </a:extLst>
          </p:cNvPr>
          <p:cNvPicPr>
            <a:picLocks noGrp="1" noChangeAspect="1"/>
          </p:cNvPicPr>
          <p:nvPr>
            <p:ph idx="1"/>
          </p:nvPr>
        </p:nvPicPr>
        <p:blipFill>
          <a:blip r:embed="rId3"/>
          <a:stretch>
            <a:fillRect/>
          </a:stretch>
        </p:blipFill>
        <p:spPr>
          <a:xfrm>
            <a:off x="3074988" y="2489200"/>
            <a:ext cx="6838950" cy="1047750"/>
          </a:xfrm>
          <a:prstGeom prst="rect">
            <a:avLst/>
          </a:prstGeom>
        </p:spPr>
      </p:pic>
    </p:spTree>
    <p:extLst>
      <p:ext uri="{BB962C8B-B14F-4D97-AF65-F5344CB8AC3E}">
        <p14:creationId xmlns:p14="http://schemas.microsoft.com/office/powerpoint/2010/main" val="6535037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DA8A3-B2A0-419B-AA71-9DA7F2370CEB}"/>
              </a:ext>
            </a:extLst>
          </p:cNvPr>
          <p:cNvSpPr>
            <a:spLocks noGrp="1"/>
          </p:cNvSpPr>
          <p:nvPr>
            <p:ph type="title"/>
          </p:nvPr>
        </p:nvSpPr>
        <p:spPr/>
        <p:txBody>
          <a:bodyPr>
            <a:normAutofit fontScale="90000"/>
          </a:bodyPr>
          <a:lstStyle/>
          <a:p>
            <a:r>
              <a:rPr lang="en-US" dirty="0"/>
              <a:t>USING BASIC FORMULAS (UNDERSTANDING AND DISPLAYING FORMULAS)</a:t>
            </a:r>
          </a:p>
        </p:txBody>
      </p:sp>
      <p:sp>
        <p:nvSpPr>
          <p:cNvPr id="3" name="Content Placeholder 2">
            <a:extLst>
              <a:ext uri="{FF2B5EF4-FFF2-40B4-BE49-F238E27FC236}">
                <a16:creationId xmlns:a16="http://schemas.microsoft.com/office/drawing/2014/main" id="{80F43BC9-DFA9-4A82-91F9-05BF7DC880DA}"/>
              </a:ext>
            </a:extLst>
          </p:cNvPr>
          <p:cNvSpPr>
            <a:spLocks noGrp="1"/>
          </p:cNvSpPr>
          <p:nvPr>
            <p:ph idx="1"/>
          </p:nvPr>
        </p:nvSpPr>
        <p:spPr/>
        <p:txBody>
          <a:bodyPr>
            <a:noAutofit/>
          </a:bodyPr>
          <a:lstStyle/>
          <a:p>
            <a:r>
              <a:rPr lang="en-US" sz="2400" dirty="0"/>
              <a:t>Excel has the capability to perform </a:t>
            </a:r>
            <a:r>
              <a:rPr lang="en-US" sz="2400" b="1" dirty="0"/>
              <a:t>common</a:t>
            </a:r>
            <a:r>
              <a:rPr lang="en-US" sz="2400" dirty="0"/>
              <a:t> and </a:t>
            </a:r>
            <a:r>
              <a:rPr lang="en-US" sz="2400" b="1" dirty="0"/>
              <a:t>complex</a:t>
            </a:r>
            <a:r>
              <a:rPr lang="en-US" sz="2400" dirty="0"/>
              <a:t> calculations. </a:t>
            </a:r>
          </a:p>
          <a:p>
            <a:r>
              <a:rPr lang="en-US" sz="2400" dirty="0"/>
              <a:t>The </a:t>
            </a:r>
            <a:r>
              <a:rPr lang="en-US" sz="2400" b="1" dirty="0"/>
              <a:t>formula</a:t>
            </a:r>
            <a:r>
              <a:rPr lang="en-US" sz="2400" dirty="0"/>
              <a:t> is one of the essential elements of Excel, which enables you to </a:t>
            </a:r>
            <a:r>
              <a:rPr lang="en-US" sz="2400" b="1" dirty="0"/>
              <a:t>add, subtract, multiply, and divide</a:t>
            </a:r>
            <a:r>
              <a:rPr lang="en-US" sz="2400" dirty="0"/>
              <a:t> numbers. </a:t>
            </a:r>
          </a:p>
          <a:p>
            <a:r>
              <a:rPr lang="en-US" sz="2400" dirty="0"/>
              <a:t>One of the benefits of using a spreadsheet program is the </a:t>
            </a:r>
            <a:r>
              <a:rPr lang="en-US" sz="2400" b="1" dirty="0"/>
              <a:t>ability to create a formula in one cell and copy it to other cells</a:t>
            </a:r>
            <a:r>
              <a:rPr lang="en-US" sz="2400" dirty="0"/>
              <a:t>. </a:t>
            </a:r>
          </a:p>
        </p:txBody>
      </p:sp>
    </p:spTree>
    <p:extLst>
      <p:ext uri="{BB962C8B-B14F-4D97-AF65-F5344CB8AC3E}">
        <p14:creationId xmlns:p14="http://schemas.microsoft.com/office/powerpoint/2010/main" val="10846186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5D906-0A06-4E90-9349-286F6F734E1D}"/>
              </a:ext>
            </a:extLst>
          </p:cNvPr>
          <p:cNvSpPr>
            <a:spLocks noGrp="1"/>
          </p:cNvSpPr>
          <p:nvPr>
            <p:ph type="title"/>
          </p:nvPr>
        </p:nvSpPr>
        <p:spPr/>
        <p:txBody>
          <a:bodyPr/>
          <a:lstStyle/>
          <a:p>
            <a:r>
              <a:rPr kumimoji="0" lang="en-US" sz="32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USING BASIC FORMULAS (UNDERSTANDING AND DISPLAYING FORMULAS)</a:t>
            </a:r>
            <a:endParaRPr lang="en-US" dirty="0"/>
          </a:p>
        </p:txBody>
      </p:sp>
      <p:sp>
        <p:nvSpPr>
          <p:cNvPr id="3" name="Content Placeholder 2">
            <a:extLst>
              <a:ext uri="{FF2B5EF4-FFF2-40B4-BE49-F238E27FC236}">
                <a16:creationId xmlns:a16="http://schemas.microsoft.com/office/drawing/2014/main" id="{CF4088C8-5124-4936-BD20-97F085B97C24}"/>
              </a:ext>
            </a:extLst>
          </p:cNvPr>
          <p:cNvSpPr>
            <a:spLocks noGrp="1"/>
          </p:cNvSpPr>
          <p:nvPr>
            <p:ph idx="1"/>
          </p:nvPr>
        </p:nvSpPr>
        <p:spPr/>
        <p:txBody>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When you enter a formula in a cell,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formula is stored internally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and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results are displayed in the cell</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You can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view</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the underlying formula in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formula bar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when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cell is active</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when you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double-click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cell to edit it, or by using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Formulas tab</a:t>
            </a:r>
          </a:p>
          <a:p>
            <a:endParaRPr lang="en-US" dirty="0"/>
          </a:p>
        </p:txBody>
      </p:sp>
    </p:spTree>
    <p:extLst>
      <p:ext uri="{BB962C8B-B14F-4D97-AF65-F5344CB8AC3E}">
        <p14:creationId xmlns:p14="http://schemas.microsoft.com/office/powerpoint/2010/main" val="11143958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27481-7174-48B4-B3E9-0E0BE4841297}"/>
              </a:ext>
            </a:extLst>
          </p:cNvPr>
          <p:cNvSpPr>
            <a:spLocks noGrp="1"/>
          </p:cNvSpPr>
          <p:nvPr>
            <p:ph type="title"/>
          </p:nvPr>
        </p:nvSpPr>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ENTERING BASIC CALCULATIONS (CREATING FORMULAS)</a:t>
            </a:r>
            <a:endParaRPr lang="en-US" dirty="0"/>
          </a:p>
        </p:txBody>
      </p:sp>
      <p:sp>
        <p:nvSpPr>
          <p:cNvPr id="3" name="Content Placeholder 2">
            <a:extLst>
              <a:ext uri="{FF2B5EF4-FFF2-40B4-BE49-F238E27FC236}">
                <a16:creationId xmlns:a16="http://schemas.microsoft.com/office/drawing/2014/main" id="{A0C8335C-C83E-4D75-A6C4-4565AEABA3E5}"/>
              </a:ext>
            </a:extLst>
          </p:cNvPr>
          <p:cNvSpPr>
            <a:spLocks noGrp="1"/>
          </p:cNvSpPr>
          <p:nvPr>
            <p:ph idx="1"/>
          </p:nvPr>
        </p:nvSpPr>
        <p:spPr/>
        <p:txBody>
          <a:bodyPr>
            <a:normAutofit/>
          </a:bodyPr>
          <a:lstStyle/>
          <a:p>
            <a:pPr marL="0" marR="0" lvl="0" indent="0" algn="l" defTabSz="457200" rtl="0" eaLnBrk="1" fontAlgn="auto" latinLnBrk="0" hangingPunct="1">
              <a:lnSpc>
                <a:spcPct val="100000"/>
              </a:lnSpc>
              <a:spcBef>
                <a:spcPts val="1000"/>
              </a:spcBef>
              <a:spcAft>
                <a:spcPts val="0"/>
              </a:spcAft>
              <a:buClr>
                <a:srgbClr val="A53010"/>
              </a:buClr>
              <a:buSzTx/>
              <a:buFont typeface="Wingdings 3" charset="2"/>
              <a:buNone/>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To Create a Formula:</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 in a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cell</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Press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key</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Type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formula</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Press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Enter</a:t>
            </a:r>
          </a:p>
          <a:p>
            <a:pPr marL="0" indent="0">
              <a:buNone/>
            </a:pPr>
            <a:endParaRPr lang="en-US" dirty="0"/>
          </a:p>
        </p:txBody>
      </p:sp>
    </p:spTree>
    <p:extLst>
      <p:ext uri="{BB962C8B-B14F-4D97-AF65-F5344CB8AC3E}">
        <p14:creationId xmlns:p14="http://schemas.microsoft.com/office/powerpoint/2010/main" val="29912691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80029-87E1-4F64-A617-C2BE7978E4E8}"/>
              </a:ext>
            </a:extLst>
          </p:cNvPr>
          <p:cNvSpPr>
            <a:spLocks noGrp="1"/>
          </p:cNvSpPr>
          <p:nvPr>
            <p:ph type="title"/>
          </p:nvPr>
        </p:nvSpPr>
        <p:spPr/>
        <p:txBody>
          <a:bodyPr/>
          <a:lstStyle/>
          <a:p>
            <a:br>
              <a:rPr lang="en-US" dirty="0"/>
            </a:br>
            <a:r>
              <a:rPr lang="en-US" dirty="0"/>
              <a:t>DISPLAY FORMULAS</a:t>
            </a:r>
          </a:p>
        </p:txBody>
      </p:sp>
      <p:sp>
        <p:nvSpPr>
          <p:cNvPr id="3" name="Content Placeholder 2">
            <a:extLst>
              <a:ext uri="{FF2B5EF4-FFF2-40B4-BE49-F238E27FC236}">
                <a16:creationId xmlns:a16="http://schemas.microsoft.com/office/drawing/2014/main" id="{C44929EB-80EA-4B07-ABAB-8EC7C91AFA3D}"/>
              </a:ext>
            </a:extLst>
          </p:cNvPr>
          <p:cNvSpPr>
            <a:spLocks noGrp="1"/>
          </p:cNvSpPr>
          <p:nvPr>
            <p:ph idx="1"/>
          </p:nvPr>
        </p:nvSpPr>
        <p:spPr/>
        <p:txBody>
          <a:bodyPr>
            <a:noAutofit/>
          </a:bodyPr>
          <a:lstStyle/>
          <a:p>
            <a:r>
              <a:rPr lang="en-US" sz="2400" b="1" dirty="0"/>
              <a:t>LAUNCH</a:t>
            </a:r>
            <a:r>
              <a:rPr lang="en-US" sz="2400" dirty="0"/>
              <a:t> Microsoft Excel and then </a:t>
            </a:r>
            <a:r>
              <a:rPr lang="en-US" sz="2400" b="1" dirty="0"/>
              <a:t>OPEN</a:t>
            </a:r>
            <a:r>
              <a:rPr lang="en-US" sz="2400" dirty="0"/>
              <a:t> a </a:t>
            </a:r>
            <a:r>
              <a:rPr lang="en-US" sz="2400" b="1" dirty="0"/>
              <a:t>new blank workbook</a:t>
            </a:r>
            <a:r>
              <a:rPr lang="en-US" sz="2400" dirty="0"/>
              <a:t>.</a:t>
            </a:r>
          </a:p>
          <a:p>
            <a:pPr lvl="1"/>
            <a:r>
              <a:rPr lang="en-US" sz="2400" dirty="0"/>
              <a:t>1. Click cell A1.</a:t>
            </a:r>
          </a:p>
          <a:p>
            <a:pPr lvl="1"/>
            <a:r>
              <a:rPr lang="en-US" sz="2400" dirty="0"/>
              <a:t>2. Type </a:t>
            </a:r>
            <a:r>
              <a:rPr lang="en-US" sz="2400" b="1" dirty="0"/>
              <a:t>=7+8*3/2-4 </a:t>
            </a:r>
            <a:r>
              <a:rPr lang="en-US" sz="2400" dirty="0"/>
              <a:t>and press </a:t>
            </a:r>
            <a:r>
              <a:rPr lang="en-US" sz="2400" b="1" dirty="0"/>
              <a:t>Enter</a:t>
            </a:r>
            <a:r>
              <a:rPr lang="en-US" sz="2400" dirty="0"/>
              <a:t>. You just entered a formula.</a:t>
            </a:r>
          </a:p>
          <a:p>
            <a:r>
              <a:rPr lang="en-US" sz="2400" b="1" dirty="0"/>
              <a:t>Take Note </a:t>
            </a:r>
            <a:r>
              <a:rPr lang="en-US" sz="2400" dirty="0"/>
              <a:t>Formulas should be typed without spaces, but if you type spaces, Excel eliminates them when you press Enter.</a:t>
            </a:r>
          </a:p>
        </p:txBody>
      </p:sp>
    </p:spTree>
    <p:extLst>
      <p:ext uri="{BB962C8B-B14F-4D97-AF65-F5344CB8AC3E}">
        <p14:creationId xmlns:p14="http://schemas.microsoft.com/office/powerpoint/2010/main" val="29671988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A68A0-64F7-416D-A71B-C4F1209315FE}"/>
              </a:ext>
            </a:extLst>
          </p:cNvPr>
          <p:cNvSpPr>
            <a:spLocks noGrp="1"/>
          </p:cNvSpPr>
          <p:nvPr>
            <p:ph type="title"/>
          </p:nvPr>
        </p:nvSpPr>
        <p:spPr/>
        <p:txBody>
          <a:bodyPr/>
          <a:lstStyle/>
          <a:p>
            <a:b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br>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DISPLAY FORMULAS</a:t>
            </a:r>
            <a:endParaRPr lang="en-US" dirty="0"/>
          </a:p>
        </p:txBody>
      </p:sp>
      <p:sp>
        <p:nvSpPr>
          <p:cNvPr id="3" name="Content Placeholder 2">
            <a:extLst>
              <a:ext uri="{FF2B5EF4-FFF2-40B4-BE49-F238E27FC236}">
                <a16:creationId xmlns:a16="http://schemas.microsoft.com/office/drawing/2014/main" id="{F7F367CF-A841-4411-B112-101B62D57A28}"/>
              </a:ext>
            </a:extLst>
          </p:cNvPr>
          <p:cNvSpPr>
            <a:spLocks noGrp="1"/>
          </p:cNvSpPr>
          <p:nvPr>
            <p:ph idx="1"/>
          </p:nvPr>
        </p:nvSpPr>
        <p:spPr/>
        <p:txBody>
          <a:bodyPr/>
          <a:lstStyle/>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3. Click cell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A1</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Notice that the result of the formula displays in the cell, but the formula itself appears in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formula bar</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4. Double-click cell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A1</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The formula appears in both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active cell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and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formula bar.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You can edit the formula in this mode.</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5. Press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Enter</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endParaRPr lang="en-US" dirty="0"/>
          </a:p>
        </p:txBody>
      </p:sp>
    </p:spTree>
    <p:extLst>
      <p:ext uri="{BB962C8B-B14F-4D97-AF65-F5344CB8AC3E}">
        <p14:creationId xmlns:p14="http://schemas.microsoft.com/office/powerpoint/2010/main" val="6406566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2422E-EB31-4A3A-8543-39FC502F0AC5}"/>
              </a:ext>
            </a:extLst>
          </p:cNvPr>
          <p:cNvSpPr>
            <a:spLocks noGrp="1"/>
          </p:cNvSpPr>
          <p:nvPr>
            <p:ph type="title"/>
          </p:nvPr>
        </p:nvSpPr>
        <p:spPr/>
        <p:txBody>
          <a:bodyPr/>
          <a:lstStyle/>
          <a:p>
            <a:b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br>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DISPLAY FORMULAS</a:t>
            </a:r>
            <a:endParaRPr lang="en-US" dirty="0"/>
          </a:p>
        </p:txBody>
      </p:sp>
      <p:sp>
        <p:nvSpPr>
          <p:cNvPr id="3" name="Content Placeholder 2">
            <a:extLst>
              <a:ext uri="{FF2B5EF4-FFF2-40B4-BE49-F238E27FC236}">
                <a16:creationId xmlns:a16="http://schemas.microsoft.com/office/drawing/2014/main" id="{0935C62B-5945-4BAA-9ADC-41E6A6F06C4F}"/>
              </a:ext>
            </a:extLst>
          </p:cNvPr>
          <p:cNvSpPr>
            <a:spLocks noGrp="1"/>
          </p:cNvSpPr>
          <p:nvPr>
            <p:ph idx="1"/>
          </p:nvPr>
        </p:nvSpPr>
        <p:spPr/>
        <p:txBody>
          <a:bodyPr>
            <a:normAutofit/>
          </a:bodyPr>
          <a:lstStyle/>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6. On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Formulas tab</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Formula Auditing group</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click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Show Formulas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The formula in cell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A1</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displays.</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Take Note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While you are displaying formulas in the worksheet, you will not see the results of those formulas.</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7. Click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Show Formulas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again to turn off formula display.</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8. SAVE the workbook in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 folder with your name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as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Formula Practice</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endParaRPr lang="en-US" dirty="0"/>
          </a:p>
        </p:txBody>
      </p:sp>
    </p:spTree>
    <p:extLst>
      <p:ext uri="{BB962C8B-B14F-4D97-AF65-F5344CB8AC3E}">
        <p14:creationId xmlns:p14="http://schemas.microsoft.com/office/powerpoint/2010/main" val="19252420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7763F-CFEA-4C78-9B1A-16BB2FBC4F88}"/>
              </a:ext>
            </a:extLst>
          </p:cNvPr>
          <p:cNvSpPr>
            <a:spLocks noGrp="1"/>
          </p:cNvSpPr>
          <p:nvPr>
            <p:ph type="title"/>
          </p:nvPr>
        </p:nvSpPr>
        <p:spPr/>
        <p:txBody>
          <a:bodyPr/>
          <a:lstStyle/>
          <a:p>
            <a:br>
              <a:rPr lang="en-US" dirty="0"/>
            </a:br>
            <a:r>
              <a:rPr lang="en-US" dirty="0"/>
              <a:t>DISPLAY FORMULAS</a:t>
            </a:r>
          </a:p>
        </p:txBody>
      </p:sp>
      <p:sp>
        <p:nvSpPr>
          <p:cNvPr id="3" name="Content Placeholder 2">
            <a:extLst>
              <a:ext uri="{FF2B5EF4-FFF2-40B4-BE49-F238E27FC236}">
                <a16:creationId xmlns:a16="http://schemas.microsoft.com/office/drawing/2014/main" id="{A03FC510-29B3-49ED-8AA7-25129D712DF9}"/>
              </a:ext>
            </a:extLst>
          </p:cNvPr>
          <p:cNvSpPr>
            <a:spLocks noGrp="1"/>
          </p:cNvSpPr>
          <p:nvPr>
            <p:ph idx="1"/>
          </p:nvPr>
        </p:nvSpPr>
        <p:spPr/>
        <p:txBody>
          <a:bodyPr>
            <a:normAutofit/>
          </a:bodyPr>
          <a:lstStyle/>
          <a:p>
            <a:r>
              <a:rPr lang="en-US" sz="2400" dirty="0"/>
              <a:t>A formula is an equation that performs calculations, such as </a:t>
            </a:r>
            <a:r>
              <a:rPr lang="en-US" sz="2400" b="1" dirty="0"/>
              <a:t>addition, subtraction, multiplication, and division</a:t>
            </a:r>
            <a:r>
              <a:rPr lang="en-US" sz="2400" dirty="0"/>
              <a:t>, on values in a worksheet. </a:t>
            </a:r>
          </a:p>
          <a:p>
            <a:r>
              <a:rPr lang="en-US" sz="2400" dirty="0"/>
              <a:t>In Excel, a value can be </a:t>
            </a:r>
            <a:r>
              <a:rPr lang="en-US" sz="2400" b="1" dirty="0"/>
              <a:t>a number</a:t>
            </a:r>
            <a:r>
              <a:rPr lang="en-US" sz="2400" dirty="0"/>
              <a:t>, </a:t>
            </a:r>
            <a:r>
              <a:rPr lang="en-US" sz="2400" b="1" dirty="0"/>
              <a:t>a cell address</a:t>
            </a:r>
            <a:r>
              <a:rPr lang="en-US" sz="2400" dirty="0"/>
              <a:t>, a </a:t>
            </a:r>
            <a:r>
              <a:rPr lang="en-US" sz="2400" b="1" dirty="0"/>
              <a:t>date, text, or Boolean data</a:t>
            </a:r>
            <a:r>
              <a:rPr lang="en-US" sz="2400" dirty="0"/>
              <a:t>, but is usually a </a:t>
            </a:r>
            <a:r>
              <a:rPr lang="en-US" sz="2400" b="1" dirty="0"/>
              <a:t>number </a:t>
            </a:r>
            <a:r>
              <a:rPr lang="en-US" sz="2400" dirty="0"/>
              <a:t>or </a:t>
            </a:r>
            <a:r>
              <a:rPr lang="en-US" sz="2400" b="1" dirty="0"/>
              <a:t>cell address </a:t>
            </a:r>
            <a:r>
              <a:rPr lang="en-US" sz="2400" dirty="0"/>
              <a:t>in terms of formulas. </a:t>
            </a:r>
          </a:p>
          <a:p>
            <a:r>
              <a:rPr lang="en-US" sz="2400" dirty="0"/>
              <a:t>A formula consists of two elements: </a:t>
            </a:r>
            <a:r>
              <a:rPr lang="en-US" sz="2400" b="1" dirty="0"/>
              <a:t>operands</a:t>
            </a:r>
            <a:r>
              <a:rPr lang="en-US" sz="2400" dirty="0"/>
              <a:t> and </a:t>
            </a:r>
            <a:r>
              <a:rPr lang="en-US" sz="2400" b="1" dirty="0"/>
              <a:t>calculation operators</a:t>
            </a:r>
            <a:r>
              <a:rPr lang="en-US" sz="2400" dirty="0"/>
              <a:t>. </a:t>
            </a:r>
          </a:p>
        </p:txBody>
      </p:sp>
    </p:spTree>
    <p:extLst>
      <p:ext uri="{BB962C8B-B14F-4D97-AF65-F5344CB8AC3E}">
        <p14:creationId xmlns:p14="http://schemas.microsoft.com/office/powerpoint/2010/main" val="3556018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7AEF5-2408-46D6-9030-EC2F218F3438}"/>
              </a:ext>
            </a:extLst>
          </p:cNvPr>
          <p:cNvSpPr>
            <a:spLocks noGrp="1"/>
          </p:cNvSpPr>
          <p:nvPr>
            <p:ph type="title"/>
          </p:nvPr>
        </p:nvSpPr>
        <p:spPr/>
        <p:txBody>
          <a:bodyPr/>
          <a:lstStyle/>
          <a:p>
            <a:b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br>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DISPLAY FORMULAS</a:t>
            </a:r>
            <a:endParaRPr lang="en-US" dirty="0"/>
          </a:p>
        </p:txBody>
      </p:sp>
      <p:sp>
        <p:nvSpPr>
          <p:cNvPr id="3" name="Content Placeholder 2">
            <a:extLst>
              <a:ext uri="{FF2B5EF4-FFF2-40B4-BE49-F238E27FC236}">
                <a16:creationId xmlns:a16="http://schemas.microsoft.com/office/drawing/2014/main" id="{F0C96097-B4CC-42B4-BBB7-56C16996F58F}"/>
              </a:ext>
            </a:extLst>
          </p:cNvPr>
          <p:cNvSpPr>
            <a:spLocks noGrp="1"/>
          </p:cNvSpPr>
          <p:nvPr>
            <p:ph idx="1"/>
          </p:nvPr>
        </p:nvSpPr>
        <p:spPr/>
        <p:txBody>
          <a:bodyPr>
            <a:normAutofit lnSpcReduction="10000"/>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Operands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identify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values to be used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 the calculation. </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An operand can be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 constant value</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or a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variable</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such as a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cell reference</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range of cells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or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another formula.</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constant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is a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number or text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value that is entered directly into a formula. </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variable</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is a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symbol or name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that represents something else, which can be a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cell address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range of cells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and so on. </a:t>
            </a:r>
            <a:endPar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endParaRPr lang="en-US" dirty="0"/>
          </a:p>
        </p:txBody>
      </p:sp>
    </p:spTree>
    <p:extLst>
      <p:ext uri="{BB962C8B-B14F-4D97-AF65-F5344CB8AC3E}">
        <p14:creationId xmlns:p14="http://schemas.microsoft.com/office/powerpoint/2010/main" val="29022997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B77CA-8D84-4028-87E1-27C7F852A373}"/>
              </a:ext>
            </a:extLst>
          </p:cNvPr>
          <p:cNvSpPr>
            <a:spLocks noGrp="1"/>
          </p:cNvSpPr>
          <p:nvPr>
            <p:ph type="title"/>
          </p:nvPr>
        </p:nvSpPr>
        <p:spPr/>
        <p:txBody>
          <a:bodyPr/>
          <a:lstStyle/>
          <a:p>
            <a:b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br>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DISPLAY FORMULAS</a:t>
            </a:r>
            <a:endParaRPr lang="en-US" dirty="0"/>
          </a:p>
        </p:txBody>
      </p:sp>
      <p:sp>
        <p:nvSpPr>
          <p:cNvPr id="3" name="Content Placeholder 2">
            <a:extLst>
              <a:ext uri="{FF2B5EF4-FFF2-40B4-BE49-F238E27FC236}">
                <a16:creationId xmlns:a16="http://schemas.microsoft.com/office/drawing/2014/main" id="{AA071D70-E088-4C70-9006-E2CB95D1F2B2}"/>
              </a:ext>
            </a:extLst>
          </p:cNvPr>
          <p:cNvSpPr>
            <a:spLocks noGrp="1"/>
          </p:cNvSpPr>
          <p:nvPr>
            <p:ph idx="1"/>
          </p:nvPr>
        </p:nvSpPr>
        <p:spPr/>
        <p:txBody>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Calculation</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operators specify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calculations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to be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performed</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To allow Excel to distinguish formulas from data, all formulas begin with an equal sign (=).</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Take Note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You can begin a formula with a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plus (+) sign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or a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minus (−) sign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as the beginning calculation operator, but Excel changes it to an equal sign when you press Enter. </a:t>
            </a:r>
          </a:p>
          <a:p>
            <a:endParaRPr lang="en-US" dirty="0"/>
          </a:p>
        </p:txBody>
      </p:sp>
    </p:spTree>
    <p:extLst>
      <p:ext uri="{BB962C8B-B14F-4D97-AF65-F5344CB8AC3E}">
        <p14:creationId xmlns:p14="http://schemas.microsoft.com/office/powerpoint/2010/main" val="21683070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DF1E5-429B-4766-A7E2-FB7462487F92}"/>
              </a:ext>
            </a:extLst>
          </p:cNvPr>
          <p:cNvSpPr>
            <a:spLocks noGrp="1"/>
          </p:cNvSpPr>
          <p:nvPr>
            <p:ph type="title"/>
          </p:nvPr>
        </p:nvSpPr>
        <p:spPr/>
        <p:txBody>
          <a:bodyPr/>
          <a:lstStyle/>
          <a:p>
            <a:b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br>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DISPLAY FORMULAS</a:t>
            </a:r>
            <a:endParaRPr lang="en-US" dirty="0"/>
          </a:p>
        </p:txBody>
      </p:sp>
      <p:sp>
        <p:nvSpPr>
          <p:cNvPr id="3" name="Content Placeholder 2">
            <a:extLst>
              <a:ext uri="{FF2B5EF4-FFF2-40B4-BE49-F238E27FC236}">
                <a16:creationId xmlns:a16="http://schemas.microsoft.com/office/drawing/2014/main" id="{52F865E3-10F7-4622-9586-7C98C365C919}"/>
              </a:ext>
            </a:extLst>
          </p:cNvPr>
          <p:cNvSpPr>
            <a:spLocks noGrp="1"/>
          </p:cNvSpPr>
          <p:nvPr>
            <p:ph idx="1"/>
          </p:nvPr>
        </p:nvSpPr>
        <p:spPr/>
        <p:txBody>
          <a:bodyPr>
            <a:noAutofit/>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Excel doesn’t recognize a construct like 3+4= as a legitimate formula. Excel treats it like an ordinary string of characters.</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Excel uses four types of calculation operators: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arithmetic, comparison, text concatenation, and reference</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lang="en-US" sz="2400" dirty="0">
                <a:solidFill>
                  <a:prstClr val="black">
                    <a:lumMod val="75000"/>
                    <a:lumOff val="25000"/>
                  </a:prstClr>
                </a:solidFill>
                <a:latin typeface="Century Gothic" panose="020B0502020202020204"/>
              </a:rPr>
              <a:t>We will look at</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several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arithmetic operators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and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equal sign</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which is a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comparison operator</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endParaRPr lang="en-US" sz="2400" dirty="0"/>
          </a:p>
        </p:txBody>
      </p:sp>
    </p:spTree>
    <p:extLst>
      <p:ext uri="{BB962C8B-B14F-4D97-AF65-F5344CB8AC3E}">
        <p14:creationId xmlns:p14="http://schemas.microsoft.com/office/powerpoint/2010/main" val="12279689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FD2B8-EAD3-45FB-9D2A-03461ADE74D6}"/>
              </a:ext>
            </a:extLst>
          </p:cNvPr>
          <p:cNvSpPr>
            <a:spLocks noGrp="1"/>
          </p:cNvSpPr>
          <p:nvPr>
            <p:ph type="title"/>
          </p:nvPr>
        </p:nvSpPr>
        <p:spPr>
          <a:xfrm>
            <a:off x="2592925" y="624110"/>
            <a:ext cx="8911687" cy="727018"/>
          </a:xfrm>
        </p:spPr>
        <p:txBody>
          <a:bodyPr/>
          <a:lstStyle/>
          <a:p>
            <a:r>
              <a:rPr lang="en-US" dirty="0"/>
              <a:t>EXCEL ARITHMETIC OPERATORS</a:t>
            </a:r>
          </a:p>
        </p:txBody>
      </p:sp>
      <p:sp>
        <p:nvSpPr>
          <p:cNvPr id="3" name="Content Placeholder 2">
            <a:extLst>
              <a:ext uri="{FF2B5EF4-FFF2-40B4-BE49-F238E27FC236}">
                <a16:creationId xmlns:a16="http://schemas.microsoft.com/office/drawing/2014/main" id="{42D98943-180C-4164-826B-E9B8E94A60EA}"/>
              </a:ext>
            </a:extLst>
          </p:cNvPr>
          <p:cNvSpPr>
            <a:spLocks noGrp="1"/>
          </p:cNvSpPr>
          <p:nvPr>
            <p:ph idx="1"/>
          </p:nvPr>
        </p:nvSpPr>
        <p:spPr>
          <a:xfrm>
            <a:off x="2589212" y="1351128"/>
            <a:ext cx="8915400" cy="4882762"/>
          </a:xfrm>
        </p:spPr>
        <p:txBody>
          <a:bodyPr>
            <a:normAutofit/>
          </a:bodyPr>
          <a:lstStyle/>
          <a:p>
            <a:r>
              <a:rPr lang="en-US" dirty="0"/>
              <a:t>Operators Excel uses for formulas:</a:t>
            </a:r>
          </a:p>
        </p:txBody>
      </p:sp>
      <p:graphicFrame>
        <p:nvGraphicFramePr>
          <p:cNvPr id="4" name="Table 4">
            <a:extLst>
              <a:ext uri="{FF2B5EF4-FFF2-40B4-BE49-F238E27FC236}">
                <a16:creationId xmlns:a16="http://schemas.microsoft.com/office/drawing/2014/main" id="{F418C197-4BB3-4DF4-AC84-A44685517DB2}"/>
              </a:ext>
            </a:extLst>
          </p:cNvPr>
          <p:cNvGraphicFramePr>
            <a:graphicFrameLocks noGrp="1"/>
          </p:cNvGraphicFramePr>
          <p:nvPr/>
        </p:nvGraphicFramePr>
        <p:xfrm>
          <a:off x="2589212" y="1700480"/>
          <a:ext cx="7946860" cy="4413131"/>
        </p:xfrm>
        <a:graphic>
          <a:graphicData uri="http://schemas.openxmlformats.org/drawingml/2006/table">
            <a:tbl>
              <a:tblPr firstRow="1" bandRow="1">
                <a:tableStyleId>{5C22544A-7EE6-4342-B048-85BDC9FD1C3A}</a:tableStyleId>
              </a:tblPr>
              <a:tblGrid>
                <a:gridCol w="1571426">
                  <a:extLst>
                    <a:ext uri="{9D8B030D-6E8A-4147-A177-3AD203B41FA5}">
                      <a16:colId xmlns:a16="http://schemas.microsoft.com/office/drawing/2014/main" val="4060299163"/>
                    </a:ext>
                  </a:extLst>
                </a:gridCol>
                <a:gridCol w="1846677">
                  <a:extLst>
                    <a:ext uri="{9D8B030D-6E8A-4147-A177-3AD203B41FA5}">
                      <a16:colId xmlns:a16="http://schemas.microsoft.com/office/drawing/2014/main" val="700096447"/>
                    </a:ext>
                  </a:extLst>
                </a:gridCol>
                <a:gridCol w="3297638">
                  <a:extLst>
                    <a:ext uri="{9D8B030D-6E8A-4147-A177-3AD203B41FA5}">
                      <a16:colId xmlns:a16="http://schemas.microsoft.com/office/drawing/2014/main" val="646628036"/>
                    </a:ext>
                  </a:extLst>
                </a:gridCol>
                <a:gridCol w="1231119">
                  <a:extLst>
                    <a:ext uri="{9D8B030D-6E8A-4147-A177-3AD203B41FA5}">
                      <a16:colId xmlns:a16="http://schemas.microsoft.com/office/drawing/2014/main" val="1370931524"/>
                    </a:ext>
                  </a:extLst>
                </a:gridCol>
              </a:tblGrid>
              <a:tr h="606675">
                <a:tc>
                  <a:txBody>
                    <a:bodyPr/>
                    <a:lstStyle/>
                    <a:p>
                      <a:r>
                        <a:rPr lang="en-US" dirty="0"/>
                        <a:t>OPERATOR (KEY)</a:t>
                      </a:r>
                    </a:p>
                  </a:txBody>
                  <a:tcPr/>
                </a:tc>
                <a:tc>
                  <a:txBody>
                    <a:bodyPr/>
                    <a:lstStyle/>
                    <a:p>
                      <a:r>
                        <a:rPr lang="en-US" dirty="0"/>
                        <a:t>NAME</a:t>
                      </a:r>
                    </a:p>
                  </a:txBody>
                  <a:tcPr/>
                </a:tc>
                <a:tc>
                  <a:txBody>
                    <a:bodyPr/>
                    <a:lstStyle/>
                    <a:p>
                      <a:r>
                        <a:rPr lang="en-US" dirty="0"/>
                        <a:t>FUNCTION/CALCULATION</a:t>
                      </a:r>
                    </a:p>
                  </a:txBody>
                  <a:tcPr/>
                </a:tc>
                <a:tc>
                  <a:txBody>
                    <a:bodyPr/>
                    <a:lstStyle/>
                    <a:p>
                      <a:r>
                        <a:rPr lang="en-US" dirty="0"/>
                        <a:t>EXAMPLE</a:t>
                      </a:r>
                    </a:p>
                  </a:txBody>
                  <a:tcPr/>
                </a:tc>
                <a:extLst>
                  <a:ext uri="{0D108BD9-81ED-4DB2-BD59-A6C34878D82A}">
                    <a16:rowId xmlns:a16="http://schemas.microsoft.com/office/drawing/2014/main" val="2870786653"/>
                  </a:ext>
                </a:extLst>
              </a:tr>
              <a:tr h="606675">
                <a:tc>
                  <a:txBody>
                    <a:bodyPr/>
                    <a:lstStyle/>
                    <a:p>
                      <a:r>
                        <a:rPr lang="en-US" dirty="0"/>
                        <a:t>=</a:t>
                      </a:r>
                    </a:p>
                  </a:txBody>
                  <a:tcPr/>
                </a:tc>
                <a:tc>
                  <a:txBody>
                    <a:bodyPr/>
                    <a:lstStyle/>
                    <a:p>
                      <a:r>
                        <a:rPr lang="en-US" dirty="0"/>
                        <a:t>Equals sign</a:t>
                      </a:r>
                    </a:p>
                  </a:txBody>
                  <a:tcPr/>
                </a:tc>
                <a:tc>
                  <a:txBody>
                    <a:bodyPr/>
                    <a:lstStyle/>
                    <a:p>
                      <a:r>
                        <a:rPr lang="en-US" dirty="0"/>
                        <a:t>Begins all Excel functions and formulas</a:t>
                      </a:r>
                    </a:p>
                  </a:txBody>
                  <a:tcPr/>
                </a:tc>
                <a:tc>
                  <a:txBody>
                    <a:bodyPr/>
                    <a:lstStyle/>
                    <a:p>
                      <a:endParaRPr lang="en-US" dirty="0"/>
                    </a:p>
                  </a:txBody>
                  <a:tcPr/>
                </a:tc>
                <a:extLst>
                  <a:ext uri="{0D108BD9-81ED-4DB2-BD59-A6C34878D82A}">
                    <a16:rowId xmlns:a16="http://schemas.microsoft.com/office/drawing/2014/main" val="2856048145"/>
                  </a:ext>
                </a:extLst>
              </a:tr>
              <a:tr h="606675">
                <a:tc>
                  <a:txBody>
                    <a:bodyPr/>
                    <a:lstStyle/>
                    <a:p>
                      <a:r>
                        <a:rPr lang="en-US" dirty="0"/>
                        <a:t>+</a:t>
                      </a:r>
                    </a:p>
                  </a:txBody>
                  <a:tcPr/>
                </a:tc>
                <a:tc>
                  <a:txBody>
                    <a:bodyPr/>
                    <a:lstStyle/>
                    <a:p>
                      <a:r>
                        <a:rPr lang="en-US" dirty="0"/>
                        <a:t>Plus Sign</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Addition</a:t>
                      </a:r>
                    </a:p>
                  </a:txBody>
                  <a:tcPr/>
                </a:tc>
                <a:tc>
                  <a:txBody>
                    <a:bodyPr/>
                    <a:lstStyle/>
                    <a:p>
                      <a:r>
                        <a:rPr lang="en-US" dirty="0"/>
                        <a:t>6+2</a:t>
                      </a:r>
                    </a:p>
                  </a:txBody>
                  <a:tcPr/>
                </a:tc>
                <a:extLst>
                  <a:ext uri="{0D108BD9-81ED-4DB2-BD59-A6C34878D82A}">
                    <a16:rowId xmlns:a16="http://schemas.microsoft.com/office/drawing/2014/main" val="461237351"/>
                  </a:ext>
                </a:extLst>
              </a:tr>
              <a:tr h="606675">
                <a:tc>
                  <a:txBody>
                    <a:bodyPr/>
                    <a:lstStyle/>
                    <a:p>
                      <a:r>
                        <a:rPr lang="en-US" dirty="0"/>
                        <a:t>-</a:t>
                      </a:r>
                    </a:p>
                  </a:txBody>
                  <a:tcPr/>
                </a:tc>
                <a:tc>
                  <a:txBody>
                    <a:bodyPr/>
                    <a:lstStyle/>
                    <a:p>
                      <a:r>
                        <a:rPr lang="en-US" dirty="0"/>
                        <a:t>Minus Sign</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Subtraction</a:t>
                      </a:r>
                    </a:p>
                  </a:txBody>
                  <a:tcPr/>
                </a:tc>
                <a:tc>
                  <a:txBody>
                    <a:bodyPr/>
                    <a:lstStyle/>
                    <a:p>
                      <a:r>
                        <a:rPr lang="en-US" dirty="0"/>
                        <a:t>6-2</a:t>
                      </a:r>
                    </a:p>
                  </a:txBody>
                  <a:tcPr/>
                </a:tc>
                <a:extLst>
                  <a:ext uri="{0D108BD9-81ED-4DB2-BD59-A6C34878D82A}">
                    <a16:rowId xmlns:a16="http://schemas.microsoft.com/office/drawing/2014/main" val="1931588985"/>
                  </a:ext>
                </a:extLst>
              </a:tr>
              <a:tr h="0">
                <a:tc>
                  <a:txBody>
                    <a:bodyPr/>
                    <a:lstStyle/>
                    <a:p>
                      <a:r>
                        <a:rPr lang="en-US" dirty="0"/>
                        <a:t>*</a:t>
                      </a:r>
                    </a:p>
                  </a:txBody>
                  <a:tcPr/>
                </a:tc>
                <a:tc>
                  <a:txBody>
                    <a:bodyPr/>
                    <a:lstStyle/>
                    <a:p>
                      <a:r>
                        <a:rPr lang="en-US" dirty="0"/>
                        <a:t>Asterisk</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Multiplication</a:t>
                      </a:r>
                    </a:p>
                  </a:txBody>
                  <a:tcPr/>
                </a:tc>
                <a:tc>
                  <a:txBody>
                    <a:bodyPr/>
                    <a:lstStyle/>
                    <a:p>
                      <a:r>
                        <a:rPr lang="en-US" dirty="0"/>
                        <a:t>6*2</a:t>
                      </a:r>
                    </a:p>
                  </a:txBody>
                  <a:tcPr/>
                </a:tc>
                <a:extLst>
                  <a:ext uri="{0D108BD9-81ED-4DB2-BD59-A6C34878D82A}">
                    <a16:rowId xmlns:a16="http://schemas.microsoft.com/office/drawing/2014/main" val="628587884"/>
                  </a:ext>
                </a:extLst>
              </a:tr>
              <a:tr h="456581">
                <a:tc>
                  <a:txBody>
                    <a:bodyPr/>
                    <a:lstStyle/>
                    <a:p>
                      <a:r>
                        <a:rPr lang="en-US" dirty="0"/>
                        <a:t>/</a:t>
                      </a:r>
                    </a:p>
                  </a:txBody>
                  <a:tcPr/>
                </a:tc>
                <a:tc>
                  <a:txBody>
                    <a:bodyPr/>
                    <a:lstStyle/>
                    <a:p>
                      <a:r>
                        <a:rPr lang="en-US" dirty="0"/>
                        <a:t>Forward Slash</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Division</a:t>
                      </a:r>
                    </a:p>
                  </a:txBody>
                  <a:tcPr/>
                </a:tc>
                <a:tc>
                  <a:txBody>
                    <a:bodyPr/>
                    <a:lstStyle/>
                    <a:p>
                      <a:r>
                        <a:rPr lang="en-US" dirty="0"/>
                        <a:t>6/2</a:t>
                      </a:r>
                    </a:p>
                  </a:txBody>
                  <a:tcPr/>
                </a:tc>
                <a:extLst>
                  <a:ext uri="{0D108BD9-81ED-4DB2-BD59-A6C34878D82A}">
                    <a16:rowId xmlns:a16="http://schemas.microsoft.com/office/drawing/2014/main" val="1589646331"/>
                  </a:ext>
                </a:extLst>
              </a:tr>
              <a:tr h="348852">
                <a:tc>
                  <a:txBody>
                    <a:bodyPr/>
                    <a:lstStyle/>
                    <a:p>
                      <a:r>
                        <a:rPr lang="en-US" dirty="0"/>
                        <a:t>%</a:t>
                      </a:r>
                    </a:p>
                  </a:txBody>
                  <a:tcPr/>
                </a:tc>
                <a:tc>
                  <a:txBody>
                    <a:bodyPr/>
                    <a:lstStyle/>
                    <a:p>
                      <a:r>
                        <a:rPr lang="en-US" dirty="0"/>
                        <a:t>Percent Sign</a:t>
                      </a:r>
                    </a:p>
                  </a:txBody>
                  <a:tcPr/>
                </a:tc>
                <a:tc>
                  <a:txBody>
                    <a:bodyPr/>
                    <a:lstStyle/>
                    <a:p>
                      <a:r>
                        <a:rPr lang="en-US" dirty="0"/>
                        <a:t>Percent</a:t>
                      </a:r>
                    </a:p>
                  </a:txBody>
                  <a:tcPr/>
                </a:tc>
                <a:tc>
                  <a:txBody>
                    <a:bodyPr/>
                    <a:lstStyle/>
                    <a:p>
                      <a:r>
                        <a:rPr lang="en-US" dirty="0"/>
                        <a:t>5%</a:t>
                      </a:r>
                    </a:p>
                  </a:txBody>
                  <a:tcPr/>
                </a:tc>
                <a:extLst>
                  <a:ext uri="{0D108BD9-81ED-4DB2-BD59-A6C34878D82A}">
                    <a16:rowId xmlns:a16="http://schemas.microsoft.com/office/drawing/2014/main" val="3204959709"/>
                  </a:ext>
                </a:extLst>
              </a:tr>
              <a:tr h="348852">
                <a:tc>
                  <a:txBody>
                    <a:bodyPr/>
                    <a:lstStyle/>
                    <a:p>
                      <a:r>
                        <a:rPr lang="en-US" dirty="0"/>
                        <a:t>^</a:t>
                      </a:r>
                    </a:p>
                  </a:txBody>
                  <a:tcPr/>
                </a:tc>
                <a:tc>
                  <a:txBody>
                    <a:bodyPr/>
                    <a:lstStyle/>
                    <a:p>
                      <a:r>
                        <a:rPr lang="en-US" dirty="0"/>
                        <a:t>Caret</a:t>
                      </a:r>
                    </a:p>
                  </a:txBody>
                  <a:tcPr/>
                </a:tc>
                <a:tc>
                  <a:txBody>
                    <a:bodyPr/>
                    <a:lstStyle/>
                    <a:p>
                      <a:r>
                        <a:rPr lang="en-US" dirty="0"/>
                        <a:t>Exponential</a:t>
                      </a:r>
                    </a:p>
                  </a:txBody>
                  <a:tcPr/>
                </a:tc>
                <a:tc>
                  <a:txBody>
                    <a:bodyPr/>
                    <a:lstStyle/>
                    <a:p>
                      <a:r>
                        <a:rPr lang="en-US" dirty="0"/>
                        <a:t>5^2</a:t>
                      </a:r>
                    </a:p>
                  </a:txBody>
                  <a:tcPr/>
                </a:tc>
                <a:extLst>
                  <a:ext uri="{0D108BD9-81ED-4DB2-BD59-A6C34878D82A}">
                    <a16:rowId xmlns:a16="http://schemas.microsoft.com/office/drawing/2014/main" val="915114004"/>
                  </a:ext>
                </a:extLst>
              </a:tr>
              <a:tr h="348852">
                <a:tc>
                  <a:txBody>
                    <a:bodyPr/>
                    <a:lstStyle/>
                    <a:p>
                      <a:endParaRPr lang="en-US" dirty="0"/>
                    </a:p>
                  </a:txBody>
                  <a:tcPr/>
                </a:tc>
                <a:tc>
                  <a:txBody>
                    <a:bodyPr/>
                    <a:lstStyle/>
                    <a:p>
                      <a:endParaRPr lang="en-US" dirty="0"/>
                    </a:p>
                  </a:txBody>
                  <a:tcPr/>
                </a:tc>
                <a:tc>
                  <a:txBody>
                    <a:bodyPr/>
                    <a:lstStyle/>
                    <a:p>
                      <a:r>
                        <a:rPr lang="en-US" dirty="0"/>
                        <a:t>Negation</a:t>
                      </a:r>
                    </a:p>
                  </a:txBody>
                  <a:tcPr/>
                </a:tc>
                <a:tc>
                  <a:txBody>
                    <a:bodyPr/>
                    <a:lstStyle/>
                    <a:p>
                      <a:r>
                        <a:rPr lang="en-US" dirty="0"/>
                        <a:t>-6</a:t>
                      </a:r>
                    </a:p>
                  </a:txBody>
                  <a:tcPr/>
                </a:tc>
                <a:extLst>
                  <a:ext uri="{0D108BD9-81ED-4DB2-BD59-A6C34878D82A}">
                    <a16:rowId xmlns:a16="http://schemas.microsoft.com/office/drawing/2014/main" val="1598149663"/>
                  </a:ext>
                </a:extLst>
              </a:tr>
            </a:tbl>
          </a:graphicData>
        </a:graphic>
      </p:graphicFrame>
    </p:spTree>
    <p:extLst>
      <p:ext uri="{BB962C8B-B14F-4D97-AF65-F5344CB8AC3E}">
        <p14:creationId xmlns:p14="http://schemas.microsoft.com/office/powerpoint/2010/main" val="8473346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B7C8F-D01A-4AA7-9676-0ACD8DA96E9B}"/>
              </a:ext>
            </a:extLst>
          </p:cNvPr>
          <p:cNvSpPr>
            <a:spLocks noGrp="1"/>
          </p:cNvSpPr>
          <p:nvPr>
            <p:ph type="title"/>
          </p:nvPr>
        </p:nvSpPr>
        <p:spPr/>
        <p:txBody>
          <a:bodyPr>
            <a:normAutofit fontScale="90000"/>
          </a:bodyPr>
          <a:lstStyle/>
          <a:p>
            <a:br>
              <a:rPr lang="en-US" dirty="0"/>
            </a:br>
            <a:r>
              <a:rPr lang="en-US" dirty="0"/>
              <a:t>THE ARITHMETIC OPERATORS</a:t>
            </a:r>
            <a:br>
              <a:rPr lang="en-US" dirty="0"/>
            </a:br>
            <a:endParaRPr lang="en-US" dirty="0"/>
          </a:p>
        </p:txBody>
      </p:sp>
      <p:sp>
        <p:nvSpPr>
          <p:cNvPr id="3" name="Content Placeholder 2">
            <a:extLst>
              <a:ext uri="{FF2B5EF4-FFF2-40B4-BE49-F238E27FC236}">
                <a16:creationId xmlns:a16="http://schemas.microsoft.com/office/drawing/2014/main" id="{A9197D0B-7FEA-47FD-BB4D-FA0BC9C348C1}"/>
              </a:ext>
            </a:extLst>
          </p:cNvPr>
          <p:cNvSpPr>
            <a:spLocks noGrp="1"/>
          </p:cNvSpPr>
          <p:nvPr>
            <p:ph idx="1"/>
          </p:nvPr>
        </p:nvSpPr>
        <p:spPr/>
        <p:txBody>
          <a:bodyPr>
            <a:noAutofit/>
          </a:bodyPr>
          <a:lstStyle/>
          <a:p>
            <a:r>
              <a:rPr lang="en-US" sz="2400" dirty="0"/>
              <a:t>When you build a formula, it appears in the formula bar and in the cell itself. </a:t>
            </a:r>
          </a:p>
          <a:p>
            <a:r>
              <a:rPr lang="en-US" sz="2400" dirty="0"/>
              <a:t>When you complete the formula and press </a:t>
            </a:r>
            <a:r>
              <a:rPr lang="en-US" sz="2400" b="1" dirty="0"/>
              <a:t>Enter</a:t>
            </a:r>
            <a:r>
              <a:rPr lang="en-US" sz="2400" dirty="0"/>
              <a:t>, the value displays in the </a:t>
            </a:r>
            <a:r>
              <a:rPr lang="en-US" sz="2400" b="1" dirty="0"/>
              <a:t>cell</a:t>
            </a:r>
            <a:r>
              <a:rPr lang="en-US" sz="2400" dirty="0"/>
              <a:t> and the </a:t>
            </a:r>
            <a:r>
              <a:rPr lang="en-US" sz="2400" b="1" dirty="0"/>
              <a:t>formula</a:t>
            </a:r>
            <a:r>
              <a:rPr lang="en-US" sz="2400" dirty="0"/>
              <a:t> displays in the </a:t>
            </a:r>
            <a:r>
              <a:rPr lang="en-US" sz="2400" b="1" dirty="0"/>
              <a:t>formula bar </a:t>
            </a:r>
            <a:r>
              <a:rPr lang="en-US" sz="2400" dirty="0"/>
              <a:t>if you select the cell. </a:t>
            </a:r>
          </a:p>
          <a:p>
            <a:r>
              <a:rPr lang="en-US" sz="2400" dirty="0"/>
              <a:t>You can edit a formula in the </a:t>
            </a:r>
            <a:r>
              <a:rPr lang="en-US" sz="2400" b="1" dirty="0"/>
              <a:t>cell</a:t>
            </a:r>
            <a:r>
              <a:rPr lang="en-US" sz="2400" dirty="0"/>
              <a:t> or in the </a:t>
            </a:r>
            <a:r>
              <a:rPr lang="en-US" sz="2400" b="1" dirty="0"/>
              <a:t>formula bar </a:t>
            </a:r>
            <a:r>
              <a:rPr lang="en-US" sz="2400" dirty="0"/>
              <a:t>the same way you can edit any data entry.</a:t>
            </a:r>
          </a:p>
        </p:txBody>
      </p:sp>
    </p:spTree>
    <p:extLst>
      <p:ext uri="{BB962C8B-B14F-4D97-AF65-F5344CB8AC3E}">
        <p14:creationId xmlns:p14="http://schemas.microsoft.com/office/powerpoint/2010/main" val="38579603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E0EA7-002B-4472-9884-58D520814BEC}"/>
              </a:ext>
            </a:extLst>
          </p:cNvPr>
          <p:cNvSpPr>
            <a:spLocks noGrp="1"/>
          </p:cNvSpPr>
          <p:nvPr>
            <p:ph type="title"/>
          </p:nvPr>
        </p:nvSpPr>
        <p:spPr/>
        <p:txBody>
          <a:bodyPr/>
          <a:lstStyle/>
          <a:p>
            <a:br>
              <a:rPr kumimoji="0" lang="en-US" sz="32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br>
            <a:r>
              <a:rPr kumimoji="0" lang="en-US" sz="32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THE ARITHMETIC OPERATORS</a:t>
            </a:r>
            <a:endParaRPr lang="en-US" dirty="0"/>
          </a:p>
        </p:txBody>
      </p:sp>
      <p:sp>
        <p:nvSpPr>
          <p:cNvPr id="3" name="Content Placeholder 2">
            <a:extLst>
              <a:ext uri="{FF2B5EF4-FFF2-40B4-BE49-F238E27FC236}">
                <a16:creationId xmlns:a16="http://schemas.microsoft.com/office/drawing/2014/main" id="{F64E98D9-D20B-4795-B249-FA3B0A1F8F98}"/>
              </a:ext>
            </a:extLst>
          </p:cNvPr>
          <p:cNvSpPr>
            <a:spLocks noGrp="1"/>
          </p:cNvSpPr>
          <p:nvPr>
            <p:ph idx="1"/>
          </p:nvPr>
        </p:nvSpPr>
        <p:spPr/>
        <p:txBody>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When you click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Show Formulas button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Formulas tab</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all formulas in your worksheet display. </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 the Show Formulas button again to toggle off display of formulas.</a:t>
            </a:r>
          </a:p>
          <a:p>
            <a:endParaRPr lang="en-US" dirty="0"/>
          </a:p>
        </p:txBody>
      </p:sp>
    </p:spTree>
    <p:extLst>
      <p:ext uri="{BB962C8B-B14F-4D97-AF65-F5344CB8AC3E}">
        <p14:creationId xmlns:p14="http://schemas.microsoft.com/office/powerpoint/2010/main" val="12366172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49966-021F-45C9-AD18-C217290CBFDF}"/>
              </a:ext>
            </a:extLst>
          </p:cNvPr>
          <p:cNvSpPr>
            <a:spLocks noGrp="1"/>
          </p:cNvSpPr>
          <p:nvPr>
            <p:ph type="title"/>
          </p:nvPr>
        </p:nvSpPr>
        <p:spPr/>
        <p:txBody>
          <a:bodyPr>
            <a:normAutofit fontScale="90000"/>
          </a:bodyPr>
          <a:lstStyle/>
          <a:p>
            <a:br>
              <a:rPr lang="en-US" dirty="0"/>
            </a:br>
            <a:r>
              <a:rPr lang="en-US" dirty="0"/>
              <a:t>UNDERSTANDING ORDER OF OPERATIONS</a:t>
            </a:r>
            <a:br>
              <a:rPr lang="en-US" dirty="0"/>
            </a:br>
            <a:endParaRPr lang="en-US" dirty="0"/>
          </a:p>
        </p:txBody>
      </p:sp>
      <p:sp>
        <p:nvSpPr>
          <p:cNvPr id="3" name="Content Placeholder 2">
            <a:extLst>
              <a:ext uri="{FF2B5EF4-FFF2-40B4-BE49-F238E27FC236}">
                <a16:creationId xmlns:a16="http://schemas.microsoft.com/office/drawing/2014/main" id="{FD0B5306-3FED-4808-B3BF-D158728395E3}"/>
              </a:ext>
            </a:extLst>
          </p:cNvPr>
          <p:cNvSpPr>
            <a:spLocks noGrp="1"/>
          </p:cNvSpPr>
          <p:nvPr>
            <p:ph idx="1"/>
          </p:nvPr>
        </p:nvSpPr>
        <p:spPr/>
        <p:txBody>
          <a:bodyPr>
            <a:normAutofit/>
          </a:bodyPr>
          <a:lstStyle/>
          <a:p>
            <a:r>
              <a:rPr lang="en-US" sz="2400" dirty="0"/>
              <a:t>If you use </a:t>
            </a:r>
            <a:r>
              <a:rPr lang="en-US" sz="2400" b="1" dirty="0"/>
              <a:t>more than one operator </a:t>
            </a:r>
            <a:r>
              <a:rPr lang="en-US" sz="2400" dirty="0"/>
              <a:t>in a formula, Excel follows a specific order—called the </a:t>
            </a:r>
            <a:r>
              <a:rPr lang="en-US" sz="2400" b="1" dirty="0"/>
              <a:t>order of operations</a:t>
            </a:r>
            <a:r>
              <a:rPr lang="en-US" sz="2400" dirty="0"/>
              <a:t>—to calculate the formula. </a:t>
            </a:r>
          </a:p>
          <a:p>
            <a:r>
              <a:rPr lang="en-US" sz="2400" b="1" dirty="0"/>
              <a:t>Parentheses</a:t>
            </a:r>
            <a:r>
              <a:rPr lang="en-US" sz="2400" dirty="0"/>
              <a:t> play an important role in controlling the </a:t>
            </a:r>
            <a:r>
              <a:rPr lang="en-US" sz="2400" b="1" dirty="0"/>
              <a:t>order of operations</a:t>
            </a:r>
            <a:r>
              <a:rPr lang="en-US" sz="2400" dirty="0"/>
              <a:t>.</a:t>
            </a:r>
          </a:p>
          <a:p>
            <a:r>
              <a:rPr lang="en-US" sz="2400" dirty="0"/>
              <a:t>USE the worksheet in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Formula Practice Workbook</a:t>
            </a:r>
            <a:r>
              <a:rPr lang="en-US" sz="2400" dirty="0"/>
              <a:t>.</a:t>
            </a:r>
          </a:p>
          <a:p>
            <a:pPr lvl="1"/>
            <a:r>
              <a:rPr lang="en-US" sz="2400" dirty="0"/>
              <a:t>1. Click cell </a:t>
            </a:r>
            <a:r>
              <a:rPr lang="en-US" sz="2400" b="1" dirty="0"/>
              <a:t>A1</a:t>
            </a:r>
            <a:r>
              <a:rPr lang="en-US" sz="2400" dirty="0"/>
              <a:t> to make it the </a:t>
            </a:r>
            <a:r>
              <a:rPr lang="en-US" sz="2400" b="1" dirty="0"/>
              <a:t>active cell</a:t>
            </a:r>
            <a:r>
              <a:rPr lang="en-US" sz="2400" dirty="0"/>
              <a:t>.</a:t>
            </a:r>
          </a:p>
          <a:p>
            <a:pPr lvl="1"/>
            <a:r>
              <a:rPr lang="en-US" sz="2400" dirty="0"/>
              <a:t>2. Click in the </a:t>
            </a:r>
            <a:r>
              <a:rPr lang="en-US" sz="2400" b="1" dirty="0"/>
              <a:t>formula bar</a:t>
            </a:r>
            <a:r>
              <a:rPr lang="en-US" sz="2400" dirty="0"/>
              <a:t>.</a:t>
            </a:r>
          </a:p>
        </p:txBody>
      </p:sp>
    </p:spTree>
    <p:extLst>
      <p:ext uri="{BB962C8B-B14F-4D97-AF65-F5344CB8AC3E}">
        <p14:creationId xmlns:p14="http://schemas.microsoft.com/office/powerpoint/2010/main" val="9822800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E7781-66CC-4082-8C77-A327EC99EA3A}"/>
              </a:ext>
            </a:extLst>
          </p:cNvPr>
          <p:cNvSpPr>
            <a:spLocks noGrp="1"/>
          </p:cNvSpPr>
          <p:nvPr>
            <p:ph type="title"/>
          </p:nvPr>
        </p:nvSpPr>
        <p:spPr/>
        <p:txBody>
          <a:bodyPr/>
          <a:lstStyle/>
          <a:p>
            <a:br>
              <a:rPr kumimoji="0" lang="en-US" sz="32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br>
            <a:r>
              <a:rPr kumimoji="0" lang="en-US" sz="32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UNDERSTANDING ORDER OF OPERATIONS</a:t>
            </a:r>
            <a:endParaRPr lang="en-US" dirty="0"/>
          </a:p>
        </p:txBody>
      </p:sp>
      <p:sp>
        <p:nvSpPr>
          <p:cNvPr id="3" name="Content Placeholder 2">
            <a:extLst>
              <a:ext uri="{FF2B5EF4-FFF2-40B4-BE49-F238E27FC236}">
                <a16:creationId xmlns:a16="http://schemas.microsoft.com/office/drawing/2014/main" id="{74D2E8FB-05FD-4A0D-BBD8-D578EC42BEB3}"/>
              </a:ext>
            </a:extLst>
          </p:cNvPr>
          <p:cNvSpPr>
            <a:spLocks noGrp="1"/>
          </p:cNvSpPr>
          <p:nvPr>
            <p:ph idx="1"/>
          </p:nvPr>
        </p:nvSpPr>
        <p:spPr/>
        <p:txBody>
          <a:bodyPr/>
          <a:lstStyle/>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3. Insert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parentheses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around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7 + 8.</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4. Insert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parentheses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around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3 / 2.</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5. Insert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parentheses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around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(7 + 8) * (3 / 2). </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Press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Enter.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result in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A1</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changes to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18.5.</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Excel applies the rules of mathematics to determine how formulas are calculated. </a:t>
            </a:r>
          </a:p>
          <a:p>
            <a:endParaRPr lang="en-US" dirty="0"/>
          </a:p>
        </p:txBody>
      </p:sp>
    </p:spTree>
    <p:extLst>
      <p:ext uri="{BB962C8B-B14F-4D97-AF65-F5344CB8AC3E}">
        <p14:creationId xmlns:p14="http://schemas.microsoft.com/office/powerpoint/2010/main" val="28499193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33221-93B3-4A68-8B42-BC500932A145}"/>
              </a:ext>
            </a:extLst>
          </p:cNvPr>
          <p:cNvSpPr>
            <a:spLocks noGrp="1"/>
          </p:cNvSpPr>
          <p:nvPr>
            <p:ph type="title"/>
          </p:nvPr>
        </p:nvSpPr>
        <p:spPr>
          <a:xfrm>
            <a:off x="2592925" y="624110"/>
            <a:ext cx="8911687" cy="1120284"/>
          </a:xfrm>
        </p:spPr>
        <p:txBody>
          <a:bodyPr/>
          <a:lstStyle/>
          <a:p>
            <a:br>
              <a:rPr kumimoji="0" lang="en-US" sz="32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br>
            <a:r>
              <a:rPr kumimoji="0" lang="en-US" sz="32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UNDERSTANDING ORDER OF OPERATIONS</a:t>
            </a:r>
            <a:endParaRPr lang="en-US" dirty="0"/>
          </a:p>
        </p:txBody>
      </p:sp>
      <p:sp>
        <p:nvSpPr>
          <p:cNvPr id="3" name="Content Placeholder 2">
            <a:extLst>
              <a:ext uri="{FF2B5EF4-FFF2-40B4-BE49-F238E27FC236}">
                <a16:creationId xmlns:a16="http://schemas.microsoft.com/office/drawing/2014/main" id="{A5200DF9-000A-43AA-89DF-A2725FBAF218}"/>
              </a:ext>
            </a:extLst>
          </p:cNvPr>
          <p:cNvSpPr>
            <a:spLocks noGrp="1"/>
          </p:cNvSpPr>
          <p:nvPr>
            <p:ph idx="1"/>
          </p:nvPr>
        </p:nvSpPr>
        <p:spPr>
          <a:xfrm>
            <a:off x="2589212" y="1744394"/>
            <a:ext cx="8915400" cy="4166828"/>
          </a:xfrm>
        </p:spPr>
        <p:txBody>
          <a:bodyPr>
            <a:noAutofit/>
          </a:bodyPr>
          <a:lstStyle/>
          <a:p>
            <a:r>
              <a:rPr lang="en-US" sz="2400" dirty="0"/>
              <a:t>The following is the order in which arithmetic operators are applied:</a:t>
            </a:r>
          </a:p>
          <a:p>
            <a:pPr lvl="1"/>
            <a:r>
              <a:rPr lang="en-US" sz="2400" dirty="0"/>
              <a:t>Negative number (−)</a:t>
            </a:r>
          </a:p>
          <a:p>
            <a:pPr lvl="1"/>
            <a:r>
              <a:rPr lang="en-US" sz="2400" dirty="0"/>
              <a:t>Percent (%)</a:t>
            </a:r>
          </a:p>
          <a:p>
            <a:pPr lvl="1"/>
            <a:r>
              <a:rPr lang="en-US" sz="2400" dirty="0"/>
              <a:t>Exponentiation (ˆ)</a:t>
            </a:r>
          </a:p>
          <a:p>
            <a:pPr lvl="1"/>
            <a:r>
              <a:rPr lang="en-US" sz="2400" dirty="0"/>
              <a:t>Multiplication (*) and division (/) (left to right)</a:t>
            </a:r>
          </a:p>
          <a:p>
            <a:pPr lvl="1"/>
            <a:r>
              <a:rPr lang="en-US" sz="2400" dirty="0"/>
              <a:t>Addition (+) and subtraction (−) (left to right)</a:t>
            </a:r>
          </a:p>
          <a:p>
            <a:r>
              <a:rPr lang="en-US" sz="2400" dirty="0"/>
              <a:t>For example, consider the original formula: 7 + 8 * 3 / 2 − 4 = 15</a:t>
            </a:r>
          </a:p>
        </p:txBody>
      </p:sp>
    </p:spTree>
    <p:extLst>
      <p:ext uri="{BB962C8B-B14F-4D97-AF65-F5344CB8AC3E}">
        <p14:creationId xmlns:p14="http://schemas.microsoft.com/office/powerpoint/2010/main" val="40580260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F3F6A-6542-4683-BFED-4BA5A9C87549}"/>
              </a:ext>
            </a:extLst>
          </p:cNvPr>
          <p:cNvSpPr>
            <a:spLocks noGrp="1"/>
          </p:cNvSpPr>
          <p:nvPr>
            <p:ph type="title"/>
          </p:nvPr>
        </p:nvSpPr>
        <p:spPr/>
        <p:txBody>
          <a:bodyPr/>
          <a:lstStyle/>
          <a:p>
            <a:br>
              <a:rPr kumimoji="0" lang="en-US" sz="32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br>
            <a:r>
              <a:rPr kumimoji="0" lang="en-US" sz="32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UNDERSTANDING ORDER OF OPERATIONS</a:t>
            </a:r>
            <a:endParaRPr lang="en-US" dirty="0"/>
          </a:p>
        </p:txBody>
      </p:sp>
      <p:sp>
        <p:nvSpPr>
          <p:cNvPr id="3" name="Content Placeholder 2">
            <a:extLst>
              <a:ext uri="{FF2B5EF4-FFF2-40B4-BE49-F238E27FC236}">
                <a16:creationId xmlns:a16="http://schemas.microsoft.com/office/drawing/2014/main" id="{A1B75AD0-9121-4BB2-92FF-D7C2D12B38D9}"/>
              </a:ext>
            </a:extLst>
          </p:cNvPr>
          <p:cNvSpPr>
            <a:spLocks noGrp="1"/>
          </p:cNvSpPr>
          <p:nvPr>
            <p:ph idx="1"/>
          </p:nvPr>
        </p:nvSpPr>
        <p:spPr/>
        <p:txBody>
          <a:bodyPr>
            <a:normAutofit fontScale="92500" lnSpcReduction="20000"/>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Following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arithmetic operator priorities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first operation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is 8 multiplied by 3 and that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result is divided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by 2. Then 7 is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added</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and 4 is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subtracted</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You can use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parentheses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in a formula to override the standard order of operations.</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Excel performs calculations on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formulas inside parentheses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first. Parentheses inside of parentheses are called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nested parentheses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Calculations are performed on formulas in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innermost set of parentheses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first, and from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left to right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if nested parentheses are at the same level. </a:t>
            </a:r>
          </a:p>
          <a:p>
            <a:pPr marL="0" indent="0">
              <a:buNone/>
            </a:pPr>
            <a:endParaRPr lang="en-US" dirty="0"/>
          </a:p>
        </p:txBody>
      </p:sp>
    </p:spTree>
    <p:extLst>
      <p:ext uri="{BB962C8B-B14F-4D97-AF65-F5344CB8AC3E}">
        <p14:creationId xmlns:p14="http://schemas.microsoft.com/office/powerpoint/2010/main" val="10367071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66CA2-0310-4A3F-AA49-2D25708E4F0E}"/>
              </a:ext>
            </a:extLst>
          </p:cNvPr>
          <p:cNvSpPr>
            <a:spLocks noGrp="1"/>
          </p:cNvSpPr>
          <p:nvPr>
            <p:ph type="title"/>
          </p:nvPr>
        </p:nvSpPr>
        <p:spPr/>
        <p:txBody>
          <a:bodyPr/>
          <a:lstStyle/>
          <a:p>
            <a:br>
              <a:rPr kumimoji="0" lang="en-US" sz="32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br>
            <a:r>
              <a:rPr kumimoji="0" lang="en-US" sz="32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UNDERSTANDING ORDER OF OPERATIONS</a:t>
            </a:r>
            <a:endParaRPr lang="en-US" dirty="0"/>
          </a:p>
        </p:txBody>
      </p:sp>
      <p:sp>
        <p:nvSpPr>
          <p:cNvPr id="3" name="Content Placeholder 2">
            <a:extLst>
              <a:ext uri="{FF2B5EF4-FFF2-40B4-BE49-F238E27FC236}">
                <a16:creationId xmlns:a16="http://schemas.microsoft.com/office/drawing/2014/main" id="{07B68FBE-5B2F-4BE4-8D9A-CA712E2437D5}"/>
              </a:ext>
            </a:extLst>
          </p:cNvPr>
          <p:cNvSpPr>
            <a:spLocks noGrp="1"/>
          </p:cNvSpPr>
          <p:nvPr>
            <p:ph idx="1"/>
          </p:nvPr>
        </p:nvSpPr>
        <p:spPr/>
        <p:txBody>
          <a:bodyPr>
            <a:noAutofit/>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Therefore, the result of the following formula with parentheses is different from the previous one: ((7 + 8) * (3 / 2)) − 4 = 18.5</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Following arithmetic operator priorities, the first operation is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sum of 7 + 8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multiplied by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quotient of 3 divided by 2</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Then,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4 is subtracted</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endParaRPr lang="en-US" sz="2400" dirty="0"/>
          </a:p>
          <a:p>
            <a:r>
              <a:rPr lang="en-US" sz="2400" dirty="0"/>
              <a:t>While modifying a complex formula, if you decide to revert back to the original formula and start over, just press Esc. </a:t>
            </a:r>
          </a:p>
        </p:txBody>
      </p:sp>
    </p:spTree>
    <p:extLst>
      <p:ext uri="{BB962C8B-B14F-4D97-AF65-F5344CB8AC3E}">
        <p14:creationId xmlns:p14="http://schemas.microsoft.com/office/powerpoint/2010/main" val="1725966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3143C-C501-4469-97FD-5A1D8191A6C5}"/>
              </a:ext>
            </a:extLst>
          </p:cNvPr>
          <p:cNvSpPr>
            <a:spLocks noGrp="1"/>
          </p:cNvSpPr>
          <p:nvPr>
            <p:ph type="title"/>
          </p:nvPr>
        </p:nvSpPr>
        <p:spPr/>
        <p:txBody>
          <a:bodyPr/>
          <a:lstStyle/>
          <a:p>
            <a:br>
              <a:rPr kumimoji="0" lang="en-US" sz="32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br>
            <a:r>
              <a:rPr kumimoji="0" lang="en-US" sz="32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UNDERSTANDING ORDER OF OPERATIONS</a:t>
            </a:r>
            <a:endParaRPr lang="en-US" dirty="0"/>
          </a:p>
        </p:txBody>
      </p:sp>
      <p:sp>
        <p:nvSpPr>
          <p:cNvPr id="3" name="Content Placeholder 2">
            <a:extLst>
              <a:ext uri="{FF2B5EF4-FFF2-40B4-BE49-F238E27FC236}">
                <a16:creationId xmlns:a16="http://schemas.microsoft.com/office/drawing/2014/main" id="{A54CA9F0-1E82-4FE2-8932-53B7684CBDE8}"/>
              </a:ext>
            </a:extLst>
          </p:cNvPr>
          <p:cNvSpPr>
            <a:spLocks noGrp="1"/>
          </p:cNvSpPr>
          <p:nvPr>
            <p:ph idx="1"/>
          </p:nvPr>
        </p:nvSpPr>
        <p:spPr/>
        <p:txBody>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If you’ve already pressed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Enter,</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you’ll need to click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Undo button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on the Quick Access Toolbar.</a:t>
            </a:r>
          </a:p>
          <a:p>
            <a:endParaRPr lang="en-US" dirty="0"/>
          </a:p>
        </p:txBody>
      </p:sp>
    </p:spTree>
    <p:extLst>
      <p:ext uri="{BB962C8B-B14F-4D97-AF65-F5344CB8AC3E}">
        <p14:creationId xmlns:p14="http://schemas.microsoft.com/office/powerpoint/2010/main" val="3828584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F7A12-A32C-4448-A62C-90AD45649916}"/>
              </a:ext>
            </a:extLst>
          </p:cNvPr>
          <p:cNvSpPr>
            <a:spLocks noGrp="1"/>
          </p:cNvSpPr>
          <p:nvPr>
            <p:ph type="title"/>
          </p:nvPr>
        </p:nvSpPr>
        <p:spPr/>
        <p:txBody>
          <a:bodyPr/>
          <a:lstStyle/>
          <a:p>
            <a:br>
              <a:rPr lang="en-US" dirty="0"/>
            </a:br>
            <a:r>
              <a:rPr lang="en-US" dirty="0">
                <a:solidFill>
                  <a:srgbClr val="FF0000"/>
                </a:solidFill>
              </a:rPr>
              <a:t>HANDS ON EXERCISE</a:t>
            </a:r>
          </a:p>
        </p:txBody>
      </p:sp>
      <p:sp>
        <p:nvSpPr>
          <p:cNvPr id="3" name="Content Placeholder 2">
            <a:extLst>
              <a:ext uri="{FF2B5EF4-FFF2-40B4-BE49-F238E27FC236}">
                <a16:creationId xmlns:a16="http://schemas.microsoft.com/office/drawing/2014/main" id="{9D6B3017-F27B-4438-B216-70916B911971}"/>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69278910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6354</TotalTime>
  <Words>4142</Words>
  <Application>Microsoft Office PowerPoint</Application>
  <PresentationFormat>Widescreen</PresentationFormat>
  <Paragraphs>292</Paragraphs>
  <Slides>59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Arial</vt:lpstr>
      <vt:lpstr>Calibri</vt:lpstr>
      <vt:lpstr>Century Gothic</vt:lpstr>
      <vt:lpstr>Times New Roman</vt:lpstr>
      <vt:lpstr>Wingdings 3</vt:lpstr>
      <vt:lpstr>Wisp</vt:lpstr>
      <vt:lpstr>END USER COMPUTING.   BICT 1101</vt:lpstr>
      <vt:lpstr> Microsoft Excel </vt:lpstr>
      <vt:lpstr> Microsoft Excel  </vt:lpstr>
      <vt:lpstr> Microsoft Excel</vt:lpstr>
      <vt:lpstr> CREATING WORKBOOKS </vt:lpstr>
      <vt:lpstr> CREATING WORKBOOKS</vt:lpstr>
      <vt:lpstr> SAVING WORKBOOKS</vt:lpstr>
      <vt:lpstr> Microsoft Excel (Worksheets)</vt:lpstr>
      <vt:lpstr> Microsoft Excel (Worksheets)</vt:lpstr>
      <vt:lpstr> Microsoft Excel’s (Workbook) </vt:lpstr>
      <vt:lpstr>MICROSOFT EXCEL SCREEN ELEMENTS (Excel’s Blank Worksheet)</vt:lpstr>
      <vt:lpstr> MICROSOFT EXCEL SCREEN ELEMENTS</vt:lpstr>
      <vt:lpstr> MICROSOFT EXCEL SCREEN ELEMENTS</vt:lpstr>
      <vt:lpstr> MICROSOFT EXCEL SCREEN ELEMENTS</vt:lpstr>
      <vt:lpstr> MICROSOFT EXCEL SCREEN ELEMENTS</vt:lpstr>
      <vt:lpstr> MICROSOFT EXCEL SCREEN ELEMENTS</vt:lpstr>
      <vt:lpstr> MICROSOFT EXCEL SCREEN ELEMENTS</vt:lpstr>
      <vt:lpstr>ENTERING AND EDITING BASIC DATA IN A WORKSHEET</vt:lpstr>
      <vt:lpstr>ENTERING AND EDITING BASIC DATA IN A WORKSHEET</vt:lpstr>
      <vt:lpstr>ENTERING AND EDITING BASIC DATA IN A WORKSHEET</vt:lpstr>
      <vt:lpstr>ENTERING AND EDITING BASIC DATA IN A WORKSHEET</vt:lpstr>
      <vt:lpstr>ENTERING AND EDITING BASIC DATA IN A WORKSHEET</vt:lpstr>
      <vt:lpstr>ENTERING AND EDITING BASIC DATA IN A WORKSHEET</vt:lpstr>
      <vt:lpstr>ENTERING AND EDITING BASIC DATA IN A WORKSHEET</vt:lpstr>
      <vt:lpstr> MOVING AROUND IN  EXCEL (KEYS) </vt:lpstr>
      <vt:lpstr> MOVING AROUND IN  EXCEL (KEYS)</vt:lpstr>
      <vt:lpstr>MOVING AROUND IN  EXCEL (KEYS)</vt:lpstr>
      <vt:lpstr> MOVING AROUND IN EXCEL (KEYS)</vt:lpstr>
      <vt:lpstr> MOVING AROUND IN EXCEL (KEYS)</vt:lpstr>
      <vt:lpstr> MOVING AROUND IN  EXCEL (KEYS)</vt:lpstr>
      <vt:lpstr> MOVING AROUND IN  EXCEL (KEYS)</vt:lpstr>
      <vt:lpstr> MOVING AROUND IN  EXCEL (KEYS)</vt:lpstr>
      <vt:lpstr>Highlighting/Selecting Areas Using the Mouse</vt:lpstr>
      <vt:lpstr> ENTERING TEXT</vt:lpstr>
      <vt:lpstr> ENTERING TEXT</vt:lpstr>
      <vt:lpstr> ENTERING TEXT (Autofill)</vt:lpstr>
      <vt:lpstr> ENTERING VALUES</vt:lpstr>
      <vt:lpstr> USING BASIC FORMULAS</vt:lpstr>
      <vt:lpstr> CREATING FORMULAS (FORMULAS TAB)</vt:lpstr>
      <vt:lpstr>USING BASIC FORMULAS (UNDERSTANDING AND DISPLAYING FORMULAS)</vt:lpstr>
      <vt:lpstr>USING BASIC FORMULAS (UNDERSTANDING AND DISPLAYING FORMULAS)</vt:lpstr>
      <vt:lpstr>ENTERING BASIC CALCULATIONS (CREATING FORMULAS)</vt:lpstr>
      <vt:lpstr> DISPLAY FORMULAS</vt:lpstr>
      <vt:lpstr> DISPLAY FORMULAS</vt:lpstr>
      <vt:lpstr> DISPLAY FORMULAS</vt:lpstr>
      <vt:lpstr> DISPLAY FORMULAS</vt:lpstr>
      <vt:lpstr> DISPLAY FORMULAS</vt:lpstr>
      <vt:lpstr> DISPLAY FORMULAS</vt:lpstr>
      <vt:lpstr> DISPLAY FORMULAS</vt:lpstr>
      <vt:lpstr>EXCEL ARITHMETIC OPERATORS</vt:lpstr>
      <vt:lpstr> THE ARITHMETIC OPERATORS </vt:lpstr>
      <vt:lpstr> THE ARITHMETIC OPERATORS</vt:lpstr>
      <vt:lpstr> UNDERSTANDING ORDER OF OPERATIONS </vt:lpstr>
      <vt:lpstr> UNDERSTANDING ORDER OF OPERATIONS</vt:lpstr>
      <vt:lpstr> UNDERSTANDING ORDER OF OPERATIONS</vt:lpstr>
      <vt:lpstr> UNDERSTANDING ORDER OF OPERATIONS</vt:lpstr>
      <vt:lpstr> UNDERSTANDING ORDER OF OPERATIONS</vt:lpstr>
      <vt:lpstr> UNDERSTANDING ORDER OF OPERATIONS</vt:lpstr>
      <vt:lpstr> HANDS ON 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Patricia Khonje</dc:creator>
  <cp:lastModifiedBy>Patricia Khonje</cp:lastModifiedBy>
  <cp:revision>217</cp:revision>
  <dcterms:created xsi:type="dcterms:W3CDTF">2021-04-25T22:35:39Z</dcterms:created>
  <dcterms:modified xsi:type="dcterms:W3CDTF">2021-05-19T19:54:29Z</dcterms:modified>
</cp:coreProperties>
</file>