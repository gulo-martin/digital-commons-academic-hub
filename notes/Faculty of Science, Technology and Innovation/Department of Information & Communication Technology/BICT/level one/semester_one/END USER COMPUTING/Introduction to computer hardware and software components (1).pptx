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9"/>
  </p:notesMasterIdLst>
  <p:handoutMasterIdLst>
    <p:handoutMasterId r:id="rId60"/>
  </p:handoutMasterIdLst>
  <p:sldIdLst>
    <p:sldId id="258" r:id="rId3"/>
    <p:sldId id="294" r:id="rId4"/>
    <p:sldId id="295" r:id="rId5"/>
    <p:sldId id="296" r:id="rId6"/>
    <p:sldId id="334" r:id="rId7"/>
    <p:sldId id="335" r:id="rId8"/>
    <p:sldId id="336" r:id="rId9"/>
    <p:sldId id="337" r:id="rId10"/>
    <p:sldId id="338" r:id="rId11"/>
    <p:sldId id="339" r:id="rId12"/>
    <p:sldId id="340" r:id="rId13"/>
    <p:sldId id="341"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48" r:id="rId38"/>
    <p:sldId id="320" r:id="rId39"/>
    <p:sldId id="321" r:id="rId40"/>
    <p:sldId id="322" r:id="rId41"/>
    <p:sldId id="323" r:id="rId42"/>
    <p:sldId id="324" r:id="rId43"/>
    <p:sldId id="325" r:id="rId44"/>
    <p:sldId id="326" r:id="rId45"/>
    <p:sldId id="327" r:id="rId46"/>
    <p:sldId id="328" r:id="rId47"/>
    <p:sldId id="342" r:id="rId48"/>
    <p:sldId id="343" r:id="rId49"/>
    <p:sldId id="329" r:id="rId50"/>
    <p:sldId id="330" r:id="rId51"/>
    <p:sldId id="331" r:id="rId52"/>
    <p:sldId id="344" r:id="rId53"/>
    <p:sldId id="345" r:id="rId54"/>
    <p:sldId id="346" r:id="rId55"/>
    <p:sldId id="347" r:id="rId56"/>
    <p:sldId id="333" r:id="rId57"/>
    <p:sldId id="293" r:id="rId5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r>
              <a:rPr lang="en-US" smtClean="0"/>
              <a:t>CIT-ITC-1-1</a:t>
            </a:r>
            <a:endParaRPr lang="en-US"/>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DF561F46-35EE-4A60-805B-C9B65F7EC038}" type="datetimeFigureOut">
              <a:rPr lang="en-US" smtClean="0"/>
              <a:t>1/11/2021</a:t>
            </a:fld>
            <a:endParaRPr lang="en-US"/>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E982A7C7-DBEE-455B-AF6C-D92F69E0AAB4}" type="slidenum">
              <a:rPr lang="en-US" smtClean="0"/>
              <a:t>‹#›</a:t>
            </a:fld>
            <a:endParaRPr lang="en-US"/>
          </a:p>
        </p:txBody>
      </p:sp>
    </p:spTree>
    <p:extLst>
      <p:ext uri="{BB962C8B-B14F-4D97-AF65-F5344CB8AC3E}">
        <p14:creationId xmlns:p14="http://schemas.microsoft.com/office/powerpoint/2010/main" val="124418066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r>
              <a:rPr lang="en-US" smtClean="0"/>
              <a:t>CIT-ITC-1-1</a:t>
            </a:r>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99DC7645-0D85-47F1-B5B0-3D2E34B554FB}" type="datetimeFigureOut">
              <a:rPr lang="en-US" smtClean="0"/>
              <a:t>1/11/2021</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50DCC512-4ED2-4FA2-A1A6-33FEAF71FF3B}" type="slidenum">
              <a:rPr lang="en-US" smtClean="0"/>
              <a:t>‹#›</a:t>
            </a:fld>
            <a:endParaRPr lang="en-US"/>
          </a:p>
        </p:txBody>
      </p:sp>
    </p:spTree>
    <p:extLst>
      <p:ext uri="{BB962C8B-B14F-4D97-AF65-F5344CB8AC3E}">
        <p14:creationId xmlns:p14="http://schemas.microsoft.com/office/powerpoint/2010/main" val="394153662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94644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410368"/>
            <a:ext cx="10515600" cy="1325563"/>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38707452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4242560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831506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2790022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1407414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1351727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4035482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2373042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3073091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ED649301-16E4-4991-8052-62B40FDF7B06}" type="datetimeFigureOut">
              <a:rPr lang="en-US" smtClean="0"/>
              <a:t>1/11/2021</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7742AD4-1B80-4ADD-BD3A-FA691F8044DE}" type="slidenum">
              <a:rPr lang="en-US" smtClean="0"/>
              <a:t>‹#›</a:t>
            </a:fld>
            <a:endParaRPr lang="en-US"/>
          </a:p>
        </p:txBody>
      </p:sp>
    </p:spTree>
    <p:extLst>
      <p:ext uri="{BB962C8B-B14F-4D97-AF65-F5344CB8AC3E}">
        <p14:creationId xmlns:p14="http://schemas.microsoft.com/office/powerpoint/2010/main" val="1159286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88A750-3ED5-4D86-9D6B-9142D156795C}" type="datetimeFigureOut">
              <a:rPr lang="en-US" smtClean="0"/>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641671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88A750-3ED5-4D86-9D6B-9142D156795C}" type="datetimeFigureOut">
              <a:rPr lang="en-US" smtClean="0"/>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95299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888A750-3ED5-4D86-9D6B-9142D156795C}" type="datetimeFigureOut">
              <a:rPr lang="en-US" smtClean="0"/>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1096604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888A750-3ED5-4D86-9D6B-9142D156795C}" type="datetimeFigureOut">
              <a:rPr lang="en-US" smtClean="0"/>
              <a:t>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2929556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888A750-3ED5-4D86-9D6B-9142D156795C}" type="datetimeFigureOut">
              <a:rPr lang="en-US" smtClean="0"/>
              <a:t>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2231304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888A750-3ED5-4D86-9D6B-9142D156795C}" type="datetimeFigureOut">
              <a:rPr lang="en-US" smtClean="0"/>
              <a:t>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998430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88A750-3ED5-4D86-9D6B-9142D156795C}" type="datetimeFigureOut">
              <a:rPr lang="en-US" smtClean="0"/>
              <a:t>1/11/2021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2642624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888A750-3ED5-4D86-9D6B-9142D156795C}" type="datetimeFigureOut">
              <a:rPr lang="en-US" smtClean="0"/>
              <a:t>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1613409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888A750-3ED5-4D86-9D6B-9142D156795C}" type="datetimeFigureOut">
              <a:rPr lang="en-US" smtClean="0"/>
              <a:t>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29802268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88A750-3ED5-4D86-9D6B-9142D156795C}" type="datetimeFigureOut">
              <a:rPr lang="en-US" smtClean="0"/>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23990562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88A750-3ED5-4D86-9D6B-9142D156795C}" type="datetimeFigureOut">
              <a:rPr lang="en-US" smtClean="0"/>
              <a:t>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83D093-3897-41E4-B31D-5747CA814D73}" type="slidenum">
              <a:rPr lang="en-US" smtClean="0"/>
              <a:t>‹#›</a:t>
            </a:fld>
            <a:endParaRPr lang="en-US"/>
          </a:p>
        </p:txBody>
      </p:sp>
    </p:spTree>
    <p:extLst>
      <p:ext uri="{BB962C8B-B14F-4D97-AF65-F5344CB8AC3E}">
        <p14:creationId xmlns:p14="http://schemas.microsoft.com/office/powerpoint/2010/main" val="32251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0" name="Picture 9"/>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176963"/>
            <a:ext cx="12192000" cy="647700"/>
          </a:xfrm>
          <a:prstGeom prst="rect">
            <a:avLst/>
          </a:prstGeom>
        </p:spPr>
      </p:pic>
      <p:pic>
        <p:nvPicPr>
          <p:cNvPr id="17" name="Picture 1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398" y="1658088"/>
            <a:ext cx="12023966" cy="128900"/>
          </a:xfrm>
          <a:prstGeom prst="rect">
            <a:avLst/>
          </a:prstGeom>
        </p:spPr>
      </p:pic>
    </p:spTree>
    <p:extLst>
      <p:ext uri="{BB962C8B-B14F-4D97-AF65-F5344CB8AC3E}">
        <p14:creationId xmlns:p14="http://schemas.microsoft.com/office/powerpoint/2010/main" val="3078671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8A750-3ED5-4D86-9D6B-9142D156795C}" type="datetimeFigureOut">
              <a:rPr lang="en-US" smtClean="0"/>
              <a:t>1/11/2021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3D093-3897-41E4-B31D-5747CA814D73}"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2398" y="1387629"/>
            <a:ext cx="12023966" cy="128900"/>
          </a:xfrm>
          <a:prstGeom prst="rect">
            <a:avLst/>
          </a:prstGeom>
        </p:spPr>
      </p:pic>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6176963"/>
            <a:ext cx="12192000" cy="647700"/>
          </a:xfrm>
          <a:prstGeom prst="rect">
            <a:avLst/>
          </a:prstGeom>
        </p:spPr>
      </p:pic>
    </p:spTree>
    <p:extLst>
      <p:ext uri="{BB962C8B-B14F-4D97-AF65-F5344CB8AC3E}">
        <p14:creationId xmlns:p14="http://schemas.microsoft.com/office/powerpoint/2010/main" val="3590440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1" y="1835094"/>
            <a:ext cx="12083143" cy="4341869"/>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rot="10800000">
            <a:off x="1858598" y="3448594"/>
            <a:ext cx="9101818" cy="2410425"/>
          </a:xfrm>
          <a:prstGeom prst="ellipse">
            <a:avLst/>
          </a:prstGeom>
          <a:ln>
            <a:noFill/>
          </a:ln>
          <a:effectLst>
            <a:softEdge rad="112500"/>
          </a:effectLst>
        </p:spPr>
      </p:pic>
      <p:sp>
        <p:nvSpPr>
          <p:cNvPr id="8" name="Title 7"/>
          <p:cNvSpPr>
            <a:spLocks noGrp="1"/>
          </p:cNvSpPr>
          <p:nvPr>
            <p:ph type="title"/>
          </p:nvPr>
        </p:nvSpPr>
        <p:spPr>
          <a:xfrm>
            <a:off x="916576" y="419495"/>
            <a:ext cx="10515600" cy="1325563"/>
          </a:xfrm>
        </p:spPr>
        <p:txBody>
          <a:bodyPr>
            <a:normAutofit/>
          </a:bodyPr>
          <a:lstStyle/>
          <a:p>
            <a:r>
              <a:rPr lang="en-US" dirty="0" smtClean="0"/>
              <a:t/>
            </a:r>
            <a:br>
              <a:rPr lang="en-US" dirty="0" smtClean="0"/>
            </a:br>
            <a:endParaRPr lang="en-US" dirty="0"/>
          </a:p>
        </p:txBody>
      </p:sp>
      <p:sp>
        <p:nvSpPr>
          <p:cNvPr id="9" name="Content Placeholder 8"/>
          <p:cNvSpPr>
            <a:spLocks noGrp="1"/>
          </p:cNvSpPr>
          <p:nvPr>
            <p:ph idx="1"/>
          </p:nvPr>
        </p:nvSpPr>
        <p:spPr>
          <a:xfrm>
            <a:off x="961311" y="2000124"/>
            <a:ext cx="10515600" cy="4351338"/>
          </a:xfrm>
        </p:spPr>
        <p:txBody>
          <a:bodyPr>
            <a:normAutofit/>
          </a:bodyPr>
          <a:lstStyle/>
          <a:p>
            <a:pPr marL="0" indent="0" algn="ctr">
              <a:buNone/>
            </a:pPr>
            <a:r>
              <a:rPr lang="en-US" sz="3600" b="1" dirty="0" smtClean="0">
                <a:latin typeface="Palatino Linotype" panose="02040502050505030304" pitchFamily="18" charset="0"/>
              </a:rPr>
              <a:t>Introduction to Computers</a:t>
            </a:r>
          </a:p>
          <a:p>
            <a:pPr marL="0" indent="0" algn="ctr">
              <a:buNone/>
            </a:pPr>
            <a:r>
              <a:rPr lang="en-US" dirty="0" smtClean="0">
                <a:latin typeface="Times New Roman" panose="02020603050405020304" pitchFamily="18" charset="0"/>
                <a:cs typeface="Times New Roman" panose="02020603050405020304" pitchFamily="18" charset="0"/>
              </a:rPr>
              <a:t>(</a:t>
            </a:r>
            <a:r>
              <a:rPr lang="en-US" dirty="0" smtClean="0"/>
              <a:t>CIT-ITC-1-1</a:t>
            </a:r>
            <a:r>
              <a:rPr lang="en-US" dirty="0" smtClean="0">
                <a:latin typeface="Times New Roman" panose="02020603050405020304" pitchFamily="18" charset="0"/>
                <a:cs typeface="Times New Roman" panose="02020603050405020304" pitchFamily="18" charset="0"/>
              </a:rPr>
              <a:t>)</a:t>
            </a:r>
          </a:p>
          <a:p>
            <a:pPr marL="0" indent="0" algn="ctr">
              <a:buNone/>
            </a:pPr>
            <a:endParaRPr lang="en-US" dirty="0" smtClean="0"/>
          </a:p>
          <a:p>
            <a:pPr marL="0" indent="0" algn="ctr">
              <a:buNone/>
            </a:pPr>
            <a:r>
              <a:rPr lang="en-US" b="1" dirty="0">
                <a:latin typeface="Times New Roman" panose="02020603050405020304" pitchFamily="18" charset="0"/>
                <a:cs typeface="Times New Roman" panose="02020603050405020304" pitchFamily="18" charset="0"/>
              </a:rPr>
              <a:t>Introduction to </a:t>
            </a:r>
            <a:r>
              <a:rPr lang="en-US" b="1" dirty="0" smtClean="0"/>
              <a:t>Computer System</a:t>
            </a:r>
            <a:endParaRPr lang="en-US" dirty="0" smtClean="0"/>
          </a:p>
          <a:p>
            <a:pPr marL="0" indent="0" algn="ctr">
              <a:buNone/>
            </a:pPr>
            <a:r>
              <a:rPr lang="en-US" sz="2400" dirty="0" smtClean="0">
                <a:latin typeface="Times New Roman" panose="02020603050405020304" pitchFamily="18" charset="0"/>
                <a:cs typeface="Times New Roman" panose="02020603050405020304" pitchFamily="18" charset="0"/>
              </a:rPr>
              <a:t>Prepared </a:t>
            </a:r>
            <a:r>
              <a:rPr lang="en-US" sz="2400" dirty="0" smtClean="0">
                <a:latin typeface="Times New Roman" panose="02020603050405020304" pitchFamily="18" charset="0"/>
                <a:cs typeface="Times New Roman" panose="02020603050405020304" pitchFamily="18" charset="0"/>
              </a:rPr>
              <a:t>By:</a:t>
            </a:r>
          </a:p>
          <a:p>
            <a:pPr marL="0" indent="0" algn="ctr">
              <a:buNone/>
            </a:pPr>
            <a:r>
              <a:rPr lang="en-US" sz="2400" dirty="0" err="1" smtClean="0">
                <a:latin typeface="Times New Roman" panose="02020603050405020304" pitchFamily="18" charset="0"/>
                <a:cs typeface="Times New Roman" panose="02020603050405020304" pitchFamily="18" charset="0"/>
              </a:rPr>
              <a:t>Ausman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Sakala</a:t>
            </a:r>
            <a:endParaRPr lang="en-US" sz="2400" dirty="0" smtClean="0">
              <a:latin typeface="Times New Roman" panose="02020603050405020304" pitchFamily="18" charset="0"/>
              <a:cs typeface="Times New Roman" panose="02020603050405020304" pitchFamily="18" charset="0"/>
            </a:endParaRPr>
          </a:p>
          <a:p>
            <a:pPr marL="0" indent="0" algn="ctr">
              <a:buNone/>
            </a:pPr>
            <a:r>
              <a:rPr lang="en-US" sz="2400" dirty="0" smtClean="0">
                <a:latin typeface="Times New Roman" panose="02020603050405020304" pitchFamily="18" charset="0"/>
                <a:cs typeface="Times New Roman" panose="02020603050405020304" pitchFamily="18" charset="0"/>
              </a:rPr>
              <a:t>Computing and Information Technology Department</a:t>
            </a:r>
          </a:p>
          <a:p>
            <a:pPr marL="0" indent="0" algn="ctr">
              <a:buNone/>
            </a:pPr>
            <a:r>
              <a:rPr lang="en-US" sz="2400" dirty="0" smtClean="0">
                <a:latin typeface="Times New Roman" panose="02020603050405020304" pitchFamily="18" charset="0"/>
                <a:cs typeface="Times New Roman" panose="02020603050405020304" pitchFamily="18" charset="0"/>
              </a:rPr>
              <a:t>The Polytechnic </a:t>
            </a:r>
          </a:p>
          <a:p>
            <a:pPr marL="0" indent="0">
              <a:buNone/>
            </a:pPr>
            <a:endParaRPr lang="en-US" dirty="0"/>
          </a:p>
        </p:txBody>
      </p:sp>
      <p:pic>
        <p:nvPicPr>
          <p:cNvPr id="10" name="Picture 9" descr="K:\LOGOS\UNIMA COLOUR LOGO HIGH RESO.jpg"/>
          <p:cNvPicPr/>
          <p:nvPr/>
        </p:nvPicPr>
        <p:blipFill>
          <a:blip r:embed="rId5" cstate="print"/>
          <a:srcRect/>
          <a:stretch>
            <a:fillRect/>
          </a:stretch>
        </p:blipFill>
        <p:spPr bwMode="auto">
          <a:xfrm>
            <a:off x="5390487" y="101551"/>
            <a:ext cx="1245443" cy="1517751"/>
          </a:xfrm>
          <a:prstGeom prst="rect">
            <a:avLst/>
          </a:prstGeom>
          <a:noFill/>
          <a:ln w="9525">
            <a:noFill/>
            <a:miter lim="800000"/>
            <a:headEnd/>
            <a:tailEnd/>
          </a:ln>
        </p:spPr>
      </p:pic>
      <p:sp>
        <p:nvSpPr>
          <p:cNvPr id="2" name="Rectangle 1"/>
          <p:cNvSpPr/>
          <p:nvPr/>
        </p:nvSpPr>
        <p:spPr>
          <a:xfrm>
            <a:off x="1084423" y="6176963"/>
            <a:ext cx="10269376" cy="461665"/>
          </a:xfrm>
          <a:prstGeom prst="rect">
            <a:avLst/>
          </a:prstGeom>
        </p:spPr>
        <p:txBody>
          <a:bodyPr wrap="square">
            <a:spAutoFit/>
          </a:bodyPr>
          <a:lstStyle/>
          <a:p>
            <a:endParaRPr lang="en-US" sz="1200" b="1" i="1" dirty="0" smtClean="0">
              <a:solidFill>
                <a:prstClr val="black"/>
              </a:solidFill>
              <a:latin typeface="Times New Roman" panose="02020603050405020304" pitchFamily="18" charset="0"/>
              <a:cs typeface="Times New Roman" panose="02020603050405020304" pitchFamily="18" charset="0"/>
            </a:endParaRPr>
          </a:p>
          <a:p>
            <a:r>
              <a:rPr lang="en-US" sz="1200" b="1" i="1" dirty="0" smtClean="0">
                <a:solidFill>
                  <a:prstClr val="black"/>
                </a:solidFill>
                <a:latin typeface="Times New Roman" panose="02020603050405020304" pitchFamily="18" charset="0"/>
                <a:cs typeface="Times New Roman" panose="02020603050405020304" pitchFamily="18" charset="0"/>
              </a:rPr>
              <a:t> :265 (0) </a:t>
            </a:r>
            <a:r>
              <a:rPr lang="en-US" sz="1200" b="1" i="1" dirty="0" smtClean="0">
                <a:solidFill>
                  <a:prstClr val="black"/>
                </a:solidFill>
                <a:latin typeface="Times New Roman" panose="02020603050405020304" pitchFamily="18" charset="0"/>
                <a:cs typeface="Times New Roman" panose="02020603050405020304" pitchFamily="18" charset="0"/>
              </a:rPr>
              <a:t>991 103 540                                                                                                                                                   </a:t>
            </a:r>
            <a:r>
              <a:rPr lang="en-US" sz="1200" b="1" dirty="0" smtClean="0">
                <a:solidFill>
                  <a:prstClr val="black"/>
                </a:solidFill>
                <a:latin typeface="Times New Roman" panose="02020603050405020304" pitchFamily="18" charset="0"/>
                <a:cs typeface="Times New Roman" panose="02020603050405020304" pitchFamily="18" charset="0"/>
              </a:rPr>
              <a:t>                                        </a:t>
            </a:r>
            <a:endParaRPr lang="en-US" dirty="0"/>
          </a:p>
        </p:txBody>
      </p:sp>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1311" y="6387323"/>
            <a:ext cx="246222" cy="246222"/>
          </a:xfrm>
          <a:prstGeom prst="rect">
            <a:avLst/>
          </a:prstGeom>
        </p:spPr>
      </p:pic>
    </p:spTree>
    <p:extLst>
      <p:ext uri="{BB962C8B-B14F-4D97-AF65-F5344CB8AC3E}">
        <p14:creationId xmlns:p14="http://schemas.microsoft.com/office/powerpoint/2010/main" val="35359963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Computer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i="1" dirty="0" smtClean="0">
                <a:latin typeface="Times New Roman" panose="02020603050405020304" pitchFamily="18" charset="0"/>
                <a:cs typeface="Times New Roman" panose="02020603050405020304" pitchFamily="18" charset="0"/>
              </a:rPr>
              <a:t>What is a Computer?</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Is a multipurpose </a:t>
            </a:r>
            <a:r>
              <a:rPr lang="en-US" smtClean="0">
                <a:latin typeface="Times New Roman" panose="02020603050405020304" pitchFamily="18" charset="0"/>
                <a:cs typeface="Times New Roman" panose="02020603050405020304" pitchFamily="18" charset="0"/>
              </a:rPr>
              <a:t>device (electronic </a:t>
            </a:r>
            <a:r>
              <a:rPr lang="en-US" dirty="0" smtClean="0">
                <a:latin typeface="Times New Roman" panose="02020603050405020304" pitchFamily="18" charset="0"/>
                <a:cs typeface="Times New Roman" panose="02020603050405020304" pitchFamily="18" charset="0"/>
              </a:rPr>
              <a:t>device) that accepts input, Processes data, stores data and produce output, all according to a series of stored instructions.</a:t>
            </a:r>
          </a:p>
          <a:p>
            <a:pPr>
              <a:buFont typeface="Wingdings" panose="05000000000000000000" pitchFamily="2" charset="2"/>
              <a:buChar char="§"/>
            </a:pPr>
            <a:r>
              <a:rPr lang="en-US" b="0" i="0" u="none" strike="noStrike" baseline="0" dirty="0" smtClean="0">
                <a:solidFill>
                  <a:srgbClr val="000000"/>
                </a:solidFill>
                <a:latin typeface="Times New Roman" panose="02020603050405020304" pitchFamily="18" charset="0"/>
              </a:rPr>
              <a:t>A computer is faster at performing computations than man despite being made to simulate the brain of man </a:t>
            </a:r>
          </a:p>
          <a:p>
            <a:pPr>
              <a:buFont typeface="Wingdings" panose="05000000000000000000" pitchFamily="2" charset="2"/>
              <a:buChar char="§"/>
            </a:pPr>
            <a:r>
              <a:rPr lang="en-US" dirty="0" smtClean="0">
                <a:solidFill>
                  <a:srgbClr val="000000"/>
                </a:solidFill>
                <a:latin typeface="Times New Roman" panose="02020603050405020304" pitchFamily="18" charset="0"/>
              </a:rPr>
              <a:t>A </a:t>
            </a:r>
            <a:r>
              <a:rPr lang="en-US" b="0" i="0" u="none" strike="noStrike" baseline="0" dirty="0" smtClean="0">
                <a:solidFill>
                  <a:srgbClr val="000000"/>
                </a:solidFill>
                <a:latin typeface="Times New Roman" panose="02020603050405020304" pitchFamily="18" charset="0"/>
              </a:rPr>
              <a:t>computer will do what we command it to do, these commands make</a:t>
            </a:r>
            <a:r>
              <a:rPr lang="en-US" b="0" i="0" u="none" strike="noStrike" dirty="0" smtClean="0">
                <a:solidFill>
                  <a:srgbClr val="000000"/>
                </a:solidFill>
                <a:latin typeface="Times New Roman" panose="02020603050405020304" pitchFamily="18" charset="0"/>
              </a:rPr>
              <a:t> up a program. </a:t>
            </a:r>
            <a:r>
              <a:rPr lang="en-US" b="0" i="0" u="none" strike="noStrike" baseline="0" dirty="0" smtClean="0">
                <a:solidFill>
                  <a:srgbClr val="000000"/>
                </a:solidFill>
                <a:latin typeface="Times New Roman" panose="02020603050405020304" pitchFamily="18" charset="0"/>
              </a:rPr>
              <a:t>This is summarized in the acronym, GIGO (Garbage In Garbage Out).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1445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(Cont’d)</a:t>
            </a:r>
            <a:endParaRPr lang="en-US" dirty="0"/>
          </a:p>
        </p:txBody>
      </p:sp>
      <p:sp>
        <p:nvSpPr>
          <p:cNvPr id="3" name="Content Placeholder 2"/>
          <p:cNvSpPr>
            <a:spLocks noGrp="1"/>
          </p:cNvSpPr>
          <p:nvPr>
            <p:ph idx="1"/>
          </p:nvPr>
        </p:nvSpPr>
        <p:spPr>
          <a:xfrm>
            <a:off x="838200" y="1867989"/>
            <a:ext cx="10515600" cy="4308974"/>
          </a:xfrm>
        </p:spPr>
        <p:txBody>
          <a:bodyPr>
            <a:normAutofit fontScale="92500" lnSpcReduction="20000"/>
          </a:bodyPr>
          <a:lstStyle/>
          <a:p>
            <a:pPr marL="0" indent="0">
              <a:buNone/>
            </a:pPr>
            <a:r>
              <a:rPr lang="en-US" b="1" i="1" dirty="0" smtClean="0">
                <a:latin typeface="Times New Roman" panose="02020603050405020304" pitchFamily="18" charset="0"/>
                <a:cs typeface="Times New Roman" panose="02020603050405020304" pitchFamily="18" charset="0"/>
              </a:rPr>
              <a:t>What is Input? </a:t>
            </a:r>
            <a:r>
              <a:rPr lang="en-US" dirty="0" smtClean="0">
                <a:latin typeface="Times New Roman" panose="02020603050405020304" pitchFamily="18" charset="0"/>
                <a:cs typeface="Times New Roman" panose="02020603050405020304" pitchFamily="18" charset="0"/>
              </a:rPr>
              <a:t>- Computer input is whatever is typed, submitted or transmitted to a computer system.</a:t>
            </a:r>
          </a:p>
          <a:p>
            <a:pPr marL="0" indent="0">
              <a:buNone/>
            </a:pPr>
            <a:r>
              <a:rPr lang="en-US" b="1" i="1" dirty="0" smtClean="0">
                <a:latin typeface="Times New Roman" panose="02020603050405020304" pitchFamily="18" charset="0"/>
                <a:cs typeface="Times New Roman" panose="02020603050405020304" pitchFamily="18" charset="0"/>
              </a:rPr>
              <a:t>What is output? </a:t>
            </a:r>
            <a:r>
              <a:rPr lang="en-US" i="1" dirty="0">
                <a:latin typeface="Times New Roman" panose="02020603050405020304" pitchFamily="18" charset="0"/>
                <a:cs typeface="Times New Roman" panose="02020603050405020304" pitchFamily="18" charset="0"/>
              </a:rPr>
              <a:t>-</a:t>
            </a:r>
            <a:r>
              <a:rPr lang="en-US" i="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This is a result produced by a computer i.e. reports, documents etc.</a:t>
            </a:r>
          </a:p>
          <a:p>
            <a:pPr marL="0" indent="0">
              <a:buNone/>
            </a:pPr>
            <a:r>
              <a:rPr lang="en-US" b="1" i="1" dirty="0" smtClean="0">
                <a:latin typeface="Times New Roman" panose="02020603050405020304" pitchFamily="18" charset="0"/>
                <a:cs typeface="Times New Roman" panose="02020603050405020304" pitchFamily="18" charset="0"/>
              </a:rPr>
              <a:t>Processing</a:t>
            </a:r>
            <a:r>
              <a:rPr lang="en-US" dirty="0" smtClean="0">
                <a:latin typeface="Times New Roman" panose="02020603050405020304" pitchFamily="18" charset="0"/>
                <a:cs typeface="Times New Roman" panose="02020603050405020304" pitchFamily="18" charset="0"/>
              </a:rPr>
              <a:t>:- This is manipulation of Data</a:t>
            </a:r>
          </a:p>
          <a:p>
            <a:pPr marL="0" indent="0">
              <a:buNone/>
            </a:pPr>
            <a:r>
              <a:rPr lang="en-US" b="1" i="1" dirty="0" smtClean="0">
                <a:latin typeface="Times New Roman" panose="02020603050405020304" pitchFamily="18" charset="0"/>
                <a:cs typeface="Times New Roman" panose="02020603050405020304" pitchFamily="18" charset="0"/>
              </a:rPr>
              <a:t>Memory</a:t>
            </a:r>
            <a:r>
              <a:rPr lang="en-US" i="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Is an area of a computer that temporary holds data waiting to be processed, stored or output.</a:t>
            </a:r>
          </a:p>
          <a:p>
            <a:pPr marL="0" indent="0">
              <a:buNone/>
            </a:pPr>
            <a:r>
              <a:rPr lang="en-US" b="1" i="1" dirty="0" smtClean="0">
                <a:latin typeface="Times New Roman" panose="02020603050405020304" pitchFamily="18" charset="0"/>
                <a:cs typeface="Times New Roman" panose="02020603050405020304" pitchFamily="18" charset="0"/>
              </a:rPr>
              <a:t>Storage</a:t>
            </a:r>
            <a:r>
              <a:rPr lang="en-US" dirty="0" smtClean="0">
                <a:latin typeface="Times New Roman" panose="02020603050405020304" pitchFamily="18" charset="0"/>
                <a:cs typeface="Times New Roman" panose="02020603050405020304" pitchFamily="18" charset="0"/>
              </a:rPr>
              <a:t>: Is the area where data can be left permanently when it is not immediately needed for processing.</a:t>
            </a:r>
          </a:p>
          <a:p>
            <a:pPr marL="0" indent="0">
              <a:buNone/>
            </a:pPr>
            <a:r>
              <a:rPr lang="en-US" b="1" i="1" dirty="0" smtClean="0">
                <a:latin typeface="Times New Roman" panose="02020603050405020304" pitchFamily="18" charset="0"/>
                <a:cs typeface="Times New Roman" panose="02020603050405020304" pitchFamily="18" charset="0"/>
              </a:rPr>
              <a:t>Computer Program</a:t>
            </a:r>
            <a:r>
              <a:rPr lang="en-US" dirty="0" smtClean="0">
                <a:latin typeface="Times New Roman" panose="02020603050405020304" pitchFamily="18" charset="0"/>
                <a:cs typeface="Times New Roman" panose="02020603050405020304" pitchFamily="18" charset="0"/>
              </a:rPr>
              <a:t>: This is a series of instructions that tells a computer how to carry out processing task, these programs form the </a:t>
            </a:r>
            <a:r>
              <a:rPr lang="en-US" b="1" dirty="0" smtClean="0">
                <a:latin typeface="Times New Roman" panose="02020603050405020304" pitchFamily="18" charset="0"/>
                <a:cs typeface="Times New Roman" panose="02020603050405020304" pitchFamily="18" charset="0"/>
              </a:rPr>
              <a:t>software</a:t>
            </a:r>
            <a:r>
              <a:rPr lang="en-US" dirty="0" smtClean="0">
                <a:latin typeface="Times New Roman" panose="02020603050405020304" pitchFamily="18" charset="0"/>
                <a:cs typeface="Times New Roman" panose="02020603050405020304" pitchFamily="18" charset="0"/>
              </a:rPr>
              <a:t> that sets up a computer to do a specific task.</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8245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519523" y="679269"/>
            <a:ext cx="8281025" cy="5112913"/>
          </a:xfrm>
        </p:spPr>
      </p:pic>
    </p:spTree>
    <p:extLst>
      <p:ext uri="{BB962C8B-B14F-4D97-AF65-F5344CB8AC3E}">
        <p14:creationId xmlns:p14="http://schemas.microsoft.com/office/powerpoint/2010/main" val="7861027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Computers </a:t>
            </a:r>
          </a:p>
        </p:txBody>
      </p:sp>
      <p:sp>
        <p:nvSpPr>
          <p:cNvPr id="3" name="Content Placeholder 2"/>
          <p:cNvSpPr>
            <a:spLocks noGrp="1"/>
          </p:cNvSpPr>
          <p:nvPr>
            <p:ph idx="1"/>
          </p:nvPr>
        </p:nvSpPr>
        <p:spPr>
          <a:xfrm>
            <a:off x="838200" y="1825625"/>
            <a:ext cx="10515600" cy="4562112"/>
          </a:xfrm>
        </p:spPr>
        <p:txBody>
          <a:bodyPr>
            <a:normAutofit fontScale="92500" lnSpcReduction="10000"/>
          </a:bodyPr>
          <a:lstStyle/>
          <a:p>
            <a:pPr marL="571500" indent="-571500">
              <a:buFont typeface="+mj-lt"/>
              <a:buAutoNum type="romanLcPeriod"/>
            </a:pPr>
            <a:r>
              <a:rPr lang="en-US" b="1" dirty="0" smtClean="0"/>
              <a:t>Healthcare </a:t>
            </a:r>
            <a:endParaRPr lang="en-US" dirty="0" smtClean="0"/>
          </a:p>
          <a:p>
            <a:pPr lvl="1"/>
            <a:r>
              <a:rPr lang="en-US" dirty="0"/>
              <a:t>maintain patient records </a:t>
            </a:r>
            <a:endParaRPr lang="en-US" dirty="0" smtClean="0"/>
          </a:p>
          <a:p>
            <a:pPr lvl="1"/>
            <a:r>
              <a:rPr lang="en-US" dirty="0"/>
              <a:t>assist doctors with medical tests and </a:t>
            </a:r>
            <a:r>
              <a:rPr lang="en-US" dirty="0" smtClean="0"/>
              <a:t>research, etc.</a:t>
            </a:r>
          </a:p>
          <a:p>
            <a:pPr marL="571500" indent="-571500">
              <a:buFont typeface="+mj-lt"/>
              <a:buAutoNum type="romanLcPeriod"/>
            </a:pPr>
            <a:r>
              <a:rPr lang="en-US" b="1" dirty="0" smtClean="0"/>
              <a:t>Finance</a:t>
            </a:r>
          </a:p>
          <a:p>
            <a:pPr lvl="1"/>
            <a:r>
              <a:rPr lang="en-US" dirty="0"/>
              <a:t>online banking </a:t>
            </a:r>
            <a:r>
              <a:rPr lang="en-US" dirty="0" smtClean="0"/>
              <a:t>, etc.</a:t>
            </a:r>
          </a:p>
          <a:p>
            <a:pPr marL="571500" indent="-571500">
              <a:buFont typeface="+mj-lt"/>
              <a:buAutoNum type="romanLcPeriod"/>
            </a:pPr>
            <a:r>
              <a:rPr lang="en-US" b="1" dirty="0" smtClean="0"/>
              <a:t>Government</a:t>
            </a:r>
          </a:p>
          <a:p>
            <a:pPr lvl="1"/>
            <a:r>
              <a:rPr lang="en-US" dirty="0"/>
              <a:t>government employees use computers as part of their daily </a:t>
            </a:r>
            <a:r>
              <a:rPr lang="en-US" dirty="0" smtClean="0"/>
              <a:t>routines, etc.</a:t>
            </a:r>
          </a:p>
          <a:p>
            <a:pPr marL="571500" indent="-571500">
              <a:buFont typeface="+mj-lt"/>
              <a:buAutoNum type="romanLcPeriod"/>
            </a:pPr>
            <a:r>
              <a:rPr lang="en-US" b="1" dirty="0" smtClean="0"/>
              <a:t>Education</a:t>
            </a:r>
          </a:p>
          <a:p>
            <a:pPr lvl="1"/>
            <a:r>
              <a:rPr lang="en-US" dirty="0" smtClean="0"/>
              <a:t>E-learning</a:t>
            </a:r>
          </a:p>
          <a:p>
            <a:pPr marL="571500" indent="-571500">
              <a:buFont typeface="+mj-lt"/>
              <a:buAutoNum type="romanLcPeriod"/>
            </a:pPr>
            <a:r>
              <a:rPr lang="en-US" b="1" dirty="0" smtClean="0"/>
              <a:t>Travel</a:t>
            </a:r>
          </a:p>
          <a:p>
            <a:pPr lvl="1"/>
            <a:r>
              <a:rPr lang="en-US" dirty="0"/>
              <a:t>online navigation system </a:t>
            </a:r>
            <a:endParaRPr lang="en-US" b="1" dirty="0"/>
          </a:p>
        </p:txBody>
      </p:sp>
    </p:spTree>
    <p:extLst>
      <p:ext uri="{BB962C8B-B14F-4D97-AF65-F5344CB8AC3E}">
        <p14:creationId xmlns:p14="http://schemas.microsoft.com/office/powerpoint/2010/main" val="2386801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Computer usage </a:t>
            </a:r>
          </a:p>
        </p:txBody>
      </p:sp>
      <p:sp>
        <p:nvSpPr>
          <p:cNvPr id="3" name="Content Placeholder 2"/>
          <p:cNvSpPr>
            <a:spLocks noGrp="1"/>
          </p:cNvSpPr>
          <p:nvPr>
            <p:ph idx="1"/>
          </p:nvPr>
        </p:nvSpPr>
        <p:spPr>
          <a:xfrm>
            <a:off x="838200" y="1825625"/>
            <a:ext cx="10515600" cy="4431484"/>
          </a:xfrm>
        </p:spPr>
        <p:txBody>
          <a:bodyPr>
            <a:normAutofit/>
          </a:bodyPr>
          <a:lstStyle/>
          <a:p>
            <a:r>
              <a:rPr lang="en-US" dirty="0" smtClean="0"/>
              <a:t>Major reasons for using computers include the following:</a:t>
            </a:r>
            <a:endParaRPr lang="en-US" dirty="0"/>
          </a:p>
          <a:p>
            <a:pPr marL="571500" indent="-571500">
              <a:buFont typeface="+mj-lt"/>
              <a:buAutoNum type="romanLcPeriod"/>
            </a:pPr>
            <a:r>
              <a:rPr lang="en-US" b="1" dirty="0" smtClean="0"/>
              <a:t>Speed</a:t>
            </a:r>
          </a:p>
          <a:p>
            <a:pPr lvl="1"/>
            <a:r>
              <a:rPr lang="en-US" dirty="0"/>
              <a:t>computers process </a:t>
            </a:r>
            <a:r>
              <a:rPr lang="en-US" dirty="0" smtClean="0"/>
              <a:t>billions or </a:t>
            </a:r>
            <a:r>
              <a:rPr lang="en-US" dirty="0"/>
              <a:t>trillions of operations in a single </a:t>
            </a:r>
            <a:r>
              <a:rPr lang="en-US" dirty="0" smtClean="0"/>
              <a:t>second.</a:t>
            </a:r>
          </a:p>
          <a:p>
            <a:pPr marL="571500" indent="-571500">
              <a:buFont typeface="+mj-lt"/>
              <a:buAutoNum type="romanLcPeriod"/>
            </a:pPr>
            <a:r>
              <a:rPr lang="en-US" b="1" dirty="0" smtClean="0"/>
              <a:t>Reliability</a:t>
            </a:r>
          </a:p>
          <a:p>
            <a:pPr lvl="1"/>
            <a:r>
              <a:rPr lang="en-US" dirty="0"/>
              <a:t>they rarely break or </a:t>
            </a:r>
            <a:r>
              <a:rPr lang="en-US" dirty="0" smtClean="0"/>
              <a:t>fail</a:t>
            </a:r>
          </a:p>
          <a:p>
            <a:pPr marL="571500" indent="-571500">
              <a:buFont typeface="+mj-lt"/>
              <a:buAutoNum type="romanLcPeriod"/>
            </a:pPr>
            <a:r>
              <a:rPr lang="en-US" b="1" dirty="0" smtClean="0"/>
              <a:t>Consistency</a:t>
            </a:r>
          </a:p>
          <a:p>
            <a:pPr lvl="1"/>
            <a:r>
              <a:rPr lang="en-US" dirty="0"/>
              <a:t>Given the same input </a:t>
            </a:r>
            <a:r>
              <a:rPr lang="en-US" dirty="0" smtClean="0"/>
              <a:t>and processes, </a:t>
            </a:r>
            <a:r>
              <a:rPr lang="en-US" dirty="0"/>
              <a:t>a computer will produce the </a:t>
            </a:r>
            <a:r>
              <a:rPr lang="en-US" dirty="0" smtClean="0"/>
              <a:t>same results</a:t>
            </a:r>
          </a:p>
          <a:p>
            <a:pPr marL="571500" indent="-571500">
              <a:buFont typeface="+mj-lt"/>
              <a:buAutoNum type="romanLcPeriod"/>
            </a:pPr>
            <a:r>
              <a:rPr lang="en-US" b="1" dirty="0" smtClean="0"/>
              <a:t>Storage</a:t>
            </a:r>
          </a:p>
          <a:p>
            <a:pPr lvl="1"/>
            <a:r>
              <a:rPr lang="en-US" dirty="0"/>
              <a:t>Computers store enormous amounts of data and make this data available for processing anytime it is needed </a:t>
            </a:r>
            <a:endParaRPr lang="en-US" b="1" dirty="0"/>
          </a:p>
        </p:txBody>
      </p:sp>
    </p:spTree>
    <p:extLst>
      <p:ext uri="{BB962C8B-B14F-4D97-AF65-F5344CB8AC3E}">
        <p14:creationId xmlns:p14="http://schemas.microsoft.com/office/powerpoint/2010/main" val="1301836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Computer usage </a:t>
            </a:r>
            <a:r>
              <a:rPr lang="en-US" dirty="0" smtClean="0"/>
              <a:t>(Cont’d)</a:t>
            </a:r>
            <a:endParaRPr lang="en-US" dirty="0"/>
          </a:p>
        </p:txBody>
      </p:sp>
      <p:sp>
        <p:nvSpPr>
          <p:cNvPr id="3" name="Content Placeholder 2"/>
          <p:cNvSpPr>
            <a:spLocks noGrp="1"/>
          </p:cNvSpPr>
          <p:nvPr>
            <p:ph idx="1"/>
          </p:nvPr>
        </p:nvSpPr>
        <p:spPr/>
        <p:txBody>
          <a:bodyPr/>
          <a:lstStyle/>
          <a:p>
            <a:pPr marL="0" indent="0">
              <a:buNone/>
            </a:pPr>
            <a:r>
              <a:rPr lang="en-US" b="1" dirty="0" smtClean="0"/>
              <a:t>v</a:t>
            </a:r>
            <a:r>
              <a:rPr lang="en-US" dirty="0" smtClean="0"/>
              <a:t>. </a:t>
            </a:r>
            <a:r>
              <a:rPr lang="en-US" b="1" dirty="0" smtClean="0"/>
              <a:t>Communications</a:t>
            </a:r>
          </a:p>
          <a:p>
            <a:pPr lvl="1"/>
            <a:r>
              <a:rPr lang="en-US" dirty="0" smtClean="0"/>
              <a:t>Computers </a:t>
            </a:r>
            <a:r>
              <a:rPr lang="en-US" dirty="0"/>
              <a:t>allow users to communicate with one </a:t>
            </a:r>
            <a:r>
              <a:rPr lang="en-US" dirty="0" smtClean="0"/>
              <a:t>another.</a:t>
            </a:r>
          </a:p>
          <a:p>
            <a:pPr marL="0" indent="0">
              <a:buNone/>
            </a:pPr>
            <a:r>
              <a:rPr lang="en-US" b="1" dirty="0"/>
              <a:t>vi. </a:t>
            </a:r>
            <a:r>
              <a:rPr lang="en-US" b="1" dirty="0" smtClean="0"/>
              <a:t>Efficiency</a:t>
            </a:r>
          </a:p>
          <a:p>
            <a:pPr lvl="1"/>
            <a:r>
              <a:rPr lang="en-US" dirty="0"/>
              <a:t>Computers have the capability of giving instant feedback e.g. electronic funds transfer </a:t>
            </a:r>
            <a:r>
              <a:rPr lang="en-US" dirty="0" smtClean="0"/>
              <a:t>systems.</a:t>
            </a:r>
            <a:endParaRPr lang="en-US" b="1" dirty="0"/>
          </a:p>
        </p:txBody>
      </p:sp>
    </p:spTree>
    <p:extLst>
      <p:ext uri="{BB962C8B-B14F-4D97-AF65-F5344CB8AC3E}">
        <p14:creationId xmlns:p14="http://schemas.microsoft.com/office/powerpoint/2010/main" val="1033781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Using Computers</a:t>
            </a:r>
          </a:p>
        </p:txBody>
      </p:sp>
      <p:sp>
        <p:nvSpPr>
          <p:cNvPr id="3" name="Content Placeholder 2"/>
          <p:cNvSpPr>
            <a:spLocks noGrp="1"/>
          </p:cNvSpPr>
          <p:nvPr>
            <p:ph idx="1"/>
          </p:nvPr>
        </p:nvSpPr>
        <p:spPr/>
        <p:txBody>
          <a:bodyPr>
            <a:normAutofit/>
          </a:bodyPr>
          <a:lstStyle/>
          <a:p>
            <a:pPr marL="571500" indent="-571500">
              <a:buFont typeface="+mj-lt"/>
              <a:buAutoNum type="romanLcPeriod"/>
            </a:pPr>
            <a:r>
              <a:rPr lang="en-US" b="1" dirty="0"/>
              <a:t>Health </a:t>
            </a:r>
            <a:r>
              <a:rPr lang="en-US" b="1" dirty="0" smtClean="0"/>
              <a:t>Risks</a:t>
            </a:r>
          </a:p>
          <a:p>
            <a:pPr lvl="1"/>
            <a:r>
              <a:rPr lang="en-US" dirty="0"/>
              <a:t>Prolonged or improper </a:t>
            </a:r>
            <a:r>
              <a:rPr lang="en-US" dirty="0" smtClean="0"/>
              <a:t>computer use </a:t>
            </a:r>
            <a:r>
              <a:rPr lang="en-US" dirty="0"/>
              <a:t>can lead to injuries or disorders of </a:t>
            </a:r>
            <a:r>
              <a:rPr lang="en-US" dirty="0" smtClean="0"/>
              <a:t>the hands</a:t>
            </a:r>
            <a:r>
              <a:rPr lang="en-US" dirty="0"/>
              <a:t>, wrists, elbows, eyes, neck, and </a:t>
            </a:r>
            <a:r>
              <a:rPr lang="en-US" dirty="0" smtClean="0"/>
              <a:t>back.</a:t>
            </a:r>
          </a:p>
          <a:p>
            <a:pPr marL="571500" indent="-571500">
              <a:buFont typeface="+mj-lt"/>
              <a:buAutoNum type="romanLcPeriod"/>
            </a:pPr>
            <a:r>
              <a:rPr lang="en-US" b="1" dirty="0"/>
              <a:t>Violation of </a:t>
            </a:r>
            <a:r>
              <a:rPr lang="en-US" b="1" dirty="0" smtClean="0"/>
              <a:t>Privacy</a:t>
            </a:r>
          </a:p>
          <a:p>
            <a:pPr lvl="1"/>
            <a:r>
              <a:rPr lang="en-US" dirty="0"/>
              <a:t>where personal </a:t>
            </a:r>
            <a:r>
              <a:rPr lang="en-US" dirty="0" smtClean="0"/>
              <a:t>and confidential </a:t>
            </a:r>
            <a:r>
              <a:rPr lang="en-US" dirty="0"/>
              <a:t>records were not </a:t>
            </a:r>
            <a:r>
              <a:rPr lang="en-US" dirty="0" smtClean="0"/>
              <a:t>protected properly</a:t>
            </a:r>
            <a:r>
              <a:rPr lang="en-US" dirty="0"/>
              <a:t>, individuals have found </a:t>
            </a:r>
            <a:r>
              <a:rPr lang="en-US" dirty="0" smtClean="0"/>
              <a:t>their privacy </a:t>
            </a:r>
            <a:r>
              <a:rPr lang="en-US" dirty="0"/>
              <a:t>violated and identities </a:t>
            </a:r>
            <a:r>
              <a:rPr lang="en-US" dirty="0" smtClean="0"/>
              <a:t>stolen.</a:t>
            </a:r>
          </a:p>
          <a:p>
            <a:pPr marL="571500" indent="-571500">
              <a:buFont typeface="+mj-lt"/>
              <a:buAutoNum type="romanLcPeriod"/>
            </a:pPr>
            <a:r>
              <a:rPr lang="en-US" b="1" dirty="0"/>
              <a:t>Impact on Labor </a:t>
            </a:r>
            <a:r>
              <a:rPr lang="en-US" b="1" dirty="0" smtClean="0"/>
              <a:t>Force</a:t>
            </a:r>
          </a:p>
          <a:p>
            <a:pPr lvl="1"/>
            <a:r>
              <a:rPr lang="en-US" dirty="0"/>
              <a:t>the skills </a:t>
            </a:r>
            <a:r>
              <a:rPr lang="en-US" dirty="0" smtClean="0"/>
              <a:t>of millions </a:t>
            </a:r>
            <a:r>
              <a:rPr lang="en-US" dirty="0"/>
              <a:t>of employees have been </a:t>
            </a:r>
            <a:r>
              <a:rPr lang="en-US" dirty="0" smtClean="0"/>
              <a:t>replaced by </a:t>
            </a:r>
            <a:r>
              <a:rPr lang="en-US" dirty="0"/>
              <a:t>computers</a:t>
            </a:r>
            <a:endParaRPr lang="en-US" b="1" dirty="0" smtClean="0"/>
          </a:p>
          <a:p>
            <a:pPr marL="571500" indent="-571500">
              <a:buFont typeface="+mj-lt"/>
              <a:buAutoNum type="romanLcPeriod"/>
            </a:pPr>
            <a:r>
              <a:rPr lang="en-US" b="1" dirty="0"/>
              <a:t>Impact on </a:t>
            </a:r>
            <a:r>
              <a:rPr lang="en-US" b="1" dirty="0" smtClean="0"/>
              <a:t>Environment</a:t>
            </a:r>
          </a:p>
          <a:p>
            <a:pPr lvl="1"/>
            <a:r>
              <a:rPr lang="en-US" dirty="0" smtClean="0"/>
              <a:t>Computer waste </a:t>
            </a:r>
            <a:r>
              <a:rPr lang="en-US" dirty="0"/>
              <a:t>are depleting natural </a:t>
            </a:r>
            <a:r>
              <a:rPr lang="en-US" dirty="0" smtClean="0"/>
              <a:t>resources and </a:t>
            </a:r>
            <a:r>
              <a:rPr lang="en-US" dirty="0"/>
              <a:t>polluting the environment.</a:t>
            </a:r>
          </a:p>
        </p:txBody>
      </p:sp>
    </p:spTree>
    <p:extLst>
      <p:ext uri="{BB962C8B-B14F-4D97-AF65-F5344CB8AC3E}">
        <p14:creationId xmlns:p14="http://schemas.microsoft.com/office/powerpoint/2010/main" val="2364395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Computers</a:t>
            </a:r>
          </a:p>
        </p:txBody>
      </p:sp>
      <p:sp>
        <p:nvSpPr>
          <p:cNvPr id="3" name="Content Placeholder 2"/>
          <p:cNvSpPr>
            <a:spLocks noGrp="1"/>
          </p:cNvSpPr>
          <p:nvPr>
            <p:ph idx="1"/>
          </p:nvPr>
        </p:nvSpPr>
        <p:spPr>
          <a:xfrm>
            <a:off x="838200" y="1825624"/>
            <a:ext cx="10515600" cy="4575175"/>
          </a:xfrm>
        </p:spPr>
        <p:txBody>
          <a:bodyPr>
            <a:normAutofit/>
          </a:bodyPr>
          <a:lstStyle/>
          <a:p>
            <a:r>
              <a:rPr lang="en-US" dirty="0" smtClean="0"/>
              <a:t>Computers are categorized according to computer’s size</a:t>
            </a:r>
            <a:r>
              <a:rPr lang="en-US" dirty="0"/>
              <a:t>, speed, processing power, and </a:t>
            </a:r>
            <a:r>
              <a:rPr lang="en-US" dirty="0" smtClean="0"/>
              <a:t>price.</a:t>
            </a:r>
          </a:p>
          <a:p>
            <a:r>
              <a:rPr lang="en-US" dirty="0"/>
              <a:t>Categories of computers based on the size and the data processing </a:t>
            </a:r>
            <a:r>
              <a:rPr lang="en-US" dirty="0" smtClean="0"/>
              <a:t>power include </a:t>
            </a:r>
            <a:r>
              <a:rPr lang="en-US" dirty="0"/>
              <a:t>the following: </a:t>
            </a:r>
          </a:p>
          <a:p>
            <a:pPr marL="571500" indent="-571500">
              <a:buFont typeface="+mj-lt"/>
              <a:buAutoNum type="romanLcPeriod"/>
            </a:pPr>
            <a:r>
              <a:rPr lang="en-US" b="1" dirty="0"/>
              <a:t>Super </a:t>
            </a:r>
            <a:r>
              <a:rPr lang="en-US" b="1" dirty="0" smtClean="0"/>
              <a:t>computers</a:t>
            </a:r>
            <a:endParaRPr lang="en-US" b="1" dirty="0"/>
          </a:p>
          <a:p>
            <a:pPr lvl="1"/>
            <a:r>
              <a:rPr lang="en-US" dirty="0"/>
              <a:t>the fastest, most powerful computer </a:t>
            </a:r>
            <a:endParaRPr lang="en-US" dirty="0" smtClean="0"/>
          </a:p>
          <a:p>
            <a:pPr lvl="1"/>
            <a:r>
              <a:rPr lang="en-US" dirty="0"/>
              <a:t>most expensive </a:t>
            </a:r>
            <a:endParaRPr lang="en-US" dirty="0" smtClean="0"/>
          </a:p>
          <a:p>
            <a:pPr lvl="1"/>
            <a:r>
              <a:rPr lang="en-US" dirty="0"/>
              <a:t>Used for performing complex scientific and numerical computations such </a:t>
            </a:r>
            <a:endParaRPr lang="en-US" dirty="0" smtClean="0"/>
          </a:p>
          <a:p>
            <a:pPr lvl="2"/>
            <a:r>
              <a:rPr lang="en-US" dirty="0"/>
              <a:t>weather </a:t>
            </a:r>
            <a:r>
              <a:rPr lang="en-US" dirty="0" smtClean="0"/>
              <a:t>forecasting</a:t>
            </a:r>
          </a:p>
          <a:p>
            <a:pPr lvl="2"/>
            <a:r>
              <a:rPr lang="en-US" dirty="0"/>
              <a:t>automotive design</a:t>
            </a:r>
            <a:r>
              <a:rPr lang="en-US" dirty="0" smtClean="0"/>
              <a:t>, fluid dynamics</a:t>
            </a:r>
          </a:p>
          <a:p>
            <a:pPr lvl="2"/>
            <a:r>
              <a:rPr lang="en-US" dirty="0" smtClean="0"/>
              <a:t>nuclear </a:t>
            </a:r>
            <a:r>
              <a:rPr lang="en-US" dirty="0"/>
              <a:t>simulations </a:t>
            </a:r>
            <a:endParaRPr lang="en-US" dirty="0" smtClean="0"/>
          </a:p>
          <a:p>
            <a:pPr marL="0" indent="0">
              <a:buNone/>
            </a:pPr>
            <a:endParaRPr lang="en-US" dirty="0" smtClean="0"/>
          </a:p>
          <a:p>
            <a:pPr marL="571500" indent="-571500">
              <a:buFont typeface="+mj-lt"/>
              <a:buAutoNum type="romanLcPeriod"/>
            </a:pPr>
            <a:endParaRPr lang="en-US" dirty="0"/>
          </a:p>
        </p:txBody>
      </p:sp>
    </p:spTree>
    <p:extLst>
      <p:ext uri="{BB962C8B-B14F-4D97-AF65-F5344CB8AC3E}">
        <p14:creationId xmlns:p14="http://schemas.microsoft.com/office/powerpoint/2010/main" val="11736414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a:t>
            </a:r>
            <a:r>
              <a:rPr lang="en-US" dirty="0" smtClean="0"/>
              <a:t>Computers (Cont’d)</a:t>
            </a:r>
            <a:endParaRPr lang="en-US" dirty="0"/>
          </a:p>
        </p:txBody>
      </p:sp>
      <p:sp>
        <p:nvSpPr>
          <p:cNvPr id="3" name="Content Placeholder 2"/>
          <p:cNvSpPr>
            <a:spLocks noGrp="1"/>
          </p:cNvSpPr>
          <p:nvPr>
            <p:ph idx="1"/>
          </p:nvPr>
        </p:nvSpPr>
        <p:spPr/>
        <p:txBody>
          <a:bodyPr/>
          <a:lstStyle/>
          <a:p>
            <a:pPr marL="0" indent="0">
              <a:buNone/>
            </a:pPr>
            <a:r>
              <a:rPr lang="en-US" b="1" dirty="0" smtClean="0"/>
              <a:t>2. Mainframes </a:t>
            </a:r>
            <a:endParaRPr lang="en-US" b="1" dirty="0"/>
          </a:p>
          <a:p>
            <a:pPr lvl="1"/>
            <a:r>
              <a:rPr lang="en-US" dirty="0"/>
              <a:t>is a large, expensive, </a:t>
            </a:r>
            <a:r>
              <a:rPr lang="en-US" dirty="0" smtClean="0"/>
              <a:t>powerful computer </a:t>
            </a:r>
            <a:r>
              <a:rPr lang="en-US" dirty="0"/>
              <a:t>that can handle hundreds </a:t>
            </a:r>
            <a:r>
              <a:rPr lang="en-US" dirty="0" smtClean="0"/>
              <a:t>or thousands of </a:t>
            </a:r>
            <a:r>
              <a:rPr lang="en-US" dirty="0"/>
              <a:t>connected users </a:t>
            </a:r>
            <a:r>
              <a:rPr lang="en-US" dirty="0" smtClean="0"/>
              <a:t>simultaneously</a:t>
            </a:r>
          </a:p>
          <a:p>
            <a:pPr lvl="1"/>
            <a:r>
              <a:rPr lang="en-US" dirty="0"/>
              <a:t>Mainframes also </a:t>
            </a:r>
            <a:r>
              <a:rPr lang="en-US" dirty="0" smtClean="0"/>
              <a:t>can </a:t>
            </a:r>
            <a:r>
              <a:rPr lang="en-US" dirty="0"/>
              <a:t>act as servers in a </a:t>
            </a:r>
            <a:r>
              <a:rPr lang="en-US" dirty="0" smtClean="0"/>
              <a:t>network environment.</a:t>
            </a:r>
          </a:p>
          <a:p>
            <a:pPr marL="0" indent="0">
              <a:buNone/>
            </a:pPr>
            <a:r>
              <a:rPr lang="en-US" b="1" dirty="0" smtClean="0"/>
              <a:t>3. </a:t>
            </a:r>
            <a:r>
              <a:rPr lang="en-US" b="1" dirty="0"/>
              <a:t>Minicomputers </a:t>
            </a:r>
            <a:endParaRPr lang="en-US" b="1" dirty="0" smtClean="0"/>
          </a:p>
          <a:p>
            <a:pPr lvl="1"/>
            <a:r>
              <a:rPr lang="en-US" dirty="0"/>
              <a:t>used by multi-users. </a:t>
            </a:r>
            <a:endParaRPr lang="en-US" dirty="0" smtClean="0"/>
          </a:p>
          <a:p>
            <a:pPr lvl="1"/>
            <a:r>
              <a:rPr lang="en-US" dirty="0" smtClean="0"/>
              <a:t>in </a:t>
            </a:r>
            <a:r>
              <a:rPr lang="en-US" dirty="0"/>
              <a:t>the middle when the computers are ranged from smallest to largest </a:t>
            </a:r>
            <a:endParaRPr lang="en-US" dirty="0" smtClean="0"/>
          </a:p>
          <a:p>
            <a:pPr lvl="1"/>
            <a:r>
              <a:rPr lang="en-US" dirty="0"/>
              <a:t>Used in laboratories </a:t>
            </a:r>
            <a:endParaRPr lang="en-US" b="1" dirty="0"/>
          </a:p>
        </p:txBody>
      </p:sp>
    </p:spTree>
    <p:extLst>
      <p:ext uri="{BB962C8B-B14F-4D97-AF65-F5344CB8AC3E}">
        <p14:creationId xmlns:p14="http://schemas.microsoft.com/office/powerpoint/2010/main" val="21520941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Computers (Cont’d)</a:t>
            </a:r>
          </a:p>
        </p:txBody>
      </p:sp>
      <p:sp>
        <p:nvSpPr>
          <p:cNvPr id="3" name="Content Placeholder 2"/>
          <p:cNvSpPr>
            <a:spLocks noGrp="1"/>
          </p:cNvSpPr>
          <p:nvPr>
            <p:ph idx="1"/>
          </p:nvPr>
        </p:nvSpPr>
        <p:spPr/>
        <p:txBody>
          <a:bodyPr/>
          <a:lstStyle/>
          <a:p>
            <a:pPr marL="0" indent="0">
              <a:buNone/>
            </a:pPr>
            <a:r>
              <a:rPr lang="en-US" b="1" dirty="0" smtClean="0"/>
              <a:t>4</a:t>
            </a:r>
            <a:r>
              <a:rPr lang="en-US" dirty="0" smtClean="0"/>
              <a:t>. </a:t>
            </a:r>
            <a:r>
              <a:rPr lang="en-US" b="1" dirty="0"/>
              <a:t>Microcomputers </a:t>
            </a:r>
            <a:endParaRPr lang="en-US" b="1" dirty="0" smtClean="0"/>
          </a:p>
          <a:p>
            <a:pPr lvl="1"/>
            <a:r>
              <a:rPr lang="en-US" dirty="0"/>
              <a:t>most common type of computers </a:t>
            </a:r>
            <a:endParaRPr lang="en-US" dirty="0" smtClean="0"/>
          </a:p>
          <a:p>
            <a:pPr lvl="1"/>
            <a:r>
              <a:rPr lang="en-US" dirty="0"/>
              <a:t>Can be used at your workplace, at school or on your study desk at home </a:t>
            </a:r>
            <a:endParaRPr lang="en-US" dirty="0" smtClean="0"/>
          </a:p>
          <a:p>
            <a:pPr lvl="1"/>
            <a:r>
              <a:rPr lang="en-US" dirty="0"/>
              <a:t>Used by single user at a time </a:t>
            </a:r>
            <a:endParaRPr lang="en-US" dirty="0" smtClean="0"/>
          </a:p>
          <a:p>
            <a:pPr lvl="1"/>
            <a:r>
              <a:rPr lang="en-US" dirty="0"/>
              <a:t>Small in size</a:t>
            </a:r>
            <a:r>
              <a:rPr lang="en-US" dirty="0" smtClean="0"/>
              <a:t>.</a:t>
            </a:r>
          </a:p>
          <a:p>
            <a:pPr lvl="1"/>
            <a:r>
              <a:rPr lang="en-US" dirty="0" smtClean="0"/>
              <a:t> </a:t>
            </a:r>
            <a:r>
              <a:rPr lang="en-US" dirty="0"/>
              <a:t>Also called </a:t>
            </a:r>
            <a:r>
              <a:rPr lang="en-US" b="1" dirty="0"/>
              <a:t>Personal Computers </a:t>
            </a:r>
            <a:r>
              <a:rPr lang="en-US" dirty="0"/>
              <a:t>(</a:t>
            </a:r>
            <a:r>
              <a:rPr lang="en-US" b="1" dirty="0"/>
              <a:t>PC</a:t>
            </a:r>
            <a:r>
              <a:rPr lang="en-US" dirty="0"/>
              <a:t>s</a:t>
            </a:r>
            <a:r>
              <a:rPr lang="en-US" dirty="0" smtClean="0"/>
              <a:t>).</a:t>
            </a:r>
          </a:p>
          <a:p>
            <a:pPr marL="0" indent="0">
              <a:buNone/>
            </a:pPr>
            <a:r>
              <a:rPr lang="en-US" b="1" dirty="0"/>
              <a:t>5. Mobile Computers </a:t>
            </a:r>
            <a:endParaRPr lang="en-US" b="1" dirty="0" smtClean="0"/>
          </a:p>
          <a:p>
            <a:pPr lvl="1"/>
            <a:r>
              <a:rPr lang="en-US" dirty="0"/>
              <a:t>These are characterized by portability </a:t>
            </a:r>
            <a:endParaRPr lang="en-US" dirty="0" smtClean="0"/>
          </a:p>
          <a:p>
            <a:pPr lvl="1"/>
            <a:r>
              <a:rPr lang="en-US" dirty="0"/>
              <a:t>They are thin and lightweight </a:t>
            </a:r>
            <a:endParaRPr lang="en-US" b="1" dirty="0"/>
          </a:p>
        </p:txBody>
      </p:sp>
    </p:spTree>
    <p:extLst>
      <p:ext uri="{BB962C8B-B14F-4D97-AF65-F5344CB8AC3E}">
        <p14:creationId xmlns:p14="http://schemas.microsoft.com/office/powerpoint/2010/main" val="2550704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Categories of Computers (Cont’d)</a:t>
            </a:r>
          </a:p>
        </p:txBody>
      </p:sp>
      <p:sp>
        <p:nvSpPr>
          <p:cNvPr id="3" name="Content Placeholder 2"/>
          <p:cNvSpPr>
            <a:spLocks noGrp="1"/>
          </p:cNvSpPr>
          <p:nvPr>
            <p:ph idx="1"/>
          </p:nvPr>
        </p:nvSpPr>
        <p:spPr/>
        <p:txBody>
          <a:bodyPr/>
          <a:lstStyle/>
          <a:p>
            <a:pPr marL="0" indent="0">
              <a:buNone/>
            </a:pPr>
            <a:r>
              <a:rPr lang="en-US" b="1" dirty="0" smtClean="0"/>
              <a:t>6. </a:t>
            </a:r>
            <a:r>
              <a:rPr lang="en-US" b="1" dirty="0"/>
              <a:t>Embedded computers </a:t>
            </a:r>
            <a:endParaRPr lang="en-US" b="1" dirty="0" smtClean="0"/>
          </a:p>
          <a:p>
            <a:pPr lvl="1"/>
            <a:r>
              <a:rPr lang="en-US" dirty="0"/>
              <a:t>is a special-purpose computer that functions as a component in a larger </a:t>
            </a:r>
            <a:r>
              <a:rPr lang="en-US" dirty="0" smtClean="0"/>
              <a:t>product.</a:t>
            </a:r>
          </a:p>
          <a:p>
            <a:pPr lvl="1"/>
            <a:r>
              <a:rPr lang="en-US" dirty="0"/>
              <a:t>products that contain embedded </a:t>
            </a:r>
            <a:r>
              <a:rPr lang="en-US" dirty="0" smtClean="0"/>
              <a:t>computers include:</a:t>
            </a:r>
          </a:p>
          <a:p>
            <a:pPr lvl="2"/>
            <a:r>
              <a:rPr lang="en-US" dirty="0"/>
              <a:t>Consumer Electronics: mobile and </a:t>
            </a:r>
            <a:r>
              <a:rPr lang="en-US" dirty="0" smtClean="0"/>
              <a:t>digital telephones</a:t>
            </a:r>
            <a:r>
              <a:rPr lang="en-US" dirty="0"/>
              <a:t>, digital televisions, </a:t>
            </a:r>
            <a:r>
              <a:rPr lang="en-US" dirty="0" smtClean="0"/>
              <a:t>cameras, </a:t>
            </a:r>
            <a:r>
              <a:rPr lang="en-US" dirty="0" err="1" smtClean="0"/>
              <a:t>etc</a:t>
            </a:r>
            <a:endParaRPr lang="en-US" dirty="0" smtClean="0"/>
          </a:p>
          <a:p>
            <a:pPr lvl="2"/>
            <a:r>
              <a:rPr lang="en-US" dirty="0"/>
              <a:t>Home Automation Devices: </a:t>
            </a:r>
            <a:r>
              <a:rPr lang="en-US" dirty="0" smtClean="0"/>
              <a:t>thermostats, sprinkling systems.</a:t>
            </a:r>
          </a:p>
          <a:p>
            <a:pPr lvl="2"/>
            <a:r>
              <a:rPr lang="en-US" dirty="0"/>
              <a:t>Automobiles: antilock brakes, engine </a:t>
            </a:r>
            <a:r>
              <a:rPr lang="en-US" dirty="0" smtClean="0"/>
              <a:t>control modules</a:t>
            </a:r>
            <a:r>
              <a:rPr lang="en-US" dirty="0"/>
              <a:t>, airbag controller</a:t>
            </a:r>
            <a:endParaRPr lang="en-US" b="1" dirty="0"/>
          </a:p>
        </p:txBody>
      </p:sp>
    </p:spTree>
    <p:extLst>
      <p:ext uri="{BB962C8B-B14F-4D97-AF65-F5344CB8AC3E}">
        <p14:creationId xmlns:p14="http://schemas.microsoft.com/office/powerpoint/2010/main" val="1252069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697" y="665572"/>
            <a:ext cx="10515600" cy="1000036"/>
          </a:xfrm>
        </p:spPr>
        <p:txBody>
          <a:bodyPr/>
          <a:lstStyle/>
          <a:p>
            <a:r>
              <a:rPr lang="en-US" b="1" dirty="0" smtClean="0">
                <a:latin typeface="Times New Roman" panose="02020603050405020304" pitchFamily="18" charset="0"/>
                <a:cs typeface="Times New Roman" panose="02020603050405020304" pitchFamily="18" charset="0"/>
              </a:rPr>
              <a:t>COMPUTER SYSTEM</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89611"/>
            <a:ext cx="10515600" cy="4387352"/>
          </a:xfrm>
        </p:spPr>
        <p:txBody>
          <a:bodyPr/>
          <a:lstStyle/>
          <a:p>
            <a:pPr marL="0" indent="0">
              <a:buNone/>
            </a:pPr>
            <a:r>
              <a:rPr lang="en-US" b="1" i="1" dirty="0" smtClean="0">
                <a:latin typeface="Times New Roman" panose="02020603050405020304" pitchFamily="18" charset="0"/>
                <a:cs typeface="Times New Roman" panose="02020603050405020304" pitchFamily="18" charset="0"/>
              </a:rPr>
              <a:t>What is a </a:t>
            </a:r>
            <a:r>
              <a:rPr lang="en-US" b="1" i="1" dirty="0">
                <a:latin typeface="Times New Roman" panose="02020603050405020304" pitchFamily="18" charset="0"/>
                <a:cs typeface="Times New Roman" panose="02020603050405020304" pitchFamily="18" charset="0"/>
              </a:rPr>
              <a:t>C</a:t>
            </a:r>
            <a:r>
              <a:rPr lang="en-US" b="1" i="1" dirty="0" smtClean="0">
                <a:latin typeface="Times New Roman" panose="02020603050405020304" pitchFamily="18" charset="0"/>
                <a:cs typeface="Times New Roman" panose="02020603050405020304" pitchFamily="18" charset="0"/>
              </a:rPr>
              <a:t>omputer System?</a:t>
            </a:r>
          </a:p>
          <a:p>
            <a:pPr>
              <a:buFont typeface="Wingdings" panose="05000000000000000000" pitchFamily="2" charset="2"/>
              <a:buChar char="§"/>
            </a:pPr>
            <a:r>
              <a:rPr lang="en-US" dirty="0">
                <a:solidFill>
                  <a:srgbClr val="000000"/>
                </a:solidFill>
                <a:latin typeface="Times New Roman" panose="02020603050405020304" pitchFamily="18" charset="0"/>
              </a:rPr>
              <a:t> </a:t>
            </a:r>
            <a:r>
              <a:rPr lang="en-US" dirty="0" smtClean="0">
                <a:solidFill>
                  <a:srgbClr val="000000"/>
                </a:solidFill>
                <a:latin typeface="Times New Roman" panose="02020603050405020304" pitchFamily="18" charset="0"/>
              </a:rPr>
              <a:t>I</a:t>
            </a:r>
            <a:r>
              <a:rPr lang="en-US" b="0" i="0" u="none" strike="noStrike" baseline="0" dirty="0" smtClean="0">
                <a:solidFill>
                  <a:srgbClr val="000000"/>
                </a:solidFill>
                <a:latin typeface="Times New Roman" panose="02020603050405020304" pitchFamily="18" charset="0"/>
              </a:rPr>
              <a:t>s a collection of components that can process data into some useful information.</a:t>
            </a:r>
          </a:p>
          <a:p>
            <a:pPr>
              <a:buFont typeface="Wingdings" panose="05000000000000000000" pitchFamily="2" charset="2"/>
              <a:buChar char="§"/>
            </a:pPr>
            <a:r>
              <a:rPr lang="en-US" b="0" i="0" u="none" strike="noStrike" baseline="0" dirty="0" smtClean="0">
                <a:solidFill>
                  <a:srgbClr val="000000"/>
                </a:solidFill>
                <a:latin typeface="Times New Roman" panose="02020603050405020304" pitchFamily="18" charset="0"/>
              </a:rPr>
              <a:t>A typical computer system will have four general functions that include: </a:t>
            </a:r>
          </a:p>
          <a:p>
            <a:pPr marL="971550" lvl="1" indent="-514350">
              <a:buFont typeface="+mj-lt"/>
              <a:buAutoNum type="romanLcPeriod"/>
            </a:pPr>
            <a:r>
              <a:rPr lang="en-US" dirty="0">
                <a:solidFill>
                  <a:srgbClr val="000000"/>
                </a:solidFill>
                <a:latin typeface="Times New Roman" panose="02020603050405020304" pitchFamily="18" charset="0"/>
              </a:rPr>
              <a:t>A</a:t>
            </a:r>
            <a:r>
              <a:rPr lang="en-US" b="0" i="0" u="none" strike="noStrike" baseline="0" dirty="0" smtClean="0">
                <a:solidFill>
                  <a:srgbClr val="000000"/>
                </a:solidFill>
                <a:latin typeface="Times New Roman" panose="02020603050405020304" pitchFamily="18" charset="0"/>
              </a:rPr>
              <a:t>ccepting data (input) </a:t>
            </a:r>
          </a:p>
          <a:p>
            <a:pPr marL="971550" lvl="1" indent="-514350">
              <a:buFont typeface="+mj-lt"/>
              <a:buAutoNum type="romanLcPeriod"/>
            </a:pPr>
            <a:r>
              <a:rPr lang="en-US" dirty="0">
                <a:solidFill>
                  <a:srgbClr val="000000"/>
                </a:solidFill>
                <a:latin typeface="Times New Roman" panose="02020603050405020304" pitchFamily="18" charset="0"/>
              </a:rPr>
              <a:t>P</a:t>
            </a:r>
            <a:r>
              <a:rPr lang="en-US" b="0" i="0" u="none" strike="noStrike" baseline="0" dirty="0" smtClean="0">
                <a:solidFill>
                  <a:srgbClr val="000000"/>
                </a:solidFill>
                <a:latin typeface="Times New Roman" panose="02020603050405020304" pitchFamily="18" charset="0"/>
              </a:rPr>
              <a:t>rocessing data</a:t>
            </a:r>
          </a:p>
          <a:p>
            <a:pPr marL="971550" lvl="1" indent="-514350">
              <a:buFont typeface="+mj-lt"/>
              <a:buAutoNum type="romanLcPeriod"/>
            </a:pPr>
            <a:r>
              <a:rPr lang="en-US" dirty="0">
                <a:solidFill>
                  <a:srgbClr val="000000"/>
                </a:solidFill>
                <a:latin typeface="Times New Roman" panose="02020603050405020304" pitchFamily="18" charset="0"/>
              </a:rPr>
              <a:t>P</a:t>
            </a:r>
            <a:r>
              <a:rPr lang="en-US" b="0" i="0" u="none" strike="noStrike" baseline="0" dirty="0" smtClean="0">
                <a:solidFill>
                  <a:srgbClr val="000000"/>
                </a:solidFill>
                <a:latin typeface="Times New Roman" panose="02020603050405020304" pitchFamily="18" charset="0"/>
              </a:rPr>
              <a:t>roducing results (output)</a:t>
            </a:r>
          </a:p>
          <a:p>
            <a:pPr marL="971550" lvl="1" indent="-514350">
              <a:buFont typeface="+mj-lt"/>
              <a:buAutoNum type="romanLcPeriod"/>
            </a:pPr>
            <a:r>
              <a:rPr lang="en-US" dirty="0">
                <a:solidFill>
                  <a:srgbClr val="000000"/>
                </a:solidFill>
                <a:latin typeface="Times New Roman" panose="02020603050405020304" pitchFamily="18" charset="0"/>
              </a:rPr>
              <a:t>S</a:t>
            </a:r>
            <a:r>
              <a:rPr lang="en-US" b="0" i="0" u="none" strike="noStrike" baseline="0" dirty="0" smtClean="0">
                <a:solidFill>
                  <a:srgbClr val="000000"/>
                </a:solidFill>
                <a:latin typeface="Times New Roman" panose="02020603050405020304" pitchFamily="18" charset="0"/>
              </a:rPr>
              <a:t>toring results  </a:t>
            </a:r>
            <a:endParaRPr lang="en-US" b="1" i="1"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0071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Computer System Components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b="0" i="0" u="none" strike="noStrike" baseline="0" dirty="0" smtClean="0">
                <a:solidFill>
                  <a:srgbClr val="000000"/>
                </a:solidFill>
                <a:latin typeface="Times New Roman" panose="02020603050405020304" pitchFamily="18" charset="0"/>
              </a:rPr>
              <a:t>A computer system mainly consists of the following components:</a:t>
            </a:r>
          </a:p>
          <a:p>
            <a:pPr marL="1028700" lvl="1" indent="-571500">
              <a:buFont typeface="+mj-lt"/>
              <a:buAutoNum type="romanLcPeriod"/>
            </a:pPr>
            <a:r>
              <a:rPr lang="en-US" b="0" i="0" u="none" strike="noStrike" baseline="0" dirty="0" smtClean="0">
                <a:solidFill>
                  <a:srgbClr val="000000"/>
                </a:solidFill>
                <a:latin typeface="Times New Roman" panose="02020603050405020304" pitchFamily="18" charset="0"/>
              </a:rPr>
              <a:t>Hardware components</a:t>
            </a:r>
          </a:p>
          <a:p>
            <a:pPr marL="1028700" lvl="1" indent="-571500">
              <a:buFont typeface="+mj-lt"/>
              <a:buAutoNum type="romanLcPeriod"/>
            </a:pPr>
            <a:r>
              <a:rPr lang="en-US" b="0" i="0" u="none" strike="noStrike" baseline="0" dirty="0" smtClean="0">
                <a:solidFill>
                  <a:srgbClr val="000000"/>
                </a:solidFill>
                <a:latin typeface="Times New Roman" panose="02020603050405020304" pitchFamily="18" charset="0"/>
              </a:rPr>
              <a:t>Software components</a:t>
            </a:r>
          </a:p>
          <a:p>
            <a:pPr marL="1028700" lvl="1" indent="-571500">
              <a:buFont typeface="+mj-lt"/>
              <a:buAutoNum type="romanLcPeriod"/>
            </a:pPr>
            <a:r>
              <a:rPr lang="en-US" b="0" i="0" u="none" strike="noStrike" baseline="0" dirty="0" smtClean="0">
                <a:solidFill>
                  <a:srgbClr val="000000"/>
                </a:solidFill>
                <a:latin typeface="Times New Roman" panose="02020603050405020304" pitchFamily="18" charset="0"/>
              </a:rPr>
              <a:t>Users</a:t>
            </a:r>
          </a:p>
          <a:p>
            <a:pPr marL="1028700" lvl="1" indent="-571500">
              <a:buFont typeface="+mj-lt"/>
              <a:buAutoNum type="romanLcPeriod"/>
            </a:pPr>
            <a:r>
              <a:rPr lang="en-US" b="0" i="0" u="none" strike="noStrike" baseline="0" dirty="0" smtClean="0">
                <a:solidFill>
                  <a:srgbClr val="000000"/>
                </a:solidFill>
                <a:latin typeface="Times New Roman" panose="02020603050405020304" pitchFamily="18" charset="0"/>
              </a:rPr>
              <a:t>Data</a:t>
            </a:r>
          </a:p>
        </p:txBody>
      </p:sp>
    </p:spTree>
    <p:extLst>
      <p:ext uri="{BB962C8B-B14F-4D97-AF65-F5344CB8AC3E}">
        <p14:creationId xmlns:p14="http://schemas.microsoft.com/office/powerpoint/2010/main" val="5590128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0579"/>
            <a:ext cx="10515600" cy="1325563"/>
          </a:xfrm>
        </p:spPr>
        <p:txBody>
          <a:bodyPr/>
          <a:lstStyle/>
          <a:p>
            <a:r>
              <a:rPr lang="en-US" b="1" dirty="0" smtClean="0">
                <a:latin typeface="Times New Roman" panose="02020603050405020304" pitchFamily="18" charset="0"/>
                <a:cs typeface="Times New Roman" panose="02020603050405020304" pitchFamily="18" charset="0"/>
              </a:rPr>
              <a:t>Hardware Components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54926"/>
            <a:ext cx="10515600" cy="4402183"/>
          </a:xfrm>
        </p:spPr>
        <p:txBody>
          <a:bodyPr>
            <a:normAutofit fontScale="92500" lnSpcReduction="10000"/>
          </a:bodyPr>
          <a:lstStyle/>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These are computer </a:t>
            </a:r>
            <a:r>
              <a:rPr lang="en-US" b="0" i="0" u="none" strike="noStrike" baseline="0" dirty="0" smtClean="0">
                <a:solidFill>
                  <a:srgbClr val="000000"/>
                </a:solidFill>
                <a:latin typeface="Times New Roman" panose="02020603050405020304" pitchFamily="18" charset="0"/>
              </a:rPr>
              <a:t>components that are visible and tangible i.e. physical components of the computer system.</a:t>
            </a:r>
          </a:p>
          <a:p>
            <a:pPr>
              <a:buFont typeface="Wingdings" panose="05000000000000000000" pitchFamily="2" charset="2"/>
              <a:buChar char="§"/>
            </a:pPr>
            <a:r>
              <a:rPr lang="en-US" b="0" i="0" u="none" strike="noStrike" baseline="0" dirty="0" smtClean="0">
                <a:solidFill>
                  <a:srgbClr val="000000"/>
                </a:solidFill>
                <a:latin typeface="Times New Roman" panose="02020603050405020304" pitchFamily="18" charset="0"/>
              </a:rPr>
              <a:t>These components are grouped based on roles they play in the computer system.</a:t>
            </a:r>
          </a:p>
          <a:p>
            <a:pPr marL="0" indent="0">
              <a:buNone/>
            </a:pPr>
            <a:r>
              <a:rPr lang="en-US" dirty="0">
                <a:latin typeface="Times New Roman" panose="02020603050405020304" pitchFamily="18" charset="0"/>
                <a:cs typeface="Times New Roman" panose="02020603050405020304" pitchFamily="18" charset="0"/>
              </a:rPr>
              <a:t>Hardware components of a computer system include: </a:t>
            </a:r>
            <a:endParaRPr lang="en-US" dirty="0" smtClean="0">
              <a:latin typeface="Times New Roman" panose="02020603050405020304" pitchFamily="18" charset="0"/>
              <a:cs typeface="Times New Roman" panose="02020603050405020304" pitchFamily="18" charset="0"/>
            </a:endParaRPr>
          </a:p>
          <a:p>
            <a:pPr marL="514350" indent="-514350">
              <a:buFont typeface="+mj-lt"/>
              <a:buAutoNum type="alphaLcParenR"/>
            </a:pPr>
            <a:r>
              <a:rPr lang="en-US" b="1" i="0" u="none" strike="noStrike" baseline="0" dirty="0" smtClean="0">
                <a:solidFill>
                  <a:srgbClr val="000000"/>
                </a:solidFill>
                <a:latin typeface="Times New Roman" panose="02020603050405020304" pitchFamily="18" charset="0"/>
                <a:cs typeface="Times New Roman" panose="02020603050405020304" pitchFamily="18" charset="0"/>
              </a:rPr>
              <a:t>Input Devices</a:t>
            </a:r>
          </a:p>
          <a:p>
            <a:pPr>
              <a:buFont typeface="Wingdings" panose="05000000000000000000" pitchFamily="2" charset="2"/>
              <a:buChar char="§"/>
            </a:pPr>
            <a:r>
              <a:rPr lang="en-US" dirty="0" smtClean="0">
                <a:solidFill>
                  <a:srgbClr val="000000"/>
                </a:solidFill>
                <a:latin typeface="Times New Roman" panose="02020603050405020304" pitchFamily="18" charset="0"/>
                <a:cs typeface="Times New Roman" panose="02020603050405020304" pitchFamily="18" charset="0"/>
              </a:rPr>
              <a:t>Are used to enter data or instructions from outside the computer into the computer.</a:t>
            </a:r>
            <a:r>
              <a:rPr lang="en-US" b="1" i="0" u="none" strike="noStrike" baseline="0" dirty="0" smtClean="0">
                <a:solidFill>
                  <a:srgbClr val="000000"/>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dirty="0">
                <a:solidFill>
                  <a:srgbClr val="000000"/>
                </a:solidFill>
                <a:latin typeface="Times New Roman" panose="02020603050405020304" pitchFamily="18" charset="0"/>
              </a:rPr>
              <a:t>Input device Translate data from </a:t>
            </a:r>
            <a:r>
              <a:rPr lang="en-US" b="1" dirty="0">
                <a:solidFill>
                  <a:srgbClr val="000000"/>
                </a:solidFill>
                <a:latin typeface="Times New Roman" panose="02020603050405020304" pitchFamily="18" charset="0"/>
              </a:rPr>
              <a:t>form </a:t>
            </a:r>
            <a:r>
              <a:rPr lang="en-US" dirty="0">
                <a:solidFill>
                  <a:srgbClr val="000000"/>
                </a:solidFill>
                <a:latin typeface="Times New Roman" panose="02020603050405020304" pitchFamily="18" charset="0"/>
              </a:rPr>
              <a:t>that humans understand to one that the computer can work </a:t>
            </a:r>
            <a:r>
              <a:rPr lang="en-US" dirty="0" smtClean="0">
                <a:solidFill>
                  <a:srgbClr val="000000"/>
                </a:solidFill>
                <a:latin typeface="Times New Roman" panose="02020603050405020304" pitchFamily="18" charset="0"/>
              </a:rPr>
              <a:t>with.</a:t>
            </a:r>
            <a:endParaRPr lang="en-US" b="1" i="0" u="none" strike="noStrike" baseline="0" dirty="0" smtClean="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smtClean="0">
                <a:solidFill>
                  <a:srgbClr val="000000"/>
                </a:solidFill>
                <a:latin typeface="Times New Roman" panose="02020603050405020304" pitchFamily="18" charset="0"/>
                <a:cs typeface="Times New Roman" panose="02020603050405020304" pitchFamily="18" charset="0"/>
              </a:rPr>
              <a:t>Examples of Input Devices Include: Keyboard, Mouse, Scanner</a:t>
            </a:r>
            <a:r>
              <a:rPr lang="en-US" b="1" dirty="0" smtClean="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28350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a:t>
            </a:r>
            <a:r>
              <a:rPr lang="en-US" dirty="0" smtClean="0"/>
              <a:t>Components (Cont’d)</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latin typeface="Times New Roman" panose="02020603050405020304" pitchFamily="18" charset="0"/>
                <a:cs typeface="Times New Roman" panose="02020603050405020304" pitchFamily="18" charset="0"/>
              </a:rPr>
              <a:t>b) Central Processing Unit (CPU)</a:t>
            </a:r>
          </a:p>
          <a:p>
            <a:pPr>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CPU or Processor accepts instructions and data and executes them storing the results in memory.</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central processing unit (CPU) performs the actual computation or “number crunching” inside computer.</a:t>
            </a:r>
          </a:p>
          <a:p>
            <a:r>
              <a:rPr lang="en-US" dirty="0" smtClean="0">
                <a:latin typeface="Times New Roman" panose="02020603050405020304" pitchFamily="18" charset="0"/>
                <a:cs typeface="Times New Roman" panose="02020603050405020304" pitchFamily="18" charset="0"/>
              </a:rPr>
              <a:t>The CPU is a microprocessor </a:t>
            </a:r>
            <a:r>
              <a:rPr lang="en-US" b="0" i="0" u="none" strike="noStrike" baseline="0" dirty="0" smtClean="0">
                <a:latin typeface="Times New Roman" panose="02020603050405020304" pitchFamily="18" charset="0"/>
              </a:rPr>
              <a:t>commonly referred</a:t>
            </a:r>
            <a:r>
              <a:rPr lang="en-US" b="0" i="0" u="none" strike="noStrike" dirty="0" smtClean="0">
                <a:latin typeface="Times New Roman" panose="02020603050405020304" pitchFamily="18" charset="0"/>
              </a:rPr>
              <a:t> </a:t>
            </a:r>
            <a:r>
              <a:rPr lang="en-US" b="0" i="0" u="none" strike="noStrike" baseline="0" dirty="0" smtClean="0">
                <a:latin typeface="Times New Roman" panose="02020603050405020304" pitchFamily="18" charset="0"/>
              </a:rPr>
              <a:t>to as chips</a:t>
            </a:r>
          </a:p>
          <a:p>
            <a:pPr marL="0" indent="0">
              <a:buNone/>
            </a:pPr>
            <a:r>
              <a:rPr lang="en-US" b="1" i="1" dirty="0" smtClean="0">
                <a:latin typeface="Times New Roman" panose="02020603050405020304" pitchFamily="18" charset="0"/>
                <a:cs typeface="Times New Roman" panose="02020603050405020304" pitchFamily="18" charset="0"/>
              </a:rPr>
              <a:t>Parts of CPU</a:t>
            </a:r>
          </a:p>
          <a:p>
            <a:r>
              <a:rPr lang="en-US" dirty="0">
                <a:latin typeface="Times New Roman" panose="02020603050405020304" pitchFamily="18" charset="0"/>
              </a:rPr>
              <a:t>M</a:t>
            </a:r>
            <a:r>
              <a:rPr lang="en-US" b="0" i="0" u="none" strike="noStrike" baseline="0" dirty="0" smtClean="0">
                <a:latin typeface="Times New Roman" panose="02020603050405020304" pitchFamily="18" charset="0"/>
              </a:rPr>
              <a:t>icroprocessor has different parts,</a:t>
            </a:r>
            <a:r>
              <a:rPr lang="en-US" b="0" i="0" u="none" strike="noStrike" dirty="0" smtClean="0">
                <a:latin typeface="Times New Roman" panose="02020603050405020304" pitchFamily="18" charset="0"/>
              </a:rPr>
              <a:t> </a:t>
            </a:r>
            <a:r>
              <a:rPr lang="en-US" b="0" i="0" u="none" strike="noStrike" baseline="0" dirty="0" smtClean="0">
                <a:latin typeface="Times New Roman" panose="02020603050405020304" pitchFamily="18" charset="0"/>
              </a:rPr>
              <a:t>which perform different functions, these are:</a:t>
            </a:r>
          </a:p>
          <a:p>
            <a:pPr lvl="1">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Arithmetic-Logic </a:t>
            </a:r>
            <a:r>
              <a:rPr lang="en-US" dirty="0">
                <a:latin typeface="Times New Roman" panose="02020603050405020304" pitchFamily="18" charset="0"/>
                <a:cs typeface="Times New Roman" panose="02020603050405020304" pitchFamily="18" charset="0"/>
              </a:rPr>
              <a:t>U</a:t>
            </a:r>
            <a:r>
              <a:rPr lang="en-US" dirty="0" smtClean="0">
                <a:latin typeface="Times New Roman" panose="02020603050405020304" pitchFamily="18" charset="0"/>
                <a:cs typeface="Times New Roman" panose="02020603050405020304" pitchFamily="18" charset="0"/>
              </a:rPr>
              <a:t>nit (ALU)</a:t>
            </a:r>
          </a:p>
          <a:p>
            <a:pPr lvl="1">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ontrol Unit</a:t>
            </a:r>
          </a:p>
          <a:p>
            <a:pPr lvl="1">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egisters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9729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a:bodyPr>
          <a:lstStyle/>
          <a:p>
            <a:pPr marL="0" indent="0">
              <a:buNone/>
            </a:pPr>
            <a:r>
              <a:rPr lang="en-US" b="1" i="1" dirty="0" smtClean="0">
                <a:latin typeface="Times New Roman" panose="02020603050405020304" pitchFamily="18" charset="0"/>
                <a:cs typeface="Times New Roman" panose="02020603050405020304" pitchFamily="18" charset="0"/>
              </a:rPr>
              <a:t>Arithmetic-Logic </a:t>
            </a:r>
            <a:r>
              <a:rPr lang="en-US" b="1" i="1" dirty="0">
                <a:latin typeface="Times New Roman" panose="02020603050405020304" pitchFamily="18" charset="0"/>
                <a:cs typeface="Times New Roman" panose="02020603050405020304" pitchFamily="18" charset="0"/>
              </a:rPr>
              <a:t>U</a:t>
            </a:r>
            <a:r>
              <a:rPr lang="en-US" b="1" i="1" dirty="0" smtClean="0">
                <a:latin typeface="Times New Roman" panose="02020603050405020304" pitchFamily="18" charset="0"/>
                <a:cs typeface="Times New Roman" panose="02020603050405020304" pitchFamily="18" charset="0"/>
              </a:rPr>
              <a:t>nit (ALU)</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a:t>
            </a:r>
            <a:r>
              <a:rPr lang="en-US" dirty="0" smtClean="0">
                <a:latin typeface="Times New Roman" panose="02020603050405020304" pitchFamily="18" charset="0"/>
                <a:cs typeface="Times New Roman" panose="02020603050405020304" pitchFamily="18" charset="0"/>
              </a:rPr>
              <a:t>erforms </a:t>
            </a:r>
            <a:r>
              <a:rPr lang="en-US" dirty="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arithmetic </a:t>
            </a:r>
            <a:r>
              <a:rPr lang="en-US" dirty="0">
                <a:latin typeface="Times New Roman" panose="02020603050405020304" pitchFamily="18" charset="0"/>
                <a:cs typeface="Times New Roman" panose="02020603050405020304" pitchFamily="18" charset="0"/>
              </a:rPr>
              <a:t>calculations and </a:t>
            </a:r>
            <a:r>
              <a:rPr lang="en-US" dirty="0" smtClean="0">
                <a:latin typeface="Times New Roman" panose="02020603050405020304" pitchFamily="18" charset="0"/>
                <a:cs typeface="Times New Roman" panose="02020603050405020304" pitchFamily="18" charset="0"/>
              </a:rPr>
              <a:t>makes logical comparisons</a:t>
            </a:r>
          </a:p>
          <a:p>
            <a:pPr>
              <a:buFont typeface="Wingdings" panose="05000000000000000000" pitchFamily="2" charset="2"/>
              <a:buChar char="§"/>
            </a:pPr>
            <a:r>
              <a:rPr lang="en-US" dirty="0">
                <a:solidFill>
                  <a:srgbClr val="000000"/>
                </a:solidFill>
                <a:latin typeface="Times New Roman" panose="02020603050405020304" pitchFamily="18" charset="0"/>
              </a:rPr>
              <a:t>Arithmetic calculations </a:t>
            </a:r>
            <a:r>
              <a:rPr lang="en-US" dirty="0" smtClean="0">
                <a:solidFill>
                  <a:srgbClr val="000000"/>
                </a:solidFill>
                <a:latin typeface="Times New Roman" panose="02020603050405020304" pitchFamily="18" charset="0"/>
              </a:rPr>
              <a:t>i.e. </a:t>
            </a:r>
            <a:r>
              <a:rPr lang="en-US" dirty="0">
                <a:solidFill>
                  <a:srgbClr val="000000"/>
                </a:solidFill>
                <a:latin typeface="Times New Roman" panose="02020603050405020304" pitchFamily="18" charset="0"/>
              </a:rPr>
              <a:t>addition, subtraction, multiplication and division. </a:t>
            </a:r>
            <a:endParaRPr lang="en-US" dirty="0" smtClean="0">
              <a:solidFill>
                <a:srgbClr val="000000"/>
              </a:solidFill>
              <a:latin typeface="Times New Roman" panose="02020603050405020304" pitchFamily="18" charset="0"/>
            </a:endParaRPr>
          </a:p>
          <a:p>
            <a:pPr>
              <a:buFont typeface="Wingdings" panose="05000000000000000000" pitchFamily="2" charset="2"/>
              <a:buChar char="§"/>
            </a:pPr>
            <a:r>
              <a:rPr lang="en-US" dirty="0">
                <a:solidFill>
                  <a:srgbClr val="000000"/>
                </a:solidFill>
                <a:latin typeface="Times New Roman" panose="02020603050405020304" pitchFamily="18" charset="0"/>
              </a:rPr>
              <a:t>Logical operation like compare numbers, letters, or special characters </a:t>
            </a:r>
            <a:endParaRPr lang="en-US" dirty="0" smtClean="0">
              <a:latin typeface="Times New Roman" panose="02020603050405020304" pitchFamily="18" charset="0"/>
              <a:cs typeface="Times New Roman" panose="02020603050405020304" pitchFamily="18" charset="0"/>
            </a:endParaRPr>
          </a:p>
          <a:p>
            <a:pPr marL="0" indent="0">
              <a:buNone/>
            </a:pPr>
            <a:r>
              <a:rPr lang="en-US" b="1" i="1" dirty="0" smtClean="0">
                <a:latin typeface="Times New Roman" panose="02020603050405020304" pitchFamily="18" charset="0"/>
                <a:cs typeface="Times New Roman" panose="02020603050405020304" pitchFamily="18" charset="0"/>
              </a:rPr>
              <a:t>Registers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registers are high-speed storage areas that store very small amounts of data and instructions for short periods of time</a:t>
            </a:r>
          </a:p>
          <a:p>
            <a:pPr>
              <a:buFont typeface="Wingdings" panose="05000000000000000000" pitchFamily="2" charset="2"/>
              <a:buChar char="§"/>
            </a:pPr>
            <a:r>
              <a:rPr lang="en-US" dirty="0">
                <a:solidFill>
                  <a:srgbClr val="000000"/>
                </a:solidFill>
                <a:latin typeface="Times New Roman" panose="02020603050405020304" pitchFamily="18" charset="0"/>
              </a:rPr>
              <a:t>Stores the data that is to be executed next, "very fast storage area".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121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a:xfrm>
            <a:off x="838200" y="1825625"/>
            <a:ext cx="10515600" cy="4535986"/>
          </a:xfrm>
        </p:spPr>
        <p:txBody>
          <a:bodyPr>
            <a:normAutofit fontScale="92500"/>
          </a:bodyPr>
          <a:lstStyle/>
          <a:p>
            <a:pPr marL="0" indent="0">
              <a:buNone/>
            </a:pPr>
            <a:r>
              <a:rPr lang="en-US" b="1" i="1" dirty="0">
                <a:latin typeface="Times New Roman" panose="02020603050405020304" pitchFamily="18" charset="0"/>
                <a:cs typeface="Times New Roman" panose="02020603050405020304" pitchFamily="18" charset="0"/>
              </a:rPr>
              <a:t>Control Unit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control unit sequentially accesses program instructions, decodes them, and controls the flow of data to and from the ALU, the registers, the caches, primary storage, secondary storage, and various output devices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smtClean="0">
                <a:solidFill>
                  <a:srgbClr val="000000"/>
                </a:solidFill>
                <a:latin typeface="Times New Roman" panose="02020603050405020304" pitchFamily="18" charset="0"/>
              </a:rPr>
              <a:t>Controls and </a:t>
            </a:r>
            <a:r>
              <a:rPr lang="en-US" dirty="0">
                <a:solidFill>
                  <a:srgbClr val="000000"/>
                </a:solidFill>
                <a:latin typeface="Times New Roman" panose="02020603050405020304" pitchFamily="18" charset="0"/>
              </a:rPr>
              <a:t>co-ordinates computer components </a:t>
            </a:r>
            <a:endParaRPr lang="en-US" sz="2400" dirty="0">
              <a:solidFill>
                <a:srgbClr val="000000"/>
              </a:solidFill>
              <a:latin typeface="Times New Roman" panose="02020603050405020304" pitchFamily="18" charset="0"/>
            </a:endParaRPr>
          </a:p>
          <a:p>
            <a:pPr marL="1028700" lvl="1" indent="-571500">
              <a:buFont typeface="+mj-lt"/>
              <a:buAutoNum type="romanLcPeriod"/>
            </a:pPr>
            <a:r>
              <a:rPr lang="en-US" sz="2600" dirty="0">
                <a:solidFill>
                  <a:srgbClr val="000000"/>
                </a:solidFill>
                <a:latin typeface="Times New Roman" panose="02020603050405020304" pitchFamily="18" charset="0"/>
              </a:rPr>
              <a:t>Read the code for the next instruction to be executed. </a:t>
            </a:r>
          </a:p>
          <a:p>
            <a:pPr marL="1028700" lvl="1" indent="-571500">
              <a:buFont typeface="+mj-lt"/>
              <a:buAutoNum type="romanLcPeriod"/>
            </a:pPr>
            <a:r>
              <a:rPr lang="en-US" sz="2600" dirty="0" smtClean="0">
                <a:solidFill>
                  <a:srgbClr val="000000"/>
                </a:solidFill>
                <a:latin typeface="Times New Roman" panose="02020603050405020304" pitchFamily="18" charset="0"/>
              </a:rPr>
              <a:t>Increment </a:t>
            </a:r>
            <a:r>
              <a:rPr lang="en-US" sz="2600" dirty="0">
                <a:solidFill>
                  <a:srgbClr val="000000"/>
                </a:solidFill>
                <a:latin typeface="Times New Roman" panose="02020603050405020304" pitchFamily="18" charset="0"/>
              </a:rPr>
              <a:t>the program counter so it points to the next instruction. </a:t>
            </a:r>
          </a:p>
          <a:p>
            <a:pPr marL="1028700" lvl="1" indent="-571500">
              <a:buFont typeface="+mj-lt"/>
              <a:buAutoNum type="romanLcPeriod"/>
            </a:pPr>
            <a:r>
              <a:rPr lang="en-US" sz="2600" dirty="0" smtClean="0">
                <a:solidFill>
                  <a:srgbClr val="000000"/>
                </a:solidFill>
                <a:latin typeface="Times New Roman" panose="02020603050405020304" pitchFamily="18" charset="0"/>
              </a:rPr>
              <a:t>Read </a:t>
            </a:r>
            <a:r>
              <a:rPr lang="en-US" sz="2600" dirty="0">
                <a:solidFill>
                  <a:srgbClr val="000000"/>
                </a:solidFill>
                <a:latin typeface="Times New Roman" panose="02020603050405020304" pitchFamily="18" charset="0"/>
              </a:rPr>
              <a:t>whatever data the instruction requires from cells in memory. </a:t>
            </a:r>
          </a:p>
          <a:p>
            <a:pPr marL="1028700" lvl="1" indent="-571500">
              <a:buFont typeface="+mj-lt"/>
              <a:buAutoNum type="romanLcPeriod"/>
            </a:pPr>
            <a:r>
              <a:rPr lang="en-US" sz="2600" dirty="0" smtClean="0">
                <a:solidFill>
                  <a:srgbClr val="000000"/>
                </a:solidFill>
                <a:latin typeface="Times New Roman" panose="02020603050405020304" pitchFamily="18" charset="0"/>
              </a:rPr>
              <a:t>Provide </a:t>
            </a:r>
            <a:r>
              <a:rPr lang="en-US" sz="2600" dirty="0">
                <a:solidFill>
                  <a:srgbClr val="000000"/>
                </a:solidFill>
                <a:latin typeface="Times New Roman" panose="02020603050405020304" pitchFamily="18" charset="0"/>
              </a:rPr>
              <a:t>the necessary data to an ALU or register. </a:t>
            </a:r>
          </a:p>
          <a:p>
            <a:pPr marL="1028700" lvl="1" indent="-571500">
              <a:buFont typeface="+mj-lt"/>
              <a:buAutoNum type="romanLcPeriod"/>
            </a:pPr>
            <a:r>
              <a:rPr lang="en-US" sz="2600" dirty="0" smtClean="0">
                <a:solidFill>
                  <a:srgbClr val="000000"/>
                </a:solidFill>
                <a:latin typeface="Times New Roman" panose="02020603050405020304" pitchFamily="18" charset="0"/>
              </a:rPr>
              <a:t>If </a:t>
            </a:r>
            <a:r>
              <a:rPr lang="en-US" sz="2600" dirty="0">
                <a:solidFill>
                  <a:srgbClr val="000000"/>
                </a:solidFill>
                <a:latin typeface="Times New Roman" panose="02020603050405020304" pitchFamily="18" charset="0"/>
              </a:rPr>
              <a:t>the instruction requires an ALU or specialized hardware to complete, instruct the hardware to perform the requested operation </a:t>
            </a:r>
          </a:p>
          <a:p>
            <a:pPr>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marL="0" indent="0">
              <a:buNone/>
            </a:pPr>
            <a:endParaRPr lang="en-US" dirty="0"/>
          </a:p>
          <a:p>
            <a:endParaRPr lang="en-US" dirty="0"/>
          </a:p>
        </p:txBody>
      </p:sp>
    </p:spTree>
    <p:extLst>
      <p:ext uri="{BB962C8B-B14F-4D97-AF65-F5344CB8AC3E}">
        <p14:creationId xmlns:p14="http://schemas.microsoft.com/office/powerpoint/2010/main" val="15694607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endParaRPr lang="en-US" dirty="0">
              <a:latin typeface="Times New Roman" panose="02020603050405020304" pitchFamily="18" charset="0"/>
              <a:cs typeface="Times New Roman" panose="02020603050405020304" pitchFamily="18" charset="0"/>
            </a:endParaRPr>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7786" y="2407674"/>
            <a:ext cx="7287642" cy="4229690"/>
          </a:xfrm>
        </p:spPr>
      </p:pic>
      <p:sp>
        <p:nvSpPr>
          <p:cNvPr id="3" name="Rectangle 2"/>
          <p:cNvSpPr/>
          <p:nvPr/>
        </p:nvSpPr>
        <p:spPr>
          <a:xfrm>
            <a:off x="3735642" y="1822899"/>
            <a:ext cx="4720716" cy="58477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Parts of a Microprocessor</a:t>
            </a:r>
            <a:endParaRPr lang="en-US" sz="3200" b="1" dirty="0"/>
          </a:p>
        </p:txBody>
      </p:sp>
    </p:spTree>
    <p:extLst>
      <p:ext uri="{BB962C8B-B14F-4D97-AF65-F5344CB8AC3E}">
        <p14:creationId xmlns:p14="http://schemas.microsoft.com/office/powerpoint/2010/main" val="2420635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lnSpcReduction="10000"/>
          </a:bodyPr>
          <a:lstStyle/>
          <a:p>
            <a:pPr marL="0" indent="0">
              <a:buNone/>
            </a:pPr>
            <a:r>
              <a:rPr lang="en-US" b="1" dirty="0" smtClean="0">
                <a:latin typeface="Times New Roman" panose="02020603050405020304" pitchFamily="18" charset="0"/>
                <a:cs typeface="Times New Roman" panose="02020603050405020304" pitchFamily="18" charset="0"/>
              </a:rPr>
              <a:t>c) Computer Memory/Storage </a:t>
            </a:r>
          </a:p>
          <a:p>
            <a:pPr marL="0" indent="0">
              <a:buNone/>
            </a:pPr>
            <a:r>
              <a:rPr lang="en-US" dirty="0" smtClean="0">
                <a:latin typeface="Times New Roman" panose="02020603050405020304" pitchFamily="18" charset="0"/>
                <a:cs typeface="Times New Roman" panose="02020603050405020304" pitchFamily="18" charset="0"/>
              </a:rPr>
              <a:t>Computer Memory is categorized as:</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Internal/main/primary Memory</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External or Secondary Storage</a:t>
            </a:r>
          </a:p>
          <a:p>
            <a:pPr marL="571500" indent="-571500">
              <a:buFont typeface="+mj-lt"/>
              <a:buAutoNum type="romanUcPeriod"/>
            </a:pPr>
            <a:r>
              <a:rPr lang="en-US" b="1" i="1" dirty="0" smtClean="0">
                <a:latin typeface="Times New Roman" panose="02020603050405020304" pitchFamily="18" charset="0"/>
                <a:cs typeface="Times New Roman" panose="02020603050405020304" pitchFamily="18" charset="0"/>
              </a:rPr>
              <a:t>Internal/main/primary Memory:</a:t>
            </a:r>
          </a:p>
          <a:p>
            <a:pPr marL="0" indent="0">
              <a:buNone/>
            </a:pPr>
            <a:r>
              <a:rPr lang="en-US" dirty="0">
                <a:latin typeface="Times New Roman" panose="02020603050405020304" pitchFamily="18" charset="0"/>
                <a:cs typeface="Times New Roman" panose="02020603050405020304" pitchFamily="18" charset="0"/>
              </a:rPr>
              <a:t>Primary storage is used for four </a:t>
            </a:r>
            <a:r>
              <a:rPr lang="en-US" dirty="0" smtClean="0">
                <a:latin typeface="Times New Roman" panose="02020603050405020304" pitchFamily="18" charset="0"/>
                <a:cs typeface="Times New Roman" panose="02020603050405020304" pitchFamily="18" charset="0"/>
              </a:rPr>
              <a:t>purposes</a:t>
            </a:r>
          </a:p>
          <a:p>
            <a:pPr marL="514350" indent="-514350">
              <a:buFont typeface="+mj-lt"/>
              <a:buAutoNum type="alphaLcPeriod"/>
            </a:pPr>
            <a:r>
              <a:rPr lang="en-US" sz="2400" dirty="0" smtClean="0">
                <a:latin typeface="Times New Roman" panose="02020603050405020304" pitchFamily="18" charset="0"/>
                <a:cs typeface="Times New Roman" panose="02020603050405020304" pitchFamily="18" charset="0"/>
              </a:rPr>
              <a:t>To </a:t>
            </a:r>
            <a:r>
              <a:rPr lang="en-US" sz="2400" dirty="0">
                <a:latin typeface="Times New Roman" panose="02020603050405020304" pitchFamily="18" charset="0"/>
                <a:cs typeface="Times New Roman" panose="02020603050405020304" pitchFamily="18" charset="0"/>
              </a:rPr>
              <a:t>store the input data until the CPU is ready for processing</a:t>
            </a:r>
            <a:r>
              <a:rPr lang="en-US" sz="2400" dirty="0" smtClean="0">
                <a:latin typeface="Times New Roman" panose="02020603050405020304" pitchFamily="18" charset="0"/>
                <a:cs typeface="Times New Roman" panose="02020603050405020304" pitchFamily="18" charset="0"/>
              </a:rPr>
              <a:t>.</a:t>
            </a:r>
          </a:p>
          <a:p>
            <a:pPr marL="514350" indent="-514350">
              <a:buFont typeface="+mj-lt"/>
              <a:buAutoNum type="alphaLcPeriod"/>
            </a:pPr>
            <a:r>
              <a:rPr lang="en-US" sz="2400" dirty="0" smtClean="0">
                <a:latin typeface="Times New Roman" panose="02020603050405020304" pitchFamily="18" charset="0"/>
                <a:cs typeface="Times New Roman" panose="02020603050405020304" pitchFamily="18" charset="0"/>
              </a:rPr>
              <a:t>As a working storage space like a sheet of paper used for calculations</a:t>
            </a:r>
          </a:p>
          <a:p>
            <a:pPr marL="514350" indent="-514350">
              <a:buFont typeface="+mj-lt"/>
              <a:buAutoNum type="alphaLcPeriod"/>
            </a:pPr>
            <a:r>
              <a:rPr lang="en-US" sz="2400" b="0" i="0" u="none" strike="noStrike" baseline="0" dirty="0" smtClean="0">
                <a:latin typeface="Times New Roman" panose="02020603050405020304" pitchFamily="18" charset="0"/>
                <a:cs typeface="Times New Roman" panose="02020603050405020304" pitchFamily="18" charset="0"/>
              </a:rPr>
              <a:t>As an output storage area that holds the finished results</a:t>
            </a:r>
          </a:p>
          <a:p>
            <a:pPr marL="514350" indent="-514350">
              <a:buFont typeface="+mj-lt"/>
              <a:buAutoNum type="alphaLcPeriod"/>
            </a:pPr>
            <a:r>
              <a:rPr lang="en-US" sz="2400" b="0" i="0" u="none" strike="noStrike" baseline="0" dirty="0" smtClean="0">
                <a:latin typeface="Times New Roman" panose="02020603050405020304" pitchFamily="18" charset="0"/>
                <a:cs typeface="Times New Roman" panose="02020603050405020304" pitchFamily="18" charset="0"/>
              </a:rPr>
              <a:t>As a program storage area that stores the processing instructions</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p>
        </p:txBody>
      </p:sp>
    </p:spTree>
    <p:extLst>
      <p:ext uri="{BB962C8B-B14F-4D97-AF65-F5344CB8AC3E}">
        <p14:creationId xmlns:p14="http://schemas.microsoft.com/office/powerpoint/2010/main" val="9398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b="0" i="0" u="none" strike="noStrike" baseline="0" dirty="0" smtClean="0">
                <a:latin typeface="Times New Roman" panose="02020603050405020304" pitchFamily="18" charset="0"/>
                <a:cs typeface="Times New Roman" panose="02020603050405020304" pitchFamily="18" charset="0"/>
              </a:rPr>
              <a:t>There are four main types of primary storage:</a:t>
            </a:r>
          </a:p>
          <a:p>
            <a:pPr marL="1371600" lvl="2" indent="-457200">
              <a:buFont typeface="+mj-lt"/>
              <a:buAutoNum type="alphaLcPeriod"/>
            </a:pPr>
            <a:r>
              <a:rPr lang="en-US" sz="2800" b="0" i="0" u="none" strike="noStrike" baseline="0" dirty="0" smtClean="0">
                <a:latin typeface="Times New Roman" panose="02020603050405020304" pitchFamily="18" charset="0"/>
                <a:cs typeface="Times New Roman" panose="02020603050405020304" pitchFamily="18" charset="0"/>
              </a:rPr>
              <a:t>Register</a:t>
            </a:r>
          </a:p>
          <a:p>
            <a:pPr marL="1371600" lvl="2" indent="-457200">
              <a:buFont typeface="+mj-lt"/>
              <a:buAutoNum type="alphaLcPeriod"/>
            </a:pPr>
            <a:r>
              <a:rPr lang="en-US" sz="2800" dirty="0" smtClean="0">
                <a:latin typeface="Times New Roman" panose="02020603050405020304" pitchFamily="18" charset="0"/>
                <a:cs typeface="Times New Roman" panose="02020603050405020304" pitchFamily="18" charset="0"/>
              </a:rPr>
              <a:t>Random Access </a:t>
            </a:r>
            <a:r>
              <a:rPr lang="en-US" sz="2800" dirty="0">
                <a:latin typeface="Times New Roman" panose="02020603050405020304" pitchFamily="18" charset="0"/>
                <a:cs typeface="Times New Roman" panose="02020603050405020304" pitchFamily="18" charset="0"/>
              </a:rPr>
              <a:t>M</a:t>
            </a:r>
            <a:r>
              <a:rPr lang="en-US" sz="2800" dirty="0" smtClean="0">
                <a:latin typeface="Times New Roman" panose="02020603050405020304" pitchFamily="18" charset="0"/>
                <a:cs typeface="Times New Roman" panose="02020603050405020304" pitchFamily="18" charset="0"/>
              </a:rPr>
              <a:t>emory (RAM)</a:t>
            </a:r>
          </a:p>
          <a:p>
            <a:pPr marL="1371600" lvl="2" indent="-457200">
              <a:buFont typeface="+mj-lt"/>
              <a:buAutoNum type="alphaLcPeriod"/>
            </a:pPr>
            <a:r>
              <a:rPr lang="en-US" sz="2800" dirty="0">
                <a:latin typeface="Times New Roman" panose="02020603050405020304" pitchFamily="18" charset="0"/>
                <a:cs typeface="Times New Roman" panose="02020603050405020304" pitchFamily="18" charset="0"/>
              </a:rPr>
              <a:t>C</a:t>
            </a:r>
            <a:r>
              <a:rPr lang="en-US" sz="2800" b="0" i="0" u="none" strike="noStrike" baseline="0" dirty="0" smtClean="0">
                <a:latin typeface="Times New Roman" panose="02020603050405020304" pitchFamily="18" charset="0"/>
                <a:cs typeface="Times New Roman" panose="02020603050405020304" pitchFamily="18" charset="0"/>
              </a:rPr>
              <a:t>ache </a:t>
            </a:r>
            <a:r>
              <a:rPr lang="en-US" sz="2800" dirty="0">
                <a:latin typeface="Times New Roman" panose="02020603050405020304" pitchFamily="18" charset="0"/>
                <a:cs typeface="Times New Roman" panose="02020603050405020304" pitchFamily="18" charset="0"/>
              </a:rPr>
              <a:t>M</a:t>
            </a:r>
            <a:r>
              <a:rPr lang="en-US" sz="2800" b="0" i="0" u="none" strike="noStrike" baseline="0" dirty="0" smtClean="0">
                <a:latin typeface="Times New Roman" panose="02020603050405020304" pitchFamily="18" charset="0"/>
                <a:cs typeface="Times New Roman" panose="02020603050405020304" pitchFamily="18" charset="0"/>
              </a:rPr>
              <a:t>emory</a:t>
            </a:r>
          </a:p>
          <a:p>
            <a:pPr marL="1371600" lvl="2" indent="-457200">
              <a:buFont typeface="+mj-lt"/>
              <a:buAutoNum type="alphaLcPeriod"/>
            </a:pPr>
            <a:r>
              <a:rPr lang="en-US" sz="2800" dirty="0" smtClean="0">
                <a:latin typeface="Times New Roman" panose="02020603050405020304" pitchFamily="18" charset="0"/>
                <a:cs typeface="Times New Roman" panose="02020603050405020304" pitchFamily="18" charset="0"/>
              </a:rPr>
              <a:t>Read-Only </a:t>
            </a:r>
            <a:r>
              <a:rPr lang="en-US" sz="2800" dirty="0">
                <a:latin typeface="Times New Roman" panose="02020603050405020304" pitchFamily="18" charset="0"/>
                <a:cs typeface="Times New Roman" panose="02020603050405020304" pitchFamily="18" charset="0"/>
              </a:rPr>
              <a:t>M</a:t>
            </a:r>
            <a:r>
              <a:rPr lang="en-US" sz="2800" dirty="0" smtClean="0">
                <a:latin typeface="Times New Roman" panose="02020603050405020304" pitchFamily="18" charset="0"/>
                <a:cs typeface="Times New Roman" panose="02020603050405020304" pitchFamily="18" charset="0"/>
              </a:rPr>
              <a:t>emory (ROM)</a:t>
            </a:r>
          </a:p>
          <a:p>
            <a:pPr marL="0" indent="0">
              <a:buNone/>
            </a:pPr>
            <a:r>
              <a:rPr lang="en-US" b="1" dirty="0" smtClean="0">
                <a:latin typeface="Times New Roman" panose="02020603050405020304" pitchFamily="18" charset="0"/>
                <a:cs typeface="Times New Roman" panose="02020603050405020304" pitchFamily="18" charset="0"/>
              </a:rPr>
              <a:t>Registers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Are part of the CPU</a:t>
            </a:r>
          </a:p>
          <a:p>
            <a:pPr>
              <a:buFont typeface="Wingdings" panose="05000000000000000000" pitchFamily="2" charset="2"/>
              <a:buChar char="§"/>
            </a:pPr>
            <a:r>
              <a:rPr lang="en-US" b="0" i="0" u="none" strike="noStrike" baseline="0" dirty="0" smtClean="0">
                <a:latin typeface="Times New Roman" panose="02020603050405020304" pitchFamily="18" charset="0"/>
              </a:rPr>
              <a:t>They</a:t>
            </a:r>
            <a:r>
              <a:rPr lang="en-US" b="0" i="0" u="none" strike="noStrike" dirty="0" smtClean="0">
                <a:latin typeface="Times New Roman" panose="02020603050405020304" pitchFamily="18" charset="0"/>
              </a:rPr>
              <a:t> </a:t>
            </a:r>
            <a:r>
              <a:rPr lang="en-US" b="0" i="0" u="none" strike="noStrike" baseline="0" dirty="0" smtClean="0">
                <a:latin typeface="Times New Roman" panose="02020603050405020304" pitchFamily="18" charset="0"/>
              </a:rPr>
              <a:t>have the least capacity, storing extremely limited amounts of instructions and data</a:t>
            </a:r>
            <a:r>
              <a:rPr lang="en-US" b="0" i="0" u="none" strike="noStrike" dirty="0" smtClean="0">
                <a:latin typeface="Times New Roman" panose="02020603050405020304" pitchFamily="18" charset="0"/>
              </a:rPr>
              <a:t> </a:t>
            </a:r>
            <a:r>
              <a:rPr lang="en-US" b="0" i="0" u="none" strike="noStrike" baseline="0" dirty="0" smtClean="0">
                <a:latin typeface="Times New Roman" panose="02020603050405020304" pitchFamily="18" charset="0"/>
              </a:rPr>
              <a:t>only immediately before and after processing.</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93652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fontScale="92500"/>
          </a:bodyPr>
          <a:lstStyle/>
          <a:p>
            <a:pPr marL="0" indent="0">
              <a:buNone/>
            </a:pPr>
            <a:r>
              <a:rPr lang="en-US" b="1" dirty="0" smtClean="0">
                <a:latin typeface="Times New Roman" panose="02020603050405020304" pitchFamily="18" charset="0"/>
                <a:cs typeface="Times New Roman" panose="02020603050405020304" pitchFamily="18" charset="0"/>
              </a:rPr>
              <a:t>RAM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a:t>
            </a:r>
            <a:r>
              <a:rPr lang="en-US" b="0" i="0" u="none" strike="noStrike" baseline="0" dirty="0" smtClean="0">
                <a:latin typeface="Times New Roman" panose="02020603050405020304" pitchFamily="18" charset="0"/>
                <a:cs typeface="Times New Roman" panose="02020603050405020304" pitchFamily="18" charset="0"/>
              </a:rPr>
              <a:t>s the area that is used for holding the</a:t>
            </a:r>
            <a:r>
              <a:rPr lang="en-US" b="0" i="0" u="none" strike="noStrike" dirty="0" smtClean="0">
                <a:latin typeface="Times New Roman" panose="02020603050405020304" pitchFamily="18" charset="0"/>
                <a:cs typeface="Times New Roman" panose="02020603050405020304" pitchFamily="18" charset="0"/>
              </a:rPr>
              <a:t> </a:t>
            </a:r>
            <a:r>
              <a:rPr lang="en-US" b="0" i="0" u="none" strike="noStrike" baseline="0" dirty="0" smtClean="0">
                <a:latin typeface="Times New Roman" panose="02020603050405020304" pitchFamily="18" charset="0"/>
                <a:cs typeface="Times New Roman" panose="02020603050405020304" pitchFamily="18" charset="0"/>
              </a:rPr>
              <a:t>programs and their data while the computer is working with them.</a:t>
            </a:r>
          </a:p>
          <a:p>
            <a:pPr>
              <a:buFont typeface="Wingdings" panose="05000000000000000000" pitchFamily="2" charset="2"/>
              <a:buChar char="§"/>
            </a:pPr>
            <a:r>
              <a:rPr lang="en-US" dirty="0">
                <a:solidFill>
                  <a:srgbClr val="000000"/>
                </a:solidFill>
                <a:latin typeface="Times New Roman" panose="02020603050405020304" pitchFamily="18" charset="0"/>
              </a:rPr>
              <a:t>It is volatile in nature </a:t>
            </a:r>
            <a:endParaRPr lang="en-US" b="0" i="0" u="none" strike="noStrike" baseline="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b="0" i="0" u="none" strike="noStrike" baseline="0" dirty="0" smtClean="0">
                <a:latin typeface="Times New Roman" panose="02020603050405020304" pitchFamily="18" charset="0"/>
                <a:cs typeface="Times New Roman" panose="02020603050405020304" pitchFamily="18" charset="0"/>
              </a:rPr>
              <a:t>The RAM is</a:t>
            </a:r>
            <a:r>
              <a:rPr lang="en-US" b="0" i="0" u="none" strike="noStrike" dirty="0" smtClean="0">
                <a:latin typeface="Times New Roman" panose="02020603050405020304" pitchFamily="18" charset="0"/>
                <a:cs typeface="Times New Roman" panose="02020603050405020304" pitchFamily="18" charset="0"/>
              </a:rPr>
              <a:t> </a:t>
            </a:r>
            <a:r>
              <a:rPr lang="en-US" b="0" i="0" u="none" strike="noStrike" baseline="0" dirty="0" smtClean="0">
                <a:latin typeface="Times New Roman" panose="02020603050405020304" pitchFamily="18" charset="0"/>
                <a:cs typeface="Times New Roman" panose="02020603050405020304" pitchFamily="18" charset="0"/>
              </a:rPr>
              <a:t>also known as short term memory because once the power is switched off all</a:t>
            </a:r>
            <a:r>
              <a:rPr lang="en-US" b="0" i="0" u="none" strike="noStrike" dirty="0" smtClean="0">
                <a:latin typeface="Times New Roman" panose="02020603050405020304" pitchFamily="18" charset="0"/>
                <a:cs typeface="Times New Roman" panose="02020603050405020304" pitchFamily="18" charset="0"/>
              </a:rPr>
              <a:t> </a:t>
            </a:r>
            <a:r>
              <a:rPr lang="en-US" b="0" i="0" u="none" strike="noStrike" baseline="0" dirty="0" smtClean="0">
                <a:latin typeface="Times New Roman" panose="02020603050405020304" pitchFamily="18" charset="0"/>
                <a:cs typeface="Times New Roman" panose="02020603050405020304" pitchFamily="18" charset="0"/>
              </a:rPr>
              <a:t>data in the RAM is erased.</a:t>
            </a:r>
          </a:p>
          <a:p>
            <a:pPr>
              <a:buFont typeface="Wingdings" panose="05000000000000000000" pitchFamily="2" charset="2"/>
              <a:buChar char="§"/>
            </a:pPr>
            <a:r>
              <a:rPr lang="en-US" dirty="0">
                <a:solidFill>
                  <a:srgbClr val="000000"/>
                </a:solidFill>
                <a:latin typeface="Times New Roman" panose="02020603050405020304" pitchFamily="18" charset="0"/>
              </a:rPr>
              <a:t>RAM stores data randomly and the processor accesses these data randomly from the RAM </a:t>
            </a:r>
            <a:r>
              <a:rPr lang="en-US" dirty="0" smtClean="0">
                <a:solidFill>
                  <a:srgbClr val="000000"/>
                </a:solidFill>
                <a:latin typeface="Times New Roman" panose="02020603050405020304" pitchFamily="18" charset="0"/>
              </a:rPr>
              <a:t>storage.</a:t>
            </a:r>
          </a:p>
          <a:p>
            <a:pPr>
              <a:buFont typeface="Wingdings" panose="05000000000000000000" pitchFamily="2" charset="2"/>
              <a:buChar char="§"/>
            </a:pPr>
            <a:r>
              <a:rPr lang="en-US" dirty="0">
                <a:solidFill>
                  <a:srgbClr val="000000"/>
                </a:solidFill>
                <a:latin typeface="Times New Roman" panose="02020603050405020304" pitchFamily="18" charset="0"/>
              </a:rPr>
              <a:t>RAM is considered "random access" because you can access any memory cell directly if you know the row and column that intersect at that </a:t>
            </a:r>
            <a:r>
              <a:rPr lang="en-US" dirty="0" smtClean="0">
                <a:solidFill>
                  <a:srgbClr val="000000"/>
                </a:solidFill>
                <a:latin typeface="Times New Roman" panose="02020603050405020304" pitchFamily="18" charset="0"/>
              </a:rPr>
              <a:t>cell.</a:t>
            </a:r>
            <a:endParaRPr lang="en-US" b="0" i="0" u="none" strike="noStrike" baseline="0" dirty="0" smtClean="0">
              <a:latin typeface="Times New Roman" panose="02020603050405020304" pitchFamily="18" charset="0"/>
              <a:cs typeface="Times New Roman" panose="02020603050405020304" pitchFamily="18" charset="0"/>
            </a:endParaRP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124452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a:xfrm>
            <a:off x="838200" y="1735931"/>
            <a:ext cx="10515600" cy="4441032"/>
          </a:xfrm>
        </p:spPr>
        <p:txBody>
          <a:bodyPr>
            <a:normAutofit fontScale="92500" lnSpcReduction="20000"/>
          </a:bodyPr>
          <a:lstStyle/>
          <a:p>
            <a:pPr marL="0" lvl="0" indent="0">
              <a:buNone/>
            </a:pPr>
            <a:r>
              <a:rPr lang="en-US" b="1" dirty="0" smtClean="0">
                <a:solidFill>
                  <a:prstClr val="black"/>
                </a:solidFill>
                <a:latin typeface="Times New Roman" panose="02020603050405020304" pitchFamily="18" charset="0"/>
                <a:cs typeface="Times New Roman" panose="02020603050405020304" pitchFamily="18" charset="0"/>
              </a:rPr>
              <a:t>ROM</a:t>
            </a:r>
          </a:p>
          <a:p>
            <a:pPr>
              <a:buFont typeface="Wingdings" panose="05000000000000000000" pitchFamily="2" charset="2"/>
              <a:buChar char="§"/>
            </a:pPr>
            <a:r>
              <a:rPr lang="en-US" dirty="0" smtClean="0">
                <a:latin typeface="Times New Roman" panose="02020603050405020304" pitchFamily="18" charset="0"/>
              </a:rPr>
              <a:t>Is the </a:t>
            </a:r>
            <a:r>
              <a:rPr lang="en-US" dirty="0">
                <a:latin typeface="Times New Roman" panose="02020603050405020304" pitchFamily="18" charset="0"/>
              </a:rPr>
              <a:t>place (a type of chip) </a:t>
            </a:r>
            <a:r>
              <a:rPr lang="en-US" dirty="0" smtClean="0">
                <a:latin typeface="Times New Roman" panose="02020603050405020304" pitchFamily="18" charset="0"/>
              </a:rPr>
              <a:t>where certain </a:t>
            </a:r>
            <a:r>
              <a:rPr lang="en-US" dirty="0">
                <a:latin typeface="Times New Roman" panose="02020603050405020304" pitchFamily="18" charset="0"/>
              </a:rPr>
              <a:t>critical instructions are </a:t>
            </a:r>
            <a:r>
              <a:rPr lang="en-US" dirty="0" smtClean="0">
                <a:latin typeface="Times New Roman" panose="02020603050405020304" pitchFamily="18" charset="0"/>
              </a:rPr>
              <a:t>safeguarded.</a:t>
            </a:r>
          </a:p>
          <a:p>
            <a:pPr>
              <a:buFont typeface="Wingdings" panose="05000000000000000000" pitchFamily="2" charset="2"/>
              <a:buChar char="§"/>
            </a:pPr>
            <a:r>
              <a:rPr lang="en-US" dirty="0">
                <a:latin typeface="Times New Roman" panose="02020603050405020304" pitchFamily="18" charset="0"/>
              </a:rPr>
              <a:t>ROM is </a:t>
            </a:r>
            <a:r>
              <a:rPr lang="en-US" dirty="0" smtClean="0">
                <a:latin typeface="Times New Roman" panose="02020603050405020304" pitchFamily="18" charset="0"/>
              </a:rPr>
              <a:t>nonvolatile and </a:t>
            </a:r>
            <a:r>
              <a:rPr lang="en-US" dirty="0">
                <a:latin typeface="Times New Roman" panose="02020603050405020304" pitchFamily="18" charset="0"/>
              </a:rPr>
              <a:t>retains these instructions when the power to the computer </a:t>
            </a:r>
            <a:r>
              <a:rPr lang="en-US" dirty="0" smtClean="0">
                <a:latin typeface="Times New Roman" panose="02020603050405020304" pitchFamily="18" charset="0"/>
              </a:rPr>
              <a:t>is turned </a:t>
            </a:r>
            <a:r>
              <a:rPr lang="en-US" dirty="0">
                <a:latin typeface="Times New Roman" panose="02020603050405020304" pitchFamily="18" charset="0"/>
              </a:rPr>
              <a:t>off.</a:t>
            </a:r>
            <a:endParaRPr lang="en-US" b="1"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a:solidFill>
                  <a:prstClr val="black"/>
                </a:solidFill>
                <a:latin typeface="Times New Roman" panose="02020603050405020304" pitchFamily="18" charset="0"/>
                <a:cs typeface="Times New Roman" panose="02020603050405020304" pitchFamily="18" charset="0"/>
              </a:rPr>
              <a:t>It contains permanently recorded instructions that are vital for starting up a computer. </a:t>
            </a:r>
            <a:endParaRPr lang="en-US" dirty="0" smtClean="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en-US" dirty="0" smtClean="0">
                <a:solidFill>
                  <a:prstClr val="black"/>
                </a:solidFill>
                <a:latin typeface="Times New Roman" panose="02020603050405020304" pitchFamily="18" charset="0"/>
                <a:cs typeface="Times New Roman" panose="02020603050405020304" pitchFamily="18" charset="0"/>
              </a:rPr>
              <a:t>Instructions </a:t>
            </a:r>
            <a:r>
              <a:rPr lang="en-US" dirty="0">
                <a:solidFill>
                  <a:prstClr val="black"/>
                </a:solidFill>
                <a:latin typeface="Times New Roman" panose="02020603050405020304" pitchFamily="18" charset="0"/>
                <a:cs typeface="Times New Roman" panose="02020603050405020304" pitchFamily="18" charset="0"/>
              </a:rPr>
              <a:t>in ROM can be read but cannot be </a:t>
            </a:r>
            <a:r>
              <a:rPr lang="en-US" dirty="0" smtClean="0">
                <a:solidFill>
                  <a:prstClr val="black"/>
                </a:solidFill>
                <a:latin typeface="Times New Roman" panose="02020603050405020304" pitchFamily="18" charset="0"/>
                <a:cs typeface="Times New Roman" panose="02020603050405020304" pitchFamily="18" charset="0"/>
              </a:rPr>
              <a:t>changed.</a:t>
            </a:r>
          </a:p>
          <a:p>
            <a:pPr lvl="0">
              <a:buFont typeface="Wingdings" panose="05000000000000000000" pitchFamily="2" charset="2"/>
              <a:buChar char="§"/>
            </a:pPr>
            <a:r>
              <a:rPr lang="en-US" dirty="0">
                <a:latin typeface="Times New Roman" panose="02020603050405020304" pitchFamily="18" charset="0"/>
              </a:rPr>
              <a:t>There are variants of ROM </a:t>
            </a:r>
            <a:r>
              <a:rPr lang="en-US" dirty="0" smtClean="0">
                <a:latin typeface="Times New Roman" panose="02020603050405020304" pitchFamily="18" charset="0"/>
              </a:rPr>
              <a:t>chips:</a:t>
            </a:r>
          </a:p>
          <a:p>
            <a:pPr marL="971550" lvl="1" indent="-514350">
              <a:buFont typeface="+mj-lt"/>
              <a:buAutoNum type="romanLcPeriod"/>
            </a:pPr>
            <a:r>
              <a:rPr lang="en-US" b="1" dirty="0" smtClean="0">
                <a:solidFill>
                  <a:prstClr val="black"/>
                </a:solidFill>
                <a:latin typeface="Times New Roman" panose="02020603050405020304" pitchFamily="18" charset="0"/>
                <a:cs typeface="Times New Roman" panose="02020603050405020304" pitchFamily="18" charset="0"/>
              </a:rPr>
              <a:t>PROM</a:t>
            </a:r>
          </a:p>
          <a:p>
            <a:pPr marL="457200" lvl="1" indent="0">
              <a:buNone/>
            </a:pPr>
            <a:r>
              <a:rPr lang="en-US" dirty="0">
                <a:solidFill>
                  <a:prstClr val="black"/>
                </a:solidFill>
                <a:latin typeface="Times New Roman" panose="02020603050405020304" pitchFamily="18" charset="0"/>
                <a:cs typeface="Times New Roman" panose="02020603050405020304" pitchFamily="18" charset="0"/>
              </a:rPr>
              <a:t>	</a:t>
            </a:r>
            <a:r>
              <a:rPr lang="en-US" dirty="0" smtClean="0">
                <a:solidFill>
                  <a:prstClr val="black"/>
                </a:solidFill>
                <a:latin typeface="Times New Roman" panose="02020603050405020304" pitchFamily="18" charset="0"/>
                <a:cs typeface="Times New Roman" panose="02020603050405020304" pitchFamily="18" charset="0"/>
              </a:rPr>
              <a:t>- These are </a:t>
            </a:r>
            <a:r>
              <a:rPr lang="en-US" dirty="0" smtClean="0">
                <a:latin typeface="Times New Roman" panose="02020603050405020304" pitchFamily="18" charset="0"/>
              </a:rPr>
              <a:t>chips </a:t>
            </a:r>
            <a:r>
              <a:rPr lang="en-US" dirty="0">
                <a:latin typeface="Times New Roman" panose="02020603050405020304" pitchFamily="18" charset="0"/>
              </a:rPr>
              <a:t>that can be </a:t>
            </a:r>
            <a:r>
              <a:rPr lang="en-US" dirty="0" smtClean="0">
                <a:latin typeface="Times New Roman" panose="02020603050405020304" pitchFamily="18" charset="0"/>
              </a:rPr>
              <a:t>programmed</a:t>
            </a:r>
          </a:p>
          <a:p>
            <a:pPr marL="971550" lvl="1" indent="-514350">
              <a:buAutoNum type="romanLcPeriod" startAt="2"/>
            </a:pPr>
            <a:r>
              <a:rPr lang="en-US" b="1" dirty="0" smtClean="0">
                <a:latin typeface="Times New Roman" panose="02020603050405020304" pitchFamily="18" charset="0"/>
              </a:rPr>
              <a:t>EPROM</a:t>
            </a:r>
          </a:p>
          <a:p>
            <a:pPr marL="457200" lvl="1" indent="0">
              <a:buNone/>
            </a:pPr>
            <a:r>
              <a:rPr lang="en-US" dirty="0">
                <a:solidFill>
                  <a:prstClr val="black"/>
                </a:solidFill>
                <a:latin typeface="Times New Roman" panose="02020603050405020304" pitchFamily="18" charset="0"/>
                <a:cs typeface="Times New Roman" panose="02020603050405020304" pitchFamily="18" charset="0"/>
              </a:rPr>
              <a:t>	</a:t>
            </a:r>
            <a:r>
              <a:rPr lang="en-US" dirty="0" smtClean="0">
                <a:solidFill>
                  <a:prstClr val="black"/>
                </a:solidFill>
                <a:latin typeface="Times New Roman" panose="02020603050405020304" pitchFamily="18" charset="0"/>
                <a:cs typeface="Times New Roman" panose="02020603050405020304" pitchFamily="18" charset="0"/>
              </a:rPr>
              <a:t>- These are chips that </a:t>
            </a:r>
            <a:r>
              <a:rPr lang="en-US" dirty="0">
                <a:latin typeface="Times New Roman" panose="02020603050405020304" pitchFamily="18" charset="0"/>
              </a:rPr>
              <a:t>can be erased and </a:t>
            </a:r>
            <a:r>
              <a:rPr lang="en-US" dirty="0" smtClean="0">
                <a:latin typeface="Times New Roman" panose="02020603050405020304" pitchFamily="18" charset="0"/>
              </a:rPr>
              <a:t>rewritten</a:t>
            </a:r>
          </a:p>
          <a:p>
            <a:pPr marL="0" indent="0">
              <a:buNone/>
            </a:pPr>
            <a:endParaRPr lang="en-US" dirty="0"/>
          </a:p>
        </p:txBody>
      </p:sp>
    </p:spTree>
    <p:extLst>
      <p:ext uri="{BB962C8B-B14F-4D97-AF65-F5344CB8AC3E}">
        <p14:creationId xmlns:p14="http://schemas.microsoft.com/office/powerpoint/2010/main" val="36194537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5" name="Content Placeholder 4"/>
          <p:cNvSpPr>
            <a:spLocks noGrp="1"/>
          </p:cNvSpPr>
          <p:nvPr>
            <p:ph idx="1"/>
          </p:nvPr>
        </p:nvSpPr>
        <p:spPr/>
        <p:txBody>
          <a:bodyPr>
            <a:normAutofit lnSpcReduction="10000"/>
          </a:bodyPr>
          <a:lstStyle/>
          <a:p>
            <a:pPr marL="0" indent="0">
              <a:buNone/>
            </a:pPr>
            <a:r>
              <a:rPr lang="en-US" b="1" dirty="0" smtClean="0">
                <a:solidFill>
                  <a:prstClr val="black"/>
                </a:solidFill>
                <a:latin typeface="Times New Roman" panose="02020603050405020304" pitchFamily="18" charset="0"/>
                <a:cs typeface="Times New Roman" panose="02020603050405020304" pitchFamily="18" charset="0"/>
              </a:rPr>
              <a:t>Note</a:t>
            </a:r>
            <a:r>
              <a:rPr lang="en-US" b="1" dirty="0">
                <a:solidFill>
                  <a:prstClr val="black"/>
                </a:solidFill>
                <a:latin typeface="Times New Roman" panose="02020603050405020304" pitchFamily="18" charset="0"/>
                <a:cs typeface="Times New Roman" panose="02020603050405020304" pitchFamily="18" charset="0"/>
              </a:rPr>
              <a:t>: </a:t>
            </a:r>
            <a:endParaRPr lang="en-US" b="1" dirty="0" smtClean="0">
              <a:solidFill>
                <a:prstClr val="black"/>
              </a:solidFill>
              <a:latin typeface="Times New Roman" panose="02020603050405020304" pitchFamily="18" charset="0"/>
              <a:cs typeface="Times New Roman" panose="02020603050405020304" pitchFamily="18" charset="0"/>
            </a:endParaRPr>
          </a:p>
          <a:p>
            <a:pPr marL="0" indent="0">
              <a:buNone/>
            </a:pPr>
            <a:r>
              <a:rPr lang="en-US" dirty="0" smtClean="0">
                <a:solidFill>
                  <a:prstClr val="black"/>
                </a:solidFill>
                <a:latin typeface="Times New Roman" panose="02020603050405020304" pitchFamily="18" charset="0"/>
                <a:cs typeface="Times New Roman" panose="02020603050405020304" pitchFamily="18" charset="0"/>
              </a:rPr>
              <a:t>These </a:t>
            </a:r>
            <a:r>
              <a:rPr lang="en-US" dirty="0">
                <a:solidFill>
                  <a:prstClr val="black"/>
                </a:solidFill>
                <a:latin typeface="Times New Roman" panose="02020603050405020304" pitchFamily="18" charset="0"/>
                <a:cs typeface="Times New Roman" panose="02020603050405020304" pitchFamily="18" charset="0"/>
              </a:rPr>
              <a:t>are </a:t>
            </a:r>
            <a:r>
              <a:rPr lang="en-US" dirty="0">
                <a:latin typeface="Times New Roman" panose="02020603050405020304" pitchFamily="18" charset="0"/>
                <a:cs typeface="Times New Roman" panose="02020603050405020304" pitchFamily="18" charset="0"/>
              </a:rPr>
              <a:t>used in specialized technologies such as video games (PROM) or robotic manufacturing (EPROM</a:t>
            </a:r>
            <a:r>
              <a:rPr lang="en-US" dirty="0" smtClean="0">
                <a:latin typeface="Times New Roman" panose="02020603050405020304" pitchFamily="18" charset="0"/>
                <a:cs typeface="Times New Roman" panose="02020603050405020304" pitchFamily="18" charset="0"/>
              </a:rPr>
              <a:t>)</a:t>
            </a:r>
          </a:p>
          <a:p>
            <a:pPr marL="571500" indent="-571500">
              <a:buAutoNum type="romanLcPeriod" startAt="3"/>
            </a:pPr>
            <a:r>
              <a:rPr lang="en-US" b="1" dirty="0">
                <a:latin typeface="Times New Roman" panose="02020603050405020304" pitchFamily="18" charset="0"/>
                <a:cs typeface="Times New Roman" panose="02020603050405020304" pitchFamily="18" charset="0"/>
              </a:rPr>
              <a:t>F</a:t>
            </a:r>
            <a:r>
              <a:rPr lang="en-US" b="1" dirty="0" smtClean="0">
                <a:latin typeface="Times New Roman" panose="02020603050405020304" pitchFamily="18" charset="0"/>
                <a:cs typeface="Times New Roman" panose="02020603050405020304" pitchFamily="18" charset="0"/>
              </a:rPr>
              <a:t>lash </a:t>
            </a:r>
            <a:r>
              <a:rPr lang="en-US" b="1" dirty="0">
                <a:latin typeface="Times New Roman" panose="02020603050405020304" pitchFamily="18" charset="0"/>
                <a:cs typeface="Times New Roman" panose="02020603050405020304" pitchFamily="18" charset="0"/>
              </a:rPr>
              <a:t>memory</a:t>
            </a:r>
            <a:r>
              <a:rPr lang="en-US" dirty="0" smtClean="0"/>
              <a:t>.</a:t>
            </a:r>
          </a:p>
          <a:p>
            <a:pPr lvl="1">
              <a:buFontTx/>
              <a:buChar char="-"/>
            </a:pPr>
            <a:r>
              <a:rPr lang="en-US" sz="2600" dirty="0" smtClean="0">
                <a:latin typeface="Times New Roman" panose="02020603050405020304" pitchFamily="18" charset="0"/>
              </a:rPr>
              <a:t>Another form of rewritable ROM storage</a:t>
            </a:r>
          </a:p>
          <a:p>
            <a:pPr lvl="1">
              <a:buFontTx/>
              <a:buChar char="-"/>
            </a:pPr>
            <a:r>
              <a:rPr lang="en-US" sz="2600" dirty="0" smtClean="0">
                <a:latin typeface="Times New Roman" panose="02020603050405020304" pitchFamily="18" charset="0"/>
              </a:rPr>
              <a:t>This technology can be built into a system or installed on a personal computer card called </a:t>
            </a:r>
            <a:r>
              <a:rPr lang="en-US" sz="2600" b="1" i="1" dirty="0" smtClean="0">
                <a:latin typeface="Times New Roman" panose="02020603050405020304" pitchFamily="18" charset="0"/>
                <a:cs typeface="Times New Roman" panose="02020603050405020304" pitchFamily="18" charset="0"/>
              </a:rPr>
              <a:t>flash card</a:t>
            </a:r>
          </a:p>
          <a:p>
            <a:pPr lvl="1">
              <a:buFontTx/>
              <a:buChar char="-"/>
            </a:pPr>
            <a:r>
              <a:rPr lang="en-US" sz="2600" dirty="0" smtClean="0">
                <a:latin typeface="Times New Roman" panose="02020603050405020304" pitchFamily="18" charset="0"/>
                <a:cs typeface="Times New Roman" panose="02020603050405020304" pitchFamily="18" charset="0"/>
              </a:rPr>
              <a:t>They have limited capacity, are compact, portable, and require little energy to read and write.</a:t>
            </a:r>
          </a:p>
          <a:p>
            <a:pPr lvl="1">
              <a:buFontTx/>
              <a:buChar char="-"/>
            </a:pPr>
            <a:r>
              <a:rPr lang="en-US" sz="2600" dirty="0" smtClean="0">
                <a:latin typeface="Times New Roman" panose="02020603050405020304" pitchFamily="18" charset="0"/>
                <a:cs typeface="Times New Roman" panose="02020603050405020304" pitchFamily="18" charset="0"/>
              </a:rPr>
              <a:t>Flash memory via flash cards is very popular for small portable technologies</a:t>
            </a:r>
            <a:endParaRPr lang="en-US" sz="2600" b="1" dirty="0" smtClean="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77899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lstStyle/>
          <a:p>
            <a:pPr marL="0" lvl="0" indent="0">
              <a:buNone/>
            </a:pPr>
            <a:r>
              <a:rPr lang="en-US" b="1" dirty="0">
                <a:solidFill>
                  <a:prstClr val="black"/>
                </a:solidFill>
                <a:latin typeface="Times New Roman" panose="02020603050405020304" pitchFamily="18" charset="0"/>
                <a:cs typeface="Times New Roman" panose="02020603050405020304" pitchFamily="18" charset="0"/>
              </a:rPr>
              <a:t>Cache Memory</a:t>
            </a:r>
          </a:p>
          <a:p>
            <a:pPr lvl="0">
              <a:buFont typeface="Wingdings" panose="05000000000000000000" pitchFamily="2" charset="2"/>
              <a:buChar char="§"/>
            </a:pPr>
            <a:r>
              <a:rPr lang="en-US" dirty="0">
                <a:solidFill>
                  <a:prstClr val="black"/>
                </a:solidFill>
                <a:latin typeface="Times New Roman" panose="02020603050405020304" pitchFamily="18" charset="0"/>
                <a:cs typeface="Times New Roman" panose="02020603050405020304" pitchFamily="18" charset="0"/>
              </a:rPr>
              <a:t>Is a type of high-speed memory that a processor can access more rapidly than main memory (RAM).</a:t>
            </a:r>
          </a:p>
          <a:p>
            <a:pPr lvl="0">
              <a:buFont typeface="Wingdings" panose="05000000000000000000" pitchFamily="2" charset="2"/>
              <a:buChar char="§"/>
            </a:pPr>
            <a:r>
              <a:rPr lang="en-US" dirty="0">
                <a:solidFill>
                  <a:prstClr val="black"/>
                </a:solidFill>
                <a:latin typeface="Times New Roman" panose="02020603050405020304" pitchFamily="18" charset="0"/>
              </a:rPr>
              <a:t>Cache memory is a place closer to the CPU where the computer can temporarily store those blocks of instructions used most often.</a:t>
            </a:r>
          </a:p>
          <a:p>
            <a:pPr lvl="0">
              <a:buFont typeface="Wingdings" panose="05000000000000000000" pitchFamily="2" charset="2"/>
              <a:buChar char="§"/>
            </a:pPr>
            <a:r>
              <a:rPr lang="en-US" dirty="0">
                <a:solidFill>
                  <a:prstClr val="black"/>
                </a:solidFill>
                <a:latin typeface="Times New Roman" panose="02020603050405020304" pitchFamily="18" charset="0"/>
              </a:rPr>
              <a:t>Blocks used less often remain in RAM until they are transferred to cache; blocks used infrequently stay stored in secondary </a:t>
            </a:r>
            <a:r>
              <a:rPr lang="en-US" dirty="0" smtClean="0">
                <a:solidFill>
                  <a:prstClr val="black"/>
                </a:solidFill>
                <a:latin typeface="Times New Roman" panose="02020603050405020304" pitchFamily="18" charset="0"/>
              </a:rPr>
              <a:t>storage</a:t>
            </a:r>
          </a:p>
          <a:p>
            <a:pPr>
              <a:buFont typeface="Wingdings" panose="05000000000000000000" pitchFamily="2" charset="2"/>
              <a:buChar char="§"/>
            </a:pPr>
            <a:r>
              <a:rPr lang="en-US" dirty="0">
                <a:latin typeface="Times New Roman" panose="02020603050405020304" pitchFamily="18" charset="0"/>
              </a:rPr>
              <a:t>Cache memory is faster than RAM because the instructions travel a shorter distance to the CPU.</a:t>
            </a:r>
          </a:p>
          <a:p>
            <a:pPr lvl="0"/>
            <a:endParaRPr lang="en-US" dirty="0">
              <a:solidFill>
                <a:prstClr val="black"/>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217092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lnSpcReduction="10000"/>
          </a:bodyPr>
          <a:lstStyle/>
          <a:p>
            <a:pPr marL="0" indent="0">
              <a:buNone/>
            </a:pPr>
            <a:r>
              <a:rPr lang="en-US" dirty="0" smtClean="0">
                <a:latin typeface="Times New Roman" panose="02020603050405020304" pitchFamily="18" charset="0"/>
              </a:rPr>
              <a:t>There </a:t>
            </a:r>
            <a:r>
              <a:rPr lang="en-US" dirty="0">
                <a:latin typeface="Times New Roman" panose="02020603050405020304" pitchFamily="18" charset="0"/>
              </a:rPr>
              <a:t>are two types of cache memory in the majority of computer </a:t>
            </a:r>
            <a:r>
              <a:rPr lang="en-US" dirty="0" smtClean="0">
                <a:latin typeface="Times New Roman" panose="02020603050405020304" pitchFamily="18" charset="0"/>
              </a:rPr>
              <a:t>systems:</a:t>
            </a:r>
          </a:p>
          <a:p>
            <a:pPr marL="571500" indent="-571500">
              <a:buFont typeface="+mj-lt"/>
              <a:buAutoNum type="romanLcPeriod"/>
            </a:pPr>
            <a:r>
              <a:rPr lang="en-US" b="1" dirty="0">
                <a:latin typeface="Times New Roman" panose="02020603050405020304" pitchFamily="18" charset="0"/>
              </a:rPr>
              <a:t>Level 1 (L1) </a:t>
            </a:r>
            <a:r>
              <a:rPr lang="en-US" b="1" dirty="0" smtClean="0">
                <a:latin typeface="Times New Roman" panose="02020603050405020304" pitchFamily="18" charset="0"/>
              </a:rPr>
              <a:t>cache</a:t>
            </a:r>
          </a:p>
          <a:p>
            <a:pPr lvl="1">
              <a:buFont typeface="Wingdings" panose="05000000000000000000" pitchFamily="2" charset="2"/>
              <a:buChar char="§"/>
            </a:pPr>
            <a:r>
              <a:rPr lang="en-US" sz="2600" dirty="0" smtClean="0">
                <a:latin typeface="Times New Roman" panose="02020603050405020304" pitchFamily="18" charset="0"/>
              </a:rPr>
              <a:t>Is located in the processor </a:t>
            </a:r>
          </a:p>
          <a:p>
            <a:pPr lvl="1">
              <a:buFont typeface="Wingdings" panose="05000000000000000000" pitchFamily="2" charset="2"/>
              <a:buChar char="§"/>
            </a:pPr>
            <a:r>
              <a:rPr lang="en-US" sz="2600" dirty="0" smtClean="0">
                <a:latin typeface="Times New Roman" panose="02020603050405020304" pitchFamily="18" charset="0"/>
              </a:rPr>
              <a:t>Is smaller </a:t>
            </a:r>
            <a:r>
              <a:rPr lang="en-US" sz="2600" dirty="0">
                <a:latin typeface="Times New Roman" panose="02020603050405020304" pitchFamily="18" charset="0"/>
              </a:rPr>
              <a:t>and </a:t>
            </a:r>
            <a:r>
              <a:rPr lang="en-US" sz="2600" dirty="0" smtClean="0">
                <a:latin typeface="Times New Roman" panose="02020603050405020304" pitchFamily="18" charset="0"/>
              </a:rPr>
              <a:t>faster </a:t>
            </a:r>
            <a:r>
              <a:rPr lang="en-US" sz="2600" dirty="0">
                <a:latin typeface="Times New Roman" panose="02020603050405020304" pitchFamily="18" charset="0"/>
              </a:rPr>
              <a:t>than </a:t>
            </a:r>
            <a:r>
              <a:rPr lang="en-US" sz="2600" dirty="0" smtClean="0">
                <a:latin typeface="Times New Roman" panose="02020603050405020304" pitchFamily="18" charset="0"/>
              </a:rPr>
              <a:t>L2 cache</a:t>
            </a:r>
            <a:endParaRPr lang="en-US" sz="2600" dirty="0" smtClean="0"/>
          </a:p>
          <a:p>
            <a:pPr marL="0" lvl="1" indent="0">
              <a:buNone/>
            </a:pPr>
            <a:r>
              <a:rPr lang="en-US" sz="2800" b="1" dirty="0" smtClean="0">
                <a:latin typeface="Times New Roman" panose="02020603050405020304" pitchFamily="18" charset="0"/>
              </a:rPr>
              <a:t>ii.   </a:t>
            </a:r>
            <a:r>
              <a:rPr lang="en-US" sz="2800" b="1" dirty="0">
                <a:latin typeface="Times New Roman" panose="02020603050405020304" pitchFamily="18" charset="0"/>
              </a:rPr>
              <a:t>Level 2 (L2) </a:t>
            </a:r>
            <a:r>
              <a:rPr lang="en-US" sz="2800" b="1" dirty="0" smtClean="0">
                <a:latin typeface="Times New Roman" panose="02020603050405020304" pitchFamily="18" charset="0"/>
              </a:rPr>
              <a:t>cache</a:t>
            </a:r>
          </a:p>
          <a:p>
            <a:pPr lvl="1">
              <a:buFont typeface="Wingdings" panose="05000000000000000000" pitchFamily="2" charset="2"/>
              <a:buChar char="§"/>
            </a:pPr>
            <a:r>
              <a:rPr lang="en-US" sz="2600" dirty="0" smtClean="0">
                <a:latin typeface="Times New Roman" panose="02020603050405020304" pitchFamily="18" charset="0"/>
              </a:rPr>
              <a:t>Is located on the motherboard but not actually in the processor</a:t>
            </a:r>
          </a:p>
          <a:p>
            <a:pPr marL="0" lvl="1" indent="0">
              <a:buNone/>
            </a:pPr>
            <a:r>
              <a:rPr lang="en-US" b="1" dirty="0" smtClean="0">
                <a:latin typeface="Times New Roman" panose="02020603050405020304" pitchFamily="18" charset="0"/>
              </a:rPr>
              <a:t>Note:</a:t>
            </a:r>
          </a:p>
          <a:p>
            <a:pPr marL="0" indent="0">
              <a:buNone/>
            </a:pPr>
            <a:r>
              <a:rPr lang="en-US" dirty="0">
                <a:latin typeface="Times New Roman" panose="02020603050405020304" pitchFamily="18" charset="0"/>
                <a:cs typeface="Times New Roman" panose="02020603050405020304" pitchFamily="18" charset="0"/>
              </a:rPr>
              <a:t>Chip manufacturers are now designing chips with L1 cache and L2 cache in </a:t>
            </a:r>
            <a:r>
              <a:rPr lang="en-US" dirty="0" smtClean="0">
                <a:latin typeface="Times New Roman" panose="02020603050405020304" pitchFamily="18" charset="0"/>
                <a:cs typeface="Times New Roman" panose="02020603050405020304" pitchFamily="18" charset="0"/>
              </a:rPr>
              <a:t>the processor </a:t>
            </a:r>
            <a:r>
              <a:rPr lang="en-US" dirty="0">
                <a:latin typeface="Times New Roman" panose="02020603050405020304" pitchFamily="18" charset="0"/>
                <a:cs typeface="Times New Roman" panose="02020603050405020304" pitchFamily="18" charset="0"/>
              </a:rPr>
              <a:t>and Level 3 (L3) cache on the motherboard</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47774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fontScale="92500" lnSpcReduction="20000"/>
          </a:bodyPr>
          <a:lstStyle/>
          <a:p>
            <a:pPr marL="0" lvl="1" indent="0">
              <a:spcBef>
                <a:spcPts val="1000"/>
              </a:spcBef>
              <a:buNone/>
            </a:pPr>
            <a:r>
              <a:rPr lang="en-US" sz="2800" b="1" dirty="0" smtClean="0">
                <a:latin typeface="Times New Roman" panose="02020603050405020304" pitchFamily="18" charset="0"/>
                <a:cs typeface="Times New Roman" panose="02020603050405020304" pitchFamily="18" charset="0"/>
              </a:rPr>
              <a:t>II. External or Secondary Storage</a:t>
            </a:r>
          </a:p>
          <a:p>
            <a:r>
              <a:rPr lang="en-US" dirty="0">
                <a:latin typeface="Times New Roman" panose="02020603050405020304" pitchFamily="18" charset="0"/>
                <a:cs typeface="Times New Roman" panose="02020603050405020304" pitchFamily="18" charset="0"/>
              </a:rPr>
              <a:t>D</a:t>
            </a:r>
            <a:r>
              <a:rPr lang="en-US" dirty="0" smtClean="0">
                <a:latin typeface="Times New Roman" panose="02020603050405020304" pitchFamily="18" charset="0"/>
                <a:cs typeface="Times New Roman" panose="02020603050405020304" pitchFamily="18" charset="0"/>
              </a:rPr>
              <a:t>esigned </a:t>
            </a:r>
            <a:r>
              <a:rPr lang="en-US" dirty="0">
                <a:latin typeface="Times New Roman" panose="02020603050405020304" pitchFamily="18" charset="0"/>
                <a:cs typeface="Times New Roman" panose="02020603050405020304" pitchFamily="18" charset="0"/>
              </a:rPr>
              <a:t>to store very large amounts of data for extended periods</a:t>
            </a:r>
          </a:p>
          <a:p>
            <a:pPr marL="0" indent="0">
              <a:buNone/>
            </a:pPr>
            <a:r>
              <a:rPr lang="en-US" dirty="0" smtClean="0">
                <a:latin typeface="Times New Roman" panose="02020603050405020304" pitchFamily="18" charset="0"/>
                <a:cs typeface="Times New Roman" panose="02020603050405020304" pitchFamily="18" charset="0"/>
              </a:rPr>
              <a:t> of time.</a:t>
            </a:r>
          </a:p>
          <a:p>
            <a:r>
              <a:rPr lang="en-US" dirty="0">
                <a:latin typeface="Times New Roman" panose="02020603050405020304" pitchFamily="18" charset="0"/>
              </a:rPr>
              <a:t>Secondary storage can have memory capacity of several terabytes </a:t>
            </a:r>
            <a:r>
              <a:rPr lang="en-US" dirty="0" smtClean="0">
                <a:latin typeface="Times New Roman" panose="02020603050405020304" pitchFamily="18" charset="0"/>
              </a:rPr>
              <a:t>or more</a:t>
            </a:r>
            <a:endParaRPr lang="en-US"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nly </a:t>
            </a:r>
            <a:r>
              <a:rPr lang="en-US" dirty="0">
                <a:latin typeface="Times New Roman" panose="02020603050405020304" pitchFamily="18" charset="0"/>
                <a:cs typeface="Times New Roman" panose="02020603050405020304" pitchFamily="18" charset="0"/>
              </a:rPr>
              <a:t>small portions of that data are placed in primary storage at any </a:t>
            </a:r>
            <a:r>
              <a:rPr lang="en-US" dirty="0" smtClean="0">
                <a:latin typeface="Times New Roman" panose="02020603050405020304" pitchFamily="18" charset="0"/>
                <a:cs typeface="Times New Roman" panose="02020603050405020304" pitchFamily="18" charset="0"/>
              </a:rPr>
              <a:t>one time.</a:t>
            </a:r>
          </a:p>
          <a:p>
            <a:pPr marL="0" indent="0">
              <a:buNone/>
            </a:pPr>
            <a:r>
              <a:rPr lang="en-US" b="1" i="1" dirty="0" smtClean="0">
                <a:latin typeface="Times New Roman" panose="02020603050405020304" pitchFamily="18" charset="0"/>
                <a:cs typeface="Times New Roman" panose="02020603050405020304" pitchFamily="18" charset="0"/>
              </a:rPr>
              <a:t>Characteristics of Secondary Storage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nonvolatile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takes much more time to retrieve data from secondary storage than it does </a:t>
            </a:r>
            <a:r>
              <a:rPr lang="en-US" dirty="0" smtClean="0">
                <a:latin typeface="Times New Roman" panose="02020603050405020304" pitchFamily="18" charset="0"/>
                <a:cs typeface="Times New Roman" panose="02020603050405020304" pitchFamily="18" charset="0"/>
              </a:rPr>
              <a:t>from RAM </a:t>
            </a:r>
            <a:r>
              <a:rPr lang="en-US" dirty="0">
                <a:latin typeface="Times New Roman" panose="02020603050405020304" pitchFamily="18" charset="0"/>
                <a:cs typeface="Times New Roman" panose="02020603050405020304" pitchFamily="18" charset="0"/>
              </a:rPr>
              <a:t>because of the electromechanical nature of secondary storage </a:t>
            </a:r>
            <a:r>
              <a:rPr lang="en-US" dirty="0" smtClean="0">
                <a:latin typeface="Times New Roman" panose="02020603050405020304" pitchFamily="18" charset="0"/>
                <a:cs typeface="Times New Roman" panose="02020603050405020304" pitchFamily="18" charset="0"/>
              </a:rPr>
              <a:t>devices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46701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smtClean="0">
                <a:latin typeface="Times New Roman" panose="02020603050405020304" pitchFamily="18" charset="0"/>
              </a:rPr>
              <a:t>It </a:t>
            </a:r>
            <a:r>
              <a:rPr lang="en-US" dirty="0">
                <a:latin typeface="Times New Roman" panose="02020603050405020304" pitchFamily="18" charset="0"/>
              </a:rPr>
              <a:t>is much more cost effective than primary storage</a:t>
            </a:r>
          </a:p>
          <a:p>
            <a:pPr>
              <a:buFont typeface="Wingdings" panose="05000000000000000000" pitchFamily="2" charset="2"/>
              <a:buChar char="Ø"/>
            </a:pPr>
            <a:r>
              <a:rPr lang="en-US" dirty="0">
                <a:latin typeface="Times New Roman" panose="02020603050405020304" pitchFamily="18" charset="0"/>
              </a:rPr>
              <a:t>It can take place on a variety of media</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overall trends in secondary storage are towards more direct-access methods, higher capacity with lower costs, and increased </a:t>
            </a:r>
            <a:r>
              <a:rPr lang="en-US" dirty="0" smtClean="0">
                <a:latin typeface="Times New Roman" panose="02020603050405020304" pitchFamily="18" charset="0"/>
                <a:cs typeface="Times New Roman" panose="02020603050405020304" pitchFamily="18" charset="0"/>
              </a:rPr>
              <a:t>portability</a:t>
            </a: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Examples of secondary storage</a:t>
            </a:r>
          </a:p>
          <a:p>
            <a:pPr lvl="1">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Fixed Storage Devices: Hard Disk Drive</a:t>
            </a:r>
          </a:p>
          <a:p>
            <a:pPr lvl="1">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Removable Storage </a:t>
            </a:r>
            <a:r>
              <a:rPr lang="en-US" sz="2800" dirty="0" smtClean="0">
                <a:latin typeface="Times New Roman" panose="02020603050405020304" pitchFamily="18" charset="0"/>
                <a:cs typeface="Times New Roman" panose="02020603050405020304" pitchFamily="18" charset="0"/>
              </a:rPr>
              <a:t>Media: Optical Discs (i.e.. CD, DVD), Memory Sticks, Tapes, Floppy Diskettes</a:t>
            </a:r>
          </a:p>
          <a:p>
            <a:pPr marL="53975" lvl="1"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693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kumimoji="0" lang="en-US" sz="4400" b="1" i="0" u="none" strike="noStrike" kern="1200" cap="none" spc="0" normalizeH="0" baseline="0" noProof="0" dirty="0" smtClean="0">
                <a:ln>
                  <a:noFill/>
                </a:ln>
                <a:solidFill>
                  <a:prstClr val="black"/>
                </a:solidFill>
                <a:effectLst/>
                <a:uLnTx/>
                <a:uFillTx/>
                <a:latin typeface="Times New Roman" panose="02020603050405020304" pitchFamily="18" charset="0"/>
                <a:ea typeface="+mj-ea"/>
                <a:cs typeface="Times New Roman" panose="02020603050405020304" pitchFamily="18" charset="0"/>
              </a:rPr>
              <a:t>Hardware Components (Cont’d)</a:t>
            </a:r>
            <a:endParaRPr lang="en-US" dirty="0"/>
          </a:p>
        </p:txBody>
      </p:sp>
      <p:sp>
        <p:nvSpPr>
          <p:cNvPr id="3" name="Content Placeholder 2"/>
          <p:cNvSpPr>
            <a:spLocks noGrp="1"/>
          </p:cNvSpPr>
          <p:nvPr>
            <p:ph idx="1"/>
          </p:nvPr>
        </p:nvSpPr>
        <p:spPr>
          <a:xfrm>
            <a:off x="838200" y="1825624"/>
            <a:ext cx="10515600" cy="4483735"/>
          </a:xfrm>
        </p:spPr>
        <p:txBody>
          <a:bodyPr>
            <a:normAutofit fontScale="92500" lnSpcReduction="20000"/>
          </a:bodyPr>
          <a:lstStyle/>
          <a:p>
            <a:pPr marL="53975" lvl="1" indent="0">
              <a:buNone/>
            </a:pPr>
            <a:r>
              <a:rPr lang="en-US" sz="3300" b="1" dirty="0"/>
              <a:t>Categories Of Storage </a:t>
            </a:r>
            <a:r>
              <a:rPr lang="en-US" sz="3300" b="1" dirty="0" smtClean="0"/>
              <a:t>Media</a:t>
            </a:r>
            <a:endParaRPr lang="en-US" sz="3300" b="1" i="1" dirty="0" smtClean="0">
              <a:latin typeface="Times New Roman" panose="02020603050405020304" pitchFamily="18" charset="0"/>
              <a:cs typeface="Times New Roman" panose="02020603050405020304" pitchFamily="18" charset="0"/>
            </a:endParaRPr>
          </a:p>
          <a:p>
            <a:pPr marL="625475" lvl="1" indent="-571500">
              <a:buAutoNum type="romanLcPeriod"/>
            </a:pPr>
            <a:r>
              <a:rPr lang="en-US" sz="3000" b="1" i="1" dirty="0" smtClean="0">
                <a:latin typeface="Times New Roman" panose="02020603050405020304" pitchFamily="18" charset="0"/>
                <a:cs typeface="Times New Roman" panose="02020603050405020304" pitchFamily="18" charset="0"/>
              </a:rPr>
              <a:t>Magnetic </a:t>
            </a:r>
            <a:r>
              <a:rPr lang="en-US" sz="3000" b="1" i="1" dirty="0">
                <a:latin typeface="Times New Roman" panose="02020603050405020304" pitchFamily="18" charset="0"/>
                <a:cs typeface="Times New Roman" panose="02020603050405020304" pitchFamily="18" charset="0"/>
              </a:rPr>
              <a:t>Media</a:t>
            </a:r>
          </a:p>
          <a:p>
            <a:pPr marL="53975" lvl="1" indent="0">
              <a:buNone/>
            </a:pPr>
            <a:r>
              <a:rPr lang="en-US" sz="3000" dirty="0">
                <a:latin typeface="Times New Roman" panose="02020603050405020304" pitchFamily="18" charset="0"/>
                <a:cs typeface="Times New Roman" panose="02020603050405020304" pitchFamily="18" charset="0"/>
              </a:rPr>
              <a:t>	- </a:t>
            </a:r>
            <a:r>
              <a:rPr lang="en-US" sz="3000" dirty="0" smtClean="0">
                <a:latin typeface="Times New Roman" panose="02020603050405020304" pitchFamily="18" charset="0"/>
                <a:cs typeface="Times New Roman" panose="02020603050405020304" pitchFamily="18" charset="0"/>
              </a:rPr>
              <a:t>Use magnetic recording</a:t>
            </a:r>
          </a:p>
          <a:p>
            <a:pPr marL="0" indent="0">
              <a:buNone/>
            </a:pPr>
            <a:r>
              <a:rPr lang="en-US" sz="3000" dirty="0" smtClean="0">
                <a:latin typeface="Times New Roman" panose="02020603050405020304" pitchFamily="18" charset="0"/>
                <a:cs typeface="Times New Roman" panose="02020603050405020304" pitchFamily="18" charset="0"/>
              </a:rPr>
              <a:t>	- Made of thin plastic sheets (floppy disks), or ceramics or steel 	  	 (hard disks)</a:t>
            </a:r>
          </a:p>
          <a:p>
            <a:pPr marL="0" indent="0">
              <a:buNone/>
            </a:pPr>
            <a:r>
              <a:rPr lang="en-US" sz="3000" dirty="0" smtClean="0">
                <a:latin typeface="Times New Roman" panose="02020603050405020304" pitchFamily="18" charset="0"/>
                <a:cs typeface="Times New Roman" panose="02020603050405020304" pitchFamily="18" charset="0"/>
              </a:rPr>
              <a:t>	-Their surfaces </a:t>
            </a:r>
            <a:r>
              <a:rPr lang="en-US" sz="3000" dirty="0">
                <a:latin typeface="Times New Roman" panose="02020603050405020304" pitchFamily="18" charset="0"/>
                <a:cs typeface="Times New Roman" panose="02020603050405020304" pitchFamily="18" charset="0"/>
              </a:rPr>
              <a:t>are covered in a thin layer of magnetic </a:t>
            </a:r>
            <a:r>
              <a:rPr lang="en-US" sz="3000" dirty="0" smtClean="0">
                <a:latin typeface="Times New Roman" panose="02020603050405020304" pitchFamily="18" charset="0"/>
                <a:cs typeface="Times New Roman" panose="02020603050405020304" pitchFamily="18" charset="0"/>
              </a:rPr>
              <a:t>oxide.</a:t>
            </a:r>
          </a:p>
          <a:p>
            <a:pPr marL="0" indent="0">
              <a:buNone/>
            </a:pPr>
            <a:r>
              <a:rPr lang="en-US" sz="3000" dirty="0" smtClean="0">
                <a:latin typeface="Times New Roman" panose="02020603050405020304" pitchFamily="18" charset="0"/>
                <a:cs typeface="Times New Roman" panose="02020603050405020304" pitchFamily="18" charset="0"/>
              </a:rPr>
              <a:t>Examples of Magnetic Media:</a:t>
            </a:r>
          </a:p>
          <a:p>
            <a:pPr marL="457200" lvl="1" indent="0">
              <a:buNone/>
            </a:pPr>
            <a:r>
              <a:rPr lang="en-US" sz="3000" dirty="0" smtClean="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Floppy disks</a:t>
            </a:r>
          </a:p>
          <a:p>
            <a:pPr marL="457200" lvl="1" indent="0">
              <a:buNone/>
            </a:pPr>
            <a:r>
              <a:rPr lang="en-US" sz="3000" dirty="0">
                <a:latin typeface="Times New Roman" panose="02020603050405020304" pitchFamily="18" charset="0"/>
                <a:cs typeface="Times New Roman" panose="02020603050405020304" pitchFamily="18" charset="0"/>
              </a:rPr>
              <a:t>- Zip disks</a:t>
            </a:r>
          </a:p>
          <a:p>
            <a:pPr lvl="1">
              <a:buFontTx/>
              <a:buChar char="-"/>
            </a:pPr>
            <a:r>
              <a:rPr lang="en-US" sz="3000" dirty="0" smtClean="0">
                <a:latin typeface="Times New Roman" panose="02020603050405020304" pitchFamily="18" charset="0"/>
                <a:cs typeface="Times New Roman" panose="02020603050405020304" pitchFamily="18" charset="0"/>
              </a:rPr>
              <a:t>Hard drives</a:t>
            </a:r>
          </a:p>
          <a:p>
            <a:pPr lvl="1">
              <a:buFontTx/>
              <a:buChar char="-"/>
            </a:pPr>
            <a:r>
              <a:rPr lang="en-US" sz="3000" dirty="0">
                <a:latin typeface="Times New Roman" panose="02020603050405020304" pitchFamily="18" charset="0"/>
                <a:cs typeface="Times New Roman" panose="02020603050405020304" pitchFamily="18" charset="0"/>
              </a:rPr>
              <a:t>Magnetic </a:t>
            </a:r>
            <a:r>
              <a:rPr lang="en-US" sz="3000" dirty="0" smtClean="0">
                <a:latin typeface="Times New Roman" panose="02020603050405020304" pitchFamily="18" charset="0"/>
                <a:cs typeface="Times New Roman" panose="02020603050405020304" pitchFamily="18" charset="0"/>
              </a:rPr>
              <a:t>tap</a:t>
            </a:r>
            <a:r>
              <a:rPr lang="en-US" sz="3000" dirty="0" smtClean="0"/>
              <a:t>e</a:t>
            </a:r>
          </a:p>
          <a:p>
            <a:pPr marL="0" lvl="1" indent="0">
              <a:buNone/>
            </a:pPr>
            <a:endParaRPr lang="en-US" dirty="0"/>
          </a:p>
        </p:txBody>
      </p:sp>
    </p:spTree>
    <p:extLst>
      <p:ext uri="{BB962C8B-B14F-4D97-AF65-F5344CB8AC3E}">
        <p14:creationId xmlns:p14="http://schemas.microsoft.com/office/powerpoint/2010/main" val="4831688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lnSpcReduction="10000"/>
          </a:bodyPr>
          <a:lstStyle/>
          <a:p>
            <a:pPr marL="0" lvl="1" indent="0">
              <a:buNone/>
            </a:pPr>
            <a:r>
              <a:rPr lang="en-US" sz="2800" b="1" dirty="0">
                <a:latin typeface="Times New Roman" panose="02020603050405020304" pitchFamily="18" charset="0"/>
                <a:cs typeface="Times New Roman" panose="02020603050405020304" pitchFamily="18" charset="0"/>
              </a:rPr>
              <a:t>ii. Optical Media</a:t>
            </a:r>
          </a:p>
          <a:p>
            <a:pPr marL="457200" lvl="1"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data is read by a laser beam that is either reflected or not reflected according to the setting of each bit of data; </a:t>
            </a:r>
          </a:p>
          <a:p>
            <a:pPr marL="457200" lvl="1"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reflected light gets converted into a voltage pulse and hence the recorded 0/1 data values gets back into the form needed in the computer </a:t>
            </a:r>
            <a:r>
              <a:rPr lang="en-US" sz="2800" dirty="0" smtClean="0">
                <a:latin typeface="Times New Roman" panose="02020603050405020304" pitchFamily="18" charset="0"/>
                <a:cs typeface="Times New Roman" panose="02020603050405020304" pitchFamily="18" charset="0"/>
              </a:rPr>
              <a:t>circuits</a:t>
            </a:r>
          </a:p>
          <a:p>
            <a:pPr marL="0" indent="0">
              <a:buNone/>
            </a:pPr>
            <a:r>
              <a:rPr lang="en-US" dirty="0" smtClean="0">
                <a:latin typeface="Times New Roman" panose="02020603050405020304" pitchFamily="18" charset="0"/>
                <a:cs typeface="Times New Roman" panose="02020603050405020304" pitchFamily="18" charset="0"/>
              </a:rPr>
              <a:t>Examples of Optical media</a:t>
            </a:r>
          </a:p>
          <a:p>
            <a:pPr marL="0" indent="0">
              <a:buNone/>
            </a:pPr>
            <a:r>
              <a:rPr lang="en-US"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CD-ROM (Compact disk, read-only memory)</a:t>
            </a:r>
            <a:endParaRPr lang="en-US" sz="2600" dirty="0" smtClean="0">
              <a:latin typeface="Times New Roman" panose="02020603050405020304" pitchFamily="18" charset="0"/>
              <a:cs typeface="Times New Roman" panose="02020603050405020304" pitchFamily="18" charset="0"/>
            </a:endParaRPr>
          </a:p>
          <a:p>
            <a:pPr marL="0" indent="0">
              <a:buNone/>
            </a:pPr>
            <a:r>
              <a:rPr lang="en-US" sz="2600" dirty="0">
                <a:latin typeface="Times New Roman" panose="02020603050405020304" pitchFamily="18" charset="0"/>
                <a:cs typeface="Times New Roman" panose="02020603050405020304" pitchFamily="18" charset="0"/>
              </a:rPr>
              <a:t>	- </a:t>
            </a:r>
            <a:r>
              <a:rPr lang="en-US" sz="2600" dirty="0" smtClean="0">
                <a:latin typeface="Times New Roman" panose="02020603050405020304" pitchFamily="18" charset="0"/>
                <a:cs typeface="Times New Roman" panose="02020603050405020304" pitchFamily="18" charset="0"/>
              </a:rPr>
              <a:t>DVD (digital video </a:t>
            </a:r>
            <a:r>
              <a:rPr lang="en-US" sz="2600" dirty="0">
                <a:latin typeface="Times New Roman" panose="02020603050405020304" pitchFamily="18" charset="0"/>
                <a:cs typeface="Times New Roman" panose="02020603050405020304" pitchFamily="18" charset="0"/>
              </a:rPr>
              <a:t>disk</a:t>
            </a:r>
            <a:r>
              <a:rPr lang="en-US" sz="2600" dirty="0" smtClean="0">
                <a:latin typeface="Times New Roman" panose="02020603050405020304" pitchFamily="18" charset="0"/>
                <a:cs typeface="Times New Roman" panose="02020603050405020304" pitchFamily="18" charset="0"/>
              </a:rPr>
              <a:t>)</a:t>
            </a:r>
          </a:p>
          <a:p>
            <a:pPr marL="0" indent="0">
              <a:buNone/>
            </a:pPr>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 FMD-ROM </a:t>
            </a:r>
            <a:r>
              <a:rPr lang="en-US" sz="2600" dirty="0">
                <a:latin typeface="Times New Roman" panose="02020603050405020304" pitchFamily="18" charset="0"/>
                <a:cs typeface="Times New Roman" panose="02020603050405020304" pitchFamily="18" charset="0"/>
              </a:rPr>
              <a:t>(fluorescent multilayer </a:t>
            </a:r>
            <a:r>
              <a:rPr lang="en-US" sz="2600" dirty="0" smtClean="0">
                <a:latin typeface="Times New Roman" panose="02020603050405020304" pitchFamily="18" charset="0"/>
                <a:cs typeface="Times New Roman" panose="02020603050405020304" pitchFamily="18" charset="0"/>
              </a:rPr>
              <a:t>disk, </a:t>
            </a:r>
            <a:r>
              <a:rPr lang="en-US" sz="2600" dirty="0">
                <a:latin typeface="Times New Roman" panose="02020603050405020304" pitchFamily="18" charset="0"/>
                <a:cs typeface="Times New Roman" panose="02020603050405020304" pitchFamily="18" charset="0"/>
              </a:rPr>
              <a:t>read-only memory</a:t>
            </a:r>
            <a:r>
              <a:rPr lang="en-US" sz="2600"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3455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d) Output Devices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 output device is any hardware used to communicate processed data to the </a:t>
            </a:r>
            <a:r>
              <a:rPr lang="en-US" dirty="0" smtClean="0">
                <a:latin typeface="Times New Roman" panose="02020603050405020304" pitchFamily="18" charset="0"/>
                <a:cs typeface="Times New Roman" panose="02020603050405020304" pitchFamily="18" charset="0"/>
              </a:rPr>
              <a:t>user</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Display the results of computer processing</a:t>
            </a:r>
          </a:p>
          <a:p>
            <a:pPr marL="0" indent="0">
              <a:buNone/>
            </a:pPr>
            <a:r>
              <a:rPr lang="en-US" dirty="0" smtClean="0">
                <a:latin typeface="Times New Roman" panose="02020603050405020304" pitchFamily="18" charset="0"/>
                <a:cs typeface="Times New Roman" panose="02020603050405020304" pitchFamily="18" charset="0"/>
              </a:rPr>
              <a:t>Examples of Output Devices:</a:t>
            </a:r>
          </a:p>
          <a:p>
            <a:pPr lvl="1"/>
            <a:r>
              <a:rPr lang="en-US" dirty="0" smtClean="0">
                <a:latin typeface="Times New Roman" panose="02020603050405020304" pitchFamily="18" charset="0"/>
                <a:cs typeface="Times New Roman" panose="02020603050405020304" pitchFamily="18" charset="0"/>
              </a:rPr>
              <a:t>Monitors</a:t>
            </a:r>
          </a:p>
          <a:p>
            <a:pPr lvl="1"/>
            <a:r>
              <a:rPr lang="en-US" dirty="0" smtClean="0">
                <a:latin typeface="Times New Roman" panose="02020603050405020304" pitchFamily="18" charset="0"/>
                <a:cs typeface="Times New Roman" panose="02020603050405020304" pitchFamily="18" charset="0"/>
              </a:rPr>
              <a:t>Printers</a:t>
            </a:r>
          </a:p>
          <a:p>
            <a:pPr lvl="1"/>
            <a:r>
              <a:rPr lang="en-US" dirty="0" smtClean="0">
                <a:latin typeface="Times New Roman" panose="02020603050405020304" pitchFamily="18" charset="0"/>
                <a:cs typeface="Times New Roman" panose="02020603050405020304" pitchFamily="18" charset="0"/>
              </a:rPr>
              <a:t>Projector</a:t>
            </a:r>
          </a:p>
          <a:p>
            <a:pPr lvl="1"/>
            <a:r>
              <a:rPr lang="en-US" dirty="0" smtClean="0">
                <a:latin typeface="Times New Roman" panose="02020603050405020304" pitchFamily="18" charset="0"/>
                <a:cs typeface="Times New Roman" panose="02020603050405020304" pitchFamily="18" charset="0"/>
              </a:rPr>
              <a:t>Speakers</a:t>
            </a:r>
          </a:p>
          <a:p>
            <a:pPr marL="0" lvl="1" indent="0">
              <a:buNone/>
            </a:pPr>
            <a:r>
              <a:rPr lang="en-US" sz="2800" dirty="0" smtClean="0">
                <a:latin typeface="Times New Roman" panose="02020603050405020304" pitchFamily="18" charset="0"/>
                <a:cs typeface="Times New Roman" panose="02020603050405020304" pitchFamily="18" charset="0"/>
              </a:rPr>
              <a:t>Basic types of monitors include:</a:t>
            </a:r>
          </a:p>
          <a:p>
            <a:pPr marL="53975" lvl="1" indent="0">
              <a:buNone/>
            </a:pP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Cathode </a:t>
            </a:r>
            <a:r>
              <a:rPr lang="en-US" dirty="0">
                <a:latin typeface="Times New Roman" panose="02020603050405020304" pitchFamily="18" charset="0"/>
                <a:cs typeface="Times New Roman" panose="02020603050405020304" pitchFamily="18" charset="0"/>
              </a:rPr>
              <a:t>Ray Tube (CRT</a:t>
            </a:r>
            <a:r>
              <a:rPr lang="en-US" dirty="0" smtClean="0">
                <a:latin typeface="Times New Roman" panose="02020603050405020304" pitchFamily="18" charset="0"/>
                <a:cs typeface="Times New Roman" panose="02020603050405020304" pitchFamily="18" charset="0"/>
              </a:rPr>
              <a:t>).</a:t>
            </a:r>
          </a:p>
          <a:p>
            <a:pPr marL="53975" lvl="1"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ii. Liquid </a:t>
            </a:r>
            <a:r>
              <a:rPr lang="en-US" sz="2400" dirty="0">
                <a:latin typeface="Times New Roman" panose="02020603050405020304" pitchFamily="18" charset="0"/>
                <a:cs typeface="Times New Roman" panose="02020603050405020304" pitchFamily="18" charset="0"/>
              </a:rPr>
              <a:t>Crystal Displays (LCD</a:t>
            </a:r>
            <a:r>
              <a:rPr lang="en-US" sz="2400" dirty="0" smtClean="0">
                <a:latin typeface="Times New Roman" panose="02020603050405020304" pitchFamily="18" charset="0"/>
                <a:cs typeface="Times New Roman" panose="02020603050405020304" pitchFamily="18" charset="0"/>
              </a:rPr>
              <a:t>).</a:t>
            </a:r>
          </a:p>
          <a:p>
            <a:pPr marL="53975" lvl="1"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iii. Light-Emitting Diode </a:t>
            </a:r>
            <a:r>
              <a:rPr lang="en-US" sz="2400" dirty="0">
                <a:latin typeface="Times New Roman" panose="02020603050405020304" pitchFamily="18" charset="0"/>
                <a:cs typeface="Times New Roman" panose="02020603050405020304" pitchFamily="18" charset="0"/>
              </a:rPr>
              <a:t>(LED)</a:t>
            </a: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6571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p>
        </p:txBody>
      </p:sp>
      <p:sp>
        <p:nvSpPr>
          <p:cNvPr id="3" name="Content Placeholder 2"/>
          <p:cNvSpPr>
            <a:spLocks noGrp="1"/>
          </p:cNvSpPr>
          <p:nvPr>
            <p:ph idx="1"/>
          </p:nvPr>
        </p:nvSpPr>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e) Communication devices</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These are the devices which help one computer to communicate with another computer.</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Is used to extend the processing capabilities of a computer system by providing a means of transferring data and applications from one computer system to another.</a:t>
            </a:r>
          </a:p>
          <a:p>
            <a:pPr marL="0" indent="0">
              <a:buNone/>
            </a:pPr>
            <a:r>
              <a:rPr lang="en-US" dirty="0" smtClean="0">
                <a:latin typeface="Times New Roman" panose="02020603050405020304" pitchFamily="18" charset="0"/>
                <a:cs typeface="Times New Roman" panose="02020603050405020304" pitchFamily="18" charset="0"/>
              </a:rPr>
              <a:t>Examples of communication devices:</a:t>
            </a:r>
          </a:p>
          <a:p>
            <a:pPr lvl="1"/>
            <a:r>
              <a:rPr lang="en-US" dirty="0" smtClean="0">
                <a:latin typeface="Times New Roman" panose="02020603050405020304" pitchFamily="18" charset="0"/>
                <a:cs typeface="Times New Roman" panose="02020603050405020304" pitchFamily="18" charset="0"/>
              </a:rPr>
              <a:t>Modem</a:t>
            </a:r>
          </a:p>
          <a:p>
            <a:pPr lvl="1"/>
            <a:r>
              <a:rPr lang="en-US" dirty="0" smtClean="0">
                <a:latin typeface="Times New Roman" panose="02020603050405020304" pitchFamily="18" charset="0"/>
                <a:cs typeface="Times New Roman" panose="02020603050405020304" pitchFamily="18" charset="0"/>
              </a:rPr>
              <a:t>Network Interface Card (NIC)</a:t>
            </a:r>
            <a:r>
              <a:rPr lang="en-US" dirty="0"/>
              <a:t>	</a:t>
            </a:r>
          </a:p>
        </p:txBody>
      </p:sp>
    </p:spTree>
    <p:extLst>
      <p:ext uri="{BB962C8B-B14F-4D97-AF65-F5344CB8AC3E}">
        <p14:creationId xmlns:p14="http://schemas.microsoft.com/office/powerpoint/2010/main" val="1513381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Components (Cont’d)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77876"/>
            <a:ext cx="10515600" cy="4351338"/>
          </a:xfrm>
        </p:spPr>
        <p:txBody>
          <a:bodyPr>
            <a:normAutofit/>
          </a:bodyPr>
          <a:lstStyle/>
          <a:p>
            <a:pPr marL="0" indent="0">
              <a:buNone/>
            </a:pPr>
            <a:r>
              <a:rPr lang="en-US" b="1" dirty="0"/>
              <a:t>Buses and </a:t>
            </a:r>
            <a:r>
              <a:rPr lang="en-US" b="1" dirty="0" smtClean="0"/>
              <a:t>Ports</a:t>
            </a:r>
            <a:endParaRPr lang="en-US" b="1" dirty="0"/>
          </a:p>
          <a:p>
            <a:pPr marL="0" indent="0">
              <a:buNone/>
            </a:pPr>
            <a:r>
              <a:rPr lang="en-US" b="1" dirty="0" smtClean="0">
                <a:latin typeface="Times New Roman" panose="02020603050405020304" pitchFamily="18" charset="0"/>
                <a:cs typeface="Times New Roman" panose="02020603050405020304" pitchFamily="18" charset="0"/>
              </a:rPr>
              <a:t>Buses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Connect different </a:t>
            </a:r>
            <a:r>
              <a:rPr lang="en-US" dirty="0">
                <a:latin typeface="Times New Roman" panose="02020603050405020304" pitchFamily="18" charset="0"/>
                <a:cs typeface="Times New Roman" panose="02020603050405020304" pitchFamily="18" charset="0"/>
              </a:rPr>
              <a:t>parts of the computer </a:t>
            </a:r>
            <a:r>
              <a:rPr lang="en-US" dirty="0" smtClean="0">
                <a:latin typeface="Times New Roman" panose="02020603050405020304" pitchFamily="18" charset="0"/>
                <a:cs typeface="Times New Roman" panose="02020603050405020304" pitchFamily="18" charset="0"/>
              </a:rPr>
              <a:t>together</a:t>
            </a:r>
          </a:p>
          <a:p>
            <a:pPr marL="0" indent="0">
              <a:buNone/>
            </a:pPr>
            <a:r>
              <a:rPr lang="en-US" b="1" dirty="0" smtClean="0">
                <a:latin typeface="Times New Roman" panose="02020603050405020304" pitchFamily="18" charset="0"/>
                <a:cs typeface="Times New Roman" panose="02020603050405020304" pitchFamily="18" charset="0"/>
              </a:rPr>
              <a:t>Ports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Connects </a:t>
            </a:r>
            <a:r>
              <a:rPr lang="en-US" dirty="0">
                <a:latin typeface="Times New Roman" panose="02020603050405020304" pitchFamily="18" charset="0"/>
                <a:cs typeface="Times New Roman" panose="02020603050405020304" pitchFamily="18" charset="0"/>
              </a:rPr>
              <a:t>the computer to the </a:t>
            </a:r>
            <a:r>
              <a:rPr lang="en-US" dirty="0" smtClean="0">
                <a:latin typeface="Times New Roman" panose="02020603050405020304" pitchFamily="18" charset="0"/>
                <a:cs typeface="Times New Roman" panose="02020603050405020304" pitchFamily="18" charset="0"/>
              </a:rPr>
              <a:t>outside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Computer ports are interfaces that allow other devices to be connected to a </a:t>
            </a:r>
            <a:r>
              <a:rPr lang="en-US" dirty="0" smtClean="0">
                <a:latin typeface="Times New Roman" panose="02020603050405020304" pitchFamily="18" charset="0"/>
                <a:cs typeface="Times New Roman" panose="02020603050405020304" pitchFamily="18" charset="0"/>
              </a:rPr>
              <a:t>computer</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Their appearance </a:t>
            </a:r>
            <a:r>
              <a:rPr lang="en-US" dirty="0">
                <a:latin typeface="Times New Roman" panose="02020603050405020304" pitchFamily="18" charset="0"/>
                <a:cs typeface="Times New Roman" panose="02020603050405020304" pitchFamily="18" charset="0"/>
              </a:rPr>
              <a:t>varies widely, depending on their function</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9243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latin typeface="Times New Roman" panose="02020603050405020304" pitchFamily="18" charset="0"/>
                <a:cs typeface="Times New Roman" panose="02020603050405020304" pitchFamily="18" charset="0"/>
              </a:rPr>
              <a:t>Software Components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522924"/>
          </a:xfrm>
        </p:spPr>
        <p:txBody>
          <a:bodyPr>
            <a:normAutofit fontScale="92500" lnSpcReduction="10000"/>
          </a:bodyPr>
          <a:lstStyle/>
          <a:p>
            <a:pPr marL="0" indent="0">
              <a:buNone/>
            </a:pPr>
            <a:r>
              <a:rPr lang="en-US" b="1" dirty="0" smtClean="0">
                <a:latin typeface="Times New Roman" panose="02020603050405020304" pitchFamily="18" charset="0"/>
                <a:cs typeface="Times New Roman" panose="02020603050405020304" pitchFamily="18" charset="0"/>
              </a:rPr>
              <a:t>What is software?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s </a:t>
            </a:r>
            <a:r>
              <a:rPr lang="en-US" dirty="0">
                <a:latin typeface="Times New Roman" panose="02020603050405020304" pitchFamily="18" charset="0"/>
                <a:cs typeface="Times New Roman" panose="02020603050405020304" pitchFamily="18" charset="0"/>
              </a:rPr>
              <a:t>a set of detailed instructions that allow a computer to perform a task or group of </a:t>
            </a:r>
            <a:r>
              <a:rPr lang="en-US" dirty="0" smtClean="0">
                <a:latin typeface="Times New Roman" panose="02020603050405020304" pitchFamily="18" charset="0"/>
                <a:cs typeface="Times New Roman" panose="02020603050405020304" pitchFamily="18" charset="0"/>
              </a:rPr>
              <a:t>tasks.</a:t>
            </a:r>
          </a:p>
          <a:p>
            <a:pPr marL="0" indent="0">
              <a:buNone/>
            </a:pPr>
            <a:r>
              <a:rPr lang="en-US" dirty="0" smtClean="0">
                <a:latin typeface="Times New Roman" panose="02020603050405020304" pitchFamily="18" charset="0"/>
                <a:cs typeface="Times New Roman" panose="02020603050405020304" pitchFamily="18" charset="0"/>
              </a:rPr>
              <a:t>Software is categorized into two:</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System Software</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Application Software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p>
          <a:p>
            <a:pPr marL="514350" indent="-514350">
              <a:buFont typeface="+mj-lt"/>
              <a:buAutoNum type="arabicPeriod"/>
            </a:pPr>
            <a:r>
              <a:rPr lang="en-US" b="1" dirty="0" smtClean="0">
                <a:latin typeface="Times New Roman" panose="02020603050405020304" pitchFamily="18" charset="0"/>
                <a:cs typeface="Times New Roman" panose="02020603050405020304" pitchFamily="18" charset="0"/>
              </a:rPr>
              <a:t>System Software</a:t>
            </a:r>
          </a:p>
          <a:p>
            <a:pPr marL="0" indent="0">
              <a:buNone/>
            </a:pPr>
            <a:r>
              <a:rPr lang="en-US" dirty="0" smtClean="0">
                <a:latin typeface="Times New Roman" panose="02020603050405020304" pitchFamily="18" charset="0"/>
                <a:cs typeface="Times New Roman" panose="02020603050405020304" pitchFamily="18" charset="0"/>
              </a:rPr>
              <a:t>Designed for Computer Centric Tasks. System software include:</a:t>
            </a:r>
          </a:p>
          <a:p>
            <a:pPr lvl="1"/>
            <a:r>
              <a:rPr lang="en-US" dirty="0" smtClean="0">
                <a:latin typeface="Times New Roman" panose="02020603050405020304" pitchFamily="18" charset="0"/>
                <a:cs typeface="Times New Roman" panose="02020603050405020304" pitchFamily="18" charset="0"/>
              </a:rPr>
              <a:t>Operating System</a:t>
            </a:r>
          </a:p>
          <a:p>
            <a:pPr lvl="1"/>
            <a:r>
              <a:rPr lang="en-US" dirty="0" smtClean="0">
                <a:latin typeface="Times New Roman" panose="02020603050405020304" pitchFamily="18" charset="0"/>
                <a:cs typeface="Times New Roman" panose="02020603050405020304" pitchFamily="18" charset="0"/>
              </a:rPr>
              <a:t>Device Drivers</a:t>
            </a:r>
          </a:p>
          <a:p>
            <a:pPr lvl="1"/>
            <a:r>
              <a:rPr lang="en-US" dirty="0" smtClean="0">
                <a:latin typeface="Times New Roman" panose="02020603050405020304" pitchFamily="18" charset="0"/>
                <a:cs typeface="Times New Roman" panose="02020603050405020304" pitchFamily="18" charset="0"/>
              </a:rPr>
              <a:t>Utilities</a:t>
            </a:r>
          </a:p>
          <a:p>
            <a:pPr lvl="1"/>
            <a:r>
              <a:rPr lang="en-US" dirty="0" smtClean="0">
                <a:latin typeface="Times New Roman" panose="02020603050405020304" pitchFamily="18" charset="0"/>
                <a:cs typeface="Times New Roman" panose="02020603050405020304" pitchFamily="18" charset="0"/>
              </a:rPr>
              <a:t>Programming Languages</a:t>
            </a:r>
          </a:p>
          <a:p>
            <a:pPr lvl="1"/>
            <a:endParaRPr lang="en-US" dirty="0"/>
          </a:p>
        </p:txBody>
      </p:sp>
    </p:spTree>
    <p:extLst>
      <p:ext uri="{BB962C8B-B14F-4D97-AF65-F5344CB8AC3E}">
        <p14:creationId xmlns:p14="http://schemas.microsoft.com/office/powerpoint/2010/main" val="274083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t>
            </a:r>
            <a:r>
              <a:rPr lang="en-US" dirty="0" smtClean="0"/>
              <a:t>Components </a:t>
            </a:r>
            <a:r>
              <a:rPr lang="en-US" dirty="0"/>
              <a:t>(Cont’d)</a:t>
            </a:r>
          </a:p>
        </p:txBody>
      </p:sp>
      <p:sp>
        <p:nvSpPr>
          <p:cNvPr id="3" name="Content Placeholder 2"/>
          <p:cNvSpPr>
            <a:spLocks noGrp="1"/>
          </p:cNvSpPr>
          <p:nvPr>
            <p:ph idx="1"/>
          </p:nvPr>
        </p:nvSpPr>
        <p:spPr>
          <a:xfrm>
            <a:off x="838200" y="1825625"/>
            <a:ext cx="10515600" cy="4496798"/>
          </a:xfrm>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Operating System(OS)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s </a:t>
            </a:r>
            <a:r>
              <a:rPr lang="en-US" dirty="0">
                <a:latin typeface="Times New Roman" panose="02020603050405020304" pitchFamily="18" charset="0"/>
                <a:cs typeface="Times New Roman" panose="02020603050405020304" pitchFamily="18" charset="0"/>
              </a:rPr>
              <a:t>software that manages the computer itself, providing such basic functions as the ability to write and read data from a disk or to display images on the </a:t>
            </a:r>
            <a:r>
              <a:rPr lang="en-US" dirty="0" smtClean="0">
                <a:latin typeface="Times New Roman" panose="02020603050405020304" pitchFamily="18" charset="0"/>
                <a:cs typeface="Times New Roman" panose="02020603050405020304" pitchFamily="18" charset="0"/>
              </a:rPr>
              <a:t>monitor</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Interacts with the hardware of the computer by monitoring and sending instructions to manage and direct the computer resources.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Functions as an intermediary between the functions user needs to perform.</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6604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Components (Cont’d)</a:t>
            </a:r>
          </a:p>
        </p:txBody>
      </p:sp>
      <p:sp>
        <p:nvSpPr>
          <p:cNvPr id="3" name="Content Placeholder 2"/>
          <p:cNvSpPr>
            <a:spLocks noGrp="1"/>
          </p:cNvSpPr>
          <p:nvPr>
            <p:ph idx="1"/>
          </p:nvPr>
        </p:nvSpPr>
        <p:spPr/>
        <p:txBody>
          <a:bodyPr/>
          <a:lstStyle/>
          <a:p>
            <a:pPr marL="0" indent="0">
              <a:buNone/>
            </a:pPr>
            <a:r>
              <a:rPr lang="en-US" b="1" dirty="0"/>
              <a:t>Functions of OS</a:t>
            </a:r>
          </a:p>
          <a:p>
            <a:r>
              <a:rPr lang="en-US" dirty="0"/>
              <a:t>Allocating and managing system resources</a:t>
            </a:r>
          </a:p>
          <a:p>
            <a:r>
              <a:rPr lang="en-US" dirty="0"/>
              <a:t>Scheduling the use of resources</a:t>
            </a:r>
          </a:p>
          <a:p>
            <a:r>
              <a:rPr lang="en-US" dirty="0"/>
              <a:t>Monitoring the activities of the computer system</a:t>
            </a:r>
          </a:p>
          <a:p>
            <a:pPr marL="0" indent="0">
              <a:buNone/>
            </a:pPr>
            <a:endParaRPr lang="en-US" dirty="0"/>
          </a:p>
        </p:txBody>
      </p:sp>
    </p:spTree>
    <p:extLst>
      <p:ext uri="{BB962C8B-B14F-4D97-AF65-F5344CB8AC3E}">
        <p14:creationId xmlns:p14="http://schemas.microsoft.com/office/powerpoint/2010/main" val="3982914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Components (Cont’d)</a:t>
            </a: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Operating Systems in use include:</a:t>
            </a:r>
          </a:p>
          <a:p>
            <a:pPr marL="571500" indent="-571500">
              <a:buFont typeface="+mj-lt"/>
              <a:buAutoNum type="romanLcPeriod"/>
            </a:pPr>
            <a:r>
              <a:rPr lang="en-US" b="1" i="1" dirty="0" smtClean="0">
                <a:latin typeface="Times New Roman" panose="02020603050405020304" pitchFamily="18" charset="0"/>
                <a:cs typeface="Times New Roman" panose="02020603050405020304" pitchFamily="18" charset="0"/>
              </a:rPr>
              <a:t>Microsoft Windows OS</a:t>
            </a:r>
            <a:r>
              <a:rPr lang="en-US" dirty="0" smtClean="0">
                <a:latin typeface="Times New Roman" panose="02020603050405020304" pitchFamily="18" charset="0"/>
                <a:cs typeface="Times New Roman" panose="02020603050405020304" pitchFamily="18" charset="0"/>
              </a:rPr>
              <a:t>: </a:t>
            </a:r>
          </a:p>
          <a:p>
            <a:pPr marL="1028700" lvl="1" indent="-571500">
              <a:buFont typeface="+mj-lt"/>
              <a:buAutoNum type="alphaLcParenR"/>
            </a:pPr>
            <a:r>
              <a:rPr lang="en-US" dirty="0" smtClean="0">
                <a:latin typeface="Times New Roman" panose="02020603050405020304" pitchFamily="18" charset="0"/>
                <a:cs typeface="Times New Roman" panose="02020603050405020304" pitchFamily="18" charset="0"/>
              </a:rPr>
              <a:t>Client OS:- Windows XP, Windows Vista, Windows 7, Windows 8, 		        Windows 8.1, Windows 10</a:t>
            </a:r>
          </a:p>
          <a:p>
            <a:pPr marL="1028700" lvl="1" indent="-571500">
              <a:buFont typeface="+mj-lt"/>
              <a:buAutoNum type="alphaLcParenR"/>
            </a:pPr>
            <a:r>
              <a:rPr lang="en-US" dirty="0" smtClean="0">
                <a:latin typeface="Times New Roman" panose="02020603050405020304" pitchFamily="18" charset="0"/>
                <a:cs typeface="Times New Roman" panose="02020603050405020304" pitchFamily="18" charset="0"/>
              </a:rPr>
              <a:t>Network OS (Server OS):- Windows Server 2000, 2003, 2005, 2008 R2, 		                                 2012, 2014</a:t>
            </a:r>
          </a:p>
          <a:p>
            <a:pPr marL="571500" indent="-571500">
              <a:buFont typeface="+mj-lt"/>
              <a:buAutoNum type="romanLcPeriod"/>
            </a:pPr>
            <a:r>
              <a:rPr lang="en-US" b="1" i="1" dirty="0" smtClean="0">
                <a:latin typeface="Times New Roman" panose="02020603050405020304" pitchFamily="18" charset="0"/>
                <a:cs typeface="Times New Roman" panose="02020603050405020304" pitchFamily="18" charset="0"/>
              </a:rPr>
              <a:t>Linux OS</a:t>
            </a:r>
            <a:r>
              <a:rPr lang="en-US" dirty="0" smtClean="0">
                <a:latin typeface="Times New Roman" panose="02020603050405020304" pitchFamily="18" charset="0"/>
                <a:cs typeface="Times New Roman" panose="02020603050405020304" pitchFamily="18" charset="0"/>
              </a:rPr>
              <a:t>: Fedora, </a:t>
            </a:r>
            <a:r>
              <a:rPr lang="en-US" dirty="0" err="1" smtClean="0">
                <a:latin typeface="Times New Roman" panose="02020603050405020304" pitchFamily="18" charset="0"/>
                <a:cs typeface="Times New Roman" panose="02020603050405020304" pitchFamily="18" charset="0"/>
              </a:rPr>
              <a:t>Debian</a:t>
            </a:r>
            <a:r>
              <a:rPr lang="en-US" dirty="0" smtClean="0">
                <a:latin typeface="Times New Roman" panose="02020603050405020304" pitchFamily="18" charset="0"/>
                <a:cs typeface="Times New Roman" panose="02020603050405020304" pitchFamily="18" charset="0"/>
              </a:rPr>
              <a:t>, Linux Mint, Ubuntu, Red hat, </a:t>
            </a:r>
            <a:r>
              <a:rPr lang="en-US" dirty="0" err="1" smtClean="0">
                <a:latin typeface="Times New Roman" panose="02020603050405020304" pitchFamily="18" charset="0"/>
                <a:cs typeface="Times New Roman" panose="02020603050405020304" pitchFamily="18" charset="0"/>
              </a:rPr>
              <a:t>OpenSuse</a:t>
            </a:r>
            <a:r>
              <a:rPr lang="en-US" dirty="0" smtClean="0">
                <a:latin typeface="Times New Roman" panose="02020603050405020304" pitchFamily="18" charset="0"/>
                <a:cs typeface="Times New Roman" panose="02020603050405020304" pitchFamily="18" charset="0"/>
              </a:rPr>
              <a:t>, etc.</a:t>
            </a:r>
          </a:p>
          <a:p>
            <a:pPr marL="571500" indent="-571500">
              <a:buFont typeface="+mj-lt"/>
              <a:buAutoNum type="romanLcPeriod"/>
            </a:pPr>
            <a:r>
              <a:rPr lang="en-US" b="1" i="1" dirty="0" smtClean="0">
                <a:latin typeface="Times New Roman" panose="02020603050405020304" pitchFamily="18" charset="0"/>
                <a:cs typeface="Times New Roman" panose="02020603050405020304" pitchFamily="18" charset="0"/>
              </a:rPr>
              <a:t>Unix OS</a:t>
            </a:r>
            <a:r>
              <a:rPr lang="en-US" dirty="0" smtClean="0">
                <a:latin typeface="Times New Roman" panose="02020603050405020304" pitchFamily="18" charset="0"/>
                <a:cs typeface="Times New Roman" panose="02020603050405020304" pitchFamily="18" charset="0"/>
              </a:rPr>
              <a:t>: Free BSD, HP-UX, Solaris, AIX, etc.</a:t>
            </a:r>
          </a:p>
          <a:p>
            <a:pPr marL="571500" indent="-571500">
              <a:buFont typeface="+mj-lt"/>
              <a:buAutoNum type="romanLcPeriod"/>
            </a:pPr>
            <a:r>
              <a:rPr lang="en-US" b="1" dirty="0" smtClean="0">
                <a:latin typeface="Times New Roman" panose="02020603050405020304" pitchFamily="18" charset="0"/>
                <a:cs typeface="Times New Roman" panose="02020603050405020304" pitchFamily="18" charset="0"/>
              </a:rPr>
              <a:t> </a:t>
            </a:r>
            <a:r>
              <a:rPr lang="en-US" b="1" i="1" dirty="0" smtClean="0">
                <a:latin typeface="Times New Roman" panose="02020603050405020304" pitchFamily="18" charset="0"/>
                <a:cs typeface="Times New Roman" panose="02020603050405020304" pitchFamily="18" charset="0"/>
              </a:rPr>
              <a:t>Mac OS X : </a:t>
            </a:r>
            <a:r>
              <a:rPr lang="en-US" dirty="0" smtClean="0">
                <a:latin typeface="Times New Roman" panose="02020603050405020304" pitchFamily="18" charset="0"/>
                <a:cs typeface="Times New Roman" panose="02020603050405020304" pitchFamily="18" charset="0"/>
              </a:rPr>
              <a:t>Leopard, Tiger, Lion, Cheetah </a:t>
            </a:r>
            <a:endParaRPr lang="en-US"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5935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prstClr val="black"/>
                </a:solidFill>
              </a:rPr>
              <a:t>Software Components (Cont’d)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t>32-BIT AND 64-BIT ARCHITECTURES OF OS</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(x64</a:t>
            </a:r>
            <a:r>
              <a:rPr lang="en-US" dirty="0">
                <a:latin typeface="Times New Roman" panose="02020603050405020304" pitchFamily="18" charset="0"/>
                <a:cs typeface="Times New Roman" panose="02020603050405020304" pitchFamily="18" charset="0"/>
              </a:rPr>
              <a:t>) 64-bit and (x86) 32-bit refers to the way </a:t>
            </a: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processor or CPU can handle its information according to the width of registers and memory addressing </a:t>
            </a:r>
            <a:r>
              <a:rPr lang="en-US" dirty="0" smtClean="0">
                <a:latin typeface="Times New Roman" panose="02020603050405020304" pitchFamily="18" charset="0"/>
                <a:cs typeface="Times New Roman" panose="02020603050405020304" pitchFamily="18" charset="0"/>
              </a:rPr>
              <a:t>space.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64 bit </a:t>
            </a:r>
            <a:r>
              <a:rPr lang="en-US" dirty="0" smtClean="0">
                <a:latin typeface="Times New Roman" panose="02020603050405020304" pitchFamily="18" charset="0"/>
                <a:cs typeface="Times New Roman" panose="02020603050405020304" pitchFamily="18" charset="0"/>
              </a:rPr>
              <a:t>version </a:t>
            </a:r>
            <a:r>
              <a:rPr lang="en-US" dirty="0">
                <a:latin typeface="Times New Roman" panose="02020603050405020304" pitchFamily="18" charset="0"/>
                <a:cs typeface="Times New Roman" panose="02020603050405020304" pitchFamily="18" charset="0"/>
              </a:rPr>
              <a:t>handles large amount of Random Access Memory (RAM) more effectively compared to a 32 bit </a:t>
            </a:r>
            <a:r>
              <a:rPr lang="en-US" dirty="0" smtClean="0">
                <a:latin typeface="Times New Roman" panose="02020603050405020304" pitchFamily="18" charset="0"/>
                <a:cs typeface="Times New Roman" panose="02020603050405020304" pitchFamily="18" charset="0"/>
              </a:rPr>
              <a:t>system.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is so because a 32 bit Processors can reference maximum of 4GB of memory which is </a:t>
            </a:r>
            <a:r>
              <a:rPr lang="en-US" dirty="0" smtClean="0">
                <a:latin typeface="Times New Roman" panose="02020603050405020304" pitchFamily="18" charset="0"/>
                <a:cs typeface="Times New Roman" panose="02020603050405020304" pitchFamily="18" charset="0"/>
              </a:rPr>
              <a:t>2</a:t>
            </a:r>
            <a:r>
              <a:rPr lang="en-US" baseline="30000" dirty="0" smtClean="0">
                <a:latin typeface="Times New Roman" panose="02020603050405020304" pitchFamily="18" charset="0"/>
                <a:cs typeface="Times New Roman" panose="02020603050405020304" pitchFamily="18" charset="0"/>
              </a:rPr>
              <a:t>32</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bytes</a:t>
            </a:r>
            <a:r>
              <a:rPr lang="en-US" dirty="0">
                <a:latin typeface="Times New Roman" panose="02020603050405020304" pitchFamily="18" charset="0"/>
                <a:cs typeface="Times New Roman" panose="02020603050405020304" pitchFamily="18" charset="0"/>
              </a:rPr>
              <a:t>, while a 64 bit processors can </a:t>
            </a:r>
            <a:r>
              <a:rPr lang="en-US" dirty="0" smtClean="0">
                <a:latin typeface="Times New Roman" panose="02020603050405020304" pitchFamily="18" charset="0"/>
                <a:cs typeface="Times New Roman" panose="02020603050405020304" pitchFamily="18" charset="0"/>
              </a:rPr>
              <a:t>reference memory up to 2</a:t>
            </a:r>
            <a:r>
              <a:rPr lang="en-US" baseline="30000" dirty="0" smtClean="0">
                <a:latin typeface="Times New Roman" panose="02020603050405020304" pitchFamily="18" charset="0"/>
                <a:cs typeface="Times New Roman" panose="02020603050405020304" pitchFamily="18" charset="0"/>
              </a:rPr>
              <a:t>64</a:t>
            </a:r>
            <a:r>
              <a:rPr lang="en-US" dirty="0" smtClean="0">
                <a:latin typeface="Times New Roman" panose="02020603050405020304" pitchFamily="18" charset="0"/>
                <a:cs typeface="Times New Roman" panose="02020603050405020304" pitchFamily="18" charset="0"/>
              </a:rPr>
              <a:t> bytes</a:t>
            </a:r>
            <a:r>
              <a:rPr lang="en-US" dirty="0">
                <a:latin typeface="Times New Roman" panose="02020603050405020304" pitchFamily="18" charset="0"/>
                <a:cs typeface="Times New Roman" panose="02020603050405020304" pitchFamily="18" charset="0"/>
              </a:rPr>
              <a:t>, which is 4 billion times to the memory location of 32-bit processors</a:t>
            </a:r>
            <a:r>
              <a:rPr lang="en-US" dirty="0"/>
              <a:t>.</a:t>
            </a:r>
          </a:p>
        </p:txBody>
      </p:sp>
    </p:spTree>
    <p:extLst>
      <p:ext uri="{BB962C8B-B14F-4D97-AF65-F5344CB8AC3E}">
        <p14:creationId xmlns:p14="http://schemas.microsoft.com/office/powerpoint/2010/main" val="13159309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Components (Cont’d)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Programs designed for the 32-bit systems will work on 64 bit </a:t>
            </a:r>
            <a:r>
              <a:rPr lang="en-US" dirty="0" smtClean="0">
                <a:latin typeface="Times New Roman" panose="02020603050405020304" pitchFamily="18" charset="0"/>
                <a:cs typeface="Times New Roman" panose="02020603050405020304" pitchFamily="18" charset="0"/>
              </a:rPr>
              <a:t>system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However programs specifically designed for 64 bit version cannot work on the 32 bit </a:t>
            </a:r>
            <a:r>
              <a:rPr lang="en-US" dirty="0" smtClean="0">
                <a:latin typeface="Times New Roman" panose="02020603050405020304" pitchFamily="18" charset="0"/>
                <a:cs typeface="Times New Roman" panose="02020603050405020304" pitchFamily="18" charset="0"/>
              </a:rPr>
              <a:t>system.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main difference between 32 bit and 64 bit </a:t>
            </a:r>
            <a:r>
              <a:rPr lang="en-US" dirty="0" smtClean="0">
                <a:latin typeface="Times New Roman" panose="02020603050405020304" pitchFamily="18" charset="0"/>
                <a:cs typeface="Times New Roman" panose="02020603050405020304" pitchFamily="18" charset="0"/>
              </a:rPr>
              <a:t>architecture </a:t>
            </a:r>
            <a:r>
              <a:rPr lang="en-US" dirty="0">
                <a:latin typeface="Times New Roman" panose="02020603050405020304" pitchFamily="18" charset="0"/>
                <a:cs typeface="Times New Roman" panose="02020603050405020304" pitchFamily="18" charset="0"/>
              </a:rPr>
              <a:t>relate to memory accessibility, memory management and enhanced security issues which are supported in 64 bit architecture but not in 32 bit </a:t>
            </a:r>
            <a:r>
              <a:rPr lang="en-US" dirty="0" smtClean="0">
                <a:latin typeface="Times New Roman" panose="02020603050405020304" pitchFamily="18" charset="0"/>
                <a:cs typeface="Times New Roman" panose="02020603050405020304" pitchFamily="18" charset="0"/>
              </a:rPr>
              <a:t>system.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security features that are available in the 64 bit </a:t>
            </a:r>
            <a:r>
              <a:rPr lang="en-US" dirty="0" smtClean="0">
                <a:latin typeface="Times New Roman" panose="02020603050405020304" pitchFamily="18" charset="0"/>
                <a:cs typeface="Times New Roman" panose="02020603050405020304" pitchFamily="18" charset="0"/>
              </a:rPr>
              <a:t>version </a:t>
            </a:r>
            <a:r>
              <a:rPr lang="en-US" dirty="0">
                <a:latin typeface="Times New Roman" panose="02020603050405020304" pitchFamily="18" charset="0"/>
                <a:cs typeface="Times New Roman" panose="02020603050405020304" pitchFamily="18" charset="0"/>
              </a:rPr>
              <a:t>include kernel patch protection, mandatory driver signing and support for hardware backed Data Execution Protection (DEP).</a:t>
            </a:r>
          </a:p>
        </p:txBody>
      </p:sp>
    </p:spTree>
    <p:extLst>
      <p:ext uri="{BB962C8B-B14F-4D97-AF65-F5344CB8AC3E}">
        <p14:creationId xmlns:p14="http://schemas.microsoft.com/office/powerpoint/2010/main" val="3993860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prstClr val="black"/>
                </a:solidFill>
              </a:rPr>
              <a:t>Software Components (Cont’d)</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59224" y="1865966"/>
            <a:ext cx="10515600" cy="4351338"/>
          </a:xfrm>
        </p:spPr>
        <p:txBody>
          <a:bodyPr/>
          <a:lstStyle/>
          <a:p>
            <a:pPr marL="0" indent="0">
              <a:buNone/>
            </a:pPr>
            <a:r>
              <a:rPr lang="en-US" b="1" dirty="0"/>
              <a:t>Advantages of 64 bit over 32 bit architectures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Following </a:t>
            </a:r>
            <a:r>
              <a:rPr lang="en-US" dirty="0">
                <a:latin typeface="Times New Roman" panose="02020603050405020304" pitchFamily="18" charset="0"/>
                <a:cs typeface="Times New Roman" panose="02020603050405020304" pitchFamily="18" charset="0"/>
              </a:rPr>
              <a:t>are the advantages of a 64 bit over 32 bit system architectures: </a:t>
            </a:r>
          </a:p>
          <a:p>
            <a:pPr marL="571500" indent="-571500">
              <a:buFont typeface="+mj-lt"/>
              <a:buAutoNum type="romanLcPeriod"/>
            </a:pPr>
            <a:r>
              <a:rPr lang="en-US" dirty="0" smtClean="0">
                <a:latin typeface="Times New Roman" panose="02020603050405020304" pitchFamily="18" charset="0"/>
                <a:cs typeface="Times New Roman" panose="02020603050405020304" pitchFamily="18" charset="0"/>
              </a:rPr>
              <a:t>Increased </a:t>
            </a:r>
            <a:r>
              <a:rPr lang="en-US" dirty="0">
                <a:latin typeface="Times New Roman" panose="02020603050405020304" pitchFamily="18" charset="0"/>
                <a:cs typeface="Times New Roman" panose="02020603050405020304" pitchFamily="18" charset="0"/>
              </a:rPr>
              <a:t>memory support beyond that of the 4GB addressable memory space that is available in a 32 bit system. </a:t>
            </a:r>
          </a:p>
          <a:p>
            <a:pPr marL="571500" indent="-571500">
              <a:buFont typeface="+mj-lt"/>
              <a:buAutoNum type="romanLcPeriod"/>
            </a:pPr>
            <a:r>
              <a:rPr lang="en-US" dirty="0" smtClean="0">
                <a:latin typeface="Times New Roman" panose="02020603050405020304" pitchFamily="18" charset="0"/>
                <a:cs typeface="Times New Roman" panose="02020603050405020304" pitchFamily="18" charset="0"/>
              </a:rPr>
              <a:t>Increased </a:t>
            </a:r>
            <a:r>
              <a:rPr lang="en-US" dirty="0">
                <a:latin typeface="Times New Roman" panose="02020603050405020304" pitchFamily="18" charset="0"/>
                <a:cs typeface="Times New Roman" panose="02020603050405020304" pitchFamily="18" charset="0"/>
              </a:rPr>
              <a:t>program performance for programs that are written to take advantage of 64 bit architecture; this is because of large quantity of available memory </a:t>
            </a:r>
          </a:p>
          <a:p>
            <a:endParaRPr lang="en-US" dirty="0"/>
          </a:p>
        </p:txBody>
      </p:sp>
    </p:spTree>
    <p:extLst>
      <p:ext uri="{BB962C8B-B14F-4D97-AF65-F5344CB8AC3E}">
        <p14:creationId xmlns:p14="http://schemas.microsoft.com/office/powerpoint/2010/main" val="35723185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prstClr val="black"/>
                </a:solidFill>
              </a:rPr>
              <a:t>Software Components (Cont’d)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t>Disadvantages of 64 bit over 32 bit architectures </a:t>
            </a:r>
            <a:endParaRPr lang="en-US" dirty="0"/>
          </a:p>
          <a:p>
            <a:pPr marL="0" indent="0">
              <a:buNone/>
            </a:pPr>
            <a:r>
              <a:rPr lang="en-US" dirty="0" smtClean="0">
                <a:latin typeface="Times New Roman" panose="02020603050405020304" pitchFamily="18" charset="0"/>
                <a:cs typeface="Times New Roman" panose="02020603050405020304" pitchFamily="18" charset="0"/>
              </a:rPr>
              <a:t>Following </a:t>
            </a:r>
            <a:r>
              <a:rPr lang="en-US" dirty="0">
                <a:latin typeface="Times New Roman" panose="02020603050405020304" pitchFamily="18" charset="0"/>
                <a:cs typeface="Times New Roman" panose="02020603050405020304" pitchFamily="18" charset="0"/>
              </a:rPr>
              <a:t>are the disadvantages of a 64 bit over 32 bit system architectures: </a:t>
            </a:r>
          </a:p>
          <a:p>
            <a:pPr marL="571500" indent="-571500">
              <a:buFont typeface="+mj-lt"/>
              <a:buAutoNum type="romanLcPeriod"/>
            </a:pPr>
            <a:r>
              <a:rPr lang="en-US" dirty="0" smtClean="0">
                <a:latin typeface="Times New Roman" panose="02020603050405020304" pitchFamily="18" charset="0"/>
                <a:cs typeface="Times New Roman" panose="02020603050405020304" pitchFamily="18" charset="0"/>
              </a:rPr>
              <a:t>64 </a:t>
            </a:r>
            <a:r>
              <a:rPr lang="en-US" dirty="0">
                <a:latin typeface="Times New Roman" panose="02020603050405020304" pitchFamily="18" charset="0"/>
                <a:cs typeface="Times New Roman" panose="02020603050405020304" pitchFamily="18" charset="0"/>
              </a:rPr>
              <a:t>bit device drivers may not be available for one or more devices </a:t>
            </a:r>
            <a:r>
              <a:rPr lang="en-US" dirty="0" smtClean="0">
                <a:latin typeface="Times New Roman" panose="02020603050405020304" pitchFamily="18" charset="0"/>
                <a:cs typeface="Times New Roman" panose="02020603050405020304" pitchFamily="18" charset="0"/>
              </a:rPr>
              <a:t>in computer system. </a:t>
            </a:r>
            <a:endParaRPr lang="en-US" dirty="0">
              <a:latin typeface="Times New Roman" panose="02020603050405020304" pitchFamily="18" charset="0"/>
              <a:cs typeface="Times New Roman" panose="02020603050405020304" pitchFamily="18" charset="0"/>
            </a:endParaRPr>
          </a:p>
          <a:p>
            <a:pPr marL="571500" indent="-571500">
              <a:buFont typeface="+mj-lt"/>
              <a:buAutoNum type="romanLcPeriod"/>
            </a:pPr>
            <a:r>
              <a:rPr lang="en-US" dirty="0" smtClean="0">
                <a:latin typeface="Times New Roman" panose="02020603050405020304" pitchFamily="18" charset="0"/>
                <a:cs typeface="Times New Roman" panose="02020603050405020304" pitchFamily="18" charset="0"/>
              </a:rPr>
              <a:t>Device </a:t>
            </a:r>
            <a:r>
              <a:rPr lang="en-US" dirty="0">
                <a:latin typeface="Times New Roman" panose="02020603050405020304" pitchFamily="18" charset="0"/>
                <a:cs typeface="Times New Roman" panose="02020603050405020304" pitchFamily="18" charset="0"/>
              </a:rPr>
              <a:t>drivers must be digitally signed </a:t>
            </a:r>
          </a:p>
          <a:p>
            <a:pPr marL="571500" indent="-571500">
              <a:buFont typeface="+mj-lt"/>
              <a:buAutoNum type="romanLcPeriod"/>
            </a:pPr>
            <a:r>
              <a:rPr lang="en-US" dirty="0" smtClean="0">
                <a:latin typeface="Times New Roman" panose="02020603050405020304" pitchFamily="18" charset="0"/>
                <a:cs typeface="Times New Roman" panose="02020603050405020304" pitchFamily="18" charset="0"/>
              </a:rPr>
              <a:t>32-bit </a:t>
            </a:r>
            <a:r>
              <a:rPr lang="en-US" dirty="0">
                <a:latin typeface="Times New Roman" panose="02020603050405020304" pitchFamily="18" charset="0"/>
                <a:cs typeface="Times New Roman" panose="02020603050405020304" pitchFamily="18" charset="0"/>
              </a:rPr>
              <a:t>devices drivers are not supported </a:t>
            </a:r>
          </a:p>
          <a:p>
            <a:pPr marL="571500" indent="-571500">
              <a:buFont typeface="+mj-lt"/>
              <a:buAutoNum type="romanLcPeriod"/>
            </a:pPr>
            <a:r>
              <a:rPr lang="en-US" dirty="0" smtClean="0">
                <a:latin typeface="Times New Roman" panose="02020603050405020304" pitchFamily="18" charset="0"/>
                <a:cs typeface="Times New Roman" panose="02020603050405020304" pitchFamily="18" charset="0"/>
              </a:rPr>
              <a:t>32 </a:t>
            </a:r>
            <a:r>
              <a:rPr lang="en-US" dirty="0">
                <a:latin typeface="Times New Roman" panose="02020603050405020304" pitchFamily="18" charset="0"/>
                <a:cs typeface="Times New Roman" panose="02020603050405020304" pitchFamily="18" charset="0"/>
              </a:rPr>
              <a:t>bit programs may not be fully compatible with the 64 bit system </a:t>
            </a:r>
          </a:p>
          <a:p>
            <a:pPr marL="571500" indent="-571500">
              <a:buFont typeface="+mj-lt"/>
              <a:buAutoNum type="romanL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1807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Utility Software</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Provide range of tools that support the operation and management of a computer system</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Programs that monitor system performance and provide security controls.</a:t>
            </a:r>
          </a:p>
          <a:p>
            <a:pPr marL="0" indent="0">
              <a:buNone/>
            </a:pPr>
            <a:r>
              <a:rPr lang="en-US" dirty="0" smtClean="0">
                <a:latin typeface="Times New Roman" panose="02020603050405020304" pitchFamily="18" charset="0"/>
                <a:cs typeface="Times New Roman" panose="02020603050405020304" pitchFamily="18" charset="0"/>
              </a:rPr>
              <a:t>Examples of Utility software include:</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Antivirus i.e. Norton, McAfee, </a:t>
            </a:r>
            <a:r>
              <a:rPr lang="en-US" dirty="0" err="1" smtClean="0">
                <a:latin typeface="Times New Roman" panose="02020603050405020304" pitchFamily="18" charset="0"/>
                <a:cs typeface="Times New Roman" panose="02020603050405020304" pitchFamily="18" charset="0"/>
              </a:rPr>
              <a:t>Avast</a:t>
            </a:r>
            <a:r>
              <a:rPr lang="en-US" dirty="0" smtClean="0">
                <a:latin typeface="Times New Roman" panose="02020603050405020304" pitchFamily="18" charset="0"/>
                <a:cs typeface="Times New Roman" panose="02020603050405020304" pitchFamily="18" charset="0"/>
              </a:rPr>
              <a:t> etc.</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System Utilities: </a:t>
            </a:r>
            <a:r>
              <a:rPr lang="en-US" dirty="0" err="1" smtClean="0">
                <a:latin typeface="Times New Roman" panose="02020603050405020304" pitchFamily="18" charset="0"/>
                <a:cs typeface="Times New Roman" panose="02020603050405020304" pitchFamily="18" charset="0"/>
              </a:rPr>
              <a:t>TuneUp</a:t>
            </a:r>
            <a:r>
              <a:rPr lang="en-US" dirty="0" smtClean="0">
                <a:latin typeface="Times New Roman" panose="02020603050405020304" pitchFamily="18" charset="0"/>
                <a:cs typeface="Times New Roman" panose="02020603050405020304" pitchFamily="18" charset="0"/>
              </a:rPr>
              <a:t> Utilities, Advanced System Optimizer</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Firewall</a:t>
            </a:r>
          </a:p>
          <a:p>
            <a:pPr marL="1028700" lvl="1" indent="-571500">
              <a:buFont typeface="+mj-lt"/>
              <a:buAutoNum type="romanLcPeriod"/>
            </a:pPr>
            <a:r>
              <a:rPr lang="en-US" dirty="0" smtClean="0">
                <a:latin typeface="Times New Roman" panose="02020603050405020304" pitchFamily="18" charset="0"/>
                <a:cs typeface="Times New Roman" panose="02020603050405020304" pitchFamily="18" charset="0"/>
              </a:rPr>
              <a:t>Backup Utilities</a:t>
            </a:r>
          </a:p>
          <a:p>
            <a:pPr marL="1028700" lvl="1" indent="-571500">
              <a:buFont typeface="+mj-lt"/>
              <a:buAutoNum type="romanLcPeriod"/>
            </a:pPr>
            <a:endParaRPr lang="en-US" dirty="0" smtClean="0"/>
          </a:p>
        </p:txBody>
      </p:sp>
    </p:spTree>
    <p:extLst>
      <p:ext uri="{BB962C8B-B14F-4D97-AF65-F5344CB8AC3E}">
        <p14:creationId xmlns:p14="http://schemas.microsoft.com/office/powerpoint/2010/main" val="42453839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latin typeface="Times New Roman" panose="02020603050405020304" pitchFamily="18" charset="0"/>
                <a:cs typeface="Times New Roman" panose="02020603050405020304" pitchFamily="18" charset="0"/>
              </a:rPr>
              <a:t>Programming Languages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Allow users to develop their own software in order to carry out processing tasks.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These are software development programs</a:t>
            </a:r>
          </a:p>
          <a:p>
            <a:pPr marL="0" indent="0">
              <a:buNone/>
            </a:pPr>
            <a:r>
              <a:rPr lang="en-US" dirty="0" smtClean="0">
                <a:latin typeface="Times New Roman" panose="02020603050405020304" pitchFamily="18" charset="0"/>
                <a:cs typeface="Times New Roman" panose="02020603050405020304" pitchFamily="18" charset="0"/>
              </a:rPr>
              <a:t>Examples of Programming languages include:</a:t>
            </a:r>
          </a:p>
          <a:p>
            <a:pPr lvl="1"/>
            <a:r>
              <a:rPr lang="en-US" dirty="0" smtClean="0">
                <a:latin typeface="Times New Roman" panose="02020603050405020304" pitchFamily="18" charset="0"/>
                <a:cs typeface="Times New Roman" panose="02020603050405020304" pitchFamily="18" charset="0"/>
              </a:rPr>
              <a:t>C</a:t>
            </a:r>
          </a:p>
          <a:p>
            <a:pPr lvl="1"/>
            <a:r>
              <a:rPr lang="en-US" dirty="0" smtClean="0">
                <a:latin typeface="Times New Roman" panose="02020603050405020304" pitchFamily="18" charset="0"/>
                <a:cs typeface="Times New Roman" panose="02020603050405020304" pitchFamily="18" charset="0"/>
              </a:rPr>
              <a:t>Java</a:t>
            </a:r>
          </a:p>
          <a:p>
            <a:pPr lvl="1"/>
            <a:r>
              <a:rPr lang="en-US" dirty="0" smtClean="0">
                <a:latin typeface="Times New Roman" panose="02020603050405020304" pitchFamily="18" charset="0"/>
                <a:cs typeface="Times New Roman" panose="02020603050405020304" pitchFamily="18" charset="0"/>
              </a:rPr>
              <a:t>Visual Basic</a:t>
            </a:r>
          </a:p>
          <a:p>
            <a:pPr lvl="1"/>
            <a:r>
              <a:rPr lang="en-US" dirty="0" smtClean="0">
                <a:latin typeface="Times New Roman" panose="02020603050405020304" pitchFamily="18" charset="0"/>
                <a:cs typeface="Times New Roman" panose="02020603050405020304" pitchFamily="18" charset="0"/>
              </a:rPr>
              <a:t>C++</a:t>
            </a:r>
          </a:p>
          <a:p>
            <a:pPr lvl="1"/>
            <a:r>
              <a:rPr lang="en-US" dirty="0" smtClean="0">
                <a:latin typeface="Times New Roman" panose="02020603050405020304" pitchFamily="18" charset="0"/>
                <a:cs typeface="Times New Roman" panose="02020603050405020304" pitchFamily="18" charset="0"/>
              </a:rPr>
              <a:t>etc.</a:t>
            </a:r>
          </a:p>
        </p:txBody>
      </p:sp>
    </p:spTree>
    <p:extLst>
      <p:ext uri="{BB962C8B-B14F-4D97-AF65-F5344CB8AC3E}">
        <p14:creationId xmlns:p14="http://schemas.microsoft.com/office/powerpoint/2010/main" val="458886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Device Drivers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This is the software that helps a peripheral device establish communication with a computer.</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This type of system software is used by Printers, Monitors, Mouse, Keyboard and other devices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 device driver automatically starts when it is needed.</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Device Drivers run in the background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903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a:xfrm>
            <a:off x="838200" y="1690687"/>
            <a:ext cx="10515600" cy="4488043"/>
          </a:xfrm>
        </p:spPr>
        <p:txBody>
          <a:bodyPr>
            <a:normAutofit lnSpcReduction="10000"/>
          </a:bodyPr>
          <a:lstStyle/>
          <a:p>
            <a:pPr marL="0" indent="0">
              <a:buNone/>
            </a:pPr>
            <a:r>
              <a:rPr lang="en-US" sz="3200" b="1" dirty="0"/>
              <a:t>2. Application Software</a:t>
            </a:r>
            <a:endParaRPr lang="en-US" sz="3200" dirty="0" smtClean="0"/>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set of programs that enable users to perform specific information processing activities.</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are programs </a:t>
            </a:r>
            <a:r>
              <a:rPr lang="en-US" dirty="0" smtClean="0">
                <a:latin typeface="Times New Roman" panose="02020603050405020304" pitchFamily="18" charset="0"/>
                <a:cs typeface="Times New Roman" panose="02020603050405020304" pitchFamily="18" charset="0"/>
              </a:rPr>
              <a:t>designed </a:t>
            </a:r>
            <a:r>
              <a:rPr lang="en-US" dirty="0">
                <a:latin typeface="Times New Roman" panose="02020603050405020304" pitchFamily="18" charset="0"/>
                <a:cs typeface="Times New Roman" panose="02020603050405020304" pitchFamily="18" charset="0"/>
              </a:rPr>
              <a:t>to perform specific user-oriented tasks </a:t>
            </a:r>
            <a:endParaRPr lang="en-US" dirty="0" smtClean="0">
              <a:latin typeface="Times New Roman" panose="02020603050405020304" pitchFamily="18" charset="0"/>
              <a:cs typeface="Times New Roman" panose="02020603050405020304" pitchFamily="18" charset="0"/>
            </a:endParaRPr>
          </a:p>
          <a:p>
            <a:pPr marL="0" indent="0">
              <a:buNone/>
            </a:pPr>
            <a:r>
              <a:rPr lang="en-US" b="1" i="1" dirty="0" smtClean="0">
                <a:latin typeface="Times New Roman" panose="02020603050405020304" pitchFamily="18" charset="0"/>
                <a:cs typeface="Times New Roman" panose="02020603050405020304" pitchFamily="18" charset="0"/>
              </a:rPr>
              <a:t>What is Productivity Software?</a:t>
            </a:r>
          </a:p>
          <a:p>
            <a:pPr marL="0" indent="0">
              <a:buNone/>
            </a:pPr>
            <a:r>
              <a:rPr lang="en-US" dirty="0" smtClean="0">
                <a:latin typeface="Times New Roman" panose="02020603050405020304" pitchFamily="18" charset="0"/>
                <a:cs typeface="Times New Roman" panose="02020603050405020304" pitchFamily="18" charset="0"/>
              </a:rPr>
              <a:t>Type of application software that has the potential to help people do their work more efficiently.</a:t>
            </a:r>
          </a:p>
          <a:p>
            <a:pPr marL="0" indent="0">
              <a:buNone/>
            </a:pPr>
            <a:r>
              <a:rPr lang="en-US" b="1" i="1" dirty="0" smtClean="0">
                <a:latin typeface="Times New Roman" panose="02020603050405020304" pitchFamily="18" charset="0"/>
                <a:cs typeface="Times New Roman" panose="02020603050405020304" pitchFamily="18" charset="0"/>
              </a:rPr>
              <a:t>What is Groupware?</a:t>
            </a:r>
          </a:p>
          <a:p>
            <a:pPr marL="0" indent="0">
              <a:buNone/>
            </a:pPr>
            <a:r>
              <a:rPr lang="en-US" dirty="0" smtClean="0">
                <a:latin typeface="Times New Roman" panose="02020603050405020304" pitchFamily="18" charset="0"/>
                <a:cs typeface="Times New Roman" panose="02020603050405020304" pitchFamily="18" charset="0"/>
              </a:rPr>
              <a:t>Type of application software designed to help several people collaborate on a single project using Local Networks or Internet.</a:t>
            </a:r>
          </a:p>
          <a:p>
            <a:pPr marL="0" indent="0">
              <a:buNone/>
            </a:pPr>
            <a:endParaRPr lang="en-US" i="1" dirty="0" smtClean="0"/>
          </a:p>
        </p:txBody>
      </p:sp>
    </p:spTree>
    <p:extLst>
      <p:ext uri="{BB962C8B-B14F-4D97-AF65-F5344CB8AC3E}">
        <p14:creationId xmlns:p14="http://schemas.microsoft.com/office/powerpoint/2010/main" val="3741323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Application software </a:t>
            </a:r>
            <a:r>
              <a:rPr lang="en-US" dirty="0"/>
              <a:t>has a variety of uses:</a:t>
            </a:r>
          </a:p>
          <a:p>
            <a:pPr lvl="1"/>
            <a:r>
              <a:rPr lang="en-US" sz="2800" dirty="0" smtClean="0"/>
              <a:t>To </a:t>
            </a:r>
            <a:r>
              <a:rPr lang="en-US" sz="2800" dirty="0"/>
              <a:t>make business activities more efficient</a:t>
            </a:r>
          </a:p>
          <a:p>
            <a:pPr lvl="1"/>
            <a:r>
              <a:rPr lang="en-US" sz="2800" dirty="0" smtClean="0"/>
              <a:t>To </a:t>
            </a:r>
            <a:r>
              <a:rPr lang="en-US" sz="2800" dirty="0"/>
              <a:t>assist with graphics and multimedia projects</a:t>
            </a:r>
          </a:p>
          <a:p>
            <a:pPr lvl="1"/>
            <a:r>
              <a:rPr lang="en-US" sz="2800" dirty="0" smtClean="0"/>
              <a:t>To </a:t>
            </a:r>
            <a:r>
              <a:rPr lang="en-US" sz="2800" dirty="0"/>
              <a:t>support home, personal, and </a:t>
            </a:r>
            <a:r>
              <a:rPr lang="en-US" sz="2800" dirty="0" smtClean="0"/>
              <a:t>educational tasks</a:t>
            </a:r>
            <a:endParaRPr lang="en-US" sz="2800" dirty="0"/>
          </a:p>
          <a:p>
            <a:pPr lvl="1"/>
            <a:r>
              <a:rPr lang="en-US" sz="2800" dirty="0" smtClean="0"/>
              <a:t>To </a:t>
            </a:r>
            <a:r>
              <a:rPr lang="en-US" sz="2800" dirty="0"/>
              <a:t>facilitate communications</a:t>
            </a:r>
          </a:p>
        </p:txBody>
      </p:sp>
    </p:spTree>
    <p:extLst>
      <p:ext uri="{BB962C8B-B14F-4D97-AF65-F5344CB8AC3E}">
        <p14:creationId xmlns:p14="http://schemas.microsoft.com/office/powerpoint/2010/main" val="35435570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t>Types </a:t>
            </a:r>
            <a:r>
              <a:rPr lang="en-US" b="1" dirty="0"/>
              <a:t>of </a:t>
            </a:r>
            <a:r>
              <a:rPr lang="en-US" b="1" dirty="0" smtClean="0"/>
              <a:t>application software</a:t>
            </a:r>
          </a:p>
          <a:p>
            <a:pPr marL="0" indent="0">
              <a:buNone/>
            </a:pPr>
            <a:r>
              <a:rPr lang="en-US" dirty="0" smtClean="0"/>
              <a:t>Application software are divided into three main types:</a:t>
            </a:r>
          </a:p>
          <a:p>
            <a:pPr marL="1028700" lvl="1" indent="-571500">
              <a:buFont typeface="+mj-lt"/>
              <a:buAutoNum type="romanLcPeriod"/>
            </a:pPr>
            <a:r>
              <a:rPr lang="en-US" dirty="0" smtClean="0"/>
              <a:t>General </a:t>
            </a:r>
            <a:r>
              <a:rPr lang="en-US" dirty="0"/>
              <a:t>Purpose Application Software </a:t>
            </a:r>
            <a:endParaRPr lang="en-US" dirty="0" smtClean="0"/>
          </a:p>
          <a:p>
            <a:pPr marL="1028700" lvl="1" indent="-571500">
              <a:buFont typeface="+mj-lt"/>
              <a:buAutoNum type="romanLcPeriod"/>
            </a:pPr>
            <a:r>
              <a:rPr lang="en-US" dirty="0"/>
              <a:t>Special Purpose Application </a:t>
            </a:r>
            <a:r>
              <a:rPr lang="en-US" dirty="0" smtClean="0"/>
              <a:t>Software</a:t>
            </a:r>
          </a:p>
          <a:p>
            <a:pPr marL="1028700" lvl="1" indent="-571500">
              <a:buFont typeface="+mj-lt"/>
              <a:buAutoNum type="romanLcPeriod"/>
            </a:pPr>
            <a:r>
              <a:rPr lang="en-US" dirty="0"/>
              <a:t>Bespoke Application </a:t>
            </a:r>
            <a:r>
              <a:rPr lang="en-US" dirty="0" smtClean="0"/>
              <a:t>Software</a:t>
            </a:r>
          </a:p>
          <a:p>
            <a:pPr marL="571500" indent="-571500">
              <a:buFont typeface="+mj-lt"/>
              <a:buAutoNum type="romanLcPeriod"/>
            </a:pPr>
            <a:r>
              <a:rPr lang="en-US" b="1" dirty="0"/>
              <a:t>General Purpose Application Software </a:t>
            </a:r>
            <a:endParaRPr lang="en-US" b="1" dirty="0" smtClean="0"/>
          </a:p>
          <a:p>
            <a:r>
              <a:rPr lang="en-US" dirty="0" smtClean="0"/>
              <a:t>Also called “</a:t>
            </a:r>
            <a:r>
              <a:rPr lang="en-US" b="1" dirty="0" smtClean="0"/>
              <a:t>off-the-shelf</a:t>
            </a:r>
            <a:r>
              <a:rPr lang="en-US" dirty="0" smtClean="0"/>
              <a:t>” applications.</a:t>
            </a:r>
          </a:p>
          <a:p>
            <a:r>
              <a:rPr lang="en-US" dirty="0" smtClean="0"/>
              <a:t> Use at </a:t>
            </a:r>
            <a:r>
              <a:rPr lang="en-US" dirty="0"/>
              <a:t>home, university, or at work place to make you more effective and efficient while performing daily </a:t>
            </a:r>
            <a:r>
              <a:rPr lang="en-US" dirty="0" smtClean="0"/>
              <a:t>activities. </a:t>
            </a:r>
          </a:p>
        </p:txBody>
      </p:sp>
    </p:spTree>
    <p:extLst>
      <p:ext uri="{BB962C8B-B14F-4D97-AF65-F5344CB8AC3E}">
        <p14:creationId xmlns:p14="http://schemas.microsoft.com/office/powerpoint/2010/main" val="2972488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t>Popular General Purpose </a:t>
            </a:r>
            <a:r>
              <a:rPr lang="en-US" b="1" dirty="0" smtClean="0"/>
              <a:t>Application </a:t>
            </a:r>
            <a:r>
              <a:rPr lang="en-US" b="1" dirty="0"/>
              <a:t>Software</a:t>
            </a:r>
            <a:endParaRPr lang="en-US" b="1" i="1" dirty="0" smtClean="0">
              <a:latin typeface="Times New Roman" panose="02020603050405020304" pitchFamily="18" charset="0"/>
              <a:cs typeface="Times New Roman" panose="02020603050405020304" pitchFamily="18" charset="0"/>
            </a:endParaRPr>
          </a:p>
          <a:p>
            <a:pPr marL="0" indent="0">
              <a:buNone/>
            </a:pPr>
            <a:r>
              <a:rPr lang="en-US" b="1" i="1" dirty="0" smtClean="0">
                <a:latin typeface="Times New Roman" panose="02020603050405020304" pitchFamily="18" charset="0"/>
                <a:cs typeface="Times New Roman" panose="02020603050405020304" pitchFamily="18" charset="0"/>
              </a:rPr>
              <a:t>Document Production Software</a:t>
            </a:r>
          </a:p>
          <a:p>
            <a:pPr marL="0" indent="0">
              <a:buNone/>
            </a:pPr>
            <a:r>
              <a:rPr lang="en-US" dirty="0" smtClean="0">
                <a:latin typeface="Times New Roman" panose="02020603050405020304" pitchFamily="18" charset="0"/>
                <a:cs typeface="Times New Roman" panose="02020603050405020304" pitchFamily="18" charset="0"/>
              </a:rPr>
              <a:t>Assist in in composing, editing, designing, printing and publishing documents.</a:t>
            </a:r>
          </a:p>
          <a:p>
            <a:pPr marL="0" indent="0">
              <a:buNone/>
            </a:pPr>
            <a:r>
              <a:rPr lang="en-US" dirty="0" smtClean="0">
                <a:latin typeface="Times New Roman" panose="02020603050405020304" pitchFamily="18" charset="0"/>
                <a:cs typeface="Times New Roman" panose="02020603050405020304" pitchFamily="18" charset="0"/>
              </a:rPr>
              <a:t>Most popular types of Document production software include:</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Word Processing Software </a:t>
            </a:r>
            <a:r>
              <a:rPr lang="en-US" dirty="0" smtClean="0">
                <a:latin typeface="Times New Roman" panose="02020603050405020304" pitchFamily="18" charset="0"/>
                <a:cs typeface="Times New Roman" panose="02020603050405020304" pitchFamily="18" charset="0"/>
              </a:rPr>
              <a:t>i.e. Microsoft Word, iWork Pages, </a:t>
            </a:r>
            <a:r>
              <a:rPr lang="en-US" dirty="0" err="1" smtClean="0">
                <a:latin typeface="Times New Roman" panose="02020603050405020304" pitchFamily="18" charset="0"/>
                <a:cs typeface="Times New Roman" panose="02020603050405020304" pitchFamily="18" charset="0"/>
              </a:rPr>
              <a:t>LibreOffice</a:t>
            </a:r>
            <a:r>
              <a:rPr lang="en-US" dirty="0" smtClean="0">
                <a:latin typeface="Times New Roman" panose="02020603050405020304" pitchFamily="18" charset="0"/>
                <a:cs typeface="Times New Roman" panose="02020603050405020304" pitchFamily="18" charset="0"/>
              </a:rPr>
              <a:t> writer and </a:t>
            </a:r>
            <a:r>
              <a:rPr lang="en-US" dirty="0" err="1" smtClean="0">
                <a:latin typeface="Times New Roman" panose="02020603050405020304" pitchFamily="18" charset="0"/>
                <a:cs typeface="Times New Roman" panose="02020603050405020304" pitchFamily="18" charset="0"/>
              </a:rPr>
              <a:t>OpenOffice</a:t>
            </a:r>
            <a:r>
              <a:rPr lang="en-US" dirty="0" smtClean="0">
                <a:latin typeface="Times New Roman" panose="02020603050405020304" pitchFamily="18" charset="0"/>
                <a:cs typeface="Times New Roman" panose="02020603050405020304" pitchFamily="18" charset="0"/>
              </a:rPr>
              <a:t> Writer</a:t>
            </a:r>
          </a:p>
          <a:p>
            <a:pPr>
              <a:buFont typeface="Wingdings" panose="05000000000000000000" pitchFamily="2" charset="2"/>
              <a:buChar char="§"/>
            </a:pPr>
            <a:r>
              <a:rPr lang="en-US" i="1" dirty="0" smtClean="0">
                <a:latin typeface="Times New Roman" panose="02020603050405020304" pitchFamily="18" charset="0"/>
                <a:cs typeface="Times New Roman" panose="02020603050405020304" pitchFamily="18" charset="0"/>
              </a:rPr>
              <a:t>Desktop Publishing Software </a:t>
            </a:r>
            <a:r>
              <a:rPr lang="en-US" dirty="0" smtClean="0">
                <a:latin typeface="Times New Roman" panose="02020603050405020304" pitchFamily="18" charset="0"/>
                <a:cs typeface="Times New Roman" panose="02020603050405020304" pitchFamily="18" charset="0"/>
              </a:rPr>
              <a:t>i.e. QuarkXPress, Adobe InDesign</a:t>
            </a:r>
          </a:p>
          <a:p>
            <a:pPr>
              <a:buFont typeface="Wingdings" panose="05000000000000000000" pitchFamily="2" charset="2"/>
              <a:buChar char="§"/>
            </a:pPr>
            <a:r>
              <a:rPr lang="en-US" i="1" dirty="0" smtClean="0">
                <a:latin typeface="Times New Roman" panose="02020603050405020304" pitchFamily="18" charset="0"/>
                <a:cs typeface="Times New Roman" panose="02020603050405020304" pitchFamily="18" charset="0"/>
              </a:rPr>
              <a:t>Web </a:t>
            </a:r>
            <a:r>
              <a:rPr lang="en-US" i="1" dirty="0">
                <a:latin typeface="Times New Roman" panose="02020603050405020304" pitchFamily="18" charset="0"/>
                <a:cs typeface="Times New Roman" panose="02020603050405020304" pitchFamily="18" charset="0"/>
              </a:rPr>
              <a:t>A</a:t>
            </a:r>
            <a:r>
              <a:rPr lang="en-US" i="1" dirty="0" smtClean="0">
                <a:latin typeface="Times New Roman" panose="02020603050405020304" pitchFamily="18" charset="0"/>
                <a:cs typeface="Times New Roman" panose="02020603050405020304" pitchFamily="18" charset="0"/>
              </a:rPr>
              <a:t>uthoring Software </a:t>
            </a:r>
            <a:r>
              <a:rPr lang="en-US" dirty="0" smtClean="0">
                <a:latin typeface="Times New Roman" panose="02020603050405020304" pitchFamily="18" charset="0"/>
                <a:cs typeface="Times New Roman" panose="02020603050405020304" pitchFamily="18" charset="0"/>
              </a:rPr>
              <a:t>i.e. Amaya, </a:t>
            </a:r>
            <a:r>
              <a:rPr lang="en-US" dirty="0" err="1" smtClean="0">
                <a:latin typeface="Times New Roman" panose="02020603050405020304" pitchFamily="18" charset="0"/>
                <a:cs typeface="Times New Roman" panose="02020603050405020304" pitchFamily="18" charset="0"/>
              </a:rPr>
              <a:t>iWeb</a:t>
            </a:r>
            <a:r>
              <a:rPr lang="en-US" dirty="0" smtClean="0">
                <a:latin typeface="Times New Roman" panose="02020603050405020304" pitchFamily="18" charset="0"/>
                <a:cs typeface="Times New Roman" panose="02020603050405020304" pitchFamily="18" charset="0"/>
              </a:rPr>
              <a:t>, Adobe </a:t>
            </a:r>
            <a:r>
              <a:rPr lang="en-US" dirty="0">
                <a:latin typeface="Times New Roman" panose="02020603050405020304" pitchFamily="18" charset="0"/>
                <a:cs typeface="Times New Roman" panose="02020603050405020304" pitchFamily="18" charset="0"/>
              </a:rPr>
              <a:t>D</a:t>
            </a:r>
            <a:r>
              <a:rPr lang="en-US" dirty="0" smtClean="0">
                <a:latin typeface="Times New Roman" panose="02020603050405020304" pitchFamily="18" charset="0"/>
                <a:cs typeface="Times New Roman" panose="02020603050405020304" pitchFamily="18" charset="0"/>
              </a:rPr>
              <a:t>reamweaver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889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i="1" dirty="0" smtClean="0">
                <a:latin typeface="Times New Roman" panose="02020603050405020304" pitchFamily="18" charset="0"/>
                <a:cs typeface="Times New Roman" panose="02020603050405020304" pitchFamily="18" charset="0"/>
              </a:rPr>
              <a:t>Spreadsheet Software</a:t>
            </a:r>
          </a:p>
          <a:p>
            <a:r>
              <a:rPr lang="en-US" dirty="0" smtClean="0">
                <a:latin typeface="Times New Roman" panose="02020603050405020304" pitchFamily="18" charset="0"/>
                <a:cs typeface="Times New Roman" panose="02020603050405020304" pitchFamily="18" charset="0"/>
              </a:rPr>
              <a:t>Uses Rows and Columns of numbers to create model or representation of a real situation</a:t>
            </a:r>
          </a:p>
          <a:p>
            <a:r>
              <a:rPr lang="en-US" dirty="0" smtClean="0">
                <a:latin typeface="Times New Roman" panose="02020603050405020304" pitchFamily="18" charset="0"/>
                <a:cs typeface="Times New Roman" panose="02020603050405020304" pitchFamily="18" charset="0"/>
              </a:rPr>
              <a:t>Examples of Spreadsheet software include: Microsoft Excel, iWork Numbers, </a:t>
            </a:r>
            <a:r>
              <a:rPr lang="en-US" dirty="0" err="1" smtClean="0">
                <a:latin typeface="Times New Roman" panose="02020603050405020304" pitchFamily="18" charset="0"/>
                <a:cs typeface="Times New Roman" panose="02020603050405020304" pitchFamily="18" charset="0"/>
              </a:rPr>
              <a:t>OpenOffice</a:t>
            </a:r>
            <a:r>
              <a:rPr lang="en-US" dirty="0" smtClean="0">
                <a:latin typeface="Times New Roman" panose="02020603050405020304" pitchFamily="18" charset="0"/>
                <a:cs typeface="Times New Roman" panose="02020603050405020304" pitchFamily="18" charset="0"/>
              </a:rPr>
              <a:t> Calc.</a:t>
            </a:r>
          </a:p>
          <a:p>
            <a:pPr marL="0" indent="0">
              <a:buNone/>
            </a:pPr>
            <a:r>
              <a:rPr lang="en-US" b="1" i="1" dirty="0" smtClean="0">
                <a:latin typeface="Times New Roman" panose="02020603050405020304" pitchFamily="18" charset="0"/>
                <a:cs typeface="Times New Roman" panose="02020603050405020304" pitchFamily="18" charset="0"/>
              </a:rPr>
              <a:t>Database Software</a:t>
            </a:r>
          </a:p>
          <a:p>
            <a:r>
              <a:rPr lang="en-US" dirty="0" smtClean="0">
                <a:latin typeface="Times New Roman" panose="02020603050405020304" pitchFamily="18" charset="0"/>
                <a:cs typeface="Times New Roman" panose="02020603050405020304" pitchFamily="18" charset="0"/>
              </a:rPr>
              <a:t>Examples: Microsoft Access, </a:t>
            </a:r>
            <a:r>
              <a:rPr lang="en-US" dirty="0" err="1" smtClean="0">
                <a:latin typeface="Times New Roman" panose="02020603050405020304" pitchFamily="18" charset="0"/>
                <a:cs typeface="Times New Roman" panose="02020603050405020304" pitchFamily="18" charset="0"/>
              </a:rPr>
              <a:t>OpenOffice</a:t>
            </a:r>
            <a:r>
              <a:rPr lang="en-US" dirty="0" smtClean="0">
                <a:latin typeface="Times New Roman" panose="02020603050405020304" pitchFamily="18" charset="0"/>
                <a:cs typeface="Times New Roman" panose="02020603050405020304" pitchFamily="18" charset="0"/>
              </a:rPr>
              <a:t> Base, Oracle etc. </a:t>
            </a:r>
          </a:p>
        </p:txBody>
      </p:sp>
    </p:spTree>
    <p:extLst>
      <p:ext uri="{BB962C8B-B14F-4D97-AF65-F5344CB8AC3E}">
        <p14:creationId xmlns:p14="http://schemas.microsoft.com/office/powerpoint/2010/main" val="41272395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i="1" dirty="0" smtClean="0">
                <a:latin typeface="Times New Roman" panose="02020603050405020304" pitchFamily="18" charset="0"/>
                <a:cs typeface="Times New Roman" panose="02020603050405020304" pitchFamily="18" charset="0"/>
              </a:rPr>
              <a:t>Graphics Software</a:t>
            </a:r>
          </a:p>
          <a:p>
            <a:r>
              <a:rPr lang="en-US" dirty="0">
                <a:latin typeface="Times New Roman" panose="02020603050405020304" pitchFamily="18" charset="0"/>
                <a:cs typeface="Times New Roman" panose="02020603050405020304" pitchFamily="18" charset="0"/>
              </a:rPr>
              <a:t>Computer-Aided Design Software:-special type of 3-D Graphics software designed for Architects and Engineers. Examples include AutoCAD and </a:t>
            </a:r>
            <a:r>
              <a:rPr lang="en-US" dirty="0" err="1">
                <a:latin typeface="Times New Roman" panose="02020603050405020304" pitchFamily="18" charset="0"/>
                <a:cs typeface="Times New Roman" panose="02020603050405020304" pitchFamily="18" charset="0"/>
              </a:rPr>
              <a:t>TurboCAD</a:t>
            </a:r>
            <a:r>
              <a:rPr lang="en-US" dirty="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Paint Software i.e. Microsoft Paint, Corel Painter</a:t>
            </a:r>
          </a:p>
          <a:p>
            <a:r>
              <a:rPr lang="en-US" dirty="0" smtClean="0">
                <a:latin typeface="Times New Roman" panose="02020603050405020304" pitchFamily="18" charset="0"/>
                <a:cs typeface="Times New Roman" panose="02020603050405020304" pitchFamily="18" charset="0"/>
              </a:rPr>
              <a:t>Photo Editing Software i.e. Adobe Photoshop</a:t>
            </a:r>
          </a:p>
          <a:p>
            <a:r>
              <a:rPr lang="en-US" dirty="0" smtClean="0">
                <a:latin typeface="Times New Roman" panose="02020603050405020304" pitchFamily="18" charset="0"/>
                <a:cs typeface="Times New Roman" panose="02020603050405020304" pitchFamily="18" charset="0"/>
              </a:rPr>
              <a:t>Drawing Software i.e. Adobe Illustrator, </a:t>
            </a:r>
            <a:r>
              <a:rPr lang="en-US" dirty="0" err="1" smtClean="0">
                <a:latin typeface="Times New Roman" panose="02020603050405020304" pitchFamily="18" charset="0"/>
                <a:cs typeface="Times New Roman" panose="02020603050405020304" pitchFamily="18" charset="0"/>
              </a:rPr>
              <a:t>CorelDRAW</a:t>
            </a:r>
            <a:endParaRPr lang="en-US" dirty="0">
              <a:latin typeface="Times New Roman" panose="02020603050405020304" pitchFamily="18" charset="0"/>
              <a:cs typeface="Times New Roman" panose="02020603050405020304" pitchFamily="18" charset="0"/>
            </a:endParaRPr>
          </a:p>
          <a:p>
            <a:pPr marL="0" indent="0">
              <a:buNone/>
            </a:pPr>
            <a:r>
              <a:rPr lang="en-US" b="1" i="1" dirty="0" smtClean="0">
                <a:latin typeface="Times New Roman" panose="02020603050405020304" pitchFamily="18" charset="0"/>
                <a:cs typeface="Times New Roman" panose="02020603050405020304" pitchFamily="18" charset="0"/>
              </a:rPr>
              <a:t>Presentation Software</a:t>
            </a:r>
          </a:p>
          <a:p>
            <a:r>
              <a:rPr lang="en-US" dirty="0" smtClean="0">
                <a:latin typeface="Times New Roman" panose="02020603050405020304" pitchFamily="18" charset="0"/>
                <a:cs typeface="Times New Roman" panose="02020603050405020304" pitchFamily="18" charset="0"/>
              </a:rPr>
              <a:t>Examples: Microsoft PowerPoint, iWork Keynote and </a:t>
            </a:r>
            <a:r>
              <a:rPr lang="en-US" dirty="0" err="1" smtClean="0">
                <a:latin typeface="Times New Roman" panose="02020603050405020304" pitchFamily="18" charset="0"/>
                <a:cs typeface="Times New Roman" panose="02020603050405020304" pitchFamily="18" charset="0"/>
              </a:rPr>
              <a:t>OpenOffice</a:t>
            </a:r>
            <a:r>
              <a:rPr lang="en-US" dirty="0" smtClean="0">
                <a:latin typeface="Times New Roman" panose="02020603050405020304" pitchFamily="18" charset="0"/>
                <a:cs typeface="Times New Roman" panose="02020603050405020304" pitchFamily="18" charset="0"/>
              </a:rPr>
              <a:t> Impress.</a:t>
            </a:r>
          </a:p>
          <a:p>
            <a:pPr marL="0" indent="0">
              <a:buNone/>
            </a:pPr>
            <a:endParaRPr lang="en-US" dirty="0"/>
          </a:p>
        </p:txBody>
      </p:sp>
    </p:spTree>
    <p:extLst>
      <p:ext uri="{BB962C8B-B14F-4D97-AF65-F5344CB8AC3E}">
        <p14:creationId xmlns:p14="http://schemas.microsoft.com/office/powerpoint/2010/main" val="31755692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t>ii</a:t>
            </a:r>
            <a:r>
              <a:rPr lang="en-US" dirty="0" smtClean="0"/>
              <a:t>. </a:t>
            </a:r>
            <a:r>
              <a:rPr lang="en-US" b="1" dirty="0"/>
              <a:t>Special Purpose Application Software </a:t>
            </a:r>
            <a:endParaRPr lang="en-US" b="1" dirty="0" smtClean="0"/>
          </a:p>
          <a:p>
            <a:r>
              <a:rPr lang="en-US" dirty="0" smtClean="0"/>
              <a:t>Software created </a:t>
            </a:r>
            <a:r>
              <a:rPr lang="en-US" dirty="0"/>
              <a:t>for execution of a single specific task </a:t>
            </a:r>
            <a:endParaRPr lang="en-US" dirty="0" smtClean="0"/>
          </a:p>
          <a:p>
            <a:r>
              <a:rPr lang="en-US" dirty="0"/>
              <a:t>Some examples </a:t>
            </a:r>
            <a:r>
              <a:rPr lang="en-US" dirty="0" smtClean="0"/>
              <a:t>are:</a:t>
            </a:r>
          </a:p>
          <a:p>
            <a:pPr lvl="1"/>
            <a:r>
              <a:rPr lang="en-US" dirty="0"/>
              <a:t>Chess game </a:t>
            </a:r>
            <a:endParaRPr lang="en-US" dirty="0" smtClean="0"/>
          </a:p>
          <a:p>
            <a:pPr lvl="1"/>
            <a:r>
              <a:rPr lang="en-US" dirty="0" smtClean="0"/>
              <a:t>Calculator </a:t>
            </a:r>
          </a:p>
          <a:p>
            <a:pPr lvl="1"/>
            <a:r>
              <a:rPr lang="en-US" dirty="0" smtClean="0"/>
              <a:t>Media players </a:t>
            </a:r>
          </a:p>
          <a:p>
            <a:pPr lvl="1"/>
            <a:r>
              <a:rPr lang="en-US" dirty="0" smtClean="0"/>
              <a:t>Calendar programs </a:t>
            </a:r>
          </a:p>
          <a:p>
            <a:pPr lvl="1"/>
            <a:r>
              <a:rPr lang="en-US" dirty="0" smtClean="0"/>
              <a:t>Camera application </a:t>
            </a:r>
            <a:endParaRPr lang="en-US" dirty="0"/>
          </a:p>
        </p:txBody>
      </p:sp>
    </p:spTree>
    <p:extLst>
      <p:ext uri="{BB962C8B-B14F-4D97-AF65-F5344CB8AC3E}">
        <p14:creationId xmlns:p14="http://schemas.microsoft.com/office/powerpoint/2010/main" val="944913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t>iii. Bespoke Application Software</a:t>
            </a:r>
          </a:p>
          <a:p>
            <a:r>
              <a:rPr lang="en-US" dirty="0" smtClean="0"/>
              <a:t>They are application software designed </a:t>
            </a:r>
            <a:r>
              <a:rPr lang="en-US" dirty="0"/>
              <a:t>and </a:t>
            </a:r>
            <a:r>
              <a:rPr lang="en-US" dirty="0" smtClean="0"/>
              <a:t>developed to tally a specific task. </a:t>
            </a:r>
          </a:p>
          <a:p>
            <a:r>
              <a:rPr lang="en-US" dirty="0"/>
              <a:t>These </a:t>
            </a:r>
            <a:r>
              <a:rPr lang="en-US" dirty="0" smtClean="0"/>
              <a:t>software </a:t>
            </a:r>
            <a:r>
              <a:rPr lang="en-US" dirty="0"/>
              <a:t>are also called </a:t>
            </a:r>
            <a:r>
              <a:rPr lang="en-US" b="1" dirty="0" smtClean="0"/>
              <a:t>tailor-made software.</a:t>
            </a:r>
          </a:p>
          <a:p>
            <a:r>
              <a:rPr lang="en-US" dirty="0" smtClean="0"/>
              <a:t>They are </a:t>
            </a:r>
            <a:r>
              <a:rPr lang="en-US" dirty="0"/>
              <a:t>made to a specific user and customized for a specific task </a:t>
            </a:r>
            <a:r>
              <a:rPr lang="en-US" dirty="0" smtClean="0"/>
              <a:t>only.</a:t>
            </a:r>
          </a:p>
          <a:p>
            <a:r>
              <a:rPr lang="en-US" dirty="0" smtClean="0"/>
              <a:t>Examples for </a:t>
            </a:r>
            <a:r>
              <a:rPr lang="en-US" dirty="0"/>
              <a:t>bespoke </a:t>
            </a:r>
            <a:r>
              <a:rPr lang="en-US" dirty="0" smtClean="0"/>
              <a:t>software.</a:t>
            </a:r>
          </a:p>
          <a:p>
            <a:pPr lvl="1"/>
            <a:r>
              <a:rPr lang="en-US" dirty="0"/>
              <a:t>Sales order Systems (Newspaper Industries) </a:t>
            </a:r>
            <a:endParaRPr lang="en-US" dirty="0" smtClean="0"/>
          </a:p>
          <a:p>
            <a:pPr marL="457200" lvl="1" indent="0">
              <a:buNone/>
            </a:pPr>
            <a:r>
              <a:rPr lang="en-US" dirty="0" smtClean="0"/>
              <a:t>- </a:t>
            </a:r>
            <a:r>
              <a:rPr lang="en-US" dirty="0"/>
              <a:t>Invoicing System (Motor </a:t>
            </a:r>
            <a:r>
              <a:rPr lang="en-US" dirty="0" smtClean="0"/>
              <a:t>Industries), </a:t>
            </a:r>
            <a:r>
              <a:rPr lang="en-US" dirty="0" err="1" smtClean="0"/>
              <a:t>etc</a:t>
            </a:r>
            <a:endParaRPr lang="en-US" dirty="0" smtClean="0"/>
          </a:p>
          <a:p>
            <a:pPr marL="0" indent="0">
              <a:buNone/>
            </a:pPr>
            <a:endParaRPr lang="en-US" b="1" dirty="0"/>
          </a:p>
        </p:txBody>
      </p:sp>
    </p:spTree>
    <p:extLst>
      <p:ext uri="{BB962C8B-B14F-4D97-AF65-F5344CB8AC3E}">
        <p14:creationId xmlns:p14="http://schemas.microsoft.com/office/powerpoint/2010/main" val="19396356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t>Advantages </a:t>
            </a:r>
            <a:r>
              <a:rPr lang="en-US" b="1" dirty="0"/>
              <a:t>of bespoke </a:t>
            </a:r>
            <a:r>
              <a:rPr lang="en-US" b="1" dirty="0" smtClean="0"/>
              <a:t>software</a:t>
            </a:r>
          </a:p>
          <a:p>
            <a:pPr marL="1028700" lvl="1" indent="-571500">
              <a:buFont typeface="+mj-lt"/>
              <a:buAutoNum type="romanLcPeriod"/>
            </a:pPr>
            <a:r>
              <a:rPr lang="en-US" sz="2800" dirty="0"/>
              <a:t>The organization will get the exact system that they need</a:t>
            </a:r>
          </a:p>
          <a:p>
            <a:pPr marL="1028700" lvl="1" indent="-571500">
              <a:buFont typeface="+mj-lt"/>
              <a:buAutoNum type="romanLcPeriod"/>
            </a:pPr>
            <a:r>
              <a:rPr lang="en-US" sz="2800" dirty="0" smtClean="0"/>
              <a:t>The </a:t>
            </a:r>
            <a:r>
              <a:rPr lang="en-US" sz="2800" dirty="0"/>
              <a:t>software will work exactly how they want it to work</a:t>
            </a:r>
          </a:p>
          <a:p>
            <a:pPr marL="1028700" lvl="1" indent="-571500">
              <a:buFont typeface="+mj-lt"/>
              <a:buAutoNum type="romanLcPeriod"/>
            </a:pPr>
            <a:r>
              <a:rPr lang="en-US" sz="2800" dirty="0" smtClean="0"/>
              <a:t>The </a:t>
            </a:r>
            <a:r>
              <a:rPr lang="en-US" sz="2800" dirty="0"/>
              <a:t>software will only have the features that they specifically need in their job </a:t>
            </a:r>
            <a:r>
              <a:rPr lang="en-US" sz="2800" dirty="0" smtClean="0"/>
              <a:t>or business </a:t>
            </a:r>
            <a:r>
              <a:rPr lang="en-US" sz="2800" dirty="0"/>
              <a:t>feeling them comfortable to use </a:t>
            </a:r>
            <a:endParaRPr lang="en-US" sz="2800" dirty="0" smtClean="0"/>
          </a:p>
          <a:p>
            <a:pPr marL="0" indent="0">
              <a:buNone/>
            </a:pPr>
            <a:endParaRPr lang="en-US" dirty="0"/>
          </a:p>
        </p:txBody>
      </p:sp>
    </p:spTree>
    <p:extLst>
      <p:ext uri="{BB962C8B-B14F-4D97-AF65-F5344CB8AC3E}">
        <p14:creationId xmlns:p14="http://schemas.microsoft.com/office/powerpoint/2010/main" val="707112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t>Disadvantages </a:t>
            </a:r>
            <a:r>
              <a:rPr lang="en-US" b="1" dirty="0"/>
              <a:t>of bespoke </a:t>
            </a:r>
            <a:r>
              <a:rPr lang="en-US" b="1" dirty="0" smtClean="0"/>
              <a:t>software</a:t>
            </a:r>
          </a:p>
          <a:p>
            <a:pPr marL="571500" indent="-571500">
              <a:buFont typeface="+mj-lt"/>
              <a:buAutoNum type="romanLcPeriod"/>
            </a:pPr>
            <a:r>
              <a:rPr lang="en-US" dirty="0" smtClean="0"/>
              <a:t>It </a:t>
            </a:r>
            <a:r>
              <a:rPr lang="en-US" dirty="0"/>
              <a:t>takes more time to develop such systems. The development duration several months or years </a:t>
            </a:r>
            <a:endParaRPr lang="en-US" dirty="0" smtClean="0"/>
          </a:p>
          <a:p>
            <a:pPr marL="571500" indent="-571500">
              <a:buFont typeface="+mj-lt"/>
              <a:buAutoNum type="romanLcPeriod"/>
            </a:pPr>
            <a:r>
              <a:rPr lang="en-US" dirty="0" smtClean="0"/>
              <a:t>Developmental </a:t>
            </a:r>
            <a:r>
              <a:rPr lang="en-US" dirty="0"/>
              <a:t>cost is very high </a:t>
            </a:r>
            <a:endParaRPr lang="en-US" dirty="0" smtClean="0"/>
          </a:p>
          <a:p>
            <a:pPr marL="571500" indent="-571500">
              <a:buFont typeface="+mj-lt"/>
              <a:buAutoNum type="romanLcPeriod"/>
            </a:pPr>
            <a:r>
              <a:rPr lang="en-US" dirty="0" smtClean="0"/>
              <a:t>Sometimes </a:t>
            </a:r>
            <a:r>
              <a:rPr lang="en-US" dirty="0"/>
              <a:t>it is required to employ a team of people at different stages of the development process such as analysts, programmers, testers, etc. </a:t>
            </a:r>
            <a:endParaRPr lang="en-US" b="1" dirty="0"/>
          </a:p>
          <a:p>
            <a:pPr marL="0" indent="0">
              <a:buNone/>
            </a:pPr>
            <a:endParaRPr lang="en-US" dirty="0"/>
          </a:p>
        </p:txBody>
      </p:sp>
    </p:spTree>
    <p:extLst>
      <p:ext uri="{BB962C8B-B14F-4D97-AF65-F5344CB8AC3E}">
        <p14:creationId xmlns:p14="http://schemas.microsoft.com/office/powerpoint/2010/main" val="39228938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Software Components (Cont’d)</a:t>
            </a:r>
            <a:endParaRPr lang="en-US" dirty="0"/>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Software Suite</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Is a collection of software applications sold as a single package</a:t>
            </a:r>
          </a:p>
          <a:p>
            <a:pPr marL="0" indent="0">
              <a:buNone/>
            </a:pPr>
            <a:r>
              <a:rPr lang="en-US" dirty="0" smtClean="0">
                <a:latin typeface="Times New Roman" panose="02020603050405020304" pitchFamily="18" charset="0"/>
                <a:cs typeface="Times New Roman" panose="02020603050405020304" pitchFamily="18" charset="0"/>
              </a:rPr>
              <a:t>Examples:</a:t>
            </a:r>
          </a:p>
          <a:p>
            <a:pPr lvl="1"/>
            <a:r>
              <a:rPr lang="en-US" dirty="0" smtClean="0">
                <a:latin typeface="Times New Roman" panose="02020603050405020304" pitchFamily="18" charset="0"/>
                <a:cs typeface="Times New Roman" panose="02020603050405020304" pitchFamily="18" charset="0"/>
              </a:rPr>
              <a:t>Office Suite: MS Office, Apple iWork, </a:t>
            </a:r>
            <a:r>
              <a:rPr lang="en-US" dirty="0" err="1" smtClean="0">
                <a:latin typeface="Times New Roman" panose="02020603050405020304" pitchFamily="18" charset="0"/>
                <a:cs typeface="Times New Roman" panose="02020603050405020304" pitchFamily="18" charset="0"/>
              </a:rPr>
              <a:t>OpenOffice</a:t>
            </a:r>
            <a:endParaRPr lang="en-US" dirty="0" smtClean="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Graphics Suites: Adobe Creative Suite</a:t>
            </a:r>
          </a:p>
          <a:p>
            <a:pPr marL="0" indent="0">
              <a:buNone/>
            </a:pPr>
            <a:endParaRPr lang="en-US" b="1" dirty="0" smtClean="0">
              <a:latin typeface="Times New Roman" panose="02020603050405020304" pitchFamily="18" charset="0"/>
              <a:cs typeface="Times New Roman" panose="02020603050405020304" pitchFamily="18" charset="0"/>
            </a:endParaRPr>
          </a:p>
          <a:p>
            <a:pPr marL="0" indent="0" algn="ctr">
              <a:buNone/>
            </a:pPr>
            <a:r>
              <a:rPr lang="en-US" b="1" dirty="0" smtClean="0">
                <a:latin typeface="Times New Roman" panose="02020603050405020304" pitchFamily="18" charset="0"/>
                <a:cs typeface="Times New Roman" panose="02020603050405020304" pitchFamily="18" charset="0"/>
              </a:rPr>
              <a:t>Reading!</a:t>
            </a:r>
          </a:p>
          <a:p>
            <a:pPr marL="0" indent="0" algn="ctr">
              <a:buNone/>
            </a:pPr>
            <a:r>
              <a:rPr lang="en-US" dirty="0" smtClean="0">
                <a:latin typeface="Times New Roman" panose="02020603050405020304" pitchFamily="18" charset="0"/>
                <a:cs typeface="Times New Roman" panose="02020603050405020304" pitchFamily="18" charset="0"/>
              </a:rPr>
              <a:t>What are the advantages and disadvantages of Software Suite?</a:t>
            </a:r>
          </a:p>
        </p:txBody>
      </p:sp>
      <p:cxnSp>
        <p:nvCxnSpPr>
          <p:cNvPr id="5" name="Straight Connector 4"/>
          <p:cNvCxnSpPr/>
          <p:nvPr/>
        </p:nvCxnSpPr>
        <p:spPr>
          <a:xfrm flipV="1">
            <a:off x="838200" y="4585063"/>
            <a:ext cx="10515600" cy="9144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346" y="4929188"/>
            <a:ext cx="1247775" cy="124777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1254" y="4881563"/>
            <a:ext cx="1295400" cy="1295400"/>
          </a:xfrm>
          <a:prstGeom prst="rect">
            <a:avLst/>
          </a:prstGeom>
        </p:spPr>
      </p:pic>
    </p:spTree>
    <p:extLst>
      <p:ext uri="{BB962C8B-B14F-4D97-AF65-F5344CB8AC3E}">
        <p14:creationId xmlns:p14="http://schemas.microsoft.com/office/powerpoint/2010/main" val="1176212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40000"/>
                    </a14:imgEffect>
                  </a14:imgLayer>
                </a14:imgProps>
              </a:ext>
              <a:ext uri="{28A0092B-C50C-407E-A947-70E740481C1C}">
                <a14:useLocalDpi xmlns:a14="http://schemas.microsoft.com/office/drawing/2010/main" val="0"/>
              </a:ext>
            </a:extLst>
          </a:blip>
          <a:stretch>
            <a:fillRect/>
          </a:stretch>
        </p:blipFill>
        <p:spPr>
          <a:xfrm>
            <a:off x="-1" y="1835094"/>
            <a:ext cx="12083143" cy="4341869"/>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rot="10800000">
            <a:off x="1858598" y="3448594"/>
            <a:ext cx="9101818" cy="2410425"/>
          </a:xfrm>
          <a:prstGeom prst="ellipse">
            <a:avLst/>
          </a:prstGeom>
          <a:ln>
            <a:noFill/>
          </a:ln>
          <a:effectLst>
            <a:softEdge rad="112500"/>
          </a:effectLst>
        </p:spPr>
      </p:pic>
      <p:sp>
        <p:nvSpPr>
          <p:cNvPr id="8" name="Title 7"/>
          <p:cNvSpPr>
            <a:spLocks noGrp="1"/>
          </p:cNvSpPr>
          <p:nvPr>
            <p:ph type="title"/>
          </p:nvPr>
        </p:nvSpPr>
        <p:spPr>
          <a:xfrm>
            <a:off x="916576" y="419495"/>
            <a:ext cx="10515600" cy="1325563"/>
          </a:xfrm>
        </p:spPr>
        <p:txBody>
          <a:bodyPr>
            <a:normAutofit/>
          </a:bodyPr>
          <a:lstStyle/>
          <a:p>
            <a:r>
              <a:rPr lang="en-US" dirty="0" smtClean="0"/>
              <a:t/>
            </a:r>
            <a:br>
              <a:rPr lang="en-US" dirty="0" smtClean="0"/>
            </a:br>
            <a:endParaRPr lang="en-US" dirty="0"/>
          </a:p>
        </p:txBody>
      </p:sp>
      <p:sp>
        <p:nvSpPr>
          <p:cNvPr id="9" name="Content Placeholder 8"/>
          <p:cNvSpPr>
            <a:spLocks noGrp="1"/>
          </p:cNvSpPr>
          <p:nvPr>
            <p:ph idx="1"/>
          </p:nvPr>
        </p:nvSpPr>
        <p:spPr>
          <a:xfrm>
            <a:off x="961311" y="2000124"/>
            <a:ext cx="10515600" cy="4351338"/>
          </a:xfrm>
        </p:spPr>
        <p:txBody>
          <a:bodyPr>
            <a:normAutofit/>
          </a:bodyPr>
          <a:lstStyle/>
          <a:p>
            <a:pPr marL="0" indent="0" algn="ctr">
              <a:buNone/>
            </a:pPr>
            <a:endParaRPr lang="en-US" sz="2400" dirty="0"/>
          </a:p>
          <a:p>
            <a:pPr marL="0" indent="0" algn="ctr">
              <a:buNone/>
            </a:pPr>
            <a:endParaRPr lang="en-US" sz="2400" dirty="0" smtClean="0">
              <a:ln w="0">
                <a:solidFill>
                  <a:schemeClr val="bg1">
                    <a:lumMod val="85000"/>
                  </a:schemeClr>
                </a:solidFill>
              </a:ln>
              <a:effectLst>
                <a:outerShdw blurRad="50800" dist="38100" dir="8100000" algn="tr" rotWithShape="0">
                  <a:prstClr val="black">
                    <a:alpha val="40000"/>
                  </a:prstClr>
                </a:outerShdw>
              </a:effectLst>
              <a:latin typeface="Palatino Linotype" panose="02040502050505030304" pitchFamily="18" charset="0"/>
            </a:endParaRPr>
          </a:p>
          <a:p>
            <a:pPr marL="0" indent="0" algn="ctr">
              <a:buNone/>
            </a:pPr>
            <a:endParaRPr lang="en-US" sz="2400" dirty="0">
              <a:ln w="0">
                <a:solidFill>
                  <a:schemeClr val="bg1">
                    <a:lumMod val="85000"/>
                  </a:schemeClr>
                </a:solidFill>
              </a:ln>
              <a:effectLst>
                <a:outerShdw blurRad="50800" dist="38100" dir="8100000" algn="tr" rotWithShape="0">
                  <a:prstClr val="black">
                    <a:alpha val="40000"/>
                  </a:prstClr>
                </a:outerShdw>
              </a:effectLst>
              <a:latin typeface="Palatino Linotype" panose="02040502050505030304" pitchFamily="18" charset="0"/>
            </a:endParaRPr>
          </a:p>
          <a:p>
            <a:pPr marL="0" indent="0" algn="ctr">
              <a:buNone/>
            </a:pPr>
            <a:endParaRPr lang="en-US" sz="2400" dirty="0" smtClean="0">
              <a:ln w="0">
                <a:solidFill>
                  <a:schemeClr val="bg1">
                    <a:lumMod val="85000"/>
                  </a:schemeClr>
                </a:solidFill>
              </a:ln>
              <a:effectLst>
                <a:outerShdw blurRad="50800" dist="38100" dir="8100000" algn="tr" rotWithShape="0">
                  <a:prstClr val="black">
                    <a:alpha val="40000"/>
                  </a:prstClr>
                </a:outerShdw>
              </a:effectLst>
              <a:latin typeface="Palatino Linotype" panose="02040502050505030304" pitchFamily="18" charset="0"/>
            </a:endParaRPr>
          </a:p>
          <a:p>
            <a:pPr marL="0" indent="0" algn="ctr">
              <a:buNone/>
            </a:pPr>
            <a:r>
              <a:rPr lang="en-US" sz="7200" dirty="0" smtClean="0">
                <a:ln w="0">
                  <a:solidFill>
                    <a:schemeClr val="bg2">
                      <a:lumMod val="10000"/>
                    </a:schemeClr>
                  </a:solidFill>
                </a:ln>
                <a:effectLst>
                  <a:outerShdw blurRad="60007" dist="310007" dir="7680000" sy="30000" kx="1300200" algn="ctr" rotWithShape="0">
                    <a:prstClr val="black">
                      <a:alpha val="32000"/>
                    </a:prstClr>
                  </a:outerShdw>
                </a:effectLst>
                <a:latin typeface="Palatino Linotype" panose="02040502050505030304" pitchFamily="18" charset="0"/>
              </a:rPr>
              <a:t>END</a:t>
            </a:r>
          </a:p>
          <a:p>
            <a:pPr marL="0" indent="0">
              <a:buNone/>
            </a:pPr>
            <a:endParaRPr lang="en-US" dirty="0"/>
          </a:p>
        </p:txBody>
      </p:sp>
    </p:spTree>
    <p:extLst>
      <p:ext uri="{BB962C8B-B14F-4D97-AF65-F5344CB8AC3E}">
        <p14:creationId xmlns:p14="http://schemas.microsoft.com/office/powerpoint/2010/main" val="21905102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9">
                                            <p:txEl>
                                              <p:pRg st="4" end="4"/>
                                            </p:txEl>
                                          </p:spTgt>
                                        </p:tgtEl>
                                      </p:cBhvr>
                                    </p:animEffect>
                                    <p:anim calcmode="lin" valueType="num">
                                      <p:cBhvr>
                                        <p:cTn id="7" dur="2000"/>
                                        <p:tgtEl>
                                          <p:spTgt spid="9">
                                            <p:txEl>
                                              <p:pRg st="4" end="4"/>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9">
                                            <p:txEl>
                                              <p:pRg st="4" end="4"/>
                                            </p:txEl>
                                          </p:spTgt>
                                        </p:tgtEl>
                                        <p:attrNameLst>
                                          <p:attrName>ppt_h</p:attrName>
                                        </p:attrNameLst>
                                      </p:cBhvr>
                                      <p:tavLst>
                                        <p:tav tm="0">
                                          <p:val>
                                            <p:strVal val="ppt_h"/>
                                          </p:val>
                                        </p:tav>
                                        <p:tav tm="100000">
                                          <p:val>
                                            <p:strVal val="ppt_h"/>
                                          </p:val>
                                        </p:tav>
                                      </p:tavLst>
                                    </p:anim>
                                    <p:set>
                                      <p:cBhvr>
                                        <p:cTn id="9" dur="1" fill="hold">
                                          <p:stCondLst>
                                            <p:cond delay="1999"/>
                                          </p:stCondLst>
                                        </p:cTn>
                                        <p:tgtEl>
                                          <p:spTgt spid="9">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1829</TotalTime>
  <Words>3403</Words>
  <Application>Microsoft Office PowerPoint</Application>
  <PresentationFormat>Widescreen</PresentationFormat>
  <Paragraphs>435</Paragraphs>
  <Slides>56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56</vt:i4>
      </vt:variant>
    </vt:vector>
  </HeadingPairs>
  <TitlesOfParts>
    <vt:vector size="64" baseType="lpstr">
      <vt:lpstr>Arial</vt:lpstr>
      <vt:lpstr>Calibri</vt:lpstr>
      <vt:lpstr>Calibri Light</vt:lpstr>
      <vt:lpstr>Palatino Linotype</vt:lpstr>
      <vt:lpstr>Times New Roman</vt:lpstr>
      <vt:lpstr>Wingdings</vt:lpstr>
      <vt:lpstr>Office Theme</vt:lpstr>
      <vt:lpstr>Custom Design</vt:lpstr>
      <vt:lpstr> </vt:lpstr>
      <vt:lpstr>Computer</vt:lpstr>
      <vt:lpstr>Computer (Cont’d)</vt:lpstr>
      <vt:lpstr>PowerPoint Presentation</vt:lpstr>
      <vt:lpstr>Uses of Computers </vt:lpstr>
      <vt:lpstr>Importance of Computer usage </vt:lpstr>
      <vt:lpstr>Importance of Computer usage (Cont’d)</vt:lpstr>
      <vt:lpstr>Disadvantages of Using Computers</vt:lpstr>
      <vt:lpstr>Categories of Computers</vt:lpstr>
      <vt:lpstr>Categories of Computers (Cont’d)</vt:lpstr>
      <vt:lpstr>Categories of Computers (Cont’d)</vt:lpstr>
      <vt:lpstr>Categories of Computers (Cont’d)</vt:lpstr>
      <vt:lpstr>COMPUTER SYSTEM</vt:lpstr>
      <vt:lpstr>Computer System Components</vt:lpstr>
      <vt:lpstr>Hardware Components</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Hardware Components (Cont’d)</vt:lpstr>
      <vt:lpstr>Software Components</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Software Components (Cont’d)</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CHINGS</dc:creator>
  <cp:lastModifiedBy>USER</cp:lastModifiedBy>
  <cp:revision>86</cp:revision>
  <cp:lastPrinted>2017-03-01T10:40:36Z</cp:lastPrinted>
  <dcterms:created xsi:type="dcterms:W3CDTF">2017-02-17T14:41:39Z</dcterms:created>
  <dcterms:modified xsi:type="dcterms:W3CDTF">2021-01-11T06:02:39Z</dcterms:modified>
</cp:coreProperties>
</file>