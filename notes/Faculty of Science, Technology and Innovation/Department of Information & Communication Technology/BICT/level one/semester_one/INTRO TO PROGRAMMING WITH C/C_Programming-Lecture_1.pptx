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 id="2147483672" r:id="rId3"/>
    <p:sldMasterId id="2147483678" r:id="rId4"/>
  </p:sldMasterIdLst>
  <p:sldIdLst>
    <p:sldId id="257" r:id="rId5"/>
    <p:sldId id="258" r:id="rId6"/>
    <p:sldId id="259" r:id="rId7"/>
    <p:sldId id="260" r:id="rId8"/>
    <p:sldId id="261" r:id="rId9"/>
    <p:sldId id="293" r:id="rId10"/>
    <p:sldId id="262" r:id="rId11"/>
    <p:sldId id="263" r:id="rId12"/>
    <p:sldId id="264" r:id="rId13"/>
    <p:sldId id="290" r:id="rId14"/>
    <p:sldId id="291" r:id="rId15"/>
    <p:sldId id="294" r:id="rId16"/>
    <p:sldId id="292" r:id="rId17"/>
    <p:sldId id="265" r:id="rId18"/>
    <p:sldId id="295" r:id="rId19"/>
    <p:sldId id="266" r:id="rId20"/>
    <p:sldId id="267" r:id="rId21"/>
    <p:sldId id="296" r:id="rId22"/>
    <p:sldId id="268" r:id="rId23"/>
    <p:sldId id="269" r:id="rId24"/>
    <p:sldId id="297" r:id="rId25"/>
    <p:sldId id="270" r:id="rId26"/>
    <p:sldId id="271" r:id="rId27"/>
    <p:sldId id="272" r:id="rId28"/>
    <p:sldId id="273" r:id="rId29"/>
    <p:sldId id="274" r:id="rId30"/>
    <p:sldId id="275" r:id="rId31"/>
    <p:sldId id="277" r:id="rId32"/>
    <p:sldId id="278" r:id="rId33"/>
    <p:sldId id="279" r:id="rId34"/>
    <p:sldId id="280" r:id="rId35"/>
    <p:sldId id="283" r:id="rId36"/>
    <p:sldId id="284" r:id="rId37"/>
    <p:sldId id="285" r:id="rId38"/>
    <p:sldId id="286" r:id="rId39"/>
    <p:sldId id="287" r:id="rId40"/>
    <p:sldId id="288" r:id="rId41"/>
    <p:sldId id="289" r:id="rId42"/>
    <p:sldId id="298" r:id="rId43"/>
    <p:sldId id="299" r:id="rId44"/>
    <p:sldId id="300" r:id="rId45"/>
    <p:sldId id="301" r:id="rId46"/>
    <p:sldId id="302" r:id="rId47"/>
    <p:sldId id="303" r:id="rId48"/>
    <p:sldId id="304" r:id="rId49"/>
    <p:sldId id="305" r:id="rId50"/>
    <p:sldId id="307" r:id="rId51"/>
    <p:sldId id="308" r:id="rId52"/>
    <p:sldId id="309" r:id="rId53"/>
    <p:sldId id="310" r:id="rId54"/>
    <p:sldId id="311" r:id="rId55"/>
    <p:sldId id="312" r:id="rId56"/>
    <p:sldId id="313" r:id="rId57"/>
    <p:sldId id="314" r:id="rId58"/>
    <p:sldId id="315" r:id="rId59"/>
    <p:sldId id="316" r:id="rId60"/>
    <p:sldId id="317" r:id="rId61"/>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74" d="100"/>
          <a:sy n="74" d="100"/>
        </p:scale>
        <p:origin x="-570" y="-9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5/4/2018</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5/4/2018</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5/4/2018</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5/4/2018</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5/4/2018</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13392" y="2059052"/>
            <a:ext cx="10965213" cy="430887"/>
          </a:xfrm>
          <a:prstGeom prst="rect">
            <a:avLst/>
          </a:prstGeom>
        </p:spPr>
        <p:txBody>
          <a:bodyPr wrap="square" lIns="0" tIns="0" rIns="0" bIns="0">
            <a:spAutoFit/>
          </a:bodyPr>
          <a:lstStyle>
            <a:lvl1pPr>
              <a:defRPr sz="2800" b="1" i="0" u="heavy">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452053" y="3996308"/>
            <a:ext cx="11287895" cy="430887"/>
          </a:xfrm>
          <a:prstGeom prst="rect">
            <a:avLst/>
          </a:prstGeom>
        </p:spPr>
        <p:txBody>
          <a:bodyPr wrap="square" lIns="0" tIns="0" rIns="0" bIns="0">
            <a:spAutoFit/>
          </a:bodyPr>
          <a:lstStyle>
            <a:lvl1pPr>
              <a:defRPr sz="28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944725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025467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043168" y="812291"/>
            <a:ext cx="4372864" cy="765048"/>
          </a:xfrm>
          <a:prstGeom prst="rect">
            <a:avLst/>
          </a:prstGeom>
          <a:blipFill>
            <a:blip r:embed="rId2" cstate="print"/>
            <a:stretch>
              <a:fillRect/>
            </a:stretch>
          </a:blipFill>
        </p:spPr>
        <p:txBody>
          <a:bodyPr wrap="square" lIns="0" tIns="0" rIns="0" bIns="0" rtlCol="0"/>
          <a:lstStyle/>
          <a:p>
            <a:endParaRPr sz="1800">
              <a:solidFill>
                <a:prstClr val="black"/>
              </a:solidFill>
            </a:endParaRPr>
          </a:p>
        </p:txBody>
      </p:sp>
      <p:sp>
        <p:nvSpPr>
          <p:cNvPr id="17" name="bk object 17"/>
          <p:cNvSpPr/>
          <p:nvPr/>
        </p:nvSpPr>
        <p:spPr>
          <a:xfrm>
            <a:off x="5994401" y="788923"/>
            <a:ext cx="4368713" cy="762000"/>
          </a:xfrm>
          <a:prstGeom prst="rect">
            <a:avLst/>
          </a:prstGeom>
          <a:blipFill>
            <a:blip r:embed="rId3" cstate="print"/>
            <a:stretch>
              <a:fillRect/>
            </a:stretch>
          </a:blipFill>
        </p:spPr>
        <p:txBody>
          <a:bodyPr wrap="square" lIns="0" tIns="0" rIns="0" bIns="0" rtlCol="0"/>
          <a:lstStyle/>
          <a:p>
            <a:endParaRPr sz="1800">
              <a:solidFill>
                <a:prstClr val="black"/>
              </a:solidFill>
            </a:endParaRPr>
          </a:p>
        </p:txBody>
      </p:sp>
      <p:sp>
        <p:nvSpPr>
          <p:cNvPr id="18" name="bk object 18"/>
          <p:cNvSpPr/>
          <p:nvPr/>
        </p:nvSpPr>
        <p:spPr>
          <a:xfrm>
            <a:off x="335279" y="2165604"/>
            <a:ext cx="4279391" cy="647700"/>
          </a:xfrm>
          <a:prstGeom prst="rect">
            <a:avLst/>
          </a:prstGeom>
          <a:blipFill>
            <a:blip r:embed="rId4" cstate="print"/>
            <a:stretch>
              <a:fillRect/>
            </a:stretch>
          </a:blipFill>
        </p:spPr>
        <p:txBody>
          <a:bodyPr wrap="square" lIns="0" tIns="0" rIns="0" bIns="0" rtlCol="0"/>
          <a:lstStyle/>
          <a:p>
            <a:endParaRPr sz="1800">
              <a:solidFill>
                <a:prstClr val="black"/>
              </a:solidFill>
            </a:endParaRPr>
          </a:p>
        </p:txBody>
      </p:sp>
      <p:sp>
        <p:nvSpPr>
          <p:cNvPr id="19" name="bk object 19"/>
          <p:cNvSpPr/>
          <p:nvPr/>
        </p:nvSpPr>
        <p:spPr>
          <a:xfrm>
            <a:off x="3980689" y="2165604"/>
            <a:ext cx="5163311" cy="647700"/>
          </a:xfrm>
          <a:prstGeom prst="rect">
            <a:avLst/>
          </a:prstGeom>
          <a:blipFill>
            <a:blip r:embed="rId5" cstate="print"/>
            <a:stretch>
              <a:fillRect/>
            </a:stretch>
          </a:blipFill>
        </p:spPr>
        <p:txBody>
          <a:bodyPr wrap="square" lIns="0" tIns="0" rIns="0" bIns="0" rtlCol="0"/>
          <a:lstStyle/>
          <a:p>
            <a:endParaRPr sz="1800">
              <a:solidFill>
                <a:prstClr val="black"/>
              </a:solidFill>
            </a:endParaRPr>
          </a:p>
        </p:txBody>
      </p:sp>
      <p:sp>
        <p:nvSpPr>
          <p:cNvPr id="20" name="bk object 20"/>
          <p:cNvSpPr/>
          <p:nvPr/>
        </p:nvSpPr>
        <p:spPr>
          <a:xfrm>
            <a:off x="4259072" y="2650236"/>
            <a:ext cx="4515104" cy="112775"/>
          </a:xfrm>
          <a:prstGeom prst="rect">
            <a:avLst/>
          </a:prstGeom>
          <a:blipFill>
            <a:blip r:embed="rId6" cstate="print"/>
            <a:stretch>
              <a:fillRect/>
            </a:stretch>
          </a:blipFill>
        </p:spPr>
        <p:txBody>
          <a:bodyPr wrap="square" lIns="0" tIns="0" rIns="0" bIns="0" rtlCol="0"/>
          <a:lstStyle/>
          <a:p>
            <a:endParaRPr sz="1800">
              <a:solidFill>
                <a:prstClr val="black"/>
              </a:solidFill>
            </a:endParaRPr>
          </a:p>
        </p:txBody>
      </p:sp>
      <p:sp>
        <p:nvSpPr>
          <p:cNvPr id="21" name="bk object 21"/>
          <p:cNvSpPr/>
          <p:nvPr/>
        </p:nvSpPr>
        <p:spPr>
          <a:xfrm>
            <a:off x="8510015" y="2165604"/>
            <a:ext cx="751840" cy="647700"/>
          </a:xfrm>
          <a:prstGeom prst="rect">
            <a:avLst/>
          </a:prstGeom>
          <a:blipFill>
            <a:blip r:embed="rId7" cstate="print"/>
            <a:stretch>
              <a:fillRect/>
            </a:stretch>
          </a:blipFill>
        </p:spPr>
        <p:txBody>
          <a:bodyPr wrap="square" lIns="0" tIns="0" rIns="0" bIns="0" rtlCol="0"/>
          <a:lstStyle/>
          <a:p>
            <a:endParaRPr sz="1800">
              <a:solidFill>
                <a:prstClr val="black"/>
              </a:solidFill>
            </a:endParaRPr>
          </a:p>
        </p:txBody>
      </p:sp>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194232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989764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262631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13392" y="2059052"/>
            <a:ext cx="10965213" cy="430887"/>
          </a:xfrm>
          <a:prstGeom prst="rect">
            <a:avLst/>
          </a:prstGeom>
        </p:spPr>
        <p:txBody>
          <a:bodyPr wrap="square" lIns="0" tIns="0" rIns="0" bIns="0">
            <a:spAutoFit/>
          </a:bodyPr>
          <a:lstStyle>
            <a:lvl1pPr>
              <a:defRPr sz="2800" b="1" i="0" u="heavy">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452053" y="3996308"/>
            <a:ext cx="11287895" cy="430887"/>
          </a:xfrm>
          <a:prstGeom prst="rect">
            <a:avLst/>
          </a:prstGeom>
        </p:spPr>
        <p:txBody>
          <a:bodyPr wrap="square" lIns="0" tIns="0" rIns="0" bIns="0">
            <a:spAutoFit/>
          </a:bodyPr>
          <a:lstStyle>
            <a:lvl1pPr>
              <a:defRPr sz="28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375762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4083625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043168" y="812291"/>
            <a:ext cx="4372864" cy="765048"/>
          </a:xfrm>
          <a:prstGeom prst="rect">
            <a:avLst/>
          </a:prstGeom>
          <a:blipFill>
            <a:blip r:embed="rId2" cstate="print"/>
            <a:stretch>
              <a:fillRect/>
            </a:stretch>
          </a:blipFill>
        </p:spPr>
        <p:txBody>
          <a:bodyPr wrap="square" lIns="0" tIns="0" rIns="0" bIns="0" rtlCol="0"/>
          <a:lstStyle/>
          <a:p>
            <a:endParaRPr sz="1800">
              <a:solidFill>
                <a:prstClr val="black"/>
              </a:solidFill>
            </a:endParaRPr>
          </a:p>
        </p:txBody>
      </p:sp>
      <p:sp>
        <p:nvSpPr>
          <p:cNvPr id="17" name="bk object 17"/>
          <p:cNvSpPr/>
          <p:nvPr/>
        </p:nvSpPr>
        <p:spPr>
          <a:xfrm>
            <a:off x="5994401" y="788923"/>
            <a:ext cx="4368713" cy="762000"/>
          </a:xfrm>
          <a:prstGeom prst="rect">
            <a:avLst/>
          </a:prstGeom>
          <a:blipFill>
            <a:blip r:embed="rId3" cstate="print"/>
            <a:stretch>
              <a:fillRect/>
            </a:stretch>
          </a:blipFill>
        </p:spPr>
        <p:txBody>
          <a:bodyPr wrap="square" lIns="0" tIns="0" rIns="0" bIns="0" rtlCol="0"/>
          <a:lstStyle/>
          <a:p>
            <a:endParaRPr sz="1800">
              <a:solidFill>
                <a:prstClr val="black"/>
              </a:solidFill>
            </a:endParaRPr>
          </a:p>
        </p:txBody>
      </p:sp>
      <p:sp>
        <p:nvSpPr>
          <p:cNvPr id="18" name="bk object 18"/>
          <p:cNvSpPr/>
          <p:nvPr/>
        </p:nvSpPr>
        <p:spPr>
          <a:xfrm>
            <a:off x="335279" y="2165604"/>
            <a:ext cx="4279391" cy="647700"/>
          </a:xfrm>
          <a:prstGeom prst="rect">
            <a:avLst/>
          </a:prstGeom>
          <a:blipFill>
            <a:blip r:embed="rId4" cstate="print"/>
            <a:stretch>
              <a:fillRect/>
            </a:stretch>
          </a:blipFill>
        </p:spPr>
        <p:txBody>
          <a:bodyPr wrap="square" lIns="0" tIns="0" rIns="0" bIns="0" rtlCol="0"/>
          <a:lstStyle/>
          <a:p>
            <a:endParaRPr sz="1800">
              <a:solidFill>
                <a:prstClr val="black"/>
              </a:solidFill>
            </a:endParaRPr>
          </a:p>
        </p:txBody>
      </p:sp>
      <p:sp>
        <p:nvSpPr>
          <p:cNvPr id="19" name="bk object 19"/>
          <p:cNvSpPr/>
          <p:nvPr/>
        </p:nvSpPr>
        <p:spPr>
          <a:xfrm>
            <a:off x="3980689" y="2165604"/>
            <a:ext cx="5163311" cy="647700"/>
          </a:xfrm>
          <a:prstGeom prst="rect">
            <a:avLst/>
          </a:prstGeom>
          <a:blipFill>
            <a:blip r:embed="rId5" cstate="print"/>
            <a:stretch>
              <a:fillRect/>
            </a:stretch>
          </a:blipFill>
        </p:spPr>
        <p:txBody>
          <a:bodyPr wrap="square" lIns="0" tIns="0" rIns="0" bIns="0" rtlCol="0"/>
          <a:lstStyle/>
          <a:p>
            <a:endParaRPr sz="1800">
              <a:solidFill>
                <a:prstClr val="black"/>
              </a:solidFill>
            </a:endParaRPr>
          </a:p>
        </p:txBody>
      </p:sp>
      <p:sp>
        <p:nvSpPr>
          <p:cNvPr id="20" name="bk object 20"/>
          <p:cNvSpPr/>
          <p:nvPr/>
        </p:nvSpPr>
        <p:spPr>
          <a:xfrm>
            <a:off x="4259072" y="2650236"/>
            <a:ext cx="4515104" cy="112775"/>
          </a:xfrm>
          <a:prstGeom prst="rect">
            <a:avLst/>
          </a:prstGeom>
          <a:blipFill>
            <a:blip r:embed="rId6" cstate="print"/>
            <a:stretch>
              <a:fillRect/>
            </a:stretch>
          </a:blipFill>
        </p:spPr>
        <p:txBody>
          <a:bodyPr wrap="square" lIns="0" tIns="0" rIns="0" bIns="0" rtlCol="0"/>
          <a:lstStyle/>
          <a:p>
            <a:endParaRPr sz="1800">
              <a:solidFill>
                <a:prstClr val="black"/>
              </a:solidFill>
            </a:endParaRPr>
          </a:p>
        </p:txBody>
      </p:sp>
      <p:sp>
        <p:nvSpPr>
          <p:cNvPr id="21" name="bk object 21"/>
          <p:cNvSpPr/>
          <p:nvPr/>
        </p:nvSpPr>
        <p:spPr>
          <a:xfrm>
            <a:off x="8510015" y="2165604"/>
            <a:ext cx="751840" cy="647700"/>
          </a:xfrm>
          <a:prstGeom prst="rect">
            <a:avLst/>
          </a:prstGeom>
          <a:blipFill>
            <a:blip r:embed="rId7" cstate="print"/>
            <a:stretch>
              <a:fillRect/>
            </a:stretch>
          </a:blipFill>
        </p:spPr>
        <p:txBody>
          <a:bodyPr wrap="square" lIns="0" tIns="0" rIns="0" bIns="0" rtlCol="0"/>
          <a:lstStyle/>
          <a:p>
            <a:endParaRPr sz="1800">
              <a:solidFill>
                <a:prstClr val="black"/>
              </a:solidFill>
            </a:endParaRPr>
          </a:p>
        </p:txBody>
      </p:sp>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436979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9353223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4231546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13392" y="2059052"/>
            <a:ext cx="10965213" cy="430887"/>
          </a:xfrm>
          <a:prstGeom prst="rect">
            <a:avLst/>
          </a:prstGeom>
        </p:spPr>
        <p:txBody>
          <a:bodyPr wrap="square" lIns="0" tIns="0" rIns="0" bIns="0">
            <a:spAutoFit/>
          </a:bodyPr>
          <a:lstStyle>
            <a:lvl1pPr>
              <a:defRPr sz="2800" b="1" i="0" u="heavy">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452053" y="3996308"/>
            <a:ext cx="11287895" cy="430887"/>
          </a:xfrm>
          <a:prstGeom prst="rect">
            <a:avLst/>
          </a:prstGeom>
        </p:spPr>
        <p:txBody>
          <a:bodyPr wrap="square" lIns="0" tIns="0" rIns="0" bIns="0">
            <a:spAutoFit/>
          </a:bodyPr>
          <a:lstStyle>
            <a:lvl1pPr>
              <a:defRPr sz="2800" b="0" i="1">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3816976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076671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6043168" y="812291"/>
            <a:ext cx="4372864" cy="765048"/>
          </a:xfrm>
          <a:prstGeom prst="rect">
            <a:avLst/>
          </a:prstGeom>
          <a:blipFill>
            <a:blip r:embed="rId2" cstate="print"/>
            <a:stretch>
              <a:fillRect/>
            </a:stretch>
          </a:blipFill>
        </p:spPr>
        <p:txBody>
          <a:bodyPr wrap="square" lIns="0" tIns="0" rIns="0" bIns="0" rtlCol="0"/>
          <a:lstStyle/>
          <a:p>
            <a:endParaRPr sz="1800">
              <a:solidFill>
                <a:prstClr val="black"/>
              </a:solidFill>
            </a:endParaRPr>
          </a:p>
        </p:txBody>
      </p:sp>
      <p:sp>
        <p:nvSpPr>
          <p:cNvPr id="17" name="bk object 17"/>
          <p:cNvSpPr/>
          <p:nvPr/>
        </p:nvSpPr>
        <p:spPr>
          <a:xfrm>
            <a:off x="5994401" y="788923"/>
            <a:ext cx="4368713" cy="762000"/>
          </a:xfrm>
          <a:prstGeom prst="rect">
            <a:avLst/>
          </a:prstGeom>
          <a:blipFill>
            <a:blip r:embed="rId3" cstate="print"/>
            <a:stretch>
              <a:fillRect/>
            </a:stretch>
          </a:blipFill>
        </p:spPr>
        <p:txBody>
          <a:bodyPr wrap="square" lIns="0" tIns="0" rIns="0" bIns="0" rtlCol="0"/>
          <a:lstStyle/>
          <a:p>
            <a:endParaRPr sz="1800">
              <a:solidFill>
                <a:prstClr val="black"/>
              </a:solidFill>
            </a:endParaRPr>
          </a:p>
        </p:txBody>
      </p:sp>
      <p:sp>
        <p:nvSpPr>
          <p:cNvPr id="18" name="bk object 18"/>
          <p:cNvSpPr/>
          <p:nvPr/>
        </p:nvSpPr>
        <p:spPr>
          <a:xfrm>
            <a:off x="335279" y="2165604"/>
            <a:ext cx="4279391" cy="647700"/>
          </a:xfrm>
          <a:prstGeom prst="rect">
            <a:avLst/>
          </a:prstGeom>
          <a:blipFill>
            <a:blip r:embed="rId4" cstate="print"/>
            <a:stretch>
              <a:fillRect/>
            </a:stretch>
          </a:blipFill>
        </p:spPr>
        <p:txBody>
          <a:bodyPr wrap="square" lIns="0" tIns="0" rIns="0" bIns="0" rtlCol="0"/>
          <a:lstStyle/>
          <a:p>
            <a:endParaRPr sz="1800">
              <a:solidFill>
                <a:prstClr val="black"/>
              </a:solidFill>
            </a:endParaRPr>
          </a:p>
        </p:txBody>
      </p:sp>
      <p:sp>
        <p:nvSpPr>
          <p:cNvPr id="19" name="bk object 19"/>
          <p:cNvSpPr/>
          <p:nvPr/>
        </p:nvSpPr>
        <p:spPr>
          <a:xfrm>
            <a:off x="3980689" y="2165604"/>
            <a:ext cx="5163311" cy="647700"/>
          </a:xfrm>
          <a:prstGeom prst="rect">
            <a:avLst/>
          </a:prstGeom>
          <a:blipFill>
            <a:blip r:embed="rId5" cstate="print"/>
            <a:stretch>
              <a:fillRect/>
            </a:stretch>
          </a:blipFill>
        </p:spPr>
        <p:txBody>
          <a:bodyPr wrap="square" lIns="0" tIns="0" rIns="0" bIns="0" rtlCol="0"/>
          <a:lstStyle/>
          <a:p>
            <a:endParaRPr sz="1800">
              <a:solidFill>
                <a:prstClr val="black"/>
              </a:solidFill>
            </a:endParaRPr>
          </a:p>
        </p:txBody>
      </p:sp>
      <p:sp>
        <p:nvSpPr>
          <p:cNvPr id="20" name="bk object 20"/>
          <p:cNvSpPr/>
          <p:nvPr/>
        </p:nvSpPr>
        <p:spPr>
          <a:xfrm>
            <a:off x="4259072" y="2650236"/>
            <a:ext cx="4515104" cy="112775"/>
          </a:xfrm>
          <a:prstGeom prst="rect">
            <a:avLst/>
          </a:prstGeom>
          <a:blipFill>
            <a:blip r:embed="rId6" cstate="print"/>
            <a:stretch>
              <a:fillRect/>
            </a:stretch>
          </a:blipFill>
        </p:spPr>
        <p:txBody>
          <a:bodyPr wrap="square" lIns="0" tIns="0" rIns="0" bIns="0" rtlCol="0"/>
          <a:lstStyle/>
          <a:p>
            <a:endParaRPr sz="1800">
              <a:solidFill>
                <a:prstClr val="black"/>
              </a:solidFill>
            </a:endParaRPr>
          </a:p>
        </p:txBody>
      </p:sp>
      <p:sp>
        <p:nvSpPr>
          <p:cNvPr id="21" name="bk object 21"/>
          <p:cNvSpPr/>
          <p:nvPr/>
        </p:nvSpPr>
        <p:spPr>
          <a:xfrm>
            <a:off x="8510015" y="2165604"/>
            <a:ext cx="751840" cy="647700"/>
          </a:xfrm>
          <a:prstGeom prst="rect">
            <a:avLst/>
          </a:prstGeom>
          <a:blipFill>
            <a:blip r:embed="rId7" cstate="print"/>
            <a:stretch>
              <a:fillRect/>
            </a:stretch>
          </a:blipFill>
        </p:spPr>
        <p:txBody>
          <a:bodyPr wrap="square" lIns="0" tIns="0" rIns="0" bIns="0" rtlCol="0"/>
          <a:lstStyle/>
          <a:p>
            <a:endParaRPr sz="1800">
              <a:solidFill>
                <a:prstClr val="black"/>
              </a:solidFill>
            </a:endParaRPr>
          </a:p>
        </p:txBody>
      </p:sp>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1691623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54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731098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1160115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3.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16939" y="623189"/>
            <a:ext cx="10358120" cy="711835"/>
          </a:xfrm>
          <a:prstGeom prst="rect">
            <a:avLst/>
          </a:prstGeom>
        </p:spPr>
        <p:txBody>
          <a:bodyPr wrap="square" lIns="0" tIns="0" rIns="0" bIns="0">
            <a:spAutoFit/>
          </a:bodyPr>
          <a:lstStyle>
            <a:lvl1pPr>
              <a:defRPr sz="4400" b="0" i="0">
                <a:solidFill>
                  <a:schemeClr val="tx1"/>
                </a:solidFill>
                <a:latin typeface="Calibri Light"/>
                <a:cs typeface="Calibri Light"/>
              </a:defRPr>
            </a:lvl1pPr>
          </a:lstStyle>
          <a:p>
            <a:endParaRPr/>
          </a:p>
        </p:txBody>
      </p:sp>
      <p:sp>
        <p:nvSpPr>
          <p:cNvPr id="3" name="Holder 3"/>
          <p:cNvSpPr>
            <a:spLocks noGrp="1"/>
          </p:cNvSpPr>
          <p:nvPr>
            <p:ph type="body" idx="1"/>
          </p:nvPr>
        </p:nvSpPr>
        <p:spPr>
          <a:xfrm>
            <a:off x="916939" y="1750314"/>
            <a:ext cx="10358120" cy="41859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563615" y="6465214"/>
            <a:ext cx="106489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By </a:t>
            </a:r>
            <a:r>
              <a:rPr dirty="0"/>
              <a:t>John</a:t>
            </a:r>
            <a:r>
              <a:rPr spc="-100" dirty="0"/>
              <a:t> </a:t>
            </a:r>
            <a:r>
              <a:rPr dirty="0"/>
              <a:t>Memory</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5/4/2018</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902" y="2156459"/>
            <a:ext cx="11328196" cy="830997"/>
          </a:xfrm>
          <a:prstGeom prst="rect">
            <a:avLst/>
          </a:prstGeom>
        </p:spPr>
        <p:txBody>
          <a:bodyPr wrap="square" lIns="0" tIns="0" rIns="0" bIns="0">
            <a:spAutoFit/>
          </a:bodyPr>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a:xfrm>
            <a:off x="240351" y="2344546"/>
            <a:ext cx="11711296" cy="369332"/>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07740739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902" y="2156459"/>
            <a:ext cx="11328196" cy="830997"/>
          </a:xfrm>
          <a:prstGeom prst="rect">
            <a:avLst/>
          </a:prstGeom>
        </p:spPr>
        <p:txBody>
          <a:bodyPr wrap="square" lIns="0" tIns="0" rIns="0" bIns="0">
            <a:spAutoFit/>
          </a:bodyPr>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a:xfrm>
            <a:off x="240351" y="2344546"/>
            <a:ext cx="11711296" cy="369332"/>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18063121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902" y="2156459"/>
            <a:ext cx="11328196" cy="830997"/>
          </a:xfrm>
          <a:prstGeom prst="rect">
            <a:avLst/>
          </a:prstGeom>
        </p:spPr>
        <p:txBody>
          <a:bodyPr wrap="square" lIns="0" tIns="0" rIns="0" bIns="0">
            <a:spAutoFit/>
          </a:bodyPr>
          <a:lstStyle>
            <a:lvl1pPr>
              <a:defRPr sz="5400" b="0" i="0">
                <a:solidFill>
                  <a:schemeClr val="tx1"/>
                </a:solidFill>
                <a:latin typeface="Arial"/>
                <a:cs typeface="Arial"/>
              </a:defRPr>
            </a:lvl1pPr>
          </a:lstStyle>
          <a:p>
            <a:endParaRPr/>
          </a:p>
        </p:txBody>
      </p:sp>
      <p:sp>
        <p:nvSpPr>
          <p:cNvPr id="3" name="Holder 3"/>
          <p:cNvSpPr>
            <a:spLocks noGrp="1"/>
          </p:cNvSpPr>
          <p:nvPr>
            <p:ph type="body" idx="1"/>
          </p:nvPr>
        </p:nvSpPr>
        <p:spPr>
          <a:xfrm>
            <a:off x="240351" y="2344546"/>
            <a:ext cx="11711296" cy="369332"/>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276999"/>
          </a:xfrm>
          <a:prstGeom prst="rect">
            <a:avLst/>
          </a:prstGeom>
        </p:spPr>
        <p:txBody>
          <a:bodyPr wrap="square" lIns="0" tIns="0" rIns="0" bIns="0">
            <a:spAutoFit/>
          </a:bodyPr>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40"/>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5/4/2018</a:t>
            </a:fld>
            <a:endParaRPr lang="en-US">
              <a:solidFill>
                <a:prstClr val="black">
                  <a:tint val="75000"/>
                </a:prstClr>
              </a:solidFill>
            </a:endParaRPr>
          </a:p>
        </p:txBody>
      </p:sp>
      <p:sp>
        <p:nvSpPr>
          <p:cNvPr id="6" name="Holder 6"/>
          <p:cNvSpPr>
            <a:spLocks noGrp="1"/>
          </p:cNvSpPr>
          <p:nvPr>
            <p:ph type="sldNum" sz="quarter" idx="7"/>
          </p:nvPr>
        </p:nvSpPr>
        <p:spPr>
          <a:xfrm>
            <a:off x="8778240" y="6377940"/>
            <a:ext cx="280416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50738937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Layout" Target="../slideLayouts/slideLayout1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67278" y="2501772"/>
            <a:ext cx="5456555" cy="1484630"/>
          </a:xfrm>
          <a:prstGeom prst="rect">
            <a:avLst/>
          </a:prstGeom>
        </p:spPr>
        <p:txBody>
          <a:bodyPr vert="horz" wrap="square" lIns="0" tIns="0" rIns="0" bIns="0" rtlCol="0">
            <a:spAutoFit/>
          </a:bodyPr>
          <a:lstStyle/>
          <a:p>
            <a:pPr algn="ctr">
              <a:lnSpc>
                <a:spcPct val="100000"/>
              </a:lnSpc>
            </a:pPr>
            <a:r>
              <a:rPr sz="6000" spc="-30" dirty="0"/>
              <a:t>Programming </a:t>
            </a:r>
            <a:r>
              <a:rPr sz="6000" dirty="0"/>
              <a:t>in</a:t>
            </a:r>
            <a:r>
              <a:rPr sz="6000" spc="-70" dirty="0"/>
              <a:t> </a:t>
            </a:r>
            <a:r>
              <a:rPr sz="6000" dirty="0"/>
              <a:t>C</a:t>
            </a:r>
            <a:endParaRPr sz="6000"/>
          </a:p>
          <a:p>
            <a:pPr marL="1905" algn="ctr">
              <a:lnSpc>
                <a:spcPct val="100000"/>
              </a:lnSpc>
              <a:spcBef>
                <a:spcPts val="1385"/>
              </a:spcBef>
            </a:pPr>
            <a:r>
              <a:rPr sz="2400" b="0" dirty="0">
                <a:latin typeface="Calibri"/>
                <a:cs typeface="Calibri"/>
              </a:rPr>
              <a:t>BICT</a:t>
            </a:r>
            <a:r>
              <a:rPr sz="2400" b="0" spc="-110" dirty="0">
                <a:latin typeface="Calibri"/>
                <a:cs typeface="Calibri"/>
              </a:rPr>
              <a:t> </a:t>
            </a:r>
            <a:r>
              <a:rPr sz="2400" b="0" spc="-5" dirty="0">
                <a:latin typeface="Calibri"/>
                <a:cs typeface="Calibri"/>
              </a:rPr>
              <a:t>1202</a:t>
            </a:r>
            <a:endParaRPr sz="2400">
              <a:latin typeface="Calibri"/>
              <a:cs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Language</a:t>
            </a:r>
            <a:r>
              <a:rPr spc="-50" dirty="0"/>
              <a:t> </a:t>
            </a:r>
            <a:r>
              <a:rPr spc="-10" dirty="0"/>
              <a:t>Overview</a:t>
            </a:r>
          </a:p>
        </p:txBody>
      </p:sp>
      <p:sp>
        <p:nvSpPr>
          <p:cNvPr id="3" name="object 3"/>
          <p:cNvSpPr txBox="1"/>
          <p:nvPr/>
        </p:nvSpPr>
        <p:spPr>
          <a:xfrm>
            <a:off x="916939" y="1779270"/>
            <a:ext cx="7917180" cy="4165600"/>
          </a:xfrm>
          <a:prstGeom prst="rect">
            <a:avLst/>
          </a:prstGeom>
        </p:spPr>
        <p:txBody>
          <a:bodyPr vert="horz" wrap="square" lIns="0" tIns="0" rIns="0" bIns="0" rtlCol="0">
            <a:spAutoFit/>
          </a:bodyPr>
          <a:lstStyle/>
          <a:p>
            <a:pPr marL="241300" indent="-228600">
              <a:lnSpc>
                <a:spcPct val="100000"/>
              </a:lnSpc>
              <a:buFont typeface="Arial"/>
              <a:buChar char="•"/>
              <a:tabLst>
                <a:tab pos="241935" algn="l"/>
              </a:tabLst>
            </a:pPr>
            <a:r>
              <a:rPr sz="2600" spc="-5" dirty="0">
                <a:latin typeface="Calibri"/>
                <a:cs typeface="Calibri"/>
              </a:rPr>
              <a:t>General-purpose, high-level</a:t>
            </a:r>
            <a:r>
              <a:rPr sz="2600" spc="-130" dirty="0">
                <a:latin typeface="Calibri"/>
                <a:cs typeface="Calibri"/>
              </a:rPr>
              <a:t> </a:t>
            </a:r>
            <a:r>
              <a:rPr sz="2600" spc="-5" dirty="0">
                <a:latin typeface="Calibri"/>
                <a:cs typeface="Calibri"/>
              </a:rPr>
              <a:t>language</a:t>
            </a:r>
            <a:endParaRPr sz="2600">
              <a:latin typeface="Calibri"/>
              <a:cs typeface="Calibri"/>
            </a:endParaRPr>
          </a:p>
          <a:p>
            <a:pPr marL="241300" indent="-228600">
              <a:lnSpc>
                <a:spcPct val="100000"/>
              </a:lnSpc>
              <a:spcBef>
                <a:spcPts val="370"/>
              </a:spcBef>
              <a:buFont typeface="Arial"/>
              <a:buChar char="•"/>
              <a:tabLst>
                <a:tab pos="241935" algn="l"/>
              </a:tabLst>
            </a:pPr>
            <a:r>
              <a:rPr sz="2600" spc="-5" dirty="0">
                <a:latin typeface="Calibri"/>
                <a:cs typeface="Calibri"/>
              </a:rPr>
              <a:t>Developed by Dennis </a:t>
            </a:r>
            <a:r>
              <a:rPr sz="2600" dirty="0">
                <a:latin typeface="Calibri"/>
                <a:cs typeface="Calibri"/>
              </a:rPr>
              <a:t>M.</a:t>
            </a:r>
            <a:r>
              <a:rPr sz="2600" spc="-100" dirty="0">
                <a:latin typeface="Calibri"/>
                <a:cs typeface="Calibri"/>
              </a:rPr>
              <a:t> </a:t>
            </a:r>
            <a:r>
              <a:rPr sz="2600" spc="-5" dirty="0">
                <a:latin typeface="Calibri"/>
                <a:cs typeface="Calibri"/>
              </a:rPr>
              <a:t>Ritchie.</a:t>
            </a:r>
            <a:endParaRPr sz="2600">
              <a:latin typeface="Calibri"/>
              <a:cs typeface="Calibri"/>
            </a:endParaRPr>
          </a:p>
          <a:p>
            <a:pPr marL="241300" indent="-228600">
              <a:lnSpc>
                <a:spcPct val="100000"/>
              </a:lnSpc>
              <a:spcBef>
                <a:spcPts val="385"/>
              </a:spcBef>
              <a:buFont typeface="Arial"/>
              <a:buChar char="•"/>
              <a:tabLst>
                <a:tab pos="241935" algn="l"/>
              </a:tabLst>
            </a:pPr>
            <a:r>
              <a:rPr sz="2600" spc="-15" dirty="0">
                <a:latin typeface="Calibri"/>
                <a:cs typeface="Calibri"/>
              </a:rPr>
              <a:t>First </a:t>
            </a:r>
            <a:r>
              <a:rPr sz="2600" spc="-5" dirty="0">
                <a:latin typeface="Calibri"/>
                <a:cs typeface="Calibri"/>
              </a:rPr>
              <a:t>implemented on </a:t>
            </a:r>
            <a:r>
              <a:rPr sz="2600" dirty="0">
                <a:latin typeface="Calibri"/>
                <a:cs typeface="Calibri"/>
              </a:rPr>
              <a:t>the </a:t>
            </a:r>
            <a:r>
              <a:rPr sz="2600" spc="-10" dirty="0">
                <a:latin typeface="Calibri"/>
                <a:cs typeface="Calibri"/>
              </a:rPr>
              <a:t>DEC </a:t>
            </a:r>
            <a:r>
              <a:rPr sz="2600" dirty="0">
                <a:latin typeface="Calibri"/>
                <a:cs typeface="Calibri"/>
              </a:rPr>
              <a:t>PDP-11 </a:t>
            </a:r>
            <a:r>
              <a:rPr sz="2600" spc="-10" dirty="0">
                <a:latin typeface="Calibri"/>
                <a:cs typeface="Calibri"/>
              </a:rPr>
              <a:t>computer </a:t>
            </a:r>
            <a:r>
              <a:rPr sz="2600" dirty="0">
                <a:latin typeface="Calibri"/>
                <a:cs typeface="Calibri"/>
              </a:rPr>
              <a:t>in</a:t>
            </a:r>
            <a:r>
              <a:rPr sz="2600" spc="-114" dirty="0">
                <a:latin typeface="Calibri"/>
                <a:cs typeface="Calibri"/>
              </a:rPr>
              <a:t> </a:t>
            </a:r>
            <a:r>
              <a:rPr sz="2600" dirty="0">
                <a:latin typeface="Calibri"/>
                <a:cs typeface="Calibri"/>
              </a:rPr>
              <a:t>1972.</a:t>
            </a:r>
            <a:endParaRPr sz="2600">
              <a:latin typeface="Calibri"/>
              <a:cs typeface="Calibri"/>
            </a:endParaRPr>
          </a:p>
          <a:p>
            <a:pPr marL="241300" indent="-228600">
              <a:lnSpc>
                <a:spcPts val="3115"/>
              </a:lnSpc>
              <a:spcBef>
                <a:spcPts val="370"/>
              </a:spcBef>
              <a:buFont typeface="Arial"/>
              <a:buChar char="•"/>
              <a:tabLst>
                <a:tab pos="241935" algn="l"/>
              </a:tabLst>
            </a:pPr>
            <a:r>
              <a:rPr sz="2600" dirty="0">
                <a:latin typeface="Calibri"/>
                <a:cs typeface="Calibri"/>
              </a:rPr>
              <a:t>In </a:t>
            </a:r>
            <a:r>
              <a:rPr sz="2600" spc="-5" dirty="0">
                <a:latin typeface="Calibri"/>
                <a:cs typeface="Calibri"/>
              </a:rPr>
              <a:t>1978, </a:t>
            </a:r>
            <a:r>
              <a:rPr sz="2600" spc="-15" dirty="0">
                <a:latin typeface="Calibri"/>
                <a:cs typeface="Calibri"/>
              </a:rPr>
              <a:t>first </a:t>
            </a:r>
            <a:r>
              <a:rPr sz="2600" spc="-5" dirty="0">
                <a:latin typeface="Calibri"/>
                <a:cs typeface="Calibri"/>
              </a:rPr>
              <a:t>publicly </a:t>
            </a:r>
            <a:r>
              <a:rPr sz="2600" spc="-10" dirty="0">
                <a:latin typeface="Calibri"/>
                <a:cs typeface="Calibri"/>
              </a:rPr>
              <a:t>available </a:t>
            </a:r>
            <a:r>
              <a:rPr sz="2600" dirty="0">
                <a:latin typeface="Calibri"/>
                <a:cs typeface="Calibri"/>
              </a:rPr>
              <a:t>description </a:t>
            </a:r>
            <a:r>
              <a:rPr sz="2600" spc="-5" dirty="0">
                <a:latin typeface="Calibri"/>
                <a:cs typeface="Calibri"/>
              </a:rPr>
              <a:t>of </a:t>
            </a:r>
            <a:r>
              <a:rPr sz="2600" dirty="0">
                <a:latin typeface="Calibri"/>
                <a:cs typeface="Calibri"/>
              </a:rPr>
              <a:t>C</a:t>
            </a:r>
            <a:r>
              <a:rPr sz="2600" spc="-75" dirty="0">
                <a:latin typeface="Calibri"/>
                <a:cs typeface="Calibri"/>
              </a:rPr>
              <a:t> </a:t>
            </a:r>
            <a:r>
              <a:rPr sz="2600" spc="-10" dirty="0">
                <a:latin typeface="Calibri"/>
                <a:cs typeface="Calibri"/>
              </a:rPr>
              <a:t>produced.</a:t>
            </a:r>
            <a:endParaRPr sz="2600">
              <a:latin typeface="Calibri"/>
              <a:cs typeface="Calibri"/>
            </a:endParaRPr>
          </a:p>
          <a:p>
            <a:pPr marL="698500" lvl="1" indent="-228600">
              <a:lnSpc>
                <a:spcPts val="2635"/>
              </a:lnSpc>
              <a:buFont typeface="Arial"/>
              <a:buChar char="•"/>
              <a:tabLst>
                <a:tab pos="699135" algn="l"/>
              </a:tabLst>
            </a:pPr>
            <a:r>
              <a:rPr sz="2200" spc="-10" dirty="0">
                <a:latin typeface="Calibri"/>
                <a:cs typeface="Calibri"/>
              </a:rPr>
              <a:t>The </a:t>
            </a:r>
            <a:r>
              <a:rPr sz="2200" spc="-5" dirty="0">
                <a:latin typeface="Calibri"/>
                <a:cs typeface="Calibri"/>
              </a:rPr>
              <a:t>K&amp;R</a:t>
            </a:r>
            <a:r>
              <a:rPr sz="2200" spc="-25" dirty="0">
                <a:latin typeface="Calibri"/>
                <a:cs typeface="Calibri"/>
              </a:rPr>
              <a:t> </a:t>
            </a:r>
            <a:r>
              <a:rPr sz="2200" spc="-15" dirty="0">
                <a:latin typeface="Calibri"/>
                <a:cs typeface="Calibri"/>
              </a:rPr>
              <a:t>standard.</a:t>
            </a:r>
            <a:endParaRPr sz="2200">
              <a:latin typeface="Calibri"/>
              <a:cs typeface="Calibri"/>
            </a:endParaRPr>
          </a:p>
          <a:p>
            <a:pPr marL="241300" indent="-228600">
              <a:lnSpc>
                <a:spcPts val="3115"/>
              </a:lnSpc>
              <a:spcBef>
                <a:spcPts val="355"/>
              </a:spcBef>
              <a:buFont typeface="Arial"/>
              <a:buChar char="•"/>
              <a:tabLst>
                <a:tab pos="241935" algn="l"/>
              </a:tabLst>
            </a:pPr>
            <a:r>
              <a:rPr sz="2600" dirty="0">
                <a:latin typeface="Calibri"/>
                <a:cs typeface="Calibri"/>
              </a:rPr>
              <a:t>Widely </a:t>
            </a:r>
            <a:r>
              <a:rPr sz="2600" spc="-5" dirty="0">
                <a:latin typeface="Calibri"/>
                <a:cs typeface="Calibri"/>
              </a:rPr>
              <a:t>used </a:t>
            </a:r>
            <a:r>
              <a:rPr sz="2600" spc="-10" dirty="0">
                <a:latin typeface="Calibri"/>
                <a:cs typeface="Calibri"/>
              </a:rPr>
              <a:t>professional </a:t>
            </a:r>
            <a:r>
              <a:rPr sz="2600" spc="-5" dirty="0">
                <a:latin typeface="Calibri"/>
                <a:cs typeface="Calibri"/>
              </a:rPr>
              <a:t>language </a:t>
            </a:r>
            <a:r>
              <a:rPr sz="2600" spc="-25" dirty="0">
                <a:latin typeface="Calibri"/>
                <a:cs typeface="Calibri"/>
              </a:rPr>
              <a:t>for </a:t>
            </a:r>
            <a:r>
              <a:rPr sz="2600" spc="-5" dirty="0">
                <a:latin typeface="Calibri"/>
                <a:cs typeface="Calibri"/>
              </a:rPr>
              <a:t>various</a:t>
            </a:r>
            <a:r>
              <a:rPr sz="2600" spc="-50" dirty="0">
                <a:latin typeface="Calibri"/>
                <a:cs typeface="Calibri"/>
              </a:rPr>
              <a:t> </a:t>
            </a:r>
            <a:r>
              <a:rPr sz="2600" spc="-5" dirty="0">
                <a:latin typeface="Calibri"/>
                <a:cs typeface="Calibri"/>
              </a:rPr>
              <a:t>reasons:</a:t>
            </a:r>
            <a:endParaRPr sz="2600">
              <a:latin typeface="Calibri"/>
              <a:cs typeface="Calibri"/>
            </a:endParaRPr>
          </a:p>
          <a:p>
            <a:pPr marL="698500" lvl="1" indent="-228600">
              <a:lnSpc>
                <a:spcPts val="2620"/>
              </a:lnSpc>
              <a:buFont typeface="Arial"/>
              <a:buChar char="•"/>
              <a:tabLst>
                <a:tab pos="699135" algn="l"/>
              </a:tabLst>
            </a:pPr>
            <a:r>
              <a:rPr sz="2200" spc="-25" dirty="0">
                <a:latin typeface="Calibri"/>
                <a:cs typeface="Calibri"/>
              </a:rPr>
              <a:t>Easy </a:t>
            </a:r>
            <a:r>
              <a:rPr sz="2200" spc="-20" dirty="0">
                <a:latin typeface="Calibri"/>
                <a:cs typeface="Calibri"/>
              </a:rPr>
              <a:t>to</a:t>
            </a:r>
            <a:r>
              <a:rPr sz="2200" spc="-25" dirty="0">
                <a:latin typeface="Calibri"/>
                <a:cs typeface="Calibri"/>
              </a:rPr>
              <a:t> </a:t>
            </a:r>
            <a:r>
              <a:rPr sz="2200" spc="-5" dirty="0">
                <a:latin typeface="Calibri"/>
                <a:cs typeface="Calibri"/>
              </a:rPr>
              <a:t>learn</a:t>
            </a:r>
            <a:endParaRPr sz="2200">
              <a:latin typeface="Calibri"/>
              <a:cs typeface="Calibri"/>
            </a:endParaRPr>
          </a:p>
          <a:p>
            <a:pPr marL="698500" lvl="1" indent="-228600">
              <a:lnSpc>
                <a:spcPts val="2610"/>
              </a:lnSpc>
              <a:buFont typeface="Arial"/>
              <a:buChar char="•"/>
              <a:tabLst>
                <a:tab pos="699135" algn="l"/>
              </a:tabLst>
            </a:pPr>
            <a:r>
              <a:rPr sz="2200" spc="-10" dirty="0">
                <a:latin typeface="Calibri"/>
                <a:cs typeface="Calibri"/>
              </a:rPr>
              <a:t>Structured</a:t>
            </a:r>
            <a:r>
              <a:rPr sz="2200" spc="-60" dirty="0">
                <a:latin typeface="Calibri"/>
                <a:cs typeface="Calibri"/>
              </a:rPr>
              <a:t> </a:t>
            </a:r>
            <a:r>
              <a:rPr sz="2200" spc="-10" dirty="0">
                <a:latin typeface="Calibri"/>
                <a:cs typeface="Calibri"/>
              </a:rPr>
              <a:t>language</a:t>
            </a:r>
            <a:endParaRPr sz="2200">
              <a:latin typeface="Calibri"/>
              <a:cs typeface="Calibri"/>
            </a:endParaRPr>
          </a:p>
          <a:p>
            <a:pPr marL="698500" lvl="1" indent="-228600">
              <a:lnSpc>
                <a:spcPts val="2615"/>
              </a:lnSpc>
              <a:buFont typeface="Arial"/>
              <a:buChar char="•"/>
              <a:tabLst>
                <a:tab pos="699135" algn="l"/>
              </a:tabLst>
            </a:pPr>
            <a:r>
              <a:rPr sz="2200" spc="-20" dirty="0">
                <a:latin typeface="Calibri"/>
                <a:cs typeface="Calibri"/>
              </a:rPr>
              <a:t>Efficient</a:t>
            </a:r>
            <a:r>
              <a:rPr sz="2200" spc="-40" dirty="0">
                <a:latin typeface="Calibri"/>
                <a:cs typeface="Calibri"/>
              </a:rPr>
              <a:t> </a:t>
            </a:r>
            <a:r>
              <a:rPr sz="2200" spc="-15" dirty="0">
                <a:latin typeface="Calibri"/>
                <a:cs typeface="Calibri"/>
              </a:rPr>
              <a:t>programs.</a:t>
            </a:r>
            <a:endParaRPr sz="2200">
              <a:latin typeface="Calibri"/>
              <a:cs typeface="Calibri"/>
            </a:endParaRPr>
          </a:p>
          <a:p>
            <a:pPr marL="698500" lvl="1" indent="-228600">
              <a:lnSpc>
                <a:spcPts val="2610"/>
              </a:lnSpc>
              <a:buFont typeface="Arial"/>
              <a:buChar char="•"/>
              <a:tabLst>
                <a:tab pos="699135" algn="l"/>
              </a:tabLst>
            </a:pPr>
            <a:r>
              <a:rPr sz="2200" spc="-10" dirty="0">
                <a:latin typeface="Calibri"/>
                <a:cs typeface="Calibri"/>
              </a:rPr>
              <a:t>Low-level</a:t>
            </a:r>
            <a:r>
              <a:rPr sz="2200" spc="-40" dirty="0">
                <a:latin typeface="Calibri"/>
                <a:cs typeface="Calibri"/>
              </a:rPr>
              <a:t> </a:t>
            </a:r>
            <a:r>
              <a:rPr sz="2200" spc="-5" dirty="0">
                <a:latin typeface="Calibri"/>
                <a:cs typeface="Calibri"/>
              </a:rPr>
              <a:t>activities.</a:t>
            </a:r>
            <a:endParaRPr sz="2200">
              <a:latin typeface="Calibri"/>
              <a:cs typeface="Calibri"/>
            </a:endParaRPr>
          </a:p>
          <a:p>
            <a:pPr marL="698500" lvl="1" indent="-228600">
              <a:lnSpc>
                <a:spcPts val="2625"/>
              </a:lnSpc>
              <a:buFont typeface="Arial"/>
              <a:buChar char="•"/>
              <a:tabLst>
                <a:tab pos="699135" algn="l"/>
              </a:tabLst>
            </a:pPr>
            <a:r>
              <a:rPr sz="2200" spc="-15" dirty="0">
                <a:latin typeface="Calibri"/>
                <a:cs typeface="Calibri"/>
              </a:rPr>
              <a:t>Platform</a:t>
            </a:r>
            <a:r>
              <a:rPr sz="2200" spc="-35" dirty="0">
                <a:latin typeface="Calibri"/>
                <a:cs typeface="Calibri"/>
              </a:rPr>
              <a:t> </a:t>
            </a:r>
            <a:r>
              <a:rPr sz="2200" spc="-10" dirty="0">
                <a:latin typeface="Calibri"/>
                <a:cs typeface="Calibri"/>
              </a:rPr>
              <a:t>independent.</a:t>
            </a:r>
            <a:endParaRPr sz="2200">
              <a:latin typeface="Calibri"/>
              <a:cs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40" dirty="0"/>
              <a:t>Characteristics </a:t>
            </a:r>
            <a:r>
              <a:rPr spc="-15" dirty="0"/>
              <a:t>of </a:t>
            </a:r>
            <a:r>
              <a:rPr dirty="0"/>
              <a:t>C</a:t>
            </a:r>
            <a:r>
              <a:rPr spc="-215" dirty="0"/>
              <a:t> </a:t>
            </a:r>
            <a:r>
              <a:rPr spc="-50" dirty="0"/>
              <a:t>programming</a:t>
            </a:r>
          </a:p>
        </p:txBody>
      </p:sp>
      <p:sp>
        <p:nvSpPr>
          <p:cNvPr id="3" name="object 3"/>
          <p:cNvSpPr txBox="1"/>
          <p:nvPr/>
        </p:nvSpPr>
        <p:spPr>
          <a:xfrm>
            <a:off x="916939" y="1805685"/>
            <a:ext cx="2977515" cy="2472690"/>
          </a:xfrm>
          <a:prstGeom prst="rect">
            <a:avLst/>
          </a:prstGeom>
        </p:spPr>
        <p:txBody>
          <a:bodyPr vert="horz" wrap="square" lIns="0" tIns="0" rIns="0" bIns="0" rtlCol="0">
            <a:spAutoFit/>
          </a:bodyPr>
          <a:lstStyle/>
          <a:p>
            <a:pPr marL="241300" indent="-228600">
              <a:lnSpc>
                <a:spcPct val="100000"/>
              </a:lnSpc>
              <a:buFont typeface="Arial"/>
              <a:buChar char="•"/>
              <a:tabLst>
                <a:tab pos="241935" algn="l"/>
              </a:tabLst>
            </a:pPr>
            <a:r>
              <a:rPr sz="2800" b="1" spc="-5" dirty="0">
                <a:latin typeface="Calibri"/>
                <a:cs typeface="Calibri"/>
              </a:rPr>
              <a:t>1.</a:t>
            </a:r>
            <a:r>
              <a:rPr sz="2800" b="1" spc="-85" dirty="0">
                <a:latin typeface="Calibri"/>
                <a:cs typeface="Calibri"/>
              </a:rPr>
              <a:t> </a:t>
            </a:r>
            <a:r>
              <a:rPr sz="2800" b="1" spc="-5" dirty="0">
                <a:latin typeface="Calibri"/>
                <a:cs typeface="Calibri"/>
              </a:rPr>
              <a:t>Simplicity</a:t>
            </a:r>
            <a:endParaRPr sz="2800">
              <a:latin typeface="Calibri"/>
              <a:cs typeface="Calibri"/>
            </a:endParaRPr>
          </a:p>
          <a:p>
            <a:pPr marL="241300" indent="-228600">
              <a:lnSpc>
                <a:spcPct val="100000"/>
              </a:lnSpc>
              <a:spcBef>
                <a:spcPts val="670"/>
              </a:spcBef>
              <a:buFont typeface="Arial"/>
              <a:buChar char="•"/>
              <a:tabLst>
                <a:tab pos="241935" algn="l"/>
              </a:tabLst>
            </a:pPr>
            <a:r>
              <a:rPr sz="2800" b="1" spc="-5" dirty="0">
                <a:latin typeface="Calibri"/>
                <a:cs typeface="Calibri"/>
              </a:rPr>
              <a:t>2.</a:t>
            </a:r>
            <a:r>
              <a:rPr sz="2800" b="1" spc="-75" dirty="0">
                <a:latin typeface="Calibri"/>
                <a:cs typeface="Calibri"/>
              </a:rPr>
              <a:t> </a:t>
            </a:r>
            <a:r>
              <a:rPr sz="2800" b="1" spc="-5" dirty="0">
                <a:latin typeface="Calibri"/>
                <a:cs typeface="Calibri"/>
              </a:rPr>
              <a:t>Clarity</a:t>
            </a:r>
            <a:endParaRPr sz="2800">
              <a:latin typeface="Calibri"/>
              <a:cs typeface="Calibri"/>
            </a:endParaRPr>
          </a:p>
          <a:p>
            <a:pPr marL="241300" indent="-228600">
              <a:lnSpc>
                <a:spcPct val="100000"/>
              </a:lnSpc>
              <a:spcBef>
                <a:spcPts val="660"/>
              </a:spcBef>
              <a:buFont typeface="Arial"/>
              <a:buChar char="•"/>
              <a:tabLst>
                <a:tab pos="241935" algn="l"/>
              </a:tabLst>
            </a:pPr>
            <a:r>
              <a:rPr sz="2800" b="1" spc="-5" dirty="0">
                <a:latin typeface="Calibri"/>
                <a:cs typeface="Calibri"/>
              </a:rPr>
              <a:t>3.</a:t>
            </a:r>
            <a:r>
              <a:rPr sz="2800" b="1" spc="-85" dirty="0">
                <a:latin typeface="Calibri"/>
                <a:cs typeface="Calibri"/>
              </a:rPr>
              <a:t> </a:t>
            </a:r>
            <a:r>
              <a:rPr sz="2800" b="1" spc="-10" dirty="0">
                <a:latin typeface="Calibri"/>
                <a:cs typeface="Calibri"/>
              </a:rPr>
              <a:t>Portability</a:t>
            </a:r>
            <a:endParaRPr sz="2800">
              <a:latin typeface="Calibri"/>
              <a:cs typeface="Calibri"/>
            </a:endParaRPr>
          </a:p>
          <a:p>
            <a:pPr marL="241300" indent="-228600">
              <a:lnSpc>
                <a:spcPct val="100000"/>
              </a:lnSpc>
              <a:spcBef>
                <a:spcPts val="660"/>
              </a:spcBef>
              <a:buFont typeface="Arial"/>
              <a:buChar char="•"/>
              <a:tabLst>
                <a:tab pos="241935" algn="l"/>
              </a:tabLst>
            </a:pPr>
            <a:r>
              <a:rPr sz="2800" b="1" spc="-5" dirty="0">
                <a:latin typeface="Calibri"/>
                <a:cs typeface="Calibri"/>
              </a:rPr>
              <a:t>4.</a:t>
            </a:r>
            <a:r>
              <a:rPr sz="2800" b="1" spc="-60" dirty="0">
                <a:latin typeface="Calibri"/>
                <a:cs typeface="Calibri"/>
              </a:rPr>
              <a:t> </a:t>
            </a:r>
            <a:r>
              <a:rPr sz="2800" b="1" spc="-5" dirty="0">
                <a:latin typeface="Calibri"/>
                <a:cs typeface="Calibri"/>
              </a:rPr>
              <a:t>Modularity</a:t>
            </a:r>
            <a:endParaRPr sz="2800">
              <a:latin typeface="Calibri"/>
              <a:cs typeface="Calibri"/>
            </a:endParaRPr>
          </a:p>
          <a:p>
            <a:pPr marL="241300" indent="-228600">
              <a:lnSpc>
                <a:spcPct val="100000"/>
              </a:lnSpc>
              <a:spcBef>
                <a:spcPts val="670"/>
              </a:spcBef>
              <a:buFont typeface="Arial"/>
              <a:buChar char="•"/>
              <a:tabLst>
                <a:tab pos="241935" algn="l"/>
              </a:tabLst>
            </a:pPr>
            <a:r>
              <a:rPr sz="2800" b="1" spc="-5" dirty="0">
                <a:latin typeface="Calibri"/>
                <a:cs typeface="Calibri"/>
              </a:rPr>
              <a:t>5. </a:t>
            </a:r>
            <a:r>
              <a:rPr sz="2800" b="1" spc="-25" dirty="0">
                <a:latin typeface="Calibri"/>
                <a:cs typeface="Calibri"/>
              </a:rPr>
              <a:t>Easy</a:t>
            </a:r>
            <a:r>
              <a:rPr sz="2800" b="1" spc="-50" dirty="0">
                <a:latin typeface="Calibri"/>
                <a:cs typeface="Calibri"/>
              </a:rPr>
              <a:t> </a:t>
            </a:r>
            <a:r>
              <a:rPr sz="2800" b="1" spc="-15" dirty="0">
                <a:latin typeface="Calibri"/>
                <a:cs typeface="Calibri"/>
              </a:rPr>
              <a:t>Availability</a:t>
            </a:r>
            <a:endParaRPr sz="2800">
              <a:latin typeface="Calibri"/>
              <a:cs typeface="Calibri"/>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a:t>
            </a:r>
            <a:r>
              <a:rPr spc="-95" dirty="0"/>
              <a:t> </a:t>
            </a:r>
            <a:r>
              <a:rPr spc="-25" dirty="0"/>
              <a:t>Programs</a:t>
            </a:r>
          </a:p>
        </p:txBody>
      </p:sp>
      <p:sp>
        <p:nvSpPr>
          <p:cNvPr id="3" name="object 3"/>
          <p:cNvSpPr txBox="1"/>
          <p:nvPr/>
        </p:nvSpPr>
        <p:spPr>
          <a:xfrm>
            <a:off x="916939" y="1848358"/>
            <a:ext cx="7847965" cy="2103755"/>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2800" spc="-5" dirty="0">
                <a:latin typeface="Calibri"/>
                <a:cs typeface="Calibri"/>
              </a:rPr>
              <a:t>A C </a:t>
            </a:r>
            <a:r>
              <a:rPr sz="2800" spc="-25" dirty="0">
                <a:latin typeface="Calibri"/>
                <a:cs typeface="Calibri"/>
              </a:rPr>
              <a:t>program </a:t>
            </a:r>
            <a:r>
              <a:rPr sz="2800" spc="-10" dirty="0">
                <a:latin typeface="Calibri"/>
                <a:cs typeface="Calibri"/>
              </a:rPr>
              <a:t>can vary </a:t>
            </a:r>
            <a:r>
              <a:rPr sz="2800" spc="-20" dirty="0">
                <a:latin typeface="Calibri"/>
                <a:cs typeface="Calibri"/>
              </a:rPr>
              <a:t>from </a:t>
            </a:r>
            <a:r>
              <a:rPr sz="2800" spc="-5" dirty="0">
                <a:latin typeface="Calibri"/>
                <a:cs typeface="Calibri"/>
              </a:rPr>
              <a:t>3 </a:t>
            </a:r>
            <a:r>
              <a:rPr sz="2800" spc="-10" dirty="0">
                <a:latin typeface="Calibri"/>
                <a:cs typeface="Calibri"/>
              </a:rPr>
              <a:t>lines </a:t>
            </a:r>
            <a:r>
              <a:rPr sz="2800" spc="-15" dirty="0">
                <a:latin typeface="Calibri"/>
                <a:cs typeface="Calibri"/>
              </a:rPr>
              <a:t>to </a:t>
            </a:r>
            <a:r>
              <a:rPr sz="2800" spc="-10" dirty="0">
                <a:latin typeface="Calibri"/>
                <a:cs typeface="Calibri"/>
              </a:rPr>
              <a:t>millions </a:t>
            </a:r>
            <a:r>
              <a:rPr sz="2800" spc="-5" dirty="0">
                <a:latin typeface="Calibri"/>
                <a:cs typeface="Calibri"/>
              </a:rPr>
              <a:t>of</a:t>
            </a:r>
            <a:r>
              <a:rPr sz="2800" spc="240" dirty="0">
                <a:latin typeface="Calibri"/>
                <a:cs typeface="Calibri"/>
              </a:rPr>
              <a:t> </a:t>
            </a:r>
            <a:r>
              <a:rPr sz="2800" spc="-10" dirty="0">
                <a:latin typeface="Calibri"/>
                <a:cs typeface="Calibri"/>
              </a:rPr>
              <a:t>lines.</a:t>
            </a:r>
            <a:endParaRPr sz="2800">
              <a:latin typeface="Calibri"/>
              <a:cs typeface="Calibri"/>
            </a:endParaRPr>
          </a:p>
          <a:p>
            <a:pPr marL="184785" indent="-172085">
              <a:lnSpc>
                <a:spcPct val="100000"/>
              </a:lnSpc>
              <a:buFont typeface="Arial"/>
              <a:buChar char="•"/>
              <a:tabLst>
                <a:tab pos="185420" algn="l"/>
                <a:tab pos="2098040" algn="l"/>
              </a:tabLst>
            </a:pPr>
            <a:r>
              <a:rPr sz="2800" spc="-25" dirty="0">
                <a:latin typeface="Calibri"/>
                <a:cs typeface="Calibri"/>
              </a:rPr>
              <a:t>Written</a:t>
            </a:r>
            <a:r>
              <a:rPr sz="2800" spc="5" dirty="0">
                <a:latin typeface="Calibri"/>
                <a:cs typeface="Calibri"/>
              </a:rPr>
              <a:t> </a:t>
            </a:r>
            <a:r>
              <a:rPr sz="2800" spc="-20" dirty="0">
                <a:latin typeface="Calibri"/>
                <a:cs typeface="Calibri"/>
              </a:rPr>
              <a:t>into	</a:t>
            </a:r>
            <a:r>
              <a:rPr sz="2800" spc="-5" dirty="0">
                <a:latin typeface="Calibri"/>
                <a:cs typeface="Calibri"/>
              </a:rPr>
              <a:t>a </a:t>
            </a:r>
            <a:r>
              <a:rPr sz="2800" spc="-20" dirty="0">
                <a:latin typeface="Calibri"/>
                <a:cs typeface="Calibri"/>
              </a:rPr>
              <a:t>text</a:t>
            </a:r>
            <a:r>
              <a:rPr sz="2800" spc="-80" dirty="0">
                <a:latin typeface="Calibri"/>
                <a:cs typeface="Calibri"/>
              </a:rPr>
              <a:t> </a:t>
            </a:r>
            <a:r>
              <a:rPr sz="2800" spc="-10" dirty="0">
                <a:latin typeface="Calibri"/>
                <a:cs typeface="Calibri"/>
              </a:rPr>
              <a:t>file.</a:t>
            </a:r>
            <a:endParaRPr sz="2800">
              <a:latin typeface="Calibri"/>
              <a:cs typeface="Calibri"/>
            </a:endParaRPr>
          </a:p>
          <a:p>
            <a:pPr marL="184785" indent="-172085">
              <a:lnSpc>
                <a:spcPct val="100000"/>
              </a:lnSpc>
              <a:buFont typeface="Arial"/>
              <a:buChar char="•"/>
              <a:tabLst>
                <a:tab pos="185420" algn="l"/>
              </a:tabLst>
            </a:pPr>
            <a:r>
              <a:rPr sz="2800" spc="-5" dirty="0">
                <a:latin typeface="Calibri"/>
                <a:cs typeface="Calibri"/>
              </a:rPr>
              <a:t>With </a:t>
            </a:r>
            <a:r>
              <a:rPr sz="2800" spc="-15" dirty="0">
                <a:latin typeface="Calibri"/>
                <a:cs typeface="Calibri"/>
              </a:rPr>
              <a:t>extension</a:t>
            </a:r>
            <a:r>
              <a:rPr sz="2800" spc="-20" dirty="0">
                <a:latin typeface="Calibri"/>
                <a:cs typeface="Calibri"/>
              </a:rPr>
              <a:t> </a:t>
            </a:r>
            <a:r>
              <a:rPr sz="2800" spc="-55" dirty="0">
                <a:latin typeface="Calibri"/>
                <a:cs typeface="Calibri"/>
              </a:rPr>
              <a:t>".c“.</a:t>
            </a:r>
            <a:endParaRPr sz="2800">
              <a:latin typeface="Calibri"/>
              <a:cs typeface="Calibri"/>
            </a:endParaRPr>
          </a:p>
          <a:p>
            <a:pPr marL="641985" lvl="1" indent="-172085">
              <a:lnSpc>
                <a:spcPts val="2865"/>
              </a:lnSpc>
              <a:spcBef>
                <a:spcPts val="25"/>
              </a:spcBef>
              <a:buFont typeface="Arial"/>
              <a:buChar char="•"/>
              <a:tabLst>
                <a:tab pos="642620" algn="l"/>
              </a:tabLst>
            </a:pPr>
            <a:r>
              <a:rPr sz="2400" dirty="0">
                <a:latin typeface="Calibri"/>
                <a:cs typeface="Calibri"/>
              </a:rPr>
              <a:t>E.g.</a:t>
            </a:r>
            <a:r>
              <a:rPr sz="2400" spc="-80" dirty="0">
                <a:latin typeface="Calibri"/>
                <a:cs typeface="Calibri"/>
              </a:rPr>
              <a:t> </a:t>
            </a:r>
            <a:r>
              <a:rPr sz="2400" spc="-5" dirty="0">
                <a:latin typeface="Calibri"/>
                <a:cs typeface="Calibri"/>
              </a:rPr>
              <a:t>hello.c.</a:t>
            </a:r>
            <a:endParaRPr sz="2400">
              <a:latin typeface="Calibri"/>
              <a:cs typeface="Calibri"/>
            </a:endParaRPr>
          </a:p>
          <a:p>
            <a:pPr marL="184785" indent="-172085">
              <a:lnSpc>
                <a:spcPts val="3345"/>
              </a:lnSpc>
              <a:buFont typeface="Arial"/>
              <a:buChar char="•"/>
              <a:tabLst>
                <a:tab pos="185420" algn="l"/>
              </a:tabLst>
            </a:pPr>
            <a:r>
              <a:rPr sz="2800" spc="-5" dirty="0">
                <a:latin typeface="Calibri"/>
                <a:cs typeface="Calibri"/>
              </a:rPr>
              <a:t>Use a </a:t>
            </a:r>
            <a:r>
              <a:rPr sz="2800" spc="-20" dirty="0">
                <a:latin typeface="Calibri"/>
                <a:cs typeface="Calibri"/>
              </a:rPr>
              <a:t>text </a:t>
            </a:r>
            <a:r>
              <a:rPr sz="2800" spc="-10" dirty="0">
                <a:latin typeface="Calibri"/>
                <a:cs typeface="Calibri"/>
              </a:rPr>
              <a:t>editor </a:t>
            </a:r>
            <a:r>
              <a:rPr sz="2800" spc="-15" dirty="0">
                <a:latin typeface="Calibri"/>
                <a:cs typeface="Calibri"/>
              </a:rPr>
              <a:t>to </a:t>
            </a:r>
            <a:r>
              <a:rPr sz="2800" spc="-10" dirty="0">
                <a:latin typeface="Calibri"/>
                <a:cs typeface="Calibri"/>
              </a:rPr>
              <a:t>write </a:t>
            </a:r>
            <a:r>
              <a:rPr sz="2800" spc="-15" dirty="0">
                <a:latin typeface="Calibri"/>
                <a:cs typeface="Calibri"/>
              </a:rPr>
              <a:t>your </a:t>
            </a:r>
            <a:r>
              <a:rPr sz="2800" spc="-5" dirty="0">
                <a:latin typeface="Calibri"/>
                <a:cs typeface="Calibri"/>
              </a:rPr>
              <a:t>C </a:t>
            </a:r>
            <a:r>
              <a:rPr sz="2800" spc="-25" dirty="0">
                <a:latin typeface="Calibri"/>
                <a:cs typeface="Calibri"/>
              </a:rPr>
              <a:t>program </a:t>
            </a:r>
            <a:r>
              <a:rPr sz="2800" spc="-20" dirty="0">
                <a:latin typeface="Calibri"/>
                <a:cs typeface="Calibri"/>
              </a:rPr>
              <a:t>into </a:t>
            </a:r>
            <a:r>
              <a:rPr sz="2800" spc="-5" dirty="0">
                <a:latin typeface="Calibri"/>
                <a:cs typeface="Calibri"/>
              </a:rPr>
              <a:t>a</a:t>
            </a:r>
            <a:r>
              <a:rPr sz="2800" spc="180" dirty="0">
                <a:latin typeface="Calibri"/>
                <a:cs typeface="Calibri"/>
              </a:rPr>
              <a:t> </a:t>
            </a:r>
            <a:r>
              <a:rPr sz="2800" spc="-10" dirty="0">
                <a:latin typeface="Calibri"/>
                <a:cs typeface="Calibri"/>
              </a:rPr>
              <a:t>file.</a:t>
            </a:r>
            <a:endParaRPr sz="2800">
              <a:latin typeface="Calibri"/>
              <a:cs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20" dirty="0"/>
              <a:t>Environment</a:t>
            </a:r>
            <a:r>
              <a:rPr spc="-50" dirty="0"/>
              <a:t> </a:t>
            </a:r>
            <a:r>
              <a:rPr spc="-5" dirty="0"/>
              <a:t>Setup</a:t>
            </a:r>
          </a:p>
        </p:txBody>
      </p:sp>
      <p:sp>
        <p:nvSpPr>
          <p:cNvPr id="3" name="object 3"/>
          <p:cNvSpPr txBox="1"/>
          <p:nvPr/>
        </p:nvSpPr>
        <p:spPr>
          <a:xfrm>
            <a:off x="916939" y="1801621"/>
            <a:ext cx="5676265" cy="3559949"/>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2400" b="1" dirty="0">
                <a:latin typeface="Calibri"/>
                <a:cs typeface="Calibri"/>
              </a:rPr>
              <a:t>(a) </a:t>
            </a:r>
            <a:r>
              <a:rPr sz="2400" b="1" spc="-45" dirty="0">
                <a:latin typeface="Calibri"/>
                <a:cs typeface="Calibri"/>
              </a:rPr>
              <a:t>Text</a:t>
            </a:r>
            <a:r>
              <a:rPr sz="2400" b="1" spc="-95" dirty="0">
                <a:latin typeface="Calibri"/>
                <a:cs typeface="Calibri"/>
              </a:rPr>
              <a:t> </a:t>
            </a:r>
            <a:r>
              <a:rPr sz="2400" b="1" spc="-10" dirty="0">
                <a:latin typeface="Calibri"/>
                <a:cs typeface="Calibri"/>
              </a:rPr>
              <a:t>Editor</a:t>
            </a:r>
            <a:endParaRPr sz="2400" dirty="0">
              <a:latin typeface="Calibri"/>
              <a:cs typeface="Calibri"/>
            </a:endParaRPr>
          </a:p>
          <a:p>
            <a:pPr marL="184785" indent="-172085">
              <a:lnSpc>
                <a:spcPct val="100000"/>
              </a:lnSpc>
              <a:spcBef>
                <a:spcPts val="455"/>
              </a:spcBef>
              <a:buFont typeface="Arial"/>
              <a:buChar char="•"/>
              <a:tabLst>
                <a:tab pos="185420" algn="l"/>
              </a:tabLst>
            </a:pPr>
            <a:r>
              <a:rPr sz="2400" dirty="0">
                <a:latin typeface="Calibri"/>
                <a:cs typeface="Calibri"/>
              </a:rPr>
              <a:t>Used </a:t>
            </a:r>
            <a:r>
              <a:rPr sz="2400" spc="-10" dirty="0">
                <a:latin typeface="Calibri"/>
                <a:cs typeface="Calibri"/>
              </a:rPr>
              <a:t>to </a:t>
            </a:r>
            <a:r>
              <a:rPr sz="2400" dirty="0">
                <a:latin typeface="Calibri"/>
                <a:cs typeface="Calibri"/>
              </a:rPr>
              <a:t>type </a:t>
            </a:r>
            <a:r>
              <a:rPr sz="2400" spc="-5" dirty="0">
                <a:latin typeface="Calibri"/>
                <a:cs typeface="Calibri"/>
              </a:rPr>
              <a:t>your</a:t>
            </a:r>
            <a:r>
              <a:rPr sz="2400" spc="-114" dirty="0">
                <a:latin typeface="Calibri"/>
                <a:cs typeface="Calibri"/>
              </a:rPr>
              <a:t> </a:t>
            </a:r>
            <a:r>
              <a:rPr sz="2400" spc="-10" dirty="0">
                <a:latin typeface="Calibri"/>
                <a:cs typeface="Calibri"/>
              </a:rPr>
              <a:t>program.</a:t>
            </a:r>
            <a:endParaRPr sz="2400" dirty="0">
              <a:latin typeface="Calibri"/>
              <a:cs typeface="Calibri"/>
            </a:endParaRPr>
          </a:p>
          <a:p>
            <a:pPr marL="184785" indent="-172085">
              <a:lnSpc>
                <a:spcPct val="100000"/>
              </a:lnSpc>
              <a:spcBef>
                <a:spcPts val="455"/>
              </a:spcBef>
              <a:buFont typeface="Arial"/>
              <a:buChar char="•"/>
              <a:tabLst>
                <a:tab pos="185420" algn="l"/>
              </a:tabLst>
            </a:pPr>
            <a:r>
              <a:rPr sz="2400" spc="-5" dirty="0">
                <a:latin typeface="Calibri"/>
                <a:cs typeface="Calibri"/>
              </a:rPr>
              <a:t>Examples</a:t>
            </a:r>
            <a:endParaRPr sz="2400" dirty="0">
              <a:latin typeface="Calibri"/>
              <a:cs typeface="Calibri"/>
            </a:endParaRPr>
          </a:p>
          <a:p>
            <a:pPr marL="641985" lvl="1" indent="-172085">
              <a:lnSpc>
                <a:spcPct val="100000"/>
              </a:lnSpc>
              <a:spcBef>
                <a:spcPts val="45"/>
              </a:spcBef>
              <a:buFont typeface="Arial"/>
              <a:buChar char="•"/>
              <a:tabLst>
                <a:tab pos="642620" algn="l"/>
              </a:tabLst>
            </a:pPr>
            <a:r>
              <a:rPr sz="2400" spc="-5" dirty="0">
                <a:latin typeface="Calibri"/>
                <a:cs typeface="Calibri"/>
              </a:rPr>
              <a:t>Windows Notepad, OS </a:t>
            </a:r>
            <a:r>
              <a:rPr sz="2400" spc="-10" dirty="0">
                <a:latin typeface="Calibri"/>
                <a:cs typeface="Calibri"/>
              </a:rPr>
              <a:t>Edit </a:t>
            </a:r>
            <a:r>
              <a:rPr sz="2400" spc="-5" dirty="0">
                <a:latin typeface="Calibri"/>
                <a:cs typeface="Calibri"/>
              </a:rPr>
              <a:t>command, </a:t>
            </a:r>
            <a:r>
              <a:rPr sz="2400" spc="-20" dirty="0">
                <a:latin typeface="Calibri"/>
                <a:cs typeface="Calibri"/>
              </a:rPr>
              <a:t>Brief, </a:t>
            </a:r>
            <a:r>
              <a:rPr sz="2400" spc="-10" dirty="0">
                <a:latin typeface="Calibri"/>
                <a:cs typeface="Calibri"/>
              </a:rPr>
              <a:t>Epsilon, EMACS, </a:t>
            </a:r>
            <a:r>
              <a:rPr sz="2400" spc="-5" dirty="0">
                <a:latin typeface="Calibri"/>
                <a:cs typeface="Calibri"/>
              </a:rPr>
              <a:t>and vim or </a:t>
            </a:r>
            <a:r>
              <a:rPr sz="2400" spc="25" dirty="0">
                <a:latin typeface="Calibri"/>
                <a:cs typeface="Calibri"/>
              </a:rPr>
              <a:t> </a:t>
            </a:r>
            <a:r>
              <a:rPr sz="2400" spc="-5" dirty="0">
                <a:latin typeface="Calibri"/>
                <a:cs typeface="Calibri"/>
              </a:rPr>
              <a:t>vi.</a:t>
            </a:r>
            <a:endParaRPr sz="2400" dirty="0">
              <a:latin typeface="Calibri"/>
              <a:cs typeface="Calibri"/>
            </a:endParaRPr>
          </a:p>
          <a:p>
            <a:pPr marL="184785" indent="-172085">
              <a:lnSpc>
                <a:spcPct val="100000"/>
              </a:lnSpc>
              <a:spcBef>
                <a:spcPts val="450"/>
              </a:spcBef>
              <a:buFont typeface="Arial"/>
              <a:buChar char="•"/>
              <a:tabLst>
                <a:tab pos="185420" algn="l"/>
              </a:tabLst>
            </a:pPr>
            <a:r>
              <a:rPr sz="2400" spc="-10" dirty="0">
                <a:latin typeface="Calibri"/>
                <a:cs typeface="Calibri"/>
              </a:rPr>
              <a:t>Source </a:t>
            </a:r>
            <a:r>
              <a:rPr sz="2400" spc="-5" dirty="0">
                <a:latin typeface="Calibri"/>
                <a:cs typeface="Calibri"/>
              </a:rPr>
              <a:t>files</a:t>
            </a:r>
            <a:r>
              <a:rPr sz="2400" spc="-20" dirty="0">
                <a:latin typeface="Calibri"/>
                <a:cs typeface="Calibri"/>
              </a:rPr>
              <a:t> </a:t>
            </a:r>
            <a:r>
              <a:rPr sz="2400" spc="-10" dirty="0">
                <a:latin typeface="Calibri"/>
                <a:cs typeface="Calibri"/>
              </a:rPr>
              <a:t>created</a:t>
            </a:r>
            <a:endParaRPr sz="2400" dirty="0">
              <a:latin typeface="Calibri"/>
              <a:cs typeface="Calibri"/>
            </a:endParaRPr>
          </a:p>
          <a:p>
            <a:pPr marL="641985" lvl="1" indent="-172085">
              <a:lnSpc>
                <a:spcPct val="100000"/>
              </a:lnSpc>
              <a:spcBef>
                <a:spcPts val="45"/>
              </a:spcBef>
              <a:buFont typeface="Arial"/>
              <a:buChar char="•"/>
              <a:tabLst>
                <a:tab pos="642620" algn="l"/>
              </a:tabLst>
            </a:pPr>
            <a:r>
              <a:rPr sz="2400" spc="-10" dirty="0">
                <a:latin typeface="Calibri"/>
                <a:cs typeface="Calibri"/>
              </a:rPr>
              <a:t>Contain program source</a:t>
            </a:r>
            <a:r>
              <a:rPr sz="2400" spc="5" dirty="0">
                <a:latin typeface="Calibri"/>
                <a:cs typeface="Calibri"/>
              </a:rPr>
              <a:t> </a:t>
            </a:r>
            <a:r>
              <a:rPr sz="2400" spc="-5" dirty="0">
                <a:latin typeface="Calibri"/>
                <a:cs typeface="Calibri"/>
              </a:rPr>
              <a:t>code.</a:t>
            </a:r>
            <a:endParaRPr sz="2400" dirty="0">
              <a:latin typeface="Calibri"/>
              <a:cs typeface="Calibri"/>
            </a:endParaRPr>
          </a:p>
          <a:p>
            <a:pPr marL="184785" indent="-172085">
              <a:lnSpc>
                <a:spcPct val="100000"/>
              </a:lnSpc>
              <a:spcBef>
                <a:spcPts val="445"/>
              </a:spcBef>
              <a:buFont typeface="Arial"/>
              <a:buChar char="•"/>
              <a:tabLst>
                <a:tab pos="185420" algn="l"/>
              </a:tabLst>
            </a:pPr>
            <a:r>
              <a:rPr sz="2400" spc="-5" dirty="0">
                <a:latin typeface="Calibri"/>
                <a:cs typeface="Calibri"/>
              </a:rPr>
              <a:t>Extension</a:t>
            </a:r>
            <a:r>
              <a:rPr sz="2400" spc="-65" dirty="0">
                <a:latin typeface="Calibri"/>
                <a:cs typeface="Calibri"/>
              </a:rPr>
              <a:t> “.c”.</a:t>
            </a:r>
            <a:endParaRPr sz="2400" dirty="0">
              <a:latin typeface="Calibri"/>
              <a:cs typeface="Calibri"/>
            </a:endParaRPr>
          </a:p>
          <a:p>
            <a:pPr>
              <a:lnSpc>
                <a:spcPct val="100000"/>
              </a:lnSpc>
              <a:spcBef>
                <a:spcPts val="20"/>
              </a:spcBef>
            </a:pPr>
            <a:endParaRPr sz="2350" dirty="0">
              <a:latin typeface="Times New Roman"/>
              <a:cs typeface="Times New Roman"/>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20" dirty="0"/>
              <a:t>Environment</a:t>
            </a:r>
            <a:r>
              <a:rPr spc="-50" dirty="0"/>
              <a:t> </a:t>
            </a:r>
            <a:r>
              <a:rPr spc="-5" dirty="0"/>
              <a:t>Setup</a:t>
            </a:r>
          </a:p>
        </p:txBody>
      </p:sp>
      <p:sp>
        <p:nvSpPr>
          <p:cNvPr id="3" name="object 3"/>
          <p:cNvSpPr txBox="1"/>
          <p:nvPr/>
        </p:nvSpPr>
        <p:spPr>
          <a:xfrm>
            <a:off x="916939" y="1801621"/>
            <a:ext cx="5676265" cy="4306307"/>
          </a:xfrm>
          <a:prstGeom prst="rect">
            <a:avLst/>
          </a:prstGeom>
        </p:spPr>
        <p:txBody>
          <a:bodyPr vert="horz" wrap="square" lIns="0" tIns="0" rIns="0" bIns="0" rtlCol="0">
            <a:spAutoFit/>
          </a:bodyPr>
          <a:lstStyle/>
          <a:p>
            <a:pPr>
              <a:lnSpc>
                <a:spcPct val="100000"/>
              </a:lnSpc>
              <a:spcBef>
                <a:spcPts val="20"/>
              </a:spcBef>
            </a:pPr>
            <a:endParaRPr sz="2400" dirty="0">
              <a:cs typeface="Times New Roman"/>
            </a:endParaRPr>
          </a:p>
          <a:p>
            <a:pPr marL="184785" indent="-172085">
              <a:lnSpc>
                <a:spcPct val="100000"/>
              </a:lnSpc>
              <a:buFont typeface="Arial"/>
              <a:buChar char="•"/>
              <a:tabLst>
                <a:tab pos="185420" algn="l"/>
              </a:tabLst>
            </a:pPr>
            <a:r>
              <a:rPr sz="2400" b="1" dirty="0">
                <a:cs typeface="Calibri"/>
              </a:rPr>
              <a:t>(b) </a:t>
            </a:r>
            <a:r>
              <a:rPr sz="2400" b="1" spc="-5" dirty="0">
                <a:cs typeface="Calibri"/>
              </a:rPr>
              <a:t>The </a:t>
            </a:r>
            <a:r>
              <a:rPr sz="2400" b="1" dirty="0">
                <a:cs typeface="Calibri"/>
              </a:rPr>
              <a:t>C</a:t>
            </a:r>
            <a:r>
              <a:rPr sz="2400" b="1" spc="-120" dirty="0">
                <a:cs typeface="Calibri"/>
              </a:rPr>
              <a:t> </a:t>
            </a:r>
            <a:r>
              <a:rPr sz="2400" b="1" spc="-5" dirty="0">
                <a:cs typeface="Calibri"/>
              </a:rPr>
              <a:t>Compiler</a:t>
            </a:r>
            <a:endParaRPr sz="2400" dirty="0">
              <a:cs typeface="Calibri"/>
            </a:endParaRPr>
          </a:p>
          <a:p>
            <a:pPr marL="184785" indent="-172085">
              <a:lnSpc>
                <a:spcPct val="100000"/>
              </a:lnSpc>
              <a:spcBef>
                <a:spcPts val="455"/>
              </a:spcBef>
              <a:buFont typeface="Arial"/>
              <a:buChar char="•"/>
              <a:tabLst>
                <a:tab pos="185420" algn="l"/>
              </a:tabLst>
            </a:pPr>
            <a:r>
              <a:rPr sz="2400" spc="-10" dirty="0">
                <a:cs typeface="Calibri"/>
              </a:rPr>
              <a:t>Source</a:t>
            </a:r>
            <a:r>
              <a:rPr sz="2400" spc="-80" dirty="0">
                <a:cs typeface="Calibri"/>
              </a:rPr>
              <a:t> </a:t>
            </a:r>
            <a:r>
              <a:rPr sz="2400" spc="-5" dirty="0">
                <a:cs typeface="Calibri"/>
              </a:rPr>
              <a:t>code</a:t>
            </a:r>
            <a:endParaRPr sz="2400" dirty="0">
              <a:cs typeface="Calibri"/>
            </a:endParaRPr>
          </a:p>
          <a:p>
            <a:pPr marL="641985" lvl="1" indent="-172085">
              <a:lnSpc>
                <a:spcPct val="100000"/>
              </a:lnSpc>
              <a:spcBef>
                <a:spcPts val="45"/>
              </a:spcBef>
              <a:buFont typeface="Arial"/>
              <a:buChar char="•"/>
              <a:tabLst>
                <a:tab pos="642620" algn="l"/>
              </a:tabLst>
            </a:pPr>
            <a:r>
              <a:rPr sz="2400" spc="-5" dirty="0">
                <a:cs typeface="Calibri"/>
              </a:rPr>
              <a:t>Is the human readable </a:t>
            </a:r>
            <a:r>
              <a:rPr sz="2400" spc="-10" dirty="0">
                <a:cs typeface="Calibri"/>
              </a:rPr>
              <a:t>source </a:t>
            </a:r>
            <a:r>
              <a:rPr sz="2400" spc="-15" dirty="0">
                <a:cs typeface="Calibri"/>
              </a:rPr>
              <a:t>for </a:t>
            </a:r>
            <a:r>
              <a:rPr sz="2400" spc="-10" dirty="0">
                <a:cs typeface="Calibri"/>
              </a:rPr>
              <a:t>your</a:t>
            </a:r>
            <a:r>
              <a:rPr sz="2400" spc="105" dirty="0">
                <a:cs typeface="Calibri"/>
              </a:rPr>
              <a:t> </a:t>
            </a:r>
            <a:r>
              <a:rPr sz="2400" spc="-10" dirty="0">
                <a:cs typeface="Calibri"/>
              </a:rPr>
              <a:t>program.</a:t>
            </a:r>
            <a:endParaRPr sz="2400" dirty="0">
              <a:cs typeface="Calibri"/>
            </a:endParaRPr>
          </a:p>
          <a:p>
            <a:pPr marL="184785" indent="-172085">
              <a:lnSpc>
                <a:spcPct val="100000"/>
              </a:lnSpc>
              <a:spcBef>
                <a:spcPts val="445"/>
              </a:spcBef>
              <a:buFont typeface="Arial"/>
              <a:buChar char="•"/>
              <a:tabLst>
                <a:tab pos="185420" algn="l"/>
              </a:tabLst>
            </a:pPr>
            <a:r>
              <a:rPr sz="2400" dirty="0">
                <a:cs typeface="Calibri"/>
              </a:rPr>
              <a:t>It </a:t>
            </a:r>
            <a:r>
              <a:rPr sz="2400" spc="-5" dirty="0">
                <a:cs typeface="Calibri"/>
              </a:rPr>
              <a:t>needs </a:t>
            </a:r>
            <a:r>
              <a:rPr sz="2400" spc="-10" dirty="0">
                <a:cs typeface="Calibri"/>
              </a:rPr>
              <a:t>to </a:t>
            </a:r>
            <a:r>
              <a:rPr sz="2400" spc="-5" dirty="0">
                <a:cs typeface="Calibri"/>
              </a:rPr>
              <a:t>be</a:t>
            </a:r>
            <a:r>
              <a:rPr sz="2400" spc="-50" dirty="0">
                <a:cs typeface="Calibri"/>
              </a:rPr>
              <a:t> </a:t>
            </a:r>
            <a:r>
              <a:rPr sz="2400" spc="-5" dirty="0">
                <a:cs typeface="Calibri"/>
              </a:rPr>
              <a:t>"compiled“</a:t>
            </a:r>
            <a:endParaRPr sz="2400" dirty="0">
              <a:cs typeface="Calibri"/>
            </a:endParaRPr>
          </a:p>
          <a:p>
            <a:pPr marL="184785" indent="-172085">
              <a:lnSpc>
                <a:spcPct val="100000"/>
              </a:lnSpc>
              <a:spcBef>
                <a:spcPts val="465"/>
              </a:spcBef>
              <a:buFont typeface="Arial"/>
              <a:buChar char="•"/>
              <a:tabLst>
                <a:tab pos="185420" algn="l"/>
              </a:tabLst>
            </a:pPr>
            <a:r>
              <a:rPr sz="2400" spc="-10" dirty="0">
                <a:cs typeface="Calibri"/>
              </a:rPr>
              <a:t>Execute </a:t>
            </a:r>
            <a:r>
              <a:rPr sz="2400" dirty="0">
                <a:cs typeface="Calibri"/>
              </a:rPr>
              <a:t>the</a:t>
            </a:r>
            <a:r>
              <a:rPr sz="2400" spc="-80" dirty="0">
                <a:cs typeface="Calibri"/>
              </a:rPr>
              <a:t> </a:t>
            </a:r>
            <a:r>
              <a:rPr sz="2400" spc="-10" dirty="0">
                <a:cs typeface="Calibri"/>
              </a:rPr>
              <a:t>program</a:t>
            </a:r>
            <a:endParaRPr sz="2400" dirty="0">
              <a:cs typeface="Calibri"/>
            </a:endParaRPr>
          </a:p>
          <a:p>
            <a:pPr marL="641985" lvl="1" indent="-172085">
              <a:lnSpc>
                <a:spcPct val="100000"/>
              </a:lnSpc>
              <a:spcBef>
                <a:spcPts val="30"/>
              </a:spcBef>
              <a:buFont typeface="Arial"/>
              <a:buChar char="•"/>
              <a:tabLst>
                <a:tab pos="642620" algn="l"/>
              </a:tabLst>
            </a:pPr>
            <a:r>
              <a:rPr sz="2400" spc="-5" dirty="0">
                <a:cs typeface="Calibri"/>
              </a:rPr>
              <a:t>CPU</a:t>
            </a:r>
            <a:endParaRPr sz="2400" dirty="0">
              <a:cs typeface="Calibri"/>
            </a:endParaRPr>
          </a:p>
          <a:p>
            <a:pPr marL="184785" indent="-172085">
              <a:lnSpc>
                <a:spcPct val="100000"/>
              </a:lnSpc>
              <a:spcBef>
                <a:spcPts val="459"/>
              </a:spcBef>
              <a:buFont typeface="Arial"/>
              <a:buChar char="•"/>
              <a:tabLst>
                <a:tab pos="185420" algn="l"/>
              </a:tabLst>
            </a:pPr>
            <a:r>
              <a:rPr sz="2400" spc="-5" dirty="0">
                <a:cs typeface="Calibri"/>
              </a:rPr>
              <a:t>Most frequently used </a:t>
            </a:r>
            <a:r>
              <a:rPr sz="2400" dirty="0">
                <a:cs typeface="Calibri"/>
              </a:rPr>
              <a:t>and </a:t>
            </a:r>
            <a:r>
              <a:rPr sz="2400" spc="-10" dirty="0">
                <a:cs typeface="Calibri"/>
              </a:rPr>
              <a:t>free available</a:t>
            </a:r>
            <a:r>
              <a:rPr sz="2400" dirty="0">
                <a:cs typeface="Calibri"/>
              </a:rPr>
              <a:t> </a:t>
            </a:r>
            <a:r>
              <a:rPr sz="2400" spc="-5" dirty="0">
                <a:cs typeface="Calibri"/>
              </a:rPr>
              <a:t>compiler</a:t>
            </a:r>
            <a:endParaRPr sz="2400" dirty="0">
              <a:cs typeface="Calibri"/>
            </a:endParaRPr>
          </a:p>
          <a:p>
            <a:pPr marL="641985" lvl="1" indent="-172085">
              <a:lnSpc>
                <a:spcPct val="100000"/>
              </a:lnSpc>
              <a:spcBef>
                <a:spcPts val="35"/>
              </a:spcBef>
              <a:buFont typeface="Arial"/>
              <a:buChar char="•"/>
              <a:tabLst>
                <a:tab pos="642620" algn="l"/>
              </a:tabLst>
            </a:pPr>
            <a:r>
              <a:rPr sz="2400" spc="-5" dirty="0">
                <a:cs typeface="Calibri"/>
              </a:rPr>
              <a:t>GNU </a:t>
            </a:r>
            <a:r>
              <a:rPr sz="2400" dirty="0">
                <a:cs typeface="Calibri"/>
              </a:rPr>
              <a:t>C/C++</a:t>
            </a:r>
            <a:r>
              <a:rPr sz="2400" spc="-65" dirty="0">
                <a:cs typeface="Calibri"/>
              </a:rPr>
              <a:t> </a:t>
            </a:r>
            <a:r>
              <a:rPr sz="2400" spc="-20" dirty="0">
                <a:cs typeface="Calibri"/>
              </a:rPr>
              <a:t>compiler.</a:t>
            </a:r>
            <a:endParaRPr sz="2400" dirty="0">
              <a:cs typeface="Calibri"/>
            </a:endParaRPr>
          </a:p>
        </p:txBody>
      </p:sp>
    </p:spTree>
    <p:extLst>
      <p:ext uri="{BB962C8B-B14F-4D97-AF65-F5344CB8AC3E}">
        <p14:creationId xmlns:p14="http://schemas.microsoft.com/office/powerpoint/2010/main" val="8085789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623189"/>
            <a:ext cx="4707255" cy="670560"/>
          </a:xfrm>
          <a:prstGeom prst="rect">
            <a:avLst/>
          </a:prstGeom>
        </p:spPr>
        <p:txBody>
          <a:bodyPr vert="horz" wrap="square" lIns="0" tIns="0" rIns="0" bIns="0" rtlCol="0">
            <a:spAutoFit/>
          </a:bodyPr>
          <a:lstStyle/>
          <a:p>
            <a:pPr marL="12700">
              <a:lnSpc>
                <a:spcPct val="100000"/>
              </a:lnSpc>
              <a:tabLst>
                <a:tab pos="2595245" algn="l"/>
              </a:tabLst>
            </a:pPr>
            <a:r>
              <a:rPr dirty="0"/>
              <a:t>C</a:t>
            </a:r>
            <a:r>
              <a:rPr spc="5" dirty="0"/>
              <a:t> </a:t>
            </a:r>
            <a:r>
              <a:rPr spc="-30" dirty="0"/>
              <a:t>Program	</a:t>
            </a:r>
            <a:r>
              <a:rPr spc="-5" dirty="0"/>
              <a:t>Structure</a:t>
            </a:r>
          </a:p>
        </p:txBody>
      </p:sp>
      <p:sp>
        <p:nvSpPr>
          <p:cNvPr id="3" name="object 3"/>
          <p:cNvSpPr txBox="1"/>
          <p:nvPr/>
        </p:nvSpPr>
        <p:spPr>
          <a:xfrm>
            <a:off x="916939" y="1805685"/>
            <a:ext cx="9056370" cy="2913618"/>
          </a:xfrm>
          <a:prstGeom prst="rect">
            <a:avLst/>
          </a:prstGeom>
        </p:spPr>
        <p:txBody>
          <a:bodyPr vert="horz" wrap="square" lIns="0" tIns="0" rIns="0" bIns="0" rtlCol="0">
            <a:spAutoFit/>
          </a:bodyPr>
          <a:lstStyle/>
          <a:p>
            <a:pPr marL="241300" indent="-228600">
              <a:lnSpc>
                <a:spcPct val="100000"/>
              </a:lnSpc>
              <a:spcBef>
                <a:spcPts val="670"/>
              </a:spcBef>
              <a:buFont typeface="Arial"/>
              <a:buChar char="•"/>
              <a:tabLst>
                <a:tab pos="241935" algn="l"/>
              </a:tabLst>
            </a:pPr>
            <a:r>
              <a:rPr sz="2800" spc="-5" dirty="0" smtClean="0">
                <a:latin typeface="Calibri"/>
                <a:cs typeface="Calibri"/>
              </a:rPr>
              <a:t>A </a:t>
            </a:r>
            <a:r>
              <a:rPr sz="2800" spc="-5" dirty="0">
                <a:latin typeface="Calibri"/>
                <a:cs typeface="Calibri"/>
              </a:rPr>
              <a:t>C </a:t>
            </a:r>
            <a:r>
              <a:rPr sz="2800" spc="-20" dirty="0">
                <a:latin typeface="Calibri"/>
                <a:cs typeface="Calibri"/>
              </a:rPr>
              <a:t>program </a:t>
            </a:r>
            <a:r>
              <a:rPr sz="2800" spc="-10" dirty="0">
                <a:latin typeface="Calibri"/>
                <a:cs typeface="Calibri"/>
              </a:rPr>
              <a:t>basically </a:t>
            </a:r>
            <a:r>
              <a:rPr sz="2800" spc="-15" dirty="0">
                <a:latin typeface="Calibri"/>
                <a:cs typeface="Calibri"/>
              </a:rPr>
              <a:t>consists </a:t>
            </a:r>
            <a:r>
              <a:rPr sz="2800" spc="-5" dirty="0">
                <a:latin typeface="Calibri"/>
                <a:cs typeface="Calibri"/>
              </a:rPr>
              <a:t>of the </a:t>
            </a:r>
            <a:r>
              <a:rPr sz="2800" spc="-15" dirty="0">
                <a:latin typeface="Calibri"/>
                <a:cs typeface="Calibri"/>
              </a:rPr>
              <a:t>following</a:t>
            </a:r>
            <a:r>
              <a:rPr sz="2800" spc="145" dirty="0">
                <a:latin typeface="Calibri"/>
                <a:cs typeface="Calibri"/>
              </a:rPr>
              <a:t> </a:t>
            </a:r>
            <a:r>
              <a:rPr sz="2800" spc="-10" dirty="0">
                <a:latin typeface="Calibri"/>
                <a:cs typeface="Calibri"/>
              </a:rPr>
              <a:t>parts:</a:t>
            </a:r>
            <a:endParaRPr sz="2800" dirty="0">
              <a:latin typeface="Calibri"/>
              <a:cs typeface="Calibri"/>
            </a:endParaRPr>
          </a:p>
          <a:p>
            <a:pPr marL="698500" lvl="1" indent="-228600">
              <a:lnSpc>
                <a:spcPct val="100000"/>
              </a:lnSpc>
              <a:spcBef>
                <a:spcPts val="235"/>
              </a:spcBef>
              <a:buFont typeface="Arial"/>
              <a:buChar char="•"/>
              <a:tabLst>
                <a:tab pos="699135" algn="l"/>
              </a:tabLst>
            </a:pPr>
            <a:r>
              <a:rPr sz="2400" spc="-10" dirty="0">
                <a:latin typeface="Calibri"/>
                <a:cs typeface="Calibri"/>
              </a:rPr>
              <a:t>Preprocessor</a:t>
            </a:r>
            <a:r>
              <a:rPr sz="2400" spc="-55" dirty="0">
                <a:latin typeface="Calibri"/>
                <a:cs typeface="Calibri"/>
              </a:rPr>
              <a:t> </a:t>
            </a:r>
            <a:r>
              <a:rPr sz="2400" spc="-5" dirty="0">
                <a:latin typeface="Calibri"/>
                <a:cs typeface="Calibri"/>
              </a:rPr>
              <a:t>Commands</a:t>
            </a:r>
            <a:endParaRPr sz="2400" dirty="0">
              <a:latin typeface="Calibri"/>
              <a:cs typeface="Calibri"/>
            </a:endParaRPr>
          </a:p>
          <a:p>
            <a:pPr marL="698500" lvl="1" indent="-228600">
              <a:lnSpc>
                <a:spcPct val="100000"/>
              </a:lnSpc>
              <a:spcBef>
                <a:spcPts val="215"/>
              </a:spcBef>
              <a:buFont typeface="Arial"/>
              <a:buChar char="•"/>
              <a:tabLst>
                <a:tab pos="699135" algn="l"/>
              </a:tabLst>
            </a:pPr>
            <a:r>
              <a:rPr sz="2400" spc="-5" dirty="0">
                <a:latin typeface="Calibri"/>
                <a:cs typeface="Calibri"/>
              </a:rPr>
              <a:t>Functions</a:t>
            </a:r>
            <a:endParaRPr sz="2400" dirty="0">
              <a:latin typeface="Calibri"/>
              <a:cs typeface="Calibri"/>
            </a:endParaRPr>
          </a:p>
          <a:p>
            <a:pPr marL="698500" lvl="1" indent="-228600">
              <a:lnSpc>
                <a:spcPct val="100000"/>
              </a:lnSpc>
              <a:spcBef>
                <a:spcPts val="215"/>
              </a:spcBef>
              <a:buFont typeface="Arial"/>
              <a:buChar char="•"/>
              <a:tabLst>
                <a:tab pos="699135" algn="l"/>
              </a:tabLst>
            </a:pPr>
            <a:r>
              <a:rPr sz="2400" spc="-20" dirty="0">
                <a:latin typeface="Calibri"/>
                <a:cs typeface="Calibri"/>
              </a:rPr>
              <a:t>Variables</a:t>
            </a:r>
            <a:endParaRPr sz="2400" dirty="0">
              <a:latin typeface="Calibri"/>
              <a:cs typeface="Calibri"/>
            </a:endParaRPr>
          </a:p>
          <a:p>
            <a:pPr marL="698500" lvl="1" indent="-228600">
              <a:lnSpc>
                <a:spcPct val="100000"/>
              </a:lnSpc>
              <a:spcBef>
                <a:spcPts val="204"/>
              </a:spcBef>
              <a:buFont typeface="Arial"/>
              <a:buChar char="•"/>
              <a:tabLst>
                <a:tab pos="699135" algn="l"/>
              </a:tabLst>
            </a:pPr>
            <a:r>
              <a:rPr sz="2400" spc="-10" dirty="0">
                <a:latin typeface="Calibri"/>
                <a:cs typeface="Calibri"/>
              </a:rPr>
              <a:t>Statements </a:t>
            </a:r>
            <a:r>
              <a:rPr sz="2400" dirty="0">
                <a:latin typeface="Calibri"/>
                <a:cs typeface="Calibri"/>
              </a:rPr>
              <a:t>&amp;</a:t>
            </a:r>
            <a:r>
              <a:rPr sz="2400" spc="-80" dirty="0">
                <a:latin typeface="Calibri"/>
                <a:cs typeface="Calibri"/>
              </a:rPr>
              <a:t> </a:t>
            </a:r>
            <a:r>
              <a:rPr sz="2400" spc="-10" dirty="0">
                <a:latin typeface="Calibri"/>
                <a:cs typeface="Calibri"/>
              </a:rPr>
              <a:t>Expressions</a:t>
            </a:r>
            <a:endParaRPr sz="2400" dirty="0">
              <a:latin typeface="Calibri"/>
              <a:cs typeface="Calibri"/>
            </a:endParaRPr>
          </a:p>
          <a:p>
            <a:pPr marL="698500" lvl="1" indent="-228600">
              <a:lnSpc>
                <a:spcPct val="100000"/>
              </a:lnSpc>
              <a:spcBef>
                <a:spcPts val="215"/>
              </a:spcBef>
              <a:buFont typeface="Arial"/>
              <a:buChar char="•"/>
              <a:tabLst>
                <a:tab pos="699135" algn="l"/>
              </a:tabLst>
            </a:pPr>
            <a:r>
              <a:rPr sz="2400" spc="-5" dirty="0">
                <a:latin typeface="Calibri"/>
                <a:cs typeface="Calibri"/>
              </a:rPr>
              <a:t>Comments</a:t>
            </a:r>
            <a:endParaRPr sz="2400" dirty="0">
              <a:latin typeface="Calibri"/>
              <a:cs typeface="Calibri"/>
            </a:endParaRPr>
          </a:p>
          <a:p>
            <a:pPr marL="241300" indent="-228600">
              <a:lnSpc>
                <a:spcPct val="100000"/>
              </a:lnSpc>
              <a:spcBef>
                <a:spcPts val="630"/>
              </a:spcBef>
              <a:buFont typeface="Arial"/>
              <a:buChar char="•"/>
              <a:tabLst>
                <a:tab pos="241935" algn="l"/>
              </a:tabLst>
            </a:pPr>
            <a:r>
              <a:rPr sz="2800" spc="-10" dirty="0">
                <a:latin typeface="Calibri"/>
                <a:cs typeface="Calibri"/>
              </a:rPr>
              <a:t>Example </a:t>
            </a:r>
            <a:r>
              <a:rPr sz="2800" spc="-5" dirty="0">
                <a:latin typeface="Calibri"/>
                <a:cs typeface="Calibri"/>
              </a:rPr>
              <a:t>of a </a:t>
            </a:r>
            <a:r>
              <a:rPr sz="2800" spc="-10" dirty="0">
                <a:latin typeface="Calibri"/>
                <a:cs typeface="Calibri"/>
              </a:rPr>
              <a:t>simple code that </a:t>
            </a:r>
            <a:r>
              <a:rPr sz="2800" spc="-15" dirty="0">
                <a:latin typeface="Calibri"/>
                <a:cs typeface="Calibri"/>
              </a:rPr>
              <a:t>print </a:t>
            </a:r>
            <a:r>
              <a:rPr sz="2800" spc="-5" dirty="0">
                <a:latin typeface="Calibri"/>
                <a:cs typeface="Calibri"/>
              </a:rPr>
              <a:t>the </a:t>
            </a:r>
            <a:r>
              <a:rPr sz="2800" spc="-20" dirty="0">
                <a:latin typeface="Calibri"/>
                <a:cs typeface="Calibri"/>
              </a:rPr>
              <a:t>words </a:t>
            </a:r>
            <a:r>
              <a:rPr sz="2800" spc="-5" dirty="0">
                <a:latin typeface="Calibri"/>
                <a:cs typeface="Calibri"/>
              </a:rPr>
              <a:t>"Hello</a:t>
            </a:r>
            <a:r>
              <a:rPr sz="2800" spc="175" dirty="0">
                <a:latin typeface="Calibri"/>
                <a:cs typeface="Calibri"/>
              </a:rPr>
              <a:t> </a:t>
            </a:r>
            <a:r>
              <a:rPr sz="2800" spc="-25" dirty="0">
                <a:latin typeface="Calibri"/>
                <a:cs typeface="Calibri"/>
              </a:rPr>
              <a:t>World":</a:t>
            </a:r>
            <a:endParaRPr sz="2800" dirty="0">
              <a:latin typeface="Calibri"/>
              <a:cs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532003"/>
            <a:ext cx="4340860" cy="5139869"/>
          </a:xfrm>
          <a:prstGeom prst="rect">
            <a:avLst/>
          </a:prstGeom>
        </p:spPr>
        <p:txBody>
          <a:bodyPr vert="horz" wrap="square" lIns="0" tIns="0" rIns="0" bIns="0" rtlCol="0">
            <a:spAutoFit/>
          </a:bodyPr>
          <a:lstStyle/>
          <a:p>
            <a:pPr marL="527685" indent="-514984">
              <a:lnSpc>
                <a:spcPct val="100000"/>
              </a:lnSpc>
              <a:buAutoNum type="arabicPeriod"/>
              <a:tabLst>
                <a:tab pos="528320" algn="l"/>
              </a:tabLst>
            </a:pPr>
            <a:r>
              <a:rPr sz="2800" spc="-10" dirty="0">
                <a:latin typeface="Calibri"/>
                <a:cs typeface="Calibri"/>
              </a:rPr>
              <a:t>#include </a:t>
            </a:r>
            <a:r>
              <a:rPr sz="2800" spc="-15" dirty="0">
                <a:latin typeface="Calibri"/>
                <a:cs typeface="Calibri"/>
              </a:rPr>
              <a:t>&lt;stdio.h&gt;</a:t>
            </a:r>
            <a:endParaRPr sz="2800" dirty="0">
              <a:latin typeface="Calibri"/>
              <a:cs typeface="Calibri"/>
            </a:endParaRPr>
          </a:p>
          <a:p>
            <a:pPr>
              <a:lnSpc>
                <a:spcPct val="100000"/>
              </a:lnSpc>
              <a:spcBef>
                <a:spcPts val="30"/>
              </a:spcBef>
              <a:buFont typeface="Calibri"/>
              <a:buAutoNum type="arabicPeriod"/>
            </a:pPr>
            <a:endParaRPr sz="2300" dirty="0">
              <a:latin typeface="Times New Roman"/>
              <a:cs typeface="Times New Roman"/>
            </a:endParaRPr>
          </a:p>
          <a:p>
            <a:pPr marL="527685" indent="-514984">
              <a:lnSpc>
                <a:spcPct val="100000"/>
              </a:lnSpc>
              <a:buAutoNum type="arabicPeriod"/>
              <a:tabLst>
                <a:tab pos="528320" algn="l"/>
              </a:tabLst>
            </a:pPr>
            <a:r>
              <a:rPr sz="2800" spc="-15" dirty="0">
                <a:latin typeface="Calibri"/>
                <a:cs typeface="Calibri"/>
              </a:rPr>
              <a:t>int</a:t>
            </a:r>
            <a:r>
              <a:rPr sz="2800" spc="-65" dirty="0">
                <a:latin typeface="Calibri"/>
                <a:cs typeface="Calibri"/>
              </a:rPr>
              <a:t> </a:t>
            </a:r>
            <a:r>
              <a:rPr sz="2800" spc="-5" dirty="0">
                <a:latin typeface="Calibri"/>
                <a:cs typeface="Calibri"/>
              </a:rPr>
              <a:t>main()</a:t>
            </a:r>
            <a:endParaRPr sz="2800" dirty="0">
              <a:latin typeface="Calibri"/>
              <a:cs typeface="Calibri"/>
            </a:endParaRPr>
          </a:p>
          <a:p>
            <a:pPr>
              <a:lnSpc>
                <a:spcPct val="100000"/>
              </a:lnSpc>
              <a:spcBef>
                <a:spcPts val="45"/>
              </a:spcBef>
              <a:buFont typeface="Calibri"/>
              <a:buAutoNum type="arabicPeriod"/>
            </a:pPr>
            <a:endParaRPr sz="2300" dirty="0">
              <a:latin typeface="Times New Roman"/>
              <a:cs typeface="Times New Roman"/>
            </a:endParaRPr>
          </a:p>
          <a:p>
            <a:pPr marL="12700">
              <a:lnSpc>
                <a:spcPct val="100000"/>
              </a:lnSpc>
            </a:pPr>
            <a:r>
              <a:rPr sz="2800" spc="-5" dirty="0" smtClean="0">
                <a:latin typeface="Calibri"/>
                <a:cs typeface="Calibri"/>
              </a:rPr>
              <a:t>{</a:t>
            </a:r>
            <a:endParaRPr sz="2800" dirty="0">
              <a:latin typeface="Calibri"/>
              <a:cs typeface="Calibri"/>
            </a:endParaRPr>
          </a:p>
          <a:p>
            <a:pPr>
              <a:lnSpc>
                <a:spcPct val="100000"/>
              </a:lnSpc>
              <a:spcBef>
                <a:spcPts val="30"/>
              </a:spcBef>
            </a:pPr>
            <a:endParaRPr sz="2300" dirty="0">
              <a:latin typeface="Times New Roman"/>
              <a:cs typeface="Times New Roman"/>
            </a:endParaRPr>
          </a:p>
          <a:p>
            <a:pPr marL="527050" indent="-514350">
              <a:lnSpc>
                <a:spcPct val="100000"/>
              </a:lnSpc>
              <a:buAutoNum type="arabicPeriod" startAt="3"/>
              <a:tabLst>
                <a:tab pos="527685" algn="l"/>
              </a:tabLst>
            </a:pPr>
            <a:r>
              <a:rPr sz="2800" spc="-5" dirty="0">
                <a:latin typeface="Calibri"/>
                <a:cs typeface="Calibri"/>
              </a:rPr>
              <a:t>/* </a:t>
            </a:r>
            <a:r>
              <a:rPr sz="2800" spc="-30" dirty="0">
                <a:latin typeface="Calibri"/>
                <a:cs typeface="Calibri"/>
              </a:rPr>
              <a:t>my </a:t>
            </a:r>
            <a:r>
              <a:rPr sz="2800" spc="-25" dirty="0">
                <a:latin typeface="Calibri"/>
                <a:cs typeface="Calibri"/>
              </a:rPr>
              <a:t>first program </a:t>
            </a:r>
            <a:r>
              <a:rPr sz="2800" spc="-5" dirty="0">
                <a:latin typeface="Calibri"/>
                <a:cs typeface="Calibri"/>
              </a:rPr>
              <a:t>in C</a:t>
            </a:r>
            <a:r>
              <a:rPr sz="2800" spc="100" dirty="0">
                <a:latin typeface="Calibri"/>
                <a:cs typeface="Calibri"/>
              </a:rPr>
              <a:t> </a:t>
            </a:r>
            <a:r>
              <a:rPr sz="2800" spc="-10" dirty="0">
                <a:latin typeface="Calibri"/>
                <a:cs typeface="Calibri"/>
              </a:rPr>
              <a:t>*/</a:t>
            </a:r>
            <a:endParaRPr sz="2800" dirty="0">
              <a:latin typeface="Calibri"/>
              <a:cs typeface="Calibri"/>
            </a:endParaRPr>
          </a:p>
          <a:p>
            <a:pPr>
              <a:lnSpc>
                <a:spcPct val="100000"/>
              </a:lnSpc>
              <a:spcBef>
                <a:spcPts val="30"/>
              </a:spcBef>
              <a:buFont typeface="Calibri"/>
              <a:buAutoNum type="arabicPeriod" startAt="3"/>
            </a:pPr>
            <a:endParaRPr sz="2300" dirty="0">
              <a:latin typeface="Times New Roman"/>
              <a:cs typeface="Times New Roman"/>
            </a:endParaRPr>
          </a:p>
          <a:p>
            <a:pPr marL="364490" indent="-351790">
              <a:lnSpc>
                <a:spcPct val="100000"/>
              </a:lnSpc>
              <a:spcBef>
                <a:spcPts val="5"/>
              </a:spcBef>
              <a:buAutoNum type="arabicPeriod" startAt="3"/>
              <a:tabLst>
                <a:tab pos="365125" algn="l"/>
              </a:tabLst>
            </a:pPr>
            <a:r>
              <a:rPr sz="2800" spc="-15" dirty="0">
                <a:latin typeface="Calibri"/>
                <a:cs typeface="Calibri"/>
              </a:rPr>
              <a:t>printf("Hello, </a:t>
            </a:r>
            <a:r>
              <a:rPr sz="2800" spc="-30" dirty="0">
                <a:latin typeface="Calibri"/>
                <a:cs typeface="Calibri"/>
              </a:rPr>
              <a:t>World!</a:t>
            </a:r>
            <a:r>
              <a:rPr sz="2800" spc="75" dirty="0">
                <a:latin typeface="Calibri"/>
                <a:cs typeface="Calibri"/>
              </a:rPr>
              <a:t> </a:t>
            </a:r>
            <a:r>
              <a:rPr sz="2800" spc="-10" dirty="0">
                <a:latin typeface="Calibri"/>
                <a:cs typeface="Calibri"/>
              </a:rPr>
              <a:t>\n");</a:t>
            </a:r>
            <a:endParaRPr sz="2800" dirty="0">
              <a:latin typeface="Calibri"/>
              <a:cs typeface="Calibri"/>
            </a:endParaRPr>
          </a:p>
          <a:p>
            <a:pPr>
              <a:lnSpc>
                <a:spcPct val="100000"/>
              </a:lnSpc>
              <a:spcBef>
                <a:spcPts val="40"/>
              </a:spcBef>
              <a:buFont typeface="Calibri"/>
              <a:buAutoNum type="arabicPeriod" startAt="3"/>
            </a:pPr>
            <a:endParaRPr sz="2300" dirty="0">
              <a:latin typeface="Times New Roman"/>
              <a:cs typeface="Times New Roman"/>
            </a:endParaRPr>
          </a:p>
          <a:p>
            <a:pPr marL="365125" indent="-352425">
              <a:lnSpc>
                <a:spcPct val="100000"/>
              </a:lnSpc>
              <a:buAutoNum type="arabicPeriod" startAt="3"/>
              <a:tabLst>
                <a:tab pos="365760" algn="l"/>
              </a:tabLst>
            </a:pPr>
            <a:r>
              <a:rPr sz="2800" spc="-10" dirty="0">
                <a:latin typeface="Calibri"/>
                <a:cs typeface="Calibri"/>
              </a:rPr>
              <a:t>return</a:t>
            </a:r>
            <a:r>
              <a:rPr sz="2800" spc="-90" dirty="0">
                <a:latin typeface="Calibri"/>
                <a:cs typeface="Calibri"/>
              </a:rPr>
              <a:t> </a:t>
            </a:r>
            <a:r>
              <a:rPr sz="2800" spc="-10" dirty="0">
                <a:latin typeface="Calibri"/>
                <a:cs typeface="Calibri"/>
              </a:rPr>
              <a:t>0;</a:t>
            </a:r>
            <a:endParaRPr sz="2800" dirty="0">
              <a:latin typeface="Calibri"/>
              <a:cs typeface="Calibri"/>
            </a:endParaRPr>
          </a:p>
          <a:p>
            <a:pPr>
              <a:lnSpc>
                <a:spcPct val="100000"/>
              </a:lnSpc>
              <a:spcBef>
                <a:spcPts val="30"/>
              </a:spcBef>
            </a:pPr>
            <a:endParaRPr sz="2300" dirty="0">
              <a:latin typeface="Times New Roman"/>
              <a:cs typeface="Times New Roman"/>
            </a:endParaRPr>
          </a:p>
          <a:p>
            <a:pPr marL="12700">
              <a:lnSpc>
                <a:spcPct val="100000"/>
              </a:lnSpc>
            </a:pPr>
            <a:r>
              <a:rPr sz="2800" spc="-5" dirty="0" smtClean="0">
                <a:latin typeface="Calibri"/>
                <a:cs typeface="Calibri"/>
              </a:rPr>
              <a:t>}</a:t>
            </a:r>
            <a:endParaRPr sz="2800" dirty="0">
              <a:latin typeface="Calibri"/>
              <a:cs typeface="Calibri"/>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9600" y="838200"/>
            <a:ext cx="9973945" cy="4688463"/>
          </a:xfrm>
          <a:prstGeom prst="rect">
            <a:avLst/>
          </a:prstGeom>
        </p:spPr>
        <p:txBody>
          <a:bodyPr vert="horz" wrap="square" lIns="0" tIns="0" rIns="0" bIns="0" rtlCol="0">
            <a:spAutoFit/>
          </a:bodyPr>
          <a:lstStyle/>
          <a:p>
            <a:pPr marL="12700">
              <a:lnSpc>
                <a:spcPct val="100000"/>
              </a:lnSpc>
            </a:pPr>
            <a:r>
              <a:rPr sz="2400" spc="-5" dirty="0">
                <a:cs typeface="Calibri"/>
              </a:rPr>
              <a:t>Let </a:t>
            </a:r>
            <a:r>
              <a:rPr sz="2400" dirty="0">
                <a:cs typeface="Calibri"/>
              </a:rPr>
              <a:t>us look </a:t>
            </a:r>
            <a:r>
              <a:rPr lang="en-US" sz="2400" dirty="0" smtClean="0">
                <a:cs typeface="Calibri"/>
              </a:rPr>
              <a:t>at </a:t>
            </a:r>
            <a:r>
              <a:rPr sz="2400" spc="-5" dirty="0" smtClean="0">
                <a:cs typeface="Calibri"/>
              </a:rPr>
              <a:t>various </a:t>
            </a:r>
            <a:r>
              <a:rPr sz="2400" dirty="0">
                <a:cs typeface="Calibri"/>
              </a:rPr>
              <a:t>parts </a:t>
            </a:r>
            <a:r>
              <a:rPr sz="2400" spc="-5" dirty="0">
                <a:cs typeface="Calibri"/>
              </a:rPr>
              <a:t>of </a:t>
            </a:r>
            <a:r>
              <a:rPr sz="2400" dirty="0">
                <a:cs typeface="Calibri"/>
              </a:rPr>
              <a:t>the </a:t>
            </a:r>
            <a:r>
              <a:rPr sz="2400" spc="-5" dirty="0">
                <a:cs typeface="Calibri"/>
              </a:rPr>
              <a:t>above</a:t>
            </a:r>
            <a:r>
              <a:rPr sz="2400" spc="-50" dirty="0">
                <a:cs typeface="Calibri"/>
              </a:rPr>
              <a:t> </a:t>
            </a:r>
            <a:r>
              <a:rPr sz="2400" spc="-10" dirty="0">
                <a:cs typeface="Calibri"/>
              </a:rPr>
              <a:t>program:</a:t>
            </a:r>
            <a:endParaRPr sz="2400" dirty="0">
              <a:cs typeface="Calibri"/>
            </a:endParaRPr>
          </a:p>
          <a:p>
            <a:pPr>
              <a:lnSpc>
                <a:spcPct val="100000"/>
              </a:lnSpc>
            </a:pPr>
            <a:endParaRPr sz="2400" dirty="0">
              <a:cs typeface="Times New Roman"/>
            </a:endParaRPr>
          </a:p>
          <a:p>
            <a:pPr marL="12700">
              <a:lnSpc>
                <a:spcPct val="100000"/>
              </a:lnSpc>
              <a:spcBef>
                <a:spcPts val="1035"/>
              </a:spcBef>
            </a:pPr>
            <a:r>
              <a:rPr sz="2400" spc="-5" dirty="0">
                <a:cs typeface="Calibri"/>
              </a:rPr>
              <a:t>1.  The </a:t>
            </a:r>
            <a:r>
              <a:rPr sz="2400" spc="-10" dirty="0">
                <a:cs typeface="Calibri"/>
              </a:rPr>
              <a:t>first </a:t>
            </a:r>
            <a:r>
              <a:rPr sz="2400" dirty="0">
                <a:cs typeface="Calibri"/>
              </a:rPr>
              <a:t>line </a:t>
            </a:r>
            <a:r>
              <a:rPr sz="2400" spc="-5" dirty="0">
                <a:cs typeface="Calibri"/>
              </a:rPr>
              <a:t>of </a:t>
            </a:r>
            <a:r>
              <a:rPr sz="2400" dirty="0">
                <a:cs typeface="Calibri"/>
              </a:rPr>
              <a:t>the </a:t>
            </a:r>
            <a:r>
              <a:rPr sz="2400" spc="-10" dirty="0">
                <a:cs typeface="Calibri"/>
              </a:rPr>
              <a:t>program </a:t>
            </a:r>
            <a:r>
              <a:rPr sz="2400" b="1" spc="-5" dirty="0">
                <a:cs typeface="Calibri"/>
              </a:rPr>
              <a:t>#include</a:t>
            </a:r>
            <a:r>
              <a:rPr sz="2400" b="1" spc="-45" dirty="0">
                <a:cs typeface="Calibri"/>
              </a:rPr>
              <a:t> </a:t>
            </a:r>
            <a:r>
              <a:rPr sz="2400" b="1" spc="-10" dirty="0">
                <a:cs typeface="Calibri"/>
              </a:rPr>
              <a:t>&lt;</a:t>
            </a:r>
            <a:r>
              <a:rPr sz="2400" b="1" spc="-10" dirty="0" err="1">
                <a:cs typeface="Calibri"/>
              </a:rPr>
              <a:t>stdio.h</a:t>
            </a:r>
            <a:r>
              <a:rPr sz="2400" b="1" spc="-10" dirty="0" smtClean="0">
                <a:cs typeface="Calibri"/>
              </a:rPr>
              <a:t>&gt;</a:t>
            </a:r>
            <a:endParaRPr lang="en-US" sz="2400" b="1" spc="-10" dirty="0" smtClean="0">
              <a:cs typeface="Calibri"/>
            </a:endParaRPr>
          </a:p>
          <a:p>
            <a:pPr marL="12700">
              <a:lnSpc>
                <a:spcPct val="100000"/>
              </a:lnSpc>
              <a:spcBef>
                <a:spcPts val="1035"/>
              </a:spcBef>
            </a:pPr>
            <a:endParaRPr lang="en-US" sz="2400" b="1" spc="-10" dirty="0" smtClean="0">
              <a:cs typeface="Calibri"/>
            </a:endParaRPr>
          </a:p>
          <a:p>
            <a:r>
              <a:rPr lang="en-US" sz="2400" dirty="0"/>
              <a:t>is a directive to the </a:t>
            </a:r>
            <a:r>
              <a:rPr lang="en-US" sz="2400" b="1" dirty="0"/>
              <a:t>C preprocessor</a:t>
            </a:r>
            <a:r>
              <a:rPr lang="en-US" sz="2400" dirty="0"/>
              <a:t>. Lines beginning with # are processed by the </a:t>
            </a:r>
            <a:r>
              <a:rPr lang="en-US" sz="2400" dirty="0" smtClean="0"/>
              <a:t>preprocessor before </a:t>
            </a:r>
            <a:r>
              <a:rPr lang="en-US" sz="2400" dirty="0"/>
              <a:t>the program is compiled. </a:t>
            </a:r>
            <a:endParaRPr lang="en-US" sz="2400" dirty="0" smtClean="0"/>
          </a:p>
          <a:p>
            <a:endParaRPr lang="en-US" sz="2400" dirty="0"/>
          </a:p>
          <a:p>
            <a:r>
              <a:rPr lang="en-US" sz="2400" dirty="0" smtClean="0"/>
              <a:t>Tells </a:t>
            </a:r>
            <a:r>
              <a:rPr lang="en-US" sz="2400" dirty="0"/>
              <a:t>the preprocessor to include the </a:t>
            </a:r>
            <a:r>
              <a:rPr lang="en-US" sz="2400" dirty="0" smtClean="0"/>
              <a:t>contents of </a:t>
            </a:r>
            <a:r>
              <a:rPr lang="en-US" sz="2400" dirty="0"/>
              <a:t>the </a:t>
            </a:r>
            <a:r>
              <a:rPr lang="en-US" sz="2400" b="1" dirty="0"/>
              <a:t>standard input/output header </a:t>
            </a:r>
            <a:r>
              <a:rPr lang="en-US" sz="2400" dirty="0"/>
              <a:t>(</a:t>
            </a:r>
            <a:r>
              <a:rPr lang="en-US" sz="2400" b="1" dirty="0"/>
              <a:t>&lt;</a:t>
            </a:r>
            <a:r>
              <a:rPr lang="en-US" sz="2400" b="1" dirty="0" err="1"/>
              <a:t>stdio.h</a:t>
            </a:r>
            <a:r>
              <a:rPr lang="en-US" sz="2400" b="1" dirty="0"/>
              <a:t>&gt;</a:t>
            </a:r>
            <a:r>
              <a:rPr lang="en-US" sz="2400" dirty="0"/>
              <a:t>) in the program. </a:t>
            </a:r>
            <a:endParaRPr lang="en-US" sz="2400" dirty="0" smtClean="0"/>
          </a:p>
          <a:p>
            <a:endParaRPr lang="en-US" sz="2400" dirty="0"/>
          </a:p>
          <a:p>
            <a:r>
              <a:rPr lang="en-US" sz="2400" dirty="0" smtClean="0"/>
              <a:t>This </a:t>
            </a:r>
            <a:r>
              <a:rPr lang="en-US" sz="2400" dirty="0"/>
              <a:t>header </a:t>
            </a:r>
            <a:r>
              <a:rPr lang="en-US" sz="2400" dirty="0" smtClean="0"/>
              <a:t>contains information </a:t>
            </a:r>
            <a:r>
              <a:rPr lang="en-US" sz="2400" dirty="0"/>
              <a:t>used by the compiler when compiling calls to standard input/output </a:t>
            </a:r>
            <a:r>
              <a:rPr lang="en-US" sz="2400" dirty="0" smtClean="0"/>
              <a:t>library functions </a:t>
            </a:r>
            <a:r>
              <a:rPr lang="en-US" sz="2400" dirty="0"/>
              <a:t>such as </a:t>
            </a:r>
            <a:r>
              <a:rPr lang="en-US" sz="2400" dirty="0" err="1"/>
              <a:t>printf</a:t>
            </a:r>
            <a:endParaRPr sz="2400" dirty="0">
              <a:cs typeface="Calibri"/>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33400" y="457200"/>
            <a:ext cx="9973945" cy="5899051"/>
          </a:xfrm>
          <a:prstGeom prst="rect">
            <a:avLst/>
          </a:prstGeom>
        </p:spPr>
        <p:txBody>
          <a:bodyPr vert="horz" wrap="square" lIns="0" tIns="0" rIns="0" bIns="0" rtlCol="0">
            <a:spAutoFit/>
          </a:bodyPr>
          <a:lstStyle/>
          <a:p>
            <a:pPr marL="12700">
              <a:lnSpc>
                <a:spcPct val="100000"/>
              </a:lnSpc>
            </a:pPr>
            <a:r>
              <a:rPr sz="2400" spc="-5" dirty="0">
                <a:cs typeface="Calibri"/>
              </a:rPr>
              <a:t>Let </a:t>
            </a:r>
            <a:r>
              <a:rPr sz="2400" dirty="0">
                <a:cs typeface="Calibri"/>
              </a:rPr>
              <a:t>us </a:t>
            </a:r>
            <a:r>
              <a:rPr lang="en-US" sz="2400" dirty="0" smtClean="0">
                <a:cs typeface="Calibri"/>
              </a:rPr>
              <a:t>at </a:t>
            </a:r>
            <a:r>
              <a:rPr sz="2400" dirty="0" smtClean="0">
                <a:cs typeface="Calibri"/>
              </a:rPr>
              <a:t>look </a:t>
            </a:r>
            <a:r>
              <a:rPr sz="2400" spc="-5" dirty="0">
                <a:cs typeface="Calibri"/>
              </a:rPr>
              <a:t>various </a:t>
            </a:r>
            <a:r>
              <a:rPr sz="2400" dirty="0">
                <a:cs typeface="Calibri"/>
              </a:rPr>
              <a:t>parts </a:t>
            </a:r>
            <a:r>
              <a:rPr sz="2400" spc="-5" dirty="0">
                <a:cs typeface="Calibri"/>
              </a:rPr>
              <a:t>of </a:t>
            </a:r>
            <a:r>
              <a:rPr sz="2400" dirty="0">
                <a:cs typeface="Calibri"/>
              </a:rPr>
              <a:t>the </a:t>
            </a:r>
            <a:r>
              <a:rPr sz="2400" spc="-5" dirty="0">
                <a:cs typeface="Calibri"/>
              </a:rPr>
              <a:t>above</a:t>
            </a:r>
            <a:r>
              <a:rPr sz="2400" spc="-50" dirty="0">
                <a:cs typeface="Calibri"/>
              </a:rPr>
              <a:t> </a:t>
            </a:r>
            <a:r>
              <a:rPr sz="2400" spc="-10" dirty="0">
                <a:cs typeface="Calibri"/>
              </a:rPr>
              <a:t>program</a:t>
            </a:r>
            <a:r>
              <a:rPr sz="2400" spc="-10" dirty="0" smtClean="0">
                <a:cs typeface="Calibri"/>
              </a:rPr>
              <a:t>:</a:t>
            </a:r>
            <a:endParaRPr lang="en-US" sz="2400" spc="-10" dirty="0" smtClean="0">
              <a:cs typeface="Calibri"/>
            </a:endParaRPr>
          </a:p>
          <a:p>
            <a:pPr marL="12700">
              <a:lnSpc>
                <a:spcPct val="100000"/>
              </a:lnSpc>
            </a:pPr>
            <a:endParaRPr sz="2400" dirty="0">
              <a:cs typeface="Calibri"/>
            </a:endParaRPr>
          </a:p>
          <a:p>
            <a:pPr marL="12700">
              <a:lnSpc>
                <a:spcPct val="100000"/>
              </a:lnSpc>
              <a:spcBef>
                <a:spcPts val="455"/>
              </a:spcBef>
            </a:pPr>
            <a:r>
              <a:rPr sz="2400" spc="-5" dirty="0" smtClean="0">
                <a:cs typeface="Calibri"/>
              </a:rPr>
              <a:t>2</a:t>
            </a:r>
            <a:r>
              <a:rPr sz="2400" spc="-5" dirty="0">
                <a:cs typeface="Calibri"/>
              </a:rPr>
              <a:t>.  The </a:t>
            </a:r>
            <a:r>
              <a:rPr sz="2400" spc="-10" dirty="0">
                <a:cs typeface="Calibri"/>
              </a:rPr>
              <a:t>next </a:t>
            </a:r>
            <a:r>
              <a:rPr sz="2400" dirty="0">
                <a:cs typeface="Calibri"/>
              </a:rPr>
              <a:t>line </a:t>
            </a:r>
            <a:r>
              <a:rPr sz="2400" b="1" spc="-5" dirty="0">
                <a:cs typeface="Calibri"/>
              </a:rPr>
              <a:t>int</a:t>
            </a:r>
            <a:r>
              <a:rPr sz="2400" b="1" spc="-80" dirty="0">
                <a:cs typeface="Calibri"/>
              </a:rPr>
              <a:t> </a:t>
            </a:r>
            <a:r>
              <a:rPr sz="2400" b="1" dirty="0">
                <a:cs typeface="Calibri"/>
              </a:rPr>
              <a:t>main</a:t>
            </a:r>
            <a:r>
              <a:rPr sz="2400" b="1" dirty="0" smtClean="0">
                <a:cs typeface="Calibri"/>
              </a:rPr>
              <a:t>()</a:t>
            </a:r>
            <a:endParaRPr lang="en-US" sz="2400" b="1" dirty="0" smtClean="0">
              <a:cs typeface="Calibri"/>
            </a:endParaRPr>
          </a:p>
          <a:p>
            <a:pPr marL="12700">
              <a:lnSpc>
                <a:spcPct val="100000"/>
              </a:lnSpc>
              <a:spcBef>
                <a:spcPts val="455"/>
              </a:spcBef>
            </a:pPr>
            <a:endParaRPr lang="en-US" sz="2400" b="1" dirty="0" smtClean="0">
              <a:cs typeface="Calibri"/>
            </a:endParaRPr>
          </a:p>
          <a:p>
            <a:r>
              <a:rPr lang="en-US" sz="2400" dirty="0"/>
              <a:t>is a part of every C program. The parentheses after main indicate that main is a </a:t>
            </a:r>
            <a:r>
              <a:rPr lang="en-US" sz="2400" dirty="0" smtClean="0"/>
              <a:t>program building </a:t>
            </a:r>
            <a:r>
              <a:rPr lang="en-US" sz="2400" dirty="0"/>
              <a:t>block called a </a:t>
            </a:r>
            <a:r>
              <a:rPr lang="en-US" sz="2400" b="1" dirty="0"/>
              <a:t>function</a:t>
            </a:r>
            <a:r>
              <a:rPr lang="en-US" sz="2400" dirty="0"/>
              <a:t>. </a:t>
            </a:r>
            <a:endParaRPr lang="en-US" sz="2400" dirty="0" smtClean="0"/>
          </a:p>
          <a:p>
            <a:endParaRPr lang="en-US" sz="2400" dirty="0"/>
          </a:p>
          <a:p>
            <a:r>
              <a:rPr lang="en-US" sz="2400" dirty="0" smtClean="0"/>
              <a:t>C </a:t>
            </a:r>
            <a:r>
              <a:rPr lang="en-US" sz="2400" dirty="0"/>
              <a:t>programs contain one or more functions, one of </a:t>
            </a:r>
            <a:r>
              <a:rPr lang="en-US" sz="2400" dirty="0" smtClean="0"/>
              <a:t>which must </a:t>
            </a:r>
            <a:r>
              <a:rPr lang="en-US" sz="2400" dirty="0"/>
              <a:t>be main. Every program in C begins executing at the function main. </a:t>
            </a:r>
            <a:endParaRPr lang="en-US" sz="2400" dirty="0" smtClean="0"/>
          </a:p>
          <a:p>
            <a:endParaRPr lang="en-US" sz="2400" dirty="0"/>
          </a:p>
          <a:p>
            <a:r>
              <a:rPr lang="en-US" sz="2400" dirty="0" smtClean="0"/>
              <a:t>Functions can return </a:t>
            </a:r>
            <a:r>
              <a:rPr lang="en-US" sz="2400" dirty="0"/>
              <a:t>information. The keyword </a:t>
            </a:r>
            <a:r>
              <a:rPr lang="en-US" sz="2400" dirty="0" err="1"/>
              <a:t>int</a:t>
            </a:r>
            <a:r>
              <a:rPr lang="en-US" sz="2400" dirty="0"/>
              <a:t> to the left of main indicates that main “returns” </a:t>
            </a:r>
            <a:r>
              <a:rPr lang="en-US" sz="2400" dirty="0" smtClean="0"/>
              <a:t>an integer </a:t>
            </a:r>
            <a:r>
              <a:rPr lang="en-US" sz="2400" dirty="0"/>
              <a:t>(whole number) </a:t>
            </a:r>
            <a:r>
              <a:rPr lang="en-US" sz="2400" dirty="0" smtClean="0"/>
              <a:t>value</a:t>
            </a:r>
          </a:p>
          <a:p>
            <a:endParaRPr lang="en-US" sz="2400" dirty="0">
              <a:cs typeface="Calibri"/>
            </a:endParaRPr>
          </a:p>
          <a:p>
            <a:r>
              <a:rPr lang="en-US" sz="2400" spc="-5" dirty="0">
                <a:cs typeface="Calibri"/>
              </a:rPr>
              <a:t>The </a:t>
            </a:r>
            <a:r>
              <a:rPr lang="en-US" sz="2400" dirty="0">
                <a:cs typeface="Calibri"/>
              </a:rPr>
              <a:t>main </a:t>
            </a:r>
            <a:r>
              <a:rPr lang="en-US" sz="2400" spc="-5" dirty="0">
                <a:cs typeface="Calibri"/>
              </a:rPr>
              <a:t>function </a:t>
            </a:r>
            <a:r>
              <a:rPr lang="en-US" sz="2400" dirty="0">
                <a:cs typeface="Calibri"/>
              </a:rPr>
              <a:t>has a </a:t>
            </a:r>
            <a:r>
              <a:rPr lang="en-US" sz="2400" spc="-5" dirty="0">
                <a:cs typeface="Calibri"/>
              </a:rPr>
              <a:t>body which </a:t>
            </a:r>
            <a:r>
              <a:rPr lang="en-US" sz="2400" spc="-10" dirty="0">
                <a:cs typeface="Calibri"/>
              </a:rPr>
              <a:t>starts </a:t>
            </a:r>
            <a:r>
              <a:rPr lang="en-US" sz="2400" spc="-5" dirty="0">
                <a:cs typeface="Calibri"/>
              </a:rPr>
              <a:t>with </a:t>
            </a:r>
            <a:r>
              <a:rPr lang="en-US" sz="2400" dirty="0">
                <a:cs typeface="Calibri"/>
              </a:rPr>
              <a:t>an opening curly </a:t>
            </a:r>
            <a:r>
              <a:rPr lang="en-US" sz="2400" spc="-10" dirty="0">
                <a:cs typeface="Calibri"/>
              </a:rPr>
              <a:t>brace/  </a:t>
            </a:r>
            <a:r>
              <a:rPr lang="en-US" sz="2400" spc="-15" dirty="0">
                <a:cs typeface="Calibri"/>
              </a:rPr>
              <a:t>bracket </a:t>
            </a:r>
            <a:r>
              <a:rPr lang="en-US" sz="2400" dirty="0">
                <a:cs typeface="Calibri"/>
              </a:rPr>
              <a:t>and has a </a:t>
            </a:r>
            <a:r>
              <a:rPr lang="en-US" sz="2400" spc="-5" dirty="0">
                <a:cs typeface="Calibri"/>
              </a:rPr>
              <a:t>closing </a:t>
            </a:r>
            <a:r>
              <a:rPr lang="en-US" sz="2400" dirty="0">
                <a:cs typeface="Calibri"/>
              </a:rPr>
              <a:t>curly</a:t>
            </a:r>
            <a:r>
              <a:rPr lang="en-US" sz="2400" spc="-85" dirty="0">
                <a:cs typeface="Calibri"/>
              </a:rPr>
              <a:t> </a:t>
            </a:r>
            <a:r>
              <a:rPr lang="en-US" sz="2400" spc="-10" dirty="0">
                <a:cs typeface="Calibri"/>
              </a:rPr>
              <a:t>brace/bracket</a:t>
            </a:r>
            <a:endParaRPr lang="en-US" sz="2400" dirty="0">
              <a:cs typeface="Calibri"/>
            </a:endParaRPr>
          </a:p>
          <a:p>
            <a:endParaRPr sz="1500" dirty="0">
              <a:latin typeface="Calibri"/>
              <a:cs typeface="Calibri"/>
            </a:endParaRPr>
          </a:p>
        </p:txBody>
      </p:sp>
    </p:spTree>
    <p:extLst>
      <p:ext uri="{BB962C8B-B14F-4D97-AF65-F5344CB8AC3E}">
        <p14:creationId xmlns:p14="http://schemas.microsoft.com/office/powerpoint/2010/main" val="38748260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9600" y="838200"/>
            <a:ext cx="9973945" cy="3136756"/>
          </a:xfrm>
          <a:prstGeom prst="rect">
            <a:avLst/>
          </a:prstGeom>
        </p:spPr>
        <p:txBody>
          <a:bodyPr vert="horz" wrap="square" lIns="0" tIns="0" rIns="0" bIns="0" rtlCol="0">
            <a:spAutoFit/>
          </a:bodyPr>
          <a:lstStyle/>
          <a:p>
            <a:pPr marL="12700">
              <a:lnSpc>
                <a:spcPct val="100000"/>
              </a:lnSpc>
            </a:pPr>
            <a:r>
              <a:rPr sz="2400" spc="-5" dirty="0">
                <a:cs typeface="Calibri"/>
              </a:rPr>
              <a:t>Let </a:t>
            </a:r>
            <a:r>
              <a:rPr sz="2400" dirty="0">
                <a:cs typeface="Calibri"/>
              </a:rPr>
              <a:t>us look </a:t>
            </a:r>
            <a:r>
              <a:rPr lang="en-US" sz="2400" dirty="0" smtClean="0">
                <a:cs typeface="Calibri"/>
              </a:rPr>
              <a:t>at </a:t>
            </a:r>
            <a:r>
              <a:rPr sz="2400" spc="-5" dirty="0" smtClean="0">
                <a:cs typeface="Calibri"/>
              </a:rPr>
              <a:t>various </a:t>
            </a:r>
            <a:r>
              <a:rPr sz="2400" dirty="0">
                <a:cs typeface="Calibri"/>
              </a:rPr>
              <a:t>parts </a:t>
            </a:r>
            <a:r>
              <a:rPr sz="2400" spc="-5" dirty="0">
                <a:cs typeface="Calibri"/>
              </a:rPr>
              <a:t>of </a:t>
            </a:r>
            <a:r>
              <a:rPr sz="2400" dirty="0">
                <a:cs typeface="Calibri"/>
              </a:rPr>
              <a:t>the </a:t>
            </a:r>
            <a:r>
              <a:rPr sz="2400" spc="-5" dirty="0">
                <a:cs typeface="Calibri"/>
              </a:rPr>
              <a:t>above</a:t>
            </a:r>
            <a:r>
              <a:rPr sz="2400" spc="-50" dirty="0">
                <a:cs typeface="Calibri"/>
              </a:rPr>
              <a:t> </a:t>
            </a:r>
            <a:r>
              <a:rPr sz="2400" spc="-10" dirty="0">
                <a:cs typeface="Calibri"/>
              </a:rPr>
              <a:t>program:</a:t>
            </a:r>
            <a:endParaRPr sz="2400" dirty="0">
              <a:cs typeface="Calibri"/>
            </a:endParaRPr>
          </a:p>
          <a:p>
            <a:pPr>
              <a:lnSpc>
                <a:spcPct val="100000"/>
              </a:lnSpc>
            </a:pPr>
            <a:endParaRPr sz="2400" dirty="0">
              <a:cs typeface="Times New Roman"/>
            </a:endParaRPr>
          </a:p>
          <a:p>
            <a:pPr marL="12700">
              <a:lnSpc>
                <a:spcPct val="100000"/>
              </a:lnSpc>
              <a:spcBef>
                <a:spcPts val="455"/>
              </a:spcBef>
            </a:pPr>
            <a:r>
              <a:rPr sz="2400" spc="-5" dirty="0" smtClean="0">
                <a:cs typeface="Calibri"/>
              </a:rPr>
              <a:t>3</a:t>
            </a:r>
            <a:r>
              <a:rPr sz="2400" spc="-5" dirty="0">
                <a:cs typeface="Calibri"/>
              </a:rPr>
              <a:t>.  The </a:t>
            </a:r>
            <a:r>
              <a:rPr sz="2400" spc="-10" dirty="0">
                <a:cs typeface="Calibri"/>
              </a:rPr>
              <a:t>next </a:t>
            </a:r>
            <a:r>
              <a:rPr sz="2400" spc="-5" dirty="0">
                <a:cs typeface="Calibri"/>
              </a:rPr>
              <a:t>line</a:t>
            </a:r>
            <a:r>
              <a:rPr sz="2400" spc="300" dirty="0">
                <a:cs typeface="Calibri"/>
              </a:rPr>
              <a:t> </a:t>
            </a:r>
            <a:r>
              <a:rPr sz="2400" b="1" spc="-5" dirty="0" smtClean="0">
                <a:cs typeface="Calibri"/>
              </a:rPr>
              <a:t>/*...*/</a:t>
            </a:r>
            <a:endParaRPr lang="en-US" sz="2400" b="1" spc="-5" dirty="0" smtClean="0">
              <a:cs typeface="Calibri"/>
            </a:endParaRPr>
          </a:p>
          <a:p>
            <a:pPr marL="12700">
              <a:lnSpc>
                <a:spcPct val="100000"/>
              </a:lnSpc>
              <a:spcBef>
                <a:spcPts val="455"/>
              </a:spcBef>
            </a:pPr>
            <a:endParaRPr sz="2400" dirty="0">
              <a:cs typeface="Calibri"/>
            </a:endParaRPr>
          </a:p>
          <a:p>
            <a:pPr marL="241300" indent="-228600">
              <a:lnSpc>
                <a:spcPct val="100000"/>
              </a:lnSpc>
              <a:spcBef>
                <a:spcPts val="455"/>
              </a:spcBef>
              <a:buFont typeface="Arial"/>
              <a:buChar char="•"/>
              <a:tabLst>
                <a:tab pos="241935" algn="l"/>
              </a:tabLst>
            </a:pPr>
            <a:r>
              <a:rPr sz="2400" dirty="0">
                <a:cs typeface="Calibri"/>
              </a:rPr>
              <a:t>Will be </a:t>
            </a:r>
            <a:r>
              <a:rPr sz="2400" spc="-5" dirty="0">
                <a:cs typeface="Calibri"/>
              </a:rPr>
              <a:t>ignored by </a:t>
            </a:r>
            <a:r>
              <a:rPr sz="2400" dirty="0">
                <a:cs typeface="Calibri"/>
              </a:rPr>
              <a:t>the </a:t>
            </a:r>
            <a:r>
              <a:rPr sz="2400" spc="-5" dirty="0">
                <a:cs typeface="Calibri"/>
              </a:rPr>
              <a:t>compiler </a:t>
            </a:r>
            <a:r>
              <a:rPr sz="2400" dirty="0">
                <a:cs typeface="Calibri"/>
              </a:rPr>
              <a:t>and it has </a:t>
            </a:r>
            <a:r>
              <a:rPr sz="2400" spc="-5" dirty="0">
                <a:cs typeface="Calibri"/>
              </a:rPr>
              <a:t>been put </a:t>
            </a:r>
            <a:r>
              <a:rPr sz="2400" spc="-10" dirty="0">
                <a:cs typeface="Calibri"/>
              </a:rPr>
              <a:t>to </a:t>
            </a:r>
            <a:r>
              <a:rPr sz="2400" dirty="0">
                <a:cs typeface="Calibri"/>
              </a:rPr>
              <a:t>add additional </a:t>
            </a:r>
            <a:r>
              <a:rPr sz="2400" spc="-5" dirty="0">
                <a:cs typeface="Calibri"/>
              </a:rPr>
              <a:t>comments </a:t>
            </a:r>
            <a:r>
              <a:rPr sz="2400" dirty="0">
                <a:cs typeface="Calibri"/>
              </a:rPr>
              <a:t>in the</a:t>
            </a:r>
            <a:r>
              <a:rPr sz="2400" spc="-130" dirty="0">
                <a:cs typeface="Calibri"/>
              </a:rPr>
              <a:t> </a:t>
            </a:r>
            <a:r>
              <a:rPr sz="2400" spc="-10" dirty="0">
                <a:cs typeface="Calibri"/>
              </a:rPr>
              <a:t>program.</a:t>
            </a:r>
            <a:endParaRPr sz="2400" dirty="0">
              <a:cs typeface="Calibri"/>
            </a:endParaRPr>
          </a:p>
          <a:p>
            <a:pPr marL="241300" indent="-228600">
              <a:lnSpc>
                <a:spcPct val="100000"/>
              </a:lnSpc>
              <a:spcBef>
                <a:spcPts val="465"/>
              </a:spcBef>
              <a:buFont typeface="Arial"/>
              <a:buChar char="•"/>
              <a:tabLst>
                <a:tab pos="241935" algn="l"/>
              </a:tabLst>
            </a:pPr>
            <a:r>
              <a:rPr sz="2400" spc="-5" dirty="0">
                <a:cs typeface="Calibri"/>
              </a:rPr>
              <a:t>So such </a:t>
            </a:r>
            <a:r>
              <a:rPr sz="2400" dirty="0">
                <a:cs typeface="Calibri"/>
              </a:rPr>
              <a:t>lines </a:t>
            </a:r>
            <a:r>
              <a:rPr sz="2400" spc="-10" dirty="0">
                <a:cs typeface="Calibri"/>
              </a:rPr>
              <a:t>are </a:t>
            </a:r>
            <a:r>
              <a:rPr sz="2400" spc="-5" dirty="0">
                <a:cs typeface="Calibri"/>
              </a:rPr>
              <a:t>called comments </a:t>
            </a:r>
            <a:r>
              <a:rPr sz="2400" dirty="0">
                <a:cs typeface="Calibri"/>
              </a:rPr>
              <a:t>in the</a:t>
            </a:r>
            <a:r>
              <a:rPr sz="2400" spc="-50" dirty="0">
                <a:cs typeface="Calibri"/>
              </a:rPr>
              <a:t> </a:t>
            </a:r>
            <a:r>
              <a:rPr sz="2400" spc="-10" dirty="0">
                <a:cs typeface="Calibri"/>
              </a:rPr>
              <a:t>program</a:t>
            </a:r>
            <a:r>
              <a:rPr sz="2400" spc="-10" dirty="0" smtClean="0">
                <a:cs typeface="Calibri"/>
              </a:rPr>
              <a:t>.</a:t>
            </a:r>
            <a:endParaRPr lang="en-US" sz="2400" spc="-10" dirty="0" smtClean="0">
              <a:cs typeface="Calibri"/>
            </a:endParaRPr>
          </a:p>
          <a:p>
            <a:pPr marL="12700">
              <a:lnSpc>
                <a:spcPct val="100000"/>
              </a:lnSpc>
              <a:spcBef>
                <a:spcPts val="465"/>
              </a:spcBef>
              <a:tabLst>
                <a:tab pos="241935" algn="l"/>
              </a:tabLst>
            </a:pPr>
            <a:endParaRPr sz="1500" dirty="0">
              <a:latin typeface="Calibri"/>
              <a:cs typeface="Calibri"/>
            </a:endParaRPr>
          </a:p>
        </p:txBody>
      </p:sp>
    </p:spTree>
    <p:extLst>
      <p:ext uri="{BB962C8B-B14F-4D97-AF65-F5344CB8AC3E}">
        <p14:creationId xmlns:p14="http://schemas.microsoft.com/office/powerpoint/2010/main" val="7319556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9600" y="838200"/>
            <a:ext cx="9973945" cy="5657959"/>
          </a:xfrm>
          <a:prstGeom prst="rect">
            <a:avLst/>
          </a:prstGeom>
        </p:spPr>
        <p:txBody>
          <a:bodyPr vert="horz" wrap="square" lIns="0" tIns="0" rIns="0" bIns="0" rtlCol="0">
            <a:spAutoFit/>
          </a:bodyPr>
          <a:lstStyle/>
          <a:p>
            <a:pPr marL="12700">
              <a:lnSpc>
                <a:spcPct val="100000"/>
              </a:lnSpc>
            </a:pPr>
            <a:r>
              <a:rPr sz="2400" spc="-5" dirty="0">
                <a:cs typeface="Calibri"/>
              </a:rPr>
              <a:t>Let </a:t>
            </a:r>
            <a:r>
              <a:rPr sz="2400" dirty="0">
                <a:cs typeface="Calibri"/>
              </a:rPr>
              <a:t>us look </a:t>
            </a:r>
            <a:r>
              <a:rPr sz="2400" spc="-5" dirty="0">
                <a:cs typeface="Calibri"/>
              </a:rPr>
              <a:t>various </a:t>
            </a:r>
            <a:r>
              <a:rPr sz="2400" dirty="0">
                <a:cs typeface="Calibri"/>
              </a:rPr>
              <a:t>parts </a:t>
            </a:r>
            <a:r>
              <a:rPr sz="2400" spc="-5" dirty="0">
                <a:cs typeface="Calibri"/>
              </a:rPr>
              <a:t>of </a:t>
            </a:r>
            <a:r>
              <a:rPr sz="2400" dirty="0">
                <a:cs typeface="Calibri"/>
              </a:rPr>
              <a:t>the </a:t>
            </a:r>
            <a:r>
              <a:rPr sz="2400" spc="-5" dirty="0">
                <a:cs typeface="Calibri"/>
              </a:rPr>
              <a:t>above</a:t>
            </a:r>
            <a:r>
              <a:rPr sz="2400" spc="-50" dirty="0">
                <a:cs typeface="Calibri"/>
              </a:rPr>
              <a:t> </a:t>
            </a:r>
            <a:r>
              <a:rPr sz="2400" spc="-10" dirty="0">
                <a:cs typeface="Calibri"/>
              </a:rPr>
              <a:t>program:</a:t>
            </a:r>
            <a:endParaRPr sz="2400" dirty="0">
              <a:cs typeface="Calibri"/>
            </a:endParaRPr>
          </a:p>
          <a:p>
            <a:pPr marL="12700">
              <a:lnSpc>
                <a:spcPct val="100000"/>
              </a:lnSpc>
              <a:spcBef>
                <a:spcPts val="465"/>
              </a:spcBef>
              <a:tabLst>
                <a:tab pos="241935" algn="l"/>
              </a:tabLst>
            </a:pPr>
            <a:endParaRPr lang="en-US" sz="2400" spc="-10" dirty="0">
              <a:cs typeface="Calibri"/>
            </a:endParaRPr>
          </a:p>
          <a:p>
            <a:pPr marL="355600" indent="-342900">
              <a:spcBef>
                <a:spcPts val="465"/>
              </a:spcBef>
              <a:buAutoNum type="arabicPeriod" startAt="4"/>
              <a:tabLst>
                <a:tab pos="241935" algn="l"/>
              </a:tabLst>
            </a:pPr>
            <a:r>
              <a:rPr lang="en-US" sz="2400" spc="-5" dirty="0" smtClean="0">
                <a:cs typeface="Calibri"/>
              </a:rPr>
              <a:t>The  </a:t>
            </a:r>
            <a:r>
              <a:rPr lang="en-US" sz="2400" spc="-10" dirty="0">
                <a:cs typeface="Calibri"/>
              </a:rPr>
              <a:t>next  </a:t>
            </a:r>
            <a:r>
              <a:rPr lang="en-US" sz="2400" dirty="0">
                <a:cs typeface="Calibri"/>
              </a:rPr>
              <a:t>line</a:t>
            </a:r>
            <a:r>
              <a:rPr lang="en-US" sz="2400" spc="-45" dirty="0">
                <a:cs typeface="Calibri"/>
              </a:rPr>
              <a:t> </a:t>
            </a:r>
            <a:r>
              <a:rPr lang="en-US" sz="2400" b="1" spc="-5" dirty="0" err="1" smtClean="0">
                <a:cs typeface="Calibri"/>
              </a:rPr>
              <a:t>printf</a:t>
            </a:r>
            <a:r>
              <a:rPr lang="en-US" sz="2400" b="1" spc="-5" dirty="0" smtClean="0">
                <a:cs typeface="Calibri"/>
              </a:rPr>
              <a:t>(“</a:t>
            </a:r>
            <a:r>
              <a:rPr lang="en-US" sz="2400" b="1" dirty="0" smtClean="0"/>
              <a:t>Welcome </a:t>
            </a:r>
            <a:r>
              <a:rPr lang="en-US" sz="2400" b="1" dirty="0"/>
              <a:t>to C!\n</a:t>
            </a:r>
            <a:r>
              <a:rPr lang="en-US" sz="2400" b="1" dirty="0" smtClean="0"/>
              <a:t>"</a:t>
            </a:r>
            <a:r>
              <a:rPr lang="en-US" sz="2400" b="1" spc="-5" dirty="0" smtClean="0">
                <a:cs typeface="Calibri"/>
              </a:rPr>
              <a:t>);</a:t>
            </a:r>
          </a:p>
          <a:p>
            <a:pPr marL="12700">
              <a:spcBef>
                <a:spcPts val="465"/>
              </a:spcBef>
              <a:tabLst>
                <a:tab pos="241935" algn="l"/>
              </a:tabLst>
            </a:pPr>
            <a:endParaRPr lang="en-US" sz="2400" b="1" spc="-5" dirty="0" smtClean="0">
              <a:cs typeface="Calibri"/>
            </a:endParaRPr>
          </a:p>
          <a:p>
            <a:r>
              <a:rPr lang="en-US" sz="2400" dirty="0"/>
              <a:t>instructs the computer to perform an </a:t>
            </a:r>
            <a:r>
              <a:rPr lang="en-US" sz="2400" b="1" dirty="0"/>
              <a:t>action</a:t>
            </a:r>
            <a:r>
              <a:rPr lang="en-US" sz="2400" dirty="0"/>
              <a:t>, namely to print on the screen the </a:t>
            </a:r>
            <a:r>
              <a:rPr lang="en-US" sz="2400" b="1" dirty="0"/>
              <a:t>string </a:t>
            </a:r>
            <a:r>
              <a:rPr lang="en-US" sz="2400" dirty="0" smtClean="0"/>
              <a:t>of characters </a:t>
            </a:r>
            <a:r>
              <a:rPr lang="en-US" sz="2400" dirty="0"/>
              <a:t>marked by the quotation marks. A string is sometimes called a </a:t>
            </a:r>
            <a:r>
              <a:rPr lang="en-US" sz="2400" b="1" dirty="0"/>
              <a:t>character </a:t>
            </a:r>
            <a:r>
              <a:rPr lang="en-US" sz="2400" b="1" dirty="0" smtClean="0"/>
              <a:t>string</a:t>
            </a:r>
            <a:r>
              <a:rPr lang="en-US" sz="2400" dirty="0" smtClean="0"/>
              <a:t>, a </a:t>
            </a:r>
            <a:r>
              <a:rPr lang="en-US" sz="2400" b="1" dirty="0"/>
              <a:t>message </a:t>
            </a:r>
            <a:r>
              <a:rPr lang="en-US" sz="2400" dirty="0"/>
              <a:t>or a </a:t>
            </a:r>
            <a:r>
              <a:rPr lang="en-US" sz="2400" b="1" dirty="0"/>
              <a:t>literal</a:t>
            </a:r>
            <a:r>
              <a:rPr lang="en-US" sz="2400" dirty="0"/>
              <a:t>. </a:t>
            </a:r>
            <a:endParaRPr lang="en-US" sz="2400" dirty="0" smtClean="0"/>
          </a:p>
          <a:p>
            <a:endParaRPr lang="en-US" sz="2400" dirty="0"/>
          </a:p>
          <a:p>
            <a:r>
              <a:rPr lang="en-US" sz="2400" dirty="0" smtClean="0"/>
              <a:t>The </a:t>
            </a:r>
            <a:r>
              <a:rPr lang="en-US" sz="2400" dirty="0"/>
              <a:t>entire line, including </a:t>
            </a:r>
            <a:r>
              <a:rPr lang="en-US" sz="2400" dirty="0" err="1"/>
              <a:t>printf</a:t>
            </a:r>
            <a:r>
              <a:rPr lang="en-US" sz="2400" dirty="0"/>
              <a:t>, its </a:t>
            </a:r>
            <a:r>
              <a:rPr lang="en-US" sz="2400" b="1" dirty="0"/>
              <a:t>argument </a:t>
            </a:r>
            <a:r>
              <a:rPr lang="en-US" sz="2400" dirty="0"/>
              <a:t>within the </a:t>
            </a:r>
            <a:r>
              <a:rPr lang="en-US" sz="2400" dirty="0" smtClean="0"/>
              <a:t>parentheses and </a:t>
            </a:r>
            <a:r>
              <a:rPr lang="en-US" sz="2400" dirty="0"/>
              <a:t>the semicolon (;), is called a </a:t>
            </a:r>
            <a:r>
              <a:rPr lang="en-US" sz="2400" b="1" dirty="0"/>
              <a:t>statement</a:t>
            </a:r>
            <a:r>
              <a:rPr lang="en-US" sz="2400" dirty="0"/>
              <a:t>. Every statement must end with a </a:t>
            </a:r>
            <a:r>
              <a:rPr lang="en-US" sz="2400" dirty="0" smtClean="0"/>
              <a:t>semicolon (also </a:t>
            </a:r>
            <a:r>
              <a:rPr lang="en-US" sz="2400" dirty="0"/>
              <a:t>known as the </a:t>
            </a:r>
            <a:r>
              <a:rPr lang="en-US" sz="2400" b="1" dirty="0"/>
              <a:t>statement terminator</a:t>
            </a:r>
            <a:r>
              <a:rPr lang="en-US" sz="2400" dirty="0"/>
              <a:t>). </a:t>
            </a:r>
            <a:endParaRPr lang="en-US" sz="2400" dirty="0" smtClean="0"/>
          </a:p>
          <a:p>
            <a:endParaRPr lang="en-US" sz="2400" dirty="0"/>
          </a:p>
          <a:p>
            <a:r>
              <a:rPr lang="en-US" sz="2400" dirty="0" smtClean="0"/>
              <a:t>When </a:t>
            </a:r>
            <a:r>
              <a:rPr lang="en-US" sz="2400" dirty="0"/>
              <a:t>the preceding </a:t>
            </a:r>
            <a:r>
              <a:rPr lang="en-US" sz="2400" dirty="0" err="1"/>
              <a:t>printf</a:t>
            </a:r>
            <a:r>
              <a:rPr lang="en-US" sz="2400" dirty="0"/>
              <a:t> </a:t>
            </a:r>
            <a:r>
              <a:rPr lang="en-US" sz="2400" dirty="0" smtClean="0"/>
              <a:t>statement is </a:t>
            </a:r>
            <a:r>
              <a:rPr lang="en-US" sz="2400" dirty="0"/>
              <a:t>executed, it prints the message Welcome to C! on the screen.</a:t>
            </a:r>
            <a:endParaRPr lang="en-US" sz="2400" dirty="0">
              <a:cs typeface="Calibri"/>
            </a:endParaRPr>
          </a:p>
          <a:p>
            <a:pPr marL="12700">
              <a:lnSpc>
                <a:spcPct val="100000"/>
              </a:lnSpc>
              <a:spcBef>
                <a:spcPts val="465"/>
              </a:spcBef>
              <a:tabLst>
                <a:tab pos="241935" algn="l"/>
              </a:tabLst>
            </a:pPr>
            <a:endParaRPr sz="1500" dirty="0">
              <a:latin typeface="Calibri"/>
              <a:cs typeface="Calibri"/>
            </a:endParaRPr>
          </a:p>
        </p:txBody>
      </p:sp>
    </p:spTree>
    <p:extLst>
      <p:ext uri="{BB962C8B-B14F-4D97-AF65-F5344CB8AC3E}">
        <p14:creationId xmlns:p14="http://schemas.microsoft.com/office/powerpoint/2010/main" val="413168106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09600" y="838200"/>
            <a:ext cx="9973945" cy="3452227"/>
          </a:xfrm>
          <a:prstGeom prst="rect">
            <a:avLst/>
          </a:prstGeom>
        </p:spPr>
        <p:txBody>
          <a:bodyPr vert="horz" wrap="square" lIns="0" tIns="0" rIns="0" bIns="0" rtlCol="0">
            <a:spAutoFit/>
          </a:bodyPr>
          <a:lstStyle/>
          <a:p>
            <a:pPr marL="12700">
              <a:lnSpc>
                <a:spcPct val="100000"/>
              </a:lnSpc>
            </a:pPr>
            <a:r>
              <a:rPr sz="2400" spc="-5" dirty="0">
                <a:cs typeface="Calibri"/>
              </a:rPr>
              <a:t>Let </a:t>
            </a:r>
            <a:r>
              <a:rPr sz="2400" dirty="0">
                <a:cs typeface="Calibri"/>
              </a:rPr>
              <a:t>us look </a:t>
            </a:r>
            <a:r>
              <a:rPr lang="en-US" sz="2400" dirty="0" smtClean="0">
                <a:cs typeface="Calibri"/>
              </a:rPr>
              <a:t>at </a:t>
            </a:r>
            <a:r>
              <a:rPr sz="2400" spc="-5" dirty="0" smtClean="0">
                <a:cs typeface="Calibri"/>
              </a:rPr>
              <a:t>various </a:t>
            </a:r>
            <a:r>
              <a:rPr sz="2400" dirty="0">
                <a:cs typeface="Calibri"/>
              </a:rPr>
              <a:t>parts </a:t>
            </a:r>
            <a:r>
              <a:rPr sz="2400" spc="-5" dirty="0">
                <a:cs typeface="Calibri"/>
              </a:rPr>
              <a:t>of </a:t>
            </a:r>
            <a:r>
              <a:rPr sz="2400" dirty="0">
                <a:cs typeface="Calibri"/>
              </a:rPr>
              <a:t>the </a:t>
            </a:r>
            <a:r>
              <a:rPr sz="2400" spc="-5" dirty="0">
                <a:cs typeface="Calibri"/>
              </a:rPr>
              <a:t>above</a:t>
            </a:r>
            <a:r>
              <a:rPr sz="2400" spc="-50" dirty="0">
                <a:cs typeface="Calibri"/>
              </a:rPr>
              <a:t> </a:t>
            </a:r>
            <a:r>
              <a:rPr sz="2400" spc="-10" dirty="0">
                <a:cs typeface="Calibri"/>
              </a:rPr>
              <a:t>program:</a:t>
            </a:r>
            <a:endParaRPr sz="2400" dirty="0">
              <a:cs typeface="Calibri"/>
            </a:endParaRPr>
          </a:p>
          <a:p>
            <a:pPr>
              <a:lnSpc>
                <a:spcPct val="100000"/>
              </a:lnSpc>
            </a:pPr>
            <a:endParaRPr sz="2400" dirty="0">
              <a:cs typeface="Times New Roman"/>
            </a:endParaRPr>
          </a:p>
          <a:p>
            <a:pPr marL="12700">
              <a:lnSpc>
                <a:spcPct val="100000"/>
              </a:lnSpc>
              <a:spcBef>
                <a:spcPts val="465"/>
              </a:spcBef>
            </a:pPr>
            <a:r>
              <a:rPr sz="2400" spc="-5" dirty="0" smtClean="0">
                <a:cs typeface="Calibri"/>
              </a:rPr>
              <a:t>5</a:t>
            </a:r>
            <a:r>
              <a:rPr sz="2400" spc="-5" dirty="0">
                <a:cs typeface="Calibri"/>
              </a:rPr>
              <a:t>.  The </a:t>
            </a:r>
            <a:r>
              <a:rPr sz="2400" spc="-10" dirty="0">
                <a:cs typeface="Calibri"/>
              </a:rPr>
              <a:t>next </a:t>
            </a:r>
            <a:r>
              <a:rPr sz="2400" spc="-5" dirty="0">
                <a:cs typeface="Calibri"/>
              </a:rPr>
              <a:t>line </a:t>
            </a:r>
            <a:r>
              <a:rPr sz="2400" b="1" spc="-10" dirty="0">
                <a:cs typeface="Calibri"/>
              </a:rPr>
              <a:t>return</a:t>
            </a:r>
            <a:r>
              <a:rPr sz="2400" b="1" spc="-30" dirty="0">
                <a:cs typeface="Calibri"/>
              </a:rPr>
              <a:t> </a:t>
            </a:r>
            <a:r>
              <a:rPr sz="2400" b="1" spc="-5" dirty="0">
                <a:cs typeface="Calibri"/>
              </a:rPr>
              <a:t>0</a:t>
            </a:r>
            <a:r>
              <a:rPr sz="2400" b="1" spc="-5" dirty="0" smtClean="0">
                <a:cs typeface="Calibri"/>
              </a:rPr>
              <a:t>;</a:t>
            </a:r>
            <a:endParaRPr lang="en-US" sz="2400" b="1" spc="-5" dirty="0" smtClean="0">
              <a:cs typeface="Calibri"/>
            </a:endParaRPr>
          </a:p>
          <a:p>
            <a:pPr marL="12700">
              <a:lnSpc>
                <a:spcPct val="100000"/>
              </a:lnSpc>
              <a:spcBef>
                <a:spcPts val="465"/>
              </a:spcBef>
            </a:pPr>
            <a:endParaRPr lang="en-US" sz="2400" b="1" spc="-5" dirty="0">
              <a:cs typeface="Calibri"/>
            </a:endParaRPr>
          </a:p>
          <a:p>
            <a:r>
              <a:rPr lang="en-US" sz="2400" dirty="0"/>
              <a:t>is included at the end of every main function. The keyword return is one of several </a:t>
            </a:r>
            <a:r>
              <a:rPr lang="en-US" sz="2400" dirty="0" smtClean="0"/>
              <a:t>means we’ll </a:t>
            </a:r>
            <a:r>
              <a:rPr lang="en-US" sz="2400" dirty="0"/>
              <a:t>use to </a:t>
            </a:r>
            <a:r>
              <a:rPr lang="en-US" sz="2400" b="1" dirty="0"/>
              <a:t>exit a function</a:t>
            </a:r>
            <a:r>
              <a:rPr lang="en-US" sz="2400" dirty="0"/>
              <a:t>. </a:t>
            </a:r>
            <a:endParaRPr lang="en-US" sz="2400" dirty="0" smtClean="0"/>
          </a:p>
          <a:p>
            <a:endParaRPr lang="en-US" sz="2400" dirty="0"/>
          </a:p>
          <a:p>
            <a:r>
              <a:rPr lang="en-US" sz="2400" dirty="0" smtClean="0"/>
              <a:t>When </a:t>
            </a:r>
            <a:r>
              <a:rPr lang="en-US" sz="2400" dirty="0"/>
              <a:t>the return statement is used at the end of main as </a:t>
            </a:r>
            <a:r>
              <a:rPr lang="en-US" sz="2400" dirty="0" smtClean="0"/>
              <a:t>shown here</a:t>
            </a:r>
            <a:r>
              <a:rPr lang="en-US" sz="2400" dirty="0"/>
              <a:t>, the value 0 indicates that the program has terminated </a:t>
            </a:r>
            <a:r>
              <a:rPr lang="en-US" sz="2400" dirty="0" smtClean="0"/>
              <a:t>successfully.</a:t>
            </a:r>
            <a:endParaRPr sz="2400" dirty="0">
              <a:cs typeface="Calibri"/>
            </a:endParaRPr>
          </a:p>
        </p:txBody>
      </p:sp>
    </p:spTree>
    <p:extLst>
      <p:ext uri="{BB962C8B-B14F-4D97-AF65-F5344CB8AC3E}">
        <p14:creationId xmlns:p14="http://schemas.microsoft.com/office/powerpoint/2010/main" val="230050120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5" dirty="0"/>
              <a:t>Basic</a:t>
            </a:r>
            <a:r>
              <a:rPr spc="-70" dirty="0"/>
              <a:t> </a:t>
            </a:r>
            <a:r>
              <a:rPr spc="-30" dirty="0"/>
              <a:t>Syntax</a:t>
            </a:r>
          </a:p>
        </p:txBody>
      </p:sp>
      <p:sp>
        <p:nvSpPr>
          <p:cNvPr id="3" name="object 3"/>
          <p:cNvSpPr txBox="1"/>
          <p:nvPr/>
        </p:nvSpPr>
        <p:spPr>
          <a:xfrm>
            <a:off x="916939" y="1568449"/>
            <a:ext cx="10104755" cy="1766125"/>
          </a:xfrm>
          <a:prstGeom prst="rect">
            <a:avLst/>
          </a:prstGeom>
        </p:spPr>
        <p:txBody>
          <a:bodyPr vert="horz" wrap="square" lIns="0" tIns="0" rIns="0" bIns="0" rtlCol="0">
            <a:spAutoFit/>
          </a:bodyPr>
          <a:lstStyle/>
          <a:p>
            <a:pPr marL="184785" marR="5080" indent="-172085">
              <a:lnSpc>
                <a:spcPct val="70000"/>
              </a:lnSpc>
              <a:buFont typeface="Arial"/>
              <a:buChar char="•"/>
              <a:tabLst>
                <a:tab pos="185420" algn="l"/>
              </a:tabLst>
            </a:pPr>
            <a:r>
              <a:rPr sz="2400" spc="-50" dirty="0">
                <a:latin typeface="Calibri"/>
                <a:cs typeface="Calibri"/>
              </a:rPr>
              <a:t>You </a:t>
            </a:r>
            <a:r>
              <a:rPr sz="2400" spc="-10" dirty="0">
                <a:latin typeface="Calibri"/>
                <a:cs typeface="Calibri"/>
              </a:rPr>
              <a:t>have </a:t>
            </a:r>
            <a:r>
              <a:rPr sz="2400" dirty="0">
                <a:latin typeface="Calibri"/>
                <a:cs typeface="Calibri"/>
              </a:rPr>
              <a:t>seen a </a:t>
            </a:r>
            <a:r>
              <a:rPr sz="2400" spc="-5" dirty="0">
                <a:latin typeface="Calibri"/>
                <a:cs typeface="Calibri"/>
              </a:rPr>
              <a:t>basic </a:t>
            </a:r>
            <a:r>
              <a:rPr sz="2400" spc="-10" dirty="0">
                <a:latin typeface="Calibri"/>
                <a:cs typeface="Calibri"/>
              </a:rPr>
              <a:t>structure </a:t>
            </a:r>
            <a:r>
              <a:rPr sz="2400" spc="-5" dirty="0">
                <a:latin typeface="Calibri"/>
                <a:cs typeface="Calibri"/>
              </a:rPr>
              <a:t>of </a:t>
            </a:r>
            <a:r>
              <a:rPr sz="2400" dirty="0">
                <a:latin typeface="Calibri"/>
                <a:cs typeface="Calibri"/>
              </a:rPr>
              <a:t>C </a:t>
            </a:r>
            <a:r>
              <a:rPr sz="2400" spc="-10" dirty="0">
                <a:latin typeface="Calibri"/>
                <a:cs typeface="Calibri"/>
              </a:rPr>
              <a:t>program, </a:t>
            </a:r>
            <a:r>
              <a:rPr sz="2400" spc="-5" dirty="0">
                <a:latin typeface="Calibri"/>
                <a:cs typeface="Calibri"/>
              </a:rPr>
              <a:t>so </a:t>
            </a:r>
            <a:r>
              <a:rPr sz="2400" dirty="0">
                <a:latin typeface="Calibri"/>
                <a:cs typeface="Calibri"/>
              </a:rPr>
              <a:t>it </a:t>
            </a:r>
            <a:r>
              <a:rPr sz="2400" spc="-5" dirty="0">
                <a:latin typeface="Calibri"/>
                <a:cs typeface="Calibri"/>
              </a:rPr>
              <a:t>will be </a:t>
            </a:r>
            <a:r>
              <a:rPr sz="2400" spc="-10" dirty="0">
                <a:latin typeface="Calibri"/>
                <a:cs typeface="Calibri"/>
              </a:rPr>
              <a:t>easy to understand </a:t>
            </a:r>
            <a:r>
              <a:rPr sz="2400" spc="-5" dirty="0">
                <a:latin typeface="Calibri"/>
                <a:cs typeface="Calibri"/>
              </a:rPr>
              <a:t>other basic building </a:t>
            </a:r>
            <a:r>
              <a:rPr sz="2400" spc="-10" dirty="0">
                <a:latin typeface="Calibri"/>
                <a:cs typeface="Calibri"/>
              </a:rPr>
              <a:t>blocks </a:t>
            </a:r>
            <a:r>
              <a:rPr sz="2400" spc="-5" dirty="0">
                <a:latin typeface="Calibri"/>
                <a:cs typeface="Calibri"/>
              </a:rPr>
              <a:t>of  </a:t>
            </a:r>
            <a:r>
              <a:rPr sz="2400" dirty="0">
                <a:latin typeface="Calibri"/>
                <a:cs typeface="Calibri"/>
              </a:rPr>
              <a:t>the C </a:t>
            </a:r>
            <a:r>
              <a:rPr sz="2400" spc="-10" dirty="0">
                <a:latin typeface="Calibri"/>
                <a:cs typeface="Calibri"/>
              </a:rPr>
              <a:t>programming</a:t>
            </a:r>
            <a:r>
              <a:rPr sz="2400" spc="-15" dirty="0">
                <a:latin typeface="Calibri"/>
                <a:cs typeface="Calibri"/>
              </a:rPr>
              <a:t> </a:t>
            </a:r>
            <a:r>
              <a:rPr sz="2400" spc="-5" dirty="0">
                <a:latin typeface="Calibri"/>
                <a:cs typeface="Calibri"/>
              </a:rPr>
              <a:t>language.</a:t>
            </a:r>
            <a:endParaRPr sz="2400" dirty="0">
              <a:latin typeface="Calibri"/>
              <a:cs typeface="Calibri"/>
            </a:endParaRPr>
          </a:p>
          <a:p>
            <a:pPr marL="184785" indent="-172085">
              <a:lnSpc>
                <a:spcPct val="100000"/>
              </a:lnSpc>
              <a:spcBef>
                <a:spcPts val="350"/>
              </a:spcBef>
              <a:buFont typeface="Arial"/>
              <a:buChar char="•"/>
              <a:tabLst>
                <a:tab pos="185420" algn="l"/>
              </a:tabLst>
            </a:pPr>
            <a:r>
              <a:rPr sz="2400" spc="-40" dirty="0">
                <a:latin typeface="Calibri"/>
                <a:cs typeface="Calibri"/>
              </a:rPr>
              <a:t>Tokens </a:t>
            </a:r>
            <a:r>
              <a:rPr sz="2400" spc="-5" dirty="0">
                <a:latin typeface="Calibri"/>
                <a:cs typeface="Calibri"/>
              </a:rPr>
              <a:t>in</a:t>
            </a:r>
            <a:r>
              <a:rPr sz="2400" spc="-45" dirty="0">
                <a:latin typeface="Calibri"/>
                <a:cs typeface="Calibri"/>
              </a:rPr>
              <a:t> </a:t>
            </a:r>
            <a:r>
              <a:rPr sz="2400" dirty="0">
                <a:latin typeface="Calibri"/>
                <a:cs typeface="Calibri"/>
              </a:rPr>
              <a:t>C</a:t>
            </a:r>
          </a:p>
          <a:p>
            <a:pPr marL="184785" indent="-172085">
              <a:lnSpc>
                <a:spcPct val="100000"/>
              </a:lnSpc>
              <a:spcBef>
                <a:spcPts val="345"/>
              </a:spcBef>
              <a:buFont typeface="Arial"/>
              <a:buChar char="•"/>
              <a:tabLst>
                <a:tab pos="185420" algn="l"/>
              </a:tabLst>
            </a:pPr>
            <a:r>
              <a:rPr sz="2400" dirty="0">
                <a:latin typeface="Calibri"/>
                <a:cs typeface="Calibri"/>
              </a:rPr>
              <a:t>A C </a:t>
            </a:r>
            <a:r>
              <a:rPr sz="2400" spc="-15" dirty="0">
                <a:latin typeface="Calibri"/>
                <a:cs typeface="Calibri"/>
              </a:rPr>
              <a:t>program </a:t>
            </a:r>
            <a:r>
              <a:rPr sz="2400" spc="-10" dirty="0">
                <a:latin typeface="Calibri"/>
                <a:cs typeface="Calibri"/>
              </a:rPr>
              <a:t>consists </a:t>
            </a:r>
            <a:r>
              <a:rPr sz="2400" spc="-5" dirty="0">
                <a:latin typeface="Calibri"/>
                <a:cs typeface="Calibri"/>
              </a:rPr>
              <a:t>of </a:t>
            </a:r>
            <a:r>
              <a:rPr sz="2400" spc="-10" dirty="0">
                <a:latin typeface="Calibri"/>
                <a:cs typeface="Calibri"/>
              </a:rPr>
              <a:t>various</a:t>
            </a:r>
            <a:r>
              <a:rPr sz="2400" spc="30" dirty="0">
                <a:latin typeface="Calibri"/>
                <a:cs typeface="Calibri"/>
              </a:rPr>
              <a:t> </a:t>
            </a:r>
            <a:r>
              <a:rPr sz="2400" spc="-15" dirty="0">
                <a:latin typeface="Calibri"/>
                <a:cs typeface="Calibri"/>
              </a:rPr>
              <a:t>tokens.</a:t>
            </a:r>
            <a:endParaRPr sz="2400" dirty="0">
              <a:latin typeface="Calibri"/>
              <a:cs typeface="Calibri"/>
            </a:endParaRPr>
          </a:p>
          <a:p>
            <a:pPr marL="184785" indent="-172085">
              <a:lnSpc>
                <a:spcPct val="100000"/>
              </a:lnSpc>
              <a:spcBef>
                <a:spcPts val="360"/>
              </a:spcBef>
              <a:buFont typeface="Arial"/>
              <a:buChar char="•"/>
              <a:tabLst>
                <a:tab pos="185420" algn="l"/>
              </a:tabLst>
            </a:pPr>
            <a:r>
              <a:rPr sz="2400" dirty="0">
                <a:latin typeface="Calibri"/>
                <a:cs typeface="Calibri"/>
              </a:rPr>
              <a:t>A </a:t>
            </a:r>
            <a:r>
              <a:rPr sz="2400" spc="-20" dirty="0">
                <a:latin typeface="Calibri"/>
                <a:cs typeface="Calibri"/>
              </a:rPr>
              <a:t>token </a:t>
            </a:r>
            <a:r>
              <a:rPr sz="2400" dirty="0">
                <a:latin typeface="Calibri"/>
                <a:cs typeface="Calibri"/>
              </a:rPr>
              <a:t>is either a </a:t>
            </a:r>
            <a:r>
              <a:rPr sz="2400" spc="-15" dirty="0">
                <a:latin typeface="Calibri"/>
                <a:cs typeface="Calibri"/>
              </a:rPr>
              <a:t>keyword, </a:t>
            </a:r>
            <a:r>
              <a:rPr sz="2400" dirty="0">
                <a:latin typeface="Calibri"/>
                <a:cs typeface="Calibri"/>
              </a:rPr>
              <a:t>an </a:t>
            </a:r>
            <a:r>
              <a:rPr sz="2400" spc="-20" dirty="0">
                <a:latin typeface="Calibri"/>
                <a:cs typeface="Calibri"/>
              </a:rPr>
              <a:t>identifier, </a:t>
            </a:r>
            <a:r>
              <a:rPr sz="2400" dirty="0">
                <a:latin typeface="Calibri"/>
                <a:cs typeface="Calibri"/>
              </a:rPr>
              <a:t>a </a:t>
            </a:r>
            <a:r>
              <a:rPr sz="2400" spc="-10" dirty="0">
                <a:latin typeface="Calibri"/>
                <a:cs typeface="Calibri"/>
              </a:rPr>
              <a:t>constant, </a:t>
            </a:r>
            <a:r>
              <a:rPr sz="2400" dirty="0">
                <a:latin typeface="Calibri"/>
                <a:cs typeface="Calibri"/>
              </a:rPr>
              <a:t>a </a:t>
            </a:r>
            <a:r>
              <a:rPr sz="2400" spc="-10" dirty="0">
                <a:latin typeface="Calibri"/>
                <a:cs typeface="Calibri"/>
              </a:rPr>
              <a:t>string literal, </a:t>
            </a:r>
            <a:r>
              <a:rPr sz="2400" spc="-5" dirty="0">
                <a:latin typeface="Calibri"/>
                <a:cs typeface="Calibri"/>
              </a:rPr>
              <a:t>or </a:t>
            </a:r>
            <a:r>
              <a:rPr sz="2400" dirty="0">
                <a:latin typeface="Calibri"/>
                <a:cs typeface="Calibri"/>
              </a:rPr>
              <a:t>a</a:t>
            </a:r>
            <a:r>
              <a:rPr sz="2400" spc="105" dirty="0">
                <a:latin typeface="Calibri"/>
                <a:cs typeface="Calibri"/>
              </a:rPr>
              <a:t> </a:t>
            </a:r>
            <a:r>
              <a:rPr sz="2400" spc="-5" dirty="0">
                <a:latin typeface="Calibri"/>
                <a:cs typeface="Calibri"/>
              </a:rPr>
              <a:t>symbol</a:t>
            </a:r>
            <a:r>
              <a:rPr sz="2400" spc="-5" dirty="0" smtClean="0">
                <a:latin typeface="Calibri"/>
                <a:cs typeface="Calibri"/>
              </a:rPr>
              <a:t>.</a:t>
            </a:r>
            <a:endParaRPr sz="2400" dirty="0">
              <a:latin typeface="Calibri"/>
              <a:cs typeface="Calibri"/>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5" dirty="0"/>
              <a:t>Basic</a:t>
            </a:r>
            <a:r>
              <a:rPr spc="-70" dirty="0"/>
              <a:t> </a:t>
            </a:r>
            <a:r>
              <a:rPr spc="-30" dirty="0"/>
              <a:t>Syntax</a:t>
            </a:r>
          </a:p>
        </p:txBody>
      </p:sp>
      <p:sp>
        <p:nvSpPr>
          <p:cNvPr id="3" name="object 3"/>
          <p:cNvSpPr txBox="1"/>
          <p:nvPr/>
        </p:nvSpPr>
        <p:spPr>
          <a:xfrm>
            <a:off x="916939" y="1568449"/>
            <a:ext cx="10104755" cy="4514697"/>
          </a:xfrm>
          <a:prstGeom prst="rect">
            <a:avLst/>
          </a:prstGeom>
        </p:spPr>
        <p:txBody>
          <a:bodyPr vert="horz" wrap="square" lIns="0" tIns="0" rIns="0" bIns="0" rtlCol="0">
            <a:spAutoFit/>
          </a:bodyPr>
          <a:lstStyle/>
          <a:p>
            <a:pPr marL="12700">
              <a:lnSpc>
                <a:spcPts val="1955"/>
              </a:lnSpc>
              <a:spcBef>
                <a:spcPts val="345"/>
              </a:spcBef>
              <a:tabLst>
                <a:tab pos="185420" algn="l"/>
              </a:tabLst>
            </a:pPr>
            <a:r>
              <a:rPr sz="2400" spc="-10" dirty="0" smtClean="0">
                <a:cs typeface="Calibri"/>
              </a:rPr>
              <a:t>For example, </a:t>
            </a:r>
            <a:r>
              <a:rPr sz="2400" dirty="0" smtClean="0">
                <a:cs typeface="Calibri"/>
              </a:rPr>
              <a:t>the </a:t>
            </a:r>
            <a:r>
              <a:rPr sz="2400" spc="-10" dirty="0" smtClean="0">
                <a:cs typeface="Calibri"/>
              </a:rPr>
              <a:t>following </a:t>
            </a:r>
            <a:r>
              <a:rPr sz="2400" dirty="0" smtClean="0">
                <a:cs typeface="Calibri"/>
              </a:rPr>
              <a:t>C </a:t>
            </a:r>
            <a:r>
              <a:rPr sz="2400" spc="-15" dirty="0" smtClean="0">
                <a:cs typeface="Calibri"/>
              </a:rPr>
              <a:t>statement </a:t>
            </a:r>
            <a:r>
              <a:rPr sz="2400" spc="-10" dirty="0" smtClean="0">
                <a:cs typeface="Calibri"/>
              </a:rPr>
              <a:t>consists </a:t>
            </a:r>
            <a:r>
              <a:rPr sz="2400" spc="-5" dirty="0" smtClean="0">
                <a:cs typeface="Calibri"/>
              </a:rPr>
              <a:t>of </a:t>
            </a:r>
            <a:r>
              <a:rPr sz="2400" spc="-10" dirty="0" smtClean="0">
                <a:cs typeface="Calibri"/>
              </a:rPr>
              <a:t>five</a:t>
            </a:r>
            <a:r>
              <a:rPr sz="2400" spc="105" dirty="0" smtClean="0">
                <a:cs typeface="Calibri"/>
              </a:rPr>
              <a:t> </a:t>
            </a:r>
            <a:r>
              <a:rPr sz="2400" spc="-15" dirty="0" smtClean="0">
                <a:cs typeface="Calibri"/>
              </a:rPr>
              <a:t>tokens:</a:t>
            </a:r>
            <a:endParaRPr lang="en-US" sz="2400" spc="-15" dirty="0" smtClean="0">
              <a:cs typeface="Calibri"/>
            </a:endParaRPr>
          </a:p>
          <a:p>
            <a:pPr marL="12700">
              <a:lnSpc>
                <a:spcPts val="1955"/>
              </a:lnSpc>
              <a:spcBef>
                <a:spcPts val="345"/>
              </a:spcBef>
              <a:tabLst>
                <a:tab pos="185420" algn="l"/>
              </a:tabLst>
            </a:pPr>
            <a:endParaRPr sz="2400" dirty="0" smtClean="0">
              <a:cs typeface="Calibri"/>
            </a:endParaRPr>
          </a:p>
          <a:p>
            <a:pPr marL="641985" lvl="1" indent="-172085">
              <a:lnSpc>
                <a:spcPts val="1595"/>
              </a:lnSpc>
              <a:buFont typeface="Arial"/>
              <a:buChar char="•"/>
              <a:tabLst>
                <a:tab pos="642620" algn="l"/>
              </a:tabLst>
            </a:pPr>
            <a:r>
              <a:rPr sz="2400" spc="-5" dirty="0" err="1" smtClean="0">
                <a:cs typeface="Calibri"/>
              </a:rPr>
              <a:t>printf</a:t>
            </a:r>
            <a:r>
              <a:rPr sz="2400" spc="-5" dirty="0" smtClean="0">
                <a:cs typeface="Calibri"/>
              </a:rPr>
              <a:t>("Hello, </a:t>
            </a:r>
            <a:r>
              <a:rPr sz="2400" spc="-10" dirty="0" smtClean="0">
                <a:cs typeface="Calibri"/>
              </a:rPr>
              <a:t>World!</a:t>
            </a:r>
            <a:r>
              <a:rPr sz="2400" spc="-95" dirty="0" smtClean="0">
                <a:cs typeface="Calibri"/>
              </a:rPr>
              <a:t> </a:t>
            </a:r>
            <a:r>
              <a:rPr sz="2400" dirty="0" smtClean="0">
                <a:cs typeface="Calibri"/>
              </a:rPr>
              <a:t>\n");</a:t>
            </a:r>
          </a:p>
          <a:p>
            <a:pPr lvl="1">
              <a:lnSpc>
                <a:spcPct val="100000"/>
              </a:lnSpc>
              <a:buFont typeface="Arial"/>
              <a:buChar char="•"/>
            </a:pPr>
            <a:endParaRPr sz="2400" dirty="0" smtClean="0">
              <a:cs typeface="Times New Roman"/>
            </a:endParaRPr>
          </a:p>
          <a:p>
            <a:pPr marL="184785" indent="-172085">
              <a:lnSpc>
                <a:spcPct val="100000"/>
              </a:lnSpc>
              <a:spcBef>
                <a:spcPts val="1075"/>
              </a:spcBef>
              <a:buFont typeface="Arial"/>
              <a:buChar char="•"/>
              <a:tabLst>
                <a:tab pos="185420" algn="l"/>
              </a:tabLst>
            </a:pPr>
            <a:r>
              <a:rPr sz="2400" spc="-5" dirty="0" smtClean="0">
                <a:cs typeface="Calibri"/>
              </a:rPr>
              <a:t>The individual </a:t>
            </a:r>
            <a:r>
              <a:rPr sz="2400" spc="-15" dirty="0" smtClean="0">
                <a:cs typeface="Calibri"/>
              </a:rPr>
              <a:t>tokens</a:t>
            </a:r>
            <a:r>
              <a:rPr sz="2400" spc="-20" dirty="0" smtClean="0">
                <a:cs typeface="Calibri"/>
              </a:rPr>
              <a:t> </a:t>
            </a:r>
            <a:r>
              <a:rPr sz="2400" spc="-10" dirty="0" smtClean="0">
                <a:cs typeface="Calibri"/>
              </a:rPr>
              <a:t>are:</a:t>
            </a:r>
            <a:endParaRPr sz="2400" dirty="0" smtClean="0">
              <a:cs typeface="Calibri"/>
            </a:endParaRPr>
          </a:p>
          <a:p>
            <a:pPr marL="12700" marR="9338310">
              <a:lnSpc>
                <a:spcPct val="116100"/>
              </a:lnSpc>
            </a:pPr>
            <a:r>
              <a:rPr sz="2400" dirty="0" smtClean="0">
                <a:cs typeface="Calibri"/>
              </a:rPr>
              <a:t>1.</a:t>
            </a:r>
            <a:r>
              <a:rPr sz="2400" spc="-65" dirty="0" smtClean="0">
                <a:cs typeface="Calibri"/>
              </a:rPr>
              <a:t> </a:t>
            </a:r>
            <a:r>
              <a:rPr sz="2400" spc="-5" dirty="0" err="1" smtClean="0">
                <a:cs typeface="Calibri"/>
              </a:rPr>
              <a:t>printf</a:t>
            </a:r>
            <a:r>
              <a:rPr sz="2400" spc="-5" dirty="0" smtClean="0">
                <a:cs typeface="Calibri"/>
              </a:rPr>
              <a:t>  </a:t>
            </a:r>
            <a:r>
              <a:rPr sz="2400" dirty="0" smtClean="0">
                <a:cs typeface="Calibri"/>
              </a:rPr>
              <a:t>2.</a:t>
            </a:r>
            <a:r>
              <a:rPr sz="2400" spc="-75" dirty="0" smtClean="0">
                <a:cs typeface="Calibri"/>
              </a:rPr>
              <a:t> </a:t>
            </a:r>
            <a:r>
              <a:rPr sz="2400" dirty="0" smtClean="0">
                <a:cs typeface="Calibri"/>
              </a:rPr>
              <a:t>(</a:t>
            </a:r>
          </a:p>
          <a:p>
            <a:pPr marL="12700" marR="8181975">
              <a:lnSpc>
                <a:spcPct val="116300"/>
              </a:lnSpc>
              <a:spcBef>
                <a:spcPts val="5"/>
              </a:spcBef>
            </a:pPr>
            <a:r>
              <a:rPr sz="2400" dirty="0" smtClean="0">
                <a:cs typeface="Calibri"/>
              </a:rPr>
              <a:t>3. </a:t>
            </a:r>
            <a:r>
              <a:rPr sz="2400" spc="-10" dirty="0" smtClean="0">
                <a:cs typeface="Calibri"/>
              </a:rPr>
              <a:t>"Hello, </a:t>
            </a:r>
            <a:r>
              <a:rPr sz="2400" spc="-20" dirty="0" smtClean="0">
                <a:cs typeface="Calibri"/>
              </a:rPr>
              <a:t>World! </a:t>
            </a:r>
            <a:r>
              <a:rPr sz="2400" spc="-5" dirty="0" smtClean="0">
                <a:cs typeface="Calibri"/>
              </a:rPr>
              <a:t>\n"  </a:t>
            </a:r>
            <a:r>
              <a:rPr sz="2400" dirty="0" smtClean="0">
                <a:cs typeface="Calibri"/>
              </a:rPr>
              <a:t>4.</a:t>
            </a:r>
            <a:r>
              <a:rPr sz="2400" spc="-75" dirty="0" smtClean="0">
                <a:cs typeface="Calibri"/>
              </a:rPr>
              <a:t> </a:t>
            </a:r>
            <a:r>
              <a:rPr sz="2400" dirty="0" smtClean="0">
                <a:cs typeface="Calibri"/>
              </a:rPr>
              <a:t>)</a:t>
            </a:r>
          </a:p>
          <a:p>
            <a:pPr marL="12700">
              <a:lnSpc>
                <a:spcPct val="100000"/>
              </a:lnSpc>
              <a:spcBef>
                <a:spcPts val="345"/>
              </a:spcBef>
            </a:pPr>
            <a:r>
              <a:rPr sz="2400" dirty="0" smtClean="0">
                <a:cs typeface="Calibri"/>
              </a:rPr>
              <a:t>5.</a:t>
            </a:r>
            <a:r>
              <a:rPr sz="2400" spc="330" dirty="0" smtClean="0">
                <a:cs typeface="Calibri"/>
              </a:rPr>
              <a:t> </a:t>
            </a:r>
            <a:r>
              <a:rPr sz="2400" dirty="0" smtClean="0">
                <a:cs typeface="Calibri"/>
              </a:rPr>
              <a:t>;</a:t>
            </a:r>
          </a:p>
          <a:p>
            <a:pPr marL="184785" indent="-172085">
              <a:lnSpc>
                <a:spcPct val="100000"/>
              </a:lnSpc>
              <a:spcBef>
                <a:spcPts val="359"/>
              </a:spcBef>
              <a:buFont typeface="Arial"/>
              <a:buChar char="•"/>
              <a:tabLst>
                <a:tab pos="185420" algn="l"/>
              </a:tabLst>
            </a:pPr>
            <a:r>
              <a:rPr sz="1800" b="1" i="1" u="heavy" spc="-20" dirty="0" smtClean="0">
                <a:latin typeface="Calibri"/>
                <a:cs typeface="Calibri"/>
              </a:rPr>
              <a:t>STUDY </a:t>
            </a:r>
            <a:r>
              <a:rPr sz="1800" b="1" i="1" u="heavy" spc="-5" dirty="0" smtClean="0">
                <a:latin typeface="Calibri"/>
                <a:cs typeface="Calibri"/>
              </a:rPr>
              <a:t>MORE </a:t>
            </a:r>
            <a:r>
              <a:rPr sz="1800" b="1" i="1" u="heavy" dirty="0" smtClean="0">
                <a:latin typeface="Calibri"/>
                <a:cs typeface="Calibri"/>
              </a:rPr>
              <a:t>ABOUT</a:t>
            </a:r>
            <a:r>
              <a:rPr sz="1800" b="1" i="1" u="heavy" spc="-30" dirty="0" smtClean="0">
                <a:latin typeface="Calibri"/>
                <a:cs typeface="Calibri"/>
              </a:rPr>
              <a:t> </a:t>
            </a:r>
            <a:r>
              <a:rPr sz="1800" b="1" i="1" u="heavy" spc="-15" dirty="0" smtClean="0">
                <a:latin typeface="Calibri"/>
                <a:cs typeface="Calibri"/>
              </a:rPr>
              <a:t>TOKENS</a:t>
            </a:r>
            <a:endParaRPr sz="1800" dirty="0">
              <a:latin typeface="Calibri"/>
              <a:cs typeface="Calibri"/>
            </a:endParaRPr>
          </a:p>
        </p:txBody>
      </p:sp>
    </p:spTree>
    <p:extLst>
      <p:ext uri="{BB962C8B-B14F-4D97-AF65-F5344CB8AC3E}">
        <p14:creationId xmlns:p14="http://schemas.microsoft.com/office/powerpoint/2010/main" val="3892614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1436"/>
            <a:ext cx="2844165" cy="670560"/>
          </a:xfrm>
          <a:prstGeom prst="rect">
            <a:avLst/>
          </a:prstGeom>
        </p:spPr>
        <p:txBody>
          <a:bodyPr vert="horz" wrap="square" lIns="0" tIns="0" rIns="0" bIns="0" rtlCol="0">
            <a:spAutoFit/>
          </a:bodyPr>
          <a:lstStyle/>
          <a:p>
            <a:pPr marL="12700">
              <a:lnSpc>
                <a:spcPct val="100000"/>
              </a:lnSpc>
            </a:pPr>
            <a:r>
              <a:rPr spc="-10" dirty="0"/>
              <a:t>Semicolons</a:t>
            </a:r>
            <a:r>
              <a:rPr spc="-15" dirty="0"/>
              <a:t> </a:t>
            </a:r>
            <a:r>
              <a:rPr dirty="0"/>
              <a:t>;</a:t>
            </a:r>
          </a:p>
        </p:txBody>
      </p:sp>
      <p:sp>
        <p:nvSpPr>
          <p:cNvPr id="3" name="object 3"/>
          <p:cNvSpPr txBox="1"/>
          <p:nvPr/>
        </p:nvSpPr>
        <p:spPr>
          <a:xfrm>
            <a:off x="916939" y="1277239"/>
            <a:ext cx="8963660" cy="2238375"/>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2800" spc="-5" dirty="0">
                <a:latin typeface="Calibri"/>
                <a:cs typeface="Calibri"/>
              </a:rPr>
              <a:t>In C </a:t>
            </a:r>
            <a:r>
              <a:rPr sz="2800" spc="-20" dirty="0">
                <a:latin typeface="Calibri"/>
                <a:cs typeface="Calibri"/>
              </a:rPr>
              <a:t>program, </a:t>
            </a:r>
            <a:r>
              <a:rPr sz="2800" spc="-5" dirty="0">
                <a:latin typeface="Calibri"/>
                <a:cs typeface="Calibri"/>
              </a:rPr>
              <a:t>the </a:t>
            </a:r>
            <a:r>
              <a:rPr sz="2800" spc="-10" dirty="0">
                <a:latin typeface="Calibri"/>
                <a:cs typeface="Calibri"/>
              </a:rPr>
              <a:t>semicolon </a:t>
            </a:r>
            <a:r>
              <a:rPr sz="2800" spc="-5" dirty="0">
                <a:latin typeface="Calibri"/>
                <a:cs typeface="Calibri"/>
              </a:rPr>
              <a:t>is a </a:t>
            </a:r>
            <a:r>
              <a:rPr sz="2800" spc="-25" dirty="0">
                <a:latin typeface="Calibri"/>
                <a:cs typeface="Calibri"/>
              </a:rPr>
              <a:t>statement</a:t>
            </a:r>
            <a:r>
              <a:rPr sz="2800" spc="155" dirty="0">
                <a:latin typeface="Calibri"/>
                <a:cs typeface="Calibri"/>
              </a:rPr>
              <a:t> </a:t>
            </a:r>
            <a:r>
              <a:rPr sz="2800" spc="-40" dirty="0">
                <a:latin typeface="Calibri"/>
                <a:cs typeface="Calibri"/>
              </a:rPr>
              <a:t>terminator.</a:t>
            </a:r>
            <a:endParaRPr sz="2800">
              <a:latin typeface="Calibri"/>
              <a:cs typeface="Calibri"/>
            </a:endParaRPr>
          </a:p>
          <a:p>
            <a:pPr marL="641985" lvl="1" indent="-172085">
              <a:lnSpc>
                <a:spcPct val="100000"/>
              </a:lnSpc>
              <a:spcBef>
                <a:spcPts val="240"/>
              </a:spcBef>
              <a:buFont typeface="Arial"/>
              <a:buChar char="•"/>
              <a:tabLst>
                <a:tab pos="642620" algn="l"/>
              </a:tabLst>
            </a:pPr>
            <a:r>
              <a:rPr sz="2400" spc="-10" dirty="0">
                <a:latin typeface="Calibri"/>
                <a:cs typeface="Calibri"/>
              </a:rPr>
              <a:t>That </a:t>
            </a:r>
            <a:r>
              <a:rPr sz="2400" dirty="0">
                <a:latin typeface="Calibri"/>
                <a:cs typeface="Calibri"/>
              </a:rPr>
              <a:t>is, each individual </a:t>
            </a:r>
            <a:r>
              <a:rPr sz="2400" spc="-15" dirty="0">
                <a:latin typeface="Calibri"/>
                <a:cs typeface="Calibri"/>
              </a:rPr>
              <a:t>statement </a:t>
            </a:r>
            <a:r>
              <a:rPr sz="2400" spc="-10" dirty="0">
                <a:latin typeface="Calibri"/>
                <a:cs typeface="Calibri"/>
              </a:rPr>
              <a:t>must </a:t>
            </a:r>
            <a:r>
              <a:rPr sz="2400" spc="-5" dirty="0">
                <a:latin typeface="Calibri"/>
                <a:cs typeface="Calibri"/>
              </a:rPr>
              <a:t>be ended </a:t>
            </a:r>
            <a:r>
              <a:rPr sz="2400" dirty="0">
                <a:latin typeface="Calibri"/>
                <a:cs typeface="Calibri"/>
              </a:rPr>
              <a:t>with a</a:t>
            </a:r>
            <a:r>
              <a:rPr sz="2400" spc="-85" dirty="0">
                <a:latin typeface="Calibri"/>
                <a:cs typeface="Calibri"/>
              </a:rPr>
              <a:t> </a:t>
            </a:r>
            <a:r>
              <a:rPr sz="2400" spc="-10" dirty="0">
                <a:latin typeface="Calibri"/>
                <a:cs typeface="Calibri"/>
              </a:rPr>
              <a:t>semicolon.</a:t>
            </a:r>
            <a:endParaRPr sz="2400">
              <a:latin typeface="Calibri"/>
              <a:cs typeface="Calibri"/>
            </a:endParaRPr>
          </a:p>
          <a:p>
            <a:pPr marL="184785" indent="-172085">
              <a:lnSpc>
                <a:spcPct val="100000"/>
              </a:lnSpc>
              <a:spcBef>
                <a:spcPts val="635"/>
              </a:spcBef>
              <a:buFont typeface="Arial"/>
              <a:buChar char="•"/>
              <a:tabLst>
                <a:tab pos="185420" algn="l"/>
              </a:tabLst>
            </a:pPr>
            <a:r>
              <a:rPr sz="2800" spc="-5" dirty="0">
                <a:latin typeface="Calibri"/>
                <a:cs typeface="Calibri"/>
              </a:rPr>
              <a:t>It </a:t>
            </a:r>
            <a:r>
              <a:rPr sz="2800" spc="-15" dirty="0">
                <a:latin typeface="Calibri"/>
                <a:cs typeface="Calibri"/>
              </a:rPr>
              <a:t>indicates </a:t>
            </a:r>
            <a:r>
              <a:rPr sz="2800" spc="-5" dirty="0">
                <a:latin typeface="Calibri"/>
                <a:cs typeface="Calibri"/>
              </a:rPr>
              <a:t>the end </a:t>
            </a:r>
            <a:r>
              <a:rPr sz="2800" dirty="0">
                <a:latin typeface="Calibri"/>
                <a:cs typeface="Calibri"/>
              </a:rPr>
              <a:t>of </a:t>
            </a:r>
            <a:r>
              <a:rPr sz="2800" spc="-10" dirty="0">
                <a:latin typeface="Calibri"/>
                <a:cs typeface="Calibri"/>
              </a:rPr>
              <a:t>one logical</a:t>
            </a:r>
            <a:r>
              <a:rPr sz="2800" spc="40" dirty="0">
                <a:latin typeface="Calibri"/>
                <a:cs typeface="Calibri"/>
              </a:rPr>
              <a:t> </a:t>
            </a:r>
            <a:r>
              <a:rPr sz="2800" spc="-35" dirty="0">
                <a:latin typeface="Calibri"/>
                <a:cs typeface="Calibri"/>
              </a:rPr>
              <a:t>entity.</a:t>
            </a:r>
            <a:endParaRPr sz="2800">
              <a:latin typeface="Calibri"/>
              <a:cs typeface="Calibri"/>
            </a:endParaRPr>
          </a:p>
          <a:p>
            <a:pPr marL="184785" indent="-172085">
              <a:lnSpc>
                <a:spcPct val="100000"/>
              </a:lnSpc>
              <a:spcBef>
                <a:spcPts val="670"/>
              </a:spcBef>
              <a:buFont typeface="Arial"/>
              <a:buChar char="•"/>
              <a:tabLst>
                <a:tab pos="185420" algn="l"/>
              </a:tabLst>
            </a:pPr>
            <a:r>
              <a:rPr sz="2800" spc="-20" dirty="0">
                <a:latin typeface="Calibri"/>
                <a:cs typeface="Calibri"/>
              </a:rPr>
              <a:t>For </a:t>
            </a:r>
            <a:r>
              <a:rPr sz="2800" spc="-15" dirty="0">
                <a:latin typeface="Calibri"/>
                <a:cs typeface="Calibri"/>
              </a:rPr>
              <a:t>example, following </a:t>
            </a:r>
            <a:r>
              <a:rPr sz="2800" spc="-20" dirty="0">
                <a:latin typeface="Calibri"/>
                <a:cs typeface="Calibri"/>
              </a:rPr>
              <a:t>are </a:t>
            </a:r>
            <a:r>
              <a:rPr sz="2800" spc="-15" dirty="0">
                <a:latin typeface="Calibri"/>
                <a:cs typeface="Calibri"/>
              </a:rPr>
              <a:t>two </a:t>
            </a:r>
            <a:r>
              <a:rPr sz="2800" spc="-25" dirty="0">
                <a:latin typeface="Calibri"/>
                <a:cs typeface="Calibri"/>
              </a:rPr>
              <a:t>different</a:t>
            </a:r>
            <a:r>
              <a:rPr sz="2800" spc="130" dirty="0">
                <a:latin typeface="Calibri"/>
                <a:cs typeface="Calibri"/>
              </a:rPr>
              <a:t> </a:t>
            </a:r>
            <a:r>
              <a:rPr sz="2800" spc="-20" dirty="0">
                <a:latin typeface="Calibri"/>
                <a:cs typeface="Calibri"/>
              </a:rPr>
              <a:t>statements:</a:t>
            </a:r>
            <a:endParaRPr sz="2800">
              <a:latin typeface="Calibri"/>
              <a:cs typeface="Calibri"/>
            </a:endParaRPr>
          </a:p>
          <a:p>
            <a:pPr marL="641985" lvl="1" indent="-172085">
              <a:lnSpc>
                <a:spcPct val="100000"/>
              </a:lnSpc>
              <a:spcBef>
                <a:spcPts val="229"/>
              </a:spcBef>
              <a:buFont typeface="Arial"/>
              <a:buChar char="•"/>
              <a:tabLst>
                <a:tab pos="642620" algn="l"/>
              </a:tabLst>
            </a:pPr>
            <a:r>
              <a:rPr sz="2400" spc="-10" dirty="0">
                <a:latin typeface="Calibri"/>
                <a:cs typeface="Calibri"/>
              </a:rPr>
              <a:t>printf("Hello, </a:t>
            </a:r>
            <a:r>
              <a:rPr sz="2400" spc="-20" dirty="0">
                <a:latin typeface="Calibri"/>
                <a:cs typeface="Calibri"/>
              </a:rPr>
              <a:t>World! </a:t>
            </a:r>
            <a:r>
              <a:rPr sz="2400" spc="-5" dirty="0">
                <a:latin typeface="Calibri"/>
                <a:cs typeface="Calibri"/>
              </a:rPr>
              <a:t>\n"); </a:t>
            </a:r>
            <a:r>
              <a:rPr sz="2400" spc="-10" dirty="0">
                <a:latin typeface="Calibri"/>
                <a:cs typeface="Calibri"/>
              </a:rPr>
              <a:t>return </a:t>
            </a:r>
            <a:r>
              <a:rPr sz="2400" dirty="0">
                <a:latin typeface="Calibri"/>
                <a:cs typeface="Calibri"/>
              </a:rPr>
              <a:t>0;</a:t>
            </a:r>
            <a:endParaRPr sz="24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Comments</a:t>
            </a:r>
          </a:p>
        </p:txBody>
      </p:sp>
      <p:sp>
        <p:nvSpPr>
          <p:cNvPr id="3" name="object 3"/>
          <p:cNvSpPr txBox="1"/>
          <p:nvPr/>
        </p:nvSpPr>
        <p:spPr>
          <a:xfrm>
            <a:off x="916939" y="1375283"/>
            <a:ext cx="10132060" cy="4774640"/>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2400" spc="-5" dirty="0">
                <a:latin typeface="Calibri"/>
                <a:cs typeface="Calibri"/>
              </a:rPr>
              <a:t>Comments </a:t>
            </a:r>
            <a:r>
              <a:rPr sz="2400" spc="-10" dirty="0">
                <a:latin typeface="Calibri"/>
                <a:cs typeface="Calibri"/>
              </a:rPr>
              <a:t>are </a:t>
            </a:r>
            <a:r>
              <a:rPr sz="2400" spc="-25" dirty="0">
                <a:latin typeface="Calibri"/>
                <a:cs typeface="Calibri"/>
              </a:rPr>
              <a:t>like </a:t>
            </a:r>
            <a:r>
              <a:rPr sz="2400" spc="-5" dirty="0">
                <a:latin typeface="Calibri"/>
                <a:cs typeface="Calibri"/>
              </a:rPr>
              <a:t>helping </a:t>
            </a:r>
            <a:r>
              <a:rPr sz="2400" spc="-15" dirty="0">
                <a:latin typeface="Calibri"/>
                <a:cs typeface="Calibri"/>
              </a:rPr>
              <a:t>text </a:t>
            </a:r>
            <a:r>
              <a:rPr sz="2400" spc="-5" dirty="0">
                <a:latin typeface="Calibri"/>
                <a:cs typeface="Calibri"/>
              </a:rPr>
              <a:t>in </a:t>
            </a:r>
            <a:r>
              <a:rPr sz="2400" spc="-10" dirty="0">
                <a:latin typeface="Calibri"/>
                <a:cs typeface="Calibri"/>
              </a:rPr>
              <a:t>your </a:t>
            </a:r>
            <a:r>
              <a:rPr sz="2400" dirty="0">
                <a:latin typeface="Calibri"/>
                <a:cs typeface="Calibri"/>
              </a:rPr>
              <a:t>C </a:t>
            </a:r>
            <a:r>
              <a:rPr sz="2400" spc="-15" dirty="0">
                <a:latin typeface="Calibri"/>
                <a:cs typeface="Calibri"/>
              </a:rPr>
              <a:t>program </a:t>
            </a:r>
            <a:r>
              <a:rPr sz="2400" dirty="0">
                <a:latin typeface="Calibri"/>
                <a:cs typeface="Calibri"/>
              </a:rPr>
              <a:t>and </a:t>
            </a:r>
            <a:r>
              <a:rPr sz="2400" spc="-5" dirty="0">
                <a:latin typeface="Calibri"/>
                <a:cs typeface="Calibri"/>
              </a:rPr>
              <a:t>they </a:t>
            </a:r>
            <a:r>
              <a:rPr sz="2400" spc="-10" dirty="0">
                <a:latin typeface="Calibri"/>
                <a:cs typeface="Calibri"/>
              </a:rPr>
              <a:t>are </a:t>
            </a:r>
            <a:r>
              <a:rPr sz="2400" spc="-5" dirty="0">
                <a:latin typeface="Calibri"/>
                <a:cs typeface="Calibri"/>
              </a:rPr>
              <a:t>ignored </a:t>
            </a:r>
            <a:r>
              <a:rPr sz="2400" spc="-10" dirty="0">
                <a:latin typeface="Calibri"/>
                <a:cs typeface="Calibri"/>
              </a:rPr>
              <a:t>by </a:t>
            </a:r>
            <a:r>
              <a:rPr sz="2400" dirty="0">
                <a:latin typeface="Calibri"/>
                <a:cs typeface="Calibri"/>
              </a:rPr>
              <a:t>the</a:t>
            </a:r>
            <a:r>
              <a:rPr sz="2400" spc="260" dirty="0">
                <a:latin typeface="Calibri"/>
                <a:cs typeface="Calibri"/>
              </a:rPr>
              <a:t> </a:t>
            </a:r>
            <a:r>
              <a:rPr sz="2400" spc="-30" dirty="0">
                <a:latin typeface="Calibri"/>
                <a:cs typeface="Calibri"/>
              </a:rPr>
              <a:t>compiler.</a:t>
            </a:r>
            <a:endParaRPr sz="2400" dirty="0">
              <a:latin typeface="Calibri"/>
              <a:cs typeface="Calibri"/>
            </a:endParaRPr>
          </a:p>
          <a:p>
            <a:pPr marL="184785" marR="5080" indent="-172085">
              <a:lnSpc>
                <a:spcPct val="70000"/>
              </a:lnSpc>
              <a:spcBef>
                <a:spcPts val="994"/>
              </a:spcBef>
              <a:buFont typeface="Arial"/>
              <a:buChar char="•"/>
              <a:tabLst>
                <a:tab pos="185420" algn="l"/>
              </a:tabLst>
            </a:pPr>
            <a:r>
              <a:rPr sz="2400" spc="-5" dirty="0">
                <a:latin typeface="Calibri"/>
                <a:cs typeface="Calibri"/>
              </a:rPr>
              <a:t>They </a:t>
            </a:r>
            <a:r>
              <a:rPr sz="2400" spc="-10" dirty="0">
                <a:latin typeface="Calibri"/>
                <a:cs typeface="Calibri"/>
              </a:rPr>
              <a:t>provide </a:t>
            </a:r>
            <a:r>
              <a:rPr sz="2400" spc="-5" dirty="0">
                <a:latin typeface="Calibri"/>
                <a:cs typeface="Calibri"/>
              </a:rPr>
              <a:t>clarity </a:t>
            </a:r>
            <a:r>
              <a:rPr sz="2400" spc="-10" dirty="0">
                <a:latin typeface="Calibri"/>
                <a:cs typeface="Calibri"/>
              </a:rPr>
              <a:t>to </a:t>
            </a:r>
            <a:r>
              <a:rPr sz="2400" dirty="0">
                <a:latin typeface="Calibri"/>
                <a:cs typeface="Calibri"/>
              </a:rPr>
              <a:t>the C </a:t>
            </a:r>
            <a:r>
              <a:rPr sz="2400" spc="-10" dirty="0">
                <a:latin typeface="Calibri"/>
                <a:cs typeface="Calibri"/>
              </a:rPr>
              <a:t>source code </a:t>
            </a:r>
            <a:r>
              <a:rPr sz="2400" spc="-5" dirty="0">
                <a:latin typeface="Calibri"/>
                <a:cs typeface="Calibri"/>
              </a:rPr>
              <a:t>allowing </a:t>
            </a:r>
            <a:r>
              <a:rPr sz="2400" spc="-10" dirty="0">
                <a:latin typeface="Calibri"/>
                <a:cs typeface="Calibri"/>
              </a:rPr>
              <a:t>others to </a:t>
            </a:r>
            <a:r>
              <a:rPr sz="2400" spc="-15" dirty="0">
                <a:latin typeface="Calibri"/>
                <a:cs typeface="Calibri"/>
              </a:rPr>
              <a:t>better </a:t>
            </a:r>
            <a:r>
              <a:rPr sz="2400" spc="-10" dirty="0">
                <a:latin typeface="Calibri"/>
                <a:cs typeface="Calibri"/>
              </a:rPr>
              <a:t>understand </a:t>
            </a:r>
            <a:r>
              <a:rPr sz="2400" spc="-5" dirty="0">
                <a:latin typeface="Calibri"/>
                <a:cs typeface="Calibri"/>
              </a:rPr>
              <a:t>what </a:t>
            </a:r>
            <a:r>
              <a:rPr sz="2400" dirty="0">
                <a:latin typeface="Calibri"/>
                <a:cs typeface="Calibri"/>
              </a:rPr>
              <a:t>the </a:t>
            </a:r>
            <a:r>
              <a:rPr sz="2400" spc="-10" dirty="0">
                <a:latin typeface="Calibri"/>
                <a:cs typeface="Calibri"/>
              </a:rPr>
              <a:t>code was intended  to </a:t>
            </a:r>
            <a:r>
              <a:rPr sz="2400" spc="-5" dirty="0">
                <a:latin typeface="Calibri"/>
                <a:cs typeface="Calibri"/>
              </a:rPr>
              <a:t>accomplish </a:t>
            </a:r>
            <a:r>
              <a:rPr sz="2400" dirty="0">
                <a:latin typeface="Calibri"/>
                <a:cs typeface="Calibri"/>
              </a:rPr>
              <a:t>and </a:t>
            </a:r>
            <a:r>
              <a:rPr sz="2400" spc="-10" dirty="0">
                <a:latin typeface="Calibri"/>
                <a:cs typeface="Calibri"/>
              </a:rPr>
              <a:t>greatly </a:t>
            </a:r>
            <a:r>
              <a:rPr sz="2400" spc="-5" dirty="0">
                <a:latin typeface="Calibri"/>
                <a:cs typeface="Calibri"/>
              </a:rPr>
              <a:t>helping in </a:t>
            </a:r>
            <a:r>
              <a:rPr sz="2400" dirty="0">
                <a:latin typeface="Calibri"/>
                <a:cs typeface="Calibri"/>
              </a:rPr>
              <a:t>debugging the</a:t>
            </a:r>
            <a:r>
              <a:rPr sz="2400" spc="60" dirty="0">
                <a:latin typeface="Calibri"/>
                <a:cs typeface="Calibri"/>
              </a:rPr>
              <a:t> </a:t>
            </a:r>
            <a:r>
              <a:rPr sz="2400" spc="-5" dirty="0">
                <a:latin typeface="Calibri"/>
                <a:cs typeface="Calibri"/>
              </a:rPr>
              <a:t>code.</a:t>
            </a:r>
            <a:endParaRPr sz="2400" dirty="0">
              <a:latin typeface="Calibri"/>
              <a:cs typeface="Calibri"/>
            </a:endParaRPr>
          </a:p>
          <a:p>
            <a:pPr marL="184785" marR="239395" indent="-172085">
              <a:lnSpc>
                <a:spcPct val="70000"/>
              </a:lnSpc>
              <a:spcBef>
                <a:spcPts val="994"/>
              </a:spcBef>
              <a:buFont typeface="Arial"/>
              <a:buChar char="•"/>
              <a:tabLst>
                <a:tab pos="185420" algn="l"/>
              </a:tabLst>
            </a:pPr>
            <a:r>
              <a:rPr sz="2400" spc="-5" dirty="0">
                <a:latin typeface="Calibri"/>
                <a:cs typeface="Calibri"/>
              </a:rPr>
              <a:t>Comments </a:t>
            </a:r>
            <a:r>
              <a:rPr sz="2400" spc="-10" dirty="0">
                <a:latin typeface="Calibri"/>
                <a:cs typeface="Calibri"/>
              </a:rPr>
              <a:t>are </a:t>
            </a:r>
            <a:r>
              <a:rPr sz="2400" spc="-5" dirty="0">
                <a:latin typeface="Calibri"/>
                <a:cs typeface="Calibri"/>
              </a:rPr>
              <a:t>especially important in </a:t>
            </a:r>
            <a:r>
              <a:rPr sz="2400" spc="-10" dirty="0">
                <a:latin typeface="Calibri"/>
                <a:cs typeface="Calibri"/>
              </a:rPr>
              <a:t>large projects containing </a:t>
            </a:r>
            <a:r>
              <a:rPr sz="2400" spc="-5" dirty="0">
                <a:latin typeface="Calibri"/>
                <a:cs typeface="Calibri"/>
              </a:rPr>
              <a:t>hundreds or thousands of lines of </a:t>
            </a:r>
            <a:r>
              <a:rPr sz="2400" spc="-10" dirty="0">
                <a:latin typeface="Calibri"/>
                <a:cs typeface="Calibri"/>
              </a:rPr>
              <a:t>source  code </a:t>
            </a:r>
            <a:r>
              <a:rPr sz="2400" spc="-5" dirty="0">
                <a:latin typeface="Calibri"/>
                <a:cs typeface="Calibri"/>
              </a:rPr>
              <a:t>or in </a:t>
            </a:r>
            <a:r>
              <a:rPr sz="2400" spc="-10" dirty="0">
                <a:latin typeface="Calibri"/>
                <a:cs typeface="Calibri"/>
              </a:rPr>
              <a:t>projects </a:t>
            </a:r>
            <a:r>
              <a:rPr sz="2400" spc="-5" dirty="0">
                <a:latin typeface="Calibri"/>
                <a:cs typeface="Calibri"/>
              </a:rPr>
              <a:t>in which </a:t>
            </a:r>
            <a:r>
              <a:rPr sz="2400" spc="-10" dirty="0">
                <a:latin typeface="Calibri"/>
                <a:cs typeface="Calibri"/>
              </a:rPr>
              <a:t>many contributors are working </a:t>
            </a:r>
            <a:r>
              <a:rPr sz="2400" spc="-5" dirty="0">
                <a:latin typeface="Calibri"/>
                <a:cs typeface="Calibri"/>
              </a:rPr>
              <a:t>on </a:t>
            </a:r>
            <a:r>
              <a:rPr sz="2400" dirty="0">
                <a:latin typeface="Calibri"/>
                <a:cs typeface="Calibri"/>
              </a:rPr>
              <a:t>the </a:t>
            </a:r>
            <a:r>
              <a:rPr sz="2400" spc="-10" dirty="0">
                <a:latin typeface="Calibri"/>
                <a:cs typeface="Calibri"/>
              </a:rPr>
              <a:t>source</a:t>
            </a:r>
            <a:r>
              <a:rPr sz="2400" spc="220" dirty="0">
                <a:latin typeface="Calibri"/>
                <a:cs typeface="Calibri"/>
              </a:rPr>
              <a:t> </a:t>
            </a:r>
            <a:r>
              <a:rPr sz="2400" spc="-10" dirty="0" smtClean="0">
                <a:latin typeface="Calibri"/>
                <a:cs typeface="Calibri"/>
              </a:rPr>
              <a:t>code</a:t>
            </a:r>
            <a:endParaRPr lang="en-US" sz="2400" spc="-10" dirty="0" smtClean="0">
              <a:latin typeface="Calibri"/>
              <a:cs typeface="Calibri"/>
            </a:endParaRPr>
          </a:p>
          <a:p>
            <a:pPr marL="184785" marR="239395" indent="-172085">
              <a:lnSpc>
                <a:spcPct val="70000"/>
              </a:lnSpc>
              <a:spcBef>
                <a:spcPts val="994"/>
              </a:spcBef>
              <a:buFont typeface="Arial"/>
              <a:buChar char="•"/>
              <a:tabLst>
                <a:tab pos="185420" algn="l"/>
              </a:tabLst>
            </a:pPr>
            <a:endParaRPr sz="2400" dirty="0">
              <a:latin typeface="Calibri"/>
              <a:cs typeface="Calibri"/>
            </a:endParaRPr>
          </a:p>
          <a:p>
            <a:pPr marL="184785" indent="-172085">
              <a:lnSpc>
                <a:spcPts val="2135"/>
              </a:lnSpc>
              <a:spcBef>
                <a:spcPts val="360"/>
              </a:spcBef>
              <a:buFont typeface="Arial"/>
              <a:buChar char="•"/>
              <a:tabLst>
                <a:tab pos="185420" algn="l"/>
              </a:tabLst>
            </a:pPr>
            <a:r>
              <a:rPr sz="2400" spc="-5" dirty="0">
                <a:latin typeface="Calibri"/>
                <a:cs typeface="Calibri"/>
              </a:rPr>
              <a:t>They </a:t>
            </a:r>
            <a:r>
              <a:rPr sz="2400" spc="-10" dirty="0">
                <a:latin typeface="Calibri"/>
                <a:cs typeface="Calibri"/>
              </a:rPr>
              <a:t>start </a:t>
            </a:r>
            <a:r>
              <a:rPr sz="2400" spc="-5" dirty="0">
                <a:latin typeface="Calibri"/>
                <a:cs typeface="Calibri"/>
              </a:rPr>
              <a:t>with </a:t>
            </a:r>
            <a:r>
              <a:rPr sz="2400" dirty="0">
                <a:latin typeface="Calibri"/>
                <a:cs typeface="Calibri"/>
              </a:rPr>
              <a:t>a </a:t>
            </a:r>
            <a:r>
              <a:rPr sz="2400" spc="-5" dirty="0">
                <a:latin typeface="Calibri"/>
                <a:cs typeface="Calibri"/>
              </a:rPr>
              <a:t>slash </a:t>
            </a:r>
            <a:r>
              <a:rPr sz="2400" spc="-10" dirty="0">
                <a:latin typeface="Calibri"/>
                <a:cs typeface="Calibri"/>
              </a:rPr>
              <a:t>asterisk </a:t>
            </a:r>
            <a:r>
              <a:rPr sz="2400" spc="-5" dirty="0">
                <a:latin typeface="Calibri"/>
                <a:cs typeface="Calibri"/>
              </a:rPr>
              <a:t>(/*) </a:t>
            </a:r>
            <a:r>
              <a:rPr sz="2400" dirty="0">
                <a:latin typeface="Calibri"/>
                <a:cs typeface="Calibri"/>
              </a:rPr>
              <a:t>and </a:t>
            </a:r>
            <a:r>
              <a:rPr sz="2400" spc="-10" dirty="0">
                <a:latin typeface="Calibri"/>
                <a:cs typeface="Calibri"/>
              </a:rPr>
              <a:t>terminates </a:t>
            </a:r>
            <a:r>
              <a:rPr sz="2400" spc="-5" dirty="0">
                <a:latin typeface="Calibri"/>
                <a:cs typeface="Calibri"/>
              </a:rPr>
              <a:t>with </a:t>
            </a:r>
            <a:r>
              <a:rPr sz="2400" dirty="0">
                <a:latin typeface="Calibri"/>
                <a:cs typeface="Calibri"/>
              </a:rPr>
              <a:t>the </a:t>
            </a:r>
            <a:r>
              <a:rPr sz="2400" spc="-10" dirty="0">
                <a:latin typeface="Calibri"/>
                <a:cs typeface="Calibri"/>
              </a:rPr>
              <a:t>asterisk </a:t>
            </a:r>
            <a:r>
              <a:rPr sz="2400" spc="-5" dirty="0">
                <a:latin typeface="Calibri"/>
                <a:cs typeface="Calibri"/>
              </a:rPr>
              <a:t>slash (*/) </a:t>
            </a:r>
            <a:r>
              <a:rPr sz="2400" dirty="0">
                <a:latin typeface="Calibri"/>
                <a:cs typeface="Calibri"/>
              </a:rPr>
              <a:t>as </a:t>
            </a:r>
            <a:r>
              <a:rPr sz="2400" spc="-5" dirty="0">
                <a:latin typeface="Calibri"/>
                <a:cs typeface="Calibri"/>
              </a:rPr>
              <a:t>shown</a:t>
            </a:r>
            <a:r>
              <a:rPr sz="2400" spc="195" dirty="0">
                <a:latin typeface="Calibri"/>
                <a:cs typeface="Calibri"/>
              </a:rPr>
              <a:t> </a:t>
            </a:r>
            <a:r>
              <a:rPr sz="2400" spc="-5" dirty="0">
                <a:latin typeface="Calibri"/>
                <a:cs typeface="Calibri"/>
              </a:rPr>
              <a:t>below:</a:t>
            </a:r>
            <a:endParaRPr sz="2400" dirty="0">
              <a:latin typeface="Calibri"/>
              <a:cs typeface="Calibri"/>
            </a:endParaRPr>
          </a:p>
          <a:p>
            <a:pPr marL="641985" lvl="1" indent="-172085">
              <a:lnSpc>
                <a:spcPts val="1775"/>
              </a:lnSpc>
              <a:buFont typeface="Arial"/>
              <a:buChar char="•"/>
              <a:tabLst>
                <a:tab pos="642620" algn="l"/>
              </a:tabLst>
            </a:pPr>
            <a:r>
              <a:rPr sz="2400" spc="-5" dirty="0">
                <a:latin typeface="Calibri"/>
                <a:cs typeface="Calibri"/>
              </a:rPr>
              <a:t>/* </a:t>
            </a:r>
            <a:r>
              <a:rPr sz="2400" spc="-15" dirty="0">
                <a:latin typeface="Calibri"/>
                <a:cs typeface="Calibri"/>
              </a:rPr>
              <a:t>my </a:t>
            </a:r>
            <a:r>
              <a:rPr sz="2400" spc="-10" dirty="0">
                <a:latin typeface="Calibri"/>
                <a:cs typeface="Calibri"/>
              </a:rPr>
              <a:t>first program </a:t>
            </a:r>
            <a:r>
              <a:rPr sz="2400" dirty="0">
                <a:latin typeface="Calibri"/>
                <a:cs typeface="Calibri"/>
              </a:rPr>
              <a:t>in C</a:t>
            </a:r>
            <a:r>
              <a:rPr sz="2400" spc="-80" dirty="0">
                <a:latin typeface="Calibri"/>
                <a:cs typeface="Calibri"/>
              </a:rPr>
              <a:t> </a:t>
            </a:r>
            <a:r>
              <a:rPr sz="2400" spc="-5" dirty="0" smtClean="0">
                <a:latin typeface="Calibri"/>
                <a:cs typeface="Calibri"/>
              </a:rPr>
              <a:t>*/</a:t>
            </a:r>
            <a:endParaRPr lang="en-US" sz="2400" spc="-5" dirty="0" smtClean="0">
              <a:latin typeface="Calibri"/>
              <a:cs typeface="Calibri"/>
            </a:endParaRPr>
          </a:p>
          <a:p>
            <a:pPr marL="641985" lvl="1" indent="-172085">
              <a:lnSpc>
                <a:spcPts val="1775"/>
              </a:lnSpc>
              <a:buFont typeface="Arial"/>
              <a:buChar char="•"/>
              <a:tabLst>
                <a:tab pos="642620" algn="l"/>
              </a:tabLst>
            </a:pPr>
            <a:endParaRPr sz="2400" dirty="0">
              <a:latin typeface="Calibri"/>
              <a:cs typeface="Calibri"/>
            </a:endParaRPr>
          </a:p>
          <a:p>
            <a:pPr marL="184785" indent="-172085">
              <a:lnSpc>
                <a:spcPct val="100000"/>
              </a:lnSpc>
              <a:spcBef>
                <a:spcPts val="360"/>
              </a:spcBef>
              <a:buFont typeface="Arial"/>
              <a:buChar char="•"/>
              <a:tabLst>
                <a:tab pos="185420" algn="l"/>
              </a:tabLst>
            </a:pPr>
            <a:r>
              <a:rPr sz="2400" spc="-50" dirty="0">
                <a:latin typeface="Calibri"/>
                <a:cs typeface="Calibri"/>
              </a:rPr>
              <a:t>You </a:t>
            </a:r>
            <a:r>
              <a:rPr sz="2400" spc="-5" dirty="0">
                <a:latin typeface="Calibri"/>
                <a:cs typeface="Calibri"/>
              </a:rPr>
              <a:t>cannot </a:t>
            </a:r>
            <a:r>
              <a:rPr sz="2400" spc="-10" dirty="0">
                <a:latin typeface="Calibri"/>
                <a:cs typeface="Calibri"/>
              </a:rPr>
              <a:t>have </a:t>
            </a:r>
            <a:r>
              <a:rPr sz="2400" spc="-5" dirty="0">
                <a:latin typeface="Calibri"/>
                <a:cs typeface="Calibri"/>
              </a:rPr>
              <a:t>comments within comments </a:t>
            </a:r>
            <a:r>
              <a:rPr sz="2400" dirty="0">
                <a:latin typeface="Calibri"/>
                <a:cs typeface="Calibri"/>
              </a:rPr>
              <a:t>and </a:t>
            </a:r>
            <a:r>
              <a:rPr sz="2400" spc="-5" dirty="0">
                <a:latin typeface="Calibri"/>
                <a:cs typeface="Calibri"/>
              </a:rPr>
              <a:t>they do not </a:t>
            </a:r>
            <a:r>
              <a:rPr sz="2400" spc="-10" dirty="0">
                <a:latin typeface="Calibri"/>
                <a:cs typeface="Calibri"/>
              </a:rPr>
              <a:t>occur </a:t>
            </a:r>
            <a:r>
              <a:rPr sz="2400" spc="-5" dirty="0">
                <a:latin typeface="Calibri"/>
                <a:cs typeface="Calibri"/>
              </a:rPr>
              <a:t>within </a:t>
            </a:r>
            <a:r>
              <a:rPr sz="2400" dirty="0">
                <a:latin typeface="Calibri"/>
                <a:cs typeface="Calibri"/>
              </a:rPr>
              <a:t>a </a:t>
            </a:r>
            <a:r>
              <a:rPr sz="2400" spc="-10" dirty="0">
                <a:latin typeface="Calibri"/>
                <a:cs typeface="Calibri"/>
              </a:rPr>
              <a:t>string </a:t>
            </a:r>
            <a:r>
              <a:rPr sz="2400" spc="-5" dirty="0">
                <a:latin typeface="Calibri"/>
                <a:cs typeface="Calibri"/>
              </a:rPr>
              <a:t>or </a:t>
            </a:r>
            <a:r>
              <a:rPr sz="2400" spc="-10" dirty="0">
                <a:latin typeface="Calibri"/>
                <a:cs typeface="Calibri"/>
              </a:rPr>
              <a:t>character</a:t>
            </a:r>
            <a:r>
              <a:rPr sz="2400" spc="260" dirty="0">
                <a:latin typeface="Calibri"/>
                <a:cs typeface="Calibri"/>
              </a:rPr>
              <a:t> </a:t>
            </a:r>
            <a:r>
              <a:rPr sz="2400" spc="-10" dirty="0">
                <a:latin typeface="Calibri"/>
                <a:cs typeface="Calibri"/>
              </a:rPr>
              <a:t>literals</a:t>
            </a:r>
            <a:r>
              <a:rPr sz="2400" spc="-10" dirty="0" smtClean="0">
                <a:latin typeface="Calibri"/>
                <a:cs typeface="Calibri"/>
              </a:rPr>
              <a:t>.</a:t>
            </a:r>
            <a:endParaRPr sz="2400" dirty="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0" dirty="0"/>
              <a:t>Comments</a:t>
            </a:r>
          </a:p>
        </p:txBody>
      </p:sp>
      <p:sp>
        <p:nvSpPr>
          <p:cNvPr id="3" name="object 3"/>
          <p:cNvSpPr txBox="1"/>
          <p:nvPr/>
        </p:nvSpPr>
        <p:spPr>
          <a:xfrm>
            <a:off x="916939" y="1375283"/>
            <a:ext cx="10132060" cy="3631763"/>
          </a:xfrm>
          <a:prstGeom prst="rect">
            <a:avLst/>
          </a:prstGeom>
        </p:spPr>
        <p:txBody>
          <a:bodyPr vert="horz" wrap="square" lIns="0" tIns="0" rIns="0" bIns="0" rtlCol="0">
            <a:spAutoFit/>
          </a:bodyPr>
          <a:lstStyle/>
          <a:p>
            <a:pPr marL="184785" indent="-172085">
              <a:lnSpc>
                <a:spcPct val="100000"/>
              </a:lnSpc>
              <a:spcBef>
                <a:spcPts val="345"/>
              </a:spcBef>
              <a:buFont typeface="Arial"/>
              <a:buChar char="•"/>
              <a:tabLst>
                <a:tab pos="185420" algn="l"/>
              </a:tabLst>
            </a:pPr>
            <a:r>
              <a:rPr sz="2400" spc="-10" dirty="0" smtClean="0">
                <a:cs typeface="Calibri"/>
              </a:rPr>
              <a:t>There </a:t>
            </a:r>
            <a:r>
              <a:rPr sz="2400" spc="-10" dirty="0">
                <a:cs typeface="Calibri"/>
              </a:rPr>
              <a:t>are </a:t>
            </a:r>
            <a:r>
              <a:rPr sz="2400" spc="-5" dirty="0">
                <a:cs typeface="Calibri"/>
              </a:rPr>
              <a:t>two </a:t>
            </a:r>
            <a:r>
              <a:rPr sz="2400" dirty="0">
                <a:cs typeface="Calibri"/>
              </a:rPr>
              <a:t>types </a:t>
            </a:r>
            <a:r>
              <a:rPr sz="2400" spc="-5" dirty="0">
                <a:cs typeface="Calibri"/>
              </a:rPr>
              <a:t>of comments </a:t>
            </a:r>
            <a:r>
              <a:rPr sz="2400" dirty="0">
                <a:cs typeface="Calibri"/>
              </a:rPr>
              <a:t>in C </a:t>
            </a:r>
            <a:r>
              <a:rPr sz="2400" spc="-10" dirty="0">
                <a:cs typeface="Calibri"/>
              </a:rPr>
              <a:t>programming</a:t>
            </a:r>
            <a:endParaRPr sz="2400" dirty="0">
              <a:cs typeface="Calibri"/>
            </a:endParaRPr>
          </a:p>
          <a:p>
            <a:pPr marL="184785" indent="-172085">
              <a:lnSpc>
                <a:spcPct val="100000"/>
              </a:lnSpc>
              <a:spcBef>
                <a:spcPts val="345"/>
              </a:spcBef>
              <a:buFont typeface="Arial"/>
              <a:buChar char="•"/>
              <a:tabLst>
                <a:tab pos="185420" algn="l"/>
              </a:tabLst>
            </a:pPr>
            <a:r>
              <a:rPr sz="2400" b="1" dirty="0">
                <a:cs typeface="Calibri"/>
              </a:rPr>
              <a:t>multiple line</a:t>
            </a:r>
            <a:r>
              <a:rPr sz="2400" b="1" spc="-145" dirty="0">
                <a:cs typeface="Calibri"/>
              </a:rPr>
              <a:t> </a:t>
            </a:r>
            <a:r>
              <a:rPr sz="2400" b="1" spc="-5" dirty="0">
                <a:cs typeface="Calibri"/>
              </a:rPr>
              <a:t>comments</a:t>
            </a:r>
            <a:endParaRPr sz="2400" dirty="0">
              <a:cs typeface="Calibri"/>
            </a:endParaRPr>
          </a:p>
          <a:p>
            <a:pPr marL="12700">
              <a:lnSpc>
                <a:spcPct val="100000"/>
              </a:lnSpc>
              <a:spcBef>
                <a:spcPts val="359"/>
              </a:spcBef>
            </a:pPr>
            <a:r>
              <a:rPr sz="2400" dirty="0">
                <a:cs typeface="Arial"/>
              </a:rPr>
              <a:t>• </a:t>
            </a:r>
            <a:r>
              <a:rPr sz="2400" spc="-5" dirty="0">
                <a:cs typeface="Calibri"/>
              </a:rPr>
              <a:t>/*</a:t>
            </a:r>
            <a:r>
              <a:rPr sz="2400" spc="145" dirty="0">
                <a:cs typeface="Calibri"/>
              </a:rPr>
              <a:t> </a:t>
            </a:r>
            <a:r>
              <a:rPr sz="2400" dirty="0">
                <a:cs typeface="Calibri"/>
              </a:rPr>
              <a:t>*/</a:t>
            </a:r>
          </a:p>
          <a:p>
            <a:pPr marL="184785" indent="-172085">
              <a:lnSpc>
                <a:spcPct val="100000"/>
              </a:lnSpc>
              <a:spcBef>
                <a:spcPts val="350"/>
              </a:spcBef>
              <a:buFont typeface="Arial"/>
              <a:buChar char="•"/>
              <a:tabLst>
                <a:tab pos="185420" algn="l"/>
              </a:tabLst>
            </a:pPr>
            <a:r>
              <a:rPr sz="2400" spc="-5" dirty="0">
                <a:cs typeface="Calibri"/>
              </a:rPr>
              <a:t>Can </a:t>
            </a:r>
            <a:r>
              <a:rPr sz="2400" dirty="0">
                <a:cs typeface="Calibri"/>
              </a:rPr>
              <a:t>also be used </a:t>
            </a:r>
            <a:r>
              <a:rPr sz="2400" spc="-5" dirty="0">
                <a:cs typeface="Calibri"/>
              </a:rPr>
              <a:t>as </a:t>
            </a:r>
            <a:r>
              <a:rPr sz="2400" dirty="0">
                <a:cs typeface="Calibri"/>
              </a:rPr>
              <a:t>a </a:t>
            </a:r>
            <a:r>
              <a:rPr sz="2400" spc="-5" dirty="0">
                <a:cs typeface="Calibri"/>
              </a:rPr>
              <a:t>single line as long </a:t>
            </a:r>
            <a:r>
              <a:rPr sz="2400" dirty="0">
                <a:cs typeface="Calibri"/>
              </a:rPr>
              <a:t>as the </a:t>
            </a:r>
            <a:r>
              <a:rPr sz="2400" spc="-5" dirty="0">
                <a:cs typeface="Calibri"/>
              </a:rPr>
              <a:t>comment(s) don’t </a:t>
            </a:r>
            <a:r>
              <a:rPr sz="2400" dirty="0">
                <a:cs typeface="Calibri"/>
              </a:rPr>
              <a:t>span </a:t>
            </a:r>
            <a:r>
              <a:rPr sz="2400" spc="-10" dirty="0">
                <a:cs typeface="Calibri"/>
              </a:rPr>
              <a:t>more </a:t>
            </a:r>
            <a:r>
              <a:rPr sz="2400" spc="-5" dirty="0">
                <a:cs typeface="Calibri"/>
              </a:rPr>
              <a:t>than one</a:t>
            </a:r>
            <a:r>
              <a:rPr sz="2400" spc="220" dirty="0">
                <a:cs typeface="Calibri"/>
              </a:rPr>
              <a:t> </a:t>
            </a:r>
            <a:r>
              <a:rPr sz="2400" spc="-5" dirty="0">
                <a:cs typeface="Calibri"/>
              </a:rPr>
              <a:t>line.</a:t>
            </a:r>
            <a:endParaRPr sz="2400" dirty="0">
              <a:cs typeface="Calibri"/>
            </a:endParaRPr>
          </a:p>
          <a:p>
            <a:pPr marL="184785" indent="-172085">
              <a:lnSpc>
                <a:spcPct val="100000"/>
              </a:lnSpc>
              <a:spcBef>
                <a:spcPts val="345"/>
              </a:spcBef>
              <a:buFont typeface="Arial"/>
              <a:buChar char="•"/>
              <a:tabLst>
                <a:tab pos="185420" algn="l"/>
              </a:tabLst>
            </a:pPr>
            <a:r>
              <a:rPr sz="2400" b="1" dirty="0">
                <a:cs typeface="Calibri"/>
              </a:rPr>
              <a:t>And </a:t>
            </a:r>
            <a:r>
              <a:rPr sz="2400" b="1" spc="-5" dirty="0">
                <a:cs typeface="Calibri"/>
              </a:rPr>
              <a:t>single </a:t>
            </a:r>
            <a:r>
              <a:rPr sz="2400" b="1" dirty="0">
                <a:cs typeface="Calibri"/>
              </a:rPr>
              <a:t>line</a:t>
            </a:r>
            <a:r>
              <a:rPr sz="2400" b="1" spc="-114" dirty="0">
                <a:cs typeface="Calibri"/>
              </a:rPr>
              <a:t> </a:t>
            </a:r>
            <a:r>
              <a:rPr sz="2400" b="1" spc="-5" dirty="0">
                <a:cs typeface="Calibri"/>
              </a:rPr>
              <a:t>comments</a:t>
            </a:r>
            <a:endParaRPr sz="2400" dirty="0">
              <a:cs typeface="Calibri"/>
            </a:endParaRPr>
          </a:p>
          <a:p>
            <a:pPr marL="184785" indent="-172085">
              <a:lnSpc>
                <a:spcPct val="100000"/>
              </a:lnSpc>
              <a:spcBef>
                <a:spcPts val="360"/>
              </a:spcBef>
              <a:buFont typeface="Arial"/>
              <a:buChar char="•"/>
              <a:tabLst>
                <a:tab pos="185420" algn="l"/>
              </a:tabLst>
            </a:pPr>
            <a:r>
              <a:rPr sz="2400" spc="-10" dirty="0">
                <a:cs typeface="Calibri"/>
              </a:rPr>
              <a:t>introduced </a:t>
            </a:r>
            <a:r>
              <a:rPr sz="2400" spc="-5" dirty="0">
                <a:cs typeface="Calibri"/>
              </a:rPr>
              <a:t>by</a:t>
            </a:r>
            <a:r>
              <a:rPr sz="2400" spc="-20" dirty="0">
                <a:cs typeface="Calibri"/>
              </a:rPr>
              <a:t> </a:t>
            </a:r>
            <a:r>
              <a:rPr sz="2400" spc="-5" dirty="0">
                <a:cs typeface="Calibri"/>
              </a:rPr>
              <a:t>C++;</a:t>
            </a:r>
            <a:endParaRPr sz="2400" dirty="0">
              <a:cs typeface="Calibri"/>
            </a:endParaRPr>
          </a:p>
          <a:p>
            <a:pPr marL="184785" indent="-172085">
              <a:lnSpc>
                <a:spcPct val="100000"/>
              </a:lnSpc>
              <a:spcBef>
                <a:spcPts val="345"/>
              </a:spcBef>
              <a:buFont typeface="Arial"/>
              <a:buChar char="•"/>
              <a:tabLst>
                <a:tab pos="185420" algn="l"/>
              </a:tabLst>
            </a:pPr>
            <a:r>
              <a:rPr sz="2400" spc="-5" dirty="0">
                <a:cs typeface="Calibri"/>
              </a:rPr>
              <a:t>double slashes</a:t>
            </a:r>
            <a:r>
              <a:rPr sz="2400" spc="-55" dirty="0">
                <a:cs typeface="Calibri"/>
              </a:rPr>
              <a:t> </a:t>
            </a:r>
            <a:r>
              <a:rPr sz="2400" spc="-5" dirty="0">
                <a:cs typeface="Calibri"/>
              </a:rPr>
              <a:t>(//);</a:t>
            </a:r>
            <a:endParaRPr sz="2400" dirty="0">
              <a:cs typeface="Calibri"/>
            </a:endParaRPr>
          </a:p>
          <a:p>
            <a:pPr marL="184785" indent="-172085">
              <a:lnSpc>
                <a:spcPct val="100000"/>
              </a:lnSpc>
              <a:spcBef>
                <a:spcPts val="345"/>
              </a:spcBef>
              <a:buFont typeface="Arial"/>
              <a:buChar char="•"/>
              <a:tabLst>
                <a:tab pos="185420" algn="l"/>
              </a:tabLst>
            </a:pPr>
            <a:r>
              <a:rPr sz="2400" spc="-5" dirty="0">
                <a:cs typeface="Calibri"/>
              </a:rPr>
              <a:t>this </a:t>
            </a:r>
            <a:r>
              <a:rPr sz="2400" dirty="0">
                <a:cs typeface="Calibri"/>
              </a:rPr>
              <a:t>is used </a:t>
            </a:r>
            <a:r>
              <a:rPr sz="2400" spc="-5" dirty="0">
                <a:cs typeface="Calibri"/>
              </a:rPr>
              <a:t>with </a:t>
            </a:r>
            <a:r>
              <a:rPr sz="2400" dirty="0">
                <a:cs typeface="Calibri"/>
              </a:rPr>
              <a:t>modern C </a:t>
            </a:r>
            <a:r>
              <a:rPr sz="2400" spc="-10" dirty="0">
                <a:cs typeface="Calibri"/>
              </a:rPr>
              <a:t>compilers </a:t>
            </a:r>
            <a:r>
              <a:rPr sz="2400" spc="-5" dirty="0">
                <a:cs typeface="Calibri"/>
              </a:rPr>
              <a:t>if they also </a:t>
            </a:r>
            <a:r>
              <a:rPr sz="2400" spc="-10" dirty="0">
                <a:cs typeface="Calibri"/>
              </a:rPr>
              <a:t>understand </a:t>
            </a:r>
            <a:r>
              <a:rPr sz="2400" dirty="0">
                <a:cs typeface="Calibri"/>
              </a:rPr>
              <a:t>the C++</a:t>
            </a:r>
            <a:r>
              <a:rPr sz="2400" spc="120" dirty="0">
                <a:cs typeface="Calibri"/>
              </a:rPr>
              <a:t> </a:t>
            </a:r>
            <a:r>
              <a:rPr sz="2400" spc="-5" dirty="0">
                <a:cs typeface="Calibri"/>
              </a:rPr>
              <a:t>language.</a:t>
            </a:r>
            <a:endParaRPr sz="2400" dirty="0">
              <a:cs typeface="Calibri"/>
            </a:endParaRPr>
          </a:p>
        </p:txBody>
      </p:sp>
    </p:spTree>
    <p:extLst>
      <p:ext uri="{BB962C8B-B14F-4D97-AF65-F5344CB8AC3E}">
        <p14:creationId xmlns:p14="http://schemas.microsoft.com/office/powerpoint/2010/main" val="6060941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 dirty="0"/>
              <a:t>Ide</a:t>
            </a:r>
            <a:r>
              <a:rPr spc="-35" dirty="0"/>
              <a:t>n</a:t>
            </a:r>
            <a:r>
              <a:rPr dirty="0"/>
              <a:t>tifie</a:t>
            </a:r>
            <a:r>
              <a:rPr spc="-75" dirty="0"/>
              <a:t>r</a:t>
            </a:r>
            <a:r>
              <a:rPr dirty="0"/>
              <a:t>s</a:t>
            </a:r>
          </a:p>
        </p:txBody>
      </p:sp>
      <p:sp>
        <p:nvSpPr>
          <p:cNvPr id="3" name="object 3"/>
          <p:cNvSpPr txBox="1"/>
          <p:nvPr/>
        </p:nvSpPr>
        <p:spPr>
          <a:xfrm>
            <a:off x="916939" y="1361313"/>
            <a:ext cx="10119360" cy="4483735"/>
          </a:xfrm>
          <a:prstGeom prst="rect">
            <a:avLst/>
          </a:prstGeom>
        </p:spPr>
        <p:txBody>
          <a:bodyPr vert="horz" wrap="square" lIns="0" tIns="0" rIns="0" bIns="0" rtlCol="0">
            <a:spAutoFit/>
          </a:bodyPr>
          <a:lstStyle/>
          <a:p>
            <a:pPr marL="184785" marR="259079" indent="-172085">
              <a:lnSpc>
                <a:spcPts val="3020"/>
              </a:lnSpc>
              <a:buFont typeface="Arial"/>
              <a:buChar char="•"/>
              <a:tabLst>
                <a:tab pos="266065" algn="l"/>
              </a:tabLst>
            </a:pPr>
            <a:r>
              <a:rPr sz="2800" spc="-5" dirty="0">
                <a:latin typeface="Calibri"/>
                <a:cs typeface="Calibri"/>
              </a:rPr>
              <a:t>A C </a:t>
            </a:r>
            <a:r>
              <a:rPr sz="2800" spc="-10" dirty="0">
                <a:latin typeface="Calibri"/>
                <a:cs typeface="Calibri"/>
              </a:rPr>
              <a:t>identifier </a:t>
            </a:r>
            <a:r>
              <a:rPr sz="2800" spc="-5" dirty="0">
                <a:latin typeface="Calibri"/>
                <a:cs typeface="Calibri"/>
              </a:rPr>
              <a:t>is a </a:t>
            </a:r>
            <a:r>
              <a:rPr sz="2800" spc="-10" dirty="0">
                <a:latin typeface="Calibri"/>
                <a:cs typeface="Calibri"/>
              </a:rPr>
              <a:t>name used </a:t>
            </a:r>
            <a:r>
              <a:rPr sz="2800" spc="-15" dirty="0">
                <a:latin typeface="Calibri"/>
                <a:cs typeface="Calibri"/>
              </a:rPr>
              <a:t>to </a:t>
            </a:r>
            <a:r>
              <a:rPr sz="2800" spc="-10" dirty="0">
                <a:latin typeface="Calibri"/>
                <a:cs typeface="Calibri"/>
              </a:rPr>
              <a:t>identify </a:t>
            </a:r>
            <a:r>
              <a:rPr sz="2800" spc="-5" dirty="0">
                <a:latin typeface="Calibri"/>
                <a:cs typeface="Calibri"/>
              </a:rPr>
              <a:t>a </a:t>
            </a:r>
            <a:r>
              <a:rPr sz="2800" spc="-10" dirty="0">
                <a:latin typeface="Calibri"/>
                <a:cs typeface="Calibri"/>
              </a:rPr>
              <a:t>variable, function, </a:t>
            </a:r>
            <a:r>
              <a:rPr sz="2800" spc="-5" dirty="0">
                <a:latin typeface="Calibri"/>
                <a:cs typeface="Calibri"/>
              </a:rPr>
              <a:t>or </a:t>
            </a:r>
            <a:r>
              <a:rPr sz="2800" spc="-20" dirty="0">
                <a:latin typeface="Calibri"/>
                <a:cs typeface="Calibri"/>
              </a:rPr>
              <a:t>any  </a:t>
            </a:r>
            <a:r>
              <a:rPr sz="2800" spc="-10" dirty="0">
                <a:latin typeface="Calibri"/>
                <a:cs typeface="Calibri"/>
              </a:rPr>
              <a:t>other user-defined</a:t>
            </a:r>
            <a:r>
              <a:rPr sz="2800" spc="5" dirty="0">
                <a:latin typeface="Calibri"/>
                <a:cs typeface="Calibri"/>
              </a:rPr>
              <a:t> </a:t>
            </a:r>
            <a:r>
              <a:rPr sz="2800" spc="-10" dirty="0">
                <a:latin typeface="Calibri"/>
                <a:cs typeface="Calibri"/>
              </a:rPr>
              <a:t>item.</a:t>
            </a:r>
            <a:endParaRPr sz="2800">
              <a:latin typeface="Calibri"/>
              <a:cs typeface="Calibri"/>
            </a:endParaRPr>
          </a:p>
          <a:p>
            <a:pPr marL="184785" indent="-172085">
              <a:lnSpc>
                <a:spcPts val="3190"/>
              </a:lnSpc>
              <a:spcBef>
                <a:spcPts val="625"/>
              </a:spcBef>
              <a:buFont typeface="Arial"/>
              <a:buChar char="•"/>
              <a:tabLst>
                <a:tab pos="185420" algn="l"/>
              </a:tabLst>
            </a:pPr>
            <a:r>
              <a:rPr sz="2800" spc="-5" dirty="0">
                <a:latin typeface="Calibri"/>
                <a:cs typeface="Calibri"/>
              </a:rPr>
              <a:t>An </a:t>
            </a:r>
            <a:r>
              <a:rPr sz="2800" spc="-10" dirty="0">
                <a:latin typeface="Calibri"/>
                <a:cs typeface="Calibri"/>
              </a:rPr>
              <a:t>identifier </a:t>
            </a:r>
            <a:r>
              <a:rPr sz="2800" spc="-15" dirty="0">
                <a:latin typeface="Calibri"/>
                <a:cs typeface="Calibri"/>
              </a:rPr>
              <a:t>starts </a:t>
            </a:r>
            <a:r>
              <a:rPr sz="2800" spc="-5" dirty="0">
                <a:latin typeface="Calibri"/>
                <a:cs typeface="Calibri"/>
              </a:rPr>
              <a:t>with a </a:t>
            </a:r>
            <a:r>
              <a:rPr sz="2800" spc="-20" dirty="0">
                <a:latin typeface="Calibri"/>
                <a:cs typeface="Calibri"/>
              </a:rPr>
              <a:t>letter </a:t>
            </a:r>
            <a:r>
              <a:rPr sz="2800" b="1" spc="-5" dirty="0">
                <a:latin typeface="Calibri"/>
                <a:cs typeface="Calibri"/>
              </a:rPr>
              <a:t>A </a:t>
            </a:r>
            <a:r>
              <a:rPr sz="2800" b="1" spc="-15" dirty="0">
                <a:latin typeface="Calibri"/>
                <a:cs typeface="Calibri"/>
              </a:rPr>
              <a:t>to </a:t>
            </a:r>
            <a:r>
              <a:rPr sz="2800" b="1" spc="-5" dirty="0">
                <a:latin typeface="Calibri"/>
                <a:cs typeface="Calibri"/>
              </a:rPr>
              <a:t>Z </a:t>
            </a:r>
            <a:r>
              <a:rPr sz="2800" spc="-5" dirty="0">
                <a:latin typeface="Calibri"/>
                <a:cs typeface="Calibri"/>
              </a:rPr>
              <a:t>or </a:t>
            </a:r>
            <a:r>
              <a:rPr sz="2800" b="1" spc="-5" dirty="0">
                <a:latin typeface="Calibri"/>
                <a:cs typeface="Calibri"/>
              </a:rPr>
              <a:t>a </a:t>
            </a:r>
            <a:r>
              <a:rPr sz="2800" b="1" spc="-15" dirty="0">
                <a:latin typeface="Calibri"/>
                <a:cs typeface="Calibri"/>
              </a:rPr>
              <a:t>to </a:t>
            </a:r>
            <a:r>
              <a:rPr sz="2800" b="1" spc="-5" dirty="0">
                <a:latin typeface="Calibri"/>
                <a:cs typeface="Calibri"/>
              </a:rPr>
              <a:t>z </a:t>
            </a:r>
            <a:r>
              <a:rPr sz="2800" spc="-5" dirty="0">
                <a:latin typeface="Calibri"/>
                <a:cs typeface="Calibri"/>
              </a:rPr>
              <a:t>or an </a:t>
            </a:r>
            <a:r>
              <a:rPr sz="2800" b="1" spc="-15" dirty="0">
                <a:latin typeface="Calibri"/>
                <a:cs typeface="Calibri"/>
              </a:rPr>
              <a:t>underscore </a:t>
            </a:r>
            <a:r>
              <a:rPr sz="2800" spc="-5" dirty="0">
                <a:latin typeface="Calibri"/>
                <a:cs typeface="Calibri"/>
              </a:rPr>
              <a:t>( _</a:t>
            </a:r>
            <a:r>
              <a:rPr sz="2800" spc="310" dirty="0">
                <a:latin typeface="Calibri"/>
                <a:cs typeface="Calibri"/>
              </a:rPr>
              <a:t> </a:t>
            </a:r>
            <a:r>
              <a:rPr sz="2800" spc="-5" dirty="0">
                <a:latin typeface="Calibri"/>
                <a:cs typeface="Calibri"/>
              </a:rPr>
              <a:t>)</a:t>
            </a:r>
            <a:endParaRPr sz="2800">
              <a:latin typeface="Calibri"/>
              <a:cs typeface="Calibri"/>
            </a:endParaRPr>
          </a:p>
          <a:p>
            <a:pPr marL="184785">
              <a:lnSpc>
                <a:spcPts val="3190"/>
              </a:lnSpc>
            </a:pPr>
            <a:r>
              <a:rPr sz="2800" spc="-20" dirty="0">
                <a:latin typeface="Calibri"/>
                <a:cs typeface="Calibri"/>
              </a:rPr>
              <a:t>followed </a:t>
            </a:r>
            <a:r>
              <a:rPr sz="2800" spc="-15" dirty="0">
                <a:latin typeface="Calibri"/>
                <a:cs typeface="Calibri"/>
              </a:rPr>
              <a:t>by </a:t>
            </a:r>
            <a:r>
              <a:rPr sz="2800" spc="-35" dirty="0">
                <a:latin typeface="Calibri"/>
                <a:cs typeface="Calibri"/>
              </a:rPr>
              <a:t>zero </a:t>
            </a:r>
            <a:r>
              <a:rPr sz="2800" spc="-5" dirty="0">
                <a:latin typeface="Calibri"/>
                <a:cs typeface="Calibri"/>
              </a:rPr>
              <a:t>or </a:t>
            </a:r>
            <a:r>
              <a:rPr sz="2800" spc="-15" dirty="0">
                <a:latin typeface="Calibri"/>
                <a:cs typeface="Calibri"/>
              </a:rPr>
              <a:t>more </a:t>
            </a:r>
            <a:r>
              <a:rPr sz="2800" spc="-20" dirty="0">
                <a:latin typeface="Calibri"/>
                <a:cs typeface="Calibri"/>
              </a:rPr>
              <a:t>letters, </a:t>
            </a:r>
            <a:r>
              <a:rPr sz="2800" spc="-15" dirty="0">
                <a:latin typeface="Calibri"/>
                <a:cs typeface="Calibri"/>
              </a:rPr>
              <a:t>underscores, </a:t>
            </a:r>
            <a:r>
              <a:rPr sz="2800" spc="-5" dirty="0">
                <a:latin typeface="Calibri"/>
                <a:cs typeface="Calibri"/>
              </a:rPr>
              <a:t>and digits (0 </a:t>
            </a:r>
            <a:r>
              <a:rPr sz="2800" spc="-15" dirty="0">
                <a:latin typeface="Calibri"/>
                <a:cs typeface="Calibri"/>
              </a:rPr>
              <a:t>to</a:t>
            </a:r>
            <a:r>
              <a:rPr sz="2800" spc="210" dirty="0">
                <a:latin typeface="Calibri"/>
                <a:cs typeface="Calibri"/>
              </a:rPr>
              <a:t> </a:t>
            </a:r>
            <a:r>
              <a:rPr sz="2800" spc="-5" dirty="0">
                <a:latin typeface="Calibri"/>
                <a:cs typeface="Calibri"/>
              </a:rPr>
              <a:t>9).</a:t>
            </a:r>
            <a:endParaRPr sz="2800">
              <a:latin typeface="Calibri"/>
              <a:cs typeface="Calibri"/>
            </a:endParaRPr>
          </a:p>
          <a:p>
            <a:pPr marL="184785" marR="201295" indent="-172085">
              <a:lnSpc>
                <a:spcPts val="3020"/>
              </a:lnSpc>
              <a:spcBef>
                <a:spcPts val="1045"/>
              </a:spcBef>
              <a:buFont typeface="Arial"/>
              <a:buChar char="•"/>
              <a:tabLst>
                <a:tab pos="185420" algn="l"/>
              </a:tabLst>
            </a:pPr>
            <a:r>
              <a:rPr sz="2800" spc="-5" dirty="0">
                <a:latin typeface="Calibri"/>
                <a:cs typeface="Calibri"/>
              </a:rPr>
              <a:t>C </a:t>
            </a:r>
            <a:r>
              <a:rPr sz="2800" spc="-10" dirty="0">
                <a:latin typeface="Calibri"/>
                <a:cs typeface="Calibri"/>
              </a:rPr>
              <a:t>does not allow punctuation </a:t>
            </a:r>
            <a:r>
              <a:rPr sz="2800" spc="-20" dirty="0">
                <a:latin typeface="Calibri"/>
                <a:cs typeface="Calibri"/>
              </a:rPr>
              <a:t>characters </a:t>
            </a:r>
            <a:r>
              <a:rPr sz="2800" spc="-10" dirty="0">
                <a:latin typeface="Calibri"/>
                <a:cs typeface="Calibri"/>
              </a:rPr>
              <a:t>such </a:t>
            </a:r>
            <a:r>
              <a:rPr sz="2800" spc="-5" dirty="0">
                <a:latin typeface="Calibri"/>
                <a:cs typeface="Calibri"/>
              </a:rPr>
              <a:t>as @, $, and % within  </a:t>
            </a:r>
            <a:r>
              <a:rPr sz="2800" spc="-15" dirty="0">
                <a:latin typeface="Calibri"/>
                <a:cs typeface="Calibri"/>
              </a:rPr>
              <a:t>identifiers.</a:t>
            </a:r>
            <a:endParaRPr sz="2800">
              <a:latin typeface="Calibri"/>
              <a:cs typeface="Calibri"/>
            </a:endParaRPr>
          </a:p>
          <a:p>
            <a:pPr marL="184785" indent="-172085">
              <a:lnSpc>
                <a:spcPct val="100000"/>
              </a:lnSpc>
              <a:spcBef>
                <a:spcPts val="615"/>
              </a:spcBef>
              <a:buFont typeface="Arial"/>
              <a:buChar char="•"/>
              <a:tabLst>
                <a:tab pos="185420" algn="l"/>
              </a:tabLst>
            </a:pPr>
            <a:r>
              <a:rPr sz="2800" spc="-5" dirty="0">
                <a:latin typeface="Calibri"/>
                <a:cs typeface="Calibri"/>
              </a:rPr>
              <a:t>C is a case </a:t>
            </a:r>
            <a:r>
              <a:rPr sz="2800" spc="-10" dirty="0">
                <a:latin typeface="Calibri"/>
                <a:cs typeface="Calibri"/>
              </a:rPr>
              <a:t>sensitive </a:t>
            </a:r>
            <a:r>
              <a:rPr sz="2800" spc="-15" dirty="0">
                <a:latin typeface="Calibri"/>
                <a:cs typeface="Calibri"/>
              </a:rPr>
              <a:t>programming</a:t>
            </a:r>
            <a:r>
              <a:rPr sz="2800" spc="40" dirty="0">
                <a:latin typeface="Calibri"/>
                <a:cs typeface="Calibri"/>
              </a:rPr>
              <a:t> </a:t>
            </a:r>
            <a:r>
              <a:rPr sz="2800" spc="-10" dirty="0">
                <a:latin typeface="Calibri"/>
                <a:cs typeface="Calibri"/>
              </a:rPr>
              <a:t>language.</a:t>
            </a:r>
            <a:endParaRPr sz="2800">
              <a:latin typeface="Calibri"/>
              <a:cs typeface="Calibri"/>
            </a:endParaRPr>
          </a:p>
          <a:p>
            <a:pPr marL="184785" indent="-172085">
              <a:lnSpc>
                <a:spcPct val="100000"/>
              </a:lnSpc>
              <a:spcBef>
                <a:spcPts val="670"/>
              </a:spcBef>
              <a:buFont typeface="Arial"/>
              <a:buChar char="•"/>
              <a:tabLst>
                <a:tab pos="185420" algn="l"/>
              </a:tabLst>
            </a:pPr>
            <a:r>
              <a:rPr sz="2800" spc="-10" dirty="0">
                <a:latin typeface="Calibri"/>
                <a:cs typeface="Calibri"/>
              </a:rPr>
              <a:t>Thus, Manpower </a:t>
            </a:r>
            <a:r>
              <a:rPr sz="2800" spc="-5" dirty="0">
                <a:latin typeface="Calibri"/>
                <a:cs typeface="Calibri"/>
              </a:rPr>
              <a:t>and </a:t>
            </a:r>
            <a:r>
              <a:rPr sz="2800" spc="-10" dirty="0">
                <a:latin typeface="Calibri"/>
                <a:cs typeface="Calibri"/>
              </a:rPr>
              <a:t>manpower </a:t>
            </a:r>
            <a:r>
              <a:rPr sz="2800" spc="-20" dirty="0">
                <a:latin typeface="Calibri"/>
                <a:cs typeface="Calibri"/>
              </a:rPr>
              <a:t>are </a:t>
            </a:r>
            <a:r>
              <a:rPr sz="2800" spc="-10" dirty="0">
                <a:latin typeface="Calibri"/>
                <a:cs typeface="Calibri"/>
              </a:rPr>
              <a:t>two </a:t>
            </a:r>
            <a:r>
              <a:rPr sz="2800" spc="-25" dirty="0">
                <a:latin typeface="Calibri"/>
                <a:cs typeface="Calibri"/>
              </a:rPr>
              <a:t>different </a:t>
            </a:r>
            <a:r>
              <a:rPr sz="2800" spc="-15" dirty="0">
                <a:latin typeface="Calibri"/>
                <a:cs typeface="Calibri"/>
              </a:rPr>
              <a:t>identifiers </a:t>
            </a:r>
            <a:r>
              <a:rPr sz="2800" spc="-5" dirty="0">
                <a:latin typeface="Calibri"/>
                <a:cs typeface="Calibri"/>
              </a:rPr>
              <a:t>in</a:t>
            </a:r>
            <a:r>
              <a:rPr sz="2800" spc="265" dirty="0">
                <a:latin typeface="Calibri"/>
                <a:cs typeface="Calibri"/>
              </a:rPr>
              <a:t> </a:t>
            </a:r>
            <a:r>
              <a:rPr sz="2800" spc="-10" dirty="0">
                <a:latin typeface="Calibri"/>
                <a:cs typeface="Calibri"/>
              </a:rPr>
              <a:t>C.</a:t>
            </a:r>
            <a:endParaRPr sz="2800">
              <a:latin typeface="Calibri"/>
              <a:cs typeface="Calibri"/>
            </a:endParaRPr>
          </a:p>
          <a:p>
            <a:pPr marL="184785" indent="-172085">
              <a:lnSpc>
                <a:spcPct val="100000"/>
              </a:lnSpc>
              <a:spcBef>
                <a:spcPts val="660"/>
              </a:spcBef>
              <a:buFont typeface="Arial"/>
              <a:buChar char="•"/>
              <a:tabLst>
                <a:tab pos="185420" algn="l"/>
              </a:tabLst>
            </a:pPr>
            <a:r>
              <a:rPr sz="2800" spc="-15" dirty="0">
                <a:latin typeface="Calibri"/>
                <a:cs typeface="Calibri"/>
              </a:rPr>
              <a:t>Here are </a:t>
            </a:r>
            <a:r>
              <a:rPr sz="2800" spc="-10" dirty="0">
                <a:latin typeface="Calibri"/>
                <a:cs typeface="Calibri"/>
              </a:rPr>
              <a:t>some </a:t>
            </a:r>
            <a:r>
              <a:rPr sz="2800" spc="-20" dirty="0">
                <a:latin typeface="Calibri"/>
                <a:cs typeface="Calibri"/>
              </a:rPr>
              <a:t>examples </a:t>
            </a:r>
            <a:r>
              <a:rPr sz="2800" spc="-5" dirty="0">
                <a:latin typeface="Calibri"/>
                <a:cs typeface="Calibri"/>
              </a:rPr>
              <a:t>of </a:t>
            </a:r>
            <a:r>
              <a:rPr sz="2800" spc="-10" dirty="0">
                <a:latin typeface="Calibri"/>
                <a:cs typeface="Calibri"/>
              </a:rPr>
              <a:t>acceptable</a:t>
            </a:r>
            <a:r>
              <a:rPr sz="2800" spc="95" dirty="0">
                <a:latin typeface="Calibri"/>
                <a:cs typeface="Calibri"/>
              </a:rPr>
              <a:t> </a:t>
            </a:r>
            <a:r>
              <a:rPr sz="2800" spc="-15" dirty="0">
                <a:latin typeface="Calibri"/>
                <a:cs typeface="Calibri"/>
              </a:rPr>
              <a:t>identifiers:</a:t>
            </a:r>
            <a:endParaRPr sz="2800">
              <a:latin typeface="Calibri"/>
              <a:cs typeface="Calibri"/>
            </a:endParaRPr>
          </a:p>
          <a:p>
            <a:pPr marL="641985" lvl="1" indent="-172085">
              <a:lnSpc>
                <a:spcPct val="100000"/>
              </a:lnSpc>
              <a:spcBef>
                <a:spcPts val="244"/>
              </a:spcBef>
              <a:buFont typeface="Arial"/>
              <a:buChar char="•"/>
              <a:tabLst>
                <a:tab pos="642620" algn="l"/>
              </a:tabLst>
            </a:pPr>
            <a:r>
              <a:rPr sz="2400" spc="-5" dirty="0">
                <a:latin typeface="Calibri"/>
                <a:cs typeface="Calibri"/>
              </a:rPr>
              <a:t>Mohd, </a:t>
            </a:r>
            <a:r>
              <a:rPr sz="2400" spc="-20" dirty="0">
                <a:latin typeface="Calibri"/>
                <a:cs typeface="Calibri"/>
              </a:rPr>
              <a:t>zara, </a:t>
            </a:r>
            <a:r>
              <a:rPr sz="2400" dirty="0">
                <a:latin typeface="Calibri"/>
                <a:cs typeface="Calibri"/>
              </a:rPr>
              <a:t>abc, </a:t>
            </a:r>
            <a:r>
              <a:rPr sz="2400" spc="-5" dirty="0">
                <a:latin typeface="Calibri"/>
                <a:cs typeface="Calibri"/>
              </a:rPr>
              <a:t>move_name, a_123, </a:t>
            </a:r>
            <a:r>
              <a:rPr sz="2400" spc="-10" dirty="0">
                <a:latin typeface="Calibri"/>
                <a:cs typeface="Calibri"/>
              </a:rPr>
              <a:t>myname50, </a:t>
            </a:r>
            <a:r>
              <a:rPr sz="2400" spc="-5" dirty="0">
                <a:latin typeface="Calibri"/>
                <a:cs typeface="Calibri"/>
              </a:rPr>
              <a:t>_temp, j, a23b9,</a:t>
            </a:r>
            <a:r>
              <a:rPr sz="2400" spc="15" dirty="0">
                <a:latin typeface="Calibri"/>
                <a:cs typeface="Calibri"/>
              </a:rPr>
              <a:t> </a:t>
            </a:r>
            <a:r>
              <a:rPr sz="2400" spc="-30" dirty="0">
                <a:latin typeface="Calibri"/>
                <a:cs typeface="Calibri"/>
              </a:rPr>
              <a:t>retVal.</a:t>
            </a:r>
            <a:endParaRPr sz="24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Keywords</a:t>
            </a:r>
          </a:p>
        </p:txBody>
      </p:sp>
      <p:sp>
        <p:nvSpPr>
          <p:cNvPr id="4" name="object 4"/>
          <p:cNvSpPr txBox="1"/>
          <p:nvPr/>
        </p:nvSpPr>
        <p:spPr>
          <a:xfrm>
            <a:off x="916939" y="1308227"/>
            <a:ext cx="9553575" cy="4431983"/>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2400" spc="-5" dirty="0">
                <a:latin typeface="Calibri"/>
                <a:cs typeface="Calibri"/>
              </a:rPr>
              <a:t>The </a:t>
            </a:r>
            <a:r>
              <a:rPr sz="2400" spc="-10" dirty="0">
                <a:latin typeface="Calibri"/>
                <a:cs typeface="Calibri"/>
              </a:rPr>
              <a:t>following list shows </a:t>
            </a:r>
            <a:r>
              <a:rPr sz="2400" dirty="0">
                <a:latin typeface="Calibri"/>
                <a:cs typeface="Calibri"/>
              </a:rPr>
              <a:t>the </a:t>
            </a:r>
            <a:r>
              <a:rPr sz="2400" spc="-5" dirty="0">
                <a:latin typeface="Calibri"/>
                <a:cs typeface="Calibri"/>
              </a:rPr>
              <a:t>reserved </a:t>
            </a:r>
            <a:r>
              <a:rPr sz="2400" spc="-15" dirty="0">
                <a:latin typeface="Calibri"/>
                <a:cs typeface="Calibri"/>
              </a:rPr>
              <a:t>words </a:t>
            </a:r>
            <a:r>
              <a:rPr sz="2400" dirty="0">
                <a:latin typeface="Calibri"/>
                <a:cs typeface="Calibri"/>
              </a:rPr>
              <a:t>in</a:t>
            </a:r>
            <a:r>
              <a:rPr sz="2400" spc="70" dirty="0">
                <a:latin typeface="Calibri"/>
                <a:cs typeface="Calibri"/>
              </a:rPr>
              <a:t> </a:t>
            </a:r>
            <a:r>
              <a:rPr sz="2400" spc="-5" dirty="0">
                <a:latin typeface="Calibri"/>
                <a:cs typeface="Calibri"/>
              </a:rPr>
              <a:t>C</a:t>
            </a:r>
            <a:r>
              <a:rPr sz="2400" spc="-5" dirty="0" smtClean="0">
                <a:latin typeface="Calibri"/>
                <a:cs typeface="Calibri"/>
              </a:rPr>
              <a:t>.</a:t>
            </a:r>
            <a:endParaRPr lang="en-US" sz="2400" spc="-5" dirty="0" smtClean="0">
              <a:latin typeface="Calibri"/>
              <a:cs typeface="Calibri"/>
            </a:endParaRPr>
          </a:p>
          <a:p>
            <a:pPr marL="184785" indent="-172085">
              <a:lnSpc>
                <a:spcPct val="100000"/>
              </a:lnSpc>
              <a:buFont typeface="Arial"/>
              <a:buChar char="•"/>
              <a:tabLst>
                <a:tab pos="185420" algn="l"/>
              </a:tabLst>
            </a:pPr>
            <a:endParaRPr sz="2400" dirty="0">
              <a:latin typeface="Calibri"/>
              <a:cs typeface="Calibri"/>
            </a:endParaRPr>
          </a:p>
          <a:p>
            <a:pPr marL="184785" indent="-172085">
              <a:lnSpc>
                <a:spcPct val="100000"/>
              </a:lnSpc>
              <a:buFont typeface="Arial"/>
              <a:buChar char="•"/>
              <a:tabLst>
                <a:tab pos="185420" algn="l"/>
              </a:tabLst>
            </a:pPr>
            <a:r>
              <a:rPr sz="2400" spc="-5" dirty="0">
                <a:latin typeface="Calibri"/>
                <a:cs typeface="Calibri"/>
              </a:rPr>
              <a:t>The </a:t>
            </a:r>
            <a:r>
              <a:rPr sz="2400" spc="-10" dirty="0">
                <a:latin typeface="Calibri"/>
                <a:cs typeface="Calibri"/>
              </a:rPr>
              <a:t>two </a:t>
            </a:r>
            <a:r>
              <a:rPr sz="2400" spc="-15" dirty="0">
                <a:latin typeface="Calibri"/>
                <a:cs typeface="Calibri"/>
              </a:rPr>
              <a:t>words </a:t>
            </a:r>
            <a:r>
              <a:rPr sz="2400" spc="-10" dirty="0">
                <a:latin typeface="Calibri"/>
                <a:cs typeface="Calibri"/>
              </a:rPr>
              <a:t>are </a:t>
            </a:r>
            <a:r>
              <a:rPr sz="2400" dirty="0">
                <a:latin typeface="Calibri"/>
                <a:cs typeface="Calibri"/>
              </a:rPr>
              <a:t>used </a:t>
            </a:r>
            <a:r>
              <a:rPr sz="2400" spc="-10" dirty="0">
                <a:latin typeface="Calibri"/>
                <a:cs typeface="Calibri"/>
              </a:rPr>
              <a:t>interchangeably </a:t>
            </a:r>
            <a:r>
              <a:rPr sz="2400" spc="-5" dirty="0">
                <a:latin typeface="Calibri"/>
                <a:cs typeface="Calibri"/>
              </a:rPr>
              <a:t>i.e. </a:t>
            </a:r>
            <a:r>
              <a:rPr sz="2400" spc="-20" dirty="0">
                <a:latin typeface="Calibri"/>
                <a:cs typeface="Calibri"/>
              </a:rPr>
              <a:t>keyword </a:t>
            </a:r>
            <a:r>
              <a:rPr sz="2400" spc="-5" dirty="0">
                <a:latin typeface="Calibri"/>
                <a:cs typeface="Calibri"/>
              </a:rPr>
              <a:t>and reserved</a:t>
            </a:r>
            <a:r>
              <a:rPr sz="2400" spc="165" dirty="0">
                <a:latin typeface="Calibri"/>
                <a:cs typeface="Calibri"/>
              </a:rPr>
              <a:t> </a:t>
            </a:r>
            <a:r>
              <a:rPr sz="2400" spc="-15" dirty="0" smtClean="0">
                <a:latin typeface="Calibri"/>
                <a:cs typeface="Calibri"/>
              </a:rPr>
              <a:t>word</a:t>
            </a:r>
            <a:endParaRPr lang="en-US" sz="2400" spc="-15" dirty="0" smtClean="0">
              <a:latin typeface="Calibri"/>
              <a:cs typeface="Calibri"/>
            </a:endParaRPr>
          </a:p>
          <a:p>
            <a:pPr marL="184785" indent="-172085">
              <a:lnSpc>
                <a:spcPct val="100000"/>
              </a:lnSpc>
              <a:buFont typeface="Arial"/>
              <a:buChar char="•"/>
              <a:tabLst>
                <a:tab pos="185420" algn="l"/>
              </a:tabLst>
            </a:pPr>
            <a:endParaRPr sz="2400" dirty="0">
              <a:latin typeface="Calibri"/>
              <a:cs typeface="Calibri"/>
            </a:endParaRPr>
          </a:p>
          <a:p>
            <a:pPr marL="184785" indent="-172085">
              <a:lnSpc>
                <a:spcPct val="100000"/>
              </a:lnSpc>
              <a:buFont typeface="Arial"/>
              <a:buChar char="•"/>
              <a:tabLst>
                <a:tab pos="185420" algn="l"/>
              </a:tabLst>
            </a:pPr>
            <a:r>
              <a:rPr sz="2400" spc="-5" dirty="0">
                <a:latin typeface="Calibri"/>
                <a:cs typeface="Calibri"/>
              </a:rPr>
              <a:t>These reserved </a:t>
            </a:r>
            <a:r>
              <a:rPr sz="2400" spc="-15" dirty="0">
                <a:latin typeface="Calibri"/>
                <a:cs typeface="Calibri"/>
              </a:rPr>
              <a:t>words may </a:t>
            </a:r>
            <a:r>
              <a:rPr sz="2400" spc="-5" dirty="0">
                <a:latin typeface="Calibri"/>
                <a:cs typeface="Calibri"/>
              </a:rPr>
              <a:t>not be </a:t>
            </a:r>
            <a:r>
              <a:rPr sz="2400" dirty="0">
                <a:latin typeface="Calibri"/>
                <a:cs typeface="Calibri"/>
              </a:rPr>
              <a:t>used as </a:t>
            </a:r>
            <a:r>
              <a:rPr sz="2400" spc="-15" dirty="0">
                <a:latin typeface="Calibri"/>
                <a:cs typeface="Calibri"/>
              </a:rPr>
              <a:t>constant </a:t>
            </a:r>
            <a:r>
              <a:rPr sz="2400" spc="-5" dirty="0">
                <a:latin typeface="Calibri"/>
                <a:cs typeface="Calibri"/>
              </a:rPr>
              <a:t>or variable or </a:t>
            </a:r>
            <a:r>
              <a:rPr sz="2400" spc="-15" dirty="0">
                <a:latin typeface="Calibri"/>
                <a:cs typeface="Calibri"/>
              </a:rPr>
              <a:t>any </a:t>
            </a:r>
            <a:r>
              <a:rPr sz="2400" spc="-5" dirty="0">
                <a:latin typeface="Calibri"/>
                <a:cs typeface="Calibri"/>
              </a:rPr>
              <a:t>other identifier</a:t>
            </a:r>
            <a:r>
              <a:rPr sz="2400" spc="190" dirty="0">
                <a:latin typeface="Calibri"/>
                <a:cs typeface="Calibri"/>
              </a:rPr>
              <a:t> </a:t>
            </a:r>
            <a:r>
              <a:rPr sz="2400" dirty="0">
                <a:latin typeface="Calibri"/>
                <a:cs typeface="Calibri"/>
              </a:rPr>
              <a:t>names</a:t>
            </a:r>
            <a:r>
              <a:rPr sz="2400" dirty="0" smtClean="0">
                <a:latin typeface="Calibri"/>
                <a:cs typeface="Calibri"/>
              </a:rPr>
              <a:t>.</a:t>
            </a:r>
            <a:endParaRPr lang="en-US" sz="2400" dirty="0" smtClean="0">
              <a:latin typeface="Calibri"/>
              <a:cs typeface="Calibri"/>
            </a:endParaRPr>
          </a:p>
          <a:p>
            <a:pPr marL="184785" indent="-172085">
              <a:lnSpc>
                <a:spcPct val="100000"/>
              </a:lnSpc>
              <a:buFont typeface="Arial"/>
              <a:buChar char="•"/>
              <a:tabLst>
                <a:tab pos="185420" algn="l"/>
              </a:tabLst>
            </a:pPr>
            <a:endParaRPr sz="2400" dirty="0">
              <a:latin typeface="Calibri"/>
              <a:cs typeface="Calibri"/>
            </a:endParaRPr>
          </a:p>
          <a:p>
            <a:pPr marL="184785" marR="5080" indent="-172085">
              <a:lnSpc>
                <a:spcPct val="100000"/>
              </a:lnSpc>
              <a:buFont typeface="Arial"/>
              <a:buChar char="•"/>
              <a:tabLst>
                <a:tab pos="185420" algn="l"/>
              </a:tabLst>
            </a:pPr>
            <a:r>
              <a:rPr sz="2400" dirty="0">
                <a:latin typeface="Calibri"/>
                <a:cs typeface="Calibri"/>
              </a:rPr>
              <a:t>In a </a:t>
            </a:r>
            <a:r>
              <a:rPr sz="2400" spc="-10" dirty="0">
                <a:latin typeface="Calibri"/>
                <a:cs typeface="Calibri"/>
              </a:rPr>
              <a:t>computer </a:t>
            </a:r>
            <a:r>
              <a:rPr sz="2400" spc="-5" dirty="0">
                <a:latin typeface="Calibri"/>
                <a:cs typeface="Calibri"/>
              </a:rPr>
              <a:t>language, </a:t>
            </a:r>
            <a:r>
              <a:rPr sz="2400" dirty="0">
                <a:latin typeface="Calibri"/>
                <a:cs typeface="Calibri"/>
              </a:rPr>
              <a:t>a </a:t>
            </a:r>
            <a:r>
              <a:rPr sz="2400" spc="-5" dirty="0">
                <a:latin typeface="Calibri"/>
                <a:cs typeface="Calibri"/>
              </a:rPr>
              <a:t>reserved </a:t>
            </a:r>
            <a:r>
              <a:rPr sz="2400" spc="-15" dirty="0">
                <a:latin typeface="Calibri"/>
                <a:cs typeface="Calibri"/>
              </a:rPr>
              <a:t>word </a:t>
            </a:r>
            <a:r>
              <a:rPr sz="2400" b="1" dirty="0">
                <a:latin typeface="Calibri"/>
                <a:cs typeface="Calibri"/>
              </a:rPr>
              <a:t>AKA </a:t>
            </a:r>
            <a:r>
              <a:rPr sz="2400" spc="-5" dirty="0">
                <a:latin typeface="Calibri"/>
                <a:cs typeface="Calibri"/>
              </a:rPr>
              <a:t>reserved identifier is </a:t>
            </a:r>
            <a:r>
              <a:rPr sz="2400" dirty="0">
                <a:latin typeface="Calibri"/>
                <a:cs typeface="Calibri"/>
              </a:rPr>
              <a:t>a </a:t>
            </a:r>
            <a:r>
              <a:rPr sz="2400" spc="-15" dirty="0">
                <a:latin typeface="Calibri"/>
                <a:cs typeface="Calibri"/>
              </a:rPr>
              <a:t>word </a:t>
            </a:r>
            <a:r>
              <a:rPr sz="2400" spc="-5" dirty="0">
                <a:latin typeface="Calibri"/>
                <a:cs typeface="Calibri"/>
              </a:rPr>
              <a:t>that cannot be </a:t>
            </a:r>
            <a:r>
              <a:rPr sz="2400" dirty="0">
                <a:latin typeface="Calibri"/>
                <a:cs typeface="Calibri"/>
              </a:rPr>
              <a:t>used as an  </a:t>
            </a:r>
            <a:r>
              <a:rPr sz="2400" spc="-5" dirty="0">
                <a:latin typeface="Calibri"/>
                <a:cs typeface="Calibri"/>
              </a:rPr>
              <a:t>identifier such </a:t>
            </a:r>
            <a:r>
              <a:rPr sz="2400" dirty="0">
                <a:latin typeface="Calibri"/>
                <a:cs typeface="Calibri"/>
              </a:rPr>
              <a:t>as a name </a:t>
            </a:r>
            <a:r>
              <a:rPr sz="2400" spc="-5" dirty="0">
                <a:latin typeface="Calibri"/>
                <a:cs typeface="Calibri"/>
              </a:rPr>
              <a:t>of </a:t>
            </a:r>
            <a:r>
              <a:rPr sz="2400" dirty="0">
                <a:latin typeface="Calibri"/>
                <a:cs typeface="Calibri"/>
              </a:rPr>
              <a:t>a </a:t>
            </a:r>
            <a:r>
              <a:rPr sz="2400" spc="-5" dirty="0">
                <a:latin typeface="Calibri"/>
                <a:cs typeface="Calibri"/>
              </a:rPr>
              <a:t>variable, function</a:t>
            </a:r>
            <a:r>
              <a:rPr sz="2400" spc="35" dirty="0">
                <a:latin typeface="Calibri"/>
                <a:cs typeface="Calibri"/>
              </a:rPr>
              <a:t> </a:t>
            </a:r>
            <a:r>
              <a:rPr sz="2400" spc="-15" dirty="0">
                <a:latin typeface="Calibri"/>
                <a:cs typeface="Calibri"/>
              </a:rPr>
              <a:t>etc</a:t>
            </a:r>
            <a:r>
              <a:rPr sz="2400" spc="-15" dirty="0" smtClean="0">
                <a:latin typeface="Calibri"/>
                <a:cs typeface="Calibri"/>
              </a:rPr>
              <a:t>.</a:t>
            </a:r>
            <a:endParaRPr lang="en-US" sz="2400" spc="-15" dirty="0" smtClean="0">
              <a:latin typeface="Calibri"/>
              <a:cs typeface="Calibri"/>
            </a:endParaRPr>
          </a:p>
          <a:p>
            <a:pPr marL="184785" marR="5080" indent="-172085">
              <a:lnSpc>
                <a:spcPct val="100000"/>
              </a:lnSpc>
              <a:buFont typeface="Arial"/>
              <a:buChar char="•"/>
              <a:tabLst>
                <a:tab pos="185420" algn="l"/>
              </a:tabLst>
            </a:pPr>
            <a:endParaRPr sz="2400" dirty="0">
              <a:latin typeface="Calibri"/>
              <a:cs typeface="Calibri"/>
            </a:endParaRPr>
          </a:p>
          <a:p>
            <a:pPr marL="184785" indent="-172085">
              <a:lnSpc>
                <a:spcPct val="100000"/>
              </a:lnSpc>
              <a:buFont typeface="Arial"/>
              <a:buChar char="•"/>
              <a:tabLst>
                <a:tab pos="185420" algn="l"/>
              </a:tabLst>
            </a:pPr>
            <a:r>
              <a:rPr sz="2400" dirty="0">
                <a:latin typeface="Calibri"/>
                <a:cs typeface="Calibri"/>
              </a:rPr>
              <a:t>It is </a:t>
            </a:r>
            <a:r>
              <a:rPr sz="2400" spc="-5" dirty="0">
                <a:latin typeface="Calibri"/>
                <a:cs typeface="Calibri"/>
              </a:rPr>
              <a:t>reserved </a:t>
            </a:r>
            <a:r>
              <a:rPr sz="2400" spc="-10" dirty="0">
                <a:latin typeface="Calibri"/>
                <a:cs typeface="Calibri"/>
              </a:rPr>
              <a:t>from</a:t>
            </a:r>
            <a:r>
              <a:rPr sz="2400" spc="-90" dirty="0">
                <a:latin typeface="Calibri"/>
                <a:cs typeface="Calibri"/>
              </a:rPr>
              <a:t> </a:t>
            </a:r>
            <a:r>
              <a:rPr sz="2400" dirty="0">
                <a:latin typeface="Calibri"/>
                <a:cs typeface="Calibri"/>
              </a:rPr>
              <a:t>use.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Keywords</a:t>
            </a:r>
          </a:p>
        </p:txBody>
      </p:sp>
      <p:sp>
        <p:nvSpPr>
          <p:cNvPr id="3" name="object 3"/>
          <p:cNvSpPr/>
          <p:nvPr/>
        </p:nvSpPr>
        <p:spPr>
          <a:xfrm>
            <a:off x="1524000" y="3032760"/>
            <a:ext cx="7958328" cy="3485388"/>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916939" y="1308227"/>
            <a:ext cx="9553575" cy="369332"/>
          </a:xfrm>
          <a:prstGeom prst="rect">
            <a:avLst/>
          </a:prstGeom>
        </p:spPr>
        <p:txBody>
          <a:bodyPr vert="horz" wrap="square" lIns="0" tIns="0" rIns="0" bIns="0" rtlCol="0">
            <a:spAutoFit/>
          </a:bodyPr>
          <a:lstStyle/>
          <a:p>
            <a:pPr marL="12700">
              <a:lnSpc>
                <a:spcPct val="100000"/>
              </a:lnSpc>
              <a:tabLst>
                <a:tab pos="185420" algn="l"/>
              </a:tabLst>
            </a:pPr>
            <a:r>
              <a:rPr lang="en-US" sz="2400" dirty="0" smtClean="0">
                <a:latin typeface="Calibri"/>
                <a:cs typeface="Calibri"/>
              </a:rPr>
              <a:t>Examples of key words</a:t>
            </a:r>
            <a:endParaRPr sz="2400" dirty="0">
              <a:latin typeface="Calibri"/>
              <a:cs typeface="Calibri"/>
            </a:endParaRPr>
          </a:p>
        </p:txBody>
      </p:sp>
    </p:spTree>
    <p:extLst>
      <p:ext uri="{BB962C8B-B14F-4D97-AF65-F5344CB8AC3E}">
        <p14:creationId xmlns:p14="http://schemas.microsoft.com/office/powerpoint/2010/main" val="3671978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 dirty="0"/>
              <a:t>Whitespace </a:t>
            </a:r>
            <a:r>
              <a:rPr dirty="0"/>
              <a:t>in</a:t>
            </a:r>
            <a:r>
              <a:rPr spc="-55" dirty="0"/>
              <a:t> </a:t>
            </a:r>
            <a:r>
              <a:rPr dirty="0"/>
              <a:t>C</a:t>
            </a:r>
          </a:p>
        </p:txBody>
      </p:sp>
      <p:sp>
        <p:nvSpPr>
          <p:cNvPr id="3" name="object 3"/>
          <p:cNvSpPr txBox="1"/>
          <p:nvPr/>
        </p:nvSpPr>
        <p:spPr>
          <a:xfrm>
            <a:off x="916939" y="1406397"/>
            <a:ext cx="10290175" cy="3583940"/>
          </a:xfrm>
          <a:prstGeom prst="rect">
            <a:avLst/>
          </a:prstGeom>
        </p:spPr>
        <p:txBody>
          <a:bodyPr vert="horz" wrap="square" lIns="0" tIns="0" rIns="0" bIns="0" rtlCol="0">
            <a:spAutoFit/>
          </a:bodyPr>
          <a:lstStyle/>
          <a:p>
            <a:pPr marL="184785" indent="-172085">
              <a:lnSpc>
                <a:spcPts val="2245"/>
              </a:lnSpc>
              <a:buFont typeface="Arial"/>
              <a:buChar char="•"/>
              <a:tabLst>
                <a:tab pos="185420" algn="l"/>
              </a:tabLst>
            </a:pPr>
            <a:r>
              <a:rPr sz="2200" spc="-5" dirty="0">
                <a:latin typeface="Calibri"/>
                <a:cs typeface="Calibri"/>
              </a:rPr>
              <a:t>A line </a:t>
            </a:r>
            <a:r>
              <a:rPr sz="2200" spc="-15" dirty="0">
                <a:latin typeface="Calibri"/>
                <a:cs typeface="Calibri"/>
              </a:rPr>
              <a:t>containing </a:t>
            </a:r>
            <a:r>
              <a:rPr sz="2200" spc="-5" dirty="0">
                <a:latin typeface="Calibri"/>
                <a:cs typeface="Calibri"/>
              </a:rPr>
              <a:t>only whitespace, possibly with a </a:t>
            </a:r>
            <a:r>
              <a:rPr sz="2200" spc="-15" dirty="0">
                <a:latin typeface="Calibri"/>
                <a:cs typeface="Calibri"/>
              </a:rPr>
              <a:t>comment, </a:t>
            </a:r>
            <a:r>
              <a:rPr sz="2200" spc="-5" dirty="0">
                <a:latin typeface="Calibri"/>
                <a:cs typeface="Calibri"/>
              </a:rPr>
              <a:t>is </a:t>
            </a:r>
            <a:r>
              <a:rPr sz="2200" spc="-10" dirty="0">
                <a:latin typeface="Calibri"/>
                <a:cs typeface="Calibri"/>
              </a:rPr>
              <a:t>known </a:t>
            </a:r>
            <a:r>
              <a:rPr sz="2200" spc="-5" dirty="0">
                <a:latin typeface="Calibri"/>
                <a:cs typeface="Calibri"/>
              </a:rPr>
              <a:t>as a </a:t>
            </a:r>
            <a:r>
              <a:rPr sz="2200" spc="-10" dirty="0">
                <a:latin typeface="Calibri"/>
                <a:cs typeface="Calibri"/>
              </a:rPr>
              <a:t>blank </a:t>
            </a:r>
            <a:r>
              <a:rPr sz="2200" spc="-5" dirty="0">
                <a:latin typeface="Calibri"/>
                <a:cs typeface="Calibri"/>
              </a:rPr>
              <a:t>line,</a:t>
            </a:r>
            <a:r>
              <a:rPr sz="2200" spc="210" dirty="0">
                <a:latin typeface="Calibri"/>
                <a:cs typeface="Calibri"/>
              </a:rPr>
              <a:t> </a:t>
            </a:r>
            <a:r>
              <a:rPr sz="2200" spc="-5" dirty="0">
                <a:latin typeface="Calibri"/>
                <a:cs typeface="Calibri"/>
              </a:rPr>
              <a:t>and</a:t>
            </a:r>
            <a:endParaRPr sz="2200">
              <a:latin typeface="Calibri"/>
              <a:cs typeface="Calibri"/>
            </a:endParaRPr>
          </a:p>
          <a:p>
            <a:pPr marL="184785">
              <a:lnSpc>
                <a:spcPts val="2245"/>
              </a:lnSpc>
            </a:pPr>
            <a:r>
              <a:rPr sz="2200" spc="-5" dirty="0">
                <a:latin typeface="Calibri"/>
                <a:cs typeface="Calibri"/>
              </a:rPr>
              <a:t>a C </a:t>
            </a:r>
            <a:r>
              <a:rPr sz="2200" spc="-10" dirty="0">
                <a:latin typeface="Calibri"/>
                <a:cs typeface="Calibri"/>
              </a:rPr>
              <a:t>compiler totally ignores </a:t>
            </a:r>
            <a:r>
              <a:rPr sz="2200" spc="-5" dirty="0">
                <a:latin typeface="Calibri"/>
                <a:cs typeface="Calibri"/>
              </a:rPr>
              <a:t>it.</a:t>
            </a:r>
            <a:endParaRPr sz="2200">
              <a:latin typeface="Calibri"/>
              <a:cs typeface="Calibri"/>
            </a:endParaRPr>
          </a:p>
          <a:p>
            <a:pPr marL="184785" marR="903605" indent="-172085">
              <a:lnSpc>
                <a:spcPct val="70000"/>
              </a:lnSpc>
              <a:spcBef>
                <a:spcPts val="1000"/>
              </a:spcBef>
              <a:buFont typeface="Arial"/>
              <a:buChar char="•"/>
              <a:tabLst>
                <a:tab pos="185420" algn="l"/>
              </a:tabLst>
            </a:pPr>
            <a:r>
              <a:rPr sz="2200" spc="-5" dirty="0">
                <a:latin typeface="Calibri"/>
                <a:cs typeface="Calibri"/>
              </a:rPr>
              <a:t>Whitespace is the </a:t>
            </a:r>
            <a:r>
              <a:rPr sz="2200" spc="-10" dirty="0">
                <a:latin typeface="Calibri"/>
                <a:cs typeface="Calibri"/>
              </a:rPr>
              <a:t>term used </a:t>
            </a:r>
            <a:r>
              <a:rPr sz="2200" spc="-5" dirty="0">
                <a:latin typeface="Calibri"/>
                <a:cs typeface="Calibri"/>
              </a:rPr>
              <a:t>in C </a:t>
            </a:r>
            <a:r>
              <a:rPr sz="2200" spc="-20" dirty="0">
                <a:latin typeface="Calibri"/>
                <a:cs typeface="Calibri"/>
              </a:rPr>
              <a:t>to </a:t>
            </a:r>
            <a:r>
              <a:rPr sz="2200" spc="-10" dirty="0">
                <a:latin typeface="Calibri"/>
                <a:cs typeface="Calibri"/>
              </a:rPr>
              <a:t>describe blanks, </a:t>
            </a:r>
            <a:r>
              <a:rPr sz="2200" spc="-15" dirty="0">
                <a:latin typeface="Calibri"/>
                <a:cs typeface="Calibri"/>
              </a:rPr>
              <a:t>tabs, </a:t>
            </a:r>
            <a:r>
              <a:rPr sz="2200" spc="-10" dirty="0">
                <a:latin typeface="Calibri"/>
                <a:cs typeface="Calibri"/>
              </a:rPr>
              <a:t>newline </a:t>
            </a:r>
            <a:r>
              <a:rPr sz="2200" spc="-15" dirty="0">
                <a:latin typeface="Calibri"/>
                <a:cs typeface="Calibri"/>
              </a:rPr>
              <a:t>characters </a:t>
            </a:r>
            <a:r>
              <a:rPr sz="2200" spc="-5" dirty="0">
                <a:latin typeface="Calibri"/>
                <a:cs typeface="Calibri"/>
              </a:rPr>
              <a:t>and  </a:t>
            </a:r>
            <a:r>
              <a:rPr sz="2200" spc="-10" dirty="0">
                <a:latin typeface="Calibri"/>
                <a:cs typeface="Calibri"/>
              </a:rPr>
              <a:t>comments.</a:t>
            </a:r>
            <a:endParaRPr sz="2200">
              <a:latin typeface="Calibri"/>
              <a:cs typeface="Calibri"/>
            </a:endParaRPr>
          </a:p>
          <a:p>
            <a:pPr marL="184785" indent="-172085">
              <a:lnSpc>
                <a:spcPts val="2245"/>
              </a:lnSpc>
              <a:spcBef>
                <a:spcPts val="200"/>
              </a:spcBef>
              <a:buFont typeface="Arial"/>
              <a:buChar char="•"/>
              <a:tabLst>
                <a:tab pos="185420" algn="l"/>
              </a:tabLst>
            </a:pPr>
            <a:r>
              <a:rPr sz="2200" spc="-5" dirty="0">
                <a:latin typeface="Calibri"/>
                <a:cs typeface="Calibri"/>
              </a:rPr>
              <a:t>Whitespace </a:t>
            </a:r>
            <a:r>
              <a:rPr sz="2200" spc="-15" dirty="0">
                <a:latin typeface="Calibri"/>
                <a:cs typeface="Calibri"/>
              </a:rPr>
              <a:t>separates </a:t>
            </a:r>
            <a:r>
              <a:rPr sz="2200" spc="-5" dirty="0">
                <a:latin typeface="Calibri"/>
                <a:cs typeface="Calibri"/>
              </a:rPr>
              <a:t>one part of a </a:t>
            </a:r>
            <a:r>
              <a:rPr sz="2200" spc="-20" dirty="0">
                <a:latin typeface="Calibri"/>
                <a:cs typeface="Calibri"/>
              </a:rPr>
              <a:t>statement </a:t>
            </a:r>
            <a:r>
              <a:rPr sz="2200" spc="-15" dirty="0">
                <a:latin typeface="Calibri"/>
                <a:cs typeface="Calibri"/>
              </a:rPr>
              <a:t>from </a:t>
            </a:r>
            <a:r>
              <a:rPr sz="2200" spc="-5" dirty="0">
                <a:latin typeface="Calibri"/>
                <a:cs typeface="Calibri"/>
              </a:rPr>
              <a:t>another and </a:t>
            </a:r>
            <a:r>
              <a:rPr sz="2200" spc="-10" dirty="0">
                <a:latin typeface="Calibri"/>
                <a:cs typeface="Calibri"/>
              </a:rPr>
              <a:t>enables </a:t>
            </a:r>
            <a:r>
              <a:rPr sz="2200" spc="-5" dirty="0">
                <a:latin typeface="Calibri"/>
                <a:cs typeface="Calibri"/>
              </a:rPr>
              <a:t>the </a:t>
            </a:r>
            <a:r>
              <a:rPr sz="2200" spc="-10" dirty="0">
                <a:latin typeface="Calibri"/>
                <a:cs typeface="Calibri"/>
              </a:rPr>
              <a:t>compiler</a:t>
            </a:r>
            <a:r>
              <a:rPr sz="2200" spc="210" dirty="0">
                <a:latin typeface="Calibri"/>
                <a:cs typeface="Calibri"/>
              </a:rPr>
              <a:t> </a:t>
            </a:r>
            <a:r>
              <a:rPr sz="2200" spc="-20" dirty="0">
                <a:latin typeface="Calibri"/>
                <a:cs typeface="Calibri"/>
              </a:rPr>
              <a:t>to</a:t>
            </a:r>
            <a:endParaRPr sz="2200">
              <a:latin typeface="Calibri"/>
              <a:cs typeface="Calibri"/>
            </a:endParaRPr>
          </a:p>
          <a:p>
            <a:pPr marL="184785" marR="762635">
              <a:lnSpc>
                <a:spcPct val="70000"/>
              </a:lnSpc>
              <a:spcBef>
                <a:spcPts val="395"/>
              </a:spcBef>
            </a:pPr>
            <a:r>
              <a:rPr sz="2200" spc="-10" dirty="0">
                <a:latin typeface="Calibri"/>
                <a:cs typeface="Calibri"/>
              </a:rPr>
              <a:t>identify where </a:t>
            </a:r>
            <a:r>
              <a:rPr sz="2200" spc="-5" dirty="0">
                <a:latin typeface="Calibri"/>
                <a:cs typeface="Calibri"/>
              </a:rPr>
              <a:t>one </a:t>
            </a:r>
            <a:r>
              <a:rPr sz="2200" spc="-10" dirty="0">
                <a:latin typeface="Calibri"/>
                <a:cs typeface="Calibri"/>
              </a:rPr>
              <a:t>element </a:t>
            </a:r>
            <a:r>
              <a:rPr sz="2200" spc="-5" dirty="0">
                <a:latin typeface="Calibri"/>
                <a:cs typeface="Calibri"/>
              </a:rPr>
              <a:t>in a </a:t>
            </a:r>
            <a:r>
              <a:rPr sz="2200" spc="-20" dirty="0">
                <a:latin typeface="Calibri"/>
                <a:cs typeface="Calibri"/>
              </a:rPr>
              <a:t>statement, </a:t>
            </a:r>
            <a:r>
              <a:rPr sz="2200" spc="-10" dirty="0">
                <a:latin typeface="Calibri"/>
                <a:cs typeface="Calibri"/>
              </a:rPr>
              <a:t>such </a:t>
            </a:r>
            <a:r>
              <a:rPr sz="2200" spc="-5" dirty="0">
                <a:latin typeface="Calibri"/>
                <a:cs typeface="Calibri"/>
              </a:rPr>
              <a:t>as </a:t>
            </a:r>
            <a:r>
              <a:rPr sz="2200" spc="-10" dirty="0">
                <a:latin typeface="Calibri"/>
                <a:cs typeface="Calibri"/>
              </a:rPr>
              <a:t>int, </a:t>
            </a:r>
            <a:r>
              <a:rPr sz="2200" spc="-5" dirty="0">
                <a:latin typeface="Calibri"/>
                <a:cs typeface="Calibri"/>
              </a:rPr>
              <a:t>ends and the </a:t>
            </a:r>
            <a:r>
              <a:rPr sz="2200" spc="-15" dirty="0">
                <a:latin typeface="Calibri"/>
                <a:cs typeface="Calibri"/>
              </a:rPr>
              <a:t>next </a:t>
            </a:r>
            <a:r>
              <a:rPr sz="2200" spc="-10" dirty="0">
                <a:latin typeface="Calibri"/>
                <a:cs typeface="Calibri"/>
              </a:rPr>
              <a:t>element  begins.</a:t>
            </a:r>
            <a:endParaRPr sz="2200">
              <a:latin typeface="Calibri"/>
              <a:cs typeface="Calibri"/>
            </a:endParaRPr>
          </a:p>
          <a:p>
            <a:pPr marL="184785" indent="-172085">
              <a:lnSpc>
                <a:spcPts val="2545"/>
              </a:lnSpc>
              <a:spcBef>
                <a:spcPts val="215"/>
              </a:spcBef>
              <a:buFont typeface="Arial"/>
              <a:buChar char="•"/>
              <a:tabLst>
                <a:tab pos="185420" algn="l"/>
              </a:tabLst>
            </a:pPr>
            <a:r>
              <a:rPr sz="2200" spc="-20" dirty="0">
                <a:latin typeface="Calibri"/>
                <a:cs typeface="Calibri"/>
              </a:rPr>
              <a:t>Therefore, </a:t>
            </a:r>
            <a:r>
              <a:rPr sz="2200" spc="-5" dirty="0">
                <a:latin typeface="Calibri"/>
                <a:cs typeface="Calibri"/>
              </a:rPr>
              <a:t>in </a:t>
            </a:r>
            <a:r>
              <a:rPr sz="2200" spc="-10" dirty="0">
                <a:latin typeface="Calibri"/>
                <a:cs typeface="Calibri"/>
              </a:rPr>
              <a:t>the following</a:t>
            </a:r>
            <a:r>
              <a:rPr sz="2200" spc="60" dirty="0">
                <a:latin typeface="Calibri"/>
                <a:cs typeface="Calibri"/>
              </a:rPr>
              <a:t> </a:t>
            </a:r>
            <a:r>
              <a:rPr sz="2200" spc="-20" dirty="0">
                <a:latin typeface="Calibri"/>
                <a:cs typeface="Calibri"/>
              </a:rPr>
              <a:t>statement:</a:t>
            </a:r>
            <a:endParaRPr sz="2200">
              <a:latin typeface="Calibri"/>
              <a:cs typeface="Calibri"/>
            </a:endParaRPr>
          </a:p>
          <a:p>
            <a:pPr marL="641985" lvl="1" indent="-172085">
              <a:lnSpc>
                <a:spcPts val="2185"/>
              </a:lnSpc>
              <a:buFont typeface="Arial"/>
              <a:buChar char="•"/>
              <a:tabLst>
                <a:tab pos="642620" algn="l"/>
              </a:tabLst>
            </a:pPr>
            <a:r>
              <a:rPr sz="1900" spc="-10" dirty="0">
                <a:latin typeface="Calibri"/>
                <a:cs typeface="Calibri"/>
              </a:rPr>
              <a:t>int</a:t>
            </a:r>
            <a:r>
              <a:rPr sz="1900" spc="-80" dirty="0">
                <a:latin typeface="Calibri"/>
                <a:cs typeface="Calibri"/>
              </a:rPr>
              <a:t> </a:t>
            </a:r>
            <a:r>
              <a:rPr sz="1900" spc="-10" dirty="0">
                <a:latin typeface="Calibri"/>
                <a:cs typeface="Calibri"/>
              </a:rPr>
              <a:t>age;</a:t>
            </a:r>
            <a:endParaRPr sz="1900">
              <a:latin typeface="Calibri"/>
              <a:cs typeface="Calibri"/>
            </a:endParaRPr>
          </a:p>
          <a:p>
            <a:pPr marL="184785" marR="282575" indent="-172085">
              <a:lnSpc>
                <a:spcPct val="70000"/>
              </a:lnSpc>
              <a:spcBef>
                <a:spcPts val="1005"/>
              </a:spcBef>
              <a:buFont typeface="Arial"/>
              <a:buChar char="•"/>
              <a:tabLst>
                <a:tab pos="185420" algn="l"/>
              </a:tabLst>
            </a:pPr>
            <a:r>
              <a:rPr sz="2200" spc="-10" dirty="0">
                <a:latin typeface="Calibri"/>
                <a:cs typeface="Calibri"/>
              </a:rPr>
              <a:t>There must </a:t>
            </a:r>
            <a:r>
              <a:rPr sz="2200" spc="-5" dirty="0">
                <a:latin typeface="Calibri"/>
                <a:cs typeface="Calibri"/>
              </a:rPr>
              <a:t>be </a:t>
            </a:r>
            <a:r>
              <a:rPr sz="2200" spc="-15" dirty="0">
                <a:latin typeface="Calibri"/>
                <a:cs typeface="Calibri"/>
              </a:rPr>
              <a:t>at </a:t>
            </a:r>
            <a:r>
              <a:rPr sz="2200" spc="-5" dirty="0">
                <a:latin typeface="Calibri"/>
                <a:cs typeface="Calibri"/>
              </a:rPr>
              <a:t>least one </a:t>
            </a:r>
            <a:r>
              <a:rPr sz="2200" spc="-10" dirty="0">
                <a:latin typeface="Calibri"/>
                <a:cs typeface="Calibri"/>
              </a:rPr>
              <a:t>whitespace </a:t>
            </a:r>
            <a:r>
              <a:rPr sz="2200" spc="-15" dirty="0">
                <a:latin typeface="Calibri"/>
                <a:cs typeface="Calibri"/>
              </a:rPr>
              <a:t>character </a:t>
            </a:r>
            <a:r>
              <a:rPr sz="2200" spc="-5" dirty="0">
                <a:latin typeface="Calibri"/>
                <a:cs typeface="Calibri"/>
              </a:rPr>
              <a:t>(usually a space) </a:t>
            </a:r>
            <a:r>
              <a:rPr sz="2200" spc="-10" dirty="0">
                <a:latin typeface="Calibri"/>
                <a:cs typeface="Calibri"/>
              </a:rPr>
              <a:t>between </a:t>
            </a:r>
            <a:r>
              <a:rPr sz="2200" spc="-15" dirty="0">
                <a:latin typeface="Calibri"/>
                <a:cs typeface="Calibri"/>
              </a:rPr>
              <a:t>int </a:t>
            </a:r>
            <a:r>
              <a:rPr sz="2200" spc="-5" dirty="0">
                <a:latin typeface="Calibri"/>
                <a:cs typeface="Calibri"/>
              </a:rPr>
              <a:t>and </a:t>
            </a:r>
            <a:r>
              <a:rPr sz="2200" spc="-10" dirty="0">
                <a:latin typeface="Calibri"/>
                <a:cs typeface="Calibri"/>
              </a:rPr>
              <a:t>age  </a:t>
            </a:r>
            <a:r>
              <a:rPr sz="2200" spc="-20" dirty="0">
                <a:latin typeface="Calibri"/>
                <a:cs typeface="Calibri"/>
              </a:rPr>
              <a:t>for </a:t>
            </a:r>
            <a:r>
              <a:rPr sz="2200" spc="-10" dirty="0">
                <a:latin typeface="Calibri"/>
                <a:cs typeface="Calibri"/>
              </a:rPr>
              <a:t>the compiler </a:t>
            </a:r>
            <a:r>
              <a:rPr sz="2200" spc="-20" dirty="0">
                <a:latin typeface="Calibri"/>
                <a:cs typeface="Calibri"/>
              </a:rPr>
              <a:t>to </a:t>
            </a:r>
            <a:r>
              <a:rPr sz="2200" spc="-5" dirty="0">
                <a:latin typeface="Calibri"/>
                <a:cs typeface="Calibri"/>
              </a:rPr>
              <a:t>be able </a:t>
            </a:r>
            <a:r>
              <a:rPr sz="2200" spc="-20" dirty="0">
                <a:latin typeface="Calibri"/>
                <a:cs typeface="Calibri"/>
              </a:rPr>
              <a:t>to </a:t>
            </a:r>
            <a:r>
              <a:rPr sz="2200" spc="-10" dirty="0">
                <a:latin typeface="Calibri"/>
                <a:cs typeface="Calibri"/>
              </a:rPr>
              <a:t>distinguish</a:t>
            </a:r>
            <a:r>
              <a:rPr sz="2200" spc="130" dirty="0">
                <a:latin typeface="Calibri"/>
                <a:cs typeface="Calibri"/>
              </a:rPr>
              <a:t> </a:t>
            </a:r>
            <a:r>
              <a:rPr sz="2200" spc="-5" dirty="0">
                <a:latin typeface="Calibri"/>
                <a:cs typeface="Calibri"/>
              </a:rPr>
              <a:t>them.</a:t>
            </a:r>
            <a:endParaRPr sz="2200">
              <a:latin typeface="Calibri"/>
              <a:cs typeface="Calibri"/>
            </a:endParaRPr>
          </a:p>
          <a:p>
            <a:pPr marL="184785" indent="-172085">
              <a:lnSpc>
                <a:spcPct val="100000"/>
              </a:lnSpc>
              <a:spcBef>
                <a:spcPts val="200"/>
              </a:spcBef>
              <a:buFont typeface="Arial"/>
              <a:buChar char="•"/>
              <a:tabLst>
                <a:tab pos="185420" algn="l"/>
              </a:tabLst>
            </a:pPr>
            <a:r>
              <a:rPr sz="2200" spc="-5" dirty="0">
                <a:latin typeface="Calibri"/>
                <a:cs typeface="Calibri"/>
              </a:rPr>
              <a:t>On the other hand, in the </a:t>
            </a:r>
            <a:r>
              <a:rPr sz="2200" spc="-10" dirty="0">
                <a:latin typeface="Calibri"/>
                <a:cs typeface="Calibri"/>
              </a:rPr>
              <a:t>following</a:t>
            </a:r>
            <a:r>
              <a:rPr sz="2200" dirty="0">
                <a:latin typeface="Calibri"/>
                <a:cs typeface="Calibri"/>
              </a:rPr>
              <a:t> </a:t>
            </a:r>
            <a:r>
              <a:rPr sz="2200" spc="-20" dirty="0">
                <a:latin typeface="Calibri"/>
                <a:cs typeface="Calibri"/>
              </a:rPr>
              <a:t>statement:</a:t>
            </a:r>
            <a:endParaRPr sz="2200">
              <a:latin typeface="Calibri"/>
              <a:cs typeface="Calibri"/>
            </a:endParaRPr>
          </a:p>
        </p:txBody>
      </p:sp>
      <p:sp>
        <p:nvSpPr>
          <p:cNvPr id="4" name="object 4"/>
          <p:cNvSpPr txBox="1"/>
          <p:nvPr/>
        </p:nvSpPr>
        <p:spPr>
          <a:xfrm>
            <a:off x="1374394" y="4967478"/>
            <a:ext cx="2552700" cy="314325"/>
          </a:xfrm>
          <a:prstGeom prst="rect">
            <a:avLst/>
          </a:prstGeom>
        </p:spPr>
        <p:txBody>
          <a:bodyPr vert="horz" wrap="square" lIns="0" tIns="0" rIns="0" bIns="0" rtlCol="0">
            <a:spAutoFit/>
          </a:bodyPr>
          <a:lstStyle/>
          <a:p>
            <a:pPr marL="184785" indent="-172085">
              <a:lnSpc>
                <a:spcPct val="100000"/>
              </a:lnSpc>
              <a:buFont typeface="Arial"/>
              <a:buChar char="•"/>
              <a:tabLst>
                <a:tab pos="185420" algn="l"/>
              </a:tabLst>
            </a:pPr>
            <a:r>
              <a:rPr sz="1900" spc="-10" dirty="0">
                <a:latin typeface="Calibri"/>
                <a:cs typeface="Calibri"/>
              </a:rPr>
              <a:t>fruit </a:t>
            </a:r>
            <a:r>
              <a:rPr sz="1900" spc="-5" dirty="0">
                <a:latin typeface="Calibri"/>
                <a:cs typeface="Calibri"/>
              </a:rPr>
              <a:t>= apples +</a:t>
            </a:r>
            <a:r>
              <a:rPr sz="1900" spc="-50" dirty="0">
                <a:latin typeface="Calibri"/>
                <a:cs typeface="Calibri"/>
              </a:rPr>
              <a:t> </a:t>
            </a:r>
            <a:r>
              <a:rPr sz="1900" spc="-10" dirty="0">
                <a:latin typeface="Calibri"/>
                <a:cs typeface="Calibri"/>
              </a:rPr>
              <a:t>oranges;</a:t>
            </a:r>
            <a:endParaRPr sz="1900">
              <a:latin typeface="Calibri"/>
              <a:cs typeface="Calibri"/>
            </a:endParaRPr>
          </a:p>
        </p:txBody>
      </p:sp>
      <p:sp>
        <p:nvSpPr>
          <p:cNvPr id="5" name="object 5"/>
          <p:cNvSpPr txBox="1"/>
          <p:nvPr/>
        </p:nvSpPr>
        <p:spPr>
          <a:xfrm>
            <a:off x="4065290" y="4967478"/>
            <a:ext cx="1944370" cy="314325"/>
          </a:xfrm>
          <a:prstGeom prst="rect">
            <a:avLst/>
          </a:prstGeom>
        </p:spPr>
        <p:txBody>
          <a:bodyPr vert="horz" wrap="square" lIns="0" tIns="0" rIns="0" bIns="0" rtlCol="0">
            <a:spAutoFit/>
          </a:bodyPr>
          <a:lstStyle/>
          <a:p>
            <a:pPr marL="12700">
              <a:lnSpc>
                <a:spcPct val="100000"/>
              </a:lnSpc>
            </a:pPr>
            <a:r>
              <a:rPr sz="1900" spc="-5" dirty="0">
                <a:latin typeface="Calibri"/>
                <a:cs typeface="Calibri"/>
              </a:rPr>
              <a:t>// </a:t>
            </a:r>
            <a:r>
              <a:rPr sz="1900" spc="-15" dirty="0">
                <a:latin typeface="Calibri"/>
                <a:cs typeface="Calibri"/>
              </a:rPr>
              <a:t>get </a:t>
            </a:r>
            <a:r>
              <a:rPr sz="1900" spc="-5" dirty="0">
                <a:latin typeface="Calibri"/>
                <a:cs typeface="Calibri"/>
              </a:rPr>
              <a:t>the </a:t>
            </a:r>
            <a:r>
              <a:rPr sz="1900" spc="-15" dirty="0">
                <a:latin typeface="Calibri"/>
                <a:cs typeface="Calibri"/>
              </a:rPr>
              <a:t>total</a:t>
            </a:r>
            <a:r>
              <a:rPr sz="1900" spc="-5" dirty="0">
                <a:latin typeface="Calibri"/>
                <a:cs typeface="Calibri"/>
              </a:rPr>
              <a:t> </a:t>
            </a:r>
            <a:r>
              <a:rPr sz="1900" spc="-10" dirty="0">
                <a:latin typeface="Calibri"/>
                <a:cs typeface="Calibri"/>
              </a:rPr>
              <a:t>fruit</a:t>
            </a:r>
            <a:endParaRPr sz="1900">
              <a:latin typeface="Calibri"/>
              <a:cs typeface="Calibri"/>
            </a:endParaRPr>
          </a:p>
        </p:txBody>
      </p:sp>
      <p:sp>
        <p:nvSpPr>
          <p:cNvPr id="6" name="object 6"/>
          <p:cNvSpPr txBox="1"/>
          <p:nvPr/>
        </p:nvSpPr>
        <p:spPr>
          <a:xfrm>
            <a:off x="916939" y="5383529"/>
            <a:ext cx="10033000" cy="495934"/>
          </a:xfrm>
          <a:prstGeom prst="rect">
            <a:avLst/>
          </a:prstGeom>
        </p:spPr>
        <p:txBody>
          <a:bodyPr vert="horz" wrap="square" lIns="0" tIns="0" rIns="0" bIns="0" rtlCol="0">
            <a:spAutoFit/>
          </a:bodyPr>
          <a:lstStyle/>
          <a:p>
            <a:pPr marL="184785" marR="5080" indent="-172085">
              <a:lnSpc>
                <a:spcPct val="70000"/>
              </a:lnSpc>
              <a:buFont typeface="Arial"/>
              <a:buChar char="•"/>
              <a:tabLst>
                <a:tab pos="185420" algn="l"/>
              </a:tabLst>
            </a:pPr>
            <a:r>
              <a:rPr sz="2200" spc="-5" dirty="0">
                <a:latin typeface="Calibri"/>
                <a:cs typeface="Calibri"/>
              </a:rPr>
              <a:t>No whitespace </a:t>
            </a:r>
            <a:r>
              <a:rPr sz="2200" spc="-15" dirty="0">
                <a:latin typeface="Calibri"/>
                <a:cs typeface="Calibri"/>
              </a:rPr>
              <a:t>characters </a:t>
            </a:r>
            <a:r>
              <a:rPr sz="2200" spc="-10" dirty="0">
                <a:latin typeface="Calibri"/>
                <a:cs typeface="Calibri"/>
              </a:rPr>
              <a:t>are </a:t>
            </a:r>
            <a:r>
              <a:rPr sz="2200" spc="-5" dirty="0">
                <a:latin typeface="Calibri"/>
                <a:cs typeface="Calibri"/>
              </a:rPr>
              <a:t>necessary </a:t>
            </a:r>
            <a:r>
              <a:rPr sz="2200" spc="-10" dirty="0">
                <a:latin typeface="Calibri"/>
                <a:cs typeface="Calibri"/>
              </a:rPr>
              <a:t>between fruit </a:t>
            </a:r>
            <a:r>
              <a:rPr sz="2200" spc="-5" dirty="0">
                <a:latin typeface="Calibri"/>
                <a:cs typeface="Calibri"/>
              </a:rPr>
              <a:t>and =, or </a:t>
            </a:r>
            <a:r>
              <a:rPr sz="2200" spc="-10" dirty="0">
                <a:latin typeface="Calibri"/>
                <a:cs typeface="Calibri"/>
              </a:rPr>
              <a:t>between </a:t>
            </a:r>
            <a:r>
              <a:rPr sz="2200" spc="-5" dirty="0">
                <a:latin typeface="Calibri"/>
                <a:cs typeface="Calibri"/>
              </a:rPr>
              <a:t>= and apples,  although </a:t>
            </a:r>
            <a:r>
              <a:rPr sz="2200" spc="-15" dirty="0">
                <a:latin typeface="Calibri"/>
                <a:cs typeface="Calibri"/>
              </a:rPr>
              <a:t>you </a:t>
            </a:r>
            <a:r>
              <a:rPr sz="2200" spc="-10" dirty="0">
                <a:latin typeface="Calibri"/>
                <a:cs typeface="Calibri"/>
              </a:rPr>
              <a:t>are </a:t>
            </a:r>
            <a:r>
              <a:rPr sz="2200" spc="-15" dirty="0">
                <a:latin typeface="Calibri"/>
                <a:cs typeface="Calibri"/>
              </a:rPr>
              <a:t>free to </a:t>
            </a:r>
            <a:r>
              <a:rPr sz="2200" spc="-5" dirty="0">
                <a:latin typeface="Calibri"/>
                <a:cs typeface="Calibri"/>
              </a:rPr>
              <a:t>include some if </a:t>
            </a:r>
            <a:r>
              <a:rPr sz="2200" spc="-15" dirty="0">
                <a:latin typeface="Calibri"/>
                <a:cs typeface="Calibri"/>
              </a:rPr>
              <a:t>you </a:t>
            </a:r>
            <a:r>
              <a:rPr sz="2200" spc="-5" dirty="0">
                <a:latin typeface="Calibri"/>
                <a:cs typeface="Calibri"/>
              </a:rPr>
              <a:t>wish </a:t>
            </a:r>
            <a:r>
              <a:rPr sz="2200" spc="-20" dirty="0">
                <a:latin typeface="Calibri"/>
                <a:cs typeface="Calibri"/>
              </a:rPr>
              <a:t>for </a:t>
            </a:r>
            <a:r>
              <a:rPr sz="2200" spc="-5" dirty="0">
                <a:latin typeface="Calibri"/>
                <a:cs typeface="Calibri"/>
              </a:rPr>
              <a:t>readability</a:t>
            </a:r>
            <a:r>
              <a:rPr sz="2200" spc="105" dirty="0">
                <a:latin typeface="Calibri"/>
                <a:cs typeface="Calibri"/>
              </a:rPr>
              <a:t> </a:t>
            </a:r>
            <a:r>
              <a:rPr sz="2200" spc="-5" dirty="0">
                <a:latin typeface="Calibri"/>
                <a:cs typeface="Calibri"/>
              </a:rPr>
              <a:t>purpose.</a:t>
            </a:r>
            <a:endParaRPr sz="22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25" dirty="0"/>
              <a:t>Data</a:t>
            </a:r>
            <a:r>
              <a:rPr spc="-85" dirty="0"/>
              <a:t> </a:t>
            </a:r>
            <a:r>
              <a:rPr spc="-45" dirty="0"/>
              <a:t>Types</a:t>
            </a:r>
          </a:p>
        </p:txBody>
      </p:sp>
      <p:sp>
        <p:nvSpPr>
          <p:cNvPr id="3" name="object 3"/>
          <p:cNvSpPr txBox="1"/>
          <p:nvPr/>
        </p:nvSpPr>
        <p:spPr>
          <a:xfrm>
            <a:off x="916939" y="1367790"/>
            <a:ext cx="10240645" cy="4119076"/>
          </a:xfrm>
          <a:prstGeom prst="rect">
            <a:avLst/>
          </a:prstGeom>
        </p:spPr>
        <p:txBody>
          <a:bodyPr vert="horz" wrap="square" lIns="0" tIns="0" rIns="0" bIns="0" rtlCol="0">
            <a:spAutoFit/>
          </a:bodyPr>
          <a:lstStyle/>
          <a:p>
            <a:pPr marL="184785" indent="-172085">
              <a:lnSpc>
                <a:spcPct val="100000"/>
              </a:lnSpc>
              <a:buFont typeface="Arial"/>
              <a:buChar char="•"/>
              <a:tabLst>
                <a:tab pos="241935" algn="l"/>
              </a:tabLst>
            </a:pPr>
            <a:r>
              <a:rPr sz="2000" spc="-10" dirty="0">
                <a:latin typeface="Calibri"/>
                <a:cs typeface="Calibri"/>
              </a:rPr>
              <a:t>There are four </a:t>
            </a:r>
            <a:r>
              <a:rPr sz="2000" spc="-5" dirty="0">
                <a:latin typeface="Calibri"/>
                <a:cs typeface="Calibri"/>
              </a:rPr>
              <a:t>basic </a:t>
            </a:r>
            <a:r>
              <a:rPr sz="2000" spc="-15" dirty="0">
                <a:latin typeface="Calibri"/>
                <a:cs typeface="Calibri"/>
              </a:rPr>
              <a:t>data </a:t>
            </a:r>
            <a:r>
              <a:rPr sz="2000" dirty="0">
                <a:latin typeface="Calibri"/>
                <a:cs typeface="Calibri"/>
              </a:rPr>
              <a:t>types as</a:t>
            </a:r>
            <a:r>
              <a:rPr sz="2000" spc="30" dirty="0">
                <a:latin typeface="Calibri"/>
                <a:cs typeface="Calibri"/>
              </a:rPr>
              <a:t> </a:t>
            </a:r>
            <a:r>
              <a:rPr sz="2000" spc="-15" dirty="0">
                <a:latin typeface="Calibri"/>
                <a:cs typeface="Calibri"/>
              </a:rPr>
              <a:t>follows:</a:t>
            </a:r>
            <a:endParaRPr sz="2000" dirty="0">
              <a:latin typeface="Calibri"/>
              <a:cs typeface="Calibri"/>
            </a:endParaRPr>
          </a:p>
          <a:p>
            <a:pPr marL="184785" indent="-172085">
              <a:lnSpc>
                <a:spcPts val="2130"/>
              </a:lnSpc>
              <a:spcBef>
                <a:spcPts val="275"/>
              </a:spcBef>
              <a:buFont typeface="Arial"/>
              <a:buChar char="•"/>
              <a:tabLst>
                <a:tab pos="185420" algn="l"/>
              </a:tabLst>
            </a:pPr>
            <a:r>
              <a:rPr sz="2000" spc="-15" dirty="0">
                <a:latin typeface="Calibri"/>
                <a:cs typeface="Calibri"/>
              </a:rPr>
              <a:t>Data </a:t>
            </a:r>
            <a:r>
              <a:rPr sz="2000" dirty="0">
                <a:latin typeface="Calibri"/>
                <a:cs typeface="Calibri"/>
              </a:rPr>
              <a:t>types </a:t>
            </a:r>
            <a:r>
              <a:rPr sz="2000" spc="-5" dirty="0">
                <a:latin typeface="Calibri"/>
                <a:cs typeface="Calibri"/>
              </a:rPr>
              <a:t>simply </a:t>
            </a:r>
            <a:r>
              <a:rPr sz="2000" spc="-25" dirty="0">
                <a:latin typeface="Calibri"/>
                <a:cs typeface="Calibri"/>
              </a:rPr>
              <a:t>refers </a:t>
            </a:r>
            <a:r>
              <a:rPr sz="2000" spc="-15" dirty="0">
                <a:latin typeface="Calibri"/>
                <a:cs typeface="Calibri"/>
              </a:rPr>
              <a:t>to </a:t>
            </a:r>
            <a:r>
              <a:rPr sz="2000" dirty="0">
                <a:latin typeface="Calibri"/>
                <a:cs typeface="Calibri"/>
              </a:rPr>
              <a:t>the type and </a:t>
            </a:r>
            <a:r>
              <a:rPr sz="2000" spc="-15" dirty="0">
                <a:latin typeface="Calibri"/>
                <a:cs typeface="Calibri"/>
              </a:rPr>
              <a:t>size </a:t>
            </a:r>
            <a:r>
              <a:rPr sz="2000" spc="-5" dirty="0">
                <a:latin typeface="Calibri"/>
                <a:cs typeface="Calibri"/>
              </a:rPr>
              <a:t>of </a:t>
            </a:r>
            <a:r>
              <a:rPr sz="2000" spc="-15" dirty="0">
                <a:latin typeface="Calibri"/>
                <a:cs typeface="Calibri"/>
              </a:rPr>
              <a:t>data </a:t>
            </a:r>
            <a:r>
              <a:rPr sz="2000" spc="-5" dirty="0">
                <a:latin typeface="Calibri"/>
                <a:cs typeface="Calibri"/>
              </a:rPr>
              <a:t>associated with variables </a:t>
            </a:r>
            <a:r>
              <a:rPr sz="2000" dirty="0">
                <a:latin typeface="Calibri"/>
                <a:cs typeface="Calibri"/>
              </a:rPr>
              <a:t>and</a:t>
            </a:r>
            <a:r>
              <a:rPr sz="2000" spc="185" dirty="0">
                <a:latin typeface="Calibri"/>
                <a:cs typeface="Calibri"/>
              </a:rPr>
              <a:t> </a:t>
            </a:r>
            <a:r>
              <a:rPr sz="2000" dirty="0">
                <a:latin typeface="Calibri"/>
                <a:cs typeface="Calibri"/>
              </a:rPr>
              <a:t>functions.</a:t>
            </a:r>
          </a:p>
          <a:p>
            <a:pPr marL="184785" marR="53975" indent="-172085">
              <a:lnSpc>
                <a:spcPts val="1920"/>
              </a:lnSpc>
              <a:spcBef>
                <a:spcPts val="195"/>
              </a:spcBef>
              <a:buFont typeface="Arial"/>
              <a:buChar char="•"/>
              <a:tabLst>
                <a:tab pos="185420" algn="l"/>
              </a:tabLst>
            </a:pPr>
            <a:r>
              <a:rPr sz="2000" spc="-5" dirty="0">
                <a:latin typeface="Calibri"/>
                <a:cs typeface="Calibri"/>
              </a:rPr>
              <a:t>The </a:t>
            </a:r>
            <a:r>
              <a:rPr sz="2000" dirty="0">
                <a:latin typeface="Calibri"/>
                <a:cs typeface="Calibri"/>
              </a:rPr>
              <a:t>type </a:t>
            </a:r>
            <a:r>
              <a:rPr sz="2000" spc="-5" dirty="0">
                <a:latin typeface="Calibri"/>
                <a:cs typeface="Calibri"/>
              </a:rPr>
              <a:t>of </a:t>
            </a:r>
            <a:r>
              <a:rPr sz="2000" dirty="0">
                <a:latin typeface="Calibri"/>
                <a:cs typeface="Calibri"/>
              </a:rPr>
              <a:t>a </a:t>
            </a:r>
            <a:r>
              <a:rPr sz="2000" spc="-5" dirty="0">
                <a:latin typeface="Calibri"/>
                <a:cs typeface="Calibri"/>
              </a:rPr>
              <a:t>variable determines how </a:t>
            </a:r>
            <a:r>
              <a:rPr sz="2000" dirty="0">
                <a:latin typeface="Calibri"/>
                <a:cs typeface="Calibri"/>
              </a:rPr>
              <a:t>much </a:t>
            </a:r>
            <a:r>
              <a:rPr sz="2000" spc="-5" dirty="0">
                <a:latin typeface="Calibri"/>
                <a:cs typeface="Calibri"/>
              </a:rPr>
              <a:t>space </a:t>
            </a:r>
            <a:r>
              <a:rPr sz="2000" dirty="0">
                <a:latin typeface="Calibri"/>
                <a:cs typeface="Calibri"/>
              </a:rPr>
              <a:t>it occupies in </a:t>
            </a:r>
            <a:r>
              <a:rPr sz="2000" spc="-15" dirty="0">
                <a:latin typeface="Calibri"/>
                <a:cs typeface="Calibri"/>
              </a:rPr>
              <a:t>storage </a:t>
            </a:r>
            <a:r>
              <a:rPr sz="2000" dirty="0">
                <a:latin typeface="Calibri"/>
                <a:cs typeface="Calibri"/>
              </a:rPr>
              <a:t>and </a:t>
            </a:r>
            <a:r>
              <a:rPr sz="2000" spc="-5" dirty="0">
                <a:latin typeface="Calibri"/>
                <a:cs typeface="Calibri"/>
              </a:rPr>
              <a:t>how </a:t>
            </a:r>
            <a:r>
              <a:rPr sz="2000" dirty="0">
                <a:latin typeface="Calibri"/>
                <a:cs typeface="Calibri"/>
              </a:rPr>
              <a:t>the </a:t>
            </a:r>
            <a:r>
              <a:rPr sz="2000" spc="-5" dirty="0">
                <a:latin typeface="Calibri"/>
                <a:cs typeface="Calibri"/>
              </a:rPr>
              <a:t>bit </a:t>
            </a:r>
            <a:r>
              <a:rPr sz="2000" spc="-10" dirty="0">
                <a:latin typeface="Calibri"/>
                <a:cs typeface="Calibri"/>
              </a:rPr>
              <a:t>pattern  </a:t>
            </a:r>
            <a:r>
              <a:rPr sz="2000" spc="-15" dirty="0">
                <a:latin typeface="Calibri"/>
                <a:cs typeface="Calibri"/>
              </a:rPr>
              <a:t>stored </a:t>
            </a:r>
            <a:r>
              <a:rPr sz="2000" dirty="0">
                <a:latin typeface="Calibri"/>
                <a:cs typeface="Calibri"/>
              </a:rPr>
              <a:t>is</a:t>
            </a:r>
            <a:r>
              <a:rPr sz="2000" spc="-55" dirty="0">
                <a:latin typeface="Calibri"/>
                <a:cs typeface="Calibri"/>
              </a:rPr>
              <a:t> </a:t>
            </a:r>
            <a:r>
              <a:rPr sz="2000" spc="-10" dirty="0">
                <a:latin typeface="Calibri"/>
                <a:cs typeface="Calibri"/>
              </a:rPr>
              <a:t>interpreted.</a:t>
            </a:r>
            <a:endParaRPr sz="2000" dirty="0">
              <a:latin typeface="Calibri"/>
              <a:cs typeface="Calibri"/>
            </a:endParaRPr>
          </a:p>
          <a:p>
            <a:pPr marL="12700">
              <a:lnSpc>
                <a:spcPct val="100000"/>
              </a:lnSpc>
              <a:spcBef>
                <a:spcPts val="275"/>
              </a:spcBef>
            </a:pPr>
            <a:r>
              <a:rPr sz="2000" dirty="0" smtClean="0">
                <a:latin typeface="Calibri"/>
                <a:cs typeface="Calibri"/>
              </a:rPr>
              <a:t>1</a:t>
            </a:r>
            <a:r>
              <a:rPr sz="2000" dirty="0">
                <a:latin typeface="Calibri"/>
                <a:cs typeface="Calibri"/>
              </a:rPr>
              <a:t>. </a:t>
            </a:r>
            <a:r>
              <a:rPr sz="2000" spc="-5" dirty="0">
                <a:latin typeface="Calibri"/>
                <a:cs typeface="Calibri"/>
              </a:rPr>
              <a:t>Fundamental </a:t>
            </a:r>
            <a:r>
              <a:rPr sz="2000" spc="-15" dirty="0">
                <a:latin typeface="Calibri"/>
                <a:cs typeface="Calibri"/>
              </a:rPr>
              <a:t>data</a:t>
            </a:r>
            <a:r>
              <a:rPr sz="2000" spc="-215" dirty="0">
                <a:latin typeface="Calibri"/>
                <a:cs typeface="Calibri"/>
              </a:rPr>
              <a:t> </a:t>
            </a:r>
            <a:r>
              <a:rPr sz="2000" spc="-5" dirty="0">
                <a:latin typeface="Calibri"/>
                <a:cs typeface="Calibri"/>
              </a:rPr>
              <a:t>types</a:t>
            </a:r>
            <a:endParaRPr sz="2000" dirty="0">
              <a:latin typeface="Calibri"/>
              <a:cs typeface="Calibri"/>
            </a:endParaRPr>
          </a:p>
          <a:p>
            <a:pPr marL="241300" indent="-228600">
              <a:lnSpc>
                <a:spcPct val="100000"/>
              </a:lnSpc>
              <a:spcBef>
                <a:spcPts val="275"/>
              </a:spcBef>
              <a:buFont typeface="Arial"/>
              <a:buChar char="•"/>
              <a:tabLst>
                <a:tab pos="241935" algn="l"/>
              </a:tabLst>
            </a:pPr>
            <a:r>
              <a:rPr sz="2000" b="1" spc="-10" dirty="0">
                <a:latin typeface="Calibri"/>
                <a:cs typeface="Calibri"/>
              </a:rPr>
              <a:t>Integer</a:t>
            </a:r>
            <a:r>
              <a:rPr sz="2000" b="1" spc="-80" dirty="0">
                <a:latin typeface="Calibri"/>
                <a:cs typeface="Calibri"/>
              </a:rPr>
              <a:t> </a:t>
            </a:r>
            <a:r>
              <a:rPr sz="2000" b="1" dirty="0">
                <a:latin typeface="Calibri"/>
                <a:cs typeface="Calibri"/>
              </a:rPr>
              <a:t>types</a:t>
            </a:r>
          </a:p>
          <a:p>
            <a:pPr marL="241300" marR="5080" indent="-228600">
              <a:lnSpc>
                <a:spcPct val="70000"/>
              </a:lnSpc>
              <a:spcBef>
                <a:spcPts val="1005"/>
              </a:spcBef>
              <a:buFont typeface="Arial"/>
              <a:buChar char="•"/>
              <a:tabLst>
                <a:tab pos="241935" algn="l"/>
              </a:tabLst>
            </a:pPr>
            <a:r>
              <a:rPr sz="2000" spc="-5" dirty="0">
                <a:latin typeface="Calibri"/>
                <a:cs typeface="Calibri"/>
              </a:rPr>
              <a:t>These </a:t>
            </a:r>
            <a:r>
              <a:rPr sz="2000" spc="-10" dirty="0">
                <a:latin typeface="Calibri"/>
                <a:cs typeface="Calibri"/>
              </a:rPr>
              <a:t>are </a:t>
            </a:r>
            <a:r>
              <a:rPr sz="2000" dirty="0">
                <a:latin typeface="Calibri"/>
                <a:cs typeface="Calibri"/>
              </a:rPr>
              <a:t>whole </a:t>
            </a:r>
            <a:r>
              <a:rPr sz="2000" spc="-5" dirty="0">
                <a:latin typeface="Calibri"/>
                <a:cs typeface="Calibri"/>
              </a:rPr>
              <a:t>numbers that </a:t>
            </a:r>
            <a:r>
              <a:rPr sz="2000" dirty="0">
                <a:latin typeface="Calibri"/>
                <a:cs typeface="Calibri"/>
              </a:rPr>
              <a:t>can </a:t>
            </a:r>
            <a:r>
              <a:rPr sz="2000" spc="-20" dirty="0">
                <a:latin typeface="Calibri"/>
                <a:cs typeface="Calibri"/>
              </a:rPr>
              <a:t>have </a:t>
            </a:r>
            <a:r>
              <a:rPr sz="2000" spc="-5" dirty="0">
                <a:latin typeface="Calibri"/>
                <a:cs typeface="Calibri"/>
              </a:rPr>
              <a:t>both </a:t>
            </a:r>
            <a:r>
              <a:rPr sz="2000" spc="-10" dirty="0">
                <a:latin typeface="Calibri"/>
                <a:cs typeface="Calibri"/>
              </a:rPr>
              <a:t>positive </a:t>
            </a:r>
            <a:r>
              <a:rPr sz="2000" dirty="0">
                <a:latin typeface="Calibri"/>
                <a:cs typeface="Calibri"/>
              </a:rPr>
              <a:t>and </a:t>
            </a:r>
            <a:r>
              <a:rPr sz="2000" spc="-15" dirty="0">
                <a:latin typeface="Calibri"/>
                <a:cs typeface="Calibri"/>
              </a:rPr>
              <a:t>negative </a:t>
            </a:r>
            <a:r>
              <a:rPr sz="2000" spc="-5" dirty="0">
                <a:latin typeface="Calibri"/>
                <a:cs typeface="Calibri"/>
              </a:rPr>
              <a:t>values </a:t>
            </a:r>
            <a:r>
              <a:rPr sz="2000" dirty="0">
                <a:latin typeface="Calibri"/>
                <a:cs typeface="Calibri"/>
              </a:rPr>
              <a:t>but </a:t>
            </a:r>
            <a:r>
              <a:rPr sz="2000" spc="-5" dirty="0">
                <a:latin typeface="Calibri"/>
                <a:cs typeface="Calibri"/>
              </a:rPr>
              <a:t>no decimal values.  </a:t>
            </a:r>
            <a:r>
              <a:rPr sz="2000" spc="5" dirty="0">
                <a:latin typeface="Calibri"/>
                <a:cs typeface="Calibri"/>
              </a:rPr>
              <a:t>E.g</a:t>
            </a:r>
            <a:r>
              <a:rPr sz="2000" spc="-114" dirty="0">
                <a:latin typeface="Calibri"/>
                <a:cs typeface="Calibri"/>
              </a:rPr>
              <a:t> </a:t>
            </a:r>
            <a:r>
              <a:rPr sz="2000" dirty="0">
                <a:latin typeface="Calibri"/>
                <a:cs typeface="Calibri"/>
              </a:rPr>
              <a:t>0,-5,10</a:t>
            </a:r>
          </a:p>
          <a:p>
            <a:pPr marL="241300" indent="-228600">
              <a:lnSpc>
                <a:spcPct val="100000"/>
              </a:lnSpc>
              <a:spcBef>
                <a:spcPts val="275"/>
              </a:spcBef>
              <a:buFont typeface="Arial"/>
              <a:buChar char="•"/>
              <a:tabLst>
                <a:tab pos="241935" algn="l"/>
              </a:tabLst>
            </a:pPr>
            <a:r>
              <a:rPr sz="2000" spc="-5" dirty="0">
                <a:latin typeface="Calibri"/>
                <a:cs typeface="Calibri"/>
              </a:rPr>
              <a:t>The </a:t>
            </a:r>
            <a:r>
              <a:rPr sz="2000" spc="-20" dirty="0">
                <a:latin typeface="Calibri"/>
                <a:cs typeface="Calibri"/>
              </a:rPr>
              <a:t>keyword </a:t>
            </a:r>
            <a:r>
              <a:rPr sz="2000" b="1" spc="-10" dirty="0">
                <a:latin typeface="Calibri"/>
                <a:cs typeface="Calibri"/>
              </a:rPr>
              <a:t>int </a:t>
            </a:r>
            <a:r>
              <a:rPr sz="2000" dirty="0">
                <a:latin typeface="Calibri"/>
                <a:cs typeface="Calibri"/>
              </a:rPr>
              <a:t>is </a:t>
            </a:r>
            <a:r>
              <a:rPr sz="2000" spc="-5" dirty="0">
                <a:latin typeface="Calibri"/>
                <a:cs typeface="Calibri"/>
              </a:rPr>
              <a:t>used </a:t>
            </a:r>
            <a:r>
              <a:rPr sz="2000" dirty="0">
                <a:latin typeface="Calibri"/>
                <a:cs typeface="Calibri"/>
              </a:rPr>
              <a:t>in C </a:t>
            </a:r>
            <a:r>
              <a:rPr sz="2000" spc="-15" dirty="0">
                <a:latin typeface="Calibri"/>
                <a:cs typeface="Calibri"/>
              </a:rPr>
              <a:t>for </a:t>
            </a:r>
            <a:r>
              <a:rPr sz="2000" dirty="0">
                <a:latin typeface="Calibri"/>
                <a:cs typeface="Calibri"/>
              </a:rPr>
              <a:t>declaring </a:t>
            </a:r>
            <a:r>
              <a:rPr sz="2000" spc="-10" dirty="0">
                <a:latin typeface="Calibri"/>
                <a:cs typeface="Calibri"/>
              </a:rPr>
              <a:t>integer </a:t>
            </a:r>
            <a:r>
              <a:rPr sz="2000" spc="-5" dirty="0">
                <a:latin typeface="Calibri"/>
                <a:cs typeface="Calibri"/>
              </a:rPr>
              <a:t>variable </a:t>
            </a:r>
            <a:r>
              <a:rPr sz="2000" spc="5" dirty="0">
                <a:latin typeface="Calibri"/>
                <a:cs typeface="Calibri"/>
              </a:rPr>
              <a:t>e.g </a:t>
            </a:r>
            <a:r>
              <a:rPr sz="2000" spc="-10" dirty="0">
                <a:latin typeface="Calibri"/>
                <a:cs typeface="Calibri"/>
              </a:rPr>
              <a:t>int</a:t>
            </a:r>
            <a:r>
              <a:rPr sz="2000" spc="5" dirty="0">
                <a:latin typeface="Calibri"/>
                <a:cs typeface="Calibri"/>
              </a:rPr>
              <a:t> </a:t>
            </a:r>
            <a:r>
              <a:rPr sz="2000" spc="-5" dirty="0">
                <a:latin typeface="Calibri"/>
                <a:cs typeface="Calibri"/>
              </a:rPr>
              <a:t>id</a:t>
            </a:r>
            <a:endParaRPr sz="2000" dirty="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Here </a:t>
            </a:r>
            <a:r>
              <a:rPr sz="2000" dirty="0">
                <a:latin typeface="Calibri"/>
                <a:cs typeface="Calibri"/>
              </a:rPr>
              <a:t>id is a </a:t>
            </a:r>
            <a:r>
              <a:rPr sz="2000" spc="-5" dirty="0">
                <a:latin typeface="Calibri"/>
                <a:cs typeface="Calibri"/>
              </a:rPr>
              <a:t>variable </a:t>
            </a:r>
            <a:r>
              <a:rPr sz="2000" dirty="0">
                <a:latin typeface="Calibri"/>
                <a:cs typeface="Calibri"/>
              </a:rPr>
              <a:t>of </a:t>
            </a:r>
            <a:r>
              <a:rPr sz="2000" spc="-15" dirty="0">
                <a:latin typeface="Calibri"/>
                <a:cs typeface="Calibri"/>
              </a:rPr>
              <a:t>data </a:t>
            </a:r>
            <a:r>
              <a:rPr sz="2000" dirty="0">
                <a:latin typeface="Calibri"/>
                <a:cs typeface="Calibri"/>
              </a:rPr>
              <a:t>type</a:t>
            </a:r>
            <a:r>
              <a:rPr sz="2000" spc="5" dirty="0">
                <a:latin typeface="Calibri"/>
                <a:cs typeface="Calibri"/>
              </a:rPr>
              <a:t> </a:t>
            </a:r>
            <a:r>
              <a:rPr sz="2000" spc="-10" dirty="0">
                <a:latin typeface="Calibri"/>
                <a:cs typeface="Calibri"/>
              </a:rPr>
              <a:t>integer</a:t>
            </a:r>
            <a:endParaRPr sz="2000" dirty="0">
              <a:latin typeface="Calibri"/>
              <a:cs typeface="Calibri"/>
            </a:endParaRPr>
          </a:p>
          <a:p>
            <a:pPr marL="241300" indent="-228600">
              <a:lnSpc>
                <a:spcPct val="100000"/>
              </a:lnSpc>
              <a:spcBef>
                <a:spcPts val="290"/>
              </a:spcBef>
              <a:buFont typeface="Arial"/>
              <a:buChar char="•"/>
              <a:tabLst>
                <a:tab pos="241935" algn="l"/>
              </a:tabLst>
            </a:pPr>
            <a:r>
              <a:rPr sz="2000" spc="-50" dirty="0">
                <a:latin typeface="Calibri"/>
                <a:cs typeface="Calibri"/>
              </a:rPr>
              <a:t>You </a:t>
            </a:r>
            <a:r>
              <a:rPr sz="2000" spc="-5" dirty="0">
                <a:latin typeface="Calibri"/>
                <a:cs typeface="Calibri"/>
              </a:rPr>
              <a:t>can </a:t>
            </a:r>
            <a:r>
              <a:rPr sz="2000" spc="-10" dirty="0">
                <a:latin typeface="Calibri"/>
                <a:cs typeface="Calibri"/>
              </a:rPr>
              <a:t>declare </a:t>
            </a:r>
            <a:r>
              <a:rPr sz="2000" spc="-5" dirty="0">
                <a:latin typeface="Calibri"/>
                <a:cs typeface="Calibri"/>
              </a:rPr>
              <a:t>multiple variables </a:t>
            </a:r>
            <a:r>
              <a:rPr sz="2000" spc="-15" dirty="0">
                <a:latin typeface="Calibri"/>
                <a:cs typeface="Calibri"/>
              </a:rPr>
              <a:t>at </a:t>
            </a:r>
            <a:r>
              <a:rPr sz="2000" dirty="0">
                <a:latin typeface="Calibri"/>
                <a:cs typeface="Calibri"/>
              </a:rPr>
              <a:t>once in C </a:t>
            </a:r>
            <a:r>
              <a:rPr sz="2000" spc="-10" dirty="0">
                <a:latin typeface="Calibri"/>
                <a:cs typeface="Calibri"/>
              </a:rPr>
              <a:t>programming. </a:t>
            </a:r>
            <a:r>
              <a:rPr sz="2000" spc="5" dirty="0">
                <a:latin typeface="Calibri"/>
                <a:cs typeface="Calibri"/>
              </a:rPr>
              <a:t>E.g </a:t>
            </a:r>
            <a:r>
              <a:rPr sz="2000" spc="-10" dirty="0">
                <a:latin typeface="Calibri"/>
                <a:cs typeface="Calibri"/>
              </a:rPr>
              <a:t>int </a:t>
            </a:r>
            <a:r>
              <a:rPr sz="2000" dirty="0">
                <a:latin typeface="Calibri"/>
                <a:cs typeface="Calibri"/>
              </a:rPr>
              <a:t>id,</a:t>
            </a:r>
            <a:r>
              <a:rPr sz="2000" spc="150" dirty="0">
                <a:latin typeface="Calibri"/>
                <a:cs typeface="Calibri"/>
              </a:rPr>
              <a:t> </a:t>
            </a:r>
            <a:r>
              <a:rPr sz="2000" spc="-5" dirty="0">
                <a:latin typeface="Calibri"/>
                <a:cs typeface="Calibri"/>
              </a:rPr>
              <a:t>age;</a:t>
            </a:r>
            <a:endParaRPr sz="2000" dirty="0">
              <a:latin typeface="Calibri"/>
              <a:cs typeface="Calibri"/>
            </a:endParaRPr>
          </a:p>
          <a:p>
            <a:pPr>
              <a:lnSpc>
                <a:spcPct val="100000"/>
              </a:lnSpc>
              <a:spcBef>
                <a:spcPts val="15"/>
              </a:spcBef>
            </a:pPr>
            <a:endParaRPr sz="2550" dirty="0">
              <a:latin typeface="Times New Roman"/>
              <a:cs typeface="Times New Roman"/>
            </a:endParaRPr>
          </a:p>
          <a:p>
            <a:pPr marL="12700">
              <a:lnSpc>
                <a:spcPct val="100000"/>
              </a:lnSpc>
              <a:spcBef>
                <a:spcPts val="5"/>
              </a:spcBef>
            </a:pPr>
            <a:r>
              <a:rPr sz="2000" dirty="0">
                <a:latin typeface="Arial"/>
                <a:cs typeface="Arial"/>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673861"/>
            <a:ext cx="10232390" cy="5721053"/>
          </a:xfrm>
          <a:prstGeom prst="rect">
            <a:avLst/>
          </a:prstGeom>
        </p:spPr>
        <p:txBody>
          <a:bodyPr vert="horz" wrap="square" lIns="0" tIns="0" rIns="0" bIns="0" rtlCol="0">
            <a:spAutoFit/>
          </a:bodyPr>
          <a:lstStyle/>
          <a:p>
            <a:pPr marL="12700">
              <a:lnSpc>
                <a:spcPct val="100000"/>
              </a:lnSpc>
            </a:pPr>
            <a:r>
              <a:rPr lang="en-US" sz="2600" b="1" dirty="0">
                <a:latin typeface="Calibri"/>
                <a:cs typeface="Calibri"/>
              </a:rPr>
              <a:t>f</a:t>
            </a:r>
            <a:r>
              <a:rPr sz="2600" b="1" spc="-5" dirty="0" smtClean="0">
                <a:latin typeface="Calibri"/>
                <a:cs typeface="Calibri"/>
              </a:rPr>
              <a:t>loating</a:t>
            </a:r>
            <a:r>
              <a:rPr sz="2600" b="1" spc="-60" dirty="0" smtClean="0">
                <a:latin typeface="Calibri"/>
                <a:cs typeface="Calibri"/>
              </a:rPr>
              <a:t> </a:t>
            </a:r>
            <a:r>
              <a:rPr sz="2600" b="1" dirty="0">
                <a:latin typeface="Calibri"/>
                <a:cs typeface="Calibri"/>
              </a:rPr>
              <a:t>types</a:t>
            </a:r>
          </a:p>
          <a:p>
            <a:pPr marL="184785" indent="-172085">
              <a:lnSpc>
                <a:spcPct val="100000"/>
              </a:lnSpc>
              <a:spcBef>
                <a:spcPts val="375"/>
              </a:spcBef>
              <a:buFont typeface="Arial"/>
              <a:buChar char="•"/>
              <a:tabLst>
                <a:tab pos="185420" algn="l"/>
              </a:tabLst>
            </a:pPr>
            <a:r>
              <a:rPr sz="2600" spc="-5" dirty="0">
                <a:latin typeface="Calibri"/>
                <a:cs typeface="Calibri"/>
              </a:rPr>
              <a:t>These </a:t>
            </a:r>
            <a:r>
              <a:rPr sz="2600" spc="-10" dirty="0">
                <a:latin typeface="Calibri"/>
                <a:cs typeface="Calibri"/>
              </a:rPr>
              <a:t>can </a:t>
            </a:r>
            <a:r>
              <a:rPr sz="2600" spc="-5" dirty="0">
                <a:latin typeface="Calibri"/>
                <a:cs typeface="Calibri"/>
              </a:rPr>
              <a:t>hold </a:t>
            </a:r>
            <a:r>
              <a:rPr sz="2600" spc="-10" dirty="0">
                <a:latin typeface="Calibri"/>
                <a:cs typeface="Calibri"/>
              </a:rPr>
              <a:t>real numbers </a:t>
            </a:r>
            <a:r>
              <a:rPr sz="2600" spc="-5" dirty="0">
                <a:latin typeface="Calibri"/>
                <a:cs typeface="Calibri"/>
              </a:rPr>
              <a:t>such </a:t>
            </a:r>
            <a:r>
              <a:rPr sz="2600" dirty="0">
                <a:latin typeface="Calibri"/>
                <a:cs typeface="Calibri"/>
              </a:rPr>
              <a:t>as 2.34, -9.382, 5.0</a:t>
            </a:r>
            <a:r>
              <a:rPr sz="2600" spc="-110" dirty="0">
                <a:latin typeface="Calibri"/>
                <a:cs typeface="Calibri"/>
              </a:rPr>
              <a:t> </a:t>
            </a:r>
            <a:r>
              <a:rPr sz="2600" spc="-15" dirty="0">
                <a:latin typeface="Calibri"/>
                <a:cs typeface="Calibri"/>
              </a:rPr>
              <a:t>etc.</a:t>
            </a:r>
            <a:endParaRPr sz="2600" dirty="0">
              <a:latin typeface="Calibri"/>
              <a:cs typeface="Calibri"/>
            </a:endParaRPr>
          </a:p>
          <a:p>
            <a:pPr marL="184785" marR="5080" indent="-172085">
              <a:lnSpc>
                <a:spcPct val="80000"/>
              </a:lnSpc>
              <a:spcBef>
                <a:spcPts val="1005"/>
              </a:spcBef>
              <a:buFont typeface="Arial"/>
              <a:buChar char="•"/>
              <a:tabLst>
                <a:tab pos="185420" algn="l"/>
              </a:tabLst>
            </a:pPr>
            <a:r>
              <a:rPr sz="2600" spc="-65" dirty="0">
                <a:latin typeface="Calibri"/>
                <a:cs typeface="Calibri"/>
              </a:rPr>
              <a:t>You </a:t>
            </a:r>
            <a:r>
              <a:rPr sz="2600" spc="-10" dirty="0">
                <a:latin typeface="Calibri"/>
                <a:cs typeface="Calibri"/>
              </a:rPr>
              <a:t>can </a:t>
            </a:r>
            <a:r>
              <a:rPr sz="2600" spc="-5" dirty="0">
                <a:latin typeface="Calibri"/>
                <a:cs typeface="Calibri"/>
              </a:rPr>
              <a:t>declare </a:t>
            </a:r>
            <a:r>
              <a:rPr sz="2600" dirty="0">
                <a:latin typeface="Calibri"/>
                <a:cs typeface="Calibri"/>
              </a:rPr>
              <a:t>a </a:t>
            </a:r>
            <a:r>
              <a:rPr sz="2600" spc="-5" dirty="0">
                <a:latin typeface="Calibri"/>
                <a:cs typeface="Calibri"/>
              </a:rPr>
              <a:t>floating </a:t>
            </a:r>
            <a:r>
              <a:rPr sz="2600" spc="-10" dirty="0">
                <a:latin typeface="Calibri"/>
                <a:cs typeface="Calibri"/>
              </a:rPr>
              <a:t>point </a:t>
            </a:r>
            <a:r>
              <a:rPr sz="2600" spc="-5" dirty="0">
                <a:latin typeface="Calibri"/>
                <a:cs typeface="Calibri"/>
              </a:rPr>
              <a:t>variable </a:t>
            </a:r>
            <a:r>
              <a:rPr sz="2600" dirty="0">
                <a:latin typeface="Calibri"/>
                <a:cs typeface="Calibri"/>
              </a:rPr>
              <a:t>in C </a:t>
            </a:r>
            <a:r>
              <a:rPr sz="2600" spc="-10" dirty="0">
                <a:latin typeface="Calibri"/>
                <a:cs typeface="Calibri"/>
              </a:rPr>
              <a:t>by </a:t>
            </a:r>
            <a:r>
              <a:rPr sz="2600" spc="-5" dirty="0">
                <a:latin typeface="Calibri"/>
                <a:cs typeface="Calibri"/>
              </a:rPr>
              <a:t>using </a:t>
            </a:r>
            <a:r>
              <a:rPr sz="2600" dirty="0">
                <a:latin typeface="Calibri"/>
                <a:cs typeface="Calibri"/>
              </a:rPr>
              <a:t>either </a:t>
            </a:r>
            <a:r>
              <a:rPr sz="2600" spc="-10" dirty="0">
                <a:latin typeface="Calibri"/>
                <a:cs typeface="Calibri"/>
              </a:rPr>
              <a:t>float </a:t>
            </a:r>
            <a:r>
              <a:rPr sz="2600" spc="-5" dirty="0">
                <a:latin typeface="Calibri"/>
                <a:cs typeface="Calibri"/>
              </a:rPr>
              <a:t>or double  </a:t>
            </a:r>
            <a:r>
              <a:rPr sz="2600" spc="-20" dirty="0">
                <a:latin typeface="Calibri"/>
                <a:cs typeface="Calibri"/>
              </a:rPr>
              <a:t>keyword. </a:t>
            </a:r>
            <a:r>
              <a:rPr sz="2600" dirty="0">
                <a:latin typeface="Calibri"/>
                <a:cs typeface="Calibri"/>
              </a:rPr>
              <a:t>E.g. </a:t>
            </a:r>
            <a:r>
              <a:rPr sz="2600" spc="-10" dirty="0">
                <a:latin typeface="Calibri"/>
                <a:cs typeface="Calibri"/>
              </a:rPr>
              <a:t>float </a:t>
            </a:r>
            <a:r>
              <a:rPr sz="2600" spc="-5" dirty="0">
                <a:latin typeface="Calibri"/>
                <a:cs typeface="Calibri"/>
              </a:rPr>
              <a:t>accountBalance; double</a:t>
            </a:r>
            <a:r>
              <a:rPr sz="2600" spc="55" dirty="0">
                <a:latin typeface="Calibri"/>
                <a:cs typeface="Calibri"/>
              </a:rPr>
              <a:t> </a:t>
            </a:r>
            <a:r>
              <a:rPr sz="2600" spc="-5" dirty="0">
                <a:latin typeface="Calibri"/>
                <a:cs typeface="Calibri"/>
              </a:rPr>
              <a:t>bookPrice;</a:t>
            </a:r>
            <a:endParaRPr sz="2600" dirty="0">
              <a:latin typeface="Calibri"/>
              <a:cs typeface="Calibri"/>
            </a:endParaRPr>
          </a:p>
          <a:p>
            <a:pPr marL="184785" indent="-172085">
              <a:lnSpc>
                <a:spcPct val="100000"/>
              </a:lnSpc>
              <a:spcBef>
                <a:spcPts val="370"/>
              </a:spcBef>
              <a:buFont typeface="Arial"/>
              <a:buChar char="•"/>
              <a:tabLst>
                <a:tab pos="185420" algn="l"/>
              </a:tabLst>
            </a:pPr>
            <a:r>
              <a:rPr sz="2600" spc="-10" dirty="0">
                <a:latin typeface="Calibri"/>
                <a:cs typeface="Calibri"/>
              </a:rPr>
              <a:t>Here </a:t>
            </a:r>
            <a:r>
              <a:rPr sz="2600" spc="-5" dirty="0">
                <a:latin typeface="Calibri"/>
                <a:cs typeface="Calibri"/>
              </a:rPr>
              <a:t>both variables </a:t>
            </a:r>
            <a:r>
              <a:rPr sz="2600" spc="-10" dirty="0">
                <a:latin typeface="Calibri"/>
                <a:cs typeface="Calibri"/>
              </a:rPr>
              <a:t>are </a:t>
            </a:r>
            <a:r>
              <a:rPr sz="2600" spc="-5" dirty="0">
                <a:latin typeface="Calibri"/>
                <a:cs typeface="Calibri"/>
              </a:rPr>
              <a:t>floating </a:t>
            </a:r>
            <a:r>
              <a:rPr sz="2600" dirty="0">
                <a:latin typeface="Calibri"/>
                <a:cs typeface="Calibri"/>
              </a:rPr>
              <a:t>type</a:t>
            </a:r>
            <a:r>
              <a:rPr sz="2600" spc="-30" dirty="0">
                <a:latin typeface="Calibri"/>
                <a:cs typeface="Calibri"/>
              </a:rPr>
              <a:t> </a:t>
            </a:r>
            <a:r>
              <a:rPr sz="2600" spc="-5" dirty="0">
                <a:latin typeface="Calibri"/>
                <a:cs typeface="Calibri"/>
              </a:rPr>
              <a:t>variables.</a:t>
            </a:r>
            <a:endParaRPr sz="2600" dirty="0">
              <a:latin typeface="Calibri"/>
              <a:cs typeface="Calibri"/>
            </a:endParaRPr>
          </a:p>
          <a:p>
            <a:pPr marL="184785" indent="-172085">
              <a:lnSpc>
                <a:spcPct val="100000"/>
              </a:lnSpc>
              <a:spcBef>
                <a:spcPts val="370"/>
              </a:spcBef>
              <a:buFont typeface="Arial"/>
              <a:buChar char="•"/>
              <a:tabLst>
                <a:tab pos="185420" algn="l"/>
              </a:tabLst>
            </a:pPr>
            <a:r>
              <a:rPr sz="2600" spc="-5" dirty="0">
                <a:latin typeface="Calibri"/>
                <a:cs typeface="Calibri"/>
              </a:rPr>
              <a:t>The </a:t>
            </a:r>
            <a:r>
              <a:rPr sz="2600" spc="-15" dirty="0">
                <a:latin typeface="Calibri"/>
                <a:cs typeface="Calibri"/>
              </a:rPr>
              <a:t>difference </a:t>
            </a:r>
            <a:r>
              <a:rPr sz="2600" spc="-5" dirty="0">
                <a:latin typeface="Calibri"/>
                <a:cs typeface="Calibri"/>
              </a:rPr>
              <a:t>between </a:t>
            </a:r>
            <a:r>
              <a:rPr sz="2600" dirty="0">
                <a:latin typeface="Calibri"/>
                <a:cs typeface="Calibri"/>
              </a:rPr>
              <a:t>the </a:t>
            </a:r>
            <a:r>
              <a:rPr sz="2600" spc="-10" dirty="0">
                <a:latin typeface="Calibri"/>
                <a:cs typeface="Calibri"/>
              </a:rPr>
              <a:t>two </a:t>
            </a:r>
            <a:r>
              <a:rPr sz="2600" dirty="0">
                <a:latin typeface="Calibri"/>
                <a:cs typeface="Calibri"/>
              </a:rPr>
              <a:t>is</a:t>
            </a:r>
            <a:r>
              <a:rPr sz="2600" spc="-120" dirty="0">
                <a:latin typeface="Calibri"/>
                <a:cs typeface="Calibri"/>
              </a:rPr>
              <a:t> </a:t>
            </a:r>
            <a:r>
              <a:rPr sz="2600" spc="-5" dirty="0">
                <a:latin typeface="Calibri"/>
                <a:cs typeface="Calibri"/>
              </a:rPr>
              <a:t>precision.</a:t>
            </a:r>
            <a:endParaRPr sz="2600" dirty="0">
              <a:latin typeface="Calibri"/>
              <a:cs typeface="Calibri"/>
            </a:endParaRPr>
          </a:p>
          <a:p>
            <a:pPr marL="184785" indent="-172085">
              <a:lnSpc>
                <a:spcPts val="2810"/>
              </a:lnSpc>
              <a:spcBef>
                <a:spcPts val="384"/>
              </a:spcBef>
              <a:buFont typeface="Arial"/>
              <a:buChar char="•"/>
              <a:tabLst>
                <a:tab pos="185420" algn="l"/>
              </a:tabLst>
            </a:pPr>
            <a:r>
              <a:rPr sz="2600" spc="-10" dirty="0">
                <a:latin typeface="Calibri"/>
                <a:cs typeface="Calibri"/>
              </a:rPr>
              <a:t>Float </a:t>
            </a:r>
            <a:r>
              <a:rPr sz="2600" spc="-5" dirty="0">
                <a:latin typeface="Calibri"/>
                <a:cs typeface="Calibri"/>
              </a:rPr>
              <a:t>has single precision </a:t>
            </a:r>
            <a:r>
              <a:rPr sz="2600" spc="-10" dirty="0">
                <a:latin typeface="Calibri"/>
                <a:cs typeface="Calibri"/>
              </a:rPr>
              <a:t>float </a:t>
            </a:r>
            <a:r>
              <a:rPr sz="2600" spc="-15" dirty="0">
                <a:latin typeface="Calibri"/>
                <a:cs typeface="Calibri"/>
              </a:rPr>
              <a:t>data </a:t>
            </a:r>
            <a:r>
              <a:rPr sz="2600" dirty="0">
                <a:latin typeface="Calibri"/>
                <a:cs typeface="Calibri"/>
              </a:rPr>
              <a:t>type </a:t>
            </a:r>
            <a:r>
              <a:rPr sz="2600" spc="-5" dirty="0">
                <a:latin typeface="Calibri"/>
                <a:cs typeface="Calibri"/>
              </a:rPr>
              <a:t>(4 bytes; precision of </a:t>
            </a:r>
            <a:r>
              <a:rPr sz="2600" dirty="0">
                <a:latin typeface="Calibri"/>
                <a:cs typeface="Calibri"/>
              </a:rPr>
              <a:t>6 </a:t>
            </a:r>
            <a:r>
              <a:rPr sz="2600" spc="-5" dirty="0">
                <a:latin typeface="Calibri"/>
                <a:cs typeface="Calibri"/>
              </a:rPr>
              <a:t>digits)</a:t>
            </a:r>
            <a:r>
              <a:rPr sz="2600" spc="-15" dirty="0">
                <a:latin typeface="Calibri"/>
                <a:cs typeface="Calibri"/>
              </a:rPr>
              <a:t> </a:t>
            </a:r>
            <a:r>
              <a:rPr sz="2600" dirty="0">
                <a:latin typeface="Calibri"/>
                <a:cs typeface="Calibri"/>
              </a:rPr>
              <a:t>and</a:t>
            </a:r>
          </a:p>
          <a:p>
            <a:pPr marL="184785">
              <a:lnSpc>
                <a:spcPts val="2810"/>
              </a:lnSpc>
            </a:pPr>
            <a:r>
              <a:rPr sz="2600" spc="-5" dirty="0">
                <a:latin typeface="Calibri"/>
                <a:cs typeface="Calibri"/>
              </a:rPr>
              <a:t>double has double precision </a:t>
            </a:r>
            <a:r>
              <a:rPr sz="2600" spc="-10" dirty="0">
                <a:latin typeface="Calibri"/>
                <a:cs typeface="Calibri"/>
              </a:rPr>
              <a:t>float </a:t>
            </a:r>
            <a:r>
              <a:rPr sz="2600" spc="-15" dirty="0">
                <a:latin typeface="Calibri"/>
                <a:cs typeface="Calibri"/>
              </a:rPr>
              <a:t>data </a:t>
            </a:r>
            <a:r>
              <a:rPr sz="2600" dirty="0">
                <a:latin typeface="Calibri"/>
                <a:cs typeface="Calibri"/>
              </a:rPr>
              <a:t>type (8 </a:t>
            </a:r>
            <a:r>
              <a:rPr sz="2600" spc="-5" dirty="0">
                <a:latin typeface="Calibri"/>
                <a:cs typeface="Calibri"/>
              </a:rPr>
              <a:t>bytes; </a:t>
            </a:r>
            <a:r>
              <a:rPr sz="2600" dirty="0">
                <a:latin typeface="Calibri"/>
                <a:cs typeface="Calibri"/>
              </a:rPr>
              <a:t>14 </a:t>
            </a:r>
            <a:r>
              <a:rPr sz="2600" spc="-5" dirty="0">
                <a:latin typeface="Calibri"/>
                <a:cs typeface="Calibri"/>
              </a:rPr>
              <a:t>digits</a:t>
            </a:r>
            <a:r>
              <a:rPr sz="2600" spc="-30" dirty="0">
                <a:latin typeface="Calibri"/>
                <a:cs typeface="Calibri"/>
              </a:rPr>
              <a:t> </a:t>
            </a:r>
            <a:r>
              <a:rPr sz="2600" spc="-5" dirty="0">
                <a:latin typeface="Calibri"/>
                <a:cs typeface="Calibri"/>
              </a:rPr>
              <a:t>precision)</a:t>
            </a:r>
            <a:endParaRPr sz="2600" dirty="0">
              <a:latin typeface="Calibri"/>
              <a:cs typeface="Calibri"/>
            </a:endParaRPr>
          </a:p>
          <a:p>
            <a:pPr marL="12700">
              <a:lnSpc>
                <a:spcPct val="100000"/>
              </a:lnSpc>
              <a:spcBef>
                <a:spcPts val="375"/>
              </a:spcBef>
            </a:pPr>
            <a:r>
              <a:rPr sz="2600" b="1" spc="-5" dirty="0" smtClean="0">
                <a:latin typeface="Calibri"/>
                <a:cs typeface="Calibri"/>
              </a:rPr>
              <a:t>Character</a:t>
            </a:r>
            <a:r>
              <a:rPr sz="2600" b="1" spc="-114" dirty="0" smtClean="0">
                <a:latin typeface="Calibri"/>
                <a:cs typeface="Calibri"/>
              </a:rPr>
              <a:t> </a:t>
            </a:r>
            <a:r>
              <a:rPr sz="2600" b="1" dirty="0">
                <a:latin typeface="Calibri"/>
                <a:cs typeface="Calibri"/>
              </a:rPr>
              <a:t>types</a:t>
            </a:r>
          </a:p>
          <a:p>
            <a:pPr marL="184785" indent="-172085">
              <a:lnSpc>
                <a:spcPct val="100000"/>
              </a:lnSpc>
              <a:spcBef>
                <a:spcPts val="370"/>
              </a:spcBef>
              <a:buFont typeface="Arial"/>
              <a:buChar char="•"/>
              <a:tabLst>
                <a:tab pos="185420" algn="l"/>
              </a:tabLst>
            </a:pPr>
            <a:r>
              <a:rPr sz="2600" spc="-20" dirty="0">
                <a:latin typeface="Calibri"/>
                <a:cs typeface="Calibri"/>
              </a:rPr>
              <a:t>Key word </a:t>
            </a:r>
            <a:r>
              <a:rPr sz="2600" dirty="0">
                <a:latin typeface="Calibri"/>
                <a:cs typeface="Calibri"/>
              </a:rPr>
              <a:t>char is </a:t>
            </a:r>
            <a:r>
              <a:rPr sz="2600" spc="-5" dirty="0">
                <a:latin typeface="Calibri"/>
                <a:cs typeface="Calibri"/>
              </a:rPr>
              <a:t>used </a:t>
            </a:r>
            <a:r>
              <a:rPr sz="2600" spc="-25" dirty="0">
                <a:latin typeface="Calibri"/>
                <a:cs typeface="Calibri"/>
              </a:rPr>
              <a:t>for </a:t>
            </a:r>
            <a:r>
              <a:rPr sz="2600" spc="-5" dirty="0">
                <a:latin typeface="Calibri"/>
                <a:cs typeface="Calibri"/>
              </a:rPr>
              <a:t>declaring </a:t>
            </a:r>
            <a:r>
              <a:rPr sz="2600" spc="-10" dirty="0">
                <a:latin typeface="Calibri"/>
                <a:cs typeface="Calibri"/>
              </a:rPr>
              <a:t>character </a:t>
            </a:r>
            <a:r>
              <a:rPr sz="2600" dirty="0">
                <a:latin typeface="Calibri"/>
                <a:cs typeface="Calibri"/>
              </a:rPr>
              <a:t>type</a:t>
            </a:r>
            <a:r>
              <a:rPr sz="2600" spc="20" dirty="0">
                <a:latin typeface="Calibri"/>
                <a:cs typeface="Calibri"/>
              </a:rPr>
              <a:t> </a:t>
            </a:r>
            <a:r>
              <a:rPr sz="2600" spc="-5" dirty="0">
                <a:latin typeface="Calibri"/>
                <a:cs typeface="Calibri"/>
              </a:rPr>
              <a:t>variables.</a:t>
            </a:r>
            <a:endParaRPr sz="2600" dirty="0">
              <a:latin typeface="Calibri"/>
              <a:cs typeface="Calibri"/>
            </a:endParaRPr>
          </a:p>
          <a:p>
            <a:pPr marL="184785" indent="-172085">
              <a:lnSpc>
                <a:spcPts val="2935"/>
              </a:lnSpc>
              <a:spcBef>
                <a:spcPts val="384"/>
              </a:spcBef>
              <a:buFont typeface="Arial"/>
              <a:buChar char="•"/>
              <a:tabLst>
                <a:tab pos="185420" algn="l"/>
              </a:tabLst>
            </a:pPr>
            <a:r>
              <a:rPr sz="2600" spc="5" dirty="0">
                <a:latin typeface="Calibri"/>
                <a:cs typeface="Calibri"/>
              </a:rPr>
              <a:t>E.g. </a:t>
            </a:r>
            <a:r>
              <a:rPr sz="2600" dirty="0">
                <a:latin typeface="Calibri"/>
                <a:cs typeface="Calibri"/>
              </a:rPr>
              <a:t>char </a:t>
            </a:r>
            <a:r>
              <a:rPr sz="2600" spc="-5" dirty="0">
                <a:latin typeface="Calibri"/>
                <a:cs typeface="Calibri"/>
              </a:rPr>
              <a:t>test=‘h’; </a:t>
            </a:r>
            <a:r>
              <a:rPr sz="2600" spc="-10" dirty="0">
                <a:latin typeface="Calibri"/>
                <a:cs typeface="Calibri"/>
              </a:rPr>
              <a:t>here </a:t>
            </a:r>
            <a:r>
              <a:rPr sz="2600" spc="-15" dirty="0">
                <a:latin typeface="Calibri"/>
                <a:cs typeface="Calibri"/>
              </a:rPr>
              <a:t>test </a:t>
            </a:r>
            <a:r>
              <a:rPr sz="2600" dirty="0">
                <a:latin typeface="Calibri"/>
                <a:cs typeface="Calibri"/>
              </a:rPr>
              <a:t>is a </a:t>
            </a:r>
            <a:r>
              <a:rPr sz="2600" spc="-10" dirty="0">
                <a:latin typeface="Calibri"/>
                <a:cs typeface="Calibri"/>
              </a:rPr>
              <a:t>character </a:t>
            </a:r>
            <a:r>
              <a:rPr sz="2600" spc="-5" dirty="0">
                <a:latin typeface="Calibri"/>
                <a:cs typeface="Calibri"/>
              </a:rPr>
              <a:t>variable </a:t>
            </a:r>
            <a:r>
              <a:rPr sz="2600" dirty="0">
                <a:latin typeface="Calibri"/>
                <a:cs typeface="Calibri"/>
              </a:rPr>
              <a:t>and its </a:t>
            </a:r>
            <a:r>
              <a:rPr sz="2600" spc="-10" dirty="0">
                <a:latin typeface="Calibri"/>
                <a:cs typeface="Calibri"/>
              </a:rPr>
              <a:t>value </a:t>
            </a:r>
            <a:r>
              <a:rPr sz="2600" dirty="0">
                <a:latin typeface="Calibri"/>
                <a:cs typeface="Calibri"/>
              </a:rPr>
              <a:t>is</a:t>
            </a:r>
            <a:r>
              <a:rPr sz="2600" spc="-25" dirty="0">
                <a:latin typeface="Calibri"/>
                <a:cs typeface="Calibri"/>
              </a:rPr>
              <a:t> </a:t>
            </a:r>
            <a:r>
              <a:rPr sz="2600" dirty="0">
                <a:latin typeface="Calibri"/>
                <a:cs typeface="Calibri"/>
              </a:rPr>
              <a:t>‘h’</a:t>
            </a:r>
          </a:p>
          <a:p>
            <a:pPr marL="184785" indent="-172085">
              <a:lnSpc>
                <a:spcPts val="2780"/>
              </a:lnSpc>
              <a:buFont typeface="Arial"/>
              <a:buChar char="•"/>
              <a:tabLst>
                <a:tab pos="185420" algn="l"/>
              </a:tabLst>
            </a:pPr>
            <a:r>
              <a:rPr sz="2600" spc="-5" dirty="0">
                <a:latin typeface="Calibri"/>
                <a:cs typeface="Calibri"/>
              </a:rPr>
              <a:t>Other </a:t>
            </a:r>
            <a:r>
              <a:rPr sz="2600" dirty="0">
                <a:latin typeface="Calibri"/>
                <a:cs typeface="Calibri"/>
              </a:rPr>
              <a:t>types also</a:t>
            </a:r>
            <a:r>
              <a:rPr sz="2600" spc="-65" dirty="0">
                <a:latin typeface="Calibri"/>
                <a:cs typeface="Calibri"/>
              </a:rPr>
              <a:t> </a:t>
            </a:r>
            <a:r>
              <a:rPr sz="2600" spc="-15" dirty="0">
                <a:latin typeface="Calibri"/>
                <a:cs typeface="Calibri"/>
              </a:rPr>
              <a:t>exist</a:t>
            </a:r>
            <a:r>
              <a:rPr sz="2600" spc="-15" dirty="0" smtClean="0">
                <a:latin typeface="Calibri"/>
                <a:cs typeface="Calibri"/>
              </a:rPr>
              <a:t>.</a:t>
            </a:r>
            <a:endParaRPr lang="en-US" sz="2600" spc="-15" dirty="0" smtClean="0">
              <a:latin typeface="Calibri"/>
              <a:cs typeface="Calibri"/>
            </a:endParaRPr>
          </a:p>
          <a:p>
            <a:pPr marL="184785" indent="-172085">
              <a:lnSpc>
                <a:spcPts val="2780"/>
              </a:lnSpc>
              <a:buFont typeface="Arial"/>
              <a:buChar char="•"/>
              <a:tabLst>
                <a:tab pos="185420" algn="l"/>
              </a:tabLst>
            </a:pPr>
            <a:endParaRPr sz="2600" dirty="0">
              <a:latin typeface="Calibri"/>
              <a:cs typeface="Calibri"/>
            </a:endParaRPr>
          </a:p>
          <a:p>
            <a:pPr marL="184785" indent="-172085">
              <a:lnSpc>
                <a:spcPts val="2965"/>
              </a:lnSpc>
              <a:buFont typeface="Arial"/>
              <a:buChar char="•"/>
              <a:tabLst>
                <a:tab pos="185420" algn="l"/>
              </a:tabLst>
            </a:pPr>
            <a:r>
              <a:rPr sz="2600" b="1" i="1" u="heavy" spc="-10" dirty="0">
                <a:latin typeface="Calibri"/>
                <a:cs typeface="Calibri"/>
              </a:rPr>
              <a:t>READ </a:t>
            </a:r>
            <a:r>
              <a:rPr sz="2600" b="1" i="1" u="heavy" spc="-5" dirty="0">
                <a:latin typeface="Calibri"/>
                <a:cs typeface="Calibri"/>
              </a:rPr>
              <a:t>MORE </a:t>
            </a:r>
            <a:r>
              <a:rPr sz="2600" b="1" i="1" u="heavy" dirty="0">
                <a:latin typeface="Calibri"/>
                <a:cs typeface="Calibri"/>
              </a:rPr>
              <a:t>ABOUT </a:t>
            </a:r>
            <a:r>
              <a:rPr sz="2600" b="1" i="1" u="heavy" spc="-110" dirty="0">
                <a:latin typeface="Calibri"/>
                <a:cs typeface="Calibri"/>
              </a:rPr>
              <a:t>DATA </a:t>
            </a:r>
            <a:r>
              <a:rPr sz="2600" b="1" i="1" u="heavy" spc="-5" dirty="0">
                <a:latin typeface="Calibri"/>
                <a:cs typeface="Calibri"/>
              </a:rPr>
              <a:t>TYPES </a:t>
            </a:r>
            <a:r>
              <a:rPr sz="2600" b="1" i="1" u="heavy" dirty="0">
                <a:latin typeface="Calibri"/>
                <a:cs typeface="Calibri"/>
              </a:rPr>
              <a:t>IN</a:t>
            </a:r>
            <a:r>
              <a:rPr sz="2600" b="1" i="1" u="heavy" spc="-20" dirty="0">
                <a:latin typeface="Calibri"/>
                <a:cs typeface="Calibri"/>
              </a:rPr>
              <a:t> </a:t>
            </a:r>
            <a:r>
              <a:rPr sz="2600" b="1" i="1" u="heavy" dirty="0">
                <a:latin typeface="Calibri"/>
                <a:cs typeface="Calibri"/>
              </a:rPr>
              <a:t>C</a:t>
            </a:r>
            <a:endParaRPr sz="2600" dirty="0">
              <a:latin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a:t>
            </a:r>
            <a:r>
              <a:rPr spc="-95" dirty="0"/>
              <a:t> </a:t>
            </a:r>
            <a:r>
              <a:rPr spc="-25" dirty="0"/>
              <a:t>Variables</a:t>
            </a:r>
          </a:p>
        </p:txBody>
      </p:sp>
      <p:sp>
        <p:nvSpPr>
          <p:cNvPr id="3" name="object 3"/>
          <p:cNvSpPr txBox="1"/>
          <p:nvPr/>
        </p:nvSpPr>
        <p:spPr>
          <a:xfrm>
            <a:off x="916939" y="1805685"/>
            <a:ext cx="9946640" cy="4300220"/>
          </a:xfrm>
          <a:prstGeom prst="rect">
            <a:avLst/>
          </a:prstGeom>
        </p:spPr>
        <p:txBody>
          <a:bodyPr vert="horz" wrap="square" lIns="0" tIns="0" rIns="0" bIns="0" rtlCol="0">
            <a:spAutoFit/>
          </a:bodyPr>
          <a:lstStyle/>
          <a:p>
            <a:pPr marL="184785" indent="-172085">
              <a:lnSpc>
                <a:spcPts val="3190"/>
              </a:lnSpc>
              <a:buFont typeface="Arial"/>
              <a:buChar char="•"/>
              <a:tabLst>
                <a:tab pos="185420" algn="l"/>
              </a:tabLst>
            </a:pPr>
            <a:r>
              <a:rPr sz="2800" spc="-5" dirty="0">
                <a:latin typeface="Calibri"/>
                <a:cs typeface="Calibri"/>
              </a:rPr>
              <a:t>A </a:t>
            </a:r>
            <a:r>
              <a:rPr sz="2800" spc="-10" dirty="0">
                <a:latin typeface="Calibri"/>
                <a:cs typeface="Calibri"/>
              </a:rPr>
              <a:t>variable </a:t>
            </a:r>
            <a:r>
              <a:rPr sz="2800" spc="-15" dirty="0">
                <a:latin typeface="Calibri"/>
                <a:cs typeface="Calibri"/>
              </a:rPr>
              <a:t>is </a:t>
            </a:r>
            <a:r>
              <a:rPr sz="2800" spc="-10" dirty="0">
                <a:latin typeface="Calibri"/>
                <a:cs typeface="Calibri"/>
              </a:rPr>
              <a:t>nothing but </a:t>
            </a:r>
            <a:r>
              <a:rPr sz="2800" spc="-5" dirty="0">
                <a:latin typeface="Calibri"/>
                <a:cs typeface="Calibri"/>
              </a:rPr>
              <a:t>a </a:t>
            </a:r>
            <a:r>
              <a:rPr sz="2800" spc="-10" dirty="0">
                <a:latin typeface="Calibri"/>
                <a:cs typeface="Calibri"/>
              </a:rPr>
              <a:t>name given </a:t>
            </a:r>
            <a:r>
              <a:rPr sz="2800" spc="-15" dirty="0">
                <a:latin typeface="Calibri"/>
                <a:cs typeface="Calibri"/>
              </a:rPr>
              <a:t>to </a:t>
            </a:r>
            <a:r>
              <a:rPr sz="2800" spc="-5" dirty="0">
                <a:latin typeface="Calibri"/>
                <a:cs typeface="Calibri"/>
              </a:rPr>
              <a:t>a </a:t>
            </a:r>
            <a:r>
              <a:rPr sz="2800" spc="-25" dirty="0">
                <a:latin typeface="Calibri"/>
                <a:cs typeface="Calibri"/>
              </a:rPr>
              <a:t>storage </a:t>
            </a:r>
            <a:r>
              <a:rPr sz="2800" spc="-15" dirty="0">
                <a:latin typeface="Calibri"/>
                <a:cs typeface="Calibri"/>
              </a:rPr>
              <a:t>area </a:t>
            </a:r>
            <a:r>
              <a:rPr sz="2800" spc="-10" dirty="0">
                <a:latin typeface="Calibri"/>
                <a:cs typeface="Calibri"/>
              </a:rPr>
              <a:t>that</a:t>
            </a:r>
            <a:r>
              <a:rPr sz="2800" spc="229" dirty="0">
                <a:latin typeface="Calibri"/>
                <a:cs typeface="Calibri"/>
              </a:rPr>
              <a:t> </a:t>
            </a:r>
            <a:r>
              <a:rPr sz="2800" spc="-10" dirty="0">
                <a:latin typeface="Calibri"/>
                <a:cs typeface="Calibri"/>
              </a:rPr>
              <a:t>our</a:t>
            </a:r>
            <a:endParaRPr sz="2800">
              <a:latin typeface="Calibri"/>
              <a:cs typeface="Calibri"/>
            </a:endParaRPr>
          </a:p>
          <a:p>
            <a:pPr marL="184785">
              <a:lnSpc>
                <a:spcPts val="3190"/>
              </a:lnSpc>
            </a:pPr>
            <a:r>
              <a:rPr sz="2800" spc="-20" dirty="0">
                <a:latin typeface="Calibri"/>
                <a:cs typeface="Calibri"/>
              </a:rPr>
              <a:t>programs </a:t>
            </a:r>
            <a:r>
              <a:rPr sz="2800" spc="-10" dirty="0">
                <a:latin typeface="Calibri"/>
                <a:cs typeface="Calibri"/>
              </a:rPr>
              <a:t>can</a:t>
            </a:r>
            <a:r>
              <a:rPr sz="2800" spc="-30" dirty="0">
                <a:latin typeface="Calibri"/>
                <a:cs typeface="Calibri"/>
              </a:rPr>
              <a:t> </a:t>
            </a:r>
            <a:r>
              <a:rPr sz="2800" spc="-10" dirty="0">
                <a:latin typeface="Calibri"/>
                <a:cs typeface="Calibri"/>
              </a:rPr>
              <a:t>manipulate.</a:t>
            </a:r>
            <a:endParaRPr sz="2800">
              <a:latin typeface="Calibri"/>
              <a:cs typeface="Calibri"/>
            </a:endParaRPr>
          </a:p>
          <a:p>
            <a:pPr marL="184785" indent="-172085">
              <a:lnSpc>
                <a:spcPct val="100000"/>
              </a:lnSpc>
              <a:spcBef>
                <a:spcPts val="675"/>
              </a:spcBef>
              <a:buFont typeface="Arial"/>
              <a:buChar char="•"/>
              <a:tabLst>
                <a:tab pos="185420" algn="l"/>
              </a:tabLst>
            </a:pPr>
            <a:r>
              <a:rPr sz="2800" spc="-15" dirty="0">
                <a:latin typeface="Calibri"/>
                <a:cs typeface="Calibri"/>
              </a:rPr>
              <a:t>Each </a:t>
            </a:r>
            <a:r>
              <a:rPr sz="2800" spc="-10" dirty="0">
                <a:latin typeface="Calibri"/>
                <a:cs typeface="Calibri"/>
              </a:rPr>
              <a:t>variable </a:t>
            </a:r>
            <a:r>
              <a:rPr sz="2800" spc="-5" dirty="0">
                <a:latin typeface="Calibri"/>
                <a:cs typeface="Calibri"/>
              </a:rPr>
              <a:t>in C </a:t>
            </a:r>
            <a:r>
              <a:rPr sz="2800" spc="-10" dirty="0">
                <a:latin typeface="Calibri"/>
                <a:cs typeface="Calibri"/>
              </a:rPr>
              <a:t>has </a:t>
            </a:r>
            <a:r>
              <a:rPr sz="2800" spc="-5" dirty="0">
                <a:latin typeface="Calibri"/>
                <a:cs typeface="Calibri"/>
              </a:rPr>
              <a:t>a </a:t>
            </a:r>
            <a:r>
              <a:rPr sz="2800" spc="-10" dirty="0">
                <a:latin typeface="Calibri"/>
                <a:cs typeface="Calibri"/>
              </a:rPr>
              <a:t>specific </a:t>
            </a:r>
            <a:r>
              <a:rPr sz="2800" spc="-5" dirty="0">
                <a:latin typeface="Calibri"/>
                <a:cs typeface="Calibri"/>
              </a:rPr>
              <a:t>type, which</a:t>
            </a:r>
            <a:r>
              <a:rPr sz="2800" spc="100" dirty="0">
                <a:latin typeface="Calibri"/>
                <a:cs typeface="Calibri"/>
              </a:rPr>
              <a:t> </a:t>
            </a:r>
            <a:r>
              <a:rPr sz="2800" spc="-10" dirty="0">
                <a:latin typeface="Calibri"/>
                <a:cs typeface="Calibri"/>
              </a:rPr>
              <a:t>determines</a:t>
            </a:r>
            <a:endParaRPr sz="2800">
              <a:latin typeface="Calibri"/>
              <a:cs typeface="Calibri"/>
            </a:endParaRPr>
          </a:p>
          <a:p>
            <a:pPr marL="641985" lvl="1" indent="-172085">
              <a:lnSpc>
                <a:spcPct val="100000"/>
              </a:lnSpc>
              <a:spcBef>
                <a:spcPts val="229"/>
              </a:spcBef>
              <a:buFont typeface="Arial"/>
              <a:buChar char="•"/>
              <a:tabLst>
                <a:tab pos="642620" algn="l"/>
              </a:tabLst>
            </a:pPr>
            <a:r>
              <a:rPr sz="2400" dirty="0">
                <a:latin typeface="Calibri"/>
                <a:cs typeface="Calibri"/>
              </a:rPr>
              <a:t>the </a:t>
            </a:r>
            <a:r>
              <a:rPr sz="2400" spc="-15" dirty="0">
                <a:latin typeface="Calibri"/>
                <a:cs typeface="Calibri"/>
              </a:rPr>
              <a:t>size </a:t>
            </a:r>
            <a:r>
              <a:rPr sz="2400" dirty="0">
                <a:latin typeface="Calibri"/>
                <a:cs typeface="Calibri"/>
              </a:rPr>
              <a:t>and </a:t>
            </a:r>
            <a:r>
              <a:rPr sz="2400" spc="-15" dirty="0">
                <a:latin typeface="Calibri"/>
                <a:cs typeface="Calibri"/>
              </a:rPr>
              <a:t>layout </a:t>
            </a:r>
            <a:r>
              <a:rPr sz="2400" spc="-5" dirty="0">
                <a:latin typeface="Calibri"/>
                <a:cs typeface="Calibri"/>
              </a:rPr>
              <a:t>of </a:t>
            </a:r>
            <a:r>
              <a:rPr sz="2400" dirty="0">
                <a:latin typeface="Calibri"/>
                <a:cs typeface="Calibri"/>
              </a:rPr>
              <a:t>the </a:t>
            </a:r>
            <a:r>
              <a:rPr sz="2400" spc="-10" dirty="0">
                <a:latin typeface="Calibri"/>
                <a:cs typeface="Calibri"/>
              </a:rPr>
              <a:t>variable's</a:t>
            </a:r>
            <a:r>
              <a:rPr sz="2400" spc="-40" dirty="0">
                <a:latin typeface="Calibri"/>
                <a:cs typeface="Calibri"/>
              </a:rPr>
              <a:t> </a:t>
            </a:r>
            <a:r>
              <a:rPr sz="2400" dirty="0">
                <a:latin typeface="Calibri"/>
                <a:cs typeface="Calibri"/>
              </a:rPr>
              <a:t>memory;</a:t>
            </a:r>
            <a:endParaRPr sz="2400">
              <a:latin typeface="Calibri"/>
              <a:cs typeface="Calibri"/>
            </a:endParaRPr>
          </a:p>
          <a:p>
            <a:pPr marL="641985" lvl="1" indent="-172085">
              <a:lnSpc>
                <a:spcPct val="100000"/>
              </a:lnSpc>
              <a:spcBef>
                <a:spcPts val="215"/>
              </a:spcBef>
              <a:buFont typeface="Arial"/>
              <a:buChar char="•"/>
              <a:tabLst>
                <a:tab pos="642620" algn="l"/>
              </a:tabLst>
            </a:pPr>
            <a:r>
              <a:rPr sz="2400" dirty="0">
                <a:latin typeface="Calibri"/>
                <a:cs typeface="Calibri"/>
              </a:rPr>
              <a:t>the </a:t>
            </a:r>
            <a:r>
              <a:rPr sz="2400" spc="-15" dirty="0">
                <a:latin typeface="Calibri"/>
                <a:cs typeface="Calibri"/>
              </a:rPr>
              <a:t>range </a:t>
            </a:r>
            <a:r>
              <a:rPr sz="2400" spc="-5" dirty="0">
                <a:latin typeface="Calibri"/>
                <a:cs typeface="Calibri"/>
              </a:rPr>
              <a:t>of </a:t>
            </a:r>
            <a:r>
              <a:rPr sz="2400" spc="-10" dirty="0">
                <a:latin typeface="Calibri"/>
                <a:cs typeface="Calibri"/>
              </a:rPr>
              <a:t>values that can </a:t>
            </a:r>
            <a:r>
              <a:rPr sz="2400" spc="-5" dirty="0">
                <a:latin typeface="Calibri"/>
                <a:cs typeface="Calibri"/>
              </a:rPr>
              <a:t>be </a:t>
            </a:r>
            <a:r>
              <a:rPr sz="2400" spc="-20" dirty="0">
                <a:latin typeface="Calibri"/>
                <a:cs typeface="Calibri"/>
              </a:rPr>
              <a:t>stored </a:t>
            </a:r>
            <a:r>
              <a:rPr sz="2400" dirty="0">
                <a:latin typeface="Calibri"/>
                <a:cs typeface="Calibri"/>
              </a:rPr>
              <a:t>within </a:t>
            </a:r>
            <a:r>
              <a:rPr sz="2400" spc="-10" dirty="0">
                <a:latin typeface="Calibri"/>
                <a:cs typeface="Calibri"/>
              </a:rPr>
              <a:t>that </a:t>
            </a:r>
            <a:r>
              <a:rPr sz="2400" dirty="0">
                <a:latin typeface="Calibri"/>
                <a:cs typeface="Calibri"/>
              </a:rPr>
              <a:t>memory; and</a:t>
            </a:r>
            <a:endParaRPr sz="2400">
              <a:latin typeface="Calibri"/>
              <a:cs typeface="Calibri"/>
            </a:endParaRPr>
          </a:p>
          <a:p>
            <a:pPr marL="641985" lvl="1" indent="-172085">
              <a:lnSpc>
                <a:spcPct val="100000"/>
              </a:lnSpc>
              <a:spcBef>
                <a:spcPts val="215"/>
              </a:spcBef>
              <a:buFont typeface="Arial"/>
              <a:buChar char="•"/>
              <a:tabLst>
                <a:tab pos="642620" algn="l"/>
              </a:tabLst>
            </a:pPr>
            <a:r>
              <a:rPr sz="2400" dirty="0">
                <a:latin typeface="Calibri"/>
                <a:cs typeface="Calibri"/>
              </a:rPr>
              <a:t>the </a:t>
            </a:r>
            <a:r>
              <a:rPr sz="2400" spc="-10" dirty="0">
                <a:latin typeface="Calibri"/>
                <a:cs typeface="Calibri"/>
              </a:rPr>
              <a:t>set </a:t>
            </a:r>
            <a:r>
              <a:rPr sz="2400" spc="-5" dirty="0">
                <a:latin typeface="Calibri"/>
                <a:cs typeface="Calibri"/>
              </a:rPr>
              <a:t>of </a:t>
            </a:r>
            <a:r>
              <a:rPr sz="2400" spc="-10" dirty="0">
                <a:latin typeface="Calibri"/>
                <a:cs typeface="Calibri"/>
              </a:rPr>
              <a:t>operations that can </a:t>
            </a:r>
            <a:r>
              <a:rPr sz="2400" spc="-5" dirty="0">
                <a:latin typeface="Calibri"/>
                <a:cs typeface="Calibri"/>
              </a:rPr>
              <a:t>be </a:t>
            </a:r>
            <a:r>
              <a:rPr sz="2400" dirty="0">
                <a:latin typeface="Calibri"/>
                <a:cs typeface="Calibri"/>
              </a:rPr>
              <a:t>applied </a:t>
            </a:r>
            <a:r>
              <a:rPr sz="2400" spc="-15" dirty="0">
                <a:latin typeface="Calibri"/>
                <a:cs typeface="Calibri"/>
              </a:rPr>
              <a:t>to </a:t>
            </a:r>
            <a:r>
              <a:rPr sz="2400" dirty="0">
                <a:latin typeface="Calibri"/>
                <a:cs typeface="Calibri"/>
              </a:rPr>
              <a:t>the</a:t>
            </a:r>
            <a:r>
              <a:rPr sz="2400" spc="-20" dirty="0">
                <a:latin typeface="Calibri"/>
                <a:cs typeface="Calibri"/>
              </a:rPr>
              <a:t> </a:t>
            </a:r>
            <a:r>
              <a:rPr sz="2400" spc="-5" dirty="0">
                <a:latin typeface="Calibri"/>
                <a:cs typeface="Calibri"/>
              </a:rPr>
              <a:t>variable.</a:t>
            </a:r>
            <a:endParaRPr sz="2400">
              <a:latin typeface="Calibri"/>
              <a:cs typeface="Calibri"/>
            </a:endParaRPr>
          </a:p>
          <a:p>
            <a:pPr marL="184785" marR="261620" indent="-172085">
              <a:lnSpc>
                <a:spcPts val="3020"/>
              </a:lnSpc>
              <a:spcBef>
                <a:spcPts val="1015"/>
              </a:spcBef>
              <a:buFont typeface="Arial"/>
              <a:buChar char="•"/>
              <a:tabLst>
                <a:tab pos="185420" algn="l"/>
              </a:tabLst>
            </a:pPr>
            <a:r>
              <a:rPr sz="2800" spc="-10" dirty="0">
                <a:latin typeface="Calibri"/>
                <a:cs typeface="Calibri"/>
              </a:rPr>
              <a:t>The name </a:t>
            </a:r>
            <a:r>
              <a:rPr sz="2800" spc="-5" dirty="0">
                <a:latin typeface="Calibri"/>
                <a:cs typeface="Calibri"/>
              </a:rPr>
              <a:t>of a </a:t>
            </a:r>
            <a:r>
              <a:rPr sz="2800" spc="-10" dirty="0">
                <a:latin typeface="Calibri"/>
                <a:cs typeface="Calibri"/>
              </a:rPr>
              <a:t>variable can </a:t>
            </a:r>
            <a:r>
              <a:rPr sz="2800" spc="-5" dirty="0">
                <a:latin typeface="Calibri"/>
                <a:cs typeface="Calibri"/>
              </a:rPr>
              <a:t>be </a:t>
            </a:r>
            <a:r>
              <a:rPr sz="2800" spc="-10" dirty="0">
                <a:latin typeface="Calibri"/>
                <a:cs typeface="Calibri"/>
              </a:rPr>
              <a:t>composed </a:t>
            </a:r>
            <a:r>
              <a:rPr sz="2800" spc="-5" dirty="0">
                <a:latin typeface="Calibri"/>
                <a:cs typeface="Calibri"/>
              </a:rPr>
              <a:t>of </a:t>
            </a:r>
            <a:r>
              <a:rPr sz="2800" spc="-20" dirty="0">
                <a:latin typeface="Calibri"/>
                <a:cs typeface="Calibri"/>
              </a:rPr>
              <a:t>letters, </a:t>
            </a:r>
            <a:r>
              <a:rPr sz="2800" spc="-5" dirty="0">
                <a:latin typeface="Calibri"/>
                <a:cs typeface="Calibri"/>
              </a:rPr>
              <a:t>digits, and the  </a:t>
            </a:r>
            <a:r>
              <a:rPr sz="2800" spc="-20" dirty="0">
                <a:latin typeface="Calibri"/>
                <a:cs typeface="Calibri"/>
              </a:rPr>
              <a:t>underscore</a:t>
            </a:r>
            <a:r>
              <a:rPr sz="2800" spc="-10" dirty="0">
                <a:latin typeface="Calibri"/>
                <a:cs typeface="Calibri"/>
              </a:rPr>
              <a:t> </a:t>
            </a:r>
            <a:r>
              <a:rPr sz="2800" spc="-40" dirty="0">
                <a:latin typeface="Calibri"/>
                <a:cs typeface="Calibri"/>
              </a:rPr>
              <a:t>character.</a:t>
            </a:r>
            <a:endParaRPr sz="2800">
              <a:latin typeface="Calibri"/>
              <a:cs typeface="Calibri"/>
            </a:endParaRPr>
          </a:p>
          <a:p>
            <a:pPr marL="641985" lvl="1" indent="-172085">
              <a:lnSpc>
                <a:spcPct val="100000"/>
              </a:lnSpc>
              <a:spcBef>
                <a:spcPts val="200"/>
              </a:spcBef>
              <a:buFont typeface="Arial"/>
              <a:buChar char="•"/>
              <a:tabLst>
                <a:tab pos="642620" algn="l"/>
              </a:tabLst>
            </a:pPr>
            <a:r>
              <a:rPr sz="2400" dirty="0">
                <a:latin typeface="Calibri"/>
                <a:cs typeface="Calibri"/>
              </a:rPr>
              <a:t>It </a:t>
            </a:r>
            <a:r>
              <a:rPr sz="2400" spc="-10" dirty="0">
                <a:latin typeface="Calibri"/>
                <a:cs typeface="Calibri"/>
              </a:rPr>
              <a:t>must </a:t>
            </a:r>
            <a:r>
              <a:rPr sz="2400" spc="-5" dirty="0">
                <a:latin typeface="Calibri"/>
                <a:cs typeface="Calibri"/>
              </a:rPr>
              <a:t>begin with </a:t>
            </a:r>
            <a:r>
              <a:rPr sz="2400" dirty="0">
                <a:latin typeface="Calibri"/>
                <a:cs typeface="Calibri"/>
              </a:rPr>
              <a:t>either a </a:t>
            </a:r>
            <a:r>
              <a:rPr sz="2400" spc="-15" dirty="0">
                <a:latin typeface="Calibri"/>
                <a:cs typeface="Calibri"/>
              </a:rPr>
              <a:t>letter </a:t>
            </a:r>
            <a:r>
              <a:rPr sz="2400" spc="-5" dirty="0">
                <a:latin typeface="Calibri"/>
                <a:cs typeface="Calibri"/>
              </a:rPr>
              <a:t>or </a:t>
            </a:r>
            <a:r>
              <a:rPr sz="2400" dirty="0">
                <a:latin typeface="Calibri"/>
                <a:cs typeface="Calibri"/>
              </a:rPr>
              <a:t>an</a:t>
            </a:r>
            <a:r>
              <a:rPr sz="2400" spc="-55" dirty="0">
                <a:latin typeface="Calibri"/>
                <a:cs typeface="Calibri"/>
              </a:rPr>
              <a:t> </a:t>
            </a:r>
            <a:r>
              <a:rPr sz="2400" spc="-15" dirty="0">
                <a:latin typeface="Calibri"/>
                <a:cs typeface="Calibri"/>
              </a:rPr>
              <a:t>underscore.</a:t>
            </a:r>
            <a:endParaRPr sz="2400">
              <a:latin typeface="Calibri"/>
              <a:cs typeface="Calibri"/>
            </a:endParaRPr>
          </a:p>
          <a:p>
            <a:pPr marL="184785" indent="-172085">
              <a:lnSpc>
                <a:spcPct val="100000"/>
              </a:lnSpc>
              <a:spcBef>
                <a:spcPts val="635"/>
              </a:spcBef>
              <a:buFont typeface="Arial"/>
              <a:buChar char="•"/>
              <a:tabLst>
                <a:tab pos="185420" algn="l"/>
              </a:tabLst>
            </a:pPr>
            <a:r>
              <a:rPr sz="2800" spc="-5" dirty="0">
                <a:latin typeface="Calibri"/>
                <a:cs typeface="Calibri"/>
              </a:rPr>
              <a:t>Upper and </a:t>
            </a:r>
            <a:r>
              <a:rPr sz="2800" spc="-15" dirty="0">
                <a:latin typeface="Calibri"/>
                <a:cs typeface="Calibri"/>
              </a:rPr>
              <a:t>lowercase </a:t>
            </a:r>
            <a:r>
              <a:rPr sz="2800" spc="-25" dirty="0">
                <a:latin typeface="Calibri"/>
                <a:cs typeface="Calibri"/>
              </a:rPr>
              <a:t>letters </a:t>
            </a:r>
            <a:r>
              <a:rPr sz="2800" spc="-15" dirty="0">
                <a:latin typeface="Calibri"/>
                <a:cs typeface="Calibri"/>
              </a:rPr>
              <a:t>are distinct </a:t>
            </a:r>
            <a:r>
              <a:rPr sz="2800" spc="-10" dirty="0">
                <a:latin typeface="Calibri"/>
                <a:cs typeface="Calibri"/>
              </a:rPr>
              <a:t>because </a:t>
            </a:r>
            <a:r>
              <a:rPr sz="2800" spc="-5" dirty="0">
                <a:latin typeface="Calibri"/>
                <a:cs typeface="Calibri"/>
              </a:rPr>
              <a:t>C is</a:t>
            </a:r>
            <a:r>
              <a:rPr sz="2800" spc="250" dirty="0">
                <a:latin typeface="Calibri"/>
                <a:cs typeface="Calibri"/>
              </a:rPr>
              <a:t> </a:t>
            </a:r>
            <a:r>
              <a:rPr sz="2800" spc="-10" dirty="0">
                <a:latin typeface="Calibri"/>
                <a:cs typeface="Calibri"/>
              </a:rPr>
              <a:t>case-sensitive.</a:t>
            </a:r>
            <a:endParaRPr sz="2800">
              <a:latin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321436"/>
            <a:ext cx="5288915" cy="670560"/>
          </a:xfrm>
          <a:prstGeom prst="rect">
            <a:avLst/>
          </a:prstGeom>
        </p:spPr>
        <p:txBody>
          <a:bodyPr vert="horz" wrap="square" lIns="0" tIns="0" rIns="0" bIns="0" rtlCol="0">
            <a:spAutoFit/>
          </a:bodyPr>
          <a:lstStyle/>
          <a:p>
            <a:pPr marL="12700">
              <a:lnSpc>
                <a:spcPct val="100000"/>
              </a:lnSpc>
            </a:pPr>
            <a:r>
              <a:rPr spc="-30" dirty="0"/>
              <a:t>Variable </a:t>
            </a:r>
            <a:r>
              <a:rPr spc="-5" dirty="0"/>
              <a:t>Definition </a:t>
            </a:r>
            <a:r>
              <a:rPr dirty="0"/>
              <a:t>in</a:t>
            </a:r>
            <a:r>
              <a:rPr spc="-10" dirty="0"/>
              <a:t> </a:t>
            </a:r>
            <a:r>
              <a:rPr spc="-5" dirty="0"/>
              <a:t>C:</a:t>
            </a:r>
          </a:p>
        </p:txBody>
      </p:sp>
      <p:sp>
        <p:nvSpPr>
          <p:cNvPr id="3" name="object 3"/>
          <p:cNvSpPr txBox="1"/>
          <p:nvPr/>
        </p:nvSpPr>
        <p:spPr>
          <a:xfrm>
            <a:off x="916939" y="1347342"/>
            <a:ext cx="10262870" cy="3448050"/>
          </a:xfrm>
          <a:prstGeom prst="rect">
            <a:avLst/>
          </a:prstGeom>
        </p:spPr>
        <p:txBody>
          <a:bodyPr vert="horz" wrap="square" lIns="0" tIns="0" rIns="0" bIns="0" rtlCol="0">
            <a:spAutoFit/>
          </a:bodyPr>
          <a:lstStyle/>
          <a:p>
            <a:pPr marL="184785" marR="81280" indent="-172085">
              <a:lnSpc>
                <a:spcPts val="3020"/>
              </a:lnSpc>
              <a:buFont typeface="Arial"/>
              <a:buChar char="•"/>
              <a:tabLst>
                <a:tab pos="185420" algn="l"/>
              </a:tabLst>
            </a:pPr>
            <a:r>
              <a:rPr sz="2800" spc="-5" dirty="0">
                <a:latin typeface="Calibri"/>
                <a:cs typeface="Calibri"/>
              </a:rPr>
              <a:t>A </a:t>
            </a:r>
            <a:r>
              <a:rPr sz="2800" spc="-10" dirty="0">
                <a:latin typeface="Calibri"/>
                <a:cs typeface="Calibri"/>
              </a:rPr>
              <a:t>variable definition </a:t>
            </a:r>
            <a:r>
              <a:rPr sz="2800" spc="-5" dirty="0">
                <a:latin typeface="Calibri"/>
                <a:cs typeface="Calibri"/>
              </a:rPr>
              <a:t>means </a:t>
            </a:r>
            <a:r>
              <a:rPr sz="2800" spc="-15" dirty="0">
                <a:latin typeface="Calibri"/>
                <a:cs typeface="Calibri"/>
              </a:rPr>
              <a:t>to </a:t>
            </a:r>
            <a:r>
              <a:rPr sz="2800" spc="-10" dirty="0">
                <a:latin typeface="Calibri"/>
                <a:cs typeface="Calibri"/>
              </a:rPr>
              <a:t>tell </a:t>
            </a:r>
            <a:r>
              <a:rPr sz="2800" spc="-5" dirty="0">
                <a:latin typeface="Calibri"/>
                <a:cs typeface="Calibri"/>
              </a:rPr>
              <a:t>the </a:t>
            </a:r>
            <a:r>
              <a:rPr sz="2800" spc="-10" dirty="0">
                <a:latin typeface="Calibri"/>
                <a:cs typeface="Calibri"/>
              </a:rPr>
              <a:t>compiler where </a:t>
            </a:r>
            <a:r>
              <a:rPr sz="2800" spc="-5" dirty="0">
                <a:latin typeface="Calibri"/>
                <a:cs typeface="Calibri"/>
              </a:rPr>
              <a:t>and </a:t>
            </a:r>
            <a:r>
              <a:rPr sz="2800" spc="-10" dirty="0">
                <a:latin typeface="Calibri"/>
                <a:cs typeface="Calibri"/>
              </a:rPr>
              <a:t>how </a:t>
            </a:r>
            <a:r>
              <a:rPr sz="2800" spc="-5" dirty="0">
                <a:latin typeface="Calibri"/>
                <a:cs typeface="Calibri"/>
              </a:rPr>
              <a:t>much  </a:t>
            </a:r>
            <a:r>
              <a:rPr sz="2800" spc="-15" dirty="0">
                <a:latin typeface="Calibri"/>
                <a:cs typeface="Calibri"/>
              </a:rPr>
              <a:t>to create </a:t>
            </a:r>
            <a:r>
              <a:rPr sz="2800" spc="-5" dirty="0">
                <a:latin typeface="Calibri"/>
                <a:cs typeface="Calibri"/>
              </a:rPr>
              <a:t>the </a:t>
            </a:r>
            <a:r>
              <a:rPr sz="2800" spc="-25" dirty="0">
                <a:latin typeface="Calibri"/>
                <a:cs typeface="Calibri"/>
              </a:rPr>
              <a:t>storage for </a:t>
            </a:r>
            <a:r>
              <a:rPr sz="2800" spc="-5" dirty="0">
                <a:latin typeface="Calibri"/>
                <a:cs typeface="Calibri"/>
              </a:rPr>
              <a:t>the</a:t>
            </a:r>
            <a:r>
              <a:rPr sz="2800" spc="25" dirty="0">
                <a:latin typeface="Calibri"/>
                <a:cs typeface="Calibri"/>
              </a:rPr>
              <a:t> </a:t>
            </a:r>
            <a:r>
              <a:rPr sz="2800" spc="-10" dirty="0">
                <a:latin typeface="Calibri"/>
                <a:cs typeface="Calibri"/>
              </a:rPr>
              <a:t>variable.</a:t>
            </a:r>
            <a:endParaRPr sz="2800">
              <a:latin typeface="Calibri"/>
              <a:cs typeface="Calibri"/>
            </a:endParaRPr>
          </a:p>
          <a:p>
            <a:pPr marL="184785" indent="-172085">
              <a:lnSpc>
                <a:spcPts val="3195"/>
              </a:lnSpc>
              <a:spcBef>
                <a:spcPts val="625"/>
              </a:spcBef>
              <a:buFont typeface="Arial"/>
              <a:buChar char="•"/>
              <a:tabLst>
                <a:tab pos="185420" algn="l"/>
                <a:tab pos="8433435" algn="l"/>
              </a:tabLst>
            </a:pPr>
            <a:r>
              <a:rPr sz="2800" spc="-5" dirty="0">
                <a:latin typeface="Calibri"/>
                <a:cs typeface="Calibri"/>
              </a:rPr>
              <a:t>A </a:t>
            </a:r>
            <a:r>
              <a:rPr sz="2800" spc="-10" dirty="0">
                <a:latin typeface="Calibri"/>
                <a:cs typeface="Calibri"/>
              </a:rPr>
              <a:t>variable definition </a:t>
            </a:r>
            <a:r>
              <a:rPr sz="2800" spc="-5" dirty="0">
                <a:latin typeface="Calibri"/>
                <a:cs typeface="Calibri"/>
              </a:rPr>
              <a:t>specifies a </a:t>
            </a:r>
            <a:r>
              <a:rPr sz="2800" spc="-20" dirty="0">
                <a:latin typeface="Calibri"/>
                <a:cs typeface="Calibri"/>
              </a:rPr>
              <a:t>data </a:t>
            </a:r>
            <a:r>
              <a:rPr sz="2800" spc="-5" dirty="0">
                <a:latin typeface="Calibri"/>
                <a:cs typeface="Calibri"/>
              </a:rPr>
              <a:t>type and</a:t>
            </a:r>
            <a:r>
              <a:rPr sz="2800" spc="165" dirty="0">
                <a:latin typeface="Calibri"/>
                <a:cs typeface="Calibri"/>
              </a:rPr>
              <a:t> </a:t>
            </a:r>
            <a:r>
              <a:rPr sz="2800" spc="-15" dirty="0">
                <a:latin typeface="Calibri"/>
                <a:cs typeface="Calibri"/>
              </a:rPr>
              <a:t>contains</a:t>
            </a:r>
            <a:r>
              <a:rPr sz="2800" spc="25" dirty="0">
                <a:latin typeface="Calibri"/>
                <a:cs typeface="Calibri"/>
              </a:rPr>
              <a:t> </a:t>
            </a:r>
            <a:r>
              <a:rPr sz="2800" spc="-5" dirty="0">
                <a:latin typeface="Calibri"/>
                <a:cs typeface="Calibri"/>
              </a:rPr>
              <a:t>a	</a:t>
            </a:r>
            <a:r>
              <a:rPr sz="2800" spc="-15" dirty="0">
                <a:latin typeface="Calibri"/>
                <a:cs typeface="Calibri"/>
              </a:rPr>
              <a:t>list </a:t>
            </a:r>
            <a:r>
              <a:rPr sz="2800" spc="-5" dirty="0">
                <a:latin typeface="Calibri"/>
                <a:cs typeface="Calibri"/>
              </a:rPr>
              <a:t>of one</a:t>
            </a:r>
            <a:r>
              <a:rPr sz="2800" spc="-45" dirty="0">
                <a:latin typeface="Calibri"/>
                <a:cs typeface="Calibri"/>
              </a:rPr>
              <a:t> </a:t>
            </a:r>
            <a:r>
              <a:rPr sz="2800" spc="-10" dirty="0">
                <a:latin typeface="Calibri"/>
                <a:cs typeface="Calibri"/>
              </a:rPr>
              <a:t>or</a:t>
            </a:r>
            <a:endParaRPr sz="2800">
              <a:latin typeface="Calibri"/>
              <a:cs typeface="Calibri"/>
            </a:endParaRPr>
          </a:p>
          <a:p>
            <a:pPr marL="184785">
              <a:lnSpc>
                <a:spcPts val="3195"/>
              </a:lnSpc>
            </a:pPr>
            <a:r>
              <a:rPr sz="2800" spc="-15" dirty="0">
                <a:latin typeface="Calibri"/>
                <a:cs typeface="Calibri"/>
              </a:rPr>
              <a:t>more </a:t>
            </a:r>
            <a:r>
              <a:rPr sz="2800" spc="-10" dirty="0">
                <a:latin typeface="Calibri"/>
                <a:cs typeface="Calibri"/>
              </a:rPr>
              <a:t>variables </a:t>
            </a:r>
            <a:r>
              <a:rPr sz="2800" spc="-5" dirty="0">
                <a:latin typeface="Calibri"/>
                <a:cs typeface="Calibri"/>
              </a:rPr>
              <a:t>of </a:t>
            </a:r>
            <a:r>
              <a:rPr sz="2800" spc="-10" dirty="0">
                <a:latin typeface="Calibri"/>
                <a:cs typeface="Calibri"/>
              </a:rPr>
              <a:t>that </a:t>
            </a:r>
            <a:r>
              <a:rPr sz="2800" spc="-5" dirty="0">
                <a:latin typeface="Calibri"/>
                <a:cs typeface="Calibri"/>
              </a:rPr>
              <a:t>type </a:t>
            </a:r>
            <a:r>
              <a:rPr sz="2800" dirty="0">
                <a:latin typeface="Calibri"/>
                <a:cs typeface="Calibri"/>
              </a:rPr>
              <a:t>as</a:t>
            </a:r>
            <a:r>
              <a:rPr sz="2800" spc="30" dirty="0">
                <a:latin typeface="Calibri"/>
                <a:cs typeface="Calibri"/>
              </a:rPr>
              <a:t> </a:t>
            </a:r>
            <a:r>
              <a:rPr sz="2800" spc="-20" dirty="0">
                <a:latin typeface="Calibri"/>
                <a:cs typeface="Calibri"/>
              </a:rPr>
              <a:t>follows:</a:t>
            </a:r>
            <a:endParaRPr sz="2800">
              <a:latin typeface="Calibri"/>
              <a:cs typeface="Calibri"/>
            </a:endParaRPr>
          </a:p>
          <a:p>
            <a:pPr marL="184785" indent="-172085">
              <a:lnSpc>
                <a:spcPct val="100000"/>
              </a:lnSpc>
              <a:spcBef>
                <a:spcPts val="660"/>
              </a:spcBef>
              <a:buFont typeface="Arial"/>
              <a:buChar char="•"/>
              <a:tabLst>
                <a:tab pos="185420" algn="l"/>
              </a:tabLst>
            </a:pPr>
            <a:r>
              <a:rPr sz="2800" spc="-10" dirty="0">
                <a:latin typeface="Calibri"/>
                <a:cs typeface="Calibri"/>
              </a:rPr>
              <a:t>type</a:t>
            </a:r>
            <a:r>
              <a:rPr sz="2800" spc="-60" dirty="0">
                <a:latin typeface="Calibri"/>
                <a:cs typeface="Calibri"/>
              </a:rPr>
              <a:t> </a:t>
            </a:r>
            <a:r>
              <a:rPr sz="2800" spc="-10" dirty="0">
                <a:latin typeface="Calibri"/>
                <a:cs typeface="Calibri"/>
              </a:rPr>
              <a:t>variable_list;</a:t>
            </a:r>
            <a:endParaRPr sz="2800">
              <a:latin typeface="Calibri"/>
              <a:cs typeface="Calibri"/>
            </a:endParaRPr>
          </a:p>
          <a:p>
            <a:pPr marL="184785" marR="490220" indent="-172085" algn="just">
              <a:lnSpc>
                <a:spcPct val="90000"/>
              </a:lnSpc>
              <a:spcBef>
                <a:spcPts val="994"/>
              </a:spcBef>
              <a:buFont typeface="Arial"/>
              <a:buChar char="•"/>
              <a:tabLst>
                <a:tab pos="185420" algn="l"/>
              </a:tabLst>
            </a:pPr>
            <a:r>
              <a:rPr sz="2800" spc="-5" dirty="0">
                <a:latin typeface="Calibri"/>
                <a:cs typeface="Calibri"/>
              </a:rPr>
              <a:t>The </a:t>
            </a:r>
            <a:r>
              <a:rPr sz="2800" spc="-10" dirty="0">
                <a:latin typeface="Calibri"/>
                <a:cs typeface="Calibri"/>
              </a:rPr>
              <a:t>line </a:t>
            </a:r>
            <a:r>
              <a:rPr sz="2800" spc="-15" dirty="0">
                <a:latin typeface="Calibri"/>
                <a:cs typeface="Calibri"/>
              </a:rPr>
              <a:t>int </a:t>
            </a:r>
            <a:r>
              <a:rPr sz="2800" spc="-10" dirty="0">
                <a:latin typeface="Calibri"/>
                <a:cs typeface="Calibri"/>
              </a:rPr>
              <a:t>i, </a:t>
            </a:r>
            <a:r>
              <a:rPr sz="2800" spc="-5" dirty="0">
                <a:latin typeface="Calibri"/>
                <a:cs typeface="Calibri"/>
              </a:rPr>
              <a:t>j, k; </a:t>
            </a:r>
            <a:r>
              <a:rPr sz="2800" spc="-10" dirty="0">
                <a:latin typeface="Calibri"/>
                <a:cs typeface="Calibri"/>
              </a:rPr>
              <a:t>both declares </a:t>
            </a:r>
            <a:r>
              <a:rPr sz="2800" spc="-5" dirty="0">
                <a:latin typeface="Calibri"/>
                <a:cs typeface="Calibri"/>
              </a:rPr>
              <a:t>and </a:t>
            </a:r>
            <a:r>
              <a:rPr sz="2800" spc="-10" dirty="0">
                <a:latin typeface="Calibri"/>
                <a:cs typeface="Calibri"/>
              </a:rPr>
              <a:t>defines </a:t>
            </a:r>
            <a:r>
              <a:rPr sz="2800" spc="-5" dirty="0">
                <a:latin typeface="Calibri"/>
                <a:cs typeface="Calibri"/>
              </a:rPr>
              <a:t>the </a:t>
            </a:r>
            <a:r>
              <a:rPr sz="2800" spc="-10" dirty="0">
                <a:latin typeface="Calibri"/>
                <a:cs typeface="Calibri"/>
              </a:rPr>
              <a:t>variables i, </a:t>
            </a:r>
            <a:r>
              <a:rPr sz="2800" spc="-5" dirty="0">
                <a:latin typeface="Calibri"/>
                <a:cs typeface="Calibri"/>
              </a:rPr>
              <a:t>j and k;  which </a:t>
            </a:r>
            <a:r>
              <a:rPr sz="2800" spc="-10" dirty="0">
                <a:latin typeface="Calibri"/>
                <a:cs typeface="Calibri"/>
              </a:rPr>
              <a:t>instructs </a:t>
            </a:r>
            <a:r>
              <a:rPr sz="2800" spc="-5" dirty="0">
                <a:latin typeface="Calibri"/>
                <a:cs typeface="Calibri"/>
              </a:rPr>
              <a:t>the </a:t>
            </a:r>
            <a:r>
              <a:rPr sz="2800" spc="-10" dirty="0">
                <a:latin typeface="Calibri"/>
                <a:cs typeface="Calibri"/>
              </a:rPr>
              <a:t>compiler </a:t>
            </a:r>
            <a:r>
              <a:rPr sz="2800" spc="-15" dirty="0">
                <a:latin typeface="Calibri"/>
                <a:cs typeface="Calibri"/>
              </a:rPr>
              <a:t>to create </a:t>
            </a:r>
            <a:r>
              <a:rPr sz="2800" spc="-10" dirty="0">
                <a:latin typeface="Calibri"/>
                <a:cs typeface="Calibri"/>
              </a:rPr>
              <a:t>variables named i, </a:t>
            </a:r>
            <a:r>
              <a:rPr sz="2800" spc="-5" dirty="0">
                <a:latin typeface="Calibri"/>
                <a:cs typeface="Calibri"/>
              </a:rPr>
              <a:t>j and k </a:t>
            </a:r>
            <a:r>
              <a:rPr sz="2800" spc="-10" dirty="0">
                <a:latin typeface="Calibri"/>
                <a:cs typeface="Calibri"/>
              </a:rPr>
              <a:t>of  type</a:t>
            </a:r>
            <a:r>
              <a:rPr sz="2800" spc="-60" dirty="0">
                <a:latin typeface="Calibri"/>
                <a:cs typeface="Calibri"/>
              </a:rPr>
              <a:t> </a:t>
            </a:r>
            <a:r>
              <a:rPr sz="2800" spc="-15" dirty="0">
                <a:latin typeface="Calibri"/>
                <a:cs typeface="Calibri"/>
              </a:rPr>
              <a:t>int.</a:t>
            </a:r>
            <a:endParaRPr sz="2800">
              <a:latin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0" dirty="0"/>
              <a:t>Variable</a:t>
            </a:r>
            <a:r>
              <a:rPr spc="-65" dirty="0"/>
              <a:t> </a:t>
            </a:r>
            <a:r>
              <a:rPr spc="-5" dirty="0"/>
              <a:t>Initialisation</a:t>
            </a:r>
          </a:p>
        </p:txBody>
      </p:sp>
      <p:sp>
        <p:nvSpPr>
          <p:cNvPr id="3" name="object 3"/>
          <p:cNvSpPr txBox="1"/>
          <p:nvPr/>
        </p:nvSpPr>
        <p:spPr>
          <a:xfrm>
            <a:off x="916939" y="1805685"/>
            <a:ext cx="10164445" cy="3890010"/>
          </a:xfrm>
          <a:prstGeom prst="rect">
            <a:avLst/>
          </a:prstGeom>
        </p:spPr>
        <p:txBody>
          <a:bodyPr vert="horz" wrap="square" lIns="0" tIns="0" rIns="0" bIns="0" rtlCol="0">
            <a:spAutoFit/>
          </a:bodyPr>
          <a:lstStyle/>
          <a:p>
            <a:pPr marL="184785" indent="-172085">
              <a:lnSpc>
                <a:spcPts val="3190"/>
              </a:lnSpc>
              <a:buFont typeface="Arial"/>
              <a:buChar char="•"/>
              <a:tabLst>
                <a:tab pos="185420" algn="l"/>
              </a:tabLst>
            </a:pPr>
            <a:r>
              <a:rPr sz="2800" spc="-25" dirty="0">
                <a:latin typeface="Calibri"/>
                <a:cs typeface="Calibri"/>
              </a:rPr>
              <a:t>Variables </a:t>
            </a:r>
            <a:r>
              <a:rPr sz="2800" spc="-10" dirty="0">
                <a:latin typeface="Calibri"/>
                <a:cs typeface="Calibri"/>
              </a:rPr>
              <a:t>can </a:t>
            </a:r>
            <a:r>
              <a:rPr sz="2800" spc="-5" dirty="0">
                <a:latin typeface="Calibri"/>
                <a:cs typeface="Calibri"/>
              </a:rPr>
              <a:t>be </a:t>
            </a:r>
            <a:r>
              <a:rPr sz="2800" spc="-15" dirty="0">
                <a:latin typeface="Calibri"/>
                <a:cs typeface="Calibri"/>
              </a:rPr>
              <a:t>initialized </a:t>
            </a:r>
            <a:r>
              <a:rPr sz="2800" spc="-5" dirty="0">
                <a:latin typeface="Calibri"/>
                <a:cs typeface="Calibri"/>
              </a:rPr>
              <a:t>(assigned an </a:t>
            </a:r>
            <a:r>
              <a:rPr sz="2800" spc="-10" dirty="0">
                <a:latin typeface="Calibri"/>
                <a:cs typeface="Calibri"/>
              </a:rPr>
              <a:t>initial value) </a:t>
            </a:r>
            <a:r>
              <a:rPr sz="2800" spc="-5" dirty="0">
                <a:latin typeface="Calibri"/>
                <a:cs typeface="Calibri"/>
              </a:rPr>
              <a:t>in</a:t>
            </a:r>
            <a:r>
              <a:rPr sz="2800" spc="195" dirty="0">
                <a:latin typeface="Calibri"/>
                <a:cs typeface="Calibri"/>
              </a:rPr>
              <a:t> </a:t>
            </a:r>
            <a:r>
              <a:rPr sz="2800" spc="-5" dirty="0">
                <a:latin typeface="Calibri"/>
                <a:cs typeface="Calibri"/>
              </a:rPr>
              <a:t>their</a:t>
            </a:r>
            <a:endParaRPr sz="2800">
              <a:latin typeface="Calibri"/>
              <a:cs typeface="Calibri"/>
            </a:endParaRPr>
          </a:p>
          <a:p>
            <a:pPr marL="184785">
              <a:lnSpc>
                <a:spcPts val="3190"/>
              </a:lnSpc>
            </a:pPr>
            <a:r>
              <a:rPr sz="2800" spc="-15" dirty="0">
                <a:latin typeface="Calibri"/>
                <a:cs typeface="Calibri"/>
              </a:rPr>
              <a:t>declaration.</a:t>
            </a:r>
            <a:endParaRPr sz="2800">
              <a:latin typeface="Calibri"/>
              <a:cs typeface="Calibri"/>
            </a:endParaRPr>
          </a:p>
          <a:p>
            <a:pPr marL="184785" marR="1140460" indent="-172085">
              <a:lnSpc>
                <a:spcPts val="3020"/>
              </a:lnSpc>
              <a:spcBef>
                <a:spcPts val="1055"/>
              </a:spcBef>
              <a:buFont typeface="Arial"/>
              <a:buChar char="•"/>
              <a:tabLst>
                <a:tab pos="185420" algn="l"/>
              </a:tabLst>
            </a:pPr>
            <a:r>
              <a:rPr sz="2800" spc="-10" dirty="0">
                <a:latin typeface="Calibri"/>
                <a:cs typeface="Calibri"/>
              </a:rPr>
              <a:t>The initializer </a:t>
            </a:r>
            <a:r>
              <a:rPr sz="2800" spc="-15" dirty="0">
                <a:latin typeface="Calibri"/>
                <a:cs typeface="Calibri"/>
              </a:rPr>
              <a:t>consists </a:t>
            </a:r>
            <a:r>
              <a:rPr sz="2800" spc="-5" dirty="0">
                <a:latin typeface="Calibri"/>
                <a:cs typeface="Calibri"/>
              </a:rPr>
              <a:t>of </a:t>
            </a:r>
            <a:r>
              <a:rPr sz="2800" dirty="0">
                <a:latin typeface="Calibri"/>
                <a:cs typeface="Calibri"/>
              </a:rPr>
              <a:t>an </a:t>
            </a:r>
            <a:r>
              <a:rPr sz="2800" spc="-5" dirty="0">
                <a:latin typeface="Calibri"/>
                <a:cs typeface="Calibri"/>
              </a:rPr>
              <a:t>equal </a:t>
            </a:r>
            <a:r>
              <a:rPr sz="2800" spc="-10" dirty="0">
                <a:latin typeface="Calibri"/>
                <a:cs typeface="Calibri"/>
              </a:rPr>
              <a:t>sign </a:t>
            </a:r>
            <a:r>
              <a:rPr sz="2800" spc="-20" dirty="0">
                <a:latin typeface="Calibri"/>
                <a:cs typeface="Calibri"/>
              </a:rPr>
              <a:t>followed </a:t>
            </a:r>
            <a:r>
              <a:rPr sz="2800" spc="-15" dirty="0">
                <a:latin typeface="Calibri"/>
                <a:cs typeface="Calibri"/>
              </a:rPr>
              <a:t>by </a:t>
            </a:r>
            <a:r>
              <a:rPr sz="2800" spc="-5" dirty="0">
                <a:latin typeface="Calibri"/>
                <a:cs typeface="Calibri"/>
              </a:rPr>
              <a:t>a </a:t>
            </a:r>
            <a:r>
              <a:rPr sz="2800" spc="-20" dirty="0">
                <a:latin typeface="Calibri"/>
                <a:cs typeface="Calibri"/>
              </a:rPr>
              <a:t>constant  </a:t>
            </a:r>
            <a:r>
              <a:rPr sz="2800" spc="-15" dirty="0">
                <a:latin typeface="Calibri"/>
                <a:cs typeface="Calibri"/>
              </a:rPr>
              <a:t>expression </a:t>
            </a:r>
            <a:r>
              <a:rPr sz="2800" spc="-5" dirty="0">
                <a:latin typeface="Calibri"/>
                <a:cs typeface="Calibri"/>
              </a:rPr>
              <a:t>as</a:t>
            </a:r>
            <a:r>
              <a:rPr sz="2800" dirty="0">
                <a:latin typeface="Calibri"/>
                <a:cs typeface="Calibri"/>
              </a:rPr>
              <a:t> </a:t>
            </a:r>
            <a:r>
              <a:rPr sz="2800" spc="-20" dirty="0">
                <a:latin typeface="Calibri"/>
                <a:cs typeface="Calibri"/>
              </a:rPr>
              <a:t>follows:</a:t>
            </a:r>
            <a:endParaRPr sz="2800">
              <a:latin typeface="Calibri"/>
              <a:cs typeface="Calibri"/>
            </a:endParaRPr>
          </a:p>
          <a:p>
            <a:pPr marL="641985" lvl="1" indent="-172085">
              <a:lnSpc>
                <a:spcPct val="100000"/>
              </a:lnSpc>
              <a:spcBef>
                <a:spcPts val="185"/>
              </a:spcBef>
              <a:buFont typeface="Arial"/>
              <a:buChar char="•"/>
              <a:tabLst>
                <a:tab pos="642620" algn="l"/>
              </a:tabLst>
            </a:pPr>
            <a:r>
              <a:rPr sz="2400" dirty="0">
                <a:latin typeface="Calibri"/>
                <a:cs typeface="Calibri"/>
              </a:rPr>
              <a:t>type </a:t>
            </a:r>
            <a:r>
              <a:rPr sz="2400" spc="-5" dirty="0">
                <a:latin typeface="Calibri"/>
                <a:cs typeface="Calibri"/>
              </a:rPr>
              <a:t>variable_name </a:t>
            </a:r>
            <a:r>
              <a:rPr sz="2400" dirty="0">
                <a:latin typeface="Calibri"/>
                <a:cs typeface="Calibri"/>
              </a:rPr>
              <a:t>=</a:t>
            </a:r>
            <a:r>
              <a:rPr sz="2400" spc="-65" dirty="0">
                <a:latin typeface="Calibri"/>
                <a:cs typeface="Calibri"/>
              </a:rPr>
              <a:t> </a:t>
            </a:r>
            <a:r>
              <a:rPr sz="2400" spc="-10" dirty="0">
                <a:latin typeface="Calibri"/>
                <a:cs typeface="Calibri"/>
              </a:rPr>
              <a:t>value;</a:t>
            </a:r>
            <a:endParaRPr sz="2400">
              <a:latin typeface="Calibri"/>
              <a:cs typeface="Calibri"/>
            </a:endParaRPr>
          </a:p>
          <a:p>
            <a:pPr marL="184785" marR="5080" indent="-172085">
              <a:lnSpc>
                <a:spcPts val="3020"/>
              </a:lnSpc>
              <a:spcBef>
                <a:spcPts val="1030"/>
              </a:spcBef>
              <a:buFont typeface="Arial"/>
              <a:buChar char="•"/>
              <a:tabLst>
                <a:tab pos="185420" algn="l"/>
              </a:tabLst>
            </a:pPr>
            <a:r>
              <a:rPr sz="2800" spc="-20" dirty="0">
                <a:latin typeface="Calibri"/>
                <a:cs typeface="Calibri"/>
              </a:rPr>
              <a:t>For </a:t>
            </a:r>
            <a:r>
              <a:rPr sz="2800" spc="-10" dirty="0">
                <a:latin typeface="Calibri"/>
                <a:cs typeface="Calibri"/>
              </a:rPr>
              <a:t>definition </a:t>
            </a:r>
            <a:r>
              <a:rPr sz="2800" spc="-5" dirty="0">
                <a:latin typeface="Calibri"/>
                <a:cs typeface="Calibri"/>
              </a:rPr>
              <a:t>without an </a:t>
            </a:r>
            <a:r>
              <a:rPr sz="2800" spc="-10" dirty="0">
                <a:latin typeface="Calibri"/>
                <a:cs typeface="Calibri"/>
              </a:rPr>
              <a:t>initializer: variables </a:t>
            </a:r>
            <a:r>
              <a:rPr sz="2800" spc="-5" dirty="0">
                <a:latin typeface="Calibri"/>
                <a:cs typeface="Calibri"/>
              </a:rPr>
              <a:t>with </a:t>
            </a:r>
            <a:r>
              <a:rPr sz="2800" spc="-20" dirty="0">
                <a:latin typeface="Calibri"/>
                <a:cs typeface="Calibri"/>
              </a:rPr>
              <a:t>static </a:t>
            </a:r>
            <a:r>
              <a:rPr sz="2800" spc="-25" dirty="0">
                <a:latin typeface="Calibri"/>
                <a:cs typeface="Calibri"/>
              </a:rPr>
              <a:t>storage  </a:t>
            </a:r>
            <a:r>
              <a:rPr sz="2800" spc="-15" dirty="0">
                <a:latin typeface="Calibri"/>
                <a:cs typeface="Calibri"/>
              </a:rPr>
              <a:t>duration </a:t>
            </a:r>
            <a:r>
              <a:rPr sz="2800" spc="-20" dirty="0">
                <a:latin typeface="Calibri"/>
                <a:cs typeface="Calibri"/>
              </a:rPr>
              <a:t>are </a:t>
            </a:r>
            <a:r>
              <a:rPr sz="2800" spc="-10" dirty="0">
                <a:latin typeface="Calibri"/>
                <a:cs typeface="Calibri"/>
              </a:rPr>
              <a:t>implicitly (indirectly) </a:t>
            </a:r>
            <a:r>
              <a:rPr sz="2800" spc="-15" dirty="0">
                <a:latin typeface="Calibri"/>
                <a:cs typeface="Calibri"/>
              </a:rPr>
              <a:t>initialized </a:t>
            </a:r>
            <a:r>
              <a:rPr sz="2800" spc="-5" dirty="0">
                <a:latin typeface="Calibri"/>
                <a:cs typeface="Calibri"/>
              </a:rPr>
              <a:t>with NULL (all </a:t>
            </a:r>
            <a:r>
              <a:rPr sz="2800" spc="-10" dirty="0">
                <a:latin typeface="Calibri"/>
                <a:cs typeface="Calibri"/>
              </a:rPr>
              <a:t>bytes </a:t>
            </a:r>
            <a:r>
              <a:rPr sz="2800" spc="-25" dirty="0">
                <a:latin typeface="Calibri"/>
                <a:cs typeface="Calibri"/>
              </a:rPr>
              <a:t>have  </a:t>
            </a:r>
            <a:r>
              <a:rPr sz="2800" spc="-5" dirty="0">
                <a:latin typeface="Calibri"/>
                <a:cs typeface="Calibri"/>
              </a:rPr>
              <a:t>the </a:t>
            </a:r>
            <a:r>
              <a:rPr sz="2800" spc="-10" dirty="0">
                <a:latin typeface="Calibri"/>
                <a:cs typeface="Calibri"/>
              </a:rPr>
              <a:t>value</a:t>
            </a:r>
            <a:r>
              <a:rPr sz="2800" spc="-70" dirty="0">
                <a:latin typeface="Calibri"/>
                <a:cs typeface="Calibri"/>
              </a:rPr>
              <a:t> </a:t>
            </a:r>
            <a:r>
              <a:rPr sz="2800" spc="-5" dirty="0">
                <a:latin typeface="Calibri"/>
                <a:cs typeface="Calibri"/>
              </a:rPr>
              <a:t>0);</a:t>
            </a:r>
            <a:endParaRPr sz="2800">
              <a:latin typeface="Calibri"/>
              <a:cs typeface="Calibri"/>
            </a:endParaRPr>
          </a:p>
          <a:p>
            <a:pPr marL="184785" indent="-172085">
              <a:lnSpc>
                <a:spcPct val="100000"/>
              </a:lnSpc>
              <a:spcBef>
                <a:spcPts val="615"/>
              </a:spcBef>
              <a:buFont typeface="Arial"/>
              <a:buChar char="•"/>
              <a:tabLst>
                <a:tab pos="185420" algn="l"/>
              </a:tabLst>
            </a:pPr>
            <a:r>
              <a:rPr sz="2800" spc="-5" dirty="0">
                <a:latin typeface="Calibri"/>
                <a:cs typeface="Calibri"/>
              </a:rPr>
              <a:t>the initial </a:t>
            </a:r>
            <a:r>
              <a:rPr sz="2800" spc="-15" dirty="0">
                <a:latin typeface="Calibri"/>
                <a:cs typeface="Calibri"/>
              </a:rPr>
              <a:t>value </a:t>
            </a:r>
            <a:r>
              <a:rPr sz="2800" spc="-5" dirty="0">
                <a:latin typeface="Calibri"/>
                <a:cs typeface="Calibri"/>
              </a:rPr>
              <a:t>of </a:t>
            </a:r>
            <a:r>
              <a:rPr sz="2800" dirty="0">
                <a:latin typeface="Calibri"/>
                <a:cs typeface="Calibri"/>
              </a:rPr>
              <a:t>all </a:t>
            </a:r>
            <a:r>
              <a:rPr sz="2800" spc="-5" dirty="0">
                <a:latin typeface="Calibri"/>
                <a:cs typeface="Calibri"/>
              </a:rPr>
              <a:t>other </a:t>
            </a:r>
            <a:r>
              <a:rPr sz="2800" spc="-10" dirty="0">
                <a:latin typeface="Calibri"/>
                <a:cs typeface="Calibri"/>
              </a:rPr>
              <a:t>variables </a:t>
            </a:r>
            <a:r>
              <a:rPr sz="2800" spc="-5" dirty="0">
                <a:latin typeface="Calibri"/>
                <a:cs typeface="Calibri"/>
              </a:rPr>
              <a:t>is</a:t>
            </a:r>
            <a:r>
              <a:rPr sz="2800" spc="15" dirty="0">
                <a:latin typeface="Calibri"/>
                <a:cs typeface="Calibri"/>
              </a:rPr>
              <a:t> </a:t>
            </a:r>
            <a:r>
              <a:rPr sz="2800" spc="-10" dirty="0">
                <a:latin typeface="Calibri"/>
                <a:cs typeface="Calibri"/>
              </a:rPr>
              <a:t>undefined.</a:t>
            </a:r>
            <a:endParaRPr sz="2800">
              <a:latin typeface="Calibri"/>
              <a:cs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ts val="5160"/>
              </a:lnSpc>
            </a:pPr>
            <a:r>
              <a:rPr dirty="0"/>
              <a:t>E</a:t>
            </a:r>
            <a:r>
              <a:rPr spc="-85" dirty="0"/>
              <a:t>x</a:t>
            </a:r>
            <a:r>
              <a:rPr dirty="0"/>
              <a:t>ample</a:t>
            </a:r>
          </a:p>
        </p:txBody>
      </p:sp>
      <p:sp>
        <p:nvSpPr>
          <p:cNvPr id="3" name="object 3"/>
          <p:cNvSpPr txBox="1"/>
          <p:nvPr/>
        </p:nvSpPr>
        <p:spPr>
          <a:xfrm>
            <a:off x="916939" y="1278445"/>
            <a:ext cx="3347085" cy="3478529"/>
          </a:xfrm>
          <a:prstGeom prst="rect">
            <a:avLst/>
          </a:prstGeom>
        </p:spPr>
        <p:txBody>
          <a:bodyPr vert="horz" wrap="square" lIns="0" tIns="0" rIns="0" bIns="0" rtlCol="0">
            <a:spAutoFit/>
          </a:bodyPr>
          <a:lstStyle/>
          <a:p>
            <a:pPr marL="241300" indent="-228600">
              <a:lnSpc>
                <a:spcPts val="3240"/>
              </a:lnSpc>
              <a:buFont typeface="Arial"/>
              <a:buChar char="•"/>
              <a:tabLst>
                <a:tab pos="241935" algn="l"/>
              </a:tabLst>
            </a:pPr>
            <a:r>
              <a:rPr sz="2800" spc="-10" dirty="0">
                <a:latin typeface="Calibri"/>
                <a:cs typeface="Calibri"/>
              </a:rPr>
              <a:t>#include </a:t>
            </a:r>
            <a:r>
              <a:rPr sz="2800" spc="-15" dirty="0">
                <a:latin typeface="Calibri"/>
                <a:cs typeface="Calibri"/>
              </a:rPr>
              <a:t>&lt;stdio.h&gt;</a:t>
            </a:r>
            <a:endParaRPr sz="2800">
              <a:latin typeface="Calibri"/>
              <a:cs typeface="Calibri"/>
            </a:endParaRPr>
          </a:p>
          <a:p>
            <a:pPr marL="241300" indent="-228600">
              <a:lnSpc>
                <a:spcPct val="100000"/>
              </a:lnSpc>
              <a:spcBef>
                <a:spcPts val="670"/>
              </a:spcBef>
              <a:buFont typeface="Arial"/>
              <a:buChar char="•"/>
              <a:tabLst>
                <a:tab pos="241935" algn="l"/>
              </a:tabLst>
            </a:pPr>
            <a:r>
              <a:rPr sz="2800" spc="-5" dirty="0">
                <a:latin typeface="Calibri"/>
                <a:cs typeface="Calibri"/>
              </a:rPr>
              <a:t>// </a:t>
            </a:r>
            <a:r>
              <a:rPr sz="2800" spc="-25" dirty="0">
                <a:latin typeface="Calibri"/>
                <a:cs typeface="Calibri"/>
              </a:rPr>
              <a:t>Variable</a:t>
            </a:r>
            <a:r>
              <a:rPr sz="2800" spc="-55" dirty="0">
                <a:latin typeface="Calibri"/>
                <a:cs typeface="Calibri"/>
              </a:rPr>
              <a:t> </a:t>
            </a:r>
            <a:r>
              <a:rPr sz="2800" spc="-10" dirty="0">
                <a:latin typeface="Calibri"/>
                <a:cs typeface="Calibri"/>
              </a:rPr>
              <a:t>definition:</a:t>
            </a:r>
            <a:endParaRPr sz="2800">
              <a:latin typeface="Calibri"/>
              <a:cs typeface="Calibri"/>
            </a:endParaRPr>
          </a:p>
          <a:p>
            <a:pPr marL="241300" indent="-228600">
              <a:lnSpc>
                <a:spcPct val="100000"/>
              </a:lnSpc>
              <a:spcBef>
                <a:spcPts val="660"/>
              </a:spcBef>
              <a:buFont typeface="Arial"/>
              <a:buChar char="•"/>
              <a:tabLst>
                <a:tab pos="241935" algn="l"/>
              </a:tabLst>
            </a:pPr>
            <a:r>
              <a:rPr sz="2800" spc="-15" dirty="0">
                <a:latin typeface="Calibri"/>
                <a:cs typeface="Calibri"/>
              </a:rPr>
              <a:t>extern int </a:t>
            </a:r>
            <a:r>
              <a:rPr sz="2800" spc="-5" dirty="0">
                <a:latin typeface="Calibri"/>
                <a:cs typeface="Calibri"/>
              </a:rPr>
              <a:t>a,</a:t>
            </a:r>
            <a:r>
              <a:rPr sz="2800" spc="-35" dirty="0">
                <a:latin typeface="Calibri"/>
                <a:cs typeface="Calibri"/>
              </a:rPr>
              <a:t> </a:t>
            </a:r>
            <a:r>
              <a:rPr sz="2800" spc="-10" dirty="0">
                <a:latin typeface="Calibri"/>
                <a:cs typeface="Calibri"/>
              </a:rPr>
              <a:t>b;</a:t>
            </a:r>
            <a:endParaRPr sz="2800">
              <a:latin typeface="Calibri"/>
              <a:cs typeface="Calibri"/>
            </a:endParaRPr>
          </a:p>
          <a:p>
            <a:pPr marL="241300" indent="-228600">
              <a:lnSpc>
                <a:spcPct val="100000"/>
              </a:lnSpc>
              <a:spcBef>
                <a:spcPts val="660"/>
              </a:spcBef>
              <a:buFont typeface="Arial"/>
              <a:buChar char="•"/>
              <a:tabLst>
                <a:tab pos="241935" algn="l"/>
              </a:tabLst>
            </a:pPr>
            <a:r>
              <a:rPr sz="2800" spc="-15" dirty="0">
                <a:latin typeface="Calibri"/>
                <a:cs typeface="Calibri"/>
              </a:rPr>
              <a:t>extern int</a:t>
            </a:r>
            <a:r>
              <a:rPr sz="2800" spc="-60" dirty="0">
                <a:latin typeface="Calibri"/>
                <a:cs typeface="Calibri"/>
              </a:rPr>
              <a:t> </a:t>
            </a:r>
            <a:r>
              <a:rPr sz="2800" dirty="0">
                <a:latin typeface="Calibri"/>
                <a:cs typeface="Calibri"/>
              </a:rPr>
              <a:t>c;</a:t>
            </a:r>
            <a:endParaRPr sz="2800">
              <a:latin typeface="Calibri"/>
              <a:cs typeface="Calibri"/>
            </a:endParaRPr>
          </a:p>
          <a:p>
            <a:pPr marL="241300" indent="-228600">
              <a:lnSpc>
                <a:spcPct val="100000"/>
              </a:lnSpc>
              <a:spcBef>
                <a:spcPts val="670"/>
              </a:spcBef>
              <a:buFont typeface="Arial"/>
              <a:buChar char="•"/>
              <a:tabLst>
                <a:tab pos="241935" algn="l"/>
              </a:tabLst>
            </a:pPr>
            <a:r>
              <a:rPr sz="2800" spc="-15" dirty="0">
                <a:latin typeface="Calibri"/>
                <a:cs typeface="Calibri"/>
              </a:rPr>
              <a:t>extern </a:t>
            </a:r>
            <a:r>
              <a:rPr sz="2800" spc="-10" dirty="0">
                <a:latin typeface="Calibri"/>
                <a:cs typeface="Calibri"/>
              </a:rPr>
              <a:t>float</a:t>
            </a:r>
            <a:r>
              <a:rPr sz="2800" spc="-75" dirty="0">
                <a:latin typeface="Calibri"/>
                <a:cs typeface="Calibri"/>
              </a:rPr>
              <a:t> </a:t>
            </a:r>
            <a:r>
              <a:rPr sz="2800" spc="-10" dirty="0">
                <a:latin typeface="Calibri"/>
                <a:cs typeface="Calibri"/>
              </a:rPr>
              <a:t>f;</a:t>
            </a:r>
            <a:endParaRPr sz="2800">
              <a:latin typeface="Calibri"/>
              <a:cs typeface="Calibri"/>
            </a:endParaRPr>
          </a:p>
          <a:p>
            <a:pPr marL="241300" indent="-228600">
              <a:lnSpc>
                <a:spcPct val="100000"/>
              </a:lnSpc>
              <a:spcBef>
                <a:spcPts val="660"/>
              </a:spcBef>
              <a:buFont typeface="Arial"/>
              <a:buChar char="•"/>
              <a:tabLst>
                <a:tab pos="241935" algn="l"/>
              </a:tabLst>
            </a:pPr>
            <a:r>
              <a:rPr sz="2800" spc="-15" dirty="0">
                <a:latin typeface="Calibri"/>
                <a:cs typeface="Calibri"/>
              </a:rPr>
              <a:t>int </a:t>
            </a:r>
            <a:r>
              <a:rPr sz="2800" spc="-5" dirty="0">
                <a:latin typeface="Calibri"/>
                <a:cs typeface="Calibri"/>
              </a:rPr>
              <a:t>main</a:t>
            </a:r>
            <a:r>
              <a:rPr sz="2800" spc="-55" dirty="0">
                <a:latin typeface="Calibri"/>
                <a:cs typeface="Calibri"/>
              </a:rPr>
              <a:t> </a:t>
            </a:r>
            <a:r>
              <a:rPr sz="2800" dirty="0">
                <a:latin typeface="Calibri"/>
                <a:cs typeface="Calibri"/>
              </a:rPr>
              <a:t>()</a:t>
            </a:r>
            <a:endParaRPr sz="2800">
              <a:latin typeface="Calibri"/>
              <a:cs typeface="Calibri"/>
            </a:endParaRPr>
          </a:p>
          <a:p>
            <a:pPr marL="12700">
              <a:lnSpc>
                <a:spcPct val="100000"/>
              </a:lnSpc>
              <a:spcBef>
                <a:spcPts val="660"/>
              </a:spcBef>
            </a:pPr>
            <a:r>
              <a:rPr sz="2800" spc="-5" dirty="0">
                <a:latin typeface="Arial"/>
                <a:cs typeface="Arial"/>
              </a:rPr>
              <a:t>•</a:t>
            </a:r>
            <a:r>
              <a:rPr sz="2800" spc="-50" dirty="0">
                <a:latin typeface="Arial"/>
                <a:cs typeface="Arial"/>
              </a:rPr>
              <a:t> </a:t>
            </a:r>
            <a:r>
              <a:rPr sz="2800" spc="-5" dirty="0">
                <a:latin typeface="Calibri"/>
                <a:cs typeface="Calibri"/>
              </a:rPr>
              <a:t>{</a:t>
            </a:r>
            <a:endParaRPr sz="2800">
              <a:latin typeface="Calibri"/>
              <a:cs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6939" y="498602"/>
            <a:ext cx="4152900" cy="5279390"/>
          </a:xfrm>
          <a:prstGeom prst="rect">
            <a:avLst/>
          </a:prstGeom>
        </p:spPr>
        <p:txBody>
          <a:bodyPr vert="horz" wrap="square" lIns="0" tIns="0" rIns="0" bIns="0" rtlCol="0">
            <a:spAutoFit/>
          </a:bodyPr>
          <a:lstStyle/>
          <a:p>
            <a:pPr marL="241300" indent="-228600">
              <a:lnSpc>
                <a:spcPct val="100000"/>
              </a:lnSpc>
              <a:buFont typeface="Arial"/>
              <a:buChar char="•"/>
              <a:tabLst>
                <a:tab pos="241935" algn="l"/>
              </a:tabLst>
            </a:pPr>
            <a:r>
              <a:rPr sz="2600" dirty="0">
                <a:latin typeface="Calibri"/>
                <a:cs typeface="Calibri"/>
              </a:rPr>
              <a:t>// </a:t>
            </a:r>
            <a:r>
              <a:rPr sz="2600" spc="-20" dirty="0">
                <a:latin typeface="Calibri"/>
                <a:cs typeface="Calibri"/>
              </a:rPr>
              <a:t>Variable</a:t>
            </a:r>
            <a:r>
              <a:rPr sz="2600" spc="-85" dirty="0">
                <a:latin typeface="Calibri"/>
                <a:cs typeface="Calibri"/>
              </a:rPr>
              <a:t> </a:t>
            </a:r>
            <a:r>
              <a:rPr sz="2600" spc="-5" dirty="0">
                <a:latin typeface="Calibri"/>
                <a:cs typeface="Calibri"/>
              </a:rPr>
              <a:t>definition:</a:t>
            </a:r>
            <a:endParaRPr sz="2600">
              <a:latin typeface="Calibri"/>
              <a:cs typeface="Calibri"/>
            </a:endParaRPr>
          </a:p>
          <a:p>
            <a:pPr marL="241300" indent="-228600">
              <a:lnSpc>
                <a:spcPct val="100000"/>
              </a:lnSpc>
              <a:spcBef>
                <a:spcPts val="60"/>
              </a:spcBef>
              <a:buFont typeface="Arial"/>
              <a:buChar char="•"/>
              <a:tabLst>
                <a:tab pos="241935" algn="l"/>
              </a:tabLst>
            </a:pPr>
            <a:r>
              <a:rPr sz="2600" spc="-10" dirty="0">
                <a:latin typeface="Calibri"/>
                <a:cs typeface="Calibri"/>
              </a:rPr>
              <a:t>int </a:t>
            </a:r>
            <a:r>
              <a:rPr sz="2600" dirty="0">
                <a:latin typeface="Calibri"/>
                <a:cs typeface="Calibri"/>
              </a:rPr>
              <a:t>a,</a:t>
            </a:r>
            <a:r>
              <a:rPr sz="2600" spc="-80" dirty="0">
                <a:latin typeface="Calibri"/>
                <a:cs typeface="Calibri"/>
              </a:rPr>
              <a:t> </a:t>
            </a:r>
            <a:r>
              <a:rPr sz="2600" spc="-5" dirty="0">
                <a:latin typeface="Calibri"/>
                <a:cs typeface="Calibri"/>
              </a:rPr>
              <a:t>b;</a:t>
            </a:r>
            <a:endParaRPr sz="2600">
              <a:latin typeface="Calibri"/>
              <a:cs typeface="Calibri"/>
            </a:endParaRPr>
          </a:p>
          <a:p>
            <a:pPr marL="241300" indent="-228600">
              <a:lnSpc>
                <a:spcPct val="100000"/>
              </a:lnSpc>
              <a:spcBef>
                <a:spcPts val="60"/>
              </a:spcBef>
              <a:buFont typeface="Arial"/>
              <a:buChar char="•"/>
              <a:tabLst>
                <a:tab pos="241935" algn="l"/>
              </a:tabLst>
            </a:pPr>
            <a:r>
              <a:rPr sz="2600" spc="-10" dirty="0">
                <a:latin typeface="Calibri"/>
                <a:cs typeface="Calibri"/>
              </a:rPr>
              <a:t>int</a:t>
            </a:r>
            <a:r>
              <a:rPr sz="2600" spc="-100" dirty="0">
                <a:latin typeface="Calibri"/>
                <a:cs typeface="Calibri"/>
              </a:rPr>
              <a:t> </a:t>
            </a:r>
            <a:r>
              <a:rPr sz="2600" dirty="0">
                <a:latin typeface="Calibri"/>
                <a:cs typeface="Calibri"/>
              </a:rPr>
              <a:t>c;</a:t>
            </a:r>
            <a:endParaRPr sz="2600">
              <a:latin typeface="Calibri"/>
              <a:cs typeface="Calibri"/>
            </a:endParaRPr>
          </a:p>
          <a:p>
            <a:pPr marL="241300" indent="-228600">
              <a:lnSpc>
                <a:spcPct val="100000"/>
              </a:lnSpc>
              <a:spcBef>
                <a:spcPts val="70"/>
              </a:spcBef>
              <a:buFont typeface="Arial"/>
              <a:buChar char="•"/>
              <a:tabLst>
                <a:tab pos="241935" algn="l"/>
              </a:tabLst>
            </a:pPr>
            <a:r>
              <a:rPr sz="2600" spc="-10" dirty="0">
                <a:latin typeface="Calibri"/>
                <a:cs typeface="Calibri"/>
              </a:rPr>
              <a:t>float</a:t>
            </a:r>
            <a:r>
              <a:rPr sz="2600" spc="-90" dirty="0">
                <a:latin typeface="Calibri"/>
                <a:cs typeface="Calibri"/>
              </a:rPr>
              <a:t> </a:t>
            </a:r>
            <a:r>
              <a:rPr sz="2600" spc="-5" dirty="0">
                <a:latin typeface="Calibri"/>
                <a:cs typeface="Calibri"/>
              </a:rPr>
              <a:t>f;</a:t>
            </a:r>
            <a:endParaRPr sz="2600">
              <a:latin typeface="Calibri"/>
              <a:cs typeface="Calibri"/>
            </a:endParaRPr>
          </a:p>
          <a:p>
            <a:pPr marL="241300" indent="-228600">
              <a:lnSpc>
                <a:spcPct val="100000"/>
              </a:lnSpc>
              <a:spcBef>
                <a:spcPts val="60"/>
              </a:spcBef>
              <a:buFont typeface="Arial"/>
              <a:buChar char="•"/>
              <a:tabLst>
                <a:tab pos="241935" algn="l"/>
              </a:tabLst>
            </a:pPr>
            <a:r>
              <a:rPr sz="2600" dirty="0">
                <a:latin typeface="Calibri"/>
                <a:cs typeface="Calibri"/>
              </a:rPr>
              <a:t>// actual</a:t>
            </a:r>
            <a:r>
              <a:rPr sz="2600" spc="-80" dirty="0">
                <a:latin typeface="Calibri"/>
                <a:cs typeface="Calibri"/>
              </a:rPr>
              <a:t> </a:t>
            </a:r>
            <a:r>
              <a:rPr sz="2600" spc="-5" dirty="0">
                <a:latin typeface="Calibri"/>
                <a:cs typeface="Calibri"/>
              </a:rPr>
              <a:t>initialization</a:t>
            </a:r>
            <a:endParaRPr sz="2600">
              <a:latin typeface="Calibri"/>
              <a:cs typeface="Calibri"/>
            </a:endParaRPr>
          </a:p>
          <a:p>
            <a:pPr marL="12700">
              <a:lnSpc>
                <a:spcPct val="100000"/>
              </a:lnSpc>
              <a:spcBef>
                <a:spcPts val="60"/>
              </a:spcBef>
            </a:pPr>
            <a:r>
              <a:rPr sz="2600" dirty="0">
                <a:latin typeface="Arial"/>
                <a:cs typeface="Arial"/>
              </a:rPr>
              <a:t>• </a:t>
            </a:r>
            <a:r>
              <a:rPr sz="2600" dirty="0">
                <a:latin typeface="Calibri"/>
                <a:cs typeface="Calibri"/>
              </a:rPr>
              <a:t>a</a:t>
            </a:r>
            <a:r>
              <a:rPr sz="2600" spc="75" dirty="0">
                <a:latin typeface="Calibri"/>
                <a:cs typeface="Calibri"/>
              </a:rPr>
              <a:t> </a:t>
            </a:r>
            <a:r>
              <a:rPr sz="2600" spc="-5" dirty="0">
                <a:latin typeface="Calibri"/>
                <a:cs typeface="Calibri"/>
              </a:rPr>
              <a:t>=10;</a:t>
            </a:r>
            <a:endParaRPr sz="2600">
              <a:latin typeface="Calibri"/>
              <a:cs typeface="Calibri"/>
            </a:endParaRPr>
          </a:p>
          <a:p>
            <a:pPr marL="12700">
              <a:lnSpc>
                <a:spcPct val="100000"/>
              </a:lnSpc>
              <a:spcBef>
                <a:spcPts val="70"/>
              </a:spcBef>
            </a:pPr>
            <a:r>
              <a:rPr sz="2600" dirty="0">
                <a:latin typeface="Arial"/>
                <a:cs typeface="Arial"/>
              </a:rPr>
              <a:t>• </a:t>
            </a:r>
            <a:r>
              <a:rPr sz="2600" dirty="0">
                <a:latin typeface="Calibri"/>
                <a:cs typeface="Calibri"/>
              </a:rPr>
              <a:t>b</a:t>
            </a:r>
            <a:r>
              <a:rPr sz="2600" spc="60" dirty="0">
                <a:latin typeface="Calibri"/>
                <a:cs typeface="Calibri"/>
              </a:rPr>
              <a:t> </a:t>
            </a:r>
            <a:r>
              <a:rPr sz="2600" spc="-5" dirty="0">
                <a:latin typeface="Calibri"/>
                <a:cs typeface="Calibri"/>
              </a:rPr>
              <a:t>=20;</a:t>
            </a:r>
            <a:endParaRPr sz="2600">
              <a:latin typeface="Calibri"/>
              <a:cs typeface="Calibri"/>
            </a:endParaRPr>
          </a:p>
          <a:p>
            <a:pPr marL="241300" indent="-228600">
              <a:lnSpc>
                <a:spcPct val="100000"/>
              </a:lnSpc>
              <a:spcBef>
                <a:spcPts val="60"/>
              </a:spcBef>
              <a:buFont typeface="Arial"/>
              <a:buChar char="•"/>
              <a:tabLst>
                <a:tab pos="241935" algn="l"/>
              </a:tabLst>
            </a:pPr>
            <a:r>
              <a:rPr sz="2600" dirty="0">
                <a:latin typeface="Calibri"/>
                <a:cs typeface="Calibri"/>
              </a:rPr>
              <a:t>c = a +</a:t>
            </a:r>
            <a:r>
              <a:rPr sz="2600" spc="-90" dirty="0">
                <a:latin typeface="Calibri"/>
                <a:cs typeface="Calibri"/>
              </a:rPr>
              <a:t> </a:t>
            </a:r>
            <a:r>
              <a:rPr sz="2600" spc="-5" dirty="0">
                <a:latin typeface="Calibri"/>
                <a:cs typeface="Calibri"/>
              </a:rPr>
              <a:t>b;</a:t>
            </a:r>
            <a:endParaRPr sz="2600">
              <a:latin typeface="Calibri"/>
              <a:cs typeface="Calibri"/>
            </a:endParaRPr>
          </a:p>
          <a:p>
            <a:pPr marL="241300" indent="-228600">
              <a:lnSpc>
                <a:spcPct val="100000"/>
              </a:lnSpc>
              <a:spcBef>
                <a:spcPts val="60"/>
              </a:spcBef>
              <a:buFont typeface="Arial"/>
              <a:buChar char="•"/>
              <a:tabLst>
                <a:tab pos="241935" algn="l"/>
              </a:tabLst>
            </a:pPr>
            <a:r>
              <a:rPr sz="2600" spc="-5" dirty="0">
                <a:latin typeface="Calibri"/>
                <a:cs typeface="Calibri"/>
              </a:rPr>
              <a:t>printf("value </a:t>
            </a:r>
            <a:r>
              <a:rPr sz="2600" dirty="0">
                <a:latin typeface="Calibri"/>
                <a:cs typeface="Calibri"/>
              </a:rPr>
              <a:t>of c : %d \n",</a:t>
            </a:r>
            <a:r>
              <a:rPr sz="2600" spc="-145" dirty="0">
                <a:latin typeface="Calibri"/>
                <a:cs typeface="Calibri"/>
              </a:rPr>
              <a:t> </a:t>
            </a:r>
            <a:r>
              <a:rPr sz="2600" dirty="0">
                <a:latin typeface="Calibri"/>
                <a:cs typeface="Calibri"/>
              </a:rPr>
              <a:t>c);</a:t>
            </a:r>
            <a:endParaRPr sz="2600">
              <a:latin typeface="Calibri"/>
              <a:cs typeface="Calibri"/>
            </a:endParaRPr>
          </a:p>
          <a:p>
            <a:pPr marL="12700">
              <a:lnSpc>
                <a:spcPct val="100000"/>
              </a:lnSpc>
              <a:spcBef>
                <a:spcPts val="75"/>
              </a:spcBef>
            </a:pPr>
            <a:r>
              <a:rPr sz="2600" dirty="0">
                <a:latin typeface="Arial"/>
                <a:cs typeface="Arial"/>
              </a:rPr>
              <a:t>• </a:t>
            </a:r>
            <a:r>
              <a:rPr sz="2600" dirty="0">
                <a:latin typeface="Calibri"/>
                <a:cs typeface="Calibri"/>
              </a:rPr>
              <a:t>f =</a:t>
            </a:r>
            <a:r>
              <a:rPr sz="2600" spc="80" dirty="0">
                <a:latin typeface="Calibri"/>
                <a:cs typeface="Calibri"/>
              </a:rPr>
              <a:t> </a:t>
            </a:r>
            <a:r>
              <a:rPr sz="2600" dirty="0">
                <a:latin typeface="Calibri"/>
                <a:cs typeface="Calibri"/>
              </a:rPr>
              <a:t>70.0/3.0;</a:t>
            </a:r>
            <a:endParaRPr sz="2600">
              <a:latin typeface="Calibri"/>
              <a:cs typeface="Calibri"/>
            </a:endParaRPr>
          </a:p>
          <a:p>
            <a:pPr marL="241300" indent="-228600">
              <a:lnSpc>
                <a:spcPct val="100000"/>
              </a:lnSpc>
              <a:spcBef>
                <a:spcPts val="60"/>
              </a:spcBef>
              <a:buFont typeface="Arial"/>
              <a:buChar char="•"/>
              <a:tabLst>
                <a:tab pos="241935" algn="l"/>
              </a:tabLst>
            </a:pPr>
            <a:r>
              <a:rPr sz="2600" spc="-5" dirty="0">
                <a:latin typeface="Calibri"/>
                <a:cs typeface="Calibri"/>
              </a:rPr>
              <a:t>printf("value of </a:t>
            </a:r>
            <a:r>
              <a:rPr sz="2600" dirty="0">
                <a:latin typeface="Calibri"/>
                <a:cs typeface="Calibri"/>
              </a:rPr>
              <a:t>f : %f </a:t>
            </a:r>
            <a:r>
              <a:rPr sz="2600" spc="-5" dirty="0">
                <a:latin typeface="Calibri"/>
                <a:cs typeface="Calibri"/>
              </a:rPr>
              <a:t>\n",</a:t>
            </a:r>
            <a:r>
              <a:rPr sz="2600" spc="-125" dirty="0">
                <a:latin typeface="Calibri"/>
                <a:cs typeface="Calibri"/>
              </a:rPr>
              <a:t> </a:t>
            </a:r>
            <a:r>
              <a:rPr sz="2600" spc="5" dirty="0">
                <a:latin typeface="Calibri"/>
                <a:cs typeface="Calibri"/>
              </a:rPr>
              <a:t>f);</a:t>
            </a:r>
            <a:endParaRPr sz="2600">
              <a:latin typeface="Calibri"/>
              <a:cs typeface="Calibri"/>
            </a:endParaRPr>
          </a:p>
          <a:p>
            <a:pPr marL="241300" indent="-228600">
              <a:lnSpc>
                <a:spcPct val="100000"/>
              </a:lnSpc>
              <a:spcBef>
                <a:spcPts val="60"/>
              </a:spcBef>
              <a:buFont typeface="Arial"/>
              <a:buChar char="•"/>
              <a:tabLst>
                <a:tab pos="241935" algn="l"/>
              </a:tabLst>
            </a:pPr>
            <a:r>
              <a:rPr sz="2600" spc="-10" dirty="0">
                <a:latin typeface="Calibri"/>
                <a:cs typeface="Calibri"/>
              </a:rPr>
              <a:t>return</a:t>
            </a:r>
            <a:r>
              <a:rPr sz="2600" spc="-95" dirty="0">
                <a:latin typeface="Calibri"/>
                <a:cs typeface="Calibri"/>
              </a:rPr>
              <a:t> </a:t>
            </a:r>
            <a:r>
              <a:rPr sz="2600" dirty="0">
                <a:latin typeface="Calibri"/>
                <a:cs typeface="Calibri"/>
              </a:rPr>
              <a:t>0;</a:t>
            </a:r>
            <a:endParaRPr sz="2600">
              <a:latin typeface="Calibri"/>
              <a:cs typeface="Calibri"/>
            </a:endParaRPr>
          </a:p>
          <a:p>
            <a:pPr marL="12700">
              <a:lnSpc>
                <a:spcPct val="100000"/>
              </a:lnSpc>
              <a:spcBef>
                <a:spcPts val="75"/>
              </a:spcBef>
            </a:pPr>
            <a:r>
              <a:rPr sz="2600" dirty="0">
                <a:latin typeface="Arial"/>
                <a:cs typeface="Arial"/>
              </a:rPr>
              <a:t>•</a:t>
            </a:r>
            <a:r>
              <a:rPr sz="2600" spc="65" dirty="0">
                <a:latin typeface="Arial"/>
                <a:cs typeface="Arial"/>
              </a:rPr>
              <a:t> </a:t>
            </a:r>
            <a:r>
              <a:rPr sz="2600" dirty="0">
                <a:latin typeface="Calibri"/>
                <a:cs typeface="Calibri"/>
              </a:rPr>
              <a:t>}</a:t>
            </a:r>
            <a:endParaRPr sz="2600">
              <a:latin typeface="Calibri"/>
              <a:cs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35" dirty="0"/>
              <a:t>Lvalues </a:t>
            </a:r>
            <a:r>
              <a:rPr dirty="0"/>
              <a:t>and </a:t>
            </a:r>
            <a:r>
              <a:rPr spc="-20" dirty="0"/>
              <a:t>Rvalues </a:t>
            </a:r>
            <a:r>
              <a:rPr dirty="0"/>
              <a:t>in</a:t>
            </a:r>
            <a:r>
              <a:rPr spc="-15" dirty="0"/>
              <a:t> </a:t>
            </a:r>
            <a:r>
              <a:rPr dirty="0"/>
              <a:t>C</a:t>
            </a:r>
          </a:p>
        </p:txBody>
      </p:sp>
      <p:sp>
        <p:nvSpPr>
          <p:cNvPr id="3" name="object 3"/>
          <p:cNvSpPr txBox="1"/>
          <p:nvPr/>
        </p:nvSpPr>
        <p:spPr>
          <a:xfrm>
            <a:off x="916939" y="1777746"/>
            <a:ext cx="10267950" cy="4297651"/>
          </a:xfrm>
          <a:prstGeom prst="rect">
            <a:avLst/>
          </a:prstGeom>
        </p:spPr>
        <p:txBody>
          <a:bodyPr vert="horz" wrap="square" lIns="0" tIns="0" rIns="0" bIns="0" rtlCol="0">
            <a:spAutoFit/>
          </a:bodyPr>
          <a:lstStyle/>
          <a:p>
            <a:pPr marL="241300" indent="-228600">
              <a:lnSpc>
                <a:spcPct val="100000"/>
              </a:lnSpc>
              <a:buFont typeface="Arial"/>
              <a:buChar char="•"/>
              <a:tabLst>
                <a:tab pos="241935" algn="l"/>
              </a:tabLst>
            </a:pPr>
            <a:r>
              <a:rPr sz="2000" spc="-10" dirty="0">
                <a:latin typeface="Calibri"/>
                <a:cs typeface="Calibri"/>
              </a:rPr>
              <a:t>There are two </a:t>
            </a:r>
            <a:r>
              <a:rPr sz="2000" dirty="0">
                <a:latin typeface="Calibri"/>
                <a:cs typeface="Calibri"/>
              </a:rPr>
              <a:t>kinds </a:t>
            </a:r>
            <a:r>
              <a:rPr sz="2000" spc="-5" dirty="0">
                <a:latin typeface="Calibri"/>
                <a:cs typeface="Calibri"/>
              </a:rPr>
              <a:t>of </a:t>
            </a:r>
            <a:r>
              <a:rPr sz="2000" spc="-10" dirty="0">
                <a:latin typeface="Calibri"/>
                <a:cs typeface="Calibri"/>
              </a:rPr>
              <a:t>expressions </a:t>
            </a:r>
            <a:r>
              <a:rPr sz="2000" dirty="0">
                <a:latin typeface="Calibri"/>
                <a:cs typeface="Calibri"/>
              </a:rPr>
              <a:t>in</a:t>
            </a:r>
            <a:r>
              <a:rPr sz="2000" spc="5" dirty="0">
                <a:latin typeface="Calibri"/>
                <a:cs typeface="Calibri"/>
              </a:rPr>
              <a:t> </a:t>
            </a:r>
            <a:r>
              <a:rPr sz="2000" spc="-5" dirty="0">
                <a:latin typeface="Calibri"/>
                <a:cs typeface="Calibri"/>
              </a:rPr>
              <a:t>C:</a:t>
            </a:r>
            <a:endParaRPr sz="2000" dirty="0">
              <a:latin typeface="Calibri"/>
              <a:cs typeface="Calibri"/>
            </a:endParaRPr>
          </a:p>
          <a:p>
            <a:pPr marL="12700">
              <a:lnSpc>
                <a:spcPct val="100000"/>
              </a:lnSpc>
              <a:spcBef>
                <a:spcPts val="275"/>
              </a:spcBef>
            </a:pPr>
            <a:r>
              <a:rPr sz="2000" b="1" dirty="0">
                <a:latin typeface="Calibri"/>
                <a:cs typeface="Calibri"/>
              </a:rPr>
              <a:t>1.</a:t>
            </a:r>
            <a:r>
              <a:rPr sz="2000" b="1" spc="-300" dirty="0">
                <a:latin typeface="Calibri"/>
                <a:cs typeface="Calibri"/>
              </a:rPr>
              <a:t> </a:t>
            </a:r>
            <a:r>
              <a:rPr sz="2000" b="1" spc="-5" dirty="0">
                <a:latin typeface="Calibri"/>
                <a:cs typeface="Calibri"/>
              </a:rPr>
              <a:t>lvalue</a:t>
            </a:r>
            <a:endParaRPr sz="2000" dirty="0">
              <a:latin typeface="Calibri"/>
              <a:cs typeface="Calibri"/>
            </a:endParaRPr>
          </a:p>
          <a:p>
            <a:pPr marL="184785" indent="-172085">
              <a:lnSpc>
                <a:spcPts val="2039"/>
              </a:lnSpc>
              <a:spcBef>
                <a:spcPts val="285"/>
              </a:spcBef>
              <a:buFont typeface="Arial"/>
              <a:buChar char="•"/>
              <a:tabLst>
                <a:tab pos="185420" algn="l"/>
              </a:tabLst>
            </a:pPr>
            <a:r>
              <a:rPr sz="2000" dirty="0">
                <a:latin typeface="Calibri"/>
                <a:cs typeface="Calibri"/>
              </a:rPr>
              <a:t>An </a:t>
            </a:r>
            <a:r>
              <a:rPr sz="2000" spc="-10" dirty="0">
                <a:latin typeface="Calibri"/>
                <a:cs typeface="Calibri"/>
              </a:rPr>
              <a:t>expression </a:t>
            </a:r>
            <a:r>
              <a:rPr sz="2000" spc="-5" dirty="0">
                <a:latin typeface="Calibri"/>
                <a:cs typeface="Calibri"/>
              </a:rPr>
              <a:t>that </a:t>
            </a:r>
            <a:r>
              <a:rPr sz="2000" dirty="0">
                <a:latin typeface="Calibri"/>
                <a:cs typeface="Calibri"/>
              </a:rPr>
              <a:t>is an </a:t>
            </a:r>
            <a:r>
              <a:rPr sz="2000" spc="-10" dirty="0">
                <a:latin typeface="Calibri"/>
                <a:cs typeface="Calibri"/>
              </a:rPr>
              <a:t>lvalue  </a:t>
            </a:r>
            <a:r>
              <a:rPr sz="2000" spc="-15" dirty="0">
                <a:latin typeface="Calibri"/>
                <a:cs typeface="Calibri"/>
              </a:rPr>
              <a:t>may </a:t>
            </a:r>
            <a:r>
              <a:rPr sz="2000" dirty="0">
                <a:latin typeface="Calibri"/>
                <a:cs typeface="Calibri"/>
              </a:rPr>
              <a:t>appear as either the </a:t>
            </a:r>
            <a:r>
              <a:rPr sz="2000" spc="-5" dirty="0">
                <a:latin typeface="Calibri"/>
                <a:cs typeface="Calibri"/>
              </a:rPr>
              <a:t>left-hand </a:t>
            </a:r>
            <a:r>
              <a:rPr sz="2000" dirty="0">
                <a:latin typeface="Calibri"/>
                <a:cs typeface="Calibri"/>
              </a:rPr>
              <a:t>or </a:t>
            </a:r>
            <a:r>
              <a:rPr sz="2000" spc="-5" dirty="0">
                <a:latin typeface="Calibri"/>
                <a:cs typeface="Calibri"/>
              </a:rPr>
              <a:t>right-hand side </a:t>
            </a:r>
            <a:r>
              <a:rPr sz="2000" dirty="0">
                <a:latin typeface="Calibri"/>
                <a:cs typeface="Calibri"/>
              </a:rPr>
              <a:t>of</a:t>
            </a:r>
            <a:r>
              <a:rPr sz="2000" spc="110" dirty="0">
                <a:latin typeface="Calibri"/>
                <a:cs typeface="Calibri"/>
              </a:rPr>
              <a:t> </a:t>
            </a:r>
            <a:r>
              <a:rPr sz="2000" dirty="0">
                <a:latin typeface="Calibri"/>
                <a:cs typeface="Calibri"/>
              </a:rPr>
              <a:t>an</a:t>
            </a:r>
          </a:p>
          <a:p>
            <a:pPr marL="184785">
              <a:lnSpc>
                <a:spcPts val="2039"/>
              </a:lnSpc>
            </a:pPr>
            <a:r>
              <a:rPr sz="2000" spc="-5" dirty="0">
                <a:latin typeface="Calibri"/>
                <a:cs typeface="Calibri"/>
              </a:rPr>
              <a:t>assignment</a:t>
            </a:r>
            <a:r>
              <a:rPr sz="2000" spc="-5" dirty="0" smtClean="0">
                <a:latin typeface="Calibri"/>
                <a:cs typeface="Calibri"/>
              </a:rPr>
              <a:t>.</a:t>
            </a:r>
            <a:endParaRPr lang="en-US" sz="2000" spc="-5" dirty="0" smtClean="0">
              <a:latin typeface="Calibri"/>
              <a:cs typeface="Calibri"/>
            </a:endParaRPr>
          </a:p>
          <a:p>
            <a:pPr marL="184785">
              <a:lnSpc>
                <a:spcPts val="2039"/>
              </a:lnSpc>
            </a:pPr>
            <a:endParaRPr sz="2000" dirty="0">
              <a:latin typeface="Calibri"/>
              <a:cs typeface="Calibri"/>
            </a:endParaRPr>
          </a:p>
          <a:p>
            <a:pPr marL="12700">
              <a:lnSpc>
                <a:spcPct val="100000"/>
              </a:lnSpc>
              <a:spcBef>
                <a:spcPts val="275"/>
              </a:spcBef>
            </a:pPr>
            <a:r>
              <a:rPr sz="2000" b="1" dirty="0">
                <a:latin typeface="Calibri"/>
                <a:cs typeface="Calibri"/>
              </a:rPr>
              <a:t>2.</a:t>
            </a:r>
            <a:r>
              <a:rPr sz="2000" b="1" spc="-285" dirty="0">
                <a:latin typeface="Calibri"/>
                <a:cs typeface="Calibri"/>
              </a:rPr>
              <a:t> </a:t>
            </a:r>
            <a:r>
              <a:rPr sz="2000" b="1" spc="-10" dirty="0">
                <a:latin typeface="Calibri"/>
                <a:cs typeface="Calibri"/>
              </a:rPr>
              <a:t>Rvalue</a:t>
            </a:r>
            <a:endParaRPr sz="2000" dirty="0">
              <a:latin typeface="Calibri"/>
              <a:cs typeface="Calibri"/>
            </a:endParaRPr>
          </a:p>
          <a:p>
            <a:pPr marL="184785" indent="-172085">
              <a:lnSpc>
                <a:spcPct val="100000"/>
              </a:lnSpc>
              <a:spcBef>
                <a:spcPts val="275"/>
              </a:spcBef>
              <a:buFont typeface="Arial"/>
              <a:buChar char="•"/>
              <a:tabLst>
                <a:tab pos="185420" algn="l"/>
              </a:tabLst>
            </a:pPr>
            <a:r>
              <a:rPr sz="2000" dirty="0">
                <a:latin typeface="Calibri"/>
                <a:cs typeface="Calibri"/>
              </a:rPr>
              <a:t>An </a:t>
            </a:r>
            <a:r>
              <a:rPr sz="2000" spc="-10" dirty="0">
                <a:latin typeface="Calibri"/>
                <a:cs typeface="Calibri"/>
              </a:rPr>
              <a:t>expression </a:t>
            </a:r>
            <a:r>
              <a:rPr sz="2000" spc="-5" dirty="0">
                <a:latin typeface="Calibri"/>
                <a:cs typeface="Calibri"/>
              </a:rPr>
              <a:t>that </a:t>
            </a:r>
            <a:r>
              <a:rPr sz="2000" dirty="0">
                <a:latin typeface="Calibri"/>
                <a:cs typeface="Calibri"/>
              </a:rPr>
              <a:t>is an </a:t>
            </a:r>
            <a:r>
              <a:rPr sz="2000" spc="-5" dirty="0">
                <a:latin typeface="Calibri"/>
                <a:cs typeface="Calibri"/>
              </a:rPr>
              <a:t>rvalue  </a:t>
            </a:r>
            <a:r>
              <a:rPr sz="2000" spc="-15" dirty="0">
                <a:latin typeface="Calibri"/>
                <a:cs typeface="Calibri"/>
              </a:rPr>
              <a:t>may </a:t>
            </a:r>
            <a:r>
              <a:rPr sz="2000" dirty="0">
                <a:latin typeface="Calibri"/>
                <a:cs typeface="Calibri"/>
              </a:rPr>
              <a:t>appear </a:t>
            </a:r>
            <a:r>
              <a:rPr sz="2000" spc="-5" dirty="0">
                <a:latin typeface="Calibri"/>
                <a:cs typeface="Calibri"/>
              </a:rPr>
              <a:t>on </a:t>
            </a:r>
            <a:r>
              <a:rPr sz="2000" dirty="0">
                <a:latin typeface="Calibri"/>
                <a:cs typeface="Calibri"/>
              </a:rPr>
              <a:t>the </a:t>
            </a:r>
            <a:r>
              <a:rPr sz="2000" spc="-5" dirty="0">
                <a:latin typeface="Calibri"/>
                <a:cs typeface="Calibri"/>
              </a:rPr>
              <a:t>right-  </a:t>
            </a:r>
            <a:r>
              <a:rPr sz="2000" dirty="0">
                <a:latin typeface="Calibri"/>
                <a:cs typeface="Calibri"/>
              </a:rPr>
              <a:t>but </a:t>
            </a:r>
            <a:r>
              <a:rPr sz="2000" spc="-5" dirty="0">
                <a:latin typeface="Calibri"/>
                <a:cs typeface="Calibri"/>
              </a:rPr>
              <a:t>not left-hand side of </a:t>
            </a:r>
            <a:r>
              <a:rPr sz="2000" dirty="0">
                <a:latin typeface="Calibri"/>
                <a:cs typeface="Calibri"/>
              </a:rPr>
              <a:t>an</a:t>
            </a:r>
            <a:r>
              <a:rPr sz="2000" spc="125" dirty="0">
                <a:latin typeface="Calibri"/>
                <a:cs typeface="Calibri"/>
              </a:rPr>
              <a:t> </a:t>
            </a:r>
            <a:r>
              <a:rPr sz="2000" spc="-5" dirty="0">
                <a:latin typeface="Calibri"/>
                <a:cs typeface="Calibri"/>
              </a:rPr>
              <a:t>assignment.</a:t>
            </a:r>
            <a:endParaRPr sz="2000" dirty="0">
              <a:latin typeface="Calibri"/>
              <a:cs typeface="Calibri"/>
            </a:endParaRPr>
          </a:p>
          <a:p>
            <a:pPr>
              <a:lnSpc>
                <a:spcPct val="100000"/>
              </a:lnSpc>
              <a:spcBef>
                <a:spcPts val="30"/>
              </a:spcBef>
              <a:buFont typeface="Arial"/>
              <a:buChar char="•"/>
            </a:pPr>
            <a:endParaRPr sz="2000" dirty="0">
              <a:latin typeface="Times New Roman"/>
              <a:cs typeface="Times New Roman"/>
            </a:endParaRPr>
          </a:p>
          <a:p>
            <a:pPr marL="184785" indent="-172085">
              <a:lnSpc>
                <a:spcPct val="100000"/>
              </a:lnSpc>
              <a:buFont typeface="Arial"/>
              <a:buChar char="•"/>
              <a:tabLst>
                <a:tab pos="185420" algn="l"/>
              </a:tabLst>
            </a:pPr>
            <a:r>
              <a:rPr sz="2000" spc="-15" dirty="0">
                <a:latin typeface="Calibri"/>
                <a:cs typeface="Calibri"/>
              </a:rPr>
              <a:t>Variables </a:t>
            </a:r>
            <a:r>
              <a:rPr sz="2000" spc="-10" dirty="0">
                <a:latin typeface="Calibri"/>
                <a:cs typeface="Calibri"/>
              </a:rPr>
              <a:t>are lvalues </a:t>
            </a:r>
            <a:r>
              <a:rPr sz="2000" dirty="0">
                <a:latin typeface="Calibri"/>
                <a:cs typeface="Calibri"/>
              </a:rPr>
              <a:t>and </a:t>
            </a:r>
            <a:r>
              <a:rPr sz="2000" spc="-5" dirty="0">
                <a:latin typeface="Calibri"/>
                <a:cs typeface="Calibri"/>
              </a:rPr>
              <a:t>so </a:t>
            </a:r>
            <a:r>
              <a:rPr sz="2000" spc="-10" dirty="0">
                <a:latin typeface="Calibri"/>
                <a:cs typeface="Calibri"/>
              </a:rPr>
              <a:t>may </a:t>
            </a:r>
            <a:r>
              <a:rPr sz="2000" dirty="0">
                <a:latin typeface="Calibri"/>
                <a:cs typeface="Calibri"/>
              </a:rPr>
              <a:t>appear on the </a:t>
            </a:r>
            <a:r>
              <a:rPr sz="2000" spc="-10" dirty="0">
                <a:latin typeface="Calibri"/>
                <a:cs typeface="Calibri"/>
              </a:rPr>
              <a:t>left-hand </a:t>
            </a:r>
            <a:r>
              <a:rPr sz="2000" spc="-5" dirty="0">
                <a:latin typeface="Calibri"/>
                <a:cs typeface="Calibri"/>
              </a:rPr>
              <a:t>side </a:t>
            </a:r>
            <a:r>
              <a:rPr sz="2000" dirty="0">
                <a:latin typeface="Calibri"/>
                <a:cs typeface="Calibri"/>
              </a:rPr>
              <a:t>of an </a:t>
            </a:r>
            <a:r>
              <a:rPr sz="2000" spc="140" dirty="0">
                <a:latin typeface="Calibri"/>
                <a:cs typeface="Calibri"/>
              </a:rPr>
              <a:t> </a:t>
            </a:r>
            <a:r>
              <a:rPr sz="2000" spc="-5" dirty="0">
                <a:latin typeface="Calibri"/>
                <a:cs typeface="Calibri"/>
              </a:rPr>
              <a:t>assignment.</a:t>
            </a:r>
            <a:endParaRPr sz="2000" dirty="0">
              <a:latin typeface="Calibri"/>
              <a:cs typeface="Calibri"/>
            </a:endParaRPr>
          </a:p>
          <a:p>
            <a:pPr marL="184785" indent="-172085">
              <a:lnSpc>
                <a:spcPct val="100000"/>
              </a:lnSpc>
              <a:spcBef>
                <a:spcPts val="275"/>
              </a:spcBef>
              <a:buFont typeface="Arial"/>
              <a:buChar char="•"/>
              <a:tabLst>
                <a:tab pos="185420" algn="l"/>
              </a:tabLst>
            </a:pPr>
            <a:r>
              <a:rPr sz="2000" spc="-5" dirty="0">
                <a:latin typeface="Calibri"/>
                <a:cs typeface="Calibri"/>
              </a:rPr>
              <a:t>Numeric </a:t>
            </a:r>
            <a:r>
              <a:rPr sz="2000" spc="-10" dirty="0">
                <a:latin typeface="Calibri"/>
                <a:cs typeface="Calibri"/>
              </a:rPr>
              <a:t>literals  are </a:t>
            </a:r>
            <a:r>
              <a:rPr sz="2000" dirty="0">
                <a:latin typeface="Calibri"/>
                <a:cs typeface="Calibri"/>
              </a:rPr>
              <a:t>rvalues and </a:t>
            </a:r>
            <a:r>
              <a:rPr sz="2000" spc="-5" dirty="0">
                <a:latin typeface="Calibri"/>
                <a:cs typeface="Calibri"/>
              </a:rPr>
              <a:t>so </a:t>
            </a:r>
            <a:r>
              <a:rPr sz="2000" spc="-15" dirty="0">
                <a:latin typeface="Calibri"/>
                <a:cs typeface="Calibri"/>
              </a:rPr>
              <a:t>may </a:t>
            </a:r>
            <a:r>
              <a:rPr sz="2000" spc="-5" dirty="0">
                <a:latin typeface="Calibri"/>
                <a:cs typeface="Calibri"/>
              </a:rPr>
              <a:t>not be </a:t>
            </a:r>
            <a:r>
              <a:rPr sz="2000" dirty="0">
                <a:latin typeface="Calibri"/>
                <a:cs typeface="Calibri"/>
              </a:rPr>
              <a:t>assigned and </a:t>
            </a:r>
            <a:r>
              <a:rPr sz="2000" spc="-5" dirty="0">
                <a:latin typeface="Calibri"/>
                <a:cs typeface="Calibri"/>
              </a:rPr>
              <a:t>cannot </a:t>
            </a:r>
            <a:r>
              <a:rPr sz="2000" dirty="0">
                <a:latin typeface="Calibri"/>
                <a:cs typeface="Calibri"/>
              </a:rPr>
              <a:t>appear </a:t>
            </a:r>
            <a:r>
              <a:rPr sz="2000" spc="-5" dirty="0">
                <a:latin typeface="Calibri"/>
                <a:cs typeface="Calibri"/>
              </a:rPr>
              <a:t>on </a:t>
            </a:r>
            <a:r>
              <a:rPr sz="2000" dirty="0">
                <a:latin typeface="Calibri"/>
                <a:cs typeface="Calibri"/>
              </a:rPr>
              <a:t>the left-hand</a:t>
            </a:r>
            <a:r>
              <a:rPr sz="2000" spc="105" dirty="0">
                <a:latin typeface="Calibri"/>
                <a:cs typeface="Calibri"/>
              </a:rPr>
              <a:t> </a:t>
            </a:r>
            <a:r>
              <a:rPr sz="2000" spc="-5" dirty="0">
                <a:latin typeface="Calibri"/>
                <a:cs typeface="Calibri"/>
              </a:rPr>
              <a:t>side.</a:t>
            </a:r>
            <a:endParaRPr sz="2000" dirty="0">
              <a:latin typeface="Calibri"/>
              <a:cs typeface="Calibri"/>
            </a:endParaRPr>
          </a:p>
          <a:p>
            <a:pPr marL="184785" indent="-172085">
              <a:lnSpc>
                <a:spcPts val="2345"/>
              </a:lnSpc>
              <a:spcBef>
                <a:spcPts val="285"/>
              </a:spcBef>
              <a:buFont typeface="Arial"/>
              <a:buChar char="•"/>
              <a:tabLst>
                <a:tab pos="185420" algn="l"/>
              </a:tabLst>
            </a:pPr>
            <a:r>
              <a:rPr sz="2000" spc="-10" dirty="0">
                <a:latin typeface="Calibri"/>
                <a:cs typeface="Calibri"/>
              </a:rPr>
              <a:t>Following </a:t>
            </a:r>
            <a:r>
              <a:rPr sz="2000" dirty="0">
                <a:latin typeface="Calibri"/>
                <a:cs typeface="Calibri"/>
              </a:rPr>
              <a:t>is a </a:t>
            </a:r>
            <a:r>
              <a:rPr sz="2000" spc="-10" dirty="0">
                <a:latin typeface="Calibri"/>
                <a:cs typeface="Calibri"/>
              </a:rPr>
              <a:t>valid</a:t>
            </a:r>
            <a:r>
              <a:rPr sz="2000" spc="-25" dirty="0">
                <a:latin typeface="Calibri"/>
                <a:cs typeface="Calibri"/>
              </a:rPr>
              <a:t> </a:t>
            </a:r>
            <a:r>
              <a:rPr sz="2000" spc="-15" dirty="0">
                <a:latin typeface="Calibri"/>
                <a:cs typeface="Calibri"/>
              </a:rPr>
              <a:t>statement:</a:t>
            </a:r>
            <a:endParaRPr sz="2000" dirty="0">
              <a:latin typeface="Calibri"/>
              <a:cs typeface="Calibri"/>
            </a:endParaRPr>
          </a:p>
          <a:p>
            <a:pPr marL="641985" lvl="1" indent="-172085">
              <a:lnSpc>
                <a:spcPts val="1985"/>
              </a:lnSpc>
              <a:buFont typeface="Arial"/>
              <a:buChar char="•"/>
              <a:tabLst>
                <a:tab pos="642620" algn="l"/>
              </a:tabLst>
            </a:pPr>
            <a:r>
              <a:rPr sz="2000" dirty="0">
                <a:latin typeface="Calibri"/>
                <a:cs typeface="Calibri"/>
              </a:rPr>
              <a:t>int g =</a:t>
            </a:r>
            <a:r>
              <a:rPr sz="2000" spc="-114" dirty="0">
                <a:latin typeface="Calibri"/>
                <a:cs typeface="Calibri"/>
              </a:rPr>
              <a:t> </a:t>
            </a:r>
            <a:r>
              <a:rPr sz="2000" dirty="0">
                <a:latin typeface="Calibri"/>
                <a:cs typeface="Calibri"/>
              </a:rPr>
              <a:t>20;</a:t>
            </a:r>
          </a:p>
          <a:p>
            <a:pPr marL="184785" indent="-172085">
              <a:lnSpc>
                <a:spcPts val="2345"/>
              </a:lnSpc>
              <a:spcBef>
                <a:spcPts val="275"/>
              </a:spcBef>
              <a:buFont typeface="Arial"/>
              <a:buChar char="•"/>
              <a:tabLst>
                <a:tab pos="185420" algn="l"/>
              </a:tabLst>
            </a:pPr>
            <a:r>
              <a:rPr sz="2000" dirty="0">
                <a:latin typeface="Calibri"/>
                <a:cs typeface="Calibri"/>
              </a:rPr>
              <a:t>But </a:t>
            </a:r>
            <a:r>
              <a:rPr sz="2000" spc="-10" dirty="0">
                <a:latin typeface="Calibri"/>
                <a:cs typeface="Calibri"/>
              </a:rPr>
              <a:t>following </a:t>
            </a:r>
            <a:r>
              <a:rPr sz="2000" dirty="0">
                <a:latin typeface="Calibri"/>
                <a:cs typeface="Calibri"/>
              </a:rPr>
              <a:t>is </a:t>
            </a:r>
            <a:r>
              <a:rPr sz="2000" spc="-5" dirty="0">
                <a:latin typeface="Calibri"/>
                <a:cs typeface="Calibri"/>
              </a:rPr>
              <a:t>not </a:t>
            </a:r>
            <a:r>
              <a:rPr sz="2000" dirty="0">
                <a:latin typeface="Calibri"/>
                <a:cs typeface="Calibri"/>
              </a:rPr>
              <a:t>a </a:t>
            </a:r>
            <a:r>
              <a:rPr sz="2000" spc="-5" dirty="0">
                <a:latin typeface="Calibri"/>
                <a:cs typeface="Calibri"/>
              </a:rPr>
              <a:t>valid </a:t>
            </a:r>
            <a:r>
              <a:rPr sz="2000" spc="-15" dirty="0">
                <a:latin typeface="Calibri"/>
                <a:cs typeface="Calibri"/>
              </a:rPr>
              <a:t>statement </a:t>
            </a:r>
            <a:r>
              <a:rPr sz="2000" dirty="0">
                <a:latin typeface="Calibri"/>
                <a:cs typeface="Calibri"/>
              </a:rPr>
              <a:t>and </a:t>
            </a:r>
            <a:r>
              <a:rPr sz="2000" spc="-10" dirty="0">
                <a:latin typeface="Calibri"/>
                <a:cs typeface="Calibri"/>
              </a:rPr>
              <a:t>would </a:t>
            </a:r>
            <a:r>
              <a:rPr sz="2000" spc="-15" dirty="0">
                <a:latin typeface="Calibri"/>
                <a:cs typeface="Calibri"/>
              </a:rPr>
              <a:t>generate </a:t>
            </a:r>
            <a:r>
              <a:rPr sz="2000" spc="-5" dirty="0">
                <a:latin typeface="Calibri"/>
                <a:cs typeface="Calibri"/>
              </a:rPr>
              <a:t>compile-time</a:t>
            </a:r>
            <a:r>
              <a:rPr sz="2000" spc="110" dirty="0">
                <a:latin typeface="Calibri"/>
                <a:cs typeface="Calibri"/>
              </a:rPr>
              <a:t> </a:t>
            </a:r>
            <a:r>
              <a:rPr sz="2000" spc="-10" dirty="0">
                <a:latin typeface="Calibri"/>
                <a:cs typeface="Calibri"/>
              </a:rPr>
              <a:t>error:</a:t>
            </a:r>
            <a:endParaRPr sz="2000" dirty="0">
              <a:latin typeface="Calibri"/>
              <a:cs typeface="Calibri"/>
            </a:endParaRPr>
          </a:p>
          <a:p>
            <a:pPr marL="469900">
              <a:lnSpc>
                <a:spcPts val="1985"/>
              </a:lnSpc>
            </a:pPr>
            <a:r>
              <a:rPr sz="2000" dirty="0">
                <a:latin typeface="Arial"/>
                <a:cs typeface="Arial"/>
              </a:rPr>
              <a:t>• </a:t>
            </a:r>
            <a:r>
              <a:rPr sz="2000" dirty="0">
                <a:latin typeface="Calibri"/>
                <a:cs typeface="Calibri"/>
              </a:rPr>
              <a:t>10 =</a:t>
            </a:r>
            <a:r>
              <a:rPr sz="2000" spc="195" dirty="0">
                <a:latin typeface="Calibri"/>
                <a:cs typeface="Calibri"/>
              </a:rPr>
              <a:t> </a:t>
            </a:r>
            <a:r>
              <a:rPr sz="2000" dirty="0">
                <a:latin typeface="Calibri"/>
                <a:cs typeface="Calibri"/>
              </a:rPr>
              <a:t>20;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C </a:t>
            </a:r>
            <a:r>
              <a:rPr spc="-20" dirty="0"/>
              <a:t>Constants </a:t>
            </a:r>
            <a:r>
              <a:rPr dirty="0"/>
              <a:t>and</a:t>
            </a:r>
            <a:r>
              <a:rPr spc="-25" dirty="0"/>
              <a:t> </a:t>
            </a:r>
            <a:r>
              <a:rPr spc="-15" dirty="0"/>
              <a:t>Literals</a:t>
            </a:r>
          </a:p>
        </p:txBody>
      </p:sp>
      <p:sp>
        <p:nvSpPr>
          <p:cNvPr id="3" name="object 3"/>
          <p:cNvSpPr txBox="1"/>
          <p:nvPr/>
        </p:nvSpPr>
        <p:spPr>
          <a:xfrm>
            <a:off x="916939" y="1805685"/>
            <a:ext cx="10014585" cy="3162404"/>
          </a:xfrm>
          <a:prstGeom prst="rect">
            <a:avLst/>
          </a:prstGeom>
        </p:spPr>
        <p:txBody>
          <a:bodyPr vert="horz" wrap="square" lIns="0" tIns="0" rIns="0" bIns="0" rtlCol="0">
            <a:spAutoFit/>
          </a:bodyPr>
          <a:lstStyle/>
          <a:p>
            <a:pPr marL="184785" indent="-172085">
              <a:lnSpc>
                <a:spcPts val="3190"/>
              </a:lnSpc>
              <a:buFont typeface="Arial"/>
              <a:buChar char="•"/>
              <a:tabLst>
                <a:tab pos="185420" algn="l"/>
              </a:tabLst>
            </a:pPr>
            <a:r>
              <a:rPr sz="2800" spc="-10" dirty="0">
                <a:latin typeface="Calibri"/>
                <a:cs typeface="Calibri"/>
              </a:rPr>
              <a:t>The </a:t>
            </a:r>
            <a:r>
              <a:rPr sz="2800" spc="-20" dirty="0">
                <a:latin typeface="Calibri"/>
                <a:cs typeface="Calibri"/>
              </a:rPr>
              <a:t>constants </a:t>
            </a:r>
            <a:r>
              <a:rPr sz="2800" spc="-30" dirty="0">
                <a:latin typeface="Calibri"/>
                <a:cs typeface="Calibri"/>
              </a:rPr>
              <a:t>refer </a:t>
            </a:r>
            <a:r>
              <a:rPr sz="2800" spc="-15" dirty="0">
                <a:latin typeface="Calibri"/>
                <a:cs typeface="Calibri"/>
              </a:rPr>
              <a:t>to </a:t>
            </a:r>
            <a:r>
              <a:rPr sz="2800" spc="-20" dirty="0">
                <a:latin typeface="Calibri"/>
                <a:cs typeface="Calibri"/>
              </a:rPr>
              <a:t>fixed </a:t>
            </a:r>
            <a:r>
              <a:rPr sz="2800" spc="-10" dirty="0">
                <a:latin typeface="Calibri"/>
                <a:cs typeface="Calibri"/>
              </a:rPr>
              <a:t>values that </a:t>
            </a:r>
            <a:r>
              <a:rPr sz="2800" spc="-5" dirty="0">
                <a:latin typeface="Calibri"/>
                <a:cs typeface="Calibri"/>
              </a:rPr>
              <a:t>the </a:t>
            </a:r>
            <a:r>
              <a:rPr sz="2800" spc="-25" dirty="0">
                <a:latin typeface="Calibri"/>
                <a:cs typeface="Calibri"/>
              </a:rPr>
              <a:t>program </a:t>
            </a:r>
            <a:r>
              <a:rPr sz="2800" spc="-20" dirty="0">
                <a:latin typeface="Calibri"/>
                <a:cs typeface="Calibri"/>
              </a:rPr>
              <a:t>may </a:t>
            </a:r>
            <a:r>
              <a:rPr sz="2800" spc="-10" dirty="0">
                <a:latin typeface="Calibri"/>
                <a:cs typeface="Calibri"/>
              </a:rPr>
              <a:t>not</a:t>
            </a:r>
            <a:r>
              <a:rPr sz="2800" spc="275" dirty="0">
                <a:latin typeface="Calibri"/>
                <a:cs typeface="Calibri"/>
              </a:rPr>
              <a:t> </a:t>
            </a:r>
            <a:r>
              <a:rPr sz="2800" spc="-10" dirty="0">
                <a:latin typeface="Calibri"/>
                <a:cs typeface="Calibri"/>
              </a:rPr>
              <a:t>alter</a:t>
            </a:r>
            <a:endParaRPr sz="2800" dirty="0">
              <a:latin typeface="Calibri"/>
              <a:cs typeface="Calibri"/>
            </a:endParaRPr>
          </a:p>
          <a:p>
            <a:pPr marL="184785">
              <a:lnSpc>
                <a:spcPts val="3190"/>
              </a:lnSpc>
            </a:pPr>
            <a:r>
              <a:rPr sz="2800" spc="-10" dirty="0">
                <a:latin typeface="Calibri"/>
                <a:cs typeface="Calibri"/>
              </a:rPr>
              <a:t>during </a:t>
            </a:r>
            <a:r>
              <a:rPr sz="2800" spc="-5" dirty="0">
                <a:latin typeface="Calibri"/>
                <a:cs typeface="Calibri"/>
              </a:rPr>
              <a:t>its</a:t>
            </a:r>
            <a:r>
              <a:rPr sz="2800" spc="15" dirty="0">
                <a:latin typeface="Calibri"/>
                <a:cs typeface="Calibri"/>
              </a:rPr>
              <a:t> </a:t>
            </a:r>
            <a:r>
              <a:rPr sz="2800" spc="-20" dirty="0">
                <a:latin typeface="Calibri"/>
                <a:cs typeface="Calibri"/>
              </a:rPr>
              <a:t>execution.</a:t>
            </a:r>
            <a:endParaRPr sz="2800" dirty="0">
              <a:latin typeface="Calibri"/>
              <a:cs typeface="Calibri"/>
            </a:endParaRPr>
          </a:p>
          <a:p>
            <a:pPr marL="184785" indent="-172085">
              <a:lnSpc>
                <a:spcPct val="100000"/>
              </a:lnSpc>
              <a:spcBef>
                <a:spcPts val="675"/>
              </a:spcBef>
              <a:buFont typeface="Arial"/>
              <a:buChar char="•"/>
              <a:tabLst>
                <a:tab pos="185420" algn="l"/>
              </a:tabLst>
            </a:pPr>
            <a:r>
              <a:rPr sz="2800" spc="-10" dirty="0">
                <a:latin typeface="Calibri"/>
                <a:cs typeface="Calibri"/>
              </a:rPr>
              <a:t>These </a:t>
            </a:r>
            <a:r>
              <a:rPr sz="2800" spc="-20" dirty="0">
                <a:latin typeface="Calibri"/>
                <a:cs typeface="Calibri"/>
              </a:rPr>
              <a:t>fixed </a:t>
            </a:r>
            <a:r>
              <a:rPr sz="2800" spc="-10" dirty="0">
                <a:latin typeface="Calibri"/>
                <a:cs typeface="Calibri"/>
              </a:rPr>
              <a:t>values </a:t>
            </a:r>
            <a:r>
              <a:rPr sz="2800" spc="-15" dirty="0">
                <a:latin typeface="Calibri"/>
                <a:cs typeface="Calibri"/>
              </a:rPr>
              <a:t>are </a:t>
            </a:r>
            <a:r>
              <a:rPr sz="2800" spc="-10" dirty="0">
                <a:latin typeface="Calibri"/>
                <a:cs typeface="Calibri"/>
              </a:rPr>
              <a:t>also called</a:t>
            </a:r>
            <a:r>
              <a:rPr sz="2800" spc="80" dirty="0">
                <a:latin typeface="Calibri"/>
                <a:cs typeface="Calibri"/>
              </a:rPr>
              <a:t> </a:t>
            </a:r>
            <a:r>
              <a:rPr sz="2800" spc="-15" dirty="0">
                <a:latin typeface="Calibri"/>
                <a:cs typeface="Calibri"/>
              </a:rPr>
              <a:t>literals.</a:t>
            </a:r>
            <a:endParaRPr sz="2800" dirty="0">
              <a:latin typeface="Calibri"/>
              <a:cs typeface="Calibri"/>
            </a:endParaRPr>
          </a:p>
          <a:p>
            <a:pPr marL="184785" indent="-172085">
              <a:lnSpc>
                <a:spcPts val="3190"/>
              </a:lnSpc>
              <a:spcBef>
                <a:spcPts val="660"/>
              </a:spcBef>
              <a:buFont typeface="Arial"/>
              <a:buChar char="•"/>
              <a:tabLst>
                <a:tab pos="185420" algn="l"/>
              </a:tabLst>
            </a:pPr>
            <a:r>
              <a:rPr sz="2800" spc="-20" dirty="0">
                <a:latin typeface="Calibri"/>
                <a:cs typeface="Calibri"/>
              </a:rPr>
              <a:t>Constants </a:t>
            </a:r>
            <a:r>
              <a:rPr sz="2800" spc="-10" dirty="0">
                <a:latin typeface="Calibri"/>
                <a:cs typeface="Calibri"/>
              </a:rPr>
              <a:t>can </a:t>
            </a:r>
            <a:r>
              <a:rPr sz="2800" spc="-5" dirty="0">
                <a:latin typeface="Calibri"/>
                <a:cs typeface="Calibri"/>
              </a:rPr>
              <a:t>be of </a:t>
            </a:r>
            <a:r>
              <a:rPr sz="2800" spc="-20" dirty="0">
                <a:latin typeface="Calibri"/>
                <a:cs typeface="Calibri"/>
              </a:rPr>
              <a:t>any </a:t>
            </a:r>
            <a:r>
              <a:rPr sz="2800" spc="-5" dirty="0">
                <a:latin typeface="Calibri"/>
                <a:cs typeface="Calibri"/>
              </a:rPr>
              <a:t>of the </a:t>
            </a:r>
            <a:r>
              <a:rPr sz="2800" spc="-10" dirty="0">
                <a:latin typeface="Calibri"/>
                <a:cs typeface="Calibri"/>
              </a:rPr>
              <a:t>basic </a:t>
            </a:r>
            <a:r>
              <a:rPr sz="2800" spc="-20" dirty="0">
                <a:latin typeface="Calibri"/>
                <a:cs typeface="Calibri"/>
              </a:rPr>
              <a:t>data </a:t>
            </a:r>
            <a:r>
              <a:rPr sz="2800" spc="-5" dirty="0">
                <a:latin typeface="Calibri"/>
                <a:cs typeface="Calibri"/>
              </a:rPr>
              <a:t>types </a:t>
            </a:r>
            <a:r>
              <a:rPr sz="2800" spc="-30" dirty="0">
                <a:latin typeface="Calibri"/>
                <a:cs typeface="Calibri"/>
              </a:rPr>
              <a:t>like </a:t>
            </a:r>
            <a:r>
              <a:rPr sz="2800" dirty="0">
                <a:latin typeface="Calibri"/>
                <a:cs typeface="Calibri"/>
              </a:rPr>
              <a:t>an</a:t>
            </a:r>
            <a:r>
              <a:rPr sz="2800" spc="215" dirty="0">
                <a:latin typeface="Calibri"/>
                <a:cs typeface="Calibri"/>
              </a:rPr>
              <a:t> </a:t>
            </a:r>
            <a:r>
              <a:rPr sz="2800" spc="-15" dirty="0">
                <a:latin typeface="Calibri"/>
                <a:cs typeface="Calibri"/>
              </a:rPr>
              <a:t>integer</a:t>
            </a:r>
            <a:endParaRPr sz="2800" dirty="0">
              <a:latin typeface="Calibri"/>
              <a:cs typeface="Calibri"/>
            </a:endParaRPr>
          </a:p>
          <a:p>
            <a:pPr marL="184785">
              <a:lnSpc>
                <a:spcPts val="3190"/>
              </a:lnSpc>
            </a:pPr>
            <a:r>
              <a:rPr sz="2800" spc="-20" dirty="0">
                <a:latin typeface="Calibri"/>
                <a:cs typeface="Calibri"/>
              </a:rPr>
              <a:t>constant, </a:t>
            </a:r>
            <a:r>
              <a:rPr sz="2800" spc="-5" dirty="0">
                <a:latin typeface="Calibri"/>
                <a:cs typeface="Calibri"/>
              </a:rPr>
              <a:t>a </a:t>
            </a:r>
            <a:r>
              <a:rPr sz="2800" spc="-10" dirty="0">
                <a:latin typeface="Calibri"/>
                <a:cs typeface="Calibri"/>
              </a:rPr>
              <a:t>floating </a:t>
            </a:r>
            <a:r>
              <a:rPr sz="2800" spc="-20" dirty="0">
                <a:latin typeface="Calibri"/>
                <a:cs typeface="Calibri"/>
              </a:rPr>
              <a:t>constant, </a:t>
            </a:r>
            <a:r>
              <a:rPr sz="2800" spc="-5" dirty="0">
                <a:latin typeface="Calibri"/>
                <a:cs typeface="Calibri"/>
              </a:rPr>
              <a:t>a </a:t>
            </a:r>
            <a:r>
              <a:rPr sz="2800" spc="-15" dirty="0">
                <a:latin typeface="Calibri"/>
                <a:cs typeface="Calibri"/>
              </a:rPr>
              <a:t>character </a:t>
            </a:r>
            <a:r>
              <a:rPr sz="2800" spc="-20" dirty="0">
                <a:latin typeface="Calibri"/>
                <a:cs typeface="Calibri"/>
              </a:rPr>
              <a:t>constant, </a:t>
            </a:r>
            <a:r>
              <a:rPr sz="2800" spc="-5" dirty="0">
                <a:latin typeface="Calibri"/>
                <a:cs typeface="Calibri"/>
              </a:rPr>
              <a:t>or a </a:t>
            </a:r>
            <a:r>
              <a:rPr sz="2800" spc="-10" dirty="0">
                <a:latin typeface="Calibri"/>
                <a:cs typeface="Calibri"/>
              </a:rPr>
              <a:t>string</a:t>
            </a:r>
            <a:r>
              <a:rPr sz="2800" spc="250" dirty="0">
                <a:latin typeface="Calibri"/>
                <a:cs typeface="Calibri"/>
              </a:rPr>
              <a:t> </a:t>
            </a:r>
            <a:r>
              <a:rPr sz="2800" spc="-15" dirty="0">
                <a:latin typeface="Calibri"/>
                <a:cs typeface="Calibri"/>
              </a:rPr>
              <a:t>literal.</a:t>
            </a:r>
            <a:endParaRPr sz="2800" dirty="0">
              <a:latin typeface="Calibri"/>
              <a:cs typeface="Calibri"/>
            </a:endParaRPr>
          </a:p>
          <a:p>
            <a:pPr marL="184785" marR="13970" indent="-172085">
              <a:lnSpc>
                <a:spcPts val="3020"/>
              </a:lnSpc>
              <a:spcBef>
                <a:spcPts val="1055"/>
              </a:spcBef>
              <a:buFont typeface="Arial"/>
              <a:buChar char="•"/>
              <a:tabLst>
                <a:tab pos="185420" algn="l"/>
              </a:tabLst>
            </a:pPr>
            <a:r>
              <a:rPr sz="2800" spc="-10" dirty="0" smtClean="0">
                <a:latin typeface="Calibri"/>
                <a:cs typeface="Calibri"/>
              </a:rPr>
              <a:t>The </a:t>
            </a:r>
            <a:r>
              <a:rPr sz="2800" spc="-20" dirty="0">
                <a:latin typeface="Calibri"/>
                <a:cs typeface="Calibri"/>
              </a:rPr>
              <a:t>constants are treated </a:t>
            </a:r>
            <a:r>
              <a:rPr sz="2800" spc="-15" dirty="0">
                <a:latin typeface="Calibri"/>
                <a:cs typeface="Calibri"/>
              </a:rPr>
              <a:t>just </a:t>
            </a:r>
            <a:r>
              <a:rPr sz="2800" spc="-30" dirty="0">
                <a:latin typeface="Calibri"/>
                <a:cs typeface="Calibri"/>
              </a:rPr>
              <a:t>like </a:t>
            </a:r>
            <a:r>
              <a:rPr sz="2800" spc="-10" dirty="0">
                <a:latin typeface="Calibri"/>
                <a:cs typeface="Calibri"/>
              </a:rPr>
              <a:t>regular variables </a:t>
            </a:r>
            <a:r>
              <a:rPr sz="2800" spc="-25" dirty="0">
                <a:latin typeface="Calibri"/>
                <a:cs typeface="Calibri"/>
              </a:rPr>
              <a:t>except </a:t>
            </a:r>
            <a:r>
              <a:rPr sz="2800" spc="-10" dirty="0">
                <a:latin typeface="Calibri"/>
                <a:cs typeface="Calibri"/>
              </a:rPr>
              <a:t>that </a:t>
            </a:r>
            <a:r>
              <a:rPr sz="2800" spc="-5" dirty="0">
                <a:latin typeface="Calibri"/>
                <a:cs typeface="Calibri"/>
              </a:rPr>
              <a:t>their  </a:t>
            </a:r>
            <a:r>
              <a:rPr sz="2800" spc="-10" dirty="0">
                <a:latin typeface="Calibri"/>
                <a:cs typeface="Calibri"/>
              </a:rPr>
              <a:t>values </a:t>
            </a:r>
            <a:r>
              <a:rPr sz="2800" spc="-5" dirty="0">
                <a:latin typeface="Calibri"/>
                <a:cs typeface="Calibri"/>
              </a:rPr>
              <a:t>cannot be </a:t>
            </a:r>
            <a:r>
              <a:rPr sz="2800" spc="-10" dirty="0">
                <a:latin typeface="Calibri"/>
                <a:cs typeface="Calibri"/>
              </a:rPr>
              <a:t>modified after </a:t>
            </a:r>
            <a:r>
              <a:rPr sz="2800" spc="-5" dirty="0">
                <a:latin typeface="Calibri"/>
                <a:cs typeface="Calibri"/>
              </a:rPr>
              <a:t>their</a:t>
            </a:r>
            <a:r>
              <a:rPr sz="2800" spc="20" dirty="0">
                <a:latin typeface="Calibri"/>
                <a:cs typeface="Calibri"/>
              </a:rPr>
              <a:t> </a:t>
            </a:r>
            <a:r>
              <a:rPr sz="2800" spc="-10" dirty="0">
                <a:latin typeface="Calibri"/>
                <a:cs typeface="Calibri"/>
              </a:rPr>
              <a:t>definition.</a:t>
            </a:r>
            <a:endParaRPr sz="2800" dirty="0">
              <a:latin typeface="Calibri"/>
              <a:cs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15" dirty="0"/>
              <a:t>Character</a:t>
            </a:r>
            <a:r>
              <a:rPr spc="-90" dirty="0"/>
              <a:t> </a:t>
            </a:r>
            <a:r>
              <a:rPr spc="-20" dirty="0"/>
              <a:t>constants</a:t>
            </a:r>
          </a:p>
        </p:txBody>
      </p:sp>
      <p:sp>
        <p:nvSpPr>
          <p:cNvPr id="3" name="object 3"/>
          <p:cNvSpPr txBox="1"/>
          <p:nvPr/>
        </p:nvSpPr>
        <p:spPr>
          <a:xfrm>
            <a:off x="916939" y="1805685"/>
            <a:ext cx="9717405" cy="3496945"/>
          </a:xfrm>
          <a:prstGeom prst="rect">
            <a:avLst/>
          </a:prstGeom>
        </p:spPr>
        <p:txBody>
          <a:bodyPr vert="horz" wrap="square" lIns="0" tIns="0" rIns="0" bIns="0" rtlCol="0">
            <a:spAutoFit/>
          </a:bodyPr>
          <a:lstStyle/>
          <a:p>
            <a:pPr marL="184785" indent="-172085">
              <a:lnSpc>
                <a:spcPts val="3190"/>
              </a:lnSpc>
              <a:buFont typeface="Arial"/>
              <a:buChar char="•"/>
              <a:tabLst>
                <a:tab pos="185420" algn="l"/>
              </a:tabLst>
            </a:pPr>
            <a:r>
              <a:rPr sz="2800" spc="-15" dirty="0">
                <a:latin typeface="Calibri"/>
                <a:cs typeface="Calibri"/>
              </a:rPr>
              <a:t>Character literals are </a:t>
            </a:r>
            <a:r>
              <a:rPr sz="2800" spc="-5" dirty="0">
                <a:latin typeface="Calibri"/>
                <a:cs typeface="Calibri"/>
              </a:rPr>
              <a:t>enclosed in </a:t>
            </a:r>
            <a:r>
              <a:rPr sz="2800" spc="-10" dirty="0">
                <a:latin typeface="Calibri"/>
                <a:cs typeface="Calibri"/>
              </a:rPr>
              <a:t>single quotes, </a:t>
            </a:r>
            <a:r>
              <a:rPr sz="2800" dirty="0">
                <a:latin typeface="Calibri"/>
                <a:cs typeface="Calibri"/>
              </a:rPr>
              <a:t>e.g., </a:t>
            </a:r>
            <a:r>
              <a:rPr sz="2800" spc="-5" dirty="0">
                <a:latin typeface="Calibri"/>
                <a:cs typeface="Calibri"/>
              </a:rPr>
              <a:t>'x' and </a:t>
            </a:r>
            <a:r>
              <a:rPr sz="2800" spc="-10" dirty="0">
                <a:latin typeface="Calibri"/>
                <a:cs typeface="Calibri"/>
              </a:rPr>
              <a:t>can</a:t>
            </a:r>
            <a:r>
              <a:rPr sz="2800" spc="150" dirty="0">
                <a:latin typeface="Calibri"/>
                <a:cs typeface="Calibri"/>
              </a:rPr>
              <a:t> </a:t>
            </a:r>
            <a:r>
              <a:rPr sz="2800" spc="-10" dirty="0">
                <a:latin typeface="Calibri"/>
                <a:cs typeface="Calibri"/>
              </a:rPr>
              <a:t>be</a:t>
            </a:r>
            <a:endParaRPr sz="2800">
              <a:latin typeface="Calibri"/>
              <a:cs typeface="Calibri"/>
            </a:endParaRPr>
          </a:p>
          <a:p>
            <a:pPr marL="184785">
              <a:lnSpc>
                <a:spcPts val="3190"/>
              </a:lnSpc>
            </a:pPr>
            <a:r>
              <a:rPr sz="2800" spc="-20" dirty="0">
                <a:latin typeface="Calibri"/>
                <a:cs typeface="Calibri"/>
              </a:rPr>
              <a:t>stored </a:t>
            </a:r>
            <a:r>
              <a:rPr sz="2800" spc="-5" dirty="0">
                <a:latin typeface="Calibri"/>
                <a:cs typeface="Calibri"/>
              </a:rPr>
              <a:t>in a </a:t>
            </a:r>
            <a:r>
              <a:rPr sz="2800" spc="-10" dirty="0">
                <a:latin typeface="Calibri"/>
                <a:cs typeface="Calibri"/>
              </a:rPr>
              <a:t>simple variable </a:t>
            </a:r>
            <a:r>
              <a:rPr sz="2800" spc="-5" dirty="0">
                <a:latin typeface="Calibri"/>
                <a:cs typeface="Calibri"/>
              </a:rPr>
              <a:t>of char</a:t>
            </a:r>
            <a:r>
              <a:rPr sz="2800" spc="65" dirty="0">
                <a:latin typeface="Calibri"/>
                <a:cs typeface="Calibri"/>
              </a:rPr>
              <a:t> </a:t>
            </a:r>
            <a:r>
              <a:rPr sz="2800" spc="-10" dirty="0">
                <a:latin typeface="Calibri"/>
                <a:cs typeface="Calibri"/>
              </a:rPr>
              <a:t>type.</a:t>
            </a:r>
            <a:endParaRPr sz="2800">
              <a:latin typeface="Calibri"/>
              <a:cs typeface="Calibri"/>
            </a:endParaRPr>
          </a:p>
          <a:p>
            <a:pPr marL="184785" marR="558800" indent="-172085" algn="just">
              <a:lnSpc>
                <a:spcPts val="3020"/>
              </a:lnSpc>
              <a:spcBef>
                <a:spcPts val="1055"/>
              </a:spcBef>
              <a:buFont typeface="Arial"/>
              <a:buChar char="•"/>
              <a:tabLst>
                <a:tab pos="185420" algn="l"/>
              </a:tabLst>
            </a:pPr>
            <a:r>
              <a:rPr sz="2800" spc="-5" dirty="0">
                <a:latin typeface="Calibri"/>
                <a:cs typeface="Calibri"/>
              </a:rPr>
              <a:t>A </a:t>
            </a:r>
            <a:r>
              <a:rPr sz="2800" spc="-15" dirty="0">
                <a:latin typeface="Calibri"/>
                <a:cs typeface="Calibri"/>
              </a:rPr>
              <a:t>character </a:t>
            </a:r>
            <a:r>
              <a:rPr sz="2800" spc="-20" dirty="0">
                <a:latin typeface="Calibri"/>
                <a:cs typeface="Calibri"/>
              </a:rPr>
              <a:t>literal </a:t>
            </a:r>
            <a:r>
              <a:rPr sz="2800" spc="-10" dirty="0">
                <a:latin typeface="Calibri"/>
                <a:cs typeface="Calibri"/>
              </a:rPr>
              <a:t>can </a:t>
            </a:r>
            <a:r>
              <a:rPr sz="2800" spc="-5" dirty="0">
                <a:latin typeface="Calibri"/>
                <a:cs typeface="Calibri"/>
              </a:rPr>
              <a:t>be a plain </a:t>
            </a:r>
            <a:r>
              <a:rPr sz="2800" spc="-15" dirty="0">
                <a:latin typeface="Calibri"/>
                <a:cs typeface="Calibri"/>
              </a:rPr>
              <a:t>character </a:t>
            </a:r>
            <a:r>
              <a:rPr sz="2800" dirty="0">
                <a:latin typeface="Calibri"/>
                <a:cs typeface="Calibri"/>
              </a:rPr>
              <a:t>(e.g., </a:t>
            </a:r>
            <a:r>
              <a:rPr sz="2800" spc="-10" dirty="0">
                <a:latin typeface="Calibri"/>
                <a:cs typeface="Calibri"/>
              </a:rPr>
              <a:t>'x'), </a:t>
            </a:r>
            <a:r>
              <a:rPr sz="2800" dirty="0">
                <a:latin typeface="Calibri"/>
                <a:cs typeface="Calibri"/>
              </a:rPr>
              <a:t>an </a:t>
            </a:r>
            <a:r>
              <a:rPr sz="2800" spc="-10" dirty="0">
                <a:latin typeface="Calibri"/>
                <a:cs typeface="Calibri"/>
              </a:rPr>
              <a:t>escape  </a:t>
            </a:r>
            <a:r>
              <a:rPr sz="2800" spc="-5" dirty="0">
                <a:latin typeface="Calibri"/>
                <a:cs typeface="Calibri"/>
              </a:rPr>
              <a:t>sequence </a:t>
            </a:r>
            <a:r>
              <a:rPr sz="2800" dirty="0">
                <a:latin typeface="Calibri"/>
                <a:cs typeface="Calibri"/>
              </a:rPr>
              <a:t>(e.g., </a:t>
            </a:r>
            <a:r>
              <a:rPr sz="2800" spc="-5" dirty="0">
                <a:latin typeface="Calibri"/>
                <a:cs typeface="Calibri"/>
              </a:rPr>
              <a:t>'\t'), or a </a:t>
            </a:r>
            <a:r>
              <a:rPr sz="2800" spc="-15" dirty="0">
                <a:latin typeface="Calibri"/>
                <a:cs typeface="Calibri"/>
              </a:rPr>
              <a:t>universal character </a:t>
            </a:r>
            <a:r>
              <a:rPr sz="2800" dirty="0">
                <a:latin typeface="Calibri"/>
                <a:cs typeface="Calibri"/>
              </a:rPr>
              <a:t>(e.g.,</a:t>
            </a:r>
            <a:r>
              <a:rPr sz="2800" spc="105" dirty="0">
                <a:latin typeface="Calibri"/>
                <a:cs typeface="Calibri"/>
              </a:rPr>
              <a:t> </a:t>
            </a:r>
            <a:r>
              <a:rPr sz="2800" spc="-5" dirty="0">
                <a:latin typeface="Calibri"/>
                <a:cs typeface="Calibri"/>
              </a:rPr>
              <a:t>'\u02C0').</a:t>
            </a:r>
            <a:endParaRPr sz="2800">
              <a:latin typeface="Calibri"/>
              <a:cs typeface="Calibri"/>
            </a:endParaRPr>
          </a:p>
          <a:p>
            <a:pPr marL="184785" marR="596265" indent="-172085" algn="just">
              <a:lnSpc>
                <a:spcPts val="3030"/>
              </a:lnSpc>
              <a:spcBef>
                <a:spcPts val="990"/>
              </a:spcBef>
              <a:buFont typeface="Arial"/>
              <a:buChar char="•"/>
              <a:tabLst>
                <a:tab pos="185420" algn="l"/>
              </a:tabLst>
            </a:pPr>
            <a:r>
              <a:rPr sz="2800" spc="-15" dirty="0">
                <a:latin typeface="Calibri"/>
                <a:cs typeface="Calibri"/>
              </a:rPr>
              <a:t>There are </a:t>
            </a:r>
            <a:r>
              <a:rPr sz="2800" spc="-10" dirty="0">
                <a:latin typeface="Calibri"/>
                <a:cs typeface="Calibri"/>
              </a:rPr>
              <a:t>certain </a:t>
            </a:r>
            <a:r>
              <a:rPr sz="2800" spc="-15" dirty="0">
                <a:latin typeface="Calibri"/>
                <a:cs typeface="Calibri"/>
              </a:rPr>
              <a:t>characters </a:t>
            </a:r>
            <a:r>
              <a:rPr sz="2800" spc="-5" dirty="0">
                <a:latin typeface="Calibri"/>
                <a:cs typeface="Calibri"/>
              </a:rPr>
              <a:t>in C when </a:t>
            </a:r>
            <a:r>
              <a:rPr sz="2800" spc="-10" dirty="0">
                <a:latin typeface="Calibri"/>
                <a:cs typeface="Calibri"/>
              </a:rPr>
              <a:t>they </a:t>
            </a:r>
            <a:r>
              <a:rPr sz="2800" spc="-15" dirty="0">
                <a:latin typeface="Calibri"/>
                <a:cs typeface="Calibri"/>
              </a:rPr>
              <a:t>are </a:t>
            </a:r>
            <a:r>
              <a:rPr sz="2800" spc="-10" dirty="0">
                <a:latin typeface="Calibri"/>
                <a:cs typeface="Calibri"/>
              </a:rPr>
              <a:t>preceded </a:t>
            </a:r>
            <a:r>
              <a:rPr sz="2800" spc="-15" dirty="0">
                <a:latin typeface="Calibri"/>
                <a:cs typeface="Calibri"/>
              </a:rPr>
              <a:t>by </a:t>
            </a:r>
            <a:r>
              <a:rPr sz="2800" spc="-5" dirty="0">
                <a:latin typeface="Calibri"/>
                <a:cs typeface="Calibri"/>
              </a:rPr>
              <a:t>a  </a:t>
            </a:r>
            <a:r>
              <a:rPr sz="2800" spc="-10" dirty="0">
                <a:latin typeface="Calibri"/>
                <a:cs typeface="Calibri"/>
              </a:rPr>
              <a:t>backslash they </a:t>
            </a:r>
            <a:r>
              <a:rPr sz="2800" spc="-5" dirty="0">
                <a:latin typeface="Calibri"/>
                <a:cs typeface="Calibri"/>
              </a:rPr>
              <a:t>will </a:t>
            </a:r>
            <a:r>
              <a:rPr sz="2800" spc="-25" dirty="0">
                <a:latin typeface="Calibri"/>
                <a:cs typeface="Calibri"/>
              </a:rPr>
              <a:t>have </a:t>
            </a:r>
            <a:r>
              <a:rPr sz="2800" spc="-10" dirty="0">
                <a:latin typeface="Calibri"/>
                <a:cs typeface="Calibri"/>
              </a:rPr>
              <a:t>special </a:t>
            </a:r>
            <a:r>
              <a:rPr sz="2800" spc="-5" dirty="0">
                <a:latin typeface="Calibri"/>
                <a:cs typeface="Calibri"/>
              </a:rPr>
              <a:t>meaning and </a:t>
            </a:r>
            <a:r>
              <a:rPr sz="2800" spc="-10" dirty="0">
                <a:latin typeface="Calibri"/>
                <a:cs typeface="Calibri"/>
              </a:rPr>
              <a:t>they </a:t>
            </a:r>
            <a:r>
              <a:rPr sz="2800" spc="-20" dirty="0">
                <a:latin typeface="Calibri"/>
                <a:cs typeface="Calibri"/>
              </a:rPr>
              <a:t>are </a:t>
            </a:r>
            <a:r>
              <a:rPr sz="2800" spc="-10" dirty="0">
                <a:latin typeface="Calibri"/>
                <a:cs typeface="Calibri"/>
              </a:rPr>
              <a:t>used </a:t>
            </a:r>
            <a:r>
              <a:rPr sz="2800" spc="-15" dirty="0">
                <a:latin typeface="Calibri"/>
                <a:cs typeface="Calibri"/>
              </a:rPr>
              <a:t>to  </a:t>
            </a:r>
            <a:r>
              <a:rPr sz="2800" spc="-20" dirty="0">
                <a:latin typeface="Calibri"/>
                <a:cs typeface="Calibri"/>
              </a:rPr>
              <a:t>represent </a:t>
            </a:r>
            <a:r>
              <a:rPr sz="2800" spc="-30" dirty="0">
                <a:latin typeface="Calibri"/>
                <a:cs typeface="Calibri"/>
              </a:rPr>
              <a:t>like </a:t>
            </a:r>
            <a:r>
              <a:rPr sz="2800" spc="-10" dirty="0">
                <a:latin typeface="Calibri"/>
                <a:cs typeface="Calibri"/>
              </a:rPr>
              <a:t>newline </a:t>
            </a:r>
            <a:r>
              <a:rPr sz="2800" spc="-5" dirty="0">
                <a:latin typeface="Calibri"/>
                <a:cs typeface="Calibri"/>
              </a:rPr>
              <a:t>(\n) or </a:t>
            </a:r>
            <a:r>
              <a:rPr sz="2800" spc="-15" dirty="0">
                <a:latin typeface="Calibri"/>
                <a:cs typeface="Calibri"/>
              </a:rPr>
              <a:t>tab</a:t>
            </a:r>
            <a:r>
              <a:rPr sz="2800" spc="114" dirty="0">
                <a:latin typeface="Calibri"/>
                <a:cs typeface="Calibri"/>
              </a:rPr>
              <a:t> </a:t>
            </a:r>
            <a:r>
              <a:rPr sz="2800" dirty="0">
                <a:latin typeface="Calibri"/>
                <a:cs typeface="Calibri"/>
              </a:rPr>
              <a:t>(\t).</a:t>
            </a:r>
            <a:endParaRPr sz="2800">
              <a:latin typeface="Calibri"/>
              <a:cs typeface="Calibri"/>
            </a:endParaRPr>
          </a:p>
          <a:p>
            <a:pPr marL="184785" indent="-172085">
              <a:lnSpc>
                <a:spcPct val="100000"/>
              </a:lnSpc>
              <a:spcBef>
                <a:spcPts val="610"/>
              </a:spcBef>
              <a:buFont typeface="Arial"/>
              <a:buChar char="•"/>
              <a:tabLst>
                <a:tab pos="185420" algn="l"/>
              </a:tabLst>
            </a:pPr>
            <a:r>
              <a:rPr sz="2800" spc="-15" dirty="0">
                <a:latin typeface="Calibri"/>
                <a:cs typeface="Calibri"/>
              </a:rPr>
              <a:t>Here, </a:t>
            </a:r>
            <a:r>
              <a:rPr sz="2800" spc="-20" dirty="0">
                <a:latin typeface="Calibri"/>
                <a:cs typeface="Calibri"/>
              </a:rPr>
              <a:t>you </a:t>
            </a:r>
            <a:r>
              <a:rPr sz="2800" spc="-25" dirty="0">
                <a:latin typeface="Calibri"/>
                <a:cs typeface="Calibri"/>
              </a:rPr>
              <a:t>have </a:t>
            </a:r>
            <a:r>
              <a:rPr sz="2800" spc="-5" dirty="0">
                <a:latin typeface="Calibri"/>
                <a:cs typeface="Calibri"/>
              </a:rPr>
              <a:t>a </a:t>
            </a:r>
            <a:r>
              <a:rPr sz="2800" spc="-15" dirty="0">
                <a:latin typeface="Calibri"/>
                <a:cs typeface="Calibri"/>
              </a:rPr>
              <a:t>list </a:t>
            </a:r>
            <a:r>
              <a:rPr sz="2800" spc="-5" dirty="0">
                <a:latin typeface="Calibri"/>
                <a:cs typeface="Calibri"/>
              </a:rPr>
              <a:t>of </a:t>
            </a:r>
            <a:r>
              <a:rPr sz="2800" spc="-10" dirty="0">
                <a:latin typeface="Calibri"/>
                <a:cs typeface="Calibri"/>
              </a:rPr>
              <a:t>some </a:t>
            </a:r>
            <a:r>
              <a:rPr sz="2800" spc="-5" dirty="0">
                <a:latin typeface="Calibri"/>
                <a:cs typeface="Calibri"/>
              </a:rPr>
              <a:t>of </a:t>
            </a:r>
            <a:r>
              <a:rPr sz="2800" spc="-10" dirty="0">
                <a:latin typeface="Calibri"/>
                <a:cs typeface="Calibri"/>
              </a:rPr>
              <a:t>such escape sequence</a:t>
            </a:r>
            <a:r>
              <a:rPr sz="2800" spc="245" dirty="0">
                <a:latin typeface="Calibri"/>
                <a:cs typeface="Calibri"/>
              </a:rPr>
              <a:t> </a:t>
            </a:r>
            <a:r>
              <a:rPr sz="2800" spc="-10" dirty="0">
                <a:latin typeface="Calibri"/>
                <a:cs typeface="Calibri"/>
              </a:rPr>
              <a:t>codes:</a:t>
            </a:r>
            <a:endParaRPr sz="2800">
              <a:latin typeface="Calibri"/>
              <a:cs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978151" y="195071"/>
            <a:ext cx="7304532" cy="6166104"/>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35077"/>
            <a:ext cx="9848215" cy="426720"/>
          </a:xfrm>
          <a:prstGeom prst="rect">
            <a:avLst/>
          </a:prstGeom>
        </p:spPr>
        <p:txBody>
          <a:bodyPr vert="horz" wrap="square" lIns="0" tIns="0" rIns="0" bIns="0" rtlCol="0">
            <a:spAutoFit/>
          </a:bodyPr>
          <a:lstStyle/>
          <a:p>
            <a:pPr marL="241300" indent="-228600">
              <a:lnSpc>
                <a:spcPct val="100000"/>
              </a:lnSpc>
              <a:buFont typeface="Arial"/>
              <a:buChar char="•"/>
              <a:tabLst>
                <a:tab pos="241935" algn="l"/>
              </a:tabLst>
            </a:pPr>
            <a:r>
              <a:rPr sz="2800" b="0" spc="-10" dirty="0">
                <a:latin typeface="Calibri"/>
                <a:cs typeface="Calibri"/>
              </a:rPr>
              <a:t>Following </a:t>
            </a:r>
            <a:r>
              <a:rPr sz="2800" b="0" spc="-5" dirty="0">
                <a:latin typeface="Calibri"/>
                <a:cs typeface="Calibri"/>
              </a:rPr>
              <a:t>is the </a:t>
            </a:r>
            <a:r>
              <a:rPr sz="2800" b="0" spc="-20" dirty="0">
                <a:latin typeface="Calibri"/>
                <a:cs typeface="Calibri"/>
              </a:rPr>
              <a:t>example </a:t>
            </a:r>
            <a:r>
              <a:rPr sz="2800" b="0" spc="-15" dirty="0">
                <a:latin typeface="Calibri"/>
                <a:cs typeface="Calibri"/>
              </a:rPr>
              <a:t>to </a:t>
            </a:r>
            <a:r>
              <a:rPr sz="2800" b="0" spc="-10" dirty="0">
                <a:latin typeface="Calibri"/>
                <a:cs typeface="Calibri"/>
              </a:rPr>
              <a:t>show </a:t>
            </a:r>
            <a:r>
              <a:rPr sz="2800" b="0" spc="-35" dirty="0">
                <a:latin typeface="Calibri"/>
                <a:cs typeface="Calibri"/>
              </a:rPr>
              <a:t>few </a:t>
            </a:r>
            <a:r>
              <a:rPr sz="2800" b="0" spc="-10" dirty="0">
                <a:latin typeface="Calibri"/>
                <a:cs typeface="Calibri"/>
              </a:rPr>
              <a:t>escape </a:t>
            </a:r>
            <a:r>
              <a:rPr sz="2800" b="0" spc="-5" dirty="0">
                <a:latin typeface="Calibri"/>
                <a:cs typeface="Calibri"/>
              </a:rPr>
              <a:t>sequence</a:t>
            </a:r>
            <a:r>
              <a:rPr sz="2800" b="0" spc="140" dirty="0">
                <a:latin typeface="Calibri"/>
                <a:cs typeface="Calibri"/>
              </a:rPr>
              <a:t> </a:t>
            </a:r>
            <a:r>
              <a:rPr sz="2800" b="0" spc="-15" dirty="0">
                <a:latin typeface="Calibri"/>
                <a:cs typeface="Calibri"/>
              </a:rPr>
              <a:t>characters:</a:t>
            </a:r>
            <a:endParaRPr sz="2800">
              <a:latin typeface="Calibri"/>
              <a:cs typeface="Calibri"/>
            </a:endParaRPr>
          </a:p>
        </p:txBody>
      </p:sp>
      <p:sp>
        <p:nvSpPr>
          <p:cNvPr id="3" name="object 3"/>
          <p:cNvSpPr txBox="1"/>
          <p:nvPr/>
        </p:nvSpPr>
        <p:spPr>
          <a:xfrm>
            <a:off x="916939" y="747140"/>
            <a:ext cx="9442450" cy="4873129"/>
          </a:xfrm>
          <a:prstGeom prst="rect">
            <a:avLst/>
          </a:prstGeom>
        </p:spPr>
        <p:txBody>
          <a:bodyPr vert="horz" wrap="square" lIns="0" tIns="0" rIns="0" bIns="0" rtlCol="0">
            <a:spAutoFit/>
          </a:bodyPr>
          <a:lstStyle/>
          <a:p>
            <a:pPr marL="12700">
              <a:lnSpc>
                <a:spcPct val="100000"/>
              </a:lnSpc>
              <a:tabLst>
                <a:tab pos="241935" algn="l"/>
              </a:tabLst>
            </a:pPr>
            <a:r>
              <a:rPr sz="2800" spc="-10" dirty="0">
                <a:latin typeface="Calibri"/>
                <a:cs typeface="Calibri"/>
              </a:rPr>
              <a:t>#include</a:t>
            </a:r>
            <a:r>
              <a:rPr sz="2800" spc="-5" dirty="0">
                <a:latin typeface="Calibri"/>
                <a:cs typeface="Calibri"/>
              </a:rPr>
              <a:t> </a:t>
            </a:r>
            <a:r>
              <a:rPr sz="2800" spc="-15" dirty="0">
                <a:latin typeface="Calibri"/>
                <a:cs typeface="Calibri"/>
              </a:rPr>
              <a:t>&lt;stdio.h&gt;</a:t>
            </a:r>
            <a:endParaRPr sz="2800" dirty="0">
              <a:latin typeface="Calibri"/>
              <a:cs typeface="Calibri"/>
            </a:endParaRPr>
          </a:p>
          <a:p>
            <a:pPr marL="12700">
              <a:lnSpc>
                <a:spcPct val="100000"/>
              </a:lnSpc>
              <a:spcBef>
                <a:spcPts val="660"/>
              </a:spcBef>
              <a:tabLst>
                <a:tab pos="241935" algn="l"/>
              </a:tabLst>
            </a:pPr>
            <a:r>
              <a:rPr sz="2800" spc="-15" dirty="0" err="1" smtClean="0">
                <a:latin typeface="Calibri"/>
                <a:cs typeface="Calibri"/>
              </a:rPr>
              <a:t>int</a:t>
            </a:r>
            <a:r>
              <a:rPr sz="2800" spc="-90" dirty="0" smtClean="0">
                <a:latin typeface="Calibri"/>
                <a:cs typeface="Calibri"/>
              </a:rPr>
              <a:t> </a:t>
            </a:r>
            <a:r>
              <a:rPr sz="2800" spc="-5" dirty="0">
                <a:latin typeface="Calibri"/>
                <a:cs typeface="Calibri"/>
              </a:rPr>
              <a:t>main()</a:t>
            </a:r>
            <a:endParaRPr sz="2800" dirty="0">
              <a:latin typeface="Calibri"/>
              <a:cs typeface="Calibri"/>
            </a:endParaRPr>
          </a:p>
          <a:p>
            <a:pPr marL="12700">
              <a:lnSpc>
                <a:spcPct val="100000"/>
              </a:lnSpc>
              <a:spcBef>
                <a:spcPts val="660"/>
              </a:spcBef>
            </a:pPr>
            <a:r>
              <a:rPr sz="2800" spc="-5" dirty="0" smtClean="0">
                <a:latin typeface="Calibri"/>
                <a:cs typeface="Calibri"/>
              </a:rPr>
              <a:t>{</a:t>
            </a:r>
            <a:endParaRPr sz="2800" dirty="0">
              <a:latin typeface="Calibri"/>
              <a:cs typeface="Calibri"/>
            </a:endParaRPr>
          </a:p>
          <a:p>
            <a:pPr marL="12700">
              <a:lnSpc>
                <a:spcPct val="100000"/>
              </a:lnSpc>
              <a:spcBef>
                <a:spcPts val="670"/>
              </a:spcBef>
              <a:tabLst>
                <a:tab pos="241935" algn="l"/>
              </a:tabLst>
            </a:pPr>
            <a:r>
              <a:rPr lang="en-US" sz="2800" spc="-15" dirty="0" smtClean="0">
                <a:latin typeface="Calibri"/>
                <a:cs typeface="Calibri"/>
              </a:rPr>
              <a:t>	</a:t>
            </a:r>
            <a:r>
              <a:rPr sz="2800" spc="-15" dirty="0" err="1" smtClean="0">
                <a:latin typeface="Calibri"/>
                <a:cs typeface="Calibri"/>
              </a:rPr>
              <a:t>printf</a:t>
            </a:r>
            <a:r>
              <a:rPr sz="2800" spc="-15" dirty="0">
                <a:latin typeface="Calibri"/>
                <a:cs typeface="Calibri"/>
              </a:rPr>
              <a:t>("Hello\tWorld\n\n");</a:t>
            </a:r>
            <a:endParaRPr sz="2800" dirty="0">
              <a:latin typeface="Calibri"/>
              <a:cs typeface="Calibri"/>
            </a:endParaRPr>
          </a:p>
          <a:p>
            <a:pPr marL="12700">
              <a:lnSpc>
                <a:spcPct val="100000"/>
              </a:lnSpc>
              <a:spcBef>
                <a:spcPts val="660"/>
              </a:spcBef>
              <a:tabLst>
                <a:tab pos="241935" algn="l"/>
              </a:tabLst>
            </a:pPr>
            <a:r>
              <a:rPr lang="en-US" sz="2800" spc="-15" dirty="0" smtClean="0">
                <a:latin typeface="Calibri"/>
                <a:cs typeface="Calibri"/>
              </a:rPr>
              <a:t>	</a:t>
            </a:r>
            <a:r>
              <a:rPr sz="2800" spc="-15" dirty="0" smtClean="0">
                <a:latin typeface="Calibri"/>
                <a:cs typeface="Calibri"/>
              </a:rPr>
              <a:t>return</a:t>
            </a:r>
            <a:r>
              <a:rPr sz="2800" spc="-70" dirty="0" smtClean="0">
                <a:latin typeface="Calibri"/>
                <a:cs typeface="Calibri"/>
              </a:rPr>
              <a:t> </a:t>
            </a:r>
            <a:r>
              <a:rPr sz="2800" spc="-5" dirty="0">
                <a:latin typeface="Calibri"/>
                <a:cs typeface="Calibri"/>
              </a:rPr>
              <a:t>0;</a:t>
            </a:r>
            <a:endParaRPr sz="2800" dirty="0">
              <a:latin typeface="Calibri"/>
              <a:cs typeface="Calibri"/>
            </a:endParaRPr>
          </a:p>
          <a:p>
            <a:pPr marL="12700">
              <a:lnSpc>
                <a:spcPct val="100000"/>
              </a:lnSpc>
              <a:spcBef>
                <a:spcPts val="660"/>
              </a:spcBef>
            </a:pPr>
            <a:r>
              <a:rPr sz="2800" spc="-5" dirty="0" smtClean="0">
                <a:latin typeface="Calibri"/>
                <a:cs typeface="Calibri"/>
              </a:rPr>
              <a:t>}</a:t>
            </a:r>
            <a:endParaRPr sz="2800" dirty="0">
              <a:latin typeface="Calibri"/>
              <a:cs typeface="Calibri"/>
            </a:endParaRPr>
          </a:p>
          <a:p>
            <a:pPr>
              <a:lnSpc>
                <a:spcPct val="100000"/>
              </a:lnSpc>
              <a:spcBef>
                <a:spcPts val="30"/>
              </a:spcBef>
            </a:pPr>
            <a:endParaRPr sz="4050" dirty="0">
              <a:latin typeface="Times New Roman"/>
              <a:cs typeface="Times New Roman"/>
            </a:endParaRPr>
          </a:p>
          <a:p>
            <a:pPr marL="184785" indent="-172085">
              <a:lnSpc>
                <a:spcPts val="3195"/>
              </a:lnSpc>
              <a:spcBef>
                <a:spcPts val="5"/>
              </a:spcBef>
              <a:buFont typeface="Arial"/>
              <a:buChar char="•"/>
              <a:tabLst>
                <a:tab pos="185420" algn="l"/>
              </a:tabLst>
            </a:pPr>
            <a:r>
              <a:rPr sz="2800" spc="-5" dirty="0">
                <a:latin typeface="Calibri"/>
                <a:cs typeface="Calibri"/>
              </a:rPr>
              <a:t>When the </a:t>
            </a:r>
            <a:r>
              <a:rPr sz="2800" spc="-15" dirty="0">
                <a:latin typeface="Calibri"/>
                <a:cs typeface="Calibri"/>
              </a:rPr>
              <a:t>above </a:t>
            </a:r>
            <a:r>
              <a:rPr sz="2800" spc="-10" dirty="0">
                <a:latin typeface="Calibri"/>
                <a:cs typeface="Calibri"/>
              </a:rPr>
              <a:t>code is compiled </a:t>
            </a:r>
            <a:r>
              <a:rPr sz="2800" spc="-5" dirty="0">
                <a:latin typeface="Calibri"/>
                <a:cs typeface="Calibri"/>
              </a:rPr>
              <a:t>and </a:t>
            </a:r>
            <a:r>
              <a:rPr sz="2800" spc="-20" dirty="0">
                <a:latin typeface="Calibri"/>
                <a:cs typeface="Calibri"/>
              </a:rPr>
              <a:t>executed, </a:t>
            </a:r>
            <a:r>
              <a:rPr sz="2800" spc="-5" dirty="0">
                <a:latin typeface="Calibri"/>
                <a:cs typeface="Calibri"/>
              </a:rPr>
              <a:t>it </a:t>
            </a:r>
            <a:r>
              <a:rPr sz="2800" spc="-15" dirty="0">
                <a:latin typeface="Calibri"/>
                <a:cs typeface="Calibri"/>
              </a:rPr>
              <a:t>produces</a:t>
            </a:r>
            <a:r>
              <a:rPr sz="2800" spc="210" dirty="0">
                <a:latin typeface="Calibri"/>
                <a:cs typeface="Calibri"/>
              </a:rPr>
              <a:t> </a:t>
            </a:r>
            <a:r>
              <a:rPr sz="2800" spc="-5" dirty="0">
                <a:latin typeface="Calibri"/>
                <a:cs typeface="Calibri"/>
              </a:rPr>
              <a:t>the</a:t>
            </a:r>
            <a:endParaRPr sz="2800" dirty="0">
              <a:latin typeface="Calibri"/>
              <a:cs typeface="Calibri"/>
            </a:endParaRPr>
          </a:p>
          <a:p>
            <a:pPr marL="184785">
              <a:lnSpc>
                <a:spcPts val="3195"/>
              </a:lnSpc>
            </a:pPr>
            <a:r>
              <a:rPr sz="2800" spc="-15" dirty="0">
                <a:latin typeface="Calibri"/>
                <a:cs typeface="Calibri"/>
              </a:rPr>
              <a:t>following</a:t>
            </a:r>
            <a:r>
              <a:rPr sz="2800" spc="-85" dirty="0">
                <a:latin typeface="Calibri"/>
                <a:cs typeface="Calibri"/>
              </a:rPr>
              <a:t> </a:t>
            </a:r>
            <a:r>
              <a:rPr sz="2800" spc="-10" dirty="0">
                <a:latin typeface="Calibri"/>
                <a:cs typeface="Calibri"/>
              </a:rPr>
              <a:t>result:</a:t>
            </a:r>
            <a:endParaRPr sz="2800" dirty="0">
              <a:latin typeface="Calibri"/>
              <a:cs typeface="Calibri"/>
            </a:endParaRPr>
          </a:p>
          <a:p>
            <a:pPr marL="469900" lvl="1">
              <a:lnSpc>
                <a:spcPct val="100000"/>
              </a:lnSpc>
              <a:spcBef>
                <a:spcPts val="244"/>
              </a:spcBef>
              <a:tabLst>
                <a:tab pos="642620" algn="l"/>
              </a:tabLst>
            </a:pPr>
            <a:r>
              <a:rPr sz="2400" dirty="0">
                <a:latin typeface="Calibri"/>
                <a:cs typeface="Calibri"/>
              </a:rPr>
              <a:t>Hello</a:t>
            </a:r>
            <a:r>
              <a:rPr sz="2400" spc="-105" dirty="0">
                <a:latin typeface="Calibri"/>
                <a:cs typeface="Calibri"/>
              </a:rPr>
              <a:t> </a:t>
            </a:r>
            <a:r>
              <a:rPr lang="en-US" sz="2400" spc="-105" dirty="0" smtClean="0">
                <a:latin typeface="Calibri"/>
                <a:cs typeface="Calibri"/>
              </a:rPr>
              <a:t>   </a:t>
            </a:r>
            <a:r>
              <a:rPr sz="2400" spc="-25" dirty="0" smtClean="0">
                <a:latin typeface="Calibri"/>
                <a:cs typeface="Calibri"/>
              </a:rPr>
              <a:t>World</a:t>
            </a:r>
            <a:endParaRPr sz="2400" dirty="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dirty="0"/>
              <a:t>String</a:t>
            </a:r>
            <a:r>
              <a:rPr spc="-85" dirty="0"/>
              <a:t> </a:t>
            </a:r>
            <a:r>
              <a:rPr spc="-15" dirty="0"/>
              <a:t>literals</a:t>
            </a:r>
          </a:p>
        </p:txBody>
      </p:sp>
      <p:sp>
        <p:nvSpPr>
          <p:cNvPr id="3" name="object 3"/>
          <p:cNvSpPr txBox="1"/>
          <p:nvPr/>
        </p:nvSpPr>
        <p:spPr>
          <a:xfrm>
            <a:off x="916939" y="1750314"/>
            <a:ext cx="9551670" cy="3841564"/>
          </a:xfrm>
          <a:prstGeom prst="rect">
            <a:avLst/>
          </a:prstGeom>
        </p:spPr>
        <p:txBody>
          <a:bodyPr vert="horz" wrap="square" lIns="0" tIns="0" rIns="0" bIns="0" rtlCol="0">
            <a:spAutoFit/>
          </a:bodyPr>
          <a:lstStyle/>
          <a:p>
            <a:pPr marL="184785" indent="-172085">
              <a:lnSpc>
                <a:spcPct val="100000"/>
              </a:lnSpc>
              <a:buFont typeface="Arial"/>
              <a:buChar char="•"/>
              <a:tabLst>
                <a:tab pos="185420" algn="l"/>
                <a:tab pos="7915909" algn="l"/>
              </a:tabLst>
            </a:pPr>
            <a:r>
              <a:rPr sz="2600" dirty="0">
                <a:latin typeface="Calibri"/>
                <a:cs typeface="Calibri"/>
              </a:rPr>
              <a:t>String </a:t>
            </a:r>
            <a:r>
              <a:rPr sz="2600" spc="-10" dirty="0">
                <a:latin typeface="Calibri"/>
                <a:cs typeface="Calibri"/>
              </a:rPr>
              <a:t>literals </a:t>
            </a:r>
            <a:r>
              <a:rPr sz="2600" spc="-5" dirty="0">
                <a:latin typeface="Calibri"/>
                <a:cs typeface="Calibri"/>
              </a:rPr>
              <a:t>or </a:t>
            </a:r>
            <a:r>
              <a:rPr sz="2600" spc="-15" dirty="0">
                <a:latin typeface="Calibri"/>
                <a:cs typeface="Calibri"/>
              </a:rPr>
              <a:t>constants </a:t>
            </a:r>
            <a:r>
              <a:rPr sz="2600" spc="-10" dirty="0">
                <a:latin typeface="Calibri"/>
                <a:cs typeface="Calibri"/>
              </a:rPr>
              <a:t>are </a:t>
            </a:r>
            <a:r>
              <a:rPr sz="2600" dirty="0">
                <a:latin typeface="Calibri"/>
                <a:cs typeface="Calibri"/>
              </a:rPr>
              <a:t>enclosed in</a:t>
            </a:r>
            <a:r>
              <a:rPr sz="2600" spc="10" dirty="0">
                <a:latin typeface="Calibri"/>
                <a:cs typeface="Calibri"/>
              </a:rPr>
              <a:t> </a:t>
            </a:r>
            <a:r>
              <a:rPr sz="2600" spc="-5" dirty="0">
                <a:latin typeface="Calibri"/>
                <a:cs typeface="Calibri"/>
              </a:rPr>
              <a:t>double quotes	</a:t>
            </a:r>
            <a:r>
              <a:rPr sz="2600" dirty="0">
                <a:latin typeface="Calibri"/>
                <a:cs typeface="Calibri"/>
              </a:rPr>
              <a:t>"".</a:t>
            </a:r>
          </a:p>
          <a:p>
            <a:pPr marL="184785" marR="5080" indent="-172085">
              <a:lnSpc>
                <a:spcPct val="70000"/>
              </a:lnSpc>
              <a:spcBef>
                <a:spcPts val="994"/>
              </a:spcBef>
              <a:buFont typeface="Arial"/>
              <a:buChar char="•"/>
              <a:tabLst>
                <a:tab pos="185420" algn="l"/>
                <a:tab pos="524510" algn="l"/>
              </a:tabLst>
            </a:pPr>
            <a:r>
              <a:rPr sz="2600" dirty="0">
                <a:latin typeface="Calibri"/>
                <a:cs typeface="Calibri"/>
              </a:rPr>
              <a:t>A	</a:t>
            </a:r>
            <a:r>
              <a:rPr sz="2600" spc="-5" dirty="0">
                <a:latin typeface="Calibri"/>
                <a:cs typeface="Calibri"/>
              </a:rPr>
              <a:t>string </a:t>
            </a:r>
            <a:r>
              <a:rPr sz="2600" spc="-10" dirty="0">
                <a:latin typeface="Calibri"/>
                <a:cs typeface="Calibri"/>
              </a:rPr>
              <a:t>contains characters </a:t>
            </a:r>
            <a:r>
              <a:rPr sz="2600" spc="-5" dirty="0">
                <a:latin typeface="Calibri"/>
                <a:cs typeface="Calibri"/>
              </a:rPr>
              <a:t>that </a:t>
            </a:r>
            <a:r>
              <a:rPr sz="2600" spc="-10" dirty="0">
                <a:latin typeface="Calibri"/>
                <a:cs typeface="Calibri"/>
              </a:rPr>
              <a:t>are </a:t>
            </a:r>
            <a:r>
              <a:rPr sz="2600" spc="-5" dirty="0">
                <a:latin typeface="Calibri"/>
                <a:cs typeface="Calibri"/>
              </a:rPr>
              <a:t>similar </a:t>
            </a:r>
            <a:r>
              <a:rPr sz="2600" spc="-10" dirty="0">
                <a:latin typeface="Calibri"/>
                <a:cs typeface="Calibri"/>
              </a:rPr>
              <a:t>to character literals:</a:t>
            </a:r>
            <a:r>
              <a:rPr sz="2600" spc="-25" dirty="0">
                <a:latin typeface="Calibri"/>
                <a:cs typeface="Calibri"/>
              </a:rPr>
              <a:t> </a:t>
            </a:r>
            <a:r>
              <a:rPr sz="2600" spc="-5" dirty="0">
                <a:latin typeface="Calibri"/>
                <a:cs typeface="Calibri"/>
              </a:rPr>
              <a:t>plain  </a:t>
            </a:r>
            <a:r>
              <a:rPr sz="2600" spc="-10" dirty="0">
                <a:latin typeface="Calibri"/>
                <a:cs typeface="Calibri"/>
              </a:rPr>
              <a:t>characters, </a:t>
            </a:r>
            <a:r>
              <a:rPr sz="2600" spc="-5" dirty="0">
                <a:latin typeface="Calibri"/>
                <a:cs typeface="Calibri"/>
              </a:rPr>
              <a:t>escape sequences, </a:t>
            </a:r>
            <a:r>
              <a:rPr sz="2600" dirty="0">
                <a:latin typeface="Calibri"/>
                <a:cs typeface="Calibri"/>
              </a:rPr>
              <a:t>and </a:t>
            </a:r>
            <a:r>
              <a:rPr sz="2600" spc="-10" dirty="0">
                <a:latin typeface="Calibri"/>
                <a:cs typeface="Calibri"/>
              </a:rPr>
              <a:t>universal</a:t>
            </a:r>
            <a:r>
              <a:rPr sz="2600" spc="-150" dirty="0">
                <a:latin typeface="Calibri"/>
                <a:cs typeface="Calibri"/>
              </a:rPr>
              <a:t> </a:t>
            </a:r>
            <a:r>
              <a:rPr sz="2600" spc="-10" dirty="0">
                <a:latin typeface="Calibri"/>
                <a:cs typeface="Calibri"/>
              </a:rPr>
              <a:t>characters.</a:t>
            </a:r>
            <a:endParaRPr sz="2600" dirty="0">
              <a:latin typeface="Calibri"/>
              <a:cs typeface="Calibri"/>
            </a:endParaRPr>
          </a:p>
          <a:p>
            <a:pPr marL="184785" marR="403225" indent="-172085">
              <a:lnSpc>
                <a:spcPct val="70000"/>
              </a:lnSpc>
              <a:spcBef>
                <a:spcPts val="1000"/>
              </a:spcBef>
              <a:buFont typeface="Arial"/>
              <a:buChar char="•"/>
              <a:tabLst>
                <a:tab pos="185420" algn="l"/>
              </a:tabLst>
            </a:pPr>
            <a:r>
              <a:rPr sz="2600" spc="-65" dirty="0">
                <a:latin typeface="Calibri"/>
                <a:cs typeface="Calibri"/>
              </a:rPr>
              <a:t>You </a:t>
            </a:r>
            <a:r>
              <a:rPr sz="2600" spc="-10" dirty="0">
                <a:latin typeface="Calibri"/>
                <a:cs typeface="Calibri"/>
              </a:rPr>
              <a:t>can break </a:t>
            </a:r>
            <a:r>
              <a:rPr sz="2600" dirty="0">
                <a:latin typeface="Calibri"/>
                <a:cs typeface="Calibri"/>
              </a:rPr>
              <a:t>a long line </a:t>
            </a:r>
            <a:r>
              <a:rPr sz="2600" spc="-15" dirty="0">
                <a:latin typeface="Calibri"/>
                <a:cs typeface="Calibri"/>
              </a:rPr>
              <a:t>into </a:t>
            </a:r>
            <a:r>
              <a:rPr sz="2600" spc="-5" dirty="0">
                <a:latin typeface="Calibri"/>
                <a:cs typeface="Calibri"/>
              </a:rPr>
              <a:t>multiple </a:t>
            </a:r>
            <a:r>
              <a:rPr sz="2600" dirty="0">
                <a:latin typeface="Calibri"/>
                <a:cs typeface="Calibri"/>
              </a:rPr>
              <a:t>lines </a:t>
            </a:r>
            <a:r>
              <a:rPr sz="2600" spc="-5" dirty="0">
                <a:latin typeface="Calibri"/>
                <a:cs typeface="Calibri"/>
              </a:rPr>
              <a:t>using string </a:t>
            </a:r>
            <a:r>
              <a:rPr sz="2600" spc="-10" dirty="0">
                <a:latin typeface="Calibri"/>
                <a:cs typeface="Calibri"/>
              </a:rPr>
              <a:t>literals </a:t>
            </a:r>
            <a:r>
              <a:rPr sz="2600" dirty="0">
                <a:latin typeface="Calibri"/>
                <a:cs typeface="Calibri"/>
              </a:rPr>
              <a:t>and  </a:t>
            </a:r>
            <a:r>
              <a:rPr sz="2600" spc="-10" dirty="0">
                <a:latin typeface="Calibri"/>
                <a:cs typeface="Calibri"/>
              </a:rPr>
              <a:t>separating </a:t>
            </a:r>
            <a:r>
              <a:rPr sz="2600" dirty="0">
                <a:latin typeface="Calibri"/>
                <a:cs typeface="Calibri"/>
              </a:rPr>
              <a:t>them </a:t>
            </a:r>
            <a:r>
              <a:rPr sz="2600" spc="-5" dirty="0">
                <a:latin typeface="Calibri"/>
                <a:cs typeface="Calibri"/>
              </a:rPr>
              <a:t>using</a:t>
            </a:r>
            <a:r>
              <a:rPr sz="2600" spc="-35" dirty="0">
                <a:latin typeface="Calibri"/>
                <a:cs typeface="Calibri"/>
              </a:rPr>
              <a:t> </a:t>
            </a:r>
            <a:r>
              <a:rPr sz="2600" spc="-5" dirty="0">
                <a:latin typeface="Calibri"/>
                <a:cs typeface="Calibri"/>
              </a:rPr>
              <a:t>whitespaces.</a:t>
            </a:r>
            <a:endParaRPr sz="2600" dirty="0">
              <a:latin typeface="Calibri"/>
              <a:cs typeface="Calibri"/>
            </a:endParaRPr>
          </a:p>
          <a:p>
            <a:pPr marL="184785" indent="-172085">
              <a:lnSpc>
                <a:spcPct val="100000"/>
              </a:lnSpc>
              <a:spcBef>
                <a:spcPts val="70"/>
              </a:spcBef>
              <a:buFont typeface="Arial"/>
              <a:buChar char="•"/>
              <a:tabLst>
                <a:tab pos="185420" algn="l"/>
              </a:tabLst>
            </a:pPr>
            <a:r>
              <a:rPr sz="2600" spc="-10" dirty="0">
                <a:latin typeface="Calibri"/>
                <a:cs typeface="Calibri"/>
              </a:rPr>
              <a:t>Here are </a:t>
            </a:r>
            <a:r>
              <a:rPr sz="2600" spc="-5" dirty="0">
                <a:latin typeface="Calibri"/>
                <a:cs typeface="Calibri"/>
              </a:rPr>
              <a:t>some </a:t>
            </a:r>
            <a:r>
              <a:rPr sz="2600" spc="-10" dirty="0">
                <a:latin typeface="Calibri"/>
                <a:cs typeface="Calibri"/>
              </a:rPr>
              <a:t>examples </a:t>
            </a:r>
            <a:r>
              <a:rPr sz="2600" spc="-5" dirty="0">
                <a:latin typeface="Calibri"/>
                <a:cs typeface="Calibri"/>
              </a:rPr>
              <a:t>of string</a:t>
            </a:r>
            <a:r>
              <a:rPr sz="2600" spc="-75" dirty="0">
                <a:latin typeface="Calibri"/>
                <a:cs typeface="Calibri"/>
              </a:rPr>
              <a:t> </a:t>
            </a:r>
            <a:r>
              <a:rPr sz="2600" spc="-10" dirty="0">
                <a:latin typeface="Calibri"/>
                <a:cs typeface="Calibri"/>
              </a:rPr>
              <a:t>literals.</a:t>
            </a:r>
            <a:endParaRPr sz="2600" dirty="0">
              <a:latin typeface="Calibri"/>
              <a:cs typeface="Calibri"/>
            </a:endParaRPr>
          </a:p>
          <a:p>
            <a:pPr marL="241300" indent="-228600">
              <a:lnSpc>
                <a:spcPct val="100000"/>
              </a:lnSpc>
              <a:spcBef>
                <a:spcPts val="60"/>
              </a:spcBef>
              <a:buFont typeface="Arial"/>
              <a:buChar char="•"/>
              <a:tabLst>
                <a:tab pos="241935" algn="l"/>
              </a:tabLst>
            </a:pPr>
            <a:r>
              <a:rPr sz="2600" spc="-10" dirty="0">
                <a:latin typeface="Calibri"/>
                <a:cs typeface="Calibri"/>
              </a:rPr>
              <a:t>"hello,</a:t>
            </a:r>
            <a:r>
              <a:rPr sz="2600" spc="-70" dirty="0">
                <a:latin typeface="Calibri"/>
                <a:cs typeface="Calibri"/>
              </a:rPr>
              <a:t> </a:t>
            </a:r>
            <a:r>
              <a:rPr sz="2600" spc="-5" dirty="0">
                <a:latin typeface="Calibri"/>
                <a:cs typeface="Calibri"/>
              </a:rPr>
              <a:t>dear"</a:t>
            </a:r>
            <a:endParaRPr sz="2600" dirty="0">
              <a:latin typeface="Calibri"/>
              <a:cs typeface="Calibri"/>
            </a:endParaRPr>
          </a:p>
          <a:p>
            <a:pPr marL="241300" indent="-228600">
              <a:lnSpc>
                <a:spcPct val="100000"/>
              </a:lnSpc>
              <a:spcBef>
                <a:spcPts val="60"/>
              </a:spcBef>
              <a:buFont typeface="Arial"/>
              <a:buChar char="•"/>
              <a:tabLst>
                <a:tab pos="241935" algn="l"/>
              </a:tabLst>
            </a:pPr>
            <a:r>
              <a:rPr sz="2600" spc="-10" dirty="0">
                <a:latin typeface="Calibri"/>
                <a:cs typeface="Calibri"/>
              </a:rPr>
              <a:t>"hello,</a:t>
            </a:r>
            <a:r>
              <a:rPr sz="2600" spc="-85" dirty="0">
                <a:latin typeface="Calibri"/>
                <a:cs typeface="Calibri"/>
              </a:rPr>
              <a:t> </a:t>
            </a:r>
            <a:r>
              <a:rPr sz="2600" dirty="0">
                <a:latin typeface="Calibri"/>
                <a:cs typeface="Calibri"/>
              </a:rPr>
              <a:t>\</a:t>
            </a:r>
          </a:p>
          <a:p>
            <a:pPr marL="241300" indent="-228600">
              <a:lnSpc>
                <a:spcPct val="100000"/>
              </a:lnSpc>
              <a:spcBef>
                <a:spcPts val="70"/>
              </a:spcBef>
              <a:buFont typeface="Arial"/>
              <a:buChar char="•"/>
              <a:tabLst>
                <a:tab pos="241935" algn="l"/>
              </a:tabLst>
            </a:pPr>
            <a:r>
              <a:rPr sz="2600" spc="-5" dirty="0">
                <a:latin typeface="Calibri"/>
                <a:cs typeface="Calibri"/>
              </a:rPr>
              <a:t>dear"</a:t>
            </a:r>
            <a:endParaRPr sz="2600" dirty="0">
              <a:latin typeface="Calibri"/>
              <a:cs typeface="Calibri"/>
            </a:endParaRPr>
          </a:p>
          <a:p>
            <a:pPr marL="241300" indent="-228600">
              <a:lnSpc>
                <a:spcPct val="100000"/>
              </a:lnSpc>
              <a:spcBef>
                <a:spcPts val="60"/>
              </a:spcBef>
              <a:buFont typeface="Arial"/>
              <a:buChar char="•"/>
              <a:tabLst>
                <a:tab pos="241935" algn="l"/>
              </a:tabLst>
            </a:pPr>
            <a:r>
              <a:rPr sz="2600" dirty="0" smtClean="0">
                <a:latin typeface="Calibri"/>
                <a:cs typeface="Calibri"/>
              </a:rPr>
              <a:t>All </a:t>
            </a:r>
            <a:r>
              <a:rPr sz="2600" dirty="0">
                <a:latin typeface="Calibri"/>
                <a:cs typeface="Calibri"/>
              </a:rPr>
              <a:t>the </a:t>
            </a:r>
            <a:r>
              <a:rPr sz="2600" spc="-5" dirty="0" smtClean="0">
                <a:latin typeface="Calibri"/>
                <a:cs typeface="Calibri"/>
              </a:rPr>
              <a:t>t</a:t>
            </a:r>
            <a:r>
              <a:rPr lang="en-US" sz="2600" spc="-5" dirty="0" smtClean="0">
                <a:latin typeface="Calibri"/>
                <a:cs typeface="Calibri"/>
              </a:rPr>
              <a:t>wo </a:t>
            </a:r>
            <a:r>
              <a:rPr sz="2600" spc="-15" dirty="0" smtClean="0">
                <a:latin typeface="Calibri"/>
                <a:cs typeface="Calibri"/>
              </a:rPr>
              <a:t>forms </a:t>
            </a:r>
            <a:r>
              <a:rPr sz="2600" spc="-15" dirty="0">
                <a:latin typeface="Calibri"/>
                <a:cs typeface="Calibri"/>
              </a:rPr>
              <a:t>are </a:t>
            </a:r>
            <a:r>
              <a:rPr sz="2600" spc="-5" dirty="0">
                <a:latin typeface="Calibri"/>
                <a:cs typeface="Calibri"/>
              </a:rPr>
              <a:t>identical</a:t>
            </a:r>
            <a:r>
              <a:rPr sz="2600" spc="-75" dirty="0">
                <a:latin typeface="Calibri"/>
                <a:cs typeface="Calibri"/>
              </a:rPr>
              <a:t> </a:t>
            </a:r>
            <a:r>
              <a:rPr sz="2600" spc="-5" dirty="0">
                <a:latin typeface="Calibri"/>
                <a:cs typeface="Calibri"/>
              </a:rPr>
              <a:t>strings.</a:t>
            </a:r>
            <a:endParaRPr sz="2600" dirty="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0" rIns="0" bIns="0" rtlCol="0">
            <a:spAutoFit/>
          </a:bodyPr>
          <a:lstStyle/>
          <a:p>
            <a:pPr marL="12700">
              <a:lnSpc>
                <a:spcPct val="100000"/>
              </a:lnSpc>
            </a:pPr>
            <a:r>
              <a:rPr spc="-5" dirty="0"/>
              <a:t>Defining</a:t>
            </a:r>
            <a:r>
              <a:rPr spc="-70" dirty="0"/>
              <a:t> </a:t>
            </a:r>
            <a:r>
              <a:rPr spc="-20" dirty="0"/>
              <a:t>Constants</a:t>
            </a:r>
          </a:p>
        </p:txBody>
      </p:sp>
      <p:sp>
        <p:nvSpPr>
          <p:cNvPr id="3" name="object 3"/>
          <p:cNvSpPr txBox="1"/>
          <p:nvPr/>
        </p:nvSpPr>
        <p:spPr>
          <a:xfrm>
            <a:off x="916939" y="1805685"/>
            <a:ext cx="4685030" cy="939165"/>
          </a:xfrm>
          <a:prstGeom prst="rect">
            <a:avLst/>
          </a:prstGeom>
        </p:spPr>
        <p:txBody>
          <a:bodyPr vert="horz" wrap="square" lIns="0" tIns="0" rIns="0" bIns="0" rtlCol="0">
            <a:spAutoFit/>
          </a:bodyPr>
          <a:lstStyle/>
          <a:p>
            <a:pPr marL="241300" indent="-228600">
              <a:lnSpc>
                <a:spcPct val="100000"/>
              </a:lnSpc>
              <a:buFont typeface="Arial"/>
              <a:buChar char="•"/>
              <a:tabLst>
                <a:tab pos="241935" algn="l"/>
                <a:tab pos="673100" algn="l"/>
              </a:tabLst>
            </a:pPr>
            <a:r>
              <a:rPr sz="2800" spc="-5" dirty="0">
                <a:latin typeface="Calibri"/>
                <a:cs typeface="Calibri"/>
              </a:rPr>
              <a:t>1.	</a:t>
            </a:r>
            <a:r>
              <a:rPr sz="2800" spc="-10" dirty="0">
                <a:latin typeface="Calibri"/>
                <a:cs typeface="Calibri"/>
              </a:rPr>
              <a:t>Using </a:t>
            </a:r>
            <a:r>
              <a:rPr sz="2800" spc="-15" dirty="0">
                <a:latin typeface="Calibri"/>
                <a:cs typeface="Calibri"/>
              </a:rPr>
              <a:t>#define</a:t>
            </a:r>
            <a:r>
              <a:rPr sz="2800" spc="20" dirty="0">
                <a:latin typeface="Calibri"/>
                <a:cs typeface="Calibri"/>
              </a:rPr>
              <a:t> </a:t>
            </a:r>
            <a:r>
              <a:rPr sz="2800" spc="-35" dirty="0">
                <a:latin typeface="Calibri"/>
                <a:cs typeface="Calibri"/>
              </a:rPr>
              <a:t>preprocessor.</a:t>
            </a:r>
            <a:endParaRPr sz="2800">
              <a:latin typeface="Calibri"/>
              <a:cs typeface="Calibri"/>
            </a:endParaRPr>
          </a:p>
          <a:p>
            <a:pPr marL="241300" indent="-228600">
              <a:lnSpc>
                <a:spcPct val="100000"/>
              </a:lnSpc>
              <a:spcBef>
                <a:spcPts val="670"/>
              </a:spcBef>
              <a:buFont typeface="Arial"/>
              <a:buChar char="•"/>
              <a:tabLst>
                <a:tab pos="241935" algn="l"/>
                <a:tab pos="673100" algn="l"/>
              </a:tabLst>
            </a:pPr>
            <a:r>
              <a:rPr sz="2800" spc="-5" dirty="0">
                <a:latin typeface="Calibri"/>
                <a:cs typeface="Calibri"/>
              </a:rPr>
              <a:t>2.	Using </a:t>
            </a:r>
            <a:r>
              <a:rPr sz="2800" spc="-20" dirty="0">
                <a:latin typeface="Calibri"/>
                <a:cs typeface="Calibri"/>
              </a:rPr>
              <a:t>const</a:t>
            </a:r>
            <a:r>
              <a:rPr sz="2800" spc="5" dirty="0">
                <a:latin typeface="Calibri"/>
                <a:cs typeface="Calibri"/>
              </a:rPr>
              <a:t> </a:t>
            </a:r>
            <a:r>
              <a:rPr sz="2800" spc="-25" dirty="0">
                <a:latin typeface="Calibri"/>
                <a:cs typeface="Calibri"/>
              </a:rPr>
              <a:t>keyword.</a:t>
            </a:r>
            <a:endParaRPr sz="280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293370"/>
            <a:ext cx="5224145" cy="608330"/>
          </a:xfrm>
          <a:prstGeom prst="rect">
            <a:avLst/>
          </a:prstGeom>
        </p:spPr>
        <p:txBody>
          <a:bodyPr vert="horz" wrap="square" lIns="0" tIns="0" rIns="0" bIns="0" rtlCol="0">
            <a:spAutoFit/>
          </a:bodyPr>
          <a:lstStyle/>
          <a:p>
            <a:pPr marL="12700">
              <a:lnSpc>
                <a:spcPts val="4790"/>
              </a:lnSpc>
            </a:pPr>
            <a:r>
              <a:rPr sz="4000" spc="-5" dirty="0"/>
              <a:t>The #define</a:t>
            </a:r>
            <a:r>
              <a:rPr sz="4000" spc="-70" dirty="0"/>
              <a:t> </a:t>
            </a:r>
            <a:r>
              <a:rPr sz="4000" spc="-20" dirty="0"/>
              <a:t>Preprocessor</a:t>
            </a:r>
            <a:endParaRPr sz="4000"/>
          </a:p>
        </p:txBody>
      </p:sp>
      <p:sp>
        <p:nvSpPr>
          <p:cNvPr id="3" name="object 3"/>
          <p:cNvSpPr txBox="1"/>
          <p:nvPr/>
        </p:nvSpPr>
        <p:spPr>
          <a:xfrm>
            <a:off x="916939" y="901573"/>
            <a:ext cx="3996690" cy="5303520"/>
          </a:xfrm>
          <a:prstGeom prst="rect">
            <a:avLst/>
          </a:prstGeom>
        </p:spPr>
        <p:txBody>
          <a:bodyPr vert="horz" wrap="square" lIns="0" tIns="0" rIns="0" bIns="0" rtlCol="0">
            <a:spAutoFit/>
          </a:bodyPr>
          <a:lstStyle/>
          <a:p>
            <a:pPr marL="241300" indent="-228600">
              <a:lnSpc>
                <a:spcPts val="2535"/>
              </a:lnSpc>
              <a:buFont typeface="Arial"/>
              <a:buChar char="•"/>
              <a:tabLst>
                <a:tab pos="241935" algn="l"/>
              </a:tabLst>
            </a:pPr>
            <a:r>
              <a:rPr sz="2200" spc="-55" dirty="0">
                <a:latin typeface="Calibri"/>
                <a:cs typeface="Calibri"/>
              </a:rPr>
              <a:t>Takes </a:t>
            </a:r>
            <a:r>
              <a:rPr sz="2200" spc="-5" dirty="0">
                <a:latin typeface="Calibri"/>
                <a:cs typeface="Calibri"/>
              </a:rPr>
              <a:t>the</a:t>
            </a:r>
            <a:r>
              <a:rPr sz="2200" spc="-10" dirty="0">
                <a:latin typeface="Calibri"/>
                <a:cs typeface="Calibri"/>
              </a:rPr>
              <a:t> </a:t>
            </a:r>
            <a:r>
              <a:rPr sz="2200" spc="-15" dirty="0">
                <a:latin typeface="Calibri"/>
                <a:cs typeface="Calibri"/>
              </a:rPr>
              <a:t>form:</a:t>
            </a:r>
            <a:endParaRPr sz="2200">
              <a:latin typeface="Calibri"/>
              <a:cs typeface="Calibri"/>
            </a:endParaRPr>
          </a:p>
          <a:p>
            <a:pPr marL="698500" lvl="1" indent="-228600">
              <a:lnSpc>
                <a:spcPts val="2185"/>
              </a:lnSpc>
              <a:buFont typeface="Arial"/>
              <a:buChar char="•"/>
              <a:tabLst>
                <a:tab pos="699135" algn="l"/>
              </a:tabLst>
            </a:pPr>
            <a:r>
              <a:rPr sz="1900" spc="-5" dirty="0">
                <a:latin typeface="Calibri"/>
                <a:cs typeface="Calibri"/>
              </a:rPr>
              <a:t>#define identifier</a:t>
            </a:r>
            <a:r>
              <a:rPr sz="1900" spc="-50" dirty="0">
                <a:latin typeface="Calibri"/>
                <a:cs typeface="Calibri"/>
              </a:rPr>
              <a:t> </a:t>
            </a:r>
            <a:r>
              <a:rPr sz="1900" spc="-10" dirty="0">
                <a:latin typeface="Calibri"/>
                <a:cs typeface="Calibri"/>
              </a:rPr>
              <a:t>value</a:t>
            </a:r>
            <a:endParaRPr sz="1900">
              <a:latin typeface="Calibri"/>
              <a:cs typeface="Calibri"/>
            </a:endParaRPr>
          </a:p>
          <a:p>
            <a:pPr marL="241300" indent="-228600">
              <a:lnSpc>
                <a:spcPct val="100000"/>
              </a:lnSpc>
              <a:spcBef>
                <a:spcPts val="215"/>
              </a:spcBef>
              <a:buFont typeface="Arial"/>
              <a:buChar char="•"/>
              <a:tabLst>
                <a:tab pos="241935" algn="l"/>
              </a:tabLst>
            </a:pPr>
            <a:r>
              <a:rPr sz="2200" spc="-10" dirty="0">
                <a:latin typeface="Calibri"/>
                <a:cs typeface="Calibri"/>
              </a:rPr>
              <a:t>Example</a:t>
            </a:r>
            <a:endParaRPr sz="2200">
              <a:latin typeface="Calibri"/>
              <a:cs typeface="Calibri"/>
            </a:endParaRPr>
          </a:p>
          <a:p>
            <a:pPr marL="241300" indent="-228600">
              <a:lnSpc>
                <a:spcPct val="100000"/>
              </a:lnSpc>
              <a:spcBef>
                <a:spcPts val="204"/>
              </a:spcBef>
              <a:buFont typeface="Arial"/>
              <a:buChar char="•"/>
              <a:tabLst>
                <a:tab pos="241935" algn="l"/>
              </a:tabLst>
            </a:pPr>
            <a:r>
              <a:rPr sz="2200" spc="-5" dirty="0">
                <a:latin typeface="Calibri"/>
                <a:cs typeface="Calibri"/>
              </a:rPr>
              <a:t>#include</a:t>
            </a:r>
            <a:r>
              <a:rPr sz="2200" spc="-105" dirty="0">
                <a:latin typeface="Calibri"/>
                <a:cs typeface="Calibri"/>
              </a:rPr>
              <a:t> </a:t>
            </a:r>
            <a:r>
              <a:rPr sz="2200" spc="-10" dirty="0">
                <a:latin typeface="Calibri"/>
                <a:cs typeface="Calibri"/>
              </a:rPr>
              <a:t>&lt;stdio.h&gt;</a:t>
            </a:r>
            <a:endParaRPr sz="2200">
              <a:latin typeface="Calibri"/>
              <a:cs typeface="Calibri"/>
            </a:endParaRPr>
          </a:p>
          <a:p>
            <a:pPr marL="241300" indent="-228600">
              <a:lnSpc>
                <a:spcPct val="100000"/>
              </a:lnSpc>
              <a:spcBef>
                <a:spcPts val="204"/>
              </a:spcBef>
              <a:buFont typeface="Arial"/>
              <a:buChar char="•"/>
              <a:tabLst>
                <a:tab pos="241935" algn="l"/>
              </a:tabLst>
            </a:pPr>
            <a:r>
              <a:rPr sz="2200" spc="-10" dirty="0">
                <a:latin typeface="Calibri"/>
                <a:cs typeface="Calibri"/>
              </a:rPr>
              <a:t>#define LENGTH </a:t>
            </a:r>
            <a:r>
              <a:rPr sz="2200" spc="-5" dirty="0">
                <a:latin typeface="Calibri"/>
                <a:cs typeface="Calibri"/>
              </a:rPr>
              <a:t>10</a:t>
            </a:r>
            <a:endParaRPr sz="2200">
              <a:latin typeface="Calibri"/>
              <a:cs typeface="Calibri"/>
            </a:endParaRPr>
          </a:p>
          <a:p>
            <a:pPr marL="241300" indent="-228600">
              <a:lnSpc>
                <a:spcPct val="100000"/>
              </a:lnSpc>
              <a:spcBef>
                <a:spcPts val="215"/>
              </a:spcBef>
              <a:buFont typeface="Arial"/>
              <a:buChar char="•"/>
              <a:tabLst>
                <a:tab pos="241935" algn="l"/>
                <a:tab pos="2087880" algn="l"/>
              </a:tabLst>
            </a:pPr>
            <a:r>
              <a:rPr sz="2200" spc="-10" dirty="0">
                <a:latin typeface="Calibri"/>
                <a:cs typeface="Calibri"/>
              </a:rPr>
              <a:t>#define</a:t>
            </a:r>
            <a:r>
              <a:rPr sz="2200" spc="35" dirty="0">
                <a:latin typeface="Calibri"/>
                <a:cs typeface="Calibri"/>
              </a:rPr>
              <a:t> </a:t>
            </a:r>
            <a:r>
              <a:rPr sz="2200" spc="-10" dirty="0">
                <a:latin typeface="Calibri"/>
                <a:cs typeface="Calibri"/>
              </a:rPr>
              <a:t>WIDTH	</a:t>
            </a:r>
            <a:r>
              <a:rPr sz="2200" spc="-5" dirty="0">
                <a:latin typeface="Calibri"/>
                <a:cs typeface="Calibri"/>
              </a:rPr>
              <a:t>5</a:t>
            </a:r>
            <a:endParaRPr sz="2200">
              <a:latin typeface="Calibri"/>
              <a:cs typeface="Calibri"/>
            </a:endParaRPr>
          </a:p>
          <a:p>
            <a:pPr marL="241300" indent="-228600">
              <a:lnSpc>
                <a:spcPct val="100000"/>
              </a:lnSpc>
              <a:spcBef>
                <a:spcPts val="204"/>
              </a:spcBef>
              <a:buFont typeface="Arial"/>
              <a:buChar char="•"/>
              <a:tabLst>
                <a:tab pos="241935" algn="l"/>
              </a:tabLst>
            </a:pPr>
            <a:r>
              <a:rPr sz="2200" spc="-10" dirty="0">
                <a:latin typeface="Calibri"/>
                <a:cs typeface="Calibri"/>
              </a:rPr>
              <a:t>#define </a:t>
            </a:r>
            <a:r>
              <a:rPr sz="2200" spc="-5" dirty="0">
                <a:latin typeface="Calibri"/>
                <a:cs typeface="Calibri"/>
              </a:rPr>
              <a:t>NEWLINE</a:t>
            </a:r>
            <a:r>
              <a:rPr sz="2200" spc="-30" dirty="0">
                <a:latin typeface="Calibri"/>
                <a:cs typeface="Calibri"/>
              </a:rPr>
              <a:t> </a:t>
            </a:r>
            <a:r>
              <a:rPr sz="2200" spc="-5" dirty="0">
                <a:latin typeface="Calibri"/>
                <a:cs typeface="Calibri"/>
              </a:rPr>
              <a:t>'\n'</a:t>
            </a:r>
            <a:endParaRPr sz="2200">
              <a:latin typeface="Calibri"/>
              <a:cs typeface="Calibri"/>
            </a:endParaRPr>
          </a:p>
          <a:p>
            <a:pPr marL="241300" indent="-228600">
              <a:lnSpc>
                <a:spcPct val="100000"/>
              </a:lnSpc>
              <a:spcBef>
                <a:spcPts val="204"/>
              </a:spcBef>
              <a:buFont typeface="Arial"/>
              <a:buChar char="•"/>
              <a:tabLst>
                <a:tab pos="241935" algn="l"/>
              </a:tabLst>
            </a:pPr>
            <a:r>
              <a:rPr sz="2200" spc="-15" dirty="0">
                <a:latin typeface="Calibri"/>
                <a:cs typeface="Calibri"/>
              </a:rPr>
              <a:t>int</a:t>
            </a:r>
            <a:r>
              <a:rPr sz="2200" spc="-70" dirty="0">
                <a:latin typeface="Calibri"/>
                <a:cs typeface="Calibri"/>
              </a:rPr>
              <a:t> </a:t>
            </a:r>
            <a:r>
              <a:rPr sz="2200" spc="-5" dirty="0">
                <a:latin typeface="Calibri"/>
                <a:cs typeface="Calibri"/>
              </a:rPr>
              <a:t>main()</a:t>
            </a:r>
            <a:endParaRPr sz="2200">
              <a:latin typeface="Calibri"/>
              <a:cs typeface="Calibri"/>
            </a:endParaRPr>
          </a:p>
          <a:p>
            <a:pPr marL="12700">
              <a:lnSpc>
                <a:spcPct val="100000"/>
              </a:lnSpc>
              <a:spcBef>
                <a:spcPts val="215"/>
              </a:spcBef>
              <a:tabLst>
                <a:tab pos="241300" algn="l"/>
              </a:tabLst>
            </a:pPr>
            <a:r>
              <a:rPr sz="2200" spc="-5" dirty="0">
                <a:latin typeface="Arial"/>
                <a:cs typeface="Arial"/>
              </a:rPr>
              <a:t>•	</a:t>
            </a:r>
            <a:r>
              <a:rPr sz="2200" spc="-5" dirty="0">
                <a:latin typeface="Calibri"/>
                <a:cs typeface="Calibri"/>
              </a:rPr>
              <a:t>{</a:t>
            </a:r>
            <a:endParaRPr sz="2200">
              <a:latin typeface="Calibri"/>
              <a:cs typeface="Calibri"/>
            </a:endParaRPr>
          </a:p>
          <a:p>
            <a:pPr marL="241300" indent="-228600">
              <a:lnSpc>
                <a:spcPct val="100000"/>
              </a:lnSpc>
              <a:spcBef>
                <a:spcPts val="204"/>
              </a:spcBef>
              <a:buFont typeface="Arial"/>
              <a:buChar char="•"/>
              <a:tabLst>
                <a:tab pos="241935" algn="l"/>
              </a:tabLst>
            </a:pPr>
            <a:r>
              <a:rPr sz="2200" spc="-15" dirty="0">
                <a:latin typeface="Calibri"/>
                <a:cs typeface="Calibri"/>
              </a:rPr>
              <a:t>int</a:t>
            </a:r>
            <a:r>
              <a:rPr sz="2200" spc="-85" dirty="0">
                <a:latin typeface="Calibri"/>
                <a:cs typeface="Calibri"/>
              </a:rPr>
              <a:t> </a:t>
            </a:r>
            <a:r>
              <a:rPr sz="2200" spc="-5" dirty="0">
                <a:latin typeface="Calibri"/>
                <a:cs typeface="Calibri"/>
              </a:rPr>
              <a:t>area;</a:t>
            </a:r>
            <a:endParaRPr sz="2200">
              <a:latin typeface="Calibri"/>
              <a:cs typeface="Calibri"/>
            </a:endParaRPr>
          </a:p>
          <a:p>
            <a:pPr marL="241300" indent="-228600">
              <a:lnSpc>
                <a:spcPct val="100000"/>
              </a:lnSpc>
              <a:spcBef>
                <a:spcPts val="204"/>
              </a:spcBef>
              <a:buFont typeface="Arial"/>
              <a:buChar char="•"/>
              <a:tabLst>
                <a:tab pos="241935" algn="l"/>
              </a:tabLst>
            </a:pPr>
            <a:r>
              <a:rPr sz="2200" spc="-10" dirty="0">
                <a:latin typeface="Calibri"/>
                <a:cs typeface="Calibri"/>
              </a:rPr>
              <a:t>area </a:t>
            </a:r>
            <a:r>
              <a:rPr sz="2200" spc="-5" dirty="0">
                <a:latin typeface="Calibri"/>
                <a:cs typeface="Calibri"/>
              </a:rPr>
              <a:t>= </a:t>
            </a:r>
            <a:r>
              <a:rPr sz="2200" spc="-10" dirty="0">
                <a:latin typeface="Calibri"/>
                <a:cs typeface="Calibri"/>
              </a:rPr>
              <a:t>LENGTH </a:t>
            </a:r>
            <a:r>
              <a:rPr sz="2200" spc="-5" dirty="0">
                <a:latin typeface="Calibri"/>
                <a:cs typeface="Calibri"/>
              </a:rPr>
              <a:t>*</a:t>
            </a:r>
            <a:r>
              <a:rPr sz="2200" spc="-20" dirty="0">
                <a:latin typeface="Calibri"/>
                <a:cs typeface="Calibri"/>
              </a:rPr>
              <a:t> </a:t>
            </a:r>
            <a:r>
              <a:rPr sz="2200" spc="-10" dirty="0">
                <a:latin typeface="Calibri"/>
                <a:cs typeface="Calibri"/>
              </a:rPr>
              <a:t>WIDTH;</a:t>
            </a:r>
            <a:endParaRPr sz="2200">
              <a:latin typeface="Calibri"/>
              <a:cs typeface="Calibri"/>
            </a:endParaRPr>
          </a:p>
          <a:p>
            <a:pPr marL="241300" indent="-228600">
              <a:lnSpc>
                <a:spcPct val="100000"/>
              </a:lnSpc>
              <a:spcBef>
                <a:spcPts val="215"/>
              </a:spcBef>
              <a:buFont typeface="Arial"/>
              <a:buChar char="•"/>
              <a:tabLst>
                <a:tab pos="241935" algn="l"/>
              </a:tabLst>
            </a:pPr>
            <a:r>
              <a:rPr sz="2200" spc="-10" dirty="0">
                <a:latin typeface="Calibri"/>
                <a:cs typeface="Calibri"/>
              </a:rPr>
              <a:t>printf("value </a:t>
            </a:r>
            <a:r>
              <a:rPr sz="2200" spc="-5" dirty="0">
                <a:latin typeface="Calibri"/>
                <a:cs typeface="Calibri"/>
              </a:rPr>
              <a:t>of </a:t>
            </a:r>
            <a:r>
              <a:rPr sz="2200" spc="-10" dirty="0">
                <a:latin typeface="Calibri"/>
                <a:cs typeface="Calibri"/>
              </a:rPr>
              <a:t>area </a:t>
            </a:r>
            <a:r>
              <a:rPr sz="2200" spc="-5" dirty="0">
                <a:latin typeface="Calibri"/>
                <a:cs typeface="Calibri"/>
              </a:rPr>
              <a:t>: %d",</a:t>
            </a:r>
            <a:r>
              <a:rPr sz="2200" spc="-35" dirty="0">
                <a:latin typeface="Calibri"/>
                <a:cs typeface="Calibri"/>
              </a:rPr>
              <a:t> </a:t>
            </a:r>
            <a:r>
              <a:rPr sz="2200" spc="-5" dirty="0">
                <a:latin typeface="Calibri"/>
                <a:cs typeface="Calibri"/>
              </a:rPr>
              <a:t>area);</a:t>
            </a:r>
            <a:endParaRPr sz="2200">
              <a:latin typeface="Calibri"/>
              <a:cs typeface="Calibri"/>
            </a:endParaRPr>
          </a:p>
          <a:p>
            <a:pPr marL="241300" indent="-228600">
              <a:lnSpc>
                <a:spcPct val="100000"/>
              </a:lnSpc>
              <a:spcBef>
                <a:spcPts val="200"/>
              </a:spcBef>
              <a:buFont typeface="Arial"/>
              <a:buChar char="•"/>
              <a:tabLst>
                <a:tab pos="241935" algn="l"/>
              </a:tabLst>
            </a:pPr>
            <a:r>
              <a:rPr sz="2200" spc="-10" dirty="0">
                <a:latin typeface="Calibri"/>
                <a:cs typeface="Calibri"/>
              </a:rPr>
              <a:t>printf("%c",</a:t>
            </a:r>
            <a:r>
              <a:rPr sz="2200" spc="-5" dirty="0">
                <a:latin typeface="Calibri"/>
                <a:cs typeface="Calibri"/>
              </a:rPr>
              <a:t> </a:t>
            </a:r>
            <a:r>
              <a:rPr sz="2200" spc="-10" dirty="0">
                <a:latin typeface="Calibri"/>
                <a:cs typeface="Calibri"/>
              </a:rPr>
              <a:t>NEWLINE);</a:t>
            </a:r>
            <a:endParaRPr sz="2200">
              <a:latin typeface="Calibri"/>
              <a:cs typeface="Calibri"/>
            </a:endParaRPr>
          </a:p>
          <a:p>
            <a:pPr marL="241300" indent="-228600">
              <a:lnSpc>
                <a:spcPct val="100000"/>
              </a:lnSpc>
              <a:spcBef>
                <a:spcPts val="204"/>
              </a:spcBef>
              <a:buFont typeface="Arial"/>
              <a:buChar char="•"/>
              <a:tabLst>
                <a:tab pos="241935" algn="l"/>
              </a:tabLst>
            </a:pPr>
            <a:r>
              <a:rPr sz="2200" spc="-10" dirty="0">
                <a:latin typeface="Calibri"/>
                <a:cs typeface="Calibri"/>
              </a:rPr>
              <a:t>return</a:t>
            </a:r>
            <a:r>
              <a:rPr sz="2200" spc="-95" dirty="0">
                <a:latin typeface="Calibri"/>
                <a:cs typeface="Calibri"/>
              </a:rPr>
              <a:t> </a:t>
            </a:r>
            <a:r>
              <a:rPr sz="2200" spc="-5" dirty="0">
                <a:latin typeface="Calibri"/>
                <a:cs typeface="Calibri"/>
              </a:rPr>
              <a:t>0;</a:t>
            </a:r>
            <a:endParaRPr sz="2200">
              <a:latin typeface="Calibri"/>
              <a:cs typeface="Calibri"/>
            </a:endParaRPr>
          </a:p>
          <a:p>
            <a:pPr marL="12700">
              <a:lnSpc>
                <a:spcPct val="100000"/>
              </a:lnSpc>
              <a:spcBef>
                <a:spcPts val="215"/>
              </a:spcBef>
              <a:tabLst>
                <a:tab pos="241300" algn="l"/>
              </a:tabLst>
            </a:pPr>
            <a:r>
              <a:rPr sz="2200" spc="-5" dirty="0">
                <a:latin typeface="Arial"/>
                <a:cs typeface="Arial"/>
              </a:rPr>
              <a:t>•	</a:t>
            </a:r>
            <a:r>
              <a:rPr sz="2200" spc="-5" dirty="0">
                <a:latin typeface="Calibri"/>
                <a:cs typeface="Calibri"/>
              </a:rPr>
              <a:t>}</a:t>
            </a:r>
            <a:endParaRPr sz="22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6939" y="165861"/>
            <a:ext cx="3877945" cy="601980"/>
          </a:xfrm>
          <a:prstGeom prst="rect">
            <a:avLst/>
          </a:prstGeom>
        </p:spPr>
        <p:txBody>
          <a:bodyPr vert="horz" wrap="square" lIns="0" tIns="0" rIns="0" bIns="0" rtlCol="0">
            <a:spAutoFit/>
          </a:bodyPr>
          <a:lstStyle/>
          <a:p>
            <a:pPr marL="12700">
              <a:lnSpc>
                <a:spcPts val="4740"/>
              </a:lnSpc>
            </a:pPr>
            <a:r>
              <a:rPr sz="4000" spc="-10" dirty="0"/>
              <a:t>The </a:t>
            </a:r>
            <a:r>
              <a:rPr sz="4000" spc="-20" dirty="0"/>
              <a:t>const</a:t>
            </a:r>
            <a:r>
              <a:rPr sz="4000" spc="-75" dirty="0"/>
              <a:t> </a:t>
            </a:r>
            <a:r>
              <a:rPr sz="4000" spc="-30" dirty="0"/>
              <a:t>Keyword</a:t>
            </a:r>
            <a:endParaRPr sz="4000"/>
          </a:p>
        </p:txBody>
      </p:sp>
      <p:sp>
        <p:nvSpPr>
          <p:cNvPr id="3" name="object 3"/>
          <p:cNvSpPr txBox="1"/>
          <p:nvPr/>
        </p:nvSpPr>
        <p:spPr>
          <a:xfrm>
            <a:off x="916939" y="767778"/>
            <a:ext cx="8110220" cy="5064125"/>
          </a:xfrm>
          <a:prstGeom prst="rect">
            <a:avLst/>
          </a:prstGeom>
        </p:spPr>
        <p:txBody>
          <a:bodyPr vert="horz" wrap="square" lIns="0" tIns="0" rIns="0" bIns="0" rtlCol="0">
            <a:spAutoFit/>
          </a:bodyPr>
          <a:lstStyle/>
          <a:p>
            <a:pPr marL="241300" indent="-228600">
              <a:lnSpc>
                <a:spcPts val="2340"/>
              </a:lnSpc>
              <a:buFont typeface="Arial"/>
              <a:buChar char="•"/>
              <a:tabLst>
                <a:tab pos="241935" algn="l"/>
              </a:tabLst>
            </a:pPr>
            <a:r>
              <a:rPr sz="2000" spc="-10" dirty="0">
                <a:latin typeface="Calibri"/>
                <a:cs typeface="Calibri"/>
              </a:rPr>
              <a:t>const </a:t>
            </a:r>
            <a:r>
              <a:rPr sz="2000" dirty="0">
                <a:latin typeface="Calibri"/>
                <a:cs typeface="Calibri"/>
              </a:rPr>
              <a:t>type </a:t>
            </a:r>
            <a:r>
              <a:rPr sz="2000" spc="-5" dirty="0">
                <a:latin typeface="Calibri"/>
                <a:cs typeface="Calibri"/>
              </a:rPr>
              <a:t>variable </a:t>
            </a:r>
            <a:r>
              <a:rPr sz="2000" dirty="0">
                <a:latin typeface="Calibri"/>
                <a:cs typeface="Calibri"/>
              </a:rPr>
              <a:t>=</a:t>
            </a:r>
            <a:r>
              <a:rPr sz="2000" spc="-55" dirty="0">
                <a:latin typeface="Calibri"/>
                <a:cs typeface="Calibri"/>
              </a:rPr>
              <a:t> </a:t>
            </a:r>
            <a:r>
              <a:rPr sz="2000" spc="-5" dirty="0">
                <a:latin typeface="Calibri"/>
                <a:cs typeface="Calibri"/>
              </a:rPr>
              <a:t>value;</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Example</a:t>
            </a:r>
            <a:endParaRPr sz="2000">
              <a:latin typeface="Calibri"/>
              <a:cs typeface="Calibri"/>
            </a:endParaRPr>
          </a:p>
          <a:p>
            <a:pPr marL="241300" indent="-228600">
              <a:lnSpc>
                <a:spcPct val="100000"/>
              </a:lnSpc>
              <a:spcBef>
                <a:spcPts val="285"/>
              </a:spcBef>
              <a:buFont typeface="Arial"/>
              <a:buChar char="•"/>
              <a:tabLst>
                <a:tab pos="241935" algn="l"/>
              </a:tabLst>
            </a:pPr>
            <a:r>
              <a:rPr sz="2000" spc="-5" dirty="0">
                <a:latin typeface="Calibri"/>
                <a:cs typeface="Calibri"/>
              </a:rPr>
              <a:t>#include</a:t>
            </a:r>
            <a:r>
              <a:rPr sz="2000" spc="-35" dirty="0">
                <a:latin typeface="Calibri"/>
                <a:cs typeface="Calibri"/>
              </a:rPr>
              <a:t> </a:t>
            </a:r>
            <a:r>
              <a:rPr sz="2000" spc="-10" dirty="0">
                <a:latin typeface="Calibri"/>
                <a:cs typeface="Calibri"/>
              </a:rPr>
              <a:t>&lt;stdio.h&gt;</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int</a:t>
            </a:r>
            <a:r>
              <a:rPr sz="2000" spc="-95" dirty="0">
                <a:latin typeface="Calibri"/>
                <a:cs typeface="Calibri"/>
              </a:rPr>
              <a:t> </a:t>
            </a:r>
            <a:r>
              <a:rPr sz="2000" dirty="0">
                <a:latin typeface="Calibri"/>
                <a:cs typeface="Calibri"/>
              </a:rPr>
              <a:t>main()</a:t>
            </a:r>
            <a:endParaRPr sz="2000">
              <a:latin typeface="Calibri"/>
              <a:cs typeface="Calibri"/>
            </a:endParaRPr>
          </a:p>
          <a:p>
            <a:pPr marL="12700">
              <a:lnSpc>
                <a:spcPct val="100000"/>
              </a:lnSpc>
              <a:spcBef>
                <a:spcPts val="275"/>
              </a:spcBef>
              <a:tabLst>
                <a:tab pos="241300" algn="l"/>
              </a:tabLst>
            </a:pPr>
            <a:r>
              <a:rPr sz="2000" dirty="0">
                <a:latin typeface="Arial"/>
                <a:cs typeface="Arial"/>
              </a:rPr>
              <a:t>•	</a:t>
            </a:r>
            <a:r>
              <a:rPr sz="2000" dirty="0">
                <a:latin typeface="Calibri"/>
                <a:cs typeface="Calibri"/>
              </a:rPr>
              <a:t>{</a:t>
            </a:r>
            <a:endParaRPr sz="2000">
              <a:latin typeface="Calibri"/>
              <a:cs typeface="Calibri"/>
            </a:endParaRPr>
          </a:p>
          <a:p>
            <a:pPr marL="241300" indent="-228600">
              <a:lnSpc>
                <a:spcPct val="100000"/>
              </a:lnSpc>
              <a:spcBef>
                <a:spcPts val="285"/>
              </a:spcBef>
              <a:buFont typeface="Arial"/>
              <a:buChar char="•"/>
              <a:tabLst>
                <a:tab pos="241935" algn="l"/>
              </a:tabLst>
            </a:pPr>
            <a:r>
              <a:rPr sz="2000" spc="-10" dirty="0">
                <a:latin typeface="Calibri"/>
                <a:cs typeface="Calibri"/>
              </a:rPr>
              <a:t>const int  </a:t>
            </a:r>
            <a:r>
              <a:rPr sz="2000" spc="-5" dirty="0">
                <a:latin typeface="Calibri"/>
                <a:cs typeface="Calibri"/>
              </a:rPr>
              <a:t>LENGTH </a:t>
            </a:r>
            <a:r>
              <a:rPr sz="2000" dirty="0">
                <a:latin typeface="Calibri"/>
                <a:cs typeface="Calibri"/>
              </a:rPr>
              <a:t>=</a:t>
            </a:r>
            <a:r>
              <a:rPr sz="2000" spc="-50" dirty="0">
                <a:latin typeface="Calibri"/>
                <a:cs typeface="Calibri"/>
              </a:rPr>
              <a:t> </a:t>
            </a:r>
            <a:r>
              <a:rPr sz="2000" dirty="0">
                <a:latin typeface="Calibri"/>
                <a:cs typeface="Calibri"/>
              </a:rPr>
              <a:t>10;</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const int  </a:t>
            </a:r>
            <a:r>
              <a:rPr sz="2000" spc="-5" dirty="0">
                <a:latin typeface="Calibri"/>
                <a:cs typeface="Calibri"/>
              </a:rPr>
              <a:t>WIDTH  </a:t>
            </a:r>
            <a:r>
              <a:rPr sz="2000" dirty="0">
                <a:latin typeface="Calibri"/>
                <a:cs typeface="Calibri"/>
              </a:rPr>
              <a:t>=</a:t>
            </a:r>
            <a:r>
              <a:rPr sz="2000" spc="-65" dirty="0">
                <a:latin typeface="Calibri"/>
                <a:cs typeface="Calibri"/>
              </a:rPr>
              <a:t> </a:t>
            </a:r>
            <a:r>
              <a:rPr sz="2000" dirty="0">
                <a:latin typeface="Calibri"/>
                <a:cs typeface="Calibri"/>
              </a:rPr>
              <a:t>5;</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const </a:t>
            </a:r>
            <a:r>
              <a:rPr sz="2000" dirty="0">
                <a:latin typeface="Calibri"/>
                <a:cs typeface="Calibri"/>
              </a:rPr>
              <a:t>char NEWLINE =</a:t>
            </a:r>
            <a:r>
              <a:rPr sz="2000" spc="-120" dirty="0">
                <a:latin typeface="Calibri"/>
                <a:cs typeface="Calibri"/>
              </a:rPr>
              <a:t> </a:t>
            </a:r>
            <a:r>
              <a:rPr sz="2000" dirty="0">
                <a:latin typeface="Calibri"/>
                <a:cs typeface="Calibri"/>
              </a:rPr>
              <a:t>'\n';</a:t>
            </a:r>
            <a:endParaRPr sz="2000">
              <a:latin typeface="Calibri"/>
              <a:cs typeface="Calibri"/>
            </a:endParaRPr>
          </a:p>
          <a:p>
            <a:pPr marL="241300" indent="-228600">
              <a:lnSpc>
                <a:spcPct val="100000"/>
              </a:lnSpc>
              <a:spcBef>
                <a:spcPts val="290"/>
              </a:spcBef>
              <a:buFont typeface="Arial"/>
              <a:buChar char="•"/>
              <a:tabLst>
                <a:tab pos="241935" algn="l"/>
              </a:tabLst>
            </a:pPr>
            <a:r>
              <a:rPr sz="2000" spc="-10" dirty="0">
                <a:latin typeface="Calibri"/>
                <a:cs typeface="Calibri"/>
              </a:rPr>
              <a:t>int</a:t>
            </a:r>
            <a:r>
              <a:rPr sz="2000" spc="-90" dirty="0">
                <a:latin typeface="Calibri"/>
                <a:cs typeface="Calibri"/>
              </a:rPr>
              <a:t> </a:t>
            </a:r>
            <a:r>
              <a:rPr sz="2000" spc="-5" dirty="0">
                <a:latin typeface="Calibri"/>
                <a:cs typeface="Calibri"/>
              </a:rPr>
              <a:t>area;</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area </a:t>
            </a:r>
            <a:r>
              <a:rPr sz="2000" dirty="0">
                <a:latin typeface="Calibri"/>
                <a:cs typeface="Calibri"/>
              </a:rPr>
              <a:t>= </a:t>
            </a:r>
            <a:r>
              <a:rPr sz="2000" spc="-5" dirty="0">
                <a:latin typeface="Calibri"/>
                <a:cs typeface="Calibri"/>
              </a:rPr>
              <a:t>LENGTH </a:t>
            </a:r>
            <a:r>
              <a:rPr sz="2000" dirty="0">
                <a:latin typeface="Calibri"/>
                <a:cs typeface="Calibri"/>
              </a:rPr>
              <a:t>*</a:t>
            </a:r>
            <a:r>
              <a:rPr sz="2000" spc="-65" dirty="0">
                <a:latin typeface="Calibri"/>
                <a:cs typeface="Calibri"/>
              </a:rPr>
              <a:t> </a:t>
            </a:r>
            <a:r>
              <a:rPr sz="2000" spc="-5" dirty="0">
                <a:latin typeface="Calibri"/>
                <a:cs typeface="Calibri"/>
              </a:rPr>
              <a:t>WIDTH;</a:t>
            </a:r>
            <a:endParaRPr sz="2000">
              <a:latin typeface="Calibri"/>
              <a:cs typeface="Calibri"/>
            </a:endParaRPr>
          </a:p>
          <a:p>
            <a:pPr marL="241300" indent="-228600">
              <a:lnSpc>
                <a:spcPct val="100000"/>
              </a:lnSpc>
              <a:spcBef>
                <a:spcPts val="275"/>
              </a:spcBef>
              <a:buFont typeface="Arial"/>
              <a:buChar char="•"/>
              <a:tabLst>
                <a:tab pos="241935" algn="l"/>
              </a:tabLst>
            </a:pPr>
            <a:r>
              <a:rPr sz="2000" spc="-5" dirty="0">
                <a:latin typeface="Calibri"/>
                <a:cs typeface="Calibri"/>
              </a:rPr>
              <a:t>printf("value of </a:t>
            </a:r>
            <a:r>
              <a:rPr sz="2000" spc="-10" dirty="0">
                <a:latin typeface="Calibri"/>
                <a:cs typeface="Calibri"/>
              </a:rPr>
              <a:t>area </a:t>
            </a:r>
            <a:r>
              <a:rPr sz="2000" dirty="0">
                <a:latin typeface="Calibri"/>
                <a:cs typeface="Calibri"/>
              </a:rPr>
              <a:t>: %d",</a:t>
            </a:r>
            <a:r>
              <a:rPr sz="2000" spc="-60" dirty="0">
                <a:latin typeface="Calibri"/>
                <a:cs typeface="Calibri"/>
              </a:rPr>
              <a:t> </a:t>
            </a:r>
            <a:r>
              <a:rPr sz="2000" spc="-5" dirty="0">
                <a:latin typeface="Calibri"/>
                <a:cs typeface="Calibri"/>
              </a:rPr>
              <a:t>area);</a:t>
            </a:r>
            <a:endParaRPr sz="2000">
              <a:latin typeface="Calibri"/>
              <a:cs typeface="Calibri"/>
            </a:endParaRPr>
          </a:p>
          <a:p>
            <a:pPr marL="241300" indent="-228600">
              <a:lnSpc>
                <a:spcPct val="100000"/>
              </a:lnSpc>
              <a:spcBef>
                <a:spcPts val="285"/>
              </a:spcBef>
              <a:buFont typeface="Arial"/>
              <a:buChar char="•"/>
              <a:tabLst>
                <a:tab pos="241935" algn="l"/>
              </a:tabLst>
            </a:pPr>
            <a:r>
              <a:rPr sz="2000" spc="-5" dirty="0">
                <a:latin typeface="Calibri"/>
                <a:cs typeface="Calibri"/>
              </a:rPr>
              <a:t>printf("%c",</a:t>
            </a:r>
            <a:r>
              <a:rPr sz="2000" spc="-55" dirty="0">
                <a:latin typeface="Calibri"/>
                <a:cs typeface="Calibri"/>
              </a:rPr>
              <a:t> </a:t>
            </a:r>
            <a:r>
              <a:rPr sz="2000" spc="-5" dirty="0">
                <a:latin typeface="Calibri"/>
                <a:cs typeface="Calibri"/>
              </a:rPr>
              <a:t>NEWLINE);</a:t>
            </a:r>
            <a:endParaRPr sz="2000">
              <a:latin typeface="Calibri"/>
              <a:cs typeface="Calibri"/>
            </a:endParaRPr>
          </a:p>
          <a:p>
            <a:pPr marL="241300" indent="-228600">
              <a:lnSpc>
                <a:spcPct val="100000"/>
              </a:lnSpc>
              <a:spcBef>
                <a:spcPts val="275"/>
              </a:spcBef>
              <a:buFont typeface="Arial"/>
              <a:buChar char="•"/>
              <a:tabLst>
                <a:tab pos="241935" algn="l"/>
              </a:tabLst>
            </a:pPr>
            <a:r>
              <a:rPr sz="2000" spc="-10" dirty="0">
                <a:latin typeface="Calibri"/>
                <a:cs typeface="Calibri"/>
              </a:rPr>
              <a:t>return</a:t>
            </a:r>
            <a:r>
              <a:rPr sz="2000" spc="-70" dirty="0">
                <a:latin typeface="Calibri"/>
                <a:cs typeface="Calibri"/>
              </a:rPr>
              <a:t> </a:t>
            </a:r>
            <a:r>
              <a:rPr sz="2000" dirty="0">
                <a:latin typeface="Calibri"/>
                <a:cs typeface="Calibri"/>
              </a:rPr>
              <a:t>0;</a:t>
            </a:r>
            <a:endParaRPr sz="2000">
              <a:latin typeface="Calibri"/>
              <a:cs typeface="Calibri"/>
            </a:endParaRPr>
          </a:p>
          <a:p>
            <a:pPr marL="12700">
              <a:lnSpc>
                <a:spcPct val="100000"/>
              </a:lnSpc>
              <a:spcBef>
                <a:spcPts val="275"/>
              </a:spcBef>
              <a:tabLst>
                <a:tab pos="241300" algn="l"/>
              </a:tabLst>
            </a:pPr>
            <a:r>
              <a:rPr sz="2000" dirty="0">
                <a:latin typeface="Arial"/>
                <a:cs typeface="Arial"/>
              </a:rPr>
              <a:t>•	</a:t>
            </a:r>
            <a:r>
              <a:rPr sz="2000" dirty="0">
                <a:latin typeface="Calibri"/>
                <a:cs typeface="Calibri"/>
              </a:rPr>
              <a:t>}</a:t>
            </a:r>
            <a:endParaRPr sz="2000">
              <a:latin typeface="Calibri"/>
              <a:cs typeface="Calibri"/>
            </a:endParaRPr>
          </a:p>
          <a:p>
            <a:pPr marL="241300" indent="-228600">
              <a:lnSpc>
                <a:spcPct val="100000"/>
              </a:lnSpc>
              <a:spcBef>
                <a:spcPts val="285"/>
              </a:spcBef>
              <a:buFont typeface="Arial"/>
              <a:buChar char="•"/>
              <a:tabLst>
                <a:tab pos="241935" algn="l"/>
              </a:tabLst>
            </a:pPr>
            <a:r>
              <a:rPr sz="2000" spc="-5" dirty="0">
                <a:latin typeface="Calibri"/>
                <a:cs typeface="Calibri"/>
              </a:rPr>
              <a:t>Note that </a:t>
            </a:r>
            <a:r>
              <a:rPr sz="2000" dirty="0">
                <a:latin typeface="Calibri"/>
                <a:cs typeface="Calibri"/>
              </a:rPr>
              <a:t>it is a </a:t>
            </a:r>
            <a:r>
              <a:rPr sz="2000" spc="-5" dirty="0">
                <a:latin typeface="Calibri"/>
                <a:cs typeface="Calibri"/>
              </a:rPr>
              <a:t>good </a:t>
            </a:r>
            <a:r>
              <a:rPr sz="2000" spc="-10" dirty="0">
                <a:latin typeface="Calibri"/>
                <a:cs typeface="Calibri"/>
              </a:rPr>
              <a:t>programming </a:t>
            </a:r>
            <a:r>
              <a:rPr sz="2000" spc="-5" dirty="0">
                <a:latin typeface="Calibri"/>
                <a:cs typeface="Calibri"/>
              </a:rPr>
              <a:t>practice </a:t>
            </a:r>
            <a:r>
              <a:rPr sz="2000" spc="-10" dirty="0">
                <a:latin typeface="Calibri"/>
                <a:cs typeface="Calibri"/>
              </a:rPr>
              <a:t>to </a:t>
            </a:r>
            <a:r>
              <a:rPr sz="2000" spc="-5" dirty="0">
                <a:latin typeface="Calibri"/>
                <a:cs typeface="Calibri"/>
              </a:rPr>
              <a:t>define </a:t>
            </a:r>
            <a:r>
              <a:rPr sz="2000" spc="-10" dirty="0">
                <a:latin typeface="Calibri"/>
                <a:cs typeface="Calibri"/>
              </a:rPr>
              <a:t>constants </a:t>
            </a:r>
            <a:r>
              <a:rPr sz="2000" dirty="0">
                <a:latin typeface="Calibri"/>
                <a:cs typeface="Calibri"/>
              </a:rPr>
              <a:t>in </a:t>
            </a:r>
            <a:r>
              <a:rPr sz="2000" spc="-20" dirty="0">
                <a:latin typeface="Calibri"/>
                <a:cs typeface="Calibri"/>
              </a:rPr>
              <a:t>CAPITALS.</a:t>
            </a:r>
            <a:endParaRPr sz="20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Storage </a:t>
            </a:r>
            <a:r>
              <a:rPr lang="en-US" b="1" dirty="0" smtClean="0"/>
              <a:t>Class</a:t>
            </a:r>
            <a:endParaRPr lang="en-US" dirty="0"/>
          </a:p>
        </p:txBody>
      </p:sp>
      <p:sp>
        <p:nvSpPr>
          <p:cNvPr id="3" name="Text Placeholder 2"/>
          <p:cNvSpPr>
            <a:spLocks noGrp="1"/>
          </p:cNvSpPr>
          <p:nvPr>
            <p:ph type="body" idx="1"/>
          </p:nvPr>
        </p:nvSpPr>
        <p:spPr>
          <a:xfrm>
            <a:off x="916939" y="1750314"/>
            <a:ext cx="10358120" cy="3877985"/>
          </a:xfrm>
        </p:spPr>
        <p:txBody>
          <a:bodyPr/>
          <a:lstStyle/>
          <a:p>
            <a:pPr algn="just"/>
            <a:r>
              <a:rPr lang="en-US" sz="2800" dirty="0"/>
              <a:t>A storage class defines the scope (visibility) and life-time of variables and/or functions within a C Program. </a:t>
            </a:r>
            <a:r>
              <a:rPr lang="en-US" sz="2800" dirty="0" smtClean="0"/>
              <a:t>precede </a:t>
            </a:r>
            <a:r>
              <a:rPr lang="en-US" sz="2800" dirty="0"/>
              <a:t>the type that they modify. </a:t>
            </a:r>
            <a:endParaRPr lang="en-US" sz="2800" dirty="0" smtClean="0"/>
          </a:p>
          <a:p>
            <a:pPr algn="just"/>
            <a:endParaRPr lang="en-US" sz="2800" dirty="0"/>
          </a:p>
          <a:p>
            <a:r>
              <a:rPr lang="en-US" sz="2800" dirty="0"/>
              <a:t>We have four different storage classes in a C program −</a:t>
            </a:r>
          </a:p>
          <a:p>
            <a:pPr marL="457200" indent="-457200">
              <a:buFont typeface="Wingdings" panose="05000000000000000000" pitchFamily="2" charset="2"/>
              <a:buChar char="q"/>
            </a:pPr>
            <a:r>
              <a:rPr lang="en-US" sz="2800" dirty="0" smtClean="0"/>
              <a:t>Auto</a:t>
            </a:r>
          </a:p>
          <a:p>
            <a:pPr marL="457200" indent="-457200">
              <a:buFont typeface="Wingdings" panose="05000000000000000000" pitchFamily="2" charset="2"/>
              <a:buChar char="q"/>
            </a:pPr>
            <a:r>
              <a:rPr lang="en-US" sz="2800" dirty="0" smtClean="0"/>
              <a:t>Register</a:t>
            </a:r>
          </a:p>
          <a:p>
            <a:pPr marL="457200" indent="-457200">
              <a:buFont typeface="Wingdings" panose="05000000000000000000" pitchFamily="2" charset="2"/>
              <a:buChar char="q"/>
            </a:pPr>
            <a:r>
              <a:rPr lang="en-US" sz="2800" smtClean="0"/>
              <a:t>Static</a:t>
            </a:r>
            <a:endParaRPr lang="en-US" sz="2800" dirty="0" smtClean="0"/>
          </a:p>
          <a:p>
            <a:pPr marL="457200" indent="-457200">
              <a:buFont typeface="Wingdings" panose="05000000000000000000" pitchFamily="2" charset="2"/>
              <a:buChar char="q"/>
            </a:pPr>
            <a:r>
              <a:rPr lang="en-US" sz="2800" smtClean="0"/>
              <a:t>extern</a:t>
            </a:r>
            <a:endParaRPr lang="en-US" sz="2800" dirty="0"/>
          </a:p>
        </p:txBody>
      </p:sp>
    </p:spTree>
    <p:extLst>
      <p:ext uri="{BB962C8B-B14F-4D97-AF65-F5344CB8AC3E}">
        <p14:creationId xmlns:p14="http://schemas.microsoft.com/office/powerpoint/2010/main" val="2802784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a:t>The auto Storage Class</a:t>
            </a:r>
          </a:p>
        </p:txBody>
      </p:sp>
      <p:sp>
        <p:nvSpPr>
          <p:cNvPr id="3" name="Text Placeholder 2"/>
          <p:cNvSpPr>
            <a:spLocks noGrp="1"/>
          </p:cNvSpPr>
          <p:nvPr>
            <p:ph type="body" idx="1"/>
          </p:nvPr>
        </p:nvSpPr>
        <p:spPr>
          <a:xfrm>
            <a:off x="916939" y="1750314"/>
            <a:ext cx="10358120" cy="3877985"/>
          </a:xfrm>
        </p:spPr>
        <p:txBody>
          <a:bodyPr/>
          <a:lstStyle/>
          <a:p>
            <a:pPr algn="just"/>
            <a:r>
              <a:rPr lang="en-US" sz="2800" dirty="0"/>
              <a:t>The </a:t>
            </a:r>
            <a:r>
              <a:rPr lang="en-US" sz="2800" b="1" dirty="0"/>
              <a:t>auto</a:t>
            </a:r>
            <a:r>
              <a:rPr lang="en-US" sz="2800" dirty="0"/>
              <a:t> storage class is the default storage class for all local variables</a:t>
            </a:r>
            <a:r>
              <a:rPr lang="en-US" sz="2800" dirty="0" smtClean="0"/>
              <a:t>.</a:t>
            </a:r>
          </a:p>
          <a:p>
            <a:pPr algn="just"/>
            <a:endParaRPr lang="en-US" sz="2800" dirty="0"/>
          </a:p>
          <a:p>
            <a:pPr algn="just"/>
            <a:r>
              <a:rPr lang="en-US" sz="2800" dirty="0" smtClean="0"/>
              <a:t>{</a:t>
            </a:r>
          </a:p>
          <a:p>
            <a:pPr algn="just"/>
            <a:r>
              <a:rPr lang="en-US" sz="2800" dirty="0"/>
              <a:t>	</a:t>
            </a:r>
            <a:r>
              <a:rPr lang="en-US" sz="2800" dirty="0" err="1" smtClean="0"/>
              <a:t>int</a:t>
            </a:r>
            <a:r>
              <a:rPr lang="en-US" sz="2800" dirty="0" smtClean="0"/>
              <a:t> mount;</a:t>
            </a:r>
          </a:p>
          <a:p>
            <a:pPr algn="just"/>
            <a:r>
              <a:rPr lang="en-US" sz="2800" dirty="0"/>
              <a:t>	</a:t>
            </a:r>
            <a:r>
              <a:rPr lang="en-US" sz="2800" dirty="0" smtClean="0"/>
              <a:t>auto </a:t>
            </a:r>
            <a:r>
              <a:rPr lang="en-US" sz="2800" dirty="0" err="1" smtClean="0"/>
              <a:t>int</a:t>
            </a:r>
            <a:r>
              <a:rPr lang="en-US" sz="2800" dirty="0" smtClean="0"/>
              <a:t> age;</a:t>
            </a:r>
            <a:endParaRPr lang="en-US" sz="2800" dirty="0"/>
          </a:p>
          <a:p>
            <a:pPr algn="just"/>
            <a:r>
              <a:rPr lang="en-US" sz="2800" dirty="0" smtClean="0"/>
              <a:t>}</a:t>
            </a:r>
          </a:p>
          <a:p>
            <a:pPr algn="just"/>
            <a:endParaRPr lang="en-US" sz="2800" dirty="0"/>
          </a:p>
          <a:p>
            <a:pPr algn="just"/>
            <a:r>
              <a:rPr lang="en-US" sz="2800" dirty="0"/>
              <a:t>The example above defines two variables with in the same storage class. 'auto' can only be used within functions, i.e., local variables.</a:t>
            </a:r>
          </a:p>
        </p:txBody>
      </p:sp>
    </p:spTree>
    <p:extLst>
      <p:ext uri="{BB962C8B-B14F-4D97-AF65-F5344CB8AC3E}">
        <p14:creationId xmlns:p14="http://schemas.microsoft.com/office/powerpoint/2010/main" val="12726810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The register Storage </a:t>
            </a:r>
            <a:r>
              <a:rPr lang="en-US" b="1" dirty="0" smtClean="0"/>
              <a:t>Class</a:t>
            </a:r>
            <a:endParaRPr lang="en-US" dirty="0"/>
          </a:p>
        </p:txBody>
      </p:sp>
      <p:sp>
        <p:nvSpPr>
          <p:cNvPr id="3" name="Text Placeholder 2"/>
          <p:cNvSpPr>
            <a:spLocks noGrp="1"/>
          </p:cNvSpPr>
          <p:nvPr>
            <p:ph type="body" idx="1"/>
          </p:nvPr>
        </p:nvSpPr>
        <p:spPr>
          <a:xfrm>
            <a:off x="916939" y="1750314"/>
            <a:ext cx="10358120" cy="4801314"/>
          </a:xfrm>
        </p:spPr>
        <p:txBody>
          <a:bodyPr/>
          <a:lstStyle/>
          <a:p>
            <a:r>
              <a:rPr lang="en-US" sz="2400" dirty="0"/>
              <a:t>The </a:t>
            </a:r>
            <a:r>
              <a:rPr lang="en-US" sz="2400" b="1" dirty="0"/>
              <a:t>register</a:t>
            </a:r>
            <a:r>
              <a:rPr lang="en-US" sz="2400" dirty="0"/>
              <a:t> storage class is used to define local variables that should be stored in a register instead of RAM. This means that the variable has a maximum size equal to the register size (usually one word) and can't have the unary '&amp;' operator applied to it (as it does not have a memory location</a:t>
            </a:r>
            <a:r>
              <a:rPr lang="en-US" sz="2400" dirty="0" smtClean="0"/>
              <a:t>).</a:t>
            </a:r>
          </a:p>
          <a:p>
            <a:endParaRPr lang="en-US" sz="2400" dirty="0"/>
          </a:p>
          <a:p>
            <a:r>
              <a:rPr lang="en-US" sz="2400" dirty="0" smtClean="0"/>
              <a:t>{</a:t>
            </a:r>
          </a:p>
          <a:p>
            <a:r>
              <a:rPr lang="en-US" sz="2400" dirty="0" smtClean="0"/>
              <a:t>	register </a:t>
            </a:r>
            <a:r>
              <a:rPr lang="en-US" sz="2400" dirty="0" err="1" smtClean="0"/>
              <a:t>int</a:t>
            </a:r>
            <a:r>
              <a:rPr lang="en-US" sz="2400" dirty="0" smtClean="0"/>
              <a:t> miles;</a:t>
            </a:r>
          </a:p>
          <a:p>
            <a:r>
              <a:rPr lang="en-US" sz="2400" dirty="0" smtClean="0"/>
              <a:t>}</a:t>
            </a:r>
          </a:p>
          <a:p>
            <a:endParaRPr lang="en-US" sz="2400" dirty="0"/>
          </a:p>
          <a:p>
            <a:r>
              <a:rPr lang="en-US" sz="2400" dirty="0"/>
              <a:t>The register should only be used for variables that require quick access such as counters. It should also be noted that defining 'register' does not mean that the variable will be stored in a register. It means that it MIGHT be stored in a register depending on hardware and implementation restrictions.</a:t>
            </a:r>
          </a:p>
        </p:txBody>
      </p:sp>
    </p:spTree>
    <p:extLst>
      <p:ext uri="{BB962C8B-B14F-4D97-AF65-F5344CB8AC3E}">
        <p14:creationId xmlns:p14="http://schemas.microsoft.com/office/powerpoint/2010/main" val="3831564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1354217"/>
          </a:xfrm>
        </p:spPr>
        <p:txBody>
          <a:bodyPr/>
          <a:lstStyle/>
          <a:p>
            <a:r>
              <a:rPr lang="en-US" b="1" dirty="0"/>
              <a:t>The static Storage Class</a:t>
            </a:r>
            <a:br>
              <a:rPr lang="en-US" b="1" dirty="0"/>
            </a:br>
            <a:endParaRPr lang="en-US" dirty="0"/>
          </a:p>
        </p:txBody>
      </p:sp>
      <p:sp>
        <p:nvSpPr>
          <p:cNvPr id="3" name="Text Placeholder 2"/>
          <p:cNvSpPr>
            <a:spLocks noGrp="1"/>
          </p:cNvSpPr>
          <p:nvPr>
            <p:ph type="body" idx="1"/>
          </p:nvPr>
        </p:nvSpPr>
        <p:spPr>
          <a:xfrm>
            <a:off x="916939" y="1750314"/>
            <a:ext cx="10358120" cy="4062651"/>
          </a:xfrm>
        </p:spPr>
        <p:txBody>
          <a:bodyPr/>
          <a:lstStyle/>
          <a:p>
            <a:pPr algn="just"/>
            <a:r>
              <a:rPr lang="en-US" sz="2400" dirty="0"/>
              <a:t>The </a:t>
            </a:r>
            <a:r>
              <a:rPr lang="en-US" sz="2400" b="1" dirty="0"/>
              <a:t>static</a:t>
            </a:r>
            <a:r>
              <a:rPr lang="en-US" sz="2400" dirty="0"/>
              <a:t> storage class instructs the compiler to keep a local variable in existence during the life-time of the program instead of creating and destroying it each time it comes into and goes out of scope. Therefore, making local variables static allows them to maintain their values between function calls</a:t>
            </a:r>
            <a:r>
              <a:rPr lang="en-US" sz="2400" dirty="0" smtClean="0"/>
              <a:t>.</a:t>
            </a:r>
          </a:p>
          <a:p>
            <a:pPr algn="just"/>
            <a:endParaRPr lang="en-US" sz="2400" dirty="0"/>
          </a:p>
          <a:p>
            <a:pPr algn="just"/>
            <a:r>
              <a:rPr lang="en-US" sz="2400" dirty="0"/>
              <a:t>The static modifier may also be applied to global variables. When this is done, it causes that variable's scope to be restricted to the file in which it is declared</a:t>
            </a:r>
            <a:r>
              <a:rPr lang="en-US" sz="2400" dirty="0" smtClean="0"/>
              <a:t>.</a:t>
            </a:r>
          </a:p>
          <a:p>
            <a:pPr algn="just"/>
            <a:endParaRPr lang="en-US" sz="2400" dirty="0"/>
          </a:p>
          <a:p>
            <a:pPr algn="just"/>
            <a:r>
              <a:rPr lang="en-US" sz="2400" dirty="0"/>
              <a:t>In C programming, when </a:t>
            </a:r>
            <a:r>
              <a:rPr lang="en-US" sz="2400" b="1" dirty="0"/>
              <a:t>static</a:t>
            </a:r>
            <a:r>
              <a:rPr lang="en-US" sz="2400" dirty="0"/>
              <a:t> is used on a global variable, it causes only one copy of that member to be shared by all the objects of its class.</a:t>
            </a:r>
          </a:p>
          <a:p>
            <a:pPr algn="just"/>
            <a:endParaRPr lang="en-US" sz="2400" dirty="0"/>
          </a:p>
        </p:txBody>
      </p:sp>
    </p:spTree>
    <p:extLst>
      <p:ext uri="{BB962C8B-B14F-4D97-AF65-F5344CB8AC3E}">
        <p14:creationId xmlns:p14="http://schemas.microsoft.com/office/powerpoint/2010/main" val="15038447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The extern Storage </a:t>
            </a:r>
            <a:r>
              <a:rPr lang="en-US" b="1" dirty="0" smtClean="0"/>
              <a:t>Class</a:t>
            </a:r>
            <a:endParaRPr lang="en-US" dirty="0"/>
          </a:p>
        </p:txBody>
      </p:sp>
      <p:sp>
        <p:nvSpPr>
          <p:cNvPr id="3" name="Text Placeholder 2"/>
          <p:cNvSpPr>
            <a:spLocks noGrp="1"/>
          </p:cNvSpPr>
          <p:nvPr>
            <p:ph type="body" idx="1"/>
          </p:nvPr>
        </p:nvSpPr>
        <p:spPr>
          <a:xfrm>
            <a:off x="916939" y="1750314"/>
            <a:ext cx="10358120" cy="5078313"/>
          </a:xfrm>
        </p:spPr>
        <p:txBody>
          <a:bodyPr/>
          <a:lstStyle/>
          <a:p>
            <a:pPr algn="just"/>
            <a:r>
              <a:rPr lang="en-US" sz="2400" dirty="0"/>
              <a:t>The </a:t>
            </a:r>
            <a:r>
              <a:rPr lang="en-US" sz="2400" b="1" dirty="0"/>
              <a:t>extern</a:t>
            </a:r>
            <a:r>
              <a:rPr lang="en-US" sz="2400" dirty="0"/>
              <a:t> storage class is used to give a reference of a global variable that is visible to ALL the program files. </a:t>
            </a:r>
            <a:endParaRPr lang="en-US" sz="2400" dirty="0" smtClean="0"/>
          </a:p>
          <a:p>
            <a:pPr algn="just"/>
            <a:endParaRPr lang="en-US" sz="2400" dirty="0"/>
          </a:p>
          <a:p>
            <a:pPr algn="just"/>
            <a:r>
              <a:rPr lang="en-US" sz="2400" dirty="0" smtClean="0"/>
              <a:t>When </a:t>
            </a:r>
            <a:r>
              <a:rPr lang="en-US" sz="2400" dirty="0"/>
              <a:t>you use 'extern', the variable cannot be initialized however, it points the variable name at a storage location that has been previously defined</a:t>
            </a:r>
            <a:r>
              <a:rPr lang="en-US" sz="2400" dirty="0" smtClean="0"/>
              <a:t>.</a:t>
            </a:r>
          </a:p>
          <a:p>
            <a:pPr algn="just"/>
            <a:endParaRPr lang="en-US" sz="2400" dirty="0"/>
          </a:p>
          <a:p>
            <a:pPr algn="just"/>
            <a:r>
              <a:rPr lang="en-US" sz="2400" dirty="0"/>
              <a:t>When you have multiple files and you define a global variable or function, which will also be used in other files, then </a:t>
            </a:r>
            <a:r>
              <a:rPr lang="en-US" sz="2400" i="1" dirty="0"/>
              <a:t>extern</a:t>
            </a:r>
            <a:r>
              <a:rPr lang="en-US" sz="2400" dirty="0"/>
              <a:t> will be used in another file to provide the reference of defined variable or function. </a:t>
            </a:r>
            <a:endParaRPr lang="en-US" sz="2400" dirty="0" smtClean="0"/>
          </a:p>
          <a:p>
            <a:pPr algn="just"/>
            <a:endParaRPr lang="en-US" sz="2400" dirty="0"/>
          </a:p>
          <a:p>
            <a:pPr algn="just"/>
            <a:r>
              <a:rPr lang="en-US" sz="2400" dirty="0" smtClean="0"/>
              <a:t>Just </a:t>
            </a:r>
            <a:r>
              <a:rPr lang="en-US" sz="2400" dirty="0"/>
              <a:t>for understanding, </a:t>
            </a:r>
            <a:r>
              <a:rPr lang="en-US" sz="2400" i="1" dirty="0"/>
              <a:t>extern</a:t>
            </a:r>
            <a:r>
              <a:rPr lang="en-US" sz="2400" dirty="0"/>
              <a:t> is used to declare a global variable or function in another file</a:t>
            </a:r>
            <a:r>
              <a:rPr lang="en-US" sz="2400" dirty="0" smtClean="0"/>
              <a:t>.</a:t>
            </a:r>
          </a:p>
          <a:p>
            <a:endParaRPr lang="en-US" sz="2400" dirty="0"/>
          </a:p>
          <a:p>
            <a:endParaRPr lang="en-US" dirty="0"/>
          </a:p>
        </p:txBody>
      </p:sp>
    </p:spTree>
    <p:extLst>
      <p:ext uri="{BB962C8B-B14F-4D97-AF65-F5344CB8AC3E}">
        <p14:creationId xmlns:p14="http://schemas.microsoft.com/office/powerpoint/2010/main" val="6069119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The extern Storage </a:t>
            </a:r>
            <a:r>
              <a:rPr lang="en-US" b="1" dirty="0" smtClean="0"/>
              <a:t>Class</a:t>
            </a:r>
            <a:endParaRPr lang="en-US" dirty="0"/>
          </a:p>
        </p:txBody>
      </p:sp>
      <p:sp>
        <p:nvSpPr>
          <p:cNvPr id="3" name="Text Placeholder 2"/>
          <p:cNvSpPr>
            <a:spLocks noGrp="1"/>
          </p:cNvSpPr>
          <p:nvPr>
            <p:ph type="body" idx="1"/>
          </p:nvPr>
        </p:nvSpPr>
        <p:spPr>
          <a:xfrm>
            <a:off x="916939" y="1750314"/>
            <a:ext cx="10358120" cy="4616648"/>
          </a:xfrm>
        </p:spPr>
        <p:txBody>
          <a:bodyPr/>
          <a:lstStyle/>
          <a:p>
            <a:r>
              <a:rPr lang="en-US" sz="2400" dirty="0"/>
              <a:t>The extern modifier is most commonly used when there are two or more files sharing the same global variables or functions as explained below.</a:t>
            </a:r>
          </a:p>
          <a:p>
            <a:endParaRPr lang="en-US" dirty="0" smtClean="0"/>
          </a:p>
          <a:p>
            <a:r>
              <a:rPr lang="en-US" b="1" dirty="0"/>
              <a:t>File: </a:t>
            </a:r>
            <a:r>
              <a:rPr lang="en-US" b="1" dirty="0" err="1"/>
              <a:t>main.c</a:t>
            </a:r>
            <a:endParaRPr lang="en-US" dirty="0"/>
          </a:p>
          <a:p>
            <a:r>
              <a:rPr lang="en-US" dirty="0"/>
              <a:t>#include &lt;</a:t>
            </a:r>
            <a:r>
              <a:rPr lang="en-US" dirty="0" err="1"/>
              <a:t>stdio.h</a:t>
            </a:r>
            <a:r>
              <a:rPr lang="en-US" dirty="0"/>
              <a:t>&gt;</a:t>
            </a:r>
          </a:p>
          <a:p>
            <a:r>
              <a:rPr lang="en-US" dirty="0"/>
              <a:t> </a:t>
            </a:r>
          </a:p>
          <a:p>
            <a:r>
              <a:rPr lang="en-US" dirty="0" err="1"/>
              <a:t>int</a:t>
            </a:r>
            <a:r>
              <a:rPr lang="en-US" dirty="0"/>
              <a:t> count ;</a:t>
            </a:r>
          </a:p>
          <a:p>
            <a:r>
              <a:rPr lang="en-US" dirty="0"/>
              <a:t>extern void </a:t>
            </a:r>
            <a:r>
              <a:rPr lang="en-US" dirty="0" err="1"/>
              <a:t>write_extern</a:t>
            </a:r>
            <a:r>
              <a:rPr lang="en-US" dirty="0"/>
              <a:t>();</a:t>
            </a:r>
          </a:p>
          <a:p>
            <a:r>
              <a:rPr lang="en-US" dirty="0"/>
              <a:t> </a:t>
            </a:r>
          </a:p>
          <a:p>
            <a:r>
              <a:rPr lang="en-US" dirty="0"/>
              <a:t>main() </a:t>
            </a:r>
            <a:endParaRPr lang="en-US" dirty="0" smtClean="0"/>
          </a:p>
          <a:p>
            <a:r>
              <a:rPr lang="en-US" dirty="0" smtClean="0"/>
              <a:t>{</a:t>
            </a:r>
            <a:endParaRPr lang="en-US" dirty="0"/>
          </a:p>
          <a:p>
            <a:r>
              <a:rPr lang="en-US" dirty="0"/>
              <a:t>   count = 5;</a:t>
            </a:r>
          </a:p>
          <a:p>
            <a:r>
              <a:rPr lang="en-US" dirty="0"/>
              <a:t>   </a:t>
            </a:r>
            <a:r>
              <a:rPr lang="en-US" dirty="0" err="1"/>
              <a:t>write_extern</a:t>
            </a:r>
            <a:r>
              <a:rPr lang="en-US" dirty="0"/>
              <a:t>();</a:t>
            </a:r>
          </a:p>
          <a:p>
            <a:r>
              <a:rPr lang="en-US" dirty="0"/>
              <a:t>}</a:t>
            </a:r>
          </a:p>
          <a:p>
            <a:r>
              <a:rPr lang="en-US" dirty="0"/>
              <a:t> </a:t>
            </a:r>
          </a:p>
          <a:p>
            <a:endParaRPr lang="en-US" dirty="0"/>
          </a:p>
        </p:txBody>
      </p:sp>
    </p:spTree>
    <p:extLst>
      <p:ext uri="{BB962C8B-B14F-4D97-AF65-F5344CB8AC3E}">
        <p14:creationId xmlns:p14="http://schemas.microsoft.com/office/powerpoint/2010/main" val="13600207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The extern Storage </a:t>
            </a:r>
            <a:r>
              <a:rPr lang="en-US" b="1" dirty="0" smtClean="0"/>
              <a:t>Class</a:t>
            </a:r>
            <a:endParaRPr lang="en-US" dirty="0"/>
          </a:p>
        </p:txBody>
      </p:sp>
      <p:sp>
        <p:nvSpPr>
          <p:cNvPr id="3" name="Text Placeholder 2"/>
          <p:cNvSpPr>
            <a:spLocks noGrp="1"/>
          </p:cNvSpPr>
          <p:nvPr>
            <p:ph type="body" idx="1"/>
          </p:nvPr>
        </p:nvSpPr>
        <p:spPr>
          <a:xfrm>
            <a:off x="916939" y="1750314"/>
            <a:ext cx="10358120" cy="5078313"/>
          </a:xfrm>
        </p:spPr>
        <p:txBody>
          <a:bodyPr/>
          <a:lstStyle/>
          <a:p>
            <a:r>
              <a:rPr lang="en-US" sz="2400" dirty="0"/>
              <a:t>The extern modifier is most commonly used when there are two or more files sharing the same global variables or functions as explained below</a:t>
            </a:r>
            <a:r>
              <a:rPr lang="en-US" sz="2400" dirty="0" smtClean="0"/>
              <a:t>.</a:t>
            </a:r>
          </a:p>
          <a:p>
            <a:endParaRPr lang="en-US" sz="2400" dirty="0" smtClean="0"/>
          </a:p>
          <a:p>
            <a:pPr lvl="0" algn="l" rtl="0" eaLnBrk="0" fontAlgn="base" hangingPunct="0">
              <a:spcBef>
                <a:spcPct val="0"/>
              </a:spcBef>
              <a:spcAft>
                <a:spcPct val="0"/>
              </a:spcAft>
            </a:pPr>
            <a:r>
              <a:rPr lang="en-US" altLang="en-US" sz="2400" b="1" dirty="0">
                <a:latin typeface="+mj-lt"/>
                <a:ea typeface="Times New Roman" panose="02020603050405020304" pitchFamily="18" charset="0"/>
              </a:rPr>
              <a:t>Second File: </a:t>
            </a:r>
            <a:r>
              <a:rPr lang="en-US" altLang="en-US" sz="2400" b="1" dirty="0" err="1" smtClean="0">
                <a:latin typeface="+mj-lt"/>
                <a:ea typeface="Times New Roman" panose="02020603050405020304" pitchFamily="18" charset="0"/>
              </a:rPr>
              <a:t>support.c</a:t>
            </a:r>
            <a:endParaRPr lang="en-US" altLang="en-US" sz="2400" b="1" dirty="0" smtClean="0">
              <a:latin typeface="+mj-lt"/>
              <a:ea typeface="Times New Roman" panose="02020603050405020304" pitchFamily="18" charset="0"/>
            </a:endParaRPr>
          </a:p>
          <a:p>
            <a:pPr lvl="0" algn="l" rtl="0" eaLnBrk="0" fontAlgn="base" hangingPunct="0">
              <a:spcBef>
                <a:spcPct val="0"/>
              </a:spcBef>
              <a:spcAft>
                <a:spcPct val="0"/>
              </a:spcAft>
            </a:pPr>
            <a:endParaRPr lang="en-US" altLang="en-US" sz="2400" dirty="0">
              <a:latin typeface="+mj-lt"/>
              <a:ea typeface="Times New Roman" panose="02020603050405020304" pitchFamily="18" charset="0"/>
              <a:cs typeface="Courier New" panose="02070309020205020404" pitchFamily="49" charset="0"/>
            </a:endParaRPr>
          </a:p>
          <a:p>
            <a:pPr lvl="0" algn="l" rtl="0" eaLnBrk="0" fontAlgn="base" hangingPunct="0">
              <a:spcBef>
                <a:spcPct val="0"/>
              </a:spcBef>
              <a:spcAft>
                <a:spcPct val="0"/>
              </a:spcAft>
            </a:pPr>
            <a:r>
              <a:rPr lang="en-US" altLang="en-US" sz="2400" dirty="0">
                <a:latin typeface="+mj-lt"/>
                <a:ea typeface="Times New Roman" panose="02020603050405020304" pitchFamily="18" charset="0"/>
                <a:cs typeface="Courier New" panose="02070309020205020404" pitchFamily="49" charset="0"/>
              </a:rPr>
              <a:t>#include &lt;</a:t>
            </a:r>
            <a:r>
              <a:rPr lang="en-US" altLang="en-US" sz="2400" dirty="0" err="1">
                <a:latin typeface="+mj-lt"/>
                <a:ea typeface="Times New Roman" panose="02020603050405020304" pitchFamily="18" charset="0"/>
                <a:cs typeface="Courier New" panose="02070309020205020404" pitchFamily="49" charset="0"/>
              </a:rPr>
              <a:t>stdio.h</a:t>
            </a:r>
            <a:r>
              <a:rPr lang="en-US" altLang="en-US" sz="2400" dirty="0">
                <a:latin typeface="+mj-lt"/>
                <a:ea typeface="Times New Roman" panose="02020603050405020304" pitchFamily="18" charset="0"/>
                <a:cs typeface="Courier New" panose="02070309020205020404" pitchFamily="49" charset="0"/>
              </a:rPr>
              <a:t>&gt; </a:t>
            </a:r>
            <a:endParaRPr lang="en-US" altLang="en-US" sz="2400" dirty="0" smtClean="0">
              <a:latin typeface="+mj-lt"/>
              <a:ea typeface="Times New Roman" panose="02020603050405020304" pitchFamily="18" charset="0"/>
              <a:cs typeface="Courier New" panose="02070309020205020404" pitchFamily="49" charset="0"/>
            </a:endParaRPr>
          </a:p>
          <a:p>
            <a:pPr lvl="0" algn="l" rtl="0" eaLnBrk="0" fontAlgn="base" hangingPunct="0">
              <a:spcBef>
                <a:spcPct val="0"/>
              </a:spcBef>
              <a:spcAft>
                <a:spcPct val="0"/>
              </a:spcAft>
            </a:pPr>
            <a:r>
              <a:rPr lang="en-US" altLang="en-US" sz="2400" dirty="0" smtClean="0">
                <a:latin typeface="+mj-lt"/>
                <a:ea typeface="Times New Roman" panose="02020603050405020304" pitchFamily="18" charset="0"/>
                <a:cs typeface="Courier New" panose="02070309020205020404" pitchFamily="49" charset="0"/>
              </a:rPr>
              <a:t>extern </a:t>
            </a:r>
            <a:r>
              <a:rPr lang="en-US" altLang="en-US" sz="2400" dirty="0" err="1">
                <a:latin typeface="+mj-lt"/>
                <a:ea typeface="Times New Roman" panose="02020603050405020304" pitchFamily="18" charset="0"/>
                <a:cs typeface="Courier New" panose="02070309020205020404" pitchFamily="49" charset="0"/>
              </a:rPr>
              <a:t>int</a:t>
            </a:r>
            <a:r>
              <a:rPr lang="en-US" altLang="en-US" sz="2400" dirty="0">
                <a:latin typeface="+mj-lt"/>
                <a:ea typeface="Times New Roman" panose="02020603050405020304" pitchFamily="18" charset="0"/>
                <a:cs typeface="Courier New" panose="02070309020205020404" pitchFamily="49" charset="0"/>
              </a:rPr>
              <a:t> count; </a:t>
            </a:r>
            <a:endParaRPr lang="en-US" altLang="en-US" sz="2400" dirty="0" smtClean="0">
              <a:latin typeface="+mj-lt"/>
              <a:ea typeface="Times New Roman" panose="02020603050405020304" pitchFamily="18" charset="0"/>
              <a:cs typeface="Courier New" panose="02070309020205020404" pitchFamily="49" charset="0"/>
            </a:endParaRPr>
          </a:p>
          <a:p>
            <a:pPr lvl="0" algn="l" rtl="0" eaLnBrk="0" fontAlgn="base" hangingPunct="0">
              <a:spcBef>
                <a:spcPct val="0"/>
              </a:spcBef>
              <a:spcAft>
                <a:spcPct val="0"/>
              </a:spcAft>
            </a:pPr>
            <a:r>
              <a:rPr lang="en-US" altLang="en-US" sz="2400" dirty="0" smtClean="0">
                <a:latin typeface="+mj-lt"/>
                <a:ea typeface="Times New Roman" panose="02020603050405020304" pitchFamily="18" charset="0"/>
                <a:cs typeface="Courier New" panose="02070309020205020404" pitchFamily="49" charset="0"/>
              </a:rPr>
              <a:t>void </a:t>
            </a:r>
            <a:r>
              <a:rPr lang="en-US" altLang="en-US" sz="2400" dirty="0" err="1">
                <a:latin typeface="+mj-lt"/>
                <a:ea typeface="Times New Roman" panose="02020603050405020304" pitchFamily="18" charset="0"/>
                <a:cs typeface="Courier New" panose="02070309020205020404" pitchFamily="49" charset="0"/>
              </a:rPr>
              <a:t>write_extern</a:t>
            </a:r>
            <a:r>
              <a:rPr lang="en-US" altLang="en-US" sz="2400" dirty="0">
                <a:latin typeface="+mj-lt"/>
                <a:ea typeface="Times New Roman" panose="02020603050405020304" pitchFamily="18" charset="0"/>
                <a:cs typeface="Courier New" panose="02070309020205020404" pitchFamily="49" charset="0"/>
              </a:rPr>
              <a:t>(void) </a:t>
            </a:r>
            <a:endParaRPr lang="en-US" altLang="en-US" sz="2400" dirty="0" smtClean="0">
              <a:latin typeface="+mj-lt"/>
              <a:ea typeface="Times New Roman" panose="02020603050405020304" pitchFamily="18" charset="0"/>
              <a:cs typeface="Courier New" panose="02070309020205020404" pitchFamily="49" charset="0"/>
            </a:endParaRPr>
          </a:p>
          <a:p>
            <a:pPr lvl="0" algn="l" rtl="0" eaLnBrk="0" fontAlgn="base" hangingPunct="0">
              <a:spcBef>
                <a:spcPct val="0"/>
              </a:spcBef>
              <a:spcAft>
                <a:spcPct val="0"/>
              </a:spcAft>
            </a:pPr>
            <a:r>
              <a:rPr lang="en-US" altLang="en-US" sz="2400" dirty="0" smtClean="0">
                <a:latin typeface="+mj-lt"/>
                <a:ea typeface="Times New Roman" panose="02020603050405020304" pitchFamily="18" charset="0"/>
                <a:cs typeface="Courier New" panose="02070309020205020404" pitchFamily="49" charset="0"/>
              </a:rPr>
              <a:t>{   </a:t>
            </a:r>
          </a:p>
          <a:p>
            <a:pPr lvl="0" algn="l" rtl="0" eaLnBrk="0" fontAlgn="base" hangingPunct="0">
              <a:spcBef>
                <a:spcPct val="0"/>
              </a:spcBef>
              <a:spcAft>
                <a:spcPct val="0"/>
              </a:spcAft>
            </a:pPr>
            <a:r>
              <a:rPr lang="en-US" altLang="en-US" sz="2400" dirty="0">
                <a:latin typeface="+mj-lt"/>
                <a:ea typeface="Times New Roman" panose="02020603050405020304" pitchFamily="18" charset="0"/>
                <a:cs typeface="Courier New" panose="02070309020205020404" pitchFamily="49" charset="0"/>
              </a:rPr>
              <a:t>	</a:t>
            </a:r>
            <a:r>
              <a:rPr lang="en-US" altLang="en-US" sz="2400" dirty="0" err="1" smtClean="0">
                <a:latin typeface="+mj-lt"/>
                <a:ea typeface="Times New Roman" panose="02020603050405020304" pitchFamily="18" charset="0"/>
                <a:cs typeface="Courier New" panose="02070309020205020404" pitchFamily="49" charset="0"/>
              </a:rPr>
              <a:t>printf</a:t>
            </a:r>
            <a:r>
              <a:rPr lang="en-US" altLang="en-US" sz="2400" dirty="0">
                <a:latin typeface="+mj-lt"/>
                <a:ea typeface="Times New Roman" panose="02020603050405020304" pitchFamily="18" charset="0"/>
                <a:cs typeface="Courier New" panose="02070309020205020404" pitchFamily="49" charset="0"/>
              </a:rPr>
              <a:t>("count is %d\n", count</a:t>
            </a:r>
            <a:r>
              <a:rPr lang="en-US" altLang="en-US" sz="2400" dirty="0" smtClean="0">
                <a:latin typeface="+mj-lt"/>
                <a:ea typeface="Times New Roman" panose="02020603050405020304" pitchFamily="18" charset="0"/>
                <a:cs typeface="Courier New" panose="02070309020205020404" pitchFamily="49" charset="0"/>
              </a:rPr>
              <a:t>);</a:t>
            </a:r>
          </a:p>
          <a:p>
            <a:pPr lvl="0" algn="l" rtl="0" eaLnBrk="0" fontAlgn="base" hangingPunct="0">
              <a:spcBef>
                <a:spcPct val="0"/>
              </a:spcBef>
              <a:spcAft>
                <a:spcPct val="0"/>
              </a:spcAft>
            </a:pPr>
            <a:r>
              <a:rPr lang="en-US" altLang="en-US" sz="2400" dirty="0" smtClean="0">
                <a:latin typeface="+mj-lt"/>
                <a:ea typeface="Calibri" panose="020F0502020204030204" pitchFamily="34" charset="0"/>
                <a:cs typeface="Times New Roman" panose="02020603050405020304" pitchFamily="18" charset="0"/>
              </a:rPr>
              <a:t>}</a:t>
            </a:r>
            <a:r>
              <a:rPr lang="en-US" altLang="en-US" sz="2400" dirty="0" smtClean="0">
                <a:latin typeface="+mj-lt"/>
              </a:rPr>
              <a:t> </a:t>
            </a:r>
            <a:endParaRPr lang="en-US" sz="2400" dirty="0" smtClean="0"/>
          </a:p>
          <a:p>
            <a:r>
              <a:rPr lang="en-US" sz="2400" dirty="0" smtClean="0"/>
              <a:t>Here</a:t>
            </a:r>
            <a:r>
              <a:rPr lang="en-US" sz="2400" dirty="0"/>
              <a:t>, </a:t>
            </a:r>
            <a:r>
              <a:rPr lang="en-US" sz="2400" i="1" dirty="0"/>
              <a:t>extern</a:t>
            </a:r>
            <a:r>
              <a:rPr lang="en-US" sz="2400" dirty="0"/>
              <a:t> is being used to declare </a:t>
            </a:r>
            <a:r>
              <a:rPr lang="en-US" sz="2400" i="1" dirty="0"/>
              <a:t>count</a:t>
            </a:r>
            <a:r>
              <a:rPr lang="en-US" sz="2400" dirty="0"/>
              <a:t> in the second file, where as it has its definition in the first file, </a:t>
            </a:r>
            <a:r>
              <a:rPr lang="en-US" sz="2400" dirty="0" err="1"/>
              <a:t>main.c</a:t>
            </a:r>
            <a:r>
              <a:rPr lang="en-US" sz="2400" dirty="0"/>
              <a:t>.</a:t>
            </a:r>
            <a:endParaRPr lang="en-US" sz="2400" dirty="0" smtClean="0"/>
          </a:p>
          <a:p>
            <a:endParaRPr lang="en-US" dirty="0" smtClean="0"/>
          </a:p>
        </p:txBody>
      </p:sp>
    </p:spTree>
    <p:extLst>
      <p:ext uri="{BB962C8B-B14F-4D97-AF65-F5344CB8AC3E}">
        <p14:creationId xmlns:p14="http://schemas.microsoft.com/office/powerpoint/2010/main" val="4227334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6939" y="623189"/>
            <a:ext cx="10358120" cy="677108"/>
          </a:xfrm>
        </p:spPr>
        <p:txBody>
          <a:bodyPr/>
          <a:lstStyle/>
          <a:p>
            <a:r>
              <a:rPr lang="en-US" b="1" dirty="0"/>
              <a:t>C - </a:t>
            </a:r>
            <a:r>
              <a:rPr lang="en-US" b="1" dirty="0" smtClean="0"/>
              <a:t>Operators</a:t>
            </a:r>
            <a:endParaRPr lang="en-US" dirty="0"/>
          </a:p>
        </p:txBody>
      </p:sp>
      <p:sp>
        <p:nvSpPr>
          <p:cNvPr id="3" name="Text Placeholder 2"/>
          <p:cNvSpPr>
            <a:spLocks noGrp="1"/>
          </p:cNvSpPr>
          <p:nvPr>
            <p:ph type="body" idx="1"/>
          </p:nvPr>
        </p:nvSpPr>
        <p:spPr>
          <a:xfrm>
            <a:off x="916939" y="1750314"/>
            <a:ext cx="10358120" cy="3970318"/>
          </a:xfrm>
        </p:spPr>
        <p:txBody>
          <a:bodyPr/>
          <a:lstStyle/>
          <a:p>
            <a:r>
              <a:rPr lang="en-US" sz="2400" dirty="0"/>
              <a:t>An operator is a symbol that tells the compiler to perform specific mathematical or logical functions. C language is rich in built-in operators and provides the following types of operators −</a:t>
            </a:r>
          </a:p>
          <a:p>
            <a:endParaRPr lang="en-US" sz="2400" dirty="0" smtClean="0"/>
          </a:p>
          <a:p>
            <a:pPr marL="342900" indent="-342900">
              <a:buFont typeface="Wingdings" panose="05000000000000000000" pitchFamily="2" charset="2"/>
              <a:buChar char="q"/>
            </a:pPr>
            <a:r>
              <a:rPr lang="en-US" sz="2400" dirty="0" smtClean="0"/>
              <a:t>Arithmetic </a:t>
            </a:r>
            <a:r>
              <a:rPr lang="en-US" sz="2400" dirty="0"/>
              <a:t>Operators</a:t>
            </a:r>
          </a:p>
          <a:p>
            <a:pPr marL="342900" indent="-342900">
              <a:buFont typeface="Wingdings" panose="05000000000000000000" pitchFamily="2" charset="2"/>
              <a:buChar char="q"/>
            </a:pPr>
            <a:r>
              <a:rPr lang="en-US" sz="2400" dirty="0"/>
              <a:t>Relational Operators</a:t>
            </a:r>
          </a:p>
          <a:p>
            <a:pPr marL="342900" indent="-342900">
              <a:buFont typeface="Wingdings" panose="05000000000000000000" pitchFamily="2" charset="2"/>
              <a:buChar char="q"/>
            </a:pPr>
            <a:r>
              <a:rPr lang="en-US" sz="2400" dirty="0"/>
              <a:t>Logical Operators</a:t>
            </a:r>
          </a:p>
          <a:p>
            <a:pPr marL="342900" indent="-342900">
              <a:buFont typeface="Wingdings" panose="05000000000000000000" pitchFamily="2" charset="2"/>
              <a:buChar char="q"/>
            </a:pPr>
            <a:r>
              <a:rPr lang="en-US" sz="2400" dirty="0"/>
              <a:t>Bitwise Operators</a:t>
            </a:r>
          </a:p>
          <a:p>
            <a:pPr marL="342900" indent="-342900">
              <a:buFont typeface="Wingdings" panose="05000000000000000000" pitchFamily="2" charset="2"/>
              <a:buChar char="q"/>
            </a:pPr>
            <a:r>
              <a:rPr lang="en-US" sz="2400" dirty="0"/>
              <a:t>Assignment Operators</a:t>
            </a:r>
          </a:p>
          <a:p>
            <a:pPr marL="342900" indent="-342900">
              <a:buFont typeface="Wingdings" panose="05000000000000000000" pitchFamily="2" charset="2"/>
              <a:buChar char="q"/>
            </a:pPr>
            <a:r>
              <a:rPr lang="en-US" sz="2400" dirty="0" err="1" smtClean="0"/>
              <a:t>Misc</a:t>
            </a:r>
            <a:r>
              <a:rPr lang="en-US" sz="2400" dirty="0" smtClean="0"/>
              <a:t> Operators (miscellaneous)</a:t>
            </a:r>
          </a:p>
          <a:p>
            <a:endParaRPr lang="en-US" dirty="0"/>
          </a:p>
        </p:txBody>
      </p:sp>
    </p:spTree>
    <p:extLst>
      <p:ext uri="{BB962C8B-B14F-4D97-AF65-F5344CB8AC3E}">
        <p14:creationId xmlns:p14="http://schemas.microsoft.com/office/powerpoint/2010/main" val="30636780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40939" y="623189"/>
            <a:ext cx="10358120" cy="545790"/>
          </a:xfrm>
          <a:prstGeom prst="rect">
            <a:avLst/>
          </a:prstGeom>
        </p:spPr>
        <p:txBody>
          <a:bodyPr vert="horz" wrap="square" lIns="0" tIns="113792" rIns="0" bIns="0" rtlCol="0">
            <a:spAutoFit/>
          </a:bodyPr>
          <a:lstStyle/>
          <a:p>
            <a:pPr marL="2882900"/>
            <a:r>
              <a:rPr sz="2800" b="1" u="heavy" spc="-5" dirty="0">
                <a:latin typeface="Times New Roman"/>
                <a:cs typeface="Times New Roman"/>
              </a:rPr>
              <a:t>Arithmetic</a:t>
            </a:r>
            <a:r>
              <a:rPr sz="2800" b="1" u="heavy" spc="-30" dirty="0">
                <a:latin typeface="Times New Roman"/>
                <a:cs typeface="Times New Roman"/>
              </a:rPr>
              <a:t> </a:t>
            </a:r>
            <a:r>
              <a:rPr sz="2800" b="1" u="heavy" spc="-5" dirty="0">
                <a:latin typeface="Times New Roman"/>
                <a:cs typeface="Times New Roman"/>
              </a:rPr>
              <a:t>Operators</a:t>
            </a:r>
            <a:endParaRPr sz="2800" dirty="0">
              <a:latin typeface="Times New Roman"/>
              <a:cs typeface="Times New Roman"/>
            </a:endParaRPr>
          </a:p>
        </p:txBody>
      </p:sp>
      <p:sp>
        <p:nvSpPr>
          <p:cNvPr id="3" name="object 3"/>
          <p:cNvSpPr txBox="1"/>
          <p:nvPr/>
        </p:nvSpPr>
        <p:spPr>
          <a:xfrm>
            <a:off x="1983740" y="3192607"/>
            <a:ext cx="1734820" cy="2475230"/>
          </a:xfrm>
          <a:prstGeom prst="rect">
            <a:avLst/>
          </a:prstGeom>
        </p:spPr>
        <p:txBody>
          <a:bodyPr vert="horz" wrap="square" lIns="0" tIns="0" rIns="0" bIns="0" rtlCol="0">
            <a:spAutoFit/>
          </a:bodyPr>
          <a:lstStyle/>
          <a:p>
            <a:pPr marL="12700" marR="5080">
              <a:lnSpc>
                <a:spcPct val="134600"/>
              </a:lnSpc>
            </a:pPr>
            <a:r>
              <a:rPr sz="2400" b="1" spc="-5" dirty="0">
                <a:latin typeface="Times New Roman"/>
                <a:cs typeface="Times New Roman"/>
              </a:rPr>
              <a:t>Name  </a:t>
            </a:r>
            <a:r>
              <a:rPr sz="2400" dirty="0">
                <a:latin typeface="Times New Roman"/>
                <a:cs typeface="Times New Roman"/>
              </a:rPr>
              <a:t>addition  subtraction</a:t>
            </a:r>
          </a:p>
          <a:p>
            <a:pPr marL="12700" marR="5080">
              <a:lnSpc>
                <a:spcPct val="134600"/>
              </a:lnSpc>
              <a:spcBef>
                <a:spcPts val="10"/>
              </a:spcBef>
            </a:pPr>
            <a:r>
              <a:rPr sz="2400" spc="-20" dirty="0">
                <a:latin typeface="Times New Roman"/>
                <a:cs typeface="Times New Roman"/>
              </a:rPr>
              <a:t>m</a:t>
            </a:r>
            <a:r>
              <a:rPr sz="2400" dirty="0">
                <a:latin typeface="Times New Roman"/>
                <a:cs typeface="Times New Roman"/>
              </a:rPr>
              <a:t>ul</a:t>
            </a:r>
            <a:r>
              <a:rPr sz="2400" spc="5" dirty="0">
                <a:latin typeface="Times New Roman"/>
                <a:cs typeface="Times New Roman"/>
              </a:rPr>
              <a:t>t</a:t>
            </a:r>
            <a:r>
              <a:rPr sz="2400" dirty="0">
                <a:latin typeface="Times New Roman"/>
                <a:cs typeface="Times New Roman"/>
              </a:rPr>
              <a:t>ip</a:t>
            </a:r>
            <a:r>
              <a:rPr sz="2400" spc="5" dirty="0">
                <a:latin typeface="Times New Roman"/>
                <a:cs typeface="Times New Roman"/>
              </a:rPr>
              <a:t>l</a:t>
            </a:r>
            <a:r>
              <a:rPr sz="2400" dirty="0">
                <a:latin typeface="Times New Roman"/>
                <a:cs typeface="Times New Roman"/>
              </a:rPr>
              <a:t>i</a:t>
            </a:r>
            <a:r>
              <a:rPr sz="2400" spc="5" dirty="0">
                <a:latin typeface="Times New Roman"/>
                <a:cs typeface="Times New Roman"/>
              </a:rPr>
              <a:t>c</a:t>
            </a:r>
            <a:r>
              <a:rPr sz="2400" spc="-10" dirty="0">
                <a:latin typeface="Times New Roman"/>
                <a:cs typeface="Times New Roman"/>
              </a:rPr>
              <a:t>a</a:t>
            </a:r>
            <a:r>
              <a:rPr sz="2400" dirty="0">
                <a:latin typeface="Times New Roman"/>
                <a:cs typeface="Times New Roman"/>
              </a:rPr>
              <a:t>tion  division</a:t>
            </a:r>
          </a:p>
        </p:txBody>
      </p:sp>
      <p:sp>
        <p:nvSpPr>
          <p:cNvPr id="4" name="object 4"/>
          <p:cNvSpPr txBox="1"/>
          <p:nvPr/>
        </p:nvSpPr>
        <p:spPr>
          <a:xfrm>
            <a:off x="3812794" y="3319526"/>
            <a:ext cx="1112520" cy="2348230"/>
          </a:xfrm>
          <a:prstGeom prst="rect">
            <a:avLst/>
          </a:prstGeom>
        </p:spPr>
        <p:txBody>
          <a:bodyPr vert="horz" wrap="square" lIns="0" tIns="0" rIns="0" bIns="0" rtlCol="0">
            <a:spAutoFit/>
          </a:bodyPr>
          <a:lstStyle/>
          <a:p>
            <a:pPr marR="109220" algn="r"/>
            <a:r>
              <a:rPr sz="2400" b="1" spc="-5" dirty="0">
                <a:latin typeface="Times New Roman"/>
                <a:cs typeface="Times New Roman"/>
              </a:rPr>
              <a:t>Symbol</a:t>
            </a:r>
            <a:endParaRPr sz="2400" dirty="0">
              <a:latin typeface="Times New Roman"/>
              <a:cs typeface="Times New Roman"/>
            </a:endParaRPr>
          </a:p>
          <a:p>
            <a:pPr marR="5080" algn="r">
              <a:spcBef>
                <a:spcPts val="994"/>
              </a:spcBef>
            </a:pPr>
            <a:r>
              <a:rPr sz="2400" dirty="0">
                <a:latin typeface="Times New Roman"/>
                <a:cs typeface="Times New Roman"/>
              </a:rPr>
              <a:t>+</a:t>
            </a:r>
          </a:p>
          <a:p>
            <a:pPr marR="74930" algn="r">
              <a:spcBef>
                <a:spcPts val="994"/>
              </a:spcBef>
            </a:pPr>
            <a:r>
              <a:rPr sz="2400" dirty="0">
                <a:latin typeface="Times New Roman"/>
                <a:cs typeface="Times New Roman"/>
              </a:rPr>
              <a:t>-</a:t>
            </a:r>
          </a:p>
          <a:p>
            <a:pPr marR="24130" algn="r">
              <a:spcBef>
                <a:spcPts val="1005"/>
              </a:spcBef>
            </a:pPr>
            <a:r>
              <a:rPr sz="2400" dirty="0">
                <a:latin typeface="Times New Roman"/>
                <a:cs typeface="Times New Roman"/>
              </a:rPr>
              <a:t>*</a:t>
            </a:r>
          </a:p>
          <a:p>
            <a:pPr marR="92075" algn="r">
              <a:spcBef>
                <a:spcPts val="994"/>
              </a:spcBef>
            </a:pPr>
            <a:r>
              <a:rPr sz="2400" dirty="0">
                <a:latin typeface="Times New Roman"/>
                <a:cs typeface="Times New Roman"/>
              </a:rPr>
              <a:t>/</a:t>
            </a:r>
          </a:p>
        </p:txBody>
      </p:sp>
      <p:sp>
        <p:nvSpPr>
          <p:cNvPr id="5" name="object 5"/>
          <p:cNvSpPr txBox="1"/>
          <p:nvPr/>
        </p:nvSpPr>
        <p:spPr>
          <a:xfrm>
            <a:off x="1983741" y="5782970"/>
            <a:ext cx="2022475" cy="377190"/>
          </a:xfrm>
          <a:prstGeom prst="rect">
            <a:avLst/>
          </a:prstGeom>
        </p:spPr>
        <p:txBody>
          <a:bodyPr vert="horz" wrap="square" lIns="0" tIns="0" rIns="0" bIns="0" rtlCol="0">
            <a:spAutoFit/>
          </a:bodyPr>
          <a:lstStyle/>
          <a:p>
            <a:pPr marL="12700"/>
            <a:r>
              <a:rPr sz="2400" spc="-5" dirty="0">
                <a:latin typeface="Times New Roman"/>
                <a:cs typeface="Times New Roman"/>
              </a:rPr>
              <a:t>modulo</a:t>
            </a:r>
            <a:r>
              <a:rPr sz="2400" spc="-90" dirty="0">
                <a:latin typeface="Times New Roman"/>
                <a:cs typeface="Times New Roman"/>
              </a:rPr>
              <a:t> </a:t>
            </a:r>
            <a:r>
              <a:rPr sz="2400" spc="-5" dirty="0">
                <a:latin typeface="Times New Roman"/>
                <a:cs typeface="Times New Roman"/>
              </a:rPr>
              <a:t>("mod")</a:t>
            </a:r>
            <a:endParaRPr sz="2400">
              <a:latin typeface="Times New Roman"/>
              <a:cs typeface="Times New Roman"/>
            </a:endParaRPr>
          </a:p>
        </p:txBody>
      </p:sp>
      <p:sp>
        <p:nvSpPr>
          <p:cNvPr id="6" name="object 6"/>
          <p:cNvSpPr txBox="1"/>
          <p:nvPr/>
        </p:nvSpPr>
        <p:spPr>
          <a:xfrm>
            <a:off x="4727576" y="5782970"/>
            <a:ext cx="280035" cy="377190"/>
          </a:xfrm>
          <a:prstGeom prst="rect">
            <a:avLst/>
          </a:prstGeom>
        </p:spPr>
        <p:txBody>
          <a:bodyPr vert="horz" wrap="square" lIns="0" tIns="0" rIns="0" bIns="0" rtlCol="0">
            <a:spAutoFit/>
          </a:bodyPr>
          <a:lstStyle/>
          <a:p>
            <a:pPr marL="12700"/>
            <a:r>
              <a:rPr sz="2400" dirty="0">
                <a:latin typeface="Times New Roman"/>
                <a:cs typeface="Times New Roman"/>
              </a:rPr>
              <a:t>%</a:t>
            </a:r>
            <a:endParaRPr sz="2400">
              <a:latin typeface="Times New Roman"/>
              <a:cs typeface="Times New Roman"/>
            </a:endParaRPr>
          </a:p>
        </p:txBody>
      </p:sp>
      <p:sp>
        <p:nvSpPr>
          <p:cNvPr id="7" name="object 7"/>
          <p:cNvSpPr txBox="1"/>
          <p:nvPr/>
        </p:nvSpPr>
        <p:spPr>
          <a:xfrm>
            <a:off x="6556629" y="3319526"/>
            <a:ext cx="3836035" cy="2840990"/>
          </a:xfrm>
          <a:prstGeom prst="rect">
            <a:avLst/>
          </a:prstGeom>
        </p:spPr>
        <p:txBody>
          <a:bodyPr vert="horz" wrap="square" lIns="0" tIns="0" rIns="0" bIns="0" rtlCol="0">
            <a:spAutoFit/>
          </a:bodyPr>
          <a:lstStyle/>
          <a:p>
            <a:pPr marL="12700"/>
            <a:r>
              <a:rPr sz="2400" b="1" spc="-5" dirty="0">
                <a:latin typeface="Times New Roman"/>
                <a:cs typeface="Times New Roman"/>
              </a:rPr>
              <a:t>Sample</a:t>
            </a:r>
            <a:r>
              <a:rPr sz="2400" b="1" spc="-70" dirty="0">
                <a:latin typeface="Times New Roman"/>
                <a:cs typeface="Times New Roman"/>
              </a:rPr>
              <a:t> </a:t>
            </a:r>
            <a:r>
              <a:rPr sz="2400" b="1" spc="-5" dirty="0">
                <a:latin typeface="Times New Roman"/>
                <a:cs typeface="Times New Roman"/>
              </a:rPr>
              <a:t>usage</a:t>
            </a:r>
            <a:endParaRPr sz="2400">
              <a:latin typeface="Times New Roman"/>
              <a:cs typeface="Times New Roman"/>
            </a:endParaRPr>
          </a:p>
          <a:p>
            <a:pPr marL="12700">
              <a:spcBef>
                <a:spcPts val="994"/>
              </a:spcBef>
            </a:pPr>
            <a:r>
              <a:rPr sz="2400" dirty="0">
                <a:latin typeface="Times New Roman"/>
                <a:cs typeface="Times New Roman"/>
              </a:rPr>
              <a:t>int sum = 4 +</a:t>
            </a:r>
            <a:r>
              <a:rPr sz="2400" spc="-135" dirty="0">
                <a:latin typeface="Times New Roman"/>
                <a:cs typeface="Times New Roman"/>
              </a:rPr>
              <a:t> </a:t>
            </a:r>
            <a:r>
              <a:rPr sz="2400" dirty="0">
                <a:latin typeface="Times New Roman"/>
                <a:cs typeface="Times New Roman"/>
              </a:rPr>
              <a:t>7</a:t>
            </a:r>
            <a:endParaRPr sz="2400">
              <a:latin typeface="Times New Roman"/>
              <a:cs typeface="Times New Roman"/>
            </a:endParaRPr>
          </a:p>
          <a:p>
            <a:pPr marL="12700">
              <a:spcBef>
                <a:spcPts val="994"/>
              </a:spcBef>
            </a:pPr>
            <a:r>
              <a:rPr sz="2400" spc="-5" dirty="0">
                <a:latin typeface="Times New Roman"/>
                <a:cs typeface="Times New Roman"/>
              </a:rPr>
              <a:t>float </a:t>
            </a:r>
            <a:r>
              <a:rPr sz="2400" spc="-10" dirty="0">
                <a:latin typeface="Times New Roman"/>
                <a:cs typeface="Times New Roman"/>
              </a:rPr>
              <a:t>difference </a:t>
            </a:r>
            <a:r>
              <a:rPr sz="2400" dirty="0">
                <a:latin typeface="Times New Roman"/>
                <a:cs typeface="Times New Roman"/>
              </a:rPr>
              <a:t>= 18.55 -</a:t>
            </a:r>
            <a:r>
              <a:rPr sz="2400" spc="-50" dirty="0">
                <a:latin typeface="Times New Roman"/>
                <a:cs typeface="Times New Roman"/>
              </a:rPr>
              <a:t> </a:t>
            </a:r>
            <a:r>
              <a:rPr sz="2400" spc="-5" dirty="0">
                <a:latin typeface="Times New Roman"/>
                <a:cs typeface="Times New Roman"/>
              </a:rPr>
              <a:t>14.21</a:t>
            </a:r>
            <a:endParaRPr sz="2400">
              <a:latin typeface="Times New Roman"/>
              <a:cs typeface="Times New Roman"/>
            </a:endParaRPr>
          </a:p>
          <a:p>
            <a:pPr marL="12700">
              <a:spcBef>
                <a:spcPts val="1005"/>
              </a:spcBef>
            </a:pPr>
            <a:r>
              <a:rPr sz="2400" dirty="0">
                <a:latin typeface="Times New Roman"/>
                <a:cs typeface="Times New Roman"/>
              </a:rPr>
              <a:t>float product = 5 *</a:t>
            </a:r>
            <a:r>
              <a:rPr sz="2400" spc="-135" dirty="0">
                <a:latin typeface="Times New Roman"/>
                <a:cs typeface="Times New Roman"/>
              </a:rPr>
              <a:t> </a:t>
            </a:r>
            <a:r>
              <a:rPr sz="2400" dirty="0">
                <a:latin typeface="Times New Roman"/>
                <a:cs typeface="Times New Roman"/>
              </a:rPr>
              <a:t>3.5</a:t>
            </a:r>
            <a:endParaRPr sz="2400">
              <a:latin typeface="Times New Roman"/>
              <a:cs typeface="Times New Roman"/>
            </a:endParaRPr>
          </a:p>
          <a:p>
            <a:pPr marL="12700">
              <a:spcBef>
                <a:spcPts val="994"/>
              </a:spcBef>
            </a:pPr>
            <a:r>
              <a:rPr sz="2400" dirty="0">
                <a:latin typeface="Times New Roman"/>
                <a:cs typeface="Times New Roman"/>
              </a:rPr>
              <a:t>int quotient = 14 /</a:t>
            </a:r>
            <a:r>
              <a:rPr sz="2400" spc="-165" dirty="0">
                <a:latin typeface="Times New Roman"/>
                <a:cs typeface="Times New Roman"/>
              </a:rPr>
              <a:t> </a:t>
            </a:r>
            <a:r>
              <a:rPr sz="2400" dirty="0">
                <a:latin typeface="Times New Roman"/>
                <a:cs typeface="Times New Roman"/>
              </a:rPr>
              <a:t>3</a:t>
            </a:r>
            <a:endParaRPr sz="2400">
              <a:latin typeface="Times New Roman"/>
              <a:cs typeface="Times New Roman"/>
            </a:endParaRPr>
          </a:p>
          <a:p>
            <a:pPr marL="12700">
              <a:spcBef>
                <a:spcPts val="994"/>
              </a:spcBef>
            </a:pPr>
            <a:r>
              <a:rPr sz="2400" dirty="0">
                <a:latin typeface="Times New Roman"/>
                <a:cs typeface="Times New Roman"/>
              </a:rPr>
              <a:t>int </a:t>
            </a:r>
            <a:r>
              <a:rPr sz="2400" spc="-5" dirty="0">
                <a:latin typeface="Times New Roman"/>
                <a:cs typeface="Times New Roman"/>
              </a:rPr>
              <a:t>remainder </a:t>
            </a:r>
            <a:r>
              <a:rPr sz="2400" dirty="0">
                <a:latin typeface="Times New Roman"/>
                <a:cs typeface="Times New Roman"/>
              </a:rPr>
              <a:t>= 10 %</a:t>
            </a:r>
            <a:r>
              <a:rPr sz="2400" spc="-110" dirty="0">
                <a:latin typeface="Times New Roman"/>
                <a:cs typeface="Times New Roman"/>
              </a:rPr>
              <a:t> </a:t>
            </a:r>
            <a:r>
              <a:rPr sz="2400" dirty="0">
                <a:latin typeface="Times New Roman"/>
                <a:cs typeface="Times New Roman"/>
              </a:rPr>
              <a:t>6</a:t>
            </a:r>
            <a:endParaRPr sz="2400">
              <a:latin typeface="Times New Roman"/>
              <a:cs typeface="Times New Roman"/>
            </a:endParaRPr>
          </a:p>
        </p:txBody>
      </p:sp>
    </p:spTree>
    <p:extLst>
      <p:ext uri="{BB962C8B-B14F-4D97-AF65-F5344CB8AC3E}">
        <p14:creationId xmlns:p14="http://schemas.microsoft.com/office/powerpoint/2010/main" val="7018646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56376" y="937260"/>
            <a:ext cx="3279648" cy="688848"/>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3" name="object 3"/>
          <p:cNvSpPr/>
          <p:nvPr/>
        </p:nvSpPr>
        <p:spPr>
          <a:xfrm>
            <a:off x="6019801" y="912749"/>
            <a:ext cx="3276535" cy="6858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4" name="object 4"/>
          <p:cNvSpPr/>
          <p:nvPr/>
        </p:nvSpPr>
        <p:spPr>
          <a:xfrm>
            <a:off x="1851659" y="2290572"/>
            <a:ext cx="1895856" cy="647700"/>
          </a:xfrm>
          <a:prstGeom prst="rect">
            <a:avLst/>
          </a:prstGeom>
          <a:blipFill>
            <a:blip r:embed="rId4" cstate="print"/>
            <a:stretch>
              <a:fillRect/>
            </a:stretch>
          </a:blipFill>
        </p:spPr>
        <p:txBody>
          <a:bodyPr wrap="square" lIns="0" tIns="0" rIns="0" bIns="0" rtlCol="0"/>
          <a:lstStyle/>
          <a:p>
            <a:endParaRPr>
              <a:solidFill>
                <a:prstClr val="black"/>
              </a:solidFill>
            </a:endParaRPr>
          </a:p>
        </p:txBody>
      </p:sp>
      <p:sp>
        <p:nvSpPr>
          <p:cNvPr id="5" name="object 5"/>
          <p:cNvSpPr/>
          <p:nvPr/>
        </p:nvSpPr>
        <p:spPr>
          <a:xfrm>
            <a:off x="3272027" y="2290572"/>
            <a:ext cx="5989320" cy="647700"/>
          </a:xfrm>
          <a:prstGeom prst="rect">
            <a:avLst/>
          </a:prstGeom>
          <a:blipFill>
            <a:blip r:embed="rId5" cstate="print"/>
            <a:stretch>
              <a:fillRect/>
            </a:stretch>
          </a:blipFill>
        </p:spPr>
        <p:txBody>
          <a:bodyPr wrap="square" lIns="0" tIns="0" rIns="0" bIns="0" rtlCol="0"/>
          <a:lstStyle/>
          <a:p>
            <a:endParaRPr>
              <a:solidFill>
                <a:prstClr val="black"/>
              </a:solidFill>
            </a:endParaRPr>
          </a:p>
        </p:txBody>
      </p:sp>
      <p:sp>
        <p:nvSpPr>
          <p:cNvPr id="6" name="object 6"/>
          <p:cNvSpPr/>
          <p:nvPr/>
        </p:nvSpPr>
        <p:spPr>
          <a:xfrm>
            <a:off x="3480817" y="2775205"/>
            <a:ext cx="5504687" cy="112775"/>
          </a:xfrm>
          <a:prstGeom prst="rect">
            <a:avLst/>
          </a:prstGeom>
          <a:blipFill>
            <a:blip r:embed="rId6"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8785860" y="2290572"/>
            <a:ext cx="563879" cy="647700"/>
          </a:xfrm>
          <a:prstGeom prst="rect">
            <a:avLst/>
          </a:prstGeom>
          <a:blipFill>
            <a:blip r:embed="rId7" cstate="print"/>
            <a:stretch>
              <a:fillRect/>
            </a:stretch>
          </a:blipFill>
        </p:spPr>
        <p:txBody>
          <a:bodyPr wrap="square" lIns="0" tIns="0" rIns="0" bIns="0" rtlCol="0"/>
          <a:lstStyle/>
          <a:p>
            <a:endParaRPr>
              <a:solidFill>
                <a:prstClr val="black"/>
              </a:solidFill>
            </a:endParaRPr>
          </a:p>
        </p:txBody>
      </p:sp>
      <p:sp>
        <p:nvSpPr>
          <p:cNvPr id="8" name="object 8"/>
          <p:cNvSpPr txBox="1">
            <a:spLocks noGrp="1"/>
          </p:cNvSpPr>
          <p:nvPr>
            <p:ph type="title"/>
          </p:nvPr>
        </p:nvSpPr>
        <p:spPr>
          <a:xfrm>
            <a:off x="1955902" y="2156460"/>
            <a:ext cx="11328196" cy="671081"/>
          </a:xfrm>
          <a:prstGeom prst="rect">
            <a:avLst/>
          </a:prstGeom>
        </p:spPr>
        <p:txBody>
          <a:bodyPr vert="horz" wrap="square" lIns="0" tIns="237871" rIns="0" bIns="0" rtlCol="0">
            <a:spAutoFit/>
          </a:bodyPr>
          <a:lstStyle/>
          <a:p>
            <a:pPr marL="1645285"/>
            <a:r>
              <a:rPr sz="2800" b="1" u="heavy" spc="-10" dirty="0">
                <a:latin typeface="Times New Roman"/>
                <a:cs typeface="Times New Roman"/>
              </a:rPr>
              <a:t>Incremental </a:t>
            </a:r>
            <a:r>
              <a:rPr sz="2800" b="1" u="heavy" spc="-5" dirty="0">
                <a:latin typeface="Times New Roman"/>
                <a:cs typeface="Times New Roman"/>
              </a:rPr>
              <a:t>/ </a:t>
            </a:r>
            <a:r>
              <a:rPr sz="2800" b="1" u="heavy" spc="-15" dirty="0">
                <a:latin typeface="Times New Roman"/>
                <a:cs typeface="Times New Roman"/>
              </a:rPr>
              <a:t>Decrement</a:t>
            </a:r>
            <a:r>
              <a:rPr sz="2800" b="1" u="heavy" spc="55" dirty="0">
                <a:latin typeface="Times New Roman"/>
                <a:cs typeface="Times New Roman"/>
              </a:rPr>
              <a:t> </a:t>
            </a:r>
            <a:r>
              <a:rPr sz="2800" b="1" u="heavy" spc="-5" dirty="0">
                <a:latin typeface="Times New Roman"/>
                <a:cs typeface="Times New Roman"/>
              </a:rPr>
              <a:t>Operators</a:t>
            </a:r>
            <a:endParaRPr sz="2800">
              <a:latin typeface="Times New Roman"/>
              <a:cs typeface="Times New Roman"/>
            </a:endParaRPr>
          </a:p>
        </p:txBody>
      </p:sp>
      <p:graphicFrame>
        <p:nvGraphicFramePr>
          <p:cNvPr id="9" name="object 9"/>
          <p:cNvGraphicFramePr>
            <a:graphicFrameLocks noGrp="1"/>
          </p:cNvGraphicFramePr>
          <p:nvPr/>
        </p:nvGraphicFramePr>
        <p:xfrm>
          <a:off x="2050415" y="2945611"/>
          <a:ext cx="7298922" cy="1418141"/>
        </p:xfrm>
        <a:graphic>
          <a:graphicData uri="http://schemas.openxmlformats.org/drawingml/2006/table">
            <a:tbl>
              <a:tblPr firstRow="1" bandRow="1">
                <a:tableStyleId>{2D5ABB26-0587-4C30-8999-92F81FD0307C}</a:tableStyleId>
              </a:tblPr>
              <a:tblGrid>
                <a:gridCol w="3098458"/>
                <a:gridCol w="1987688"/>
                <a:gridCol w="2212776"/>
              </a:tblGrid>
              <a:tr h="462788">
                <a:tc>
                  <a:txBody>
                    <a:bodyPr/>
                    <a:lstStyle/>
                    <a:p>
                      <a:pPr marL="22225">
                        <a:lnSpc>
                          <a:spcPct val="100000"/>
                        </a:lnSpc>
                        <a:spcBef>
                          <a:spcPts val="30"/>
                        </a:spcBef>
                      </a:pPr>
                      <a:r>
                        <a:rPr sz="2400" b="1" spc="-5" dirty="0">
                          <a:latin typeface="Times New Roman"/>
                          <a:cs typeface="Times New Roman"/>
                        </a:rPr>
                        <a:t>Name</a:t>
                      </a:r>
                      <a:endParaRPr sz="2400">
                        <a:latin typeface="Times New Roman"/>
                        <a:cs typeface="Times New Roman"/>
                      </a:endParaRPr>
                    </a:p>
                  </a:txBody>
                  <a:tcPr marL="0" marR="0" marT="0" marB="0"/>
                </a:tc>
                <a:tc>
                  <a:txBody>
                    <a:bodyPr/>
                    <a:lstStyle/>
                    <a:p>
                      <a:pPr marL="581660">
                        <a:lnSpc>
                          <a:spcPct val="100000"/>
                        </a:lnSpc>
                        <a:spcBef>
                          <a:spcPts val="30"/>
                        </a:spcBef>
                      </a:pPr>
                      <a:r>
                        <a:rPr sz="2400" b="1" spc="-5" dirty="0">
                          <a:latin typeface="Times New Roman"/>
                          <a:cs typeface="Times New Roman"/>
                        </a:rPr>
                        <a:t>Symbol</a:t>
                      </a:r>
                      <a:endParaRPr sz="2400">
                        <a:latin typeface="Times New Roman"/>
                        <a:cs typeface="Times New Roman"/>
                      </a:endParaRPr>
                    </a:p>
                  </a:txBody>
                  <a:tcPr marL="0" marR="0" marT="0" marB="0"/>
                </a:tc>
                <a:tc>
                  <a:txBody>
                    <a:bodyPr/>
                    <a:lstStyle/>
                    <a:p>
                      <a:pPr marL="422909">
                        <a:lnSpc>
                          <a:spcPct val="100000"/>
                        </a:lnSpc>
                        <a:spcBef>
                          <a:spcPts val="30"/>
                        </a:spcBef>
                      </a:pPr>
                      <a:r>
                        <a:rPr sz="2400" b="1" spc="-5" dirty="0">
                          <a:latin typeface="Times New Roman"/>
                          <a:cs typeface="Times New Roman"/>
                        </a:rPr>
                        <a:t>Sample</a:t>
                      </a:r>
                      <a:r>
                        <a:rPr sz="2400" b="1" spc="-70" dirty="0">
                          <a:latin typeface="Times New Roman"/>
                          <a:cs typeface="Times New Roman"/>
                        </a:rPr>
                        <a:t> </a:t>
                      </a:r>
                      <a:r>
                        <a:rPr sz="2400" b="1" spc="-5" dirty="0">
                          <a:latin typeface="Times New Roman"/>
                          <a:cs typeface="Times New Roman"/>
                        </a:rPr>
                        <a:t>usage</a:t>
                      </a:r>
                      <a:endParaRPr sz="2400">
                        <a:latin typeface="Times New Roman"/>
                        <a:cs typeface="Times New Roman"/>
                      </a:endParaRPr>
                    </a:p>
                  </a:txBody>
                  <a:tcPr marL="0" marR="0" marT="0" marB="0"/>
                </a:tc>
              </a:tr>
              <a:tr h="493018">
                <a:tc>
                  <a:txBody>
                    <a:bodyPr/>
                    <a:lstStyle/>
                    <a:p>
                      <a:pPr marL="22225">
                        <a:lnSpc>
                          <a:spcPct val="100000"/>
                        </a:lnSpc>
                        <a:spcBef>
                          <a:spcPts val="275"/>
                        </a:spcBef>
                      </a:pPr>
                      <a:r>
                        <a:rPr sz="2400" spc="-5" dirty="0">
                          <a:latin typeface="Times New Roman"/>
                          <a:cs typeface="Times New Roman"/>
                        </a:rPr>
                        <a:t>Increment</a:t>
                      </a:r>
                      <a:r>
                        <a:rPr sz="2400" spc="-100" dirty="0">
                          <a:latin typeface="Times New Roman"/>
                          <a:cs typeface="Times New Roman"/>
                        </a:rPr>
                        <a:t> </a:t>
                      </a:r>
                      <a:r>
                        <a:rPr sz="2400" dirty="0">
                          <a:latin typeface="Times New Roman"/>
                          <a:cs typeface="Times New Roman"/>
                        </a:rPr>
                        <a:t>Operator</a:t>
                      </a:r>
                      <a:endParaRPr sz="2400">
                        <a:latin typeface="Times New Roman"/>
                        <a:cs typeface="Times New Roman"/>
                      </a:endParaRPr>
                    </a:p>
                  </a:txBody>
                  <a:tcPr marL="0" marR="0" marT="0" marB="0"/>
                </a:tc>
                <a:tc>
                  <a:txBody>
                    <a:bodyPr/>
                    <a:lstStyle/>
                    <a:p>
                      <a:pPr marL="581660">
                        <a:lnSpc>
                          <a:spcPct val="100000"/>
                        </a:lnSpc>
                        <a:spcBef>
                          <a:spcPts val="275"/>
                        </a:spcBef>
                      </a:pPr>
                      <a:r>
                        <a:rPr sz="2400" dirty="0">
                          <a:latin typeface="Times New Roman"/>
                          <a:cs typeface="Times New Roman"/>
                        </a:rPr>
                        <a:t>++</a:t>
                      </a:r>
                      <a:endParaRPr sz="2400">
                        <a:latin typeface="Times New Roman"/>
                        <a:cs typeface="Times New Roman"/>
                      </a:endParaRPr>
                    </a:p>
                  </a:txBody>
                  <a:tcPr marL="0" marR="0" marT="0" marB="0"/>
                </a:tc>
                <a:tc>
                  <a:txBody>
                    <a:bodyPr/>
                    <a:lstStyle/>
                    <a:p>
                      <a:pPr marL="422909">
                        <a:lnSpc>
                          <a:spcPct val="100000"/>
                        </a:lnSpc>
                        <a:spcBef>
                          <a:spcPts val="275"/>
                        </a:spcBef>
                      </a:pPr>
                      <a:r>
                        <a:rPr sz="2400" dirty="0">
                          <a:latin typeface="Times New Roman"/>
                          <a:cs typeface="Times New Roman"/>
                        </a:rPr>
                        <a:t>++a or</a:t>
                      </a:r>
                      <a:r>
                        <a:rPr sz="2400" spc="-130" dirty="0">
                          <a:latin typeface="Times New Roman"/>
                          <a:cs typeface="Times New Roman"/>
                        </a:rPr>
                        <a:t> </a:t>
                      </a:r>
                      <a:r>
                        <a:rPr sz="2400" dirty="0">
                          <a:latin typeface="Times New Roman"/>
                          <a:cs typeface="Times New Roman"/>
                        </a:rPr>
                        <a:t>a++</a:t>
                      </a:r>
                      <a:endParaRPr sz="2400">
                        <a:latin typeface="Times New Roman"/>
                        <a:cs typeface="Times New Roman"/>
                      </a:endParaRPr>
                    </a:p>
                  </a:txBody>
                  <a:tcPr marL="0" marR="0" marT="0" marB="0"/>
                </a:tc>
              </a:tr>
              <a:tr h="462335">
                <a:tc>
                  <a:txBody>
                    <a:bodyPr/>
                    <a:lstStyle/>
                    <a:p>
                      <a:pPr marL="22225">
                        <a:lnSpc>
                          <a:spcPct val="100000"/>
                        </a:lnSpc>
                        <a:spcBef>
                          <a:spcPts val="270"/>
                        </a:spcBef>
                      </a:pPr>
                      <a:r>
                        <a:rPr sz="2400" spc="-5" dirty="0">
                          <a:latin typeface="Times New Roman"/>
                          <a:cs typeface="Times New Roman"/>
                        </a:rPr>
                        <a:t>Decrement</a:t>
                      </a:r>
                      <a:r>
                        <a:rPr sz="2400" spc="-85" dirty="0">
                          <a:latin typeface="Times New Roman"/>
                          <a:cs typeface="Times New Roman"/>
                        </a:rPr>
                        <a:t> </a:t>
                      </a:r>
                      <a:r>
                        <a:rPr sz="2400" dirty="0">
                          <a:latin typeface="Times New Roman"/>
                          <a:cs typeface="Times New Roman"/>
                        </a:rPr>
                        <a:t>Operator</a:t>
                      </a:r>
                      <a:endParaRPr sz="2400">
                        <a:latin typeface="Times New Roman"/>
                        <a:cs typeface="Times New Roman"/>
                      </a:endParaRPr>
                    </a:p>
                  </a:txBody>
                  <a:tcPr marL="0" marR="0" marT="0" marB="0"/>
                </a:tc>
                <a:tc>
                  <a:txBody>
                    <a:bodyPr/>
                    <a:lstStyle/>
                    <a:p>
                      <a:pPr marL="581660">
                        <a:lnSpc>
                          <a:spcPct val="100000"/>
                        </a:lnSpc>
                        <a:spcBef>
                          <a:spcPts val="270"/>
                        </a:spcBef>
                      </a:pPr>
                      <a:r>
                        <a:rPr sz="2400" dirty="0">
                          <a:latin typeface="Times New Roman"/>
                          <a:cs typeface="Times New Roman"/>
                        </a:rPr>
                        <a:t>--</a:t>
                      </a:r>
                      <a:endParaRPr sz="2400">
                        <a:latin typeface="Times New Roman"/>
                        <a:cs typeface="Times New Roman"/>
                      </a:endParaRPr>
                    </a:p>
                  </a:txBody>
                  <a:tcPr marL="0" marR="0" marT="0" marB="0"/>
                </a:tc>
                <a:tc>
                  <a:txBody>
                    <a:bodyPr/>
                    <a:lstStyle/>
                    <a:p>
                      <a:pPr marL="422909">
                        <a:lnSpc>
                          <a:spcPct val="100000"/>
                        </a:lnSpc>
                        <a:spcBef>
                          <a:spcPts val="270"/>
                        </a:spcBef>
                      </a:pPr>
                      <a:r>
                        <a:rPr sz="2400" dirty="0">
                          <a:latin typeface="Times New Roman"/>
                          <a:cs typeface="Times New Roman"/>
                        </a:rPr>
                        <a:t>--a or</a:t>
                      </a:r>
                      <a:r>
                        <a:rPr sz="2400" spc="-114" dirty="0">
                          <a:latin typeface="Times New Roman"/>
                          <a:cs typeface="Times New Roman"/>
                        </a:rPr>
                        <a:t> </a:t>
                      </a:r>
                      <a:r>
                        <a:rPr sz="2400" dirty="0">
                          <a:latin typeface="Times New Roman"/>
                          <a:cs typeface="Times New Roman"/>
                        </a:rPr>
                        <a:t>a--</a:t>
                      </a:r>
                      <a:endParaRPr sz="2400">
                        <a:latin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val="1169558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56376" y="1077467"/>
            <a:ext cx="3279648" cy="688848"/>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3" name="object 3"/>
          <p:cNvSpPr/>
          <p:nvPr/>
        </p:nvSpPr>
        <p:spPr>
          <a:xfrm>
            <a:off x="6019800" y="1054100"/>
            <a:ext cx="3276530" cy="6858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4" name="object 4"/>
          <p:cNvSpPr txBox="1"/>
          <p:nvPr/>
        </p:nvSpPr>
        <p:spPr>
          <a:xfrm>
            <a:off x="1763065" y="2766059"/>
            <a:ext cx="8820785" cy="1840864"/>
          </a:xfrm>
          <a:prstGeom prst="rect">
            <a:avLst/>
          </a:prstGeom>
        </p:spPr>
        <p:txBody>
          <a:bodyPr vert="horz" wrap="square" lIns="0" tIns="0" rIns="0" bIns="0" rtlCol="0">
            <a:spAutoFit/>
          </a:bodyPr>
          <a:lstStyle/>
          <a:p>
            <a:pPr marL="12700" marR="367665"/>
            <a:r>
              <a:rPr sz="2400" dirty="0">
                <a:solidFill>
                  <a:prstClr val="black"/>
                </a:solidFill>
                <a:latin typeface="Times New Roman"/>
                <a:cs typeface="Times New Roman"/>
              </a:rPr>
              <a:t>The </a:t>
            </a:r>
            <a:r>
              <a:rPr sz="2400" spc="-5" dirty="0">
                <a:solidFill>
                  <a:prstClr val="black"/>
                </a:solidFill>
                <a:latin typeface="Times New Roman"/>
                <a:cs typeface="Times New Roman"/>
              </a:rPr>
              <a:t>increment </a:t>
            </a:r>
            <a:r>
              <a:rPr sz="2400" dirty="0">
                <a:solidFill>
                  <a:prstClr val="black"/>
                </a:solidFill>
                <a:latin typeface="Times New Roman"/>
                <a:cs typeface="Times New Roman"/>
              </a:rPr>
              <a:t>operator , ++, adds 1 to its operand and -- subtracts 1  </a:t>
            </a:r>
            <a:r>
              <a:rPr sz="2400" spc="-5" dirty="0">
                <a:solidFill>
                  <a:prstClr val="black"/>
                </a:solidFill>
                <a:latin typeface="Times New Roman"/>
                <a:cs typeface="Times New Roman"/>
              </a:rPr>
              <a:t>from </a:t>
            </a:r>
            <a:r>
              <a:rPr sz="2400" dirty="0">
                <a:solidFill>
                  <a:prstClr val="black"/>
                </a:solidFill>
                <a:latin typeface="Times New Roman"/>
                <a:cs typeface="Times New Roman"/>
              </a:rPr>
              <a:t>its operands. That is a=++a is </a:t>
            </a:r>
            <a:r>
              <a:rPr sz="2400" spc="-5" dirty="0">
                <a:solidFill>
                  <a:prstClr val="black"/>
                </a:solidFill>
                <a:latin typeface="Times New Roman"/>
                <a:cs typeface="Times New Roman"/>
              </a:rPr>
              <a:t>equal </a:t>
            </a:r>
            <a:r>
              <a:rPr sz="2400" dirty="0">
                <a:solidFill>
                  <a:prstClr val="black"/>
                </a:solidFill>
                <a:latin typeface="Times New Roman"/>
                <a:cs typeface="Times New Roman"/>
              </a:rPr>
              <a:t>to a=a+1 and b=--b is</a:t>
            </a:r>
            <a:r>
              <a:rPr sz="2400" spc="-204" dirty="0">
                <a:solidFill>
                  <a:prstClr val="black"/>
                </a:solidFill>
                <a:latin typeface="Times New Roman"/>
                <a:cs typeface="Times New Roman"/>
              </a:rPr>
              <a:t> </a:t>
            </a:r>
            <a:r>
              <a:rPr sz="2400" dirty="0">
                <a:solidFill>
                  <a:prstClr val="black"/>
                </a:solidFill>
                <a:latin typeface="Times New Roman"/>
                <a:cs typeface="Times New Roman"/>
              </a:rPr>
              <a:t>equal  to</a:t>
            </a:r>
            <a:r>
              <a:rPr sz="2400" spc="-120" dirty="0">
                <a:solidFill>
                  <a:prstClr val="black"/>
                </a:solidFill>
                <a:latin typeface="Times New Roman"/>
                <a:cs typeface="Times New Roman"/>
              </a:rPr>
              <a:t> </a:t>
            </a:r>
            <a:r>
              <a:rPr sz="2400" dirty="0">
                <a:solidFill>
                  <a:prstClr val="black"/>
                </a:solidFill>
                <a:latin typeface="Times New Roman"/>
                <a:cs typeface="Times New Roman"/>
              </a:rPr>
              <a:t>b=b-1.</a:t>
            </a:r>
          </a:p>
          <a:p>
            <a:pPr marL="12700"/>
            <a:r>
              <a:rPr sz="2400" spc="-25" dirty="0">
                <a:solidFill>
                  <a:prstClr val="black"/>
                </a:solidFill>
                <a:latin typeface="Times New Roman"/>
                <a:cs typeface="Times New Roman"/>
              </a:rPr>
              <a:t>(With </a:t>
            </a:r>
            <a:r>
              <a:rPr sz="2400" dirty="0">
                <a:solidFill>
                  <a:prstClr val="black"/>
                </a:solidFill>
                <a:latin typeface="Times New Roman"/>
                <a:cs typeface="Times New Roman"/>
              </a:rPr>
              <a:t>the prefix version of these operators, </a:t>
            </a:r>
            <a:r>
              <a:rPr sz="2400" dirty="0" smtClean="0">
                <a:solidFill>
                  <a:prstClr val="black"/>
                </a:solidFill>
                <a:latin typeface="Times New Roman"/>
                <a:cs typeface="Times New Roman"/>
              </a:rPr>
              <a:t>C </a:t>
            </a:r>
            <a:r>
              <a:rPr sz="2400" spc="-5" dirty="0">
                <a:solidFill>
                  <a:prstClr val="black"/>
                </a:solidFill>
                <a:latin typeface="Times New Roman"/>
                <a:cs typeface="Times New Roman"/>
              </a:rPr>
              <a:t>performs</a:t>
            </a:r>
            <a:r>
              <a:rPr sz="2400" spc="-120" dirty="0">
                <a:solidFill>
                  <a:prstClr val="black"/>
                </a:solidFill>
                <a:latin typeface="Times New Roman"/>
                <a:cs typeface="Times New Roman"/>
              </a:rPr>
              <a:t> </a:t>
            </a:r>
            <a:r>
              <a:rPr sz="2400" dirty="0">
                <a:solidFill>
                  <a:prstClr val="black"/>
                </a:solidFill>
                <a:latin typeface="Times New Roman"/>
                <a:cs typeface="Times New Roman"/>
              </a:rPr>
              <a:t>the</a:t>
            </a:r>
          </a:p>
          <a:p>
            <a:pPr marL="12700"/>
            <a:r>
              <a:rPr sz="2400" spc="-5" dirty="0">
                <a:solidFill>
                  <a:prstClr val="black"/>
                </a:solidFill>
                <a:latin typeface="Times New Roman"/>
                <a:cs typeface="Times New Roman"/>
              </a:rPr>
              <a:t>increment </a:t>
            </a:r>
            <a:r>
              <a:rPr sz="2400" dirty="0">
                <a:solidFill>
                  <a:prstClr val="black"/>
                </a:solidFill>
                <a:latin typeface="Times New Roman"/>
                <a:cs typeface="Times New Roman"/>
              </a:rPr>
              <a:t>or </a:t>
            </a:r>
            <a:r>
              <a:rPr sz="2400" spc="-5" dirty="0">
                <a:solidFill>
                  <a:prstClr val="black"/>
                </a:solidFill>
                <a:latin typeface="Times New Roman"/>
                <a:cs typeface="Times New Roman"/>
              </a:rPr>
              <a:t>decrement </a:t>
            </a:r>
            <a:r>
              <a:rPr sz="2400" dirty="0">
                <a:solidFill>
                  <a:prstClr val="black"/>
                </a:solidFill>
                <a:latin typeface="Times New Roman"/>
                <a:cs typeface="Times New Roman"/>
              </a:rPr>
              <a:t>operation before using the value of the</a:t>
            </a:r>
            <a:r>
              <a:rPr sz="2400" spc="-150" dirty="0">
                <a:solidFill>
                  <a:prstClr val="black"/>
                </a:solidFill>
                <a:latin typeface="Times New Roman"/>
                <a:cs typeface="Times New Roman"/>
              </a:rPr>
              <a:t> </a:t>
            </a:r>
            <a:r>
              <a:rPr sz="2400" dirty="0">
                <a:solidFill>
                  <a:prstClr val="black"/>
                </a:solidFill>
                <a:latin typeface="Times New Roman"/>
                <a:cs typeface="Times New Roman"/>
              </a:rPr>
              <a:t>operand.</a:t>
            </a:r>
          </a:p>
        </p:txBody>
      </p:sp>
    </p:spTree>
    <p:extLst>
      <p:ext uri="{BB962C8B-B14F-4D97-AF65-F5344CB8AC3E}">
        <p14:creationId xmlns:p14="http://schemas.microsoft.com/office/powerpoint/2010/main" val="21533811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903976" y="1202436"/>
            <a:ext cx="3279648" cy="688848"/>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3" name="object 3"/>
          <p:cNvSpPr/>
          <p:nvPr/>
        </p:nvSpPr>
        <p:spPr>
          <a:xfrm>
            <a:off x="5867400" y="1177925"/>
            <a:ext cx="3276530" cy="6858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4" name="object 4"/>
          <p:cNvSpPr/>
          <p:nvPr/>
        </p:nvSpPr>
        <p:spPr>
          <a:xfrm>
            <a:off x="1524000" y="2403348"/>
            <a:ext cx="3099816" cy="647700"/>
          </a:xfrm>
          <a:prstGeom prst="rect">
            <a:avLst/>
          </a:prstGeom>
          <a:blipFill>
            <a:blip r:embed="rId4" cstate="print"/>
            <a:stretch>
              <a:fillRect/>
            </a:stretch>
          </a:blipFill>
        </p:spPr>
        <p:txBody>
          <a:bodyPr wrap="square" lIns="0" tIns="0" rIns="0" bIns="0" rtlCol="0"/>
          <a:lstStyle/>
          <a:p>
            <a:endParaRPr>
              <a:solidFill>
                <a:prstClr val="black"/>
              </a:solidFill>
            </a:endParaRPr>
          </a:p>
        </p:txBody>
      </p:sp>
      <p:sp>
        <p:nvSpPr>
          <p:cNvPr id="5" name="object 5"/>
          <p:cNvSpPr/>
          <p:nvPr/>
        </p:nvSpPr>
        <p:spPr>
          <a:xfrm>
            <a:off x="4148327" y="2403348"/>
            <a:ext cx="3685032" cy="647700"/>
          </a:xfrm>
          <a:prstGeom prst="rect">
            <a:avLst/>
          </a:prstGeom>
          <a:blipFill>
            <a:blip r:embed="rId5" cstate="print"/>
            <a:stretch>
              <a:fillRect/>
            </a:stretch>
          </a:blipFill>
        </p:spPr>
        <p:txBody>
          <a:bodyPr wrap="square" lIns="0" tIns="0" rIns="0" bIns="0" rtlCol="0"/>
          <a:lstStyle/>
          <a:p>
            <a:endParaRPr>
              <a:solidFill>
                <a:prstClr val="black"/>
              </a:solidFill>
            </a:endParaRPr>
          </a:p>
        </p:txBody>
      </p:sp>
      <p:sp>
        <p:nvSpPr>
          <p:cNvPr id="6" name="object 6"/>
          <p:cNvSpPr/>
          <p:nvPr/>
        </p:nvSpPr>
        <p:spPr>
          <a:xfrm>
            <a:off x="4357117" y="2887980"/>
            <a:ext cx="3288791" cy="112775"/>
          </a:xfrm>
          <a:prstGeom prst="rect">
            <a:avLst/>
          </a:prstGeom>
          <a:blipFill>
            <a:blip r:embed="rId6"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57872" y="2403348"/>
            <a:ext cx="563879" cy="647700"/>
          </a:xfrm>
          <a:prstGeom prst="rect">
            <a:avLst/>
          </a:prstGeom>
          <a:blipFill>
            <a:blip r:embed="rId7"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524000" y="2958083"/>
            <a:ext cx="434340" cy="646176"/>
          </a:xfrm>
          <a:prstGeom prst="rect">
            <a:avLst/>
          </a:prstGeom>
          <a:blipFill>
            <a:blip r:embed="rId8"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ctrTitle"/>
          </p:nvPr>
        </p:nvSpPr>
        <p:spPr>
          <a:xfrm>
            <a:off x="2137393" y="2059052"/>
            <a:ext cx="10965213" cy="882934"/>
          </a:xfrm>
          <a:prstGeom prst="rect">
            <a:avLst/>
          </a:prstGeom>
        </p:spPr>
        <p:txBody>
          <a:bodyPr vert="horz" wrap="square" lIns="0" tIns="447675" rIns="0" bIns="0" rtlCol="0">
            <a:spAutoFit/>
          </a:bodyPr>
          <a:lstStyle/>
          <a:p>
            <a:pPr marL="2385695"/>
            <a:r>
              <a:rPr spc="-5" dirty="0"/>
              <a:t>Relational</a:t>
            </a:r>
            <a:r>
              <a:rPr spc="-40" dirty="0"/>
              <a:t> </a:t>
            </a:r>
            <a:r>
              <a:rPr spc="-5" dirty="0"/>
              <a:t>Operators</a:t>
            </a:r>
          </a:p>
        </p:txBody>
      </p:sp>
      <p:sp>
        <p:nvSpPr>
          <p:cNvPr id="10" name="object 10"/>
          <p:cNvSpPr txBox="1"/>
          <p:nvPr/>
        </p:nvSpPr>
        <p:spPr>
          <a:xfrm>
            <a:off x="1602739" y="3492628"/>
            <a:ext cx="9042400" cy="1123315"/>
          </a:xfrm>
          <a:prstGeom prst="rect">
            <a:avLst/>
          </a:prstGeom>
        </p:spPr>
        <p:txBody>
          <a:bodyPr vert="horz" wrap="square" lIns="0" tIns="0" rIns="0" bIns="0" rtlCol="0">
            <a:spAutoFit/>
          </a:bodyPr>
          <a:lstStyle/>
          <a:p>
            <a:pPr marL="12700" marR="5080">
              <a:lnSpc>
                <a:spcPct val="121500"/>
              </a:lnSpc>
            </a:pPr>
            <a:r>
              <a:rPr sz="2000" spc="-5" dirty="0">
                <a:solidFill>
                  <a:prstClr val="black"/>
                </a:solidFill>
                <a:latin typeface="Times New Roman"/>
                <a:cs typeface="Times New Roman"/>
              </a:rPr>
              <a:t>Relational </a:t>
            </a:r>
            <a:r>
              <a:rPr sz="2000" dirty="0">
                <a:solidFill>
                  <a:prstClr val="black"/>
                </a:solidFill>
                <a:latin typeface="Times New Roman"/>
                <a:cs typeface="Times New Roman"/>
              </a:rPr>
              <a:t>operators </a:t>
            </a:r>
            <a:r>
              <a:rPr sz="2000" spc="-5" dirty="0">
                <a:solidFill>
                  <a:prstClr val="black"/>
                </a:solidFill>
                <a:latin typeface="Times New Roman"/>
                <a:cs typeface="Times New Roman"/>
              </a:rPr>
              <a:t>determine </a:t>
            </a:r>
            <a:r>
              <a:rPr sz="2000" dirty="0">
                <a:solidFill>
                  <a:prstClr val="black"/>
                </a:solidFill>
                <a:latin typeface="Times New Roman"/>
                <a:cs typeface="Times New Roman"/>
              </a:rPr>
              <a:t>the relation </a:t>
            </a:r>
            <a:r>
              <a:rPr sz="2000" spc="-5" dirty="0">
                <a:solidFill>
                  <a:prstClr val="black"/>
                </a:solidFill>
                <a:latin typeface="Times New Roman"/>
                <a:cs typeface="Times New Roman"/>
              </a:rPr>
              <a:t>among different </a:t>
            </a:r>
            <a:r>
              <a:rPr sz="2000" dirty="0">
                <a:solidFill>
                  <a:prstClr val="black"/>
                </a:solidFill>
                <a:latin typeface="Times New Roman"/>
                <a:cs typeface="Times New Roman"/>
              </a:rPr>
              <a:t>operands. </a:t>
            </a:r>
            <a:r>
              <a:rPr sz="2000" spc="-5" dirty="0" smtClean="0">
                <a:solidFill>
                  <a:prstClr val="black"/>
                </a:solidFill>
                <a:latin typeface="Times New Roman"/>
                <a:cs typeface="Times New Roman"/>
              </a:rPr>
              <a:t>C </a:t>
            </a:r>
            <a:r>
              <a:rPr sz="2000" dirty="0">
                <a:solidFill>
                  <a:prstClr val="black"/>
                </a:solidFill>
                <a:latin typeface="Times New Roman"/>
                <a:cs typeface="Times New Roman"/>
              </a:rPr>
              <a:t>provides 6  relation operators for comparing numbers and characters ( but </a:t>
            </a:r>
            <a:r>
              <a:rPr sz="2000" spc="5" dirty="0">
                <a:solidFill>
                  <a:prstClr val="black"/>
                </a:solidFill>
                <a:latin typeface="Times New Roman"/>
                <a:cs typeface="Times New Roman"/>
              </a:rPr>
              <a:t>not </a:t>
            </a:r>
            <a:r>
              <a:rPr sz="2000" dirty="0">
                <a:solidFill>
                  <a:prstClr val="black"/>
                </a:solidFill>
                <a:latin typeface="Times New Roman"/>
                <a:cs typeface="Times New Roman"/>
              </a:rPr>
              <a:t>strings). If the  comparison is true, the relational expression returns </a:t>
            </a:r>
            <a:r>
              <a:rPr sz="2000" i="1" dirty="0">
                <a:solidFill>
                  <a:prstClr val="black"/>
                </a:solidFill>
                <a:latin typeface="Times New Roman"/>
                <a:cs typeface="Times New Roman"/>
              </a:rPr>
              <a:t>1 </a:t>
            </a:r>
            <a:r>
              <a:rPr sz="2000" dirty="0">
                <a:solidFill>
                  <a:prstClr val="black"/>
                </a:solidFill>
                <a:latin typeface="Times New Roman"/>
                <a:cs typeface="Times New Roman"/>
              </a:rPr>
              <a:t>and to </a:t>
            </a:r>
            <a:r>
              <a:rPr sz="2000" i="1" dirty="0">
                <a:solidFill>
                  <a:prstClr val="black"/>
                </a:solidFill>
                <a:latin typeface="Times New Roman"/>
                <a:cs typeface="Times New Roman"/>
              </a:rPr>
              <a:t>0</a:t>
            </a:r>
            <a:r>
              <a:rPr sz="2000" dirty="0">
                <a:solidFill>
                  <a:prstClr val="black"/>
                </a:solidFill>
                <a:latin typeface="Times New Roman"/>
                <a:cs typeface="Times New Roman"/>
              </a:rPr>
              <a:t>, </a:t>
            </a:r>
            <a:r>
              <a:rPr sz="2000" spc="-10" dirty="0">
                <a:solidFill>
                  <a:prstClr val="black"/>
                </a:solidFill>
                <a:latin typeface="Times New Roman"/>
                <a:cs typeface="Times New Roman"/>
              </a:rPr>
              <a:t>if </a:t>
            </a:r>
            <a:r>
              <a:rPr sz="2000" spc="-5" dirty="0">
                <a:solidFill>
                  <a:prstClr val="black"/>
                </a:solidFill>
                <a:latin typeface="Times New Roman"/>
                <a:cs typeface="Times New Roman"/>
              </a:rPr>
              <a:t>the comparison </a:t>
            </a:r>
            <a:r>
              <a:rPr sz="2000" dirty="0">
                <a:solidFill>
                  <a:prstClr val="black"/>
                </a:solidFill>
                <a:latin typeface="Times New Roman"/>
                <a:cs typeface="Times New Roman"/>
              </a:rPr>
              <a:t>in</a:t>
            </a:r>
            <a:r>
              <a:rPr sz="2000" spc="-204" dirty="0">
                <a:solidFill>
                  <a:prstClr val="black"/>
                </a:solidFill>
                <a:latin typeface="Times New Roman"/>
                <a:cs typeface="Times New Roman"/>
              </a:rPr>
              <a:t> </a:t>
            </a:r>
            <a:r>
              <a:rPr sz="2000" dirty="0">
                <a:solidFill>
                  <a:prstClr val="black"/>
                </a:solidFill>
                <a:latin typeface="Times New Roman"/>
                <a:cs typeface="Times New Roman"/>
              </a:rPr>
              <a:t>false</a:t>
            </a:r>
          </a:p>
        </p:txBody>
      </p:sp>
    </p:spTree>
    <p:extLst>
      <p:ext uri="{BB962C8B-B14F-4D97-AF65-F5344CB8AC3E}">
        <p14:creationId xmlns:p14="http://schemas.microsoft.com/office/powerpoint/2010/main" val="390440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46976" y="1050036"/>
            <a:ext cx="3279648" cy="688848"/>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3" name="object 3"/>
          <p:cNvSpPr/>
          <p:nvPr/>
        </p:nvSpPr>
        <p:spPr>
          <a:xfrm>
            <a:off x="7010400" y="1025525"/>
            <a:ext cx="3276530" cy="6858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4" name="object 4"/>
          <p:cNvSpPr/>
          <p:nvPr/>
        </p:nvSpPr>
        <p:spPr>
          <a:xfrm>
            <a:off x="1524000" y="1793748"/>
            <a:ext cx="3099816" cy="647700"/>
          </a:xfrm>
          <a:prstGeom prst="rect">
            <a:avLst/>
          </a:prstGeom>
          <a:blipFill>
            <a:blip r:embed="rId4" cstate="print"/>
            <a:stretch>
              <a:fillRect/>
            </a:stretch>
          </a:blipFill>
        </p:spPr>
        <p:txBody>
          <a:bodyPr wrap="square" lIns="0" tIns="0" rIns="0" bIns="0" rtlCol="0"/>
          <a:lstStyle/>
          <a:p>
            <a:endParaRPr>
              <a:solidFill>
                <a:prstClr val="black"/>
              </a:solidFill>
            </a:endParaRPr>
          </a:p>
        </p:txBody>
      </p:sp>
      <p:sp>
        <p:nvSpPr>
          <p:cNvPr id="5" name="object 5"/>
          <p:cNvSpPr/>
          <p:nvPr/>
        </p:nvSpPr>
        <p:spPr>
          <a:xfrm>
            <a:off x="4148327" y="1793748"/>
            <a:ext cx="3685032" cy="647700"/>
          </a:xfrm>
          <a:prstGeom prst="rect">
            <a:avLst/>
          </a:prstGeom>
          <a:blipFill>
            <a:blip r:embed="rId5" cstate="print"/>
            <a:stretch>
              <a:fillRect/>
            </a:stretch>
          </a:blipFill>
        </p:spPr>
        <p:txBody>
          <a:bodyPr wrap="square" lIns="0" tIns="0" rIns="0" bIns="0" rtlCol="0"/>
          <a:lstStyle/>
          <a:p>
            <a:endParaRPr>
              <a:solidFill>
                <a:prstClr val="black"/>
              </a:solidFill>
            </a:endParaRPr>
          </a:p>
        </p:txBody>
      </p:sp>
      <p:sp>
        <p:nvSpPr>
          <p:cNvPr id="6" name="object 6"/>
          <p:cNvSpPr/>
          <p:nvPr/>
        </p:nvSpPr>
        <p:spPr>
          <a:xfrm>
            <a:off x="4357117" y="2278380"/>
            <a:ext cx="3288791" cy="112775"/>
          </a:xfrm>
          <a:prstGeom prst="rect">
            <a:avLst/>
          </a:prstGeom>
          <a:blipFill>
            <a:blip r:embed="rId6"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57872" y="1793748"/>
            <a:ext cx="563879" cy="647700"/>
          </a:xfrm>
          <a:prstGeom prst="rect">
            <a:avLst/>
          </a:prstGeom>
          <a:blipFill>
            <a:blip r:embed="rId7"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524000" y="2348483"/>
            <a:ext cx="434340" cy="646176"/>
          </a:xfrm>
          <a:prstGeom prst="rect">
            <a:avLst/>
          </a:prstGeom>
          <a:blipFill>
            <a:blip r:embed="rId8"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title"/>
          </p:nvPr>
        </p:nvSpPr>
        <p:spPr>
          <a:xfrm>
            <a:off x="4357242" y="1897126"/>
            <a:ext cx="3233420" cy="438150"/>
          </a:xfrm>
          <a:prstGeom prst="rect">
            <a:avLst/>
          </a:prstGeom>
        </p:spPr>
        <p:txBody>
          <a:bodyPr vert="horz" wrap="square" lIns="0" tIns="0" rIns="0" bIns="0" rtlCol="0">
            <a:spAutoFit/>
          </a:bodyPr>
          <a:lstStyle/>
          <a:p>
            <a:pPr marL="12700"/>
            <a:r>
              <a:rPr sz="2800" b="1" u="heavy" spc="-5" dirty="0">
                <a:latin typeface="Times New Roman"/>
                <a:cs typeface="Times New Roman"/>
              </a:rPr>
              <a:t>Relational</a:t>
            </a:r>
            <a:r>
              <a:rPr sz="2800" b="1" u="heavy" spc="-40" dirty="0">
                <a:latin typeface="Times New Roman"/>
                <a:cs typeface="Times New Roman"/>
              </a:rPr>
              <a:t> </a:t>
            </a:r>
            <a:r>
              <a:rPr sz="2800" b="1" u="heavy" spc="-5" dirty="0">
                <a:latin typeface="Times New Roman"/>
                <a:cs typeface="Times New Roman"/>
              </a:rPr>
              <a:t>Operators</a:t>
            </a:r>
            <a:endParaRPr sz="2800">
              <a:latin typeface="Times New Roman"/>
              <a:cs typeface="Times New Roman"/>
            </a:endParaRPr>
          </a:p>
        </p:txBody>
      </p:sp>
      <p:graphicFrame>
        <p:nvGraphicFramePr>
          <p:cNvPr id="10" name="object 10"/>
          <p:cNvGraphicFramePr>
            <a:graphicFrameLocks noGrp="1"/>
          </p:cNvGraphicFramePr>
          <p:nvPr/>
        </p:nvGraphicFramePr>
        <p:xfrm>
          <a:off x="1593214" y="3003523"/>
          <a:ext cx="8874762" cy="3025611"/>
        </p:xfrm>
        <a:graphic>
          <a:graphicData uri="http://schemas.openxmlformats.org/drawingml/2006/table">
            <a:tbl>
              <a:tblPr firstRow="1" bandRow="1">
                <a:tableStyleId>{2D5ABB26-0587-4C30-8999-92F81FD0307C}</a:tableStyleId>
              </a:tblPr>
              <a:tblGrid>
                <a:gridCol w="2685388"/>
                <a:gridCol w="1486357"/>
                <a:gridCol w="3450048"/>
                <a:gridCol w="1252969"/>
              </a:tblGrid>
              <a:tr h="457876">
                <a:tc>
                  <a:txBody>
                    <a:bodyPr/>
                    <a:lstStyle/>
                    <a:p>
                      <a:pPr marL="22225">
                        <a:lnSpc>
                          <a:spcPct val="100000"/>
                        </a:lnSpc>
                        <a:spcBef>
                          <a:spcPts val="30"/>
                        </a:spcBef>
                      </a:pPr>
                      <a:r>
                        <a:rPr sz="2400" b="1" spc="-5" dirty="0">
                          <a:latin typeface="Times New Roman"/>
                          <a:cs typeface="Times New Roman"/>
                        </a:rPr>
                        <a:t>Name</a:t>
                      </a:r>
                      <a:endParaRPr sz="2400">
                        <a:latin typeface="Times New Roman"/>
                        <a:cs typeface="Times New Roman"/>
                      </a:endParaRPr>
                    </a:p>
                  </a:txBody>
                  <a:tcPr marL="0" marR="0" marT="0" marB="0"/>
                </a:tc>
                <a:tc>
                  <a:txBody>
                    <a:bodyPr/>
                    <a:lstStyle/>
                    <a:p>
                      <a:pPr marL="80645">
                        <a:lnSpc>
                          <a:spcPct val="100000"/>
                        </a:lnSpc>
                        <a:spcBef>
                          <a:spcPts val="30"/>
                        </a:spcBef>
                      </a:pPr>
                      <a:r>
                        <a:rPr sz="2400" b="1" spc="-5" dirty="0">
                          <a:latin typeface="Times New Roman"/>
                          <a:cs typeface="Times New Roman"/>
                        </a:rPr>
                        <a:t>Symbol</a:t>
                      </a:r>
                      <a:endParaRPr sz="2400">
                        <a:latin typeface="Times New Roman"/>
                        <a:cs typeface="Times New Roman"/>
                      </a:endParaRPr>
                    </a:p>
                  </a:txBody>
                  <a:tcPr marL="0" marR="0" marT="0" marB="0"/>
                </a:tc>
                <a:tc>
                  <a:txBody>
                    <a:bodyPr/>
                    <a:lstStyle/>
                    <a:p>
                      <a:pPr marL="422909">
                        <a:lnSpc>
                          <a:spcPct val="100000"/>
                        </a:lnSpc>
                        <a:spcBef>
                          <a:spcPts val="30"/>
                        </a:spcBef>
                      </a:pPr>
                      <a:r>
                        <a:rPr sz="2400" b="1" spc="-5" dirty="0">
                          <a:latin typeface="Times New Roman"/>
                          <a:cs typeface="Times New Roman"/>
                        </a:rPr>
                        <a:t>Sample</a:t>
                      </a:r>
                      <a:r>
                        <a:rPr sz="2400" b="1" spc="-70" dirty="0">
                          <a:latin typeface="Times New Roman"/>
                          <a:cs typeface="Times New Roman"/>
                        </a:rPr>
                        <a:t> </a:t>
                      </a:r>
                      <a:r>
                        <a:rPr sz="2400" b="1" spc="-5" dirty="0">
                          <a:latin typeface="Times New Roman"/>
                          <a:cs typeface="Times New Roman"/>
                        </a:rPr>
                        <a:t>usage</a:t>
                      </a:r>
                      <a:endParaRPr sz="2400">
                        <a:latin typeface="Times New Roman"/>
                        <a:cs typeface="Times New Roman"/>
                      </a:endParaRPr>
                    </a:p>
                  </a:txBody>
                  <a:tcPr marL="0" marR="0" marT="0" marB="0"/>
                </a:tc>
                <a:tc>
                  <a:txBody>
                    <a:bodyPr/>
                    <a:lstStyle/>
                    <a:p>
                      <a:pPr marL="400685">
                        <a:lnSpc>
                          <a:spcPct val="100000"/>
                        </a:lnSpc>
                        <a:spcBef>
                          <a:spcPts val="30"/>
                        </a:spcBef>
                      </a:pPr>
                      <a:r>
                        <a:rPr sz="2400" b="1" spc="-5" dirty="0">
                          <a:latin typeface="Times New Roman"/>
                          <a:cs typeface="Times New Roman"/>
                        </a:rPr>
                        <a:t>Result</a:t>
                      </a:r>
                      <a:endParaRPr sz="2400">
                        <a:latin typeface="Times New Roman"/>
                        <a:cs typeface="Times New Roman"/>
                      </a:endParaRPr>
                    </a:p>
                  </a:txBody>
                  <a:tcPr marL="0" marR="0" marT="0" marB="0"/>
                </a:tc>
              </a:tr>
              <a:tr h="432476">
                <a:tc>
                  <a:txBody>
                    <a:bodyPr/>
                    <a:lstStyle/>
                    <a:p>
                      <a:pPr marL="22225">
                        <a:lnSpc>
                          <a:spcPct val="100000"/>
                        </a:lnSpc>
                        <a:spcBef>
                          <a:spcPts val="315"/>
                        </a:spcBef>
                      </a:pPr>
                      <a:r>
                        <a:rPr sz="2000" dirty="0">
                          <a:latin typeface="Times New Roman"/>
                          <a:cs typeface="Times New Roman"/>
                        </a:rPr>
                        <a:t>is </a:t>
                      </a:r>
                      <a:r>
                        <a:rPr sz="2000" spc="-5" dirty="0">
                          <a:latin typeface="Times New Roman"/>
                          <a:cs typeface="Times New Roman"/>
                        </a:rPr>
                        <a:t>less</a:t>
                      </a:r>
                      <a:r>
                        <a:rPr sz="2000" spc="-114" dirty="0">
                          <a:latin typeface="Times New Roman"/>
                          <a:cs typeface="Times New Roman"/>
                        </a:rPr>
                        <a:t> </a:t>
                      </a:r>
                      <a:r>
                        <a:rPr sz="2000" dirty="0">
                          <a:latin typeface="Times New Roman"/>
                          <a:cs typeface="Times New Roman"/>
                        </a:rPr>
                        <a:t>than</a:t>
                      </a:r>
                      <a:endParaRPr sz="2000">
                        <a:latin typeface="Times New Roman"/>
                        <a:cs typeface="Times New Roman"/>
                      </a:endParaRPr>
                    </a:p>
                  </a:txBody>
                  <a:tcPr marL="0" marR="0" marT="0" marB="0"/>
                </a:tc>
                <a:tc>
                  <a:txBody>
                    <a:bodyPr/>
                    <a:lstStyle/>
                    <a:p>
                      <a:pPr marL="80645">
                        <a:lnSpc>
                          <a:spcPct val="100000"/>
                        </a:lnSpc>
                        <a:spcBef>
                          <a:spcPts val="315"/>
                        </a:spcBef>
                      </a:pPr>
                      <a:r>
                        <a:rPr sz="2000" dirty="0">
                          <a:latin typeface="Times New Roman"/>
                          <a:cs typeface="Times New Roman"/>
                        </a:rPr>
                        <a:t>&lt;</a:t>
                      </a:r>
                      <a:endParaRPr sz="2000">
                        <a:latin typeface="Times New Roman"/>
                        <a:cs typeface="Times New Roman"/>
                      </a:endParaRPr>
                    </a:p>
                  </a:txBody>
                  <a:tcPr marL="0" marR="0" marT="0" marB="0"/>
                </a:tc>
                <a:tc>
                  <a:txBody>
                    <a:bodyPr/>
                    <a:lstStyle/>
                    <a:p>
                      <a:pPr marL="422909">
                        <a:lnSpc>
                          <a:spcPct val="100000"/>
                        </a:lnSpc>
                        <a:spcBef>
                          <a:spcPts val="315"/>
                        </a:spcBef>
                      </a:pPr>
                      <a:r>
                        <a:rPr sz="2000" dirty="0">
                          <a:latin typeface="Times New Roman"/>
                          <a:cs typeface="Times New Roman"/>
                        </a:rPr>
                        <a:t>bool result = (4 &lt;</a:t>
                      </a:r>
                      <a:r>
                        <a:rPr sz="2000" spc="-165" dirty="0">
                          <a:latin typeface="Times New Roman"/>
                          <a:cs typeface="Times New Roman"/>
                        </a:rPr>
                        <a:t> </a:t>
                      </a:r>
                      <a:r>
                        <a:rPr sz="2000" dirty="0">
                          <a:latin typeface="Times New Roman"/>
                          <a:cs typeface="Times New Roman"/>
                        </a:rPr>
                        <a:t>7)</a:t>
                      </a:r>
                      <a:endParaRPr sz="2000">
                        <a:latin typeface="Times New Roman"/>
                        <a:cs typeface="Times New Roman"/>
                      </a:endParaRPr>
                    </a:p>
                  </a:txBody>
                  <a:tcPr marL="0" marR="0" marT="0" marB="0"/>
                </a:tc>
                <a:tc>
                  <a:txBody>
                    <a:bodyPr/>
                    <a:lstStyle/>
                    <a:p>
                      <a:pPr marL="631190">
                        <a:lnSpc>
                          <a:spcPct val="100000"/>
                        </a:lnSpc>
                        <a:spcBef>
                          <a:spcPts val="315"/>
                        </a:spcBef>
                      </a:pPr>
                      <a:r>
                        <a:rPr sz="2000" dirty="0">
                          <a:latin typeface="Times New Roman"/>
                          <a:cs typeface="Times New Roman"/>
                        </a:rPr>
                        <a:t>true</a:t>
                      </a:r>
                      <a:endParaRPr sz="2000">
                        <a:latin typeface="Times New Roman"/>
                        <a:cs typeface="Times New Roman"/>
                      </a:endParaRPr>
                    </a:p>
                  </a:txBody>
                  <a:tcPr marL="0" marR="0" marT="0" marB="0"/>
                </a:tc>
              </a:tr>
              <a:tr h="432181">
                <a:tc>
                  <a:txBody>
                    <a:bodyPr/>
                    <a:lstStyle/>
                    <a:p>
                      <a:pPr marL="22225">
                        <a:lnSpc>
                          <a:spcPct val="100000"/>
                        </a:lnSpc>
                        <a:spcBef>
                          <a:spcPts val="305"/>
                        </a:spcBef>
                      </a:pPr>
                      <a:r>
                        <a:rPr sz="2000" dirty="0">
                          <a:latin typeface="Times New Roman"/>
                          <a:cs typeface="Times New Roman"/>
                        </a:rPr>
                        <a:t>is greater</a:t>
                      </a:r>
                      <a:r>
                        <a:rPr sz="2000" spc="-140" dirty="0">
                          <a:latin typeface="Times New Roman"/>
                          <a:cs typeface="Times New Roman"/>
                        </a:rPr>
                        <a:t> </a:t>
                      </a:r>
                      <a:r>
                        <a:rPr sz="2000" dirty="0">
                          <a:latin typeface="Times New Roman"/>
                          <a:cs typeface="Times New Roman"/>
                        </a:rPr>
                        <a:t>than</a:t>
                      </a:r>
                      <a:endParaRPr sz="2000">
                        <a:latin typeface="Times New Roman"/>
                        <a:cs typeface="Times New Roman"/>
                      </a:endParaRPr>
                    </a:p>
                  </a:txBody>
                  <a:tcPr marL="0" marR="0" marT="0" marB="0"/>
                </a:tc>
                <a:tc>
                  <a:txBody>
                    <a:bodyPr/>
                    <a:lstStyle/>
                    <a:p>
                      <a:pPr marL="80645">
                        <a:lnSpc>
                          <a:spcPct val="100000"/>
                        </a:lnSpc>
                        <a:spcBef>
                          <a:spcPts val="305"/>
                        </a:spcBef>
                      </a:pPr>
                      <a:r>
                        <a:rPr sz="2000" dirty="0">
                          <a:latin typeface="Times New Roman"/>
                          <a:cs typeface="Times New Roman"/>
                        </a:rPr>
                        <a:t>&gt;</a:t>
                      </a:r>
                      <a:endParaRPr sz="2000">
                        <a:latin typeface="Times New Roman"/>
                        <a:cs typeface="Times New Roman"/>
                      </a:endParaRPr>
                    </a:p>
                  </a:txBody>
                  <a:tcPr marL="0" marR="0" marT="0" marB="0"/>
                </a:tc>
                <a:tc>
                  <a:txBody>
                    <a:bodyPr/>
                    <a:lstStyle/>
                    <a:p>
                      <a:pPr marL="422909">
                        <a:lnSpc>
                          <a:spcPct val="100000"/>
                        </a:lnSpc>
                        <a:spcBef>
                          <a:spcPts val="305"/>
                        </a:spcBef>
                      </a:pPr>
                      <a:r>
                        <a:rPr sz="2000" dirty="0">
                          <a:latin typeface="Times New Roman"/>
                          <a:cs typeface="Times New Roman"/>
                        </a:rPr>
                        <a:t>bool result = (3.1 &gt;</a:t>
                      </a:r>
                      <a:r>
                        <a:rPr sz="2000" spc="-165" dirty="0">
                          <a:latin typeface="Times New Roman"/>
                          <a:cs typeface="Times New Roman"/>
                        </a:rPr>
                        <a:t> </a:t>
                      </a:r>
                      <a:r>
                        <a:rPr sz="2000" dirty="0">
                          <a:latin typeface="Times New Roman"/>
                          <a:cs typeface="Times New Roman"/>
                        </a:rPr>
                        <a:t>3.1)</a:t>
                      </a:r>
                      <a:endParaRPr sz="2000">
                        <a:latin typeface="Times New Roman"/>
                        <a:cs typeface="Times New Roman"/>
                      </a:endParaRPr>
                    </a:p>
                  </a:txBody>
                  <a:tcPr marL="0" marR="0" marT="0" marB="0"/>
                </a:tc>
                <a:tc>
                  <a:txBody>
                    <a:bodyPr/>
                    <a:lstStyle/>
                    <a:p>
                      <a:pPr marL="631190">
                        <a:lnSpc>
                          <a:spcPct val="100000"/>
                        </a:lnSpc>
                        <a:spcBef>
                          <a:spcPts val="305"/>
                        </a:spcBef>
                      </a:pPr>
                      <a:r>
                        <a:rPr sz="2000" dirty="0">
                          <a:latin typeface="Times New Roman"/>
                          <a:cs typeface="Times New Roman"/>
                        </a:rPr>
                        <a:t>false</a:t>
                      </a:r>
                      <a:endParaRPr sz="2000">
                        <a:latin typeface="Times New Roman"/>
                        <a:cs typeface="Times New Roman"/>
                      </a:endParaRPr>
                    </a:p>
                  </a:txBody>
                  <a:tcPr marL="0" marR="0" marT="0" marB="0"/>
                </a:tc>
              </a:tr>
              <a:tr h="432181">
                <a:tc>
                  <a:txBody>
                    <a:bodyPr/>
                    <a:lstStyle/>
                    <a:p>
                      <a:pPr marL="22225">
                        <a:lnSpc>
                          <a:spcPct val="100000"/>
                        </a:lnSpc>
                        <a:spcBef>
                          <a:spcPts val="315"/>
                        </a:spcBef>
                      </a:pPr>
                      <a:r>
                        <a:rPr sz="2000" dirty="0">
                          <a:latin typeface="Times New Roman"/>
                          <a:cs typeface="Times New Roman"/>
                        </a:rPr>
                        <a:t>is equal</a:t>
                      </a:r>
                      <a:r>
                        <a:rPr sz="2000" spc="-135" dirty="0">
                          <a:latin typeface="Times New Roman"/>
                          <a:cs typeface="Times New Roman"/>
                        </a:rPr>
                        <a:t> </a:t>
                      </a:r>
                      <a:r>
                        <a:rPr sz="2000" dirty="0">
                          <a:latin typeface="Times New Roman"/>
                          <a:cs typeface="Times New Roman"/>
                        </a:rPr>
                        <a:t>to</a:t>
                      </a:r>
                      <a:endParaRPr sz="2000">
                        <a:latin typeface="Times New Roman"/>
                        <a:cs typeface="Times New Roman"/>
                      </a:endParaRPr>
                    </a:p>
                  </a:txBody>
                  <a:tcPr marL="0" marR="0" marT="0" marB="0"/>
                </a:tc>
                <a:tc>
                  <a:txBody>
                    <a:bodyPr/>
                    <a:lstStyle/>
                    <a:p>
                      <a:pPr marL="80645">
                        <a:lnSpc>
                          <a:spcPct val="100000"/>
                        </a:lnSpc>
                        <a:spcBef>
                          <a:spcPts val="315"/>
                        </a:spcBef>
                      </a:pPr>
                      <a:r>
                        <a:rPr sz="2000" spc="-5" dirty="0">
                          <a:latin typeface="Times New Roman"/>
                          <a:cs typeface="Times New Roman"/>
                        </a:rPr>
                        <a:t>==</a:t>
                      </a:r>
                      <a:endParaRPr sz="2000">
                        <a:latin typeface="Times New Roman"/>
                        <a:cs typeface="Times New Roman"/>
                      </a:endParaRPr>
                    </a:p>
                  </a:txBody>
                  <a:tcPr marL="0" marR="0" marT="0" marB="0"/>
                </a:tc>
                <a:tc>
                  <a:txBody>
                    <a:bodyPr/>
                    <a:lstStyle/>
                    <a:p>
                      <a:pPr marL="422909">
                        <a:lnSpc>
                          <a:spcPct val="100000"/>
                        </a:lnSpc>
                        <a:spcBef>
                          <a:spcPts val="315"/>
                        </a:spcBef>
                      </a:pPr>
                      <a:r>
                        <a:rPr sz="2000" dirty="0">
                          <a:latin typeface="Times New Roman"/>
                          <a:cs typeface="Times New Roman"/>
                        </a:rPr>
                        <a:t>bool result = </a:t>
                      </a:r>
                      <a:r>
                        <a:rPr sz="2000" spc="-20" dirty="0">
                          <a:latin typeface="Times New Roman"/>
                          <a:cs typeface="Times New Roman"/>
                        </a:rPr>
                        <a:t>(11 </a:t>
                      </a:r>
                      <a:r>
                        <a:rPr sz="2000" dirty="0">
                          <a:latin typeface="Times New Roman"/>
                          <a:cs typeface="Times New Roman"/>
                        </a:rPr>
                        <a:t>==</a:t>
                      </a:r>
                      <a:r>
                        <a:rPr sz="2000" spc="-160" dirty="0">
                          <a:latin typeface="Times New Roman"/>
                          <a:cs typeface="Times New Roman"/>
                        </a:rPr>
                        <a:t> </a:t>
                      </a:r>
                      <a:r>
                        <a:rPr sz="2000" dirty="0">
                          <a:latin typeface="Times New Roman"/>
                          <a:cs typeface="Times New Roman"/>
                        </a:rPr>
                        <a:t>8)</a:t>
                      </a:r>
                      <a:endParaRPr sz="2000">
                        <a:latin typeface="Times New Roman"/>
                        <a:cs typeface="Times New Roman"/>
                      </a:endParaRPr>
                    </a:p>
                  </a:txBody>
                  <a:tcPr marL="0" marR="0" marT="0" marB="0"/>
                </a:tc>
                <a:tc>
                  <a:txBody>
                    <a:bodyPr/>
                    <a:lstStyle/>
                    <a:p>
                      <a:pPr marL="631190">
                        <a:lnSpc>
                          <a:spcPct val="100000"/>
                        </a:lnSpc>
                        <a:spcBef>
                          <a:spcPts val="315"/>
                        </a:spcBef>
                      </a:pPr>
                      <a:r>
                        <a:rPr sz="2000" dirty="0">
                          <a:latin typeface="Times New Roman"/>
                          <a:cs typeface="Times New Roman"/>
                        </a:rPr>
                        <a:t>false</a:t>
                      </a:r>
                      <a:endParaRPr sz="2000">
                        <a:latin typeface="Times New Roman"/>
                        <a:cs typeface="Times New Roman"/>
                      </a:endParaRPr>
                    </a:p>
                  </a:txBody>
                  <a:tcPr marL="0" marR="0" marT="0" marB="0"/>
                </a:tc>
              </a:tr>
              <a:tr h="431292">
                <a:tc>
                  <a:txBody>
                    <a:bodyPr/>
                    <a:lstStyle/>
                    <a:p>
                      <a:pPr marL="22225">
                        <a:lnSpc>
                          <a:spcPct val="100000"/>
                        </a:lnSpc>
                        <a:spcBef>
                          <a:spcPts val="305"/>
                        </a:spcBef>
                      </a:pPr>
                      <a:r>
                        <a:rPr sz="2000" dirty="0">
                          <a:latin typeface="Times New Roman"/>
                          <a:cs typeface="Times New Roman"/>
                        </a:rPr>
                        <a:t>is </a:t>
                      </a:r>
                      <a:r>
                        <a:rPr sz="2000" spc="-5" dirty="0">
                          <a:latin typeface="Times New Roman"/>
                          <a:cs typeface="Times New Roman"/>
                        </a:rPr>
                        <a:t>less </a:t>
                      </a:r>
                      <a:r>
                        <a:rPr sz="2000" dirty="0">
                          <a:latin typeface="Times New Roman"/>
                          <a:cs typeface="Times New Roman"/>
                        </a:rPr>
                        <a:t>than or equal</a:t>
                      </a:r>
                      <a:r>
                        <a:rPr sz="2000" spc="-150" dirty="0">
                          <a:latin typeface="Times New Roman"/>
                          <a:cs typeface="Times New Roman"/>
                        </a:rPr>
                        <a:t> </a:t>
                      </a:r>
                      <a:r>
                        <a:rPr sz="2000" dirty="0">
                          <a:latin typeface="Times New Roman"/>
                          <a:cs typeface="Times New Roman"/>
                        </a:rPr>
                        <a:t>to</a:t>
                      </a:r>
                      <a:endParaRPr sz="2000">
                        <a:latin typeface="Times New Roman"/>
                        <a:cs typeface="Times New Roman"/>
                      </a:endParaRPr>
                    </a:p>
                  </a:txBody>
                  <a:tcPr marL="0" marR="0" marT="0" marB="0"/>
                </a:tc>
                <a:tc>
                  <a:txBody>
                    <a:bodyPr/>
                    <a:lstStyle/>
                    <a:p>
                      <a:pPr marL="80645">
                        <a:lnSpc>
                          <a:spcPct val="100000"/>
                        </a:lnSpc>
                        <a:spcBef>
                          <a:spcPts val="305"/>
                        </a:spcBef>
                      </a:pPr>
                      <a:r>
                        <a:rPr sz="2000" spc="-5" dirty="0">
                          <a:latin typeface="Times New Roman"/>
                          <a:cs typeface="Times New Roman"/>
                        </a:rPr>
                        <a:t>&lt;=</a:t>
                      </a:r>
                      <a:endParaRPr sz="2000">
                        <a:latin typeface="Times New Roman"/>
                        <a:cs typeface="Times New Roman"/>
                      </a:endParaRPr>
                    </a:p>
                  </a:txBody>
                  <a:tcPr marL="0" marR="0" marT="0" marB="0"/>
                </a:tc>
                <a:tc>
                  <a:txBody>
                    <a:bodyPr/>
                    <a:lstStyle/>
                    <a:p>
                      <a:pPr marL="422909">
                        <a:lnSpc>
                          <a:spcPct val="100000"/>
                        </a:lnSpc>
                        <a:spcBef>
                          <a:spcPts val="305"/>
                        </a:spcBef>
                      </a:pPr>
                      <a:r>
                        <a:rPr sz="2000" dirty="0">
                          <a:latin typeface="Times New Roman"/>
                          <a:cs typeface="Times New Roman"/>
                        </a:rPr>
                        <a:t>bool result = (41.1 &lt;=</a:t>
                      </a:r>
                      <a:r>
                        <a:rPr sz="2000" spc="-175" dirty="0">
                          <a:latin typeface="Times New Roman"/>
                          <a:cs typeface="Times New Roman"/>
                        </a:rPr>
                        <a:t> </a:t>
                      </a:r>
                      <a:r>
                        <a:rPr sz="2000" spc="5" dirty="0">
                          <a:latin typeface="Times New Roman"/>
                          <a:cs typeface="Times New Roman"/>
                        </a:rPr>
                        <a:t>42)</a:t>
                      </a:r>
                      <a:endParaRPr sz="2000">
                        <a:latin typeface="Times New Roman"/>
                        <a:cs typeface="Times New Roman"/>
                      </a:endParaRPr>
                    </a:p>
                  </a:txBody>
                  <a:tcPr marL="0" marR="0" marT="0" marB="0"/>
                </a:tc>
                <a:tc>
                  <a:txBody>
                    <a:bodyPr/>
                    <a:lstStyle/>
                    <a:p>
                      <a:pPr marL="631190">
                        <a:lnSpc>
                          <a:spcPct val="100000"/>
                        </a:lnSpc>
                        <a:spcBef>
                          <a:spcPts val="305"/>
                        </a:spcBef>
                      </a:pPr>
                      <a:r>
                        <a:rPr sz="2000" dirty="0">
                          <a:latin typeface="Times New Roman"/>
                          <a:cs typeface="Times New Roman"/>
                        </a:rPr>
                        <a:t>true</a:t>
                      </a:r>
                      <a:endParaRPr sz="2000">
                        <a:latin typeface="Times New Roman"/>
                        <a:cs typeface="Times New Roman"/>
                      </a:endParaRPr>
                    </a:p>
                  </a:txBody>
                  <a:tcPr marL="0" marR="0" marT="0" marB="0"/>
                </a:tc>
              </a:tr>
              <a:tr h="432096">
                <a:tc>
                  <a:txBody>
                    <a:bodyPr/>
                    <a:lstStyle/>
                    <a:p>
                      <a:pPr marL="22225">
                        <a:lnSpc>
                          <a:spcPct val="100000"/>
                        </a:lnSpc>
                        <a:spcBef>
                          <a:spcPts val="305"/>
                        </a:spcBef>
                      </a:pPr>
                      <a:r>
                        <a:rPr sz="2000" dirty="0">
                          <a:latin typeface="Times New Roman"/>
                          <a:cs typeface="Times New Roman"/>
                        </a:rPr>
                        <a:t>is greater than or equal</a:t>
                      </a:r>
                      <a:r>
                        <a:rPr sz="2000" spc="-165" dirty="0">
                          <a:latin typeface="Times New Roman"/>
                          <a:cs typeface="Times New Roman"/>
                        </a:rPr>
                        <a:t> </a:t>
                      </a:r>
                      <a:r>
                        <a:rPr sz="2000" dirty="0">
                          <a:latin typeface="Times New Roman"/>
                          <a:cs typeface="Times New Roman"/>
                        </a:rPr>
                        <a:t>to</a:t>
                      </a:r>
                      <a:endParaRPr sz="2000">
                        <a:latin typeface="Times New Roman"/>
                        <a:cs typeface="Times New Roman"/>
                      </a:endParaRPr>
                    </a:p>
                  </a:txBody>
                  <a:tcPr marL="0" marR="0" marT="0" marB="0"/>
                </a:tc>
                <a:tc>
                  <a:txBody>
                    <a:bodyPr/>
                    <a:lstStyle/>
                    <a:p>
                      <a:pPr marL="142875">
                        <a:lnSpc>
                          <a:spcPct val="100000"/>
                        </a:lnSpc>
                        <a:spcBef>
                          <a:spcPts val="305"/>
                        </a:spcBef>
                      </a:pPr>
                      <a:r>
                        <a:rPr sz="2000" spc="-5" dirty="0">
                          <a:latin typeface="Times New Roman"/>
                          <a:cs typeface="Times New Roman"/>
                        </a:rPr>
                        <a:t>&gt;=</a:t>
                      </a:r>
                      <a:endParaRPr sz="2000">
                        <a:latin typeface="Times New Roman"/>
                        <a:cs typeface="Times New Roman"/>
                      </a:endParaRPr>
                    </a:p>
                  </a:txBody>
                  <a:tcPr marL="0" marR="0" marT="0" marB="0"/>
                </a:tc>
                <a:tc>
                  <a:txBody>
                    <a:bodyPr/>
                    <a:lstStyle/>
                    <a:p>
                      <a:pPr marL="422909">
                        <a:lnSpc>
                          <a:spcPct val="100000"/>
                        </a:lnSpc>
                        <a:spcBef>
                          <a:spcPts val="305"/>
                        </a:spcBef>
                      </a:pPr>
                      <a:r>
                        <a:rPr sz="2000" dirty="0">
                          <a:latin typeface="Times New Roman"/>
                          <a:cs typeface="Times New Roman"/>
                        </a:rPr>
                        <a:t>bool result = (41.1 &gt;=</a:t>
                      </a:r>
                      <a:r>
                        <a:rPr sz="2000" spc="-175" dirty="0">
                          <a:latin typeface="Times New Roman"/>
                          <a:cs typeface="Times New Roman"/>
                        </a:rPr>
                        <a:t> </a:t>
                      </a:r>
                      <a:r>
                        <a:rPr sz="2000" spc="5" dirty="0">
                          <a:latin typeface="Times New Roman"/>
                          <a:cs typeface="Times New Roman"/>
                        </a:rPr>
                        <a:t>42)</a:t>
                      </a:r>
                      <a:endParaRPr sz="2000">
                        <a:latin typeface="Times New Roman"/>
                        <a:cs typeface="Times New Roman"/>
                      </a:endParaRPr>
                    </a:p>
                  </a:txBody>
                  <a:tcPr marL="0" marR="0" marT="0" marB="0"/>
                </a:tc>
                <a:tc>
                  <a:txBody>
                    <a:bodyPr/>
                    <a:lstStyle/>
                    <a:p>
                      <a:pPr marL="631190">
                        <a:lnSpc>
                          <a:spcPct val="100000"/>
                        </a:lnSpc>
                        <a:spcBef>
                          <a:spcPts val="305"/>
                        </a:spcBef>
                      </a:pPr>
                      <a:r>
                        <a:rPr sz="2000" dirty="0">
                          <a:latin typeface="Times New Roman"/>
                          <a:cs typeface="Times New Roman"/>
                        </a:rPr>
                        <a:t>false</a:t>
                      </a:r>
                      <a:endParaRPr sz="2000">
                        <a:latin typeface="Times New Roman"/>
                        <a:cs typeface="Times New Roman"/>
                      </a:endParaRPr>
                    </a:p>
                  </a:txBody>
                  <a:tcPr marL="0" marR="0" marT="0" marB="0"/>
                </a:tc>
              </a:tr>
              <a:tr h="407509">
                <a:tc>
                  <a:txBody>
                    <a:bodyPr/>
                    <a:lstStyle/>
                    <a:p>
                      <a:pPr marL="22225">
                        <a:lnSpc>
                          <a:spcPct val="100000"/>
                        </a:lnSpc>
                        <a:spcBef>
                          <a:spcPts val="315"/>
                        </a:spcBef>
                      </a:pPr>
                      <a:r>
                        <a:rPr sz="2000" dirty="0">
                          <a:latin typeface="Times New Roman"/>
                          <a:cs typeface="Times New Roman"/>
                        </a:rPr>
                        <a:t>is not equal</a:t>
                      </a:r>
                      <a:r>
                        <a:rPr sz="2000" spc="-155" dirty="0">
                          <a:latin typeface="Times New Roman"/>
                          <a:cs typeface="Times New Roman"/>
                        </a:rPr>
                        <a:t> </a:t>
                      </a:r>
                      <a:r>
                        <a:rPr sz="2000" dirty="0">
                          <a:latin typeface="Times New Roman"/>
                          <a:cs typeface="Times New Roman"/>
                        </a:rPr>
                        <a:t>to</a:t>
                      </a:r>
                      <a:endParaRPr sz="2000">
                        <a:latin typeface="Times New Roman"/>
                        <a:cs typeface="Times New Roman"/>
                      </a:endParaRPr>
                    </a:p>
                  </a:txBody>
                  <a:tcPr marL="0" marR="0" marT="0" marB="0"/>
                </a:tc>
                <a:tc>
                  <a:txBody>
                    <a:bodyPr/>
                    <a:lstStyle/>
                    <a:p>
                      <a:pPr marL="80645">
                        <a:lnSpc>
                          <a:spcPct val="100000"/>
                        </a:lnSpc>
                        <a:spcBef>
                          <a:spcPts val="315"/>
                        </a:spcBef>
                      </a:pPr>
                      <a:r>
                        <a:rPr sz="2000" dirty="0">
                          <a:latin typeface="Times New Roman"/>
                          <a:cs typeface="Times New Roman"/>
                        </a:rPr>
                        <a:t>!=</a:t>
                      </a:r>
                      <a:endParaRPr sz="2000">
                        <a:latin typeface="Times New Roman"/>
                        <a:cs typeface="Times New Roman"/>
                      </a:endParaRPr>
                    </a:p>
                  </a:txBody>
                  <a:tcPr marL="0" marR="0" marT="0" marB="0"/>
                </a:tc>
                <a:tc>
                  <a:txBody>
                    <a:bodyPr/>
                    <a:lstStyle/>
                    <a:p>
                      <a:pPr marL="422909">
                        <a:lnSpc>
                          <a:spcPct val="100000"/>
                        </a:lnSpc>
                        <a:spcBef>
                          <a:spcPts val="315"/>
                        </a:spcBef>
                      </a:pPr>
                      <a:r>
                        <a:rPr sz="2000" dirty="0">
                          <a:latin typeface="Times New Roman"/>
                          <a:cs typeface="Times New Roman"/>
                        </a:rPr>
                        <a:t>bool result = (12 !=</a:t>
                      </a:r>
                      <a:r>
                        <a:rPr sz="2000" spc="-150" dirty="0">
                          <a:latin typeface="Times New Roman"/>
                          <a:cs typeface="Times New Roman"/>
                        </a:rPr>
                        <a:t> </a:t>
                      </a:r>
                      <a:r>
                        <a:rPr sz="2000" dirty="0">
                          <a:latin typeface="Times New Roman"/>
                          <a:cs typeface="Times New Roman"/>
                        </a:rPr>
                        <a:t>12)</a:t>
                      </a:r>
                      <a:endParaRPr sz="2000">
                        <a:latin typeface="Times New Roman"/>
                        <a:cs typeface="Times New Roman"/>
                      </a:endParaRPr>
                    </a:p>
                  </a:txBody>
                  <a:tcPr marL="0" marR="0" marT="0" marB="0"/>
                </a:tc>
                <a:tc>
                  <a:txBody>
                    <a:bodyPr/>
                    <a:lstStyle/>
                    <a:p>
                      <a:pPr marL="631190">
                        <a:lnSpc>
                          <a:spcPct val="100000"/>
                        </a:lnSpc>
                        <a:spcBef>
                          <a:spcPts val="315"/>
                        </a:spcBef>
                      </a:pPr>
                      <a:r>
                        <a:rPr sz="2000" dirty="0">
                          <a:latin typeface="Times New Roman"/>
                          <a:cs typeface="Times New Roman"/>
                        </a:rPr>
                        <a:t>false</a:t>
                      </a:r>
                      <a:endParaRPr sz="2000">
                        <a:latin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val="31188227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56376" y="998219"/>
            <a:ext cx="3279648" cy="688848"/>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3" name="object 3"/>
          <p:cNvSpPr/>
          <p:nvPr/>
        </p:nvSpPr>
        <p:spPr>
          <a:xfrm>
            <a:off x="6019800" y="974725"/>
            <a:ext cx="3276530" cy="6858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4" name="object 4"/>
          <p:cNvSpPr/>
          <p:nvPr/>
        </p:nvSpPr>
        <p:spPr>
          <a:xfrm>
            <a:off x="1837943" y="2275332"/>
            <a:ext cx="3229356" cy="647700"/>
          </a:xfrm>
          <a:prstGeom prst="rect">
            <a:avLst/>
          </a:prstGeom>
          <a:blipFill>
            <a:blip r:embed="rId4" cstate="print"/>
            <a:stretch>
              <a:fillRect/>
            </a:stretch>
          </a:blipFill>
        </p:spPr>
        <p:txBody>
          <a:bodyPr wrap="square" lIns="0" tIns="0" rIns="0" bIns="0" rtlCol="0"/>
          <a:lstStyle/>
          <a:p>
            <a:endParaRPr>
              <a:solidFill>
                <a:prstClr val="black"/>
              </a:solidFill>
            </a:endParaRPr>
          </a:p>
        </p:txBody>
      </p:sp>
      <p:sp>
        <p:nvSpPr>
          <p:cNvPr id="5" name="object 5"/>
          <p:cNvSpPr/>
          <p:nvPr/>
        </p:nvSpPr>
        <p:spPr>
          <a:xfrm>
            <a:off x="4591812" y="2275332"/>
            <a:ext cx="3247643" cy="647700"/>
          </a:xfrm>
          <a:prstGeom prst="rect">
            <a:avLst/>
          </a:prstGeom>
          <a:blipFill>
            <a:blip r:embed="rId5" cstate="print"/>
            <a:stretch>
              <a:fillRect/>
            </a:stretch>
          </a:blipFill>
        </p:spPr>
        <p:txBody>
          <a:bodyPr wrap="square" lIns="0" tIns="0" rIns="0" bIns="0" rtlCol="0"/>
          <a:lstStyle/>
          <a:p>
            <a:endParaRPr>
              <a:solidFill>
                <a:prstClr val="black"/>
              </a:solidFill>
            </a:endParaRPr>
          </a:p>
        </p:txBody>
      </p:sp>
      <p:sp>
        <p:nvSpPr>
          <p:cNvPr id="6" name="object 6"/>
          <p:cNvSpPr/>
          <p:nvPr/>
        </p:nvSpPr>
        <p:spPr>
          <a:xfrm>
            <a:off x="4800600" y="2759965"/>
            <a:ext cx="2851404" cy="112775"/>
          </a:xfrm>
          <a:prstGeom prst="rect">
            <a:avLst/>
          </a:prstGeom>
          <a:blipFill>
            <a:blip r:embed="rId6"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63968" y="2275332"/>
            <a:ext cx="563879" cy="647700"/>
          </a:xfrm>
          <a:prstGeom prst="rect">
            <a:avLst/>
          </a:prstGeom>
          <a:blipFill>
            <a:blip r:embed="rId7"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837943" y="2830067"/>
            <a:ext cx="563880" cy="646176"/>
          </a:xfrm>
          <a:prstGeom prst="rect">
            <a:avLst/>
          </a:prstGeom>
          <a:blipFill>
            <a:blip r:embed="rId7"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title"/>
          </p:nvPr>
        </p:nvSpPr>
        <p:spPr>
          <a:xfrm>
            <a:off x="1955902" y="2156459"/>
            <a:ext cx="11328196" cy="656590"/>
          </a:xfrm>
          <a:prstGeom prst="rect">
            <a:avLst/>
          </a:prstGeom>
        </p:spPr>
        <p:txBody>
          <a:bodyPr vert="horz" wrap="square" lIns="0" tIns="223520" rIns="0" bIns="0" rtlCol="0">
            <a:spAutoFit/>
          </a:bodyPr>
          <a:lstStyle/>
          <a:p>
            <a:pPr marL="2966085"/>
            <a:r>
              <a:rPr sz="2800" b="1" u="heavy" spc="-5" dirty="0">
                <a:latin typeface="Times New Roman"/>
                <a:cs typeface="Times New Roman"/>
              </a:rPr>
              <a:t>Logical</a:t>
            </a:r>
            <a:r>
              <a:rPr sz="2800" b="1" u="heavy" spc="-70" dirty="0">
                <a:latin typeface="Times New Roman"/>
                <a:cs typeface="Times New Roman"/>
              </a:rPr>
              <a:t> </a:t>
            </a:r>
            <a:r>
              <a:rPr sz="2800" b="1" u="heavy" spc="-5" dirty="0">
                <a:latin typeface="Times New Roman"/>
                <a:cs typeface="Times New Roman"/>
              </a:rPr>
              <a:t>Operators</a:t>
            </a:r>
            <a:endParaRPr sz="2800">
              <a:latin typeface="Times New Roman"/>
              <a:cs typeface="Times New Roman"/>
            </a:endParaRPr>
          </a:p>
        </p:txBody>
      </p:sp>
      <p:sp>
        <p:nvSpPr>
          <p:cNvPr id="10" name="object 10"/>
          <p:cNvSpPr txBox="1"/>
          <p:nvPr/>
        </p:nvSpPr>
        <p:spPr>
          <a:xfrm>
            <a:off x="2047443" y="3431033"/>
            <a:ext cx="7023100" cy="316865"/>
          </a:xfrm>
          <a:prstGeom prst="rect">
            <a:avLst/>
          </a:prstGeom>
        </p:spPr>
        <p:txBody>
          <a:bodyPr vert="horz" wrap="square" lIns="0" tIns="0" rIns="0" bIns="0" rtlCol="0">
            <a:spAutoFit/>
          </a:bodyPr>
          <a:lstStyle/>
          <a:p>
            <a:pPr marL="12700"/>
            <a:r>
              <a:rPr sz="2000" spc="-5" dirty="0" smtClean="0">
                <a:solidFill>
                  <a:prstClr val="black"/>
                </a:solidFill>
                <a:latin typeface="Times New Roman"/>
                <a:cs typeface="Times New Roman"/>
              </a:rPr>
              <a:t>C </a:t>
            </a:r>
            <a:r>
              <a:rPr sz="2000" dirty="0">
                <a:solidFill>
                  <a:prstClr val="black"/>
                </a:solidFill>
                <a:latin typeface="Times New Roman"/>
                <a:cs typeface="Times New Roman"/>
              </a:rPr>
              <a:t>provides three logical operators to </a:t>
            </a:r>
            <a:r>
              <a:rPr sz="2000" spc="-5" dirty="0">
                <a:solidFill>
                  <a:prstClr val="black"/>
                </a:solidFill>
                <a:latin typeface="Times New Roman"/>
                <a:cs typeface="Times New Roman"/>
              </a:rPr>
              <a:t>combine </a:t>
            </a:r>
            <a:r>
              <a:rPr sz="2000" dirty="0">
                <a:solidFill>
                  <a:prstClr val="black"/>
                </a:solidFill>
                <a:latin typeface="Times New Roman"/>
                <a:cs typeface="Times New Roman"/>
              </a:rPr>
              <a:t>existing</a:t>
            </a:r>
            <a:r>
              <a:rPr sz="2000" spc="-190" dirty="0">
                <a:solidFill>
                  <a:prstClr val="black"/>
                </a:solidFill>
                <a:latin typeface="Times New Roman"/>
                <a:cs typeface="Times New Roman"/>
              </a:rPr>
              <a:t> </a:t>
            </a:r>
            <a:r>
              <a:rPr sz="2000" dirty="0">
                <a:solidFill>
                  <a:prstClr val="black"/>
                </a:solidFill>
                <a:latin typeface="Times New Roman"/>
                <a:cs typeface="Times New Roman"/>
              </a:rPr>
              <a:t>expression.</a:t>
            </a:r>
          </a:p>
        </p:txBody>
      </p:sp>
      <p:graphicFrame>
        <p:nvGraphicFramePr>
          <p:cNvPr id="11" name="object 11"/>
          <p:cNvGraphicFramePr>
            <a:graphicFrameLocks noGrp="1"/>
          </p:cNvGraphicFramePr>
          <p:nvPr/>
        </p:nvGraphicFramePr>
        <p:xfrm>
          <a:off x="2037919" y="4153761"/>
          <a:ext cx="7580659" cy="1910434"/>
        </p:xfrm>
        <a:graphic>
          <a:graphicData uri="http://schemas.openxmlformats.org/drawingml/2006/table">
            <a:tbl>
              <a:tblPr firstRow="1" bandRow="1">
                <a:tableStyleId>{2D5ABB26-0587-4C30-8999-92F81FD0307C}</a:tableStyleId>
              </a:tblPr>
              <a:tblGrid>
                <a:gridCol w="2166350"/>
                <a:gridCol w="2462456"/>
                <a:gridCol w="2951853"/>
              </a:tblGrid>
              <a:tr h="462788">
                <a:tc>
                  <a:txBody>
                    <a:bodyPr/>
                    <a:lstStyle/>
                    <a:p>
                      <a:pPr marL="22225">
                        <a:lnSpc>
                          <a:spcPct val="100000"/>
                        </a:lnSpc>
                        <a:spcBef>
                          <a:spcPts val="30"/>
                        </a:spcBef>
                      </a:pPr>
                      <a:r>
                        <a:rPr sz="2400" b="1" spc="-5" dirty="0">
                          <a:latin typeface="Times New Roman"/>
                          <a:cs typeface="Times New Roman"/>
                        </a:rPr>
                        <a:t>Name</a:t>
                      </a:r>
                      <a:endParaRPr sz="2400">
                        <a:latin typeface="Times New Roman"/>
                        <a:cs typeface="Times New Roman"/>
                      </a:endParaRPr>
                    </a:p>
                  </a:txBody>
                  <a:tcPr marL="0" marR="0" marT="0" marB="0"/>
                </a:tc>
                <a:tc>
                  <a:txBody>
                    <a:bodyPr/>
                    <a:lstStyle/>
                    <a:p>
                      <a:pPr marL="598805">
                        <a:lnSpc>
                          <a:spcPct val="100000"/>
                        </a:lnSpc>
                        <a:spcBef>
                          <a:spcPts val="30"/>
                        </a:spcBef>
                      </a:pPr>
                      <a:r>
                        <a:rPr sz="2400" b="1" spc="-5" dirty="0">
                          <a:latin typeface="Times New Roman"/>
                          <a:cs typeface="Times New Roman"/>
                        </a:rPr>
                        <a:t>Symbol</a:t>
                      </a:r>
                      <a:endParaRPr sz="2400">
                        <a:latin typeface="Times New Roman"/>
                        <a:cs typeface="Times New Roman"/>
                      </a:endParaRPr>
                    </a:p>
                  </a:txBody>
                  <a:tcPr marL="0" marR="0" marT="0" marB="0"/>
                </a:tc>
                <a:tc>
                  <a:txBody>
                    <a:bodyPr/>
                    <a:lstStyle/>
                    <a:p>
                      <a:pPr marL="880744">
                        <a:lnSpc>
                          <a:spcPct val="100000"/>
                        </a:lnSpc>
                        <a:spcBef>
                          <a:spcPts val="30"/>
                        </a:spcBef>
                      </a:pPr>
                      <a:r>
                        <a:rPr sz="2400" b="1" spc="-5" dirty="0">
                          <a:latin typeface="Times New Roman"/>
                          <a:cs typeface="Times New Roman"/>
                        </a:rPr>
                        <a:t>Sample</a:t>
                      </a:r>
                      <a:r>
                        <a:rPr sz="2400" b="1" spc="-70" dirty="0">
                          <a:latin typeface="Times New Roman"/>
                          <a:cs typeface="Times New Roman"/>
                        </a:rPr>
                        <a:t> </a:t>
                      </a:r>
                      <a:r>
                        <a:rPr sz="2400" b="1" spc="-5" dirty="0">
                          <a:latin typeface="Times New Roman"/>
                          <a:cs typeface="Times New Roman"/>
                        </a:rPr>
                        <a:t>usage</a:t>
                      </a:r>
                      <a:endParaRPr sz="2400">
                        <a:latin typeface="Times New Roman"/>
                        <a:cs typeface="Times New Roman"/>
                      </a:endParaRPr>
                    </a:p>
                  </a:txBody>
                  <a:tcPr marL="0" marR="0" marT="0" marB="0"/>
                </a:tc>
              </a:tr>
              <a:tr h="493081">
                <a:tc>
                  <a:txBody>
                    <a:bodyPr/>
                    <a:lstStyle/>
                    <a:p>
                      <a:pPr marL="22225">
                        <a:lnSpc>
                          <a:spcPct val="100000"/>
                        </a:lnSpc>
                        <a:spcBef>
                          <a:spcPts val="275"/>
                        </a:spcBef>
                      </a:pPr>
                      <a:r>
                        <a:rPr sz="2400" dirty="0">
                          <a:latin typeface="Times New Roman"/>
                          <a:cs typeface="Times New Roman"/>
                        </a:rPr>
                        <a:t>logical</a:t>
                      </a:r>
                      <a:r>
                        <a:rPr sz="2400" spc="-130" dirty="0">
                          <a:latin typeface="Times New Roman"/>
                          <a:cs typeface="Times New Roman"/>
                        </a:rPr>
                        <a:t> </a:t>
                      </a:r>
                      <a:r>
                        <a:rPr sz="2400" spc="-5" dirty="0">
                          <a:latin typeface="Times New Roman"/>
                          <a:cs typeface="Times New Roman"/>
                        </a:rPr>
                        <a:t>OR</a:t>
                      </a:r>
                      <a:endParaRPr sz="2400">
                        <a:latin typeface="Times New Roman"/>
                        <a:cs typeface="Times New Roman"/>
                      </a:endParaRPr>
                    </a:p>
                  </a:txBody>
                  <a:tcPr marL="0" marR="0" marT="0" marB="0"/>
                </a:tc>
                <a:tc>
                  <a:txBody>
                    <a:bodyPr/>
                    <a:lstStyle/>
                    <a:p>
                      <a:pPr marL="598805">
                        <a:lnSpc>
                          <a:spcPct val="100000"/>
                        </a:lnSpc>
                        <a:spcBef>
                          <a:spcPts val="275"/>
                        </a:spcBef>
                      </a:pPr>
                      <a:r>
                        <a:rPr sz="2400" spc="5" dirty="0">
                          <a:latin typeface="Times New Roman"/>
                          <a:cs typeface="Times New Roman"/>
                        </a:rPr>
                        <a:t>||</a:t>
                      </a:r>
                      <a:endParaRPr sz="2400">
                        <a:latin typeface="Times New Roman"/>
                        <a:cs typeface="Times New Roman"/>
                      </a:endParaRPr>
                    </a:p>
                  </a:txBody>
                  <a:tcPr marL="0" marR="0" marT="0" marB="0"/>
                </a:tc>
                <a:tc>
                  <a:txBody>
                    <a:bodyPr/>
                    <a:lstStyle/>
                    <a:p>
                      <a:pPr marL="880744">
                        <a:lnSpc>
                          <a:spcPct val="100000"/>
                        </a:lnSpc>
                        <a:spcBef>
                          <a:spcPts val="275"/>
                        </a:spcBef>
                      </a:pPr>
                      <a:r>
                        <a:rPr sz="2400" dirty="0">
                          <a:latin typeface="Times New Roman"/>
                          <a:cs typeface="Times New Roman"/>
                        </a:rPr>
                        <a:t>(4= =4) ||</a:t>
                      </a:r>
                      <a:r>
                        <a:rPr sz="2400" spc="-160" dirty="0">
                          <a:latin typeface="Times New Roman"/>
                          <a:cs typeface="Times New Roman"/>
                        </a:rPr>
                        <a:t> </a:t>
                      </a:r>
                      <a:r>
                        <a:rPr sz="2400" dirty="0">
                          <a:latin typeface="Times New Roman"/>
                          <a:cs typeface="Times New Roman"/>
                        </a:rPr>
                        <a:t>(5++5)</a:t>
                      </a:r>
                      <a:endParaRPr sz="2400">
                        <a:latin typeface="Times New Roman"/>
                        <a:cs typeface="Times New Roman"/>
                      </a:endParaRPr>
                    </a:p>
                  </a:txBody>
                  <a:tcPr marL="0" marR="0" marT="0" marB="0"/>
                </a:tc>
              </a:tr>
              <a:tr h="492582">
                <a:tc>
                  <a:txBody>
                    <a:bodyPr/>
                    <a:lstStyle/>
                    <a:p>
                      <a:pPr marL="22225">
                        <a:lnSpc>
                          <a:spcPct val="100000"/>
                        </a:lnSpc>
                        <a:spcBef>
                          <a:spcPts val="270"/>
                        </a:spcBef>
                      </a:pPr>
                      <a:r>
                        <a:rPr sz="2400" dirty="0">
                          <a:latin typeface="Times New Roman"/>
                          <a:cs typeface="Times New Roman"/>
                        </a:rPr>
                        <a:t>logical</a:t>
                      </a:r>
                      <a:r>
                        <a:rPr sz="2400" spc="-260" dirty="0">
                          <a:latin typeface="Times New Roman"/>
                          <a:cs typeface="Times New Roman"/>
                        </a:rPr>
                        <a:t> </a:t>
                      </a:r>
                      <a:r>
                        <a:rPr sz="2400" spc="-5" dirty="0">
                          <a:latin typeface="Times New Roman"/>
                          <a:cs typeface="Times New Roman"/>
                        </a:rPr>
                        <a:t>AND</a:t>
                      </a:r>
                      <a:endParaRPr sz="2400">
                        <a:latin typeface="Times New Roman"/>
                        <a:cs typeface="Times New Roman"/>
                      </a:endParaRPr>
                    </a:p>
                  </a:txBody>
                  <a:tcPr marL="0" marR="0" marT="0" marB="0"/>
                </a:tc>
                <a:tc>
                  <a:txBody>
                    <a:bodyPr/>
                    <a:lstStyle/>
                    <a:p>
                      <a:pPr marL="598805">
                        <a:lnSpc>
                          <a:spcPct val="100000"/>
                        </a:lnSpc>
                        <a:spcBef>
                          <a:spcPts val="270"/>
                        </a:spcBef>
                      </a:pPr>
                      <a:r>
                        <a:rPr sz="2400" dirty="0">
                          <a:latin typeface="Times New Roman"/>
                          <a:cs typeface="Times New Roman"/>
                        </a:rPr>
                        <a:t>&amp;&amp;</a:t>
                      </a:r>
                      <a:endParaRPr sz="2400">
                        <a:latin typeface="Times New Roman"/>
                        <a:cs typeface="Times New Roman"/>
                      </a:endParaRPr>
                    </a:p>
                  </a:txBody>
                  <a:tcPr marL="0" marR="0" marT="0" marB="0"/>
                </a:tc>
                <a:tc>
                  <a:txBody>
                    <a:bodyPr/>
                    <a:lstStyle/>
                    <a:p>
                      <a:pPr marL="880744">
                        <a:lnSpc>
                          <a:spcPct val="100000"/>
                        </a:lnSpc>
                        <a:spcBef>
                          <a:spcPts val="270"/>
                        </a:spcBef>
                      </a:pPr>
                      <a:r>
                        <a:rPr sz="2400" dirty="0">
                          <a:latin typeface="Times New Roman"/>
                          <a:cs typeface="Times New Roman"/>
                        </a:rPr>
                        <a:t>a&gt;b &amp;&amp;</a:t>
                      </a:r>
                      <a:r>
                        <a:rPr sz="2400" spc="-135" dirty="0">
                          <a:latin typeface="Times New Roman"/>
                          <a:cs typeface="Times New Roman"/>
                        </a:rPr>
                        <a:t> </a:t>
                      </a:r>
                      <a:r>
                        <a:rPr sz="2400" dirty="0">
                          <a:latin typeface="Times New Roman"/>
                          <a:cs typeface="Times New Roman"/>
                        </a:rPr>
                        <a:t>c&gt;d</a:t>
                      </a:r>
                      <a:endParaRPr sz="2400">
                        <a:latin typeface="Times New Roman"/>
                        <a:cs typeface="Times New Roman"/>
                      </a:endParaRPr>
                    </a:p>
                  </a:txBody>
                  <a:tcPr marL="0" marR="0" marT="0" marB="0"/>
                </a:tc>
              </a:tr>
              <a:tr h="461983">
                <a:tc>
                  <a:txBody>
                    <a:bodyPr/>
                    <a:lstStyle/>
                    <a:p>
                      <a:pPr marL="22225">
                        <a:lnSpc>
                          <a:spcPct val="100000"/>
                        </a:lnSpc>
                        <a:spcBef>
                          <a:spcPts val="265"/>
                        </a:spcBef>
                      </a:pPr>
                      <a:r>
                        <a:rPr sz="2400" dirty="0">
                          <a:latin typeface="Times New Roman"/>
                          <a:cs typeface="Times New Roman"/>
                        </a:rPr>
                        <a:t>logical</a:t>
                      </a:r>
                      <a:r>
                        <a:rPr sz="2400" spc="-135" dirty="0">
                          <a:latin typeface="Times New Roman"/>
                          <a:cs typeface="Times New Roman"/>
                        </a:rPr>
                        <a:t> </a:t>
                      </a:r>
                      <a:r>
                        <a:rPr sz="2400" spc="-5" dirty="0">
                          <a:latin typeface="Times New Roman"/>
                          <a:cs typeface="Times New Roman"/>
                        </a:rPr>
                        <a:t>NOT</a:t>
                      </a:r>
                      <a:endParaRPr sz="2400">
                        <a:latin typeface="Times New Roman"/>
                        <a:cs typeface="Times New Roman"/>
                      </a:endParaRPr>
                    </a:p>
                  </a:txBody>
                  <a:tcPr marL="0" marR="0" marT="0" marB="0"/>
                </a:tc>
                <a:tc>
                  <a:txBody>
                    <a:bodyPr/>
                    <a:lstStyle/>
                    <a:p>
                      <a:pPr marL="598805">
                        <a:lnSpc>
                          <a:spcPct val="100000"/>
                        </a:lnSpc>
                        <a:spcBef>
                          <a:spcPts val="265"/>
                        </a:spcBef>
                      </a:pPr>
                      <a:r>
                        <a:rPr sz="2400" dirty="0">
                          <a:latin typeface="Times New Roman"/>
                          <a:cs typeface="Times New Roman"/>
                        </a:rPr>
                        <a:t>!</a:t>
                      </a:r>
                      <a:endParaRPr sz="2400">
                        <a:latin typeface="Times New Roman"/>
                        <a:cs typeface="Times New Roman"/>
                      </a:endParaRPr>
                    </a:p>
                  </a:txBody>
                  <a:tcPr marL="0" marR="0" marT="0" marB="0"/>
                </a:tc>
                <a:tc>
                  <a:txBody>
                    <a:bodyPr/>
                    <a:lstStyle/>
                    <a:p>
                      <a:pPr marL="880744">
                        <a:lnSpc>
                          <a:spcPct val="100000"/>
                        </a:lnSpc>
                        <a:spcBef>
                          <a:spcPts val="265"/>
                        </a:spcBef>
                      </a:pPr>
                      <a:r>
                        <a:rPr sz="2400" dirty="0">
                          <a:latin typeface="Times New Roman"/>
                          <a:cs typeface="Times New Roman"/>
                        </a:rPr>
                        <a:t>!(0)</a:t>
                      </a:r>
                      <a:endParaRPr sz="2400">
                        <a:latin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val="10224171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790769" y="282015"/>
            <a:ext cx="3276530" cy="685800"/>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63968" y="2275332"/>
            <a:ext cx="563879" cy="6477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837943" y="2830067"/>
            <a:ext cx="563880" cy="646176"/>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title"/>
          </p:nvPr>
        </p:nvSpPr>
        <p:spPr>
          <a:xfrm>
            <a:off x="1790769" y="967815"/>
            <a:ext cx="8483498" cy="656590"/>
          </a:xfrm>
          <a:prstGeom prst="rect">
            <a:avLst/>
          </a:prstGeom>
        </p:spPr>
        <p:txBody>
          <a:bodyPr vert="horz" wrap="square" lIns="0" tIns="223520" rIns="0" bIns="0" rtlCol="0">
            <a:spAutoFit/>
          </a:bodyPr>
          <a:lstStyle/>
          <a:p>
            <a:r>
              <a:rPr lang="en-US" sz="2800" b="1" dirty="0" smtClean="0"/>
              <a:t>Assignment Operators</a:t>
            </a:r>
            <a:endParaRPr lang="en-US" sz="2800" b="1" dirty="0"/>
          </a:p>
        </p:txBody>
      </p:sp>
      <p:sp>
        <p:nvSpPr>
          <p:cNvPr id="12" name="Rectangle 11"/>
          <p:cNvSpPr/>
          <p:nvPr/>
        </p:nvSpPr>
        <p:spPr>
          <a:xfrm>
            <a:off x="1763874" y="1752600"/>
            <a:ext cx="9894725" cy="830997"/>
          </a:xfrm>
          <a:prstGeom prst="rect">
            <a:avLst/>
          </a:prstGeom>
        </p:spPr>
        <p:txBody>
          <a:bodyPr wrap="square">
            <a:spAutoFit/>
          </a:bodyPr>
          <a:lstStyle/>
          <a:p>
            <a:r>
              <a:rPr lang="en-US" sz="2400" dirty="0"/>
              <a:t>The following table lists the assignment operators supported by the C language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0" y="2583597"/>
            <a:ext cx="9677400" cy="4054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931544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790769" y="282015"/>
            <a:ext cx="3276530" cy="685800"/>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63968" y="2275332"/>
            <a:ext cx="563879" cy="6477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837943" y="2830067"/>
            <a:ext cx="563880" cy="646176"/>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title"/>
          </p:nvPr>
        </p:nvSpPr>
        <p:spPr>
          <a:xfrm>
            <a:off x="1790769" y="967815"/>
            <a:ext cx="8483498" cy="656590"/>
          </a:xfrm>
          <a:prstGeom prst="rect">
            <a:avLst/>
          </a:prstGeom>
        </p:spPr>
        <p:txBody>
          <a:bodyPr vert="horz" wrap="square" lIns="0" tIns="223520" rIns="0" bIns="0" rtlCol="0">
            <a:spAutoFit/>
          </a:bodyPr>
          <a:lstStyle/>
          <a:p>
            <a:r>
              <a:rPr lang="en-US" sz="2800" b="1" dirty="0" smtClean="0"/>
              <a:t>Assignment Operators</a:t>
            </a:r>
            <a:endParaRPr lang="en-US" sz="2800" b="1" dirty="0"/>
          </a:p>
        </p:txBody>
      </p:sp>
      <p:sp>
        <p:nvSpPr>
          <p:cNvPr id="12" name="Rectangle 11"/>
          <p:cNvSpPr/>
          <p:nvPr/>
        </p:nvSpPr>
        <p:spPr>
          <a:xfrm>
            <a:off x="1763874" y="1752600"/>
            <a:ext cx="9894725" cy="830997"/>
          </a:xfrm>
          <a:prstGeom prst="rect">
            <a:avLst/>
          </a:prstGeom>
        </p:spPr>
        <p:txBody>
          <a:bodyPr wrap="square">
            <a:spAutoFit/>
          </a:bodyPr>
          <a:lstStyle/>
          <a:p>
            <a:r>
              <a:rPr lang="en-US" sz="2400" dirty="0"/>
              <a:t>The following table lists the assignment operators supported by the C language</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0770" y="2827717"/>
            <a:ext cx="8496230" cy="3055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97682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p:nvPr/>
        </p:nvSpPr>
        <p:spPr>
          <a:xfrm>
            <a:off x="1790769" y="282015"/>
            <a:ext cx="3276530" cy="685800"/>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7" name="object 7"/>
          <p:cNvSpPr/>
          <p:nvPr/>
        </p:nvSpPr>
        <p:spPr>
          <a:xfrm>
            <a:off x="7363968" y="2275332"/>
            <a:ext cx="563879" cy="647700"/>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837943" y="2830067"/>
            <a:ext cx="563880" cy="646176"/>
          </a:xfrm>
          <a:prstGeom prst="rect">
            <a:avLst/>
          </a:prstGeom>
          <a:blipFill>
            <a:blip r:embed="rId3" cstate="print"/>
            <a:stretch>
              <a:fillRect/>
            </a:stretch>
          </a:blipFill>
        </p:spPr>
        <p:txBody>
          <a:bodyPr wrap="square" lIns="0" tIns="0" rIns="0" bIns="0" rtlCol="0"/>
          <a:lstStyle/>
          <a:p>
            <a:endParaRPr>
              <a:solidFill>
                <a:prstClr val="black"/>
              </a:solidFill>
            </a:endParaRPr>
          </a:p>
        </p:txBody>
      </p:sp>
      <p:sp>
        <p:nvSpPr>
          <p:cNvPr id="9" name="object 9"/>
          <p:cNvSpPr txBox="1">
            <a:spLocks noGrp="1"/>
          </p:cNvSpPr>
          <p:nvPr>
            <p:ph type="title"/>
          </p:nvPr>
        </p:nvSpPr>
        <p:spPr>
          <a:xfrm>
            <a:off x="1790769" y="967815"/>
            <a:ext cx="8483498" cy="656590"/>
          </a:xfrm>
          <a:prstGeom prst="rect">
            <a:avLst/>
          </a:prstGeom>
        </p:spPr>
        <p:txBody>
          <a:bodyPr vert="horz" wrap="square" lIns="0" tIns="223520" rIns="0" bIns="0" rtlCol="0">
            <a:spAutoFit/>
          </a:bodyPr>
          <a:lstStyle/>
          <a:p>
            <a:r>
              <a:rPr lang="en-US" sz="2800" b="1" dirty="0" err="1"/>
              <a:t>Misc</a:t>
            </a:r>
            <a:r>
              <a:rPr lang="en-US" sz="2800" b="1" dirty="0"/>
              <a:t> Operators</a:t>
            </a:r>
          </a:p>
        </p:txBody>
      </p:sp>
      <p:sp>
        <p:nvSpPr>
          <p:cNvPr id="12" name="Rectangle 11"/>
          <p:cNvSpPr/>
          <p:nvPr/>
        </p:nvSpPr>
        <p:spPr>
          <a:xfrm>
            <a:off x="1763874" y="1752600"/>
            <a:ext cx="9894725" cy="830997"/>
          </a:xfrm>
          <a:prstGeom prst="rect">
            <a:avLst/>
          </a:prstGeom>
        </p:spPr>
        <p:txBody>
          <a:bodyPr wrap="square">
            <a:spAutoFit/>
          </a:bodyPr>
          <a:lstStyle/>
          <a:p>
            <a:r>
              <a:rPr lang="en-US" sz="2400" dirty="0"/>
              <a:t>The following table lists the </a:t>
            </a:r>
            <a:r>
              <a:rPr lang="en-US" sz="2400" dirty="0" smtClean="0"/>
              <a:t>miscellaneous </a:t>
            </a:r>
            <a:r>
              <a:rPr lang="en-US" sz="2400" dirty="0"/>
              <a:t>operators supported by the C language</a:t>
            </a:r>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874" y="2599182"/>
            <a:ext cx="8859656" cy="3649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1676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p:nvPr/>
        </p:nvSpPr>
        <p:spPr>
          <a:xfrm>
            <a:off x="7363968" y="2275332"/>
            <a:ext cx="563879" cy="647700"/>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8" name="object 8"/>
          <p:cNvSpPr/>
          <p:nvPr/>
        </p:nvSpPr>
        <p:spPr>
          <a:xfrm>
            <a:off x="1837943" y="2830067"/>
            <a:ext cx="563880" cy="646176"/>
          </a:xfrm>
          <a:prstGeom prst="rect">
            <a:avLst/>
          </a:prstGeom>
          <a:blipFill>
            <a:blip r:embed="rId2" cstate="print"/>
            <a:stretch>
              <a:fillRect/>
            </a:stretch>
          </a:blipFill>
        </p:spPr>
        <p:txBody>
          <a:bodyPr wrap="square" lIns="0" tIns="0" rIns="0" bIns="0" rtlCol="0"/>
          <a:lstStyle/>
          <a:p>
            <a:endParaRPr>
              <a:solidFill>
                <a:prstClr val="black"/>
              </a:solidFill>
            </a:endParaRPr>
          </a:p>
        </p:txBody>
      </p:sp>
      <p:sp>
        <p:nvSpPr>
          <p:cNvPr id="2" name="Title 1"/>
          <p:cNvSpPr>
            <a:spLocks noGrp="1"/>
          </p:cNvSpPr>
          <p:nvPr>
            <p:ph type="title"/>
          </p:nvPr>
        </p:nvSpPr>
        <p:spPr>
          <a:xfrm>
            <a:off x="685800" y="304800"/>
            <a:ext cx="5587898" cy="586741"/>
          </a:xfrm>
        </p:spPr>
        <p:txBody>
          <a:bodyPr/>
          <a:lstStyle/>
          <a:p>
            <a:r>
              <a:rPr lang="en-US" sz="3200" b="1" dirty="0" smtClean="0"/>
              <a:t>Operators Precedence in C</a:t>
            </a:r>
            <a:r>
              <a:rPr lang="en-US" b="1" dirty="0" smtClean="0"/>
              <a:t/>
            </a:r>
            <a:br>
              <a:rPr lang="en-US" b="1" dirty="0" smtClean="0"/>
            </a:br>
            <a:endParaRPr lang="en-US" dirty="0"/>
          </a:p>
        </p:txBody>
      </p:sp>
      <p:sp>
        <p:nvSpPr>
          <p:cNvPr id="4" name="Rectangle 3"/>
          <p:cNvSpPr/>
          <p:nvPr/>
        </p:nvSpPr>
        <p:spPr>
          <a:xfrm>
            <a:off x="762000" y="1178142"/>
            <a:ext cx="10515600" cy="4401205"/>
          </a:xfrm>
          <a:prstGeom prst="rect">
            <a:avLst/>
          </a:prstGeom>
        </p:spPr>
        <p:txBody>
          <a:bodyPr wrap="square">
            <a:spAutoFit/>
          </a:bodyPr>
          <a:lstStyle/>
          <a:p>
            <a:pPr marL="457200" indent="-457200" algn="just">
              <a:buFont typeface="Arial" pitchFamily="34" charset="0"/>
              <a:buChar char="•"/>
            </a:pPr>
            <a:r>
              <a:rPr lang="en-US" sz="2800" dirty="0"/>
              <a:t>Operator precedence determines the grouping of terms in an expression and decides how an expression is evaluated. </a:t>
            </a:r>
            <a:endParaRPr lang="en-US" sz="2800" dirty="0" smtClean="0"/>
          </a:p>
          <a:p>
            <a:pPr marL="457200" indent="-457200" algn="just">
              <a:buFont typeface="Arial" pitchFamily="34" charset="0"/>
              <a:buChar char="•"/>
            </a:pPr>
            <a:endParaRPr lang="en-US" sz="2800" dirty="0"/>
          </a:p>
          <a:p>
            <a:pPr marL="457200" indent="-457200" algn="just">
              <a:buFont typeface="Arial" pitchFamily="34" charset="0"/>
              <a:buChar char="•"/>
            </a:pPr>
            <a:r>
              <a:rPr lang="en-US" sz="2800" dirty="0" smtClean="0"/>
              <a:t>Certain </a:t>
            </a:r>
            <a:r>
              <a:rPr lang="en-US" sz="2800" dirty="0"/>
              <a:t>operators have higher precedence than others; for example, the multiplication operator has a higher precedence than the addition </a:t>
            </a:r>
            <a:r>
              <a:rPr lang="en-US" sz="2800" dirty="0" smtClean="0"/>
              <a:t>operator.</a:t>
            </a:r>
          </a:p>
          <a:p>
            <a:pPr marL="457200" indent="-457200" algn="just">
              <a:buFont typeface="Arial" pitchFamily="34" charset="0"/>
              <a:buChar char="•"/>
            </a:pPr>
            <a:endParaRPr lang="en-US" sz="2800" dirty="0"/>
          </a:p>
          <a:p>
            <a:pPr marL="457200" indent="-457200" algn="just">
              <a:buFont typeface="Arial" pitchFamily="34" charset="0"/>
              <a:buChar char="•"/>
            </a:pPr>
            <a:r>
              <a:rPr lang="en-US" sz="2800" dirty="0" smtClean="0"/>
              <a:t>For </a:t>
            </a:r>
            <a:r>
              <a:rPr lang="en-US" sz="2800" dirty="0"/>
              <a:t>example, x = 7 + 3 * 2; here, x is assigned 13, not 20 because operator * has a higher precedence than +, so it first gets multiplied with 3*2 and then adds into 7.</a:t>
            </a:r>
          </a:p>
        </p:txBody>
      </p:sp>
    </p:spTree>
    <p:extLst>
      <p:ext uri="{BB962C8B-B14F-4D97-AF65-F5344CB8AC3E}">
        <p14:creationId xmlns:p14="http://schemas.microsoft.com/office/powerpoint/2010/main" val="11042949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6400800" cy="677108"/>
          </a:xfrm>
        </p:spPr>
        <p:txBody>
          <a:bodyPr/>
          <a:lstStyle/>
          <a:p>
            <a:r>
              <a:rPr lang="en-US" sz="4400" dirty="0" smtClean="0"/>
              <a:t>Exercise</a:t>
            </a:r>
            <a:endParaRPr lang="en-US" sz="4400" dirty="0"/>
          </a:p>
        </p:txBody>
      </p:sp>
      <p:sp>
        <p:nvSpPr>
          <p:cNvPr id="3" name="Text Placeholder 2"/>
          <p:cNvSpPr>
            <a:spLocks noGrp="1"/>
          </p:cNvSpPr>
          <p:nvPr>
            <p:ph type="body" idx="1"/>
          </p:nvPr>
        </p:nvSpPr>
        <p:spPr>
          <a:xfrm>
            <a:off x="304800" y="1752600"/>
            <a:ext cx="11418249" cy="1477328"/>
          </a:xfrm>
        </p:spPr>
        <p:txBody>
          <a:bodyPr/>
          <a:lstStyle/>
          <a:p>
            <a:pPr algn="just"/>
            <a:r>
              <a:rPr lang="en-US" sz="3200" dirty="0"/>
              <a:t>Write a </a:t>
            </a:r>
            <a:r>
              <a:rPr lang="en-US" sz="3200" dirty="0" smtClean="0"/>
              <a:t>C </a:t>
            </a:r>
            <a:r>
              <a:rPr lang="en-US" sz="3200" dirty="0"/>
              <a:t>program that asks the user to enter </a:t>
            </a:r>
            <a:r>
              <a:rPr lang="en-US" sz="3200" dirty="0" smtClean="0"/>
              <a:t>his/her first name, last name, gender and age. </a:t>
            </a:r>
            <a:r>
              <a:rPr lang="en-US" sz="3200" dirty="0"/>
              <a:t>The program then </a:t>
            </a:r>
            <a:r>
              <a:rPr lang="en-US" sz="3200" dirty="0" smtClean="0"/>
              <a:t>should print a summary of what a user entered.</a:t>
            </a:r>
            <a:endParaRPr lang="en-US" sz="3200" dirty="0"/>
          </a:p>
        </p:txBody>
      </p:sp>
    </p:spTree>
    <p:extLst>
      <p:ext uri="{BB962C8B-B14F-4D97-AF65-F5344CB8AC3E}">
        <p14:creationId xmlns:p14="http://schemas.microsoft.com/office/powerpoint/2010/main" val="8168488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529</TotalTime>
  <Words>3354</Words>
  <Application>Microsoft Office PowerPoint</Application>
  <PresentationFormat>Custom</PresentationFormat>
  <Paragraphs>495</Paragraphs>
  <Slides>57</Slides>
  <Notes>0</Notes>
  <HiddenSlides>0</HiddenSlides>
  <MMClips>0</MMClips>
  <ScaleCrop>false</ScaleCrop>
  <HeadingPairs>
    <vt:vector size="4" baseType="variant">
      <vt:variant>
        <vt:lpstr>Theme</vt:lpstr>
      </vt:variant>
      <vt:variant>
        <vt:i4>4</vt:i4>
      </vt:variant>
      <vt:variant>
        <vt:lpstr>Slide Titles</vt:lpstr>
      </vt:variant>
      <vt:variant>
        <vt:i4>57</vt:i4>
      </vt:variant>
    </vt:vector>
  </HeadingPairs>
  <TitlesOfParts>
    <vt:vector size="61" baseType="lpstr">
      <vt:lpstr>Office Theme</vt:lpstr>
      <vt:lpstr>1_Office Theme</vt:lpstr>
      <vt:lpstr>2_Office Theme</vt:lpstr>
      <vt:lpstr>3_Office Theme</vt:lpstr>
      <vt:lpstr>Programming in C BICT 1202</vt:lpstr>
      <vt:lpstr>C Language Overview</vt:lpstr>
      <vt:lpstr>Characteristics of C programming</vt:lpstr>
      <vt:lpstr>C Programs</vt:lpstr>
      <vt:lpstr>C Environment Setup</vt:lpstr>
      <vt:lpstr>C Environment Setup</vt:lpstr>
      <vt:lpstr>C Program Structure</vt:lpstr>
      <vt:lpstr>PowerPoint Presentation</vt:lpstr>
      <vt:lpstr>PowerPoint Presentation</vt:lpstr>
      <vt:lpstr>PowerPoint Presentation</vt:lpstr>
      <vt:lpstr>PowerPoint Presentation</vt:lpstr>
      <vt:lpstr>PowerPoint Presentation</vt:lpstr>
      <vt:lpstr>PowerPoint Presentation</vt:lpstr>
      <vt:lpstr>C Basic Syntax</vt:lpstr>
      <vt:lpstr>C Basic Syntax</vt:lpstr>
      <vt:lpstr>Semicolons ;</vt:lpstr>
      <vt:lpstr>Comments</vt:lpstr>
      <vt:lpstr>Comments</vt:lpstr>
      <vt:lpstr>Identifiers</vt:lpstr>
      <vt:lpstr>Keywords</vt:lpstr>
      <vt:lpstr>Keywords</vt:lpstr>
      <vt:lpstr>Whitespace in C</vt:lpstr>
      <vt:lpstr>C Data Types</vt:lpstr>
      <vt:lpstr>PowerPoint Presentation</vt:lpstr>
      <vt:lpstr>C Variables</vt:lpstr>
      <vt:lpstr>Variable Definition in C:</vt:lpstr>
      <vt:lpstr>Variable Initialisation</vt:lpstr>
      <vt:lpstr>Example</vt:lpstr>
      <vt:lpstr>PowerPoint Presentation</vt:lpstr>
      <vt:lpstr>Lvalues and Rvalues in C</vt:lpstr>
      <vt:lpstr>C Constants and Literals</vt:lpstr>
      <vt:lpstr>Character constants</vt:lpstr>
      <vt:lpstr>PowerPoint Presentation</vt:lpstr>
      <vt:lpstr>Following is the example to show few escape sequence characters:</vt:lpstr>
      <vt:lpstr>String literals</vt:lpstr>
      <vt:lpstr>Defining Constants</vt:lpstr>
      <vt:lpstr>The #define Preprocessor</vt:lpstr>
      <vt:lpstr>The const Keyword</vt:lpstr>
      <vt:lpstr>Storage Class</vt:lpstr>
      <vt:lpstr>The auto Storage Class</vt:lpstr>
      <vt:lpstr>The register Storage Class</vt:lpstr>
      <vt:lpstr>The static Storage Class </vt:lpstr>
      <vt:lpstr>The extern Storage Class</vt:lpstr>
      <vt:lpstr>The extern Storage Class</vt:lpstr>
      <vt:lpstr>The extern Storage Class</vt:lpstr>
      <vt:lpstr>C - Operators</vt:lpstr>
      <vt:lpstr>Arithmetic Operators</vt:lpstr>
      <vt:lpstr>Incremental / Decrement Operators</vt:lpstr>
      <vt:lpstr>PowerPoint Presentation</vt:lpstr>
      <vt:lpstr>Relational Operators</vt:lpstr>
      <vt:lpstr>Relational Operators</vt:lpstr>
      <vt:lpstr>Logical Operators</vt:lpstr>
      <vt:lpstr>Assignment Operators</vt:lpstr>
      <vt:lpstr>Assignment Operators</vt:lpstr>
      <vt:lpstr>Misc Operators</vt:lpstr>
      <vt:lpstr>Operators Precedence in C </vt:lpstr>
      <vt:lpstr>Exercise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in C BICT 1202</dc:title>
  <dc:creator>Windows User</dc:creator>
  <cp:lastModifiedBy>CHIMANGO-NYASULU</cp:lastModifiedBy>
  <cp:revision>58</cp:revision>
  <dcterms:created xsi:type="dcterms:W3CDTF">2018-04-23T09:46:24Z</dcterms:created>
  <dcterms:modified xsi:type="dcterms:W3CDTF">2018-05-04T08:09:45Z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2017-11-11T00:00:00Z</vt:filetime>
  </property>
  <property fmtid="{D5CDD505-2E9C-101B-9397-08002B2CF9AE}" pid="3" name="Creator">
    <vt:lpwstr>Microsoft® PowerPoint® 2016</vt:lpwstr>
  </property>
  <property fmtid="{D5CDD505-2E9C-101B-9397-08002B2CF9AE}" pid="4" name="LastSaved">
    <vt:filetime>2018-04-23T00:00:00Z</vt:filetime>
  </property>
</Properties>
</file>