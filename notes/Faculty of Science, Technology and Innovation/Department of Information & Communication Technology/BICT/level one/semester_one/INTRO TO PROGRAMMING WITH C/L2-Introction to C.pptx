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sldIdLst>
    <p:sldId id="257" r:id="rId2"/>
    <p:sldId id="260" r:id="rId3"/>
    <p:sldId id="261" r:id="rId4"/>
    <p:sldId id="263" r:id="rId5"/>
    <p:sldId id="264" r:id="rId6"/>
    <p:sldId id="266" r:id="rId7"/>
    <p:sldId id="262" r:id="rId8"/>
    <p:sldId id="265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8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wima Mkamanga" userId="70c59b1a-5395-457b-a2f5-76eae1982732" providerId="ADAL" clId="{BFA199E8-2251-4834-AD03-E536796A36B7}"/>
    <pc:docChg chg="custSel modSld">
      <pc:chgData name="Khwima Mkamanga" userId="70c59b1a-5395-457b-a2f5-76eae1982732" providerId="ADAL" clId="{BFA199E8-2251-4834-AD03-E536796A36B7}" dt="2023-05-07T17:41:17.859" v="0" actId="478"/>
      <pc:docMkLst>
        <pc:docMk/>
      </pc:docMkLst>
      <pc:sldChg chg="delSp mod">
        <pc:chgData name="Khwima Mkamanga" userId="70c59b1a-5395-457b-a2f5-76eae1982732" providerId="ADAL" clId="{BFA199E8-2251-4834-AD03-E536796A36B7}" dt="2023-05-07T17:41:17.859" v="0" actId="478"/>
        <pc:sldMkLst>
          <pc:docMk/>
          <pc:sldMk cId="4043737824" sldId="257"/>
        </pc:sldMkLst>
        <pc:picChg chg="del">
          <ac:chgData name="Khwima Mkamanga" userId="70c59b1a-5395-457b-a2f5-76eae1982732" providerId="ADAL" clId="{BFA199E8-2251-4834-AD03-E536796A36B7}" dt="2023-05-07T17:41:17.859" v="0" actId="478"/>
          <ac:picMkLst>
            <pc:docMk/>
            <pc:sldMk cId="4043737824" sldId="257"/>
            <ac:picMk id="5" creationId="{282CF6DD-7FE8-4063-9551-1B7BBCE92AB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5/7/2023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5/7/2023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5/7/2023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5/7/2023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5/7/2023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5/7/2023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5/7/2023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5/7/2023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5/7/2023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5/7/2023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5/7/2023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5/7/2023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09098" y="3335162"/>
            <a:ext cx="6253317" cy="936342"/>
          </a:xfrm>
        </p:spPr>
        <p:txBody>
          <a:bodyPr>
            <a:normAutofit/>
          </a:bodyPr>
          <a:lstStyle/>
          <a:p>
            <a:r>
              <a:rPr lang="en-US" sz="5400" dirty="0"/>
              <a:t>Introduction to 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sz="1400" cap="none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Introduction to Programming with C - </a:t>
            </a:r>
            <a:r>
              <a:rPr lang="en-US" sz="1400" cap="none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Khwimah</a:t>
            </a:r>
            <a:r>
              <a:rPr lang="en-US" sz="1400" cap="none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400" cap="none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Mkamanga</a:t>
            </a:r>
            <a:endParaRPr lang="en-US" sz="1400" cap="none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B8D5EB12-C015-9240-6C04-AA34E7B25FD6}"/>
              </a:ext>
            </a:extLst>
          </p:cNvPr>
          <p:cNvSpPr txBox="1">
            <a:spLocks/>
          </p:cNvSpPr>
          <p:nvPr/>
        </p:nvSpPr>
        <p:spPr>
          <a:xfrm>
            <a:off x="5209098" y="2235922"/>
            <a:ext cx="6073418" cy="10570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i="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Chapter 02</a:t>
            </a:r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C29E7-84F9-21D7-35E7-EB608A001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  <a:endParaRPr lang="en-M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6E5AC-4EE4-6773-B0F0-83168CCE2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In  this chapter you will learn about:</a:t>
            </a:r>
            <a:endParaRPr lang="en-US" dirty="0"/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Characteristics of C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Compilers and Interpreters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Lexical Conventions</a:t>
            </a:r>
          </a:p>
        </p:txBody>
      </p:sp>
    </p:spTree>
    <p:extLst>
      <p:ext uri="{BB962C8B-B14F-4D97-AF65-F5344CB8AC3E}">
        <p14:creationId xmlns:p14="http://schemas.microsoft.com/office/powerpoint/2010/main" val="4288387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C29E7-84F9-21D7-35E7-EB608A001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C</a:t>
            </a:r>
            <a:endParaRPr lang="en-M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6E5AC-4EE4-6773-B0F0-83168CCE2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chemeClr val="tx2"/>
                </a:solidFill>
                <a:effectLst/>
                <a:latin typeface="Söhne"/>
              </a:rPr>
              <a:t>C is a high-level language that was developed in the 1970s by Dennis Ritchie at Bell Labs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chemeClr val="tx2"/>
                </a:solidFill>
                <a:effectLst/>
                <a:latin typeface="Söhne"/>
              </a:rPr>
              <a:t>It is a general-purpose language that can be used for a wide variety of programming tasks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chemeClr val="tx2"/>
                </a:solidFill>
                <a:effectLst/>
                <a:latin typeface="Söhne"/>
              </a:rPr>
              <a:t>C is a structured language that uses control structures to control the flow of a program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chemeClr val="tx2"/>
                </a:solidFill>
                <a:effectLst/>
                <a:latin typeface="Söhne"/>
              </a:rPr>
              <a:t>It is a compiled language, which means that the source code is translated into machine code before it is executed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chemeClr val="tx2"/>
                </a:solidFill>
                <a:effectLst/>
                <a:latin typeface="Söhne"/>
              </a:rPr>
              <a:t>C is a powerful language that allows for low-level system programming and high-level application programming</a:t>
            </a:r>
          </a:p>
          <a:p>
            <a:pPr marL="578358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139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C29E7-84F9-21D7-35E7-EB608A001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C </a:t>
            </a:r>
            <a:r>
              <a:rPr lang="en-US" sz="1600" i="1" dirty="0"/>
              <a:t>(continued)</a:t>
            </a:r>
            <a:endParaRPr lang="en-MW" sz="1600" i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D59883-83F6-4BE6-9830-0C2BDEAE8B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754" y="2578893"/>
            <a:ext cx="9959926" cy="332953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24C1EE-3CD5-F8DA-6182-21EADB19F690}"/>
              </a:ext>
            </a:extLst>
          </p:cNvPr>
          <p:cNvSpPr txBox="1"/>
          <p:nvPr/>
        </p:nvSpPr>
        <p:spPr>
          <a:xfrm>
            <a:off x="1195754" y="2110154"/>
            <a:ext cx="9959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simple C program</a:t>
            </a:r>
            <a:endParaRPr lang="en-MW" dirty="0"/>
          </a:p>
        </p:txBody>
      </p:sp>
    </p:spTree>
    <p:extLst>
      <p:ext uri="{BB962C8B-B14F-4D97-AF65-F5344CB8AC3E}">
        <p14:creationId xmlns:p14="http://schemas.microsoft.com/office/powerpoint/2010/main" val="1888963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C29E7-84F9-21D7-35E7-EB608A001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C </a:t>
            </a:r>
            <a:r>
              <a:rPr lang="en-US" sz="1600" i="1" dirty="0"/>
              <a:t>(continued)</a:t>
            </a:r>
            <a:endParaRPr lang="en-MW" sz="1600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B7E8E1-34AB-D178-8D34-36814F80D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The </a:t>
            </a:r>
            <a:r>
              <a:rPr lang="en-US" sz="2000" b="1" dirty="0"/>
              <a:t>#include &lt;</a:t>
            </a:r>
            <a:r>
              <a:rPr lang="en-US" sz="2000" b="1" dirty="0" err="1"/>
              <a:t>stdio.h</a:t>
            </a:r>
            <a:r>
              <a:rPr lang="en-US" sz="2000" b="1" dirty="0"/>
              <a:t>&gt; </a:t>
            </a:r>
            <a:r>
              <a:rPr lang="en-US" sz="2000" dirty="0"/>
              <a:t>line at the top of the program is a preprocessor directive that tells the compiler to include the standard input/output library in the program.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The </a:t>
            </a:r>
            <a:r>
              <a:rPr lang="en-US" sz="2000" b="1" dirty="0"/>
              <a:t>int main() { ... } </a:t>
            </a:r>
            <a:r>
              <a:rPr lang="en-US" sz="2000" dirty="0"/>
              <a:t>section is the main function of the program, and it is where the program begins execution. The </a:t>
            </a:r>
            <a:r>
              <a:rPr lang="en-US" sz="2000" b="1" dirty="0" err="1"/>
              <a:t>printf</a:t>
            </a:r>
            <a:r>
              <a:rPr lang="en-US" sz="2000" b="1" dirty="0"/>
              <a:t>("Hello, World!\n");</a:t>
            </a:r>
            <a:r>
              <a:rPr lang="en-US" sz="2000" dirty="0"/>
              <a:t> line uses the </a:t>
            </a:r>
            <a:r>
              <a:rPr lang="en-US" sz="2000" b="1" dirty="0" err="1"/>
              <a:t>printf</a:t>
            </a:r>
            <a:r>
              <a:rPr lang="en-US" sz="2000" dirty="0"/>
              <a:t> function to print the string "Hello, World!" to the console. The </a:t>
            </a:r>
            <a:r>
              <a:rPr lang="en-US" sz="2000" b="1" dirty="0"/>
              <a:t>\n</a:t>
            </a:r>
            <a:r>
              <a:rPr lang="en-US" sz="2000" dirty="0"/>
              <a:t> at the end of the string is a newline character, which adds a line break after the text.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The </a:t>
            </a:r>
            <a:r>
              <a:rPr lang="en-US" sz="2000" b="1" dirty="0"/>
              <a:t>return 0;</a:t>
            </a:r>
            <a:r>
              <a:rPr lang="en-US" sz="2000" dirty="0"/>
              <a:t> line exits the program with a return value of 0, which indicates that the program ran successfully.</a:t>
            </a:r>
            <a:endParaRPr lang="en-MW" sz="2000" dirty="0"/>
          </a:p>
        </p:txBody>
      </p:sp>
    </p:spTree>
    <p:extLst>
      <p:ext uri="{BB962C8B-B14F-4D97-AF65-F5344CB8AC3E}">
        <p14:creationId xmlns:p14="http://schemas.microsoft.com/office/powerpoint/2010/main" val="217375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C29E7-84F9-21D7-35E7-EB608A001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Characteristics of C – Use cases  </a:t>
            </a:r>
            <a:r>
              <a:rPr lang="en-US" sz="1600" i="1" dirty="0"/>
              <a:t>(continued)</a:t>
            </a:r>
            <a:endParaRPr lang="en-MW" sz="1600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B7E8E1-34AB-D178-8D34-36814F80D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Söhne"/>
              </a:rPr>
              <a:t>C is a versatile programming language used in a wide range of applications:</a:t>
            </a:r>
          </a:p>
          <a:p>
            <a:pPr marL="92583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Söhne"/>
              </a:rPr>
              <a:t>Operating systems, device drivers, and compilers</a:t>
            </a:r>
          </a:p>
          <a:p>
            <a:pPr marL="92583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Söhne"/>
              </a:rPr>
              <a:t>Embedded systems, networking, and gaming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Söhne"/>
              </a:rPr>
              <a:t>C's low-level nature and direct access to system resources make it ideal for developing high-performance, low-level applications.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Söhne"/>
              </a:rPr>
              <a:t>C's continued popularity and widespread use in a variety of industries make it a valuable skill for programmers to learn.</a:t>
            </a:r>
          </a:p>
        </p:txBody>
      </p:sp>
    </p:spTree>
    <p:extLst>
      <p:ext uri="{BB962C8B-B14F-4D97-AF65-F5344CB8AC3E}">
        <p14:creationId xmlns:p14="http://schemas.microsoft.com/office/powerpoint/2010/main" val="3872718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C29E7-84F9-21D7-35E7-EB608A001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Compilers and Interpreters</a:t>
            </a:r>
            <a:endParaRPr lang="en-M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6E5AC-4EE4-6773-B0F0-83168CCE2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A compiler is a program that translates source code into machine code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The compiler goes through several stages to produce the machine code, including lexical analysis, syntax analysis, semantic analysis, code generation, and optimization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Once the machine code is produced, it can be executed directly by the computer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An interpreter is a program that executes source code directly, without translating it into machine code first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The interpreter goes through the same stages as a compiler, but it executes the code as it is being translated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chemeClr val="tx2"/>
                </a:solidFill>
                <a:effectLst/>
                <a:latin typeface="Söhne"/>
              </a:rPr>
              <a:t>Interpreted languages are often slower than compiled languages, but they are easier to debug and modify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674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C29E7-84F9-21D7-35E7-EB608A001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Lexical conventions</a:t>
            </a:r>
            <a:endParaRPr lang="en-M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6E5AC-4EE4-6773-B0F0-83168CCE2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Söhne"/>
              </a:rPr>
              <a:t>Lexical conventions refer to the rules that govern the structure of the source code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Söhne"/>
              </a:rPr>
              <a:t>C uses a set of reserved words and symbols that have specific meanings in the language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Söhne"/>
              </a:rPr>
              <a:t>Some examples of reserved words in C include int, float, char, if, else, while, and for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Söhne"/>
              </a:rPr>
              <a:t>C also uses symbols like +, -, *, /, =, and ; to perform operations and control the flow of a program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Söhne"/>
              </a:rPr>
              <a:t>The syntax of C is strict, and any errors in the structure of the code will result in a compilation error</a:t>
            </a:r>
          </a:p>
        </p:txBody>
      </p:sp>
    </p:spTree>
    <p:extLst>
      <p:ext uri="{BB962C8B-B14F-4D97-AF65-F5344CB8AC3E}">
        <p14:creationId xmlns:p14="http://schemas.microsoft.com/office/powerpoint/2010/main" val="3666706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C29E7-84F9-21D7-35E7-EB608A001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Lexical conventions – Code Example  </a:t>
            </a:r>
            <a:r>
              <a:rPr lang="en-US" sz="1600" i="1" dirty="0"/>
              <a:t>(continued)</a:t>
            </a:r>
            <a:endParaRPr lang="en-MW" sz="1600" i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E1B36F-9BC2-D18D-60A9-259024D32C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995377"/>
            <a:ext cx="10058400" cy="252716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E50E44-E689-70C4-FD13-1596C84AD19D}"/>
              </a:ext>
            </a:extLst>
          </p:cNvPr>
          <p:cNvSpPr txBox="1"/>
          <p:nvPr/>
        </p:nvSpPr>
        <p:spPr>
          <a:xfrm>
            <a:off x="1097280" y="4710216"/>
            <a:ext cx="1012170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600" b="0" i="0" dirty="0">
                <a:effectLst/>
                <a:latin typeface="Söhne"/>
              </a:rPr>
              <a:t>This code snippet demonstrates some of the lexical conventions of C programming language, including keywords, identifiers, operators, delimiters, literals, and comments.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600" b="0" i="0" dirty="0">
                <a:effectLst/>
                <a:latin typeface="Söhne"/>
              </a:rPr>
              <a:t>The code example is a simple "Hello, World!" program that declares and initializes a variable, outputs a string to the console, and outputs the variable value to the console.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600" b="0" i="0" dirty="0">
                <a:effectLst/>
                <a:latin typeface="Söhne"/>
              </a:rPr>
              <a:t>By studying the lexical conventions of C, programmers can gain a better understanding of how the language works and how to write correct and efficient code.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MW" sz="1600" dirty="0"/>
          </a:p>
        </p:txBody>
      </p:sp>
    </p:spTree>
    <p:extLst>
      <p:ext uri="{BB962C8B-B14F-4D97-AF65-F5344CB8AC3E}">
        <p14:creationId xmlns:p14="http://schemas.microsoft.com/office/powerpoint/2010/main" val="2172010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C29E7-84F9-21D7-35E7-EB608A001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Lexical conventions – Code Example  </a:t>
            </a:r>
            <a:r>
              <a:rPr lang="en-US" sz="1600" i="1" dirty="0"/>
              <a:t>(continued)</a:t>
            </a:r>
            <a:endParaRPr lang="en-MW" sz="1600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54870F-D262-D63B-B1BE-EA6921E97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This code snippet demonstrates the following lexical conventions of C: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Keywords: int, return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Identifiers: main, x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Operators: =, +, -, *, /, %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Delimiters: ;, {}, ()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Literals: 10, "Hello, World!\n"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Comments: // variable declaration and initialization, // output string to console, // output variable value to console</a:t>
            </a:r>
            <a:endParaRPr lang="en-MW" sz="2000" dirty="0"/>
          </a:p>
        </p:txBody>
      </p:sp>
    </p:spTree>
    <p:extLst>
      <p:ext uri="{BB962C8B-B14F-4D97-AF65-F5344CB8AC3E}">
        <p14:creationId xmlns:p14="http://schemas.microsoft.com/office/powerpoint/2010/main" val="1148308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C29E7-84F9-21D7-35E7-EB608A001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Summary</a:t>
            </a:r>
            <a:endParaRPr lang="en-MW" sz="1600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54870F-D262-D63B-B1BE-EA6921E97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Söhne"/>
              </a:rPr>
              <a:t>In this chapter, we covered the characteristics of C, including its structure, versatility, and power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Söhne"/>
              </a:rPr>
              <a:t>We also discussed the differences between compilers and interpreters, and how they translate source code into machine code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Söhne"/>
              </a:rPr>
              <a:t>Finally, we looked at the lexical conventions of C, including reserved words and symbols, and the strict syntax rules that govern the structure of the code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MW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505758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769520F8-BFE5-4C8C-A7AA-375C025A91CE}" vid="{AEAFD717-D3C8-4034-8F7E-D5220B0CCEB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{A8E0E85B-6845-4FF8-B42E-A7BA2938720B}tf56160789_win32</Template>
  <TotalTime>263</TotalTime>
  <Words>797</Words>
  <Application>Microsoft Office PowerPoint</Application>
  <PresentationFormat>Widescreen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Bookman Old Style</vt:lpstr>
      <vt:lpstr>Calibri</vt:lpstr>
      <vt:lpstr>Franklin Gothic Book</vt:lpstr>
      <vt:lpstr>Söhne</vt:lpstr>
      <vt:lpstr>Wingdings</vt:lpstr>
      <vt:lpstr>1_RetrospectVTI</vt:lpstr>
      <vt:lpstr>Introduction to C</vt:lpstr>
      <vt:lpstr>Learning Objectives</vt:lpstr>
      <vt:lpstr>Characteristics of C</vt:lpstr>
      <vt:lpstr>Characteristics of C (continued)</vt:lpstr>
      <vt:lpstr>Characteristics of C (continued)</vt:lpstr>
      <vt:lpstr>Characteristics of C – Use cases  (continued)</vt:lpstr>
      <vt:lpstr>Compilers and Interpreters</vt:lpstr>
      <vt:lpstr>Lexical conventions</vt:lpstr>
      <vt:lpstr>Lexical conventions – Code Example  (continued)</vt:lpstr>
      <vt:lpstr>Lexical conventions – Code Example  (continued)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</dc:title>
  <dc:creator>Lloyd Chunga</dc:creator>
  <cp:lastModifiedBy>Khwima Mkamanga</cp:lastModifiedBy>
  <cp:revision>1</cp:revision>
  <dcterms:created xsi:type="dcterms:W3CDTF">2023-05-01T20:05:33Z</dcterms:created>
  <dcterms:modified xsi:type="dcterms:W3CDTF">2023-05-07T17:41:26Z</dcterms:modified>
</cp:coreProperties>
</file>