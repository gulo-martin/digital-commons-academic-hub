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725" r:id="rId4"/>
  </p:sldMasterIdLst>
  <p:notesMasterIdLst>
    <p:notesMasterId r:id="rId16"/>
  </p:notesMasterIdLst>
  <p:handoutMasterIdLst>
    <p:handoutMasterId r:id="rId17"/>
  </p:handoutMasterIdLst>
  <p:sldIdLst>
    <p:sldId id="376" r:id="rId5"/>
    <p:sldId id="378" r:id="rId6"/>
    <p:sldId id="390" r:id="rId7"/>
    <p:sldId id="381" r:id="rId8"/>
    <p:sldId id="389" r:id="rId9"/>
    <p:sldId id="379" r:id="rId10"/>
    <p:sldId id="391" r:id="rId11"/>
    <p:sldId id="392" r:id="rId12"/>
    <p:sldId id="393" r:id="rId13"/>
    <p:sldId id="384" r:id="rId14"/>
    <p:sldId id="38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D0D"/>
    <a:srgbClr val="2C4A52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53" autoAdjust="0"/>
    <p:restoredTop sz="95388" autoAdjust="0"/>
  </p:normalViewPr>
  <p:slideViewPr>
    <p:cSldViewPr snapToGrid="0" showGuides="1">
      <p:cViewPr varScale="1">
        <p:scale>
          <a:sx n="62" d="100"/>
          <a:sy n="62" d="100"/>
        </p:scale>
        <p:origin x="420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5" d="100"/>
          <a:sy n="65" d="100"/>
        </p:scale>
        <p:origin x="3082" y="3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69671B-947A-44A3-A764-A91E66D469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B23CC-4610-41C4-A0CF-67A30700C4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7299BE-0F96-4D8C-8AC3-AFAE1A841C66}" type="datetimeFigureOut">
              <a:rPr lang="en-US" smtClean="0"/>
              <a:t>1/16/2024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4FC55-2324-40BC-8420-15EC835D95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EC604-E5A5-4A58-AC5A-211F83D37C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3B048B-0EBA-466F-928F-37073F3BFB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507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4692AC-01A2-4EFF-966B-504F28E82D7A}" type="datetimeFigureOut">
              <a:rPr lang="en-US" noProof="0" smtClean="0"/>
              <a:t>1/16/2024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ED498D-6977-40EC-8E5E-7EB644D5E75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2264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8711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66140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89329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96594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022677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85855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19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7FAC3601-9744-9840-0229-E000CCFBE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2131" y="-30007"/>
            <a:ext cx="6064493" cy="687988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119890" y="723440"/>
            <a:ext cx="4323426" cy="2579052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spc="-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128152" y="5248834"/>
            <a:ext cx="4323426" cy="1008925"/>
          </a:xfrm>
        </p:spPr>
        <p:txBody>
          <a:bodyPr lIns="91440" rIns="9144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cap="all" spc="1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19274" y="3373515"/>
            <a:ext cx="4323426" cy="1008926"/>
          </a:xfrm>
        </p:spPr>
        <p:txBody>
          <a:bodyPr lIns="91440" rIns="91440">
            <a:noAutofit/>
          </a:bodyPr>
          <a:lstStyle>
            <a:lvl1pPr marL="0" indent="0">
              <a:buNone/>
              <a:defRPr sz="6000" b="1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###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ADF7228-F4CB-A1B9-79EA-632405316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4559556" y="-10665"/>
            <a:ext cx="1930144" cy="687729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3164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7EC4C7D-9F32-3DD5-0898-0A64AB3E48C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3CD56122-AE93-63D3-9B51-14AA353EC0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80B457C0-C5F0-38B3-A5A4-4CF83DA5DC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A608DDE2-7690-8BBF-1E41-BF40F26AF1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4A70176D-1CA9-F362-DA0D-140ADC80AB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0B557568-DAFA-B892-D220-F9088C690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5920ECF3-A4B7-A9A1-C23F-56EDD775AC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0A92B7FF-F522-FFD6-3A37-5C7F5CB3AE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718010FC-71DC-C4A0-BBE6-35E03F05FE2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2512EE29-359B-8558-2A40-DB8D4D2566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70CCBBEB-A224-6D89-748B-8053ED48B2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473709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615541" y="715654"/>
            <a:ext cx="4786877" cy="151831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605708" y="2431477"/>
            <a:ext cx="4786877" cy="763899"/>
          </a:xfrm>
        </p:spPr>
        <p:txBody>
          <a:bodyPr lIns="91440" tIns="91440" rIns="91440" bIns="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cap="none" spc="0" baseline="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05708" y="3348617"/>
            <a:ext cx="2699066" cy="2569866"/>
          </a:xfrm>
        </p:spPr>
        <p:txBody>
          <a:bodyPr lIns="91440" tIns="0">
            <a:normAutofit/>
          </a:bodyPr>
          <a:lstStyle>
            <a:lvl1pPr marL="274320" indent="-274320">
              <a:spcAft>
                <a:spcPts val="600"/>
              </a:spcAft>
              <a:buFont typeface="Courier New" panose="02070309020205020404" pitchFamily="49" charset="0"/>
              <a:buChar char="o"/>
              <a:defRPr sz="1400">
                <a:solidFill>
                  <a:schemeClr val="bg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46FE873-5DC1-BDE4-557B-F18695033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4426666" y="5060315"/>
            <a:ext cx="927943" cy="180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767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524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EF88AD-4B54-9DC5-D315-825BE9FCEEF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96322" y="2252076"/>
            <a:ext cx="5797550" cy="30517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955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(Single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408820"/>
            <a:ext cx="8935507" cy="94946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0D7E9A-1E17-C6A0-31A6-F6F620FF9E8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96322" y="1986061"/>
            <a:ext cx="5797550" cy="4015244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90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524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6322" y="2252394"/>
            <a:ext cx="5797518" cy="2532966"/>
          </a:xfrm>
        </p:spPr>
        <p:txBody>
          <a:bodyPr lIns="91440" bIns="0" anchor="t">
            <a:normAutofit/>
          </a:bodyPr>
          <a:lstStyle>
            <a:lvl1pPr marL="0" indent="0">
              <a:spcBef>
                <a:spcPts val="600"/>
              </a:spcBef>
              <a:spcAft>
                <a:spcPts val="1800"/>
              </a:spcAft>
              <a:buNone/>
              <a:defRPr sz="1400"/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38829F9-FA07-E84B-ED85-A3958046C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4430" y="5008931"/>
            <a:ext cx="3842918" cy="43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979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8319A446-9DC9-77CB-F6E0-D5CC1C0C8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233290" y="0"/>
            <a:ext cx="2740011" cy="6850028"/>
            <a:chOff x="8233290" y="0"/>
            <a:chExt cx="2740011" cy="6850028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E51D0537-C777-0B20-2AE3-6DD522E242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33290" y="0"/>
              <a:ext cx="2740011" cy="6850028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64F46914-ADE7-0BE9-0C39-280FE8F3B9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01841" y="4372451"/>
              <a:ext cx="878334" cy="1705001"/>
            </a:xfrm>
            <a:prstGeom prst="rect">
              <a:avLst/>
            </a:prstGeom>
          </p:spPr>
        </p:pic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D27DC4C-0653-4DB5-ABFE-50764C59AD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95403" y="1894376"/>
            <a:ext cx="2847975" cy="339089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7368" y="270880"/>
            <a:ext cx="11297264" cy="1524000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18352" y="1894376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7E0A2EC-564E-BDA2-2E74-CEA1D54B10C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239419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DA7890-E49A-5536-1939-2B9589558E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05817" y="3989405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4A1E2517-8244-627B-E6B6-4EF4FEDCA1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1092" y="1894376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054FC79A-A756-FC67-CBF8-0078E8F8C1A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72159" y="2954840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BE00383-F339-E668-9399-D2DC9718C3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38557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1A788CA-392F-F29F-08CD-FBCB24BA79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95403" y="1894376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6E7FBECC-1456-B16C-B42F-61BAE986F27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916470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84A0CD0-C9DF-C8B2-FEE6-05F2F04032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2868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012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8319A446-9DC9-77CB-F6E0-D5CC1C0C8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233290" y="0"/>
            <a:ext cx="2740011" cy="6850028"/>
            <a:chOff x="8233290" y="0"/>
            <a:chExt cx="2740011" cy="6850028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E51D0537-C777-0B20-2AE3-6DD522E242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33290" y="0"/>
              <a:ext cx="2740011" cy="6850028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64F46914-ADE7-0BE9-0C39-280FE8F3B9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01841" y="4372451"/>
              <a:ext cx="878334" cy="1705001"/>
            </a:xfrm>
            <a:prstGeom prst="rect">
              <a:avLst/>
            </a:prstGeom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30CF8376-A762-054E-EA3C-FF9430AD9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099" y="286603"/>
            <a:ext cx="11373803" cy="1450757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18352" y="1894376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7E0A2EC-564E-BDA2-2E74-CEA1D54B10C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239419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DA7890-E49A-5536-1939-2B9589558E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05817" y="3989405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4A1E2517-8244-627B-E6B6-4EF4FEDCA1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1092" y="1894376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054FC79A-A756-FC67-CBF8-0078E8F8C1A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72159" y="2954840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BE00383-F339-E668-9399-D2DC9718C3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38557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1A788CA-392F-F29F-08CD-FBCB24BA79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95403" y="1894376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6E7FBECC-1456-B16C-B42F-61BAE986F27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916470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84A0CD0-C9DF-C8B2-FEE6-05F2F04032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2868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17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sson Summar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99788" y="353962"/>
            <a:ext cx="4786877" cy="98322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99788" y="1517074"/>
            <a:ext cx="4786877" cy="763899"/>
          </a:xfrm>
        </p:spPr>
        <p:txBody>
          <a:bodyPr lIns="91440" tIns="91440" rIns="91440" bIns="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cap="none" spc="0" baseline="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9788" y="2341261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BC9EC3-C68A-CC9E-C220-8D585A8B43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99789" y="2753247"/>
            <a:ext cx="3852296" cy="817345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46FE873-5DC1-BDE4-557B-F18695033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4426666" y="5060315"/>
            <a:ext cx="927943" cy="1801301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E3FA6A1-74D7-3926-C0BF-FECA6C0B03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99788" y="3563285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487AC4B-B367-6BC8-2DCA-61A43B3264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99788" y="3982578"/>
            <a:ext cx="3860546" cy="529133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4E9A44E-6692-ACFA-4EB0-368490BF3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9788" y="4564818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B0B6725-F963-746B-381A-0F998539A0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99788" y="4975138"/>
            <a:ext cx="3860546" cy="852906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19208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533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/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372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760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819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226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D5142E-2E7B-1488-E5DB-290186766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82569" y="2242"/>
            <a:ext cx="6806909" cy="6862481"/>
            <a:chOff x="5382569" y="2242"/>
            <a:chExt cx="6806909" cy="6862481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02299C1B-36CA-1E4A-2BE2-A212B68067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40328" y="2242"/>
              <a:ext cx="6049150" cy="6862481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37875AA7-8584-C85D-D920-B6F361221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5382569" y="5060315"/>
              <a:ext cx="927943" cy="180130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970326" y="1679216"/>
            <a:ext cx="4786877" cy="151831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spc="1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Add title 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9499" y="-2236"/>
            <a:ext cx="6814124" cy="687109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6814124"/>
              <a:gd name="connsiteY0" fmla="*/ 0 h 6897807"/>
              <a:gd name="connsiteX1" fmla="*/ 6814124 w 6814124"/>
              <a:gd name="connsiteY1" fmla="*/ 9870 h 6897807"/>
              <a:gd name="connsiteX2" fmla="*/ 6063554 w 6814124"/>
              <a:gd name="connsiteY2" fmla="*/ 2785785 h 6897807"/>
              <a:gd name="connsiteX3" fmla="*/ 5827334 w 6814124"/>
              <a:gd name="connsiteY3" fmla="*/ 2972475 h 6897807"/>
              <a:gd name="connsiteX4" fmla="*/ 5728274 w 6814124"/>
              <a:gd name="connsiteY4" fmla="*/ 2701965 h 6897807"/>
              <a:gd name="connsiteX5" fmla="*/ 5953064 w 6814124"/>
              <a:gd name="connsiteY5" fmla="*/ 1856145 h 6897807"/>
              <a:gd name="connsiteX6" fmla="*/ 5846384 w 6814124"/>
              <a:gd name="connsiteY6" fmla="*/ 1581825 h 6897807"/>
              <a:gd name="connsiteX7" fmla="*/ 5629214 w 6814124"/>
              <a:gd name="connsiteY7" fmla="*/ 1779945 h 6897807"/>
              <a:gd name="connsiteX8" fmla="*/ 4867214 w 6814124"/>
              <a:gd name="connsiteY8" fmla="*/ 4698405 h 6897807"/>
              <a:gd name="connsiteX9" fmla="*/ 4966274 w 6814124"/>
              <a:gd name="connsiteY9" fmla="*/ 4915575 h 6897807"/>
              <a:gd name="connsiteX10" fmla="*/ 5187254 w 6814124"/>
              <a:gd name="connsiteY10" fmla="*/ 4766985 h 6897807"/>
              <a:gd name="connsiteX11" fmla="*/ 5431094 w 6814124"/>
              <a:gd name="connsiteY11" fmla="*/ 3852585 h 6897807"/>
              <a:gd name="connsiteX12" fmla="*/ 5659694 w 6814124"/>
              <a:gd name="connsiteY12" fmla="*/ 3723045 h 6897807"/>
              <a:gd name="connsiteX13" fmla="*/ 5758754 w 6814124"/>
              <a:gd name="connsiteY13" fmla="*/ 3936405 h 6897807"/>
              <a:gd name="connsiteX14" fmla="*/ 5002015 w 6814124"/>
              <a:gd name="connsiteY14" fmla="*/ 6897807 h 6897807"/>
              <a:gd name="connsiteX15" fmla="*/ 973394 w 6814124"/>
              <a:gd name="connsiteY15" fmla="*/ 6886921 h 6897807"/>
              <a:gd name="connsiteX16" fmla="*/ 0 w 6814124"/>
              <a:gd name="connsiteY16" fmla="*/ 0 h 6897807"/>
              <a:gd name="connsiteX0" fmla="*/ 0 w 6814124"/>
              <a:gd name="connsiteY0" fmla="*/ 0 h 6897807"/>
              <a:gd name="connsiteX1" fmla="*/ 6814124 w 6814124"/>
              <a:gd name="connsiteY1" fmla="*/ 9870 h 6897807"/>
              <a:gd name="connsiteX2" fmla="*/ 6063554 w 6814124"/>
              <a:gd name="connsiteY2" fmla="*/ 2785785 h 6897807"/>
              <a:gd name="connsiteX3" fmla="*/ 5827334 w 6814124"/>
              <a:gd name="connsiteY3" fmla="*/ 2972475 h 6897807"/>
              <a:gd name="connsiteX4" fmla="*/ 5728274 w 6814124"/>
              <a:gd name="connsiteY4" fmla="*/ 2701965 h 6897807"/>
              <a:gd name="connsiteX5" fmla="*/ 5953064 w 6814124"/>
              <a:gd name="connsiteY5" fmla="*/ 1856145 h 6897807"/>
              <a:gd name="connsiteX6" fmla="*/ 5846384 w 6814124"/>
              <a:gd name="connsiteY6" fmla="*/ 1581825 h 6897807"/>
              <a:gd name="connsiteX7" fmla="*/ 5629214 w 6814124"/>
              <a:gd name="connsiteY7" fmla="*/ 1779945 h 6897807"/>
              <a:gd name="connsiteX8" fmla="*/ 4867214 w 6814124"/>
              <a:gd name="connsiteY8" fmla="*/ 4698405 h 6897807"/>
              <a:gd name="connsiteX9" fmla="*/ 4966274 w 6814124"/>
              <a:gd name="connsiteY9" fmla="*/ 4915575 h 6897807"/>
              <a:gd name="connsiteX10" fmla="*/ 5187254 w 6814124"/>
              <a:gd name="connsiteY10" fmla="*/ 4766985 h 6897807"/>
              <a:gd name="connsiteX11" fmla="*/ 5431094 w 6814124"/>
              <a:gd name="connsiteY11" fmla="*/ 3852585 h 6897807"/>
              <a:gd name="connsiteX12" fmla="*/ 5659694 w 6814124"/>
              <a:gd name="connsiteY12" fmla="*/ 3723045 h 6897807"/>
              <a:gd name="connsiteX13" fmla="*/ 5758754 w 6814124"/>
              <a:gd name="connsiteY13" fmla="*/ 3936405 h 6897807"/>
              <a:gd name="connsiteX14" fmla="*/ 5002015 w 6814124"/>
              <a:gd name="connsiteY14" fmla="*/ 6897807 h 6897807"/>
              <a:gd name="connsiteX15" fmla="*/ 973394 w 6814124"/>
              <a:gd name="connsiteY15" fmla="*/ 6886921 h 6897807"/>
              <a:gd name="connsiteX16" fmla="*/ 0 w 6814124"/>
              <a:gd name="connsiteY16" fmla="*/ 0 h 6897807"/>
              <a:gd name="connsiteX0" fmla="*/ 0 w 6814124"/>
              <a:gd name="connsiteY0" fmla="*/ 0 h 6887938"/>
              <a:gd name="connsiteX1" fmla="*/ 6814124 w 6814124"/>
              <a:gd name="connsiteY1" fmla="*/ 1 h 6887938"/>
              <a:gd name="connsiteX2" fmla="*/ 6063554 w 6814124"/>
              <a:gd name="connsiteY2" fmla="*/ 2775916 h 6887938"/>
              <a:gd name="connsiteX3" fmla="*/ 5827334 w 6814124"/>
              <a:gd name="connsiteY3" fmla="*/ 2962606 h 6887938"/>
              <a:gd name="connsiteX4" fmla="*/ 5728274 w 6814124"/>
              <a:gd name="connsiteY4" fmla="*/ 2692096 h 6887938"/>
              <a:gd name="connsiteX5" fmla="*/ 5953064 w 6814124"/>
              <a:gd name="connsiteY5" fmla="*/ 1846276 h 6887938"/>
              <a:gd name="connsiteX6" fmla="*/ 5846384 w 6814124"/>
              <a:gd name="connsiteY6" fmla="*/ 1571956 h 6887938"/>
              <a:gd name="connsiteX7" fmla="*/ 5629214 w 6814124"/>
              <a:gd name="connsiteY7" fmla="*/ 1770076 h 6887938"/>
              <a:gd name="connsiteX8" fmla="*/ 4867214 w 6814124"/>
              <a:gd name="connsiteY8" fmla="*/ 4688536 h 6887938"/>
              <a:gd name="connsiteX9" fmla="*/ 4966274 w 6814124"/>
              <a:gd name="connsiteY9" fmla="*/ 4905706 h 6887938"/>
              <a:gd name="connsiteX10" fmla="*/ 5187254 w 6814124"/>
              <a:gd name="connsiteY10" fmla="*/ 4757116 h 6887938"/>
              <a:gd name="connsiteX11" fmla="*/ 5431094 w 6814124"/>
              <a:gd name="connsiteY11" fmla="*/ 3842716 h 6887938"/>
              <a:gd name="connsiteX12" fmla="*/ 5659694 w 6814124"/>
              <a:gd name="connsiteY12" fmla="*/ 3713176 h 6887938"/>
              <a:gd name="connsiteX13" fmla="*/ 5758754 w 6814124"/>
              <a:gd name="connsiteY13" fmla="*/ 3926536 h 6887938"/>
              <a:gd name="connsiteX14" fmla="*/ 5002015 w 6814124"/>
              <a:gd name="connsiteY14" fmla="*/ 6887938 h 6887938"/>
              <a:gd name="connsiteX15" fmla="*/ 973394 w 6814124"/>
              <a:gd name="connsiteY15" fmla="*/ 6877052 h 6887938"/>
              <a:gd name="connsiteX16" fmla="*/ 0 w 6814124"/>
              <a:gd name="connsiteY16" fmla="*/ 0 h 6887938"/>
              <a:gd name="connsiteX0" fmla="*/ 0 w 6814124"/>
              <a:gd name="connsiteY0" fmla="*/ 0 h 6887938"/>
              <a:gd name="connsiteX1" fmla="*/ 6814124 w 6814124"/>
              <a:gd name="connsiteY1" fmla="*/ 1 h 6887938"/>
              <a:gd name="connsiteX2" fmla="*/ 6063554 w 6814124"/>
              <a:gd name="connsiteY2" fmla="*/ 2775916 h 6887938"/>
              <a:gd name="connsiteX3" fmla="*/ 5827334 w 6814124"/>
              <a:gd name="connsiteY3" fmla="*/ 2962606 h 6887938"/>
              <a:gd name="connsiteX4" fmla="*/ 5728274 w 6814124"/>
              <a:gd name="connsiteY4" fmla="*/ 2692096 h 6887938"/>
              <a:gd name="connsiteX5" fmla="*/ 5953064 w 6814124"/>
              <a:gd name="connsiteY5" fmla="*/ 1846276 h 6887938"/>
              <a:gd name="connsiteX6" fmla="*/ 5846384 w 6814124"/>
              <a:gd name="connsiteY6" fmla="*/ 1571956 h 6887938"/>
              <a:gd name="connsiteX7" fmla="*/ 5629214 w 6814124"/>
              <a:gd name="connsiteY7" fmla="*/ 1770076 h 6887938"/>
              <a:gd name="connsiteX8" fmla="*/ 4867214 w 6814124"/>
              <a:gd name="connsiteY8" fmla="*/ 4688536 h 6887938"/>
              <a:gd name="connsiteX9" fmla="*/ 4966274 w 6814124"/>
              <a:gd name="connsiteY9" fmla="*/ 4905706 h 6887938"/>
              <a:gd name="connsiteX10" fmla="*/ 5187254 w 6814124"/>
              <a:gd name="connsiteY10" fmla="*/ 4757116 h 6887938"/>
              <a:gd name="connsiteX11" fmla="*/ 5431094 w 6814124"/>
              <a:gd name="connsiteY11" fmla="*/ 3842716 h 6887938"/>
              <a:gd name="connsiteX12" fmla="*/ 5659694 w 6814124"/>
              <a:gd name="connsiteY12" fmla="*/ 3713176 h 6887938"/>
              <a:gd name="connsiteX13" fmla="*/ 5758754 w 6814124"/>
              <a:gd name="connsiteY13" fmla="*/ 3926536 h 6887938"/>
              <a:gd name="connsiteX14" fmla="*/ 5002015 w 6814124"/>
              <a:gd name="connsiteY14" fmla="*/ 6887938 h 6887938"/>
              <a:gd name="connsiteX15" fmla="*/ 0 w 6814124"/>
              <a:gd name="connsiteY15" fmla="*/ 6877052 h 6887938"/>
              <a:gd name="connsiteX16" fmla="*/ 0 w 6814124"/>
              <a:gd name="connsiteY16" fmla="*/ 0 h 6887938"/>
              <a:gd name="connsiteX0" fmla="*/ 0 w 6814124"/>
              <a:gd name="connsiteY0" fmla="*/ 0 h 6896790"/>
              <a:gd name="connsiteX1" fmla="*/ 6814124 w 6814124"/>
              <a:gd name="connsiteY1" fmla="*/ 1 h 6896790"/>
              <a:gd name="connsiteX2" fmla="*/ 6063554 w 6814124"/>
              <a:gd name="connsiteY2" fmla="*/ 2775916 h 6896790"/>
              <a:gd name="connsiteX3" fmla="*/ 5827334 w 6814124"/>
              <a:gd name="connsiteY3" fmla="*/ 2962606 h 6896790"/>
              <a:gd name="connsiteX4" fmla="*/ 5728274 w 6814124"/>
              <a:gd name="connsiteY4" fmla="*/ 2692096 h 6896790"/>
              <a:gd name="connsiteX5" fmla="*/ 5953064 w 6814124"/>
              <a:gd name="connsiteY5" fmla="*/ 1846276 h 6896790"/>
              <a:gd name="connsiteX6" fmla="*/ 5846384 w 6814124"/>
              <a:gd name="connsiteY6" fmla="*/ 1571956 h 6896790"/>
              <a:gd name="connsiteX7" fmla="*/ 5629214 w 6814124"/>
              <a:gd name="connsiteY7" fmla="*/ 1770076 h 6896790"/>
              <a:gd name="connsiteX8" fmla="*/ 4867214 w 6814124"/>
              <a:gd name="connsiteY8" fmla="*/ 4688536 h 6896790"/>
              <a:gd name="connsiteX9" fmla="*/ 4966274 w 6814124"/>
              <a:gd name="connsiteY9" fmla="*/ 4905706 h 6896790"/>
              <a:gd name="connsiteX10" fmla="*/ 5187254 w 6814124"/>
              <a:gd name="connsiteY10" fmla="*/ 4757116 h 6896790"/>
              <a:gd name="connsiteX11" fmla="*/ 5431094 w 6814124"/>
              <a:gd name="connsiteY11" fmla="*/ 3842716 h 6896790"/>
              <a:gd name="connsiteX12" fmla="*/ 5659694 w 6814124"/>
              <a:gd name="connsiteY12" fmla="*/ 3713176 h 6896790"/>
              <a:gd name="connsiteX13" fmla="*/ 5758754 w 6814124"/>
              <a:gd name="connsiteY13" fmla="*/ 3926536 h 6896790"/>
              <a:gd name="connsiteX14" fmla="*/ 5002015 w 6814124"/>
              <a:gd name="connsiteY14" fmla="*/ 6887938 h 6896790"/>
              <a:gd name="connsiteX15" fmla="*/ 0 w 6814124"/>
              <a:gd name="connsiteY15" fmla="*/ 6896790 h 6896790"/>
              <a:gd name="connsiteX16" fmla="*/ 0 w 6814124"/>
              <a:gd name="connsiteY16" fmla="*/ 0 h 6896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814124" h="6896790">
                <a:moveTo>
                  <a:pt x="0" y="0"/>
                </a:moveTo>
                <a:lnTo>
                  <a:pt x="6814124" y="1"/>
                </a:lnTo>
                <a:lnTo>
                  <a:pt x="6063554" y="2775916"/>
                </a:lnTo>
                <a:cubicBezTo>
                  <a:pt x="6030534" y="2883866"/>
                  <a:pt x="5993704" y="2976576"/>
                  <a:pt x="5827334" y="2962606"/>
                </a:cubicBezTo>
                <a:cubicBezTo>
                  <a:pt x="5641914" y="2845766"/>
                  <a:pt x="5734624" y="2747976"/>
                  <a:pt x="5728274" y="2692096"/>
                </a:cubicBezTo>
                <a:cubicBezTo>
                  <a:pt x="5818444" y="2355546"/>
                  <a:pt x="5878134" y="2121866"/>
                  <a:pt x="5953064" y="1846276"/>
                </a:cubicBezTo>
                <a:cubicBezTo>
                  <a:pt x="5994974" y="1687526"/>
                  <a:pt x="5969574" y="1615136"/>
                  <a:pt x="5846384" y="1571956"/>
                </a:cubicBezTo>
                <a:cubicBezTo>
                  <a:pt x="5711764" y="1563066"/>
                  <a:pt x="5672394" y="1597356"/>
                  <a:pt x="5629214" y="1770076"/>
                </a:cubicBezTo>
                <a:cubicBezTo>
                  <a:pt x="5644454" y="1858976"/>
                  <a:pt x="4851974" y="4599636"/>
                  <a:pt x="4867214" y="4688536"/>
                </a:cubicBezTo>
                <a:cubicBezTo>
                  <a:pt x="4832289" y="4824426"/>
                  <a:pt x="4898964" y="4880306"/>
                  <a:pt x="4966274" y="4905706"/>
                </a:cubicBezTo>
                <a:cubicBezTo>
                  <a:pt x="5075494" y="4904436"/>
                  <a:pt x="5132009" y="4917136"/>
                  <a:pt x="5187254" y="4757116"/>
                </a:cubicBezTo>
                <a:lnTo>
                  <a:pt x="5431094" y="3842716"/>
                </a:lnTo>
                <a:cubicBezTo>
                  <a:pt x="5455224" y="3756356"/>
                  <a:pt x="5528884" y="3692856"/>
                  <a:pt x="5659694" y="3713176"/>
                </a:cubicBezTo>
                <a:cubicBezTo>
                  <a:pt x="5803204" y="3791916"/>
                  <a:pt x="5756214" y="3882086"/>
                  <a:pt x="5758754" y="3926536"/>
                </a:cubicBezTo>
                <a:lnTo>
                  <a:pt x="5002015" y="6887938"/>
                </a:lnTo>
                <a:lnTo>
                  <a:pt x="0" y="689679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70326" y="3748958"/>
            <a:ext cx="4786878" cy="2258013"/>
          </a:xfrm>
        </p:spPr>
        <p:txBody>
          <a:bodyPr lIns="91440" tIns="0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None/>
              <a:defRPr sz="1600">
                <a:solidFill>
                  <a:schemeClr val="bg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6274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Add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16BCAC9C-7B8B-A7E5-574A-2C2D473655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051" y="6221324"/>
            <a:ext cx="6818262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E44D41BF-45CF-B60E-08D3-A8C49332E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30596" y="622132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32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9" r:id="rId5"/>
    <p:sldLayoutId id="2147483746" r:id="rId6"/>
    <p:sldLayoutId id="2147483747" r:id="rId7"/>
    <p:sldLayoutId id="2147483748" r:id="rId8"/>
    <p:sldLayoutId id="2147483750" r:id="rId9"/>
    <p:sldLayoutId id="2147483756" r:id="rId10"/>
    <p:sldLayoutId id="2147483751" r:id="rId11"/>
    <p:sldLayoutId id="2147483752" r:id="rId12"/>
    <p:sldLayoutId id="2147483754" r:id="rId13"/>
    <p:sldLayoutId id="2147483755" r:id="rId14"/>
    <p:sldLayoutId id="2147483753" r:id="rId15"/>
  </p:sldLayoutIdLst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94">
            <a:extLst>
              <a:ext uri="{FF2B5EF4-FFF2-40B4-BE49-F238E27FC236}">
                <a16:creationId xmlns:a16="http://schemas.microsoft.com/office/drawing/2014/main" id="{7643F50D-950F-5A7E-722A-79E4F5D31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1" y="723440"/>
            <a:ext cx="5042516" cy="2579052"/>
          </a:xfrm>
        </p:spPr>
        <p:txBody>
          <a:bodyPr>
            <a:normAutofit/>
          </a:bodyPr>
          <a:lstStyle/>
          <a:p>
            <a:r>
              <a:rPr lang="en-US" dirty="0"/>
              <a:t> Programming Concepts</a:t>
            </a:r>
          </a:p>
        </p:txBody>
      </p:sp>
      <p:sp>
        <p:nvSpPr>
          <p:cNvPr id="96" name="Subtitle 95">
            <a:extLst>
              <a:ext uri="{FF2B5EF4-FFF2-40B4-BE49-F238E27FC236}">
                <a16:creationId xmlns:a16="http://schemas.microsoft.com/office/drawing/2014/main" id="{1C5A4B6C-BAC7-A685-A9B1-2F354B128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28152" y="5248834"/>
            <a:ext cx="4323426" cy="100892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Presentation by: </a:t>
            </a:r>
          </a:p>
          <a:p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D. PHIRI</a:t>
            </a:r>
          </a:p>
          <a:p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LECTURER ICT DEPARTMENT</a:t>
            </a:r>
          </a:p>
        </p:txBody>
      </p:sp>
      <p:sp>
        <p:nvSpPr>
          <p:cNvPr id="97" name="Text Placeholder 96">
            <a:extLst>
              <a:ext uri="{FF2B5EF4-FFF2-40B4-BE49-F238E27FC236}">
                <a16:creationId xmlns:a16="http://schemas.microsoft.com/office/drawing/2014/main" id="{2A924E96-9B1C-6D19-49F6-49CA70E655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98751" y="3373515"/>
            <a:ext cx="4743949" cy="1008926"/>
          </a:xfrm>
        </p:spPr>
        <p:txBody>
          <a:bodyPr/>
          <a:lstStyle/>
          <a:p>
            <a:r>
              <a:rPr lang="en-US" dirty="0"/>
              <a:t>Coding Life</a:t>
            </a: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D96C8D99-3232-849B-9CC8-6E4982208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507757" y="-11160"/>
            <a:ext cx="2553080" cy="6858841"/>
          </a:xfrm>
          <a:custGeom>
            <a:avLst/>
            <a:gdLst>
              <a:gd name="connsiteX0" fmla="*/ 2526446 w 2553080"/>
              <a:gd name="connsiteY0" fmla="*/ 0 h 6858841"/>
              <a:gd name="connsiteX1" fmla="*/ 1707127 w 2553080"/>
              <a:gd name="connsiteY1" fmla="*/ 3182290 h 6858841"/>
              <a:gd name="connsiteX2" fmla="*/ 1365955 w 2553080"/>
              <a:gd name="connsiteY2" fmla="*/ 4453431 h 6858841"/>
              <a:gd name="connsiteX3" fmla="*/ 1182052 w 2553080"/>
              <a:gd name="connsiteY3" fmla="*/ 4538343 h 6858841"/>
              <a:gd name="connsiteX4" fmla="*/ 1070442 w 2553080"/>
              <a:gd name="connsiteY4" fmla="*/ 4344440 h 6858841"/>
              <a:gd name="connsiteX5" fmla="*/ 1329175 w 2553080"/>
              <a:gd name="connsiteY5" fmla="*/ 3390133 h 6858841"/>
              <a:gd name="connsiteX6" fmla="*/ 1311418 w 2553080"/>
              <a:gd name="connsiteY6" fmla="*/ 3250726 h 6858841"/>
              <a:gd name="connsiteX7" fmla="*/ 1199808 w 2553080"/>
              <a:gd name="connsiteY7" fmla="*/ 3164547 h 6858841"/>
              <a:gd name="connsiteX8" fmla="*/ 975320 w 2553080"/>
              <a:gd name="connsiteY8" fmla="*/ 3293816 h 6858841"/>
              <a:gd name="connsiteX9" fmla="*/ 582148 w 2553080"/>
              <a:gd name="connsiteY9" fmla="*/ 4743652 h 6858841"/>
              <a:gd name="connsiteX10" fmla="*/ 5073 w 2553080"/>
              <a:gd name="connsiteY10" fmla="*/ 6842367 h 6858841"/>
              <a:gd name="connsiteX11" fmla="*/ 0 w 2553080"/>
              <a:gd name="connsiteY11" fmla="*/ 6858842 h 6858841"/>
              <a:gd name="connsiteX12" fmla="*/ 26634 w 2553080"/>
              <a:gd name="connsiteY12" fmla="*/ 6858842 h 6858841"/>
              <a:gd name="connsiteX13" fmla="*/ 607514 w 2553080"/>
              <a:gd name="connsiteY13" fmla="*/ 4751256 h 6858841"/>
              <a:gd name="connsiteX14" fmla="*/ 1000686 w 2553080"/>
              <a:gd name="connsiteY14" fmla="*/ 3301420 h 6858841"/>
              <a:gd name="connsiteX15" fmla="*/ 1194735 w 2553080"/>
              <a:gd name="connsiteY15" fmla="*/ 3189894 h 6858841"/>
              <a:gd name="connsiteX16" fmla="*/ 1289857 w 2553080"/>
              <a:gd name="connsiteY16" fmla="*/ 3263399 h 6858841"/>
              <a:gd name="connsiteX17" fmla="*/ 1305077 w 2553080"/>
              <a:gd name="connsiteY17" fmla="*/ 3383797 h 6858841"/>
              <a:gd name="connsiteX18" fmla="*/ 1046345 w 2553080"/>
              <a:gd name="connsiteY18" fmla="*/ 4338103 h 6858841"/>
              <a:gd name="connsiteX19" fmla="*/ 1175711 w 2553080"/>
              <a:gd name="connsiteY19" fmla="*/ 4562423 h 6858841"/>
              <a:gd name="connsiteX20" fmla="*/ 1390053 w 2553080"/>
              <a:gd name="connsiteY20" fmla="*/ 4462303 h 6858841"/>
              <a:gd name="connsiteX21" fmla="*/ 1390053 w 2553080"/>
              <a:gd name="connsiteY21" fmla="*/ 4461035 h 6858841"/>
              <a:gd name="connsiteX22" fmla="*/ 1731225 w 2553080"/>
              <a:gd name="connsiteY22" fmla="*/ 3188627 h 6858841"/>
              <a:gd name="connsiteX23" fmla="*/ 2553081 w 2553080"/>
              <a:gd name="connsiteY23" fmla="*/ 1267 h 6858841"/>
              <a:gd name="connsiteX24" fmla="*/ 2526446 w 2553080"/>
              <a:gd name="connsiteY24" fmla="*/ 0 h 6858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53080" h="6858841">
                <a:moveTo>
                  <a:pt x="2526446" y="0"/>
                </a:moveTo>
                <a:lnTo>
                  <a:pt x="1707127" y="3182290"/>
                </a:lnTo>
                <a:lnTo>
                  <a:pt x="1365955" y="4453431"/>
                </a:lnTo>
                <a:cubicBezTo>
                  <a:pt x="1332979" y="4523135"/>
                  <a:pt x="1255613" y="4558621"/>
                  <a:pt x="1182052" y="4538343"/>
                </a:cubicBezTo>
                <a:cubicBezTo>
                  <a:pt x="1098345" y="4515531"/>
                  <a:pt x="1047613" y="4428085"/>
                  <a:pt x="1070442" y="4344440"/>
                </a:cubicBezTo>
                <a:lnTo>
                  <a:pt x="1329175" y="3390133"/>
                </a:lnTo>
                <a:cubicBezTo>
                  <a:pt x="1341858" y="3343242"/>
                  <a:pt x="1335516" y="3293816"/>
                  <a:pt x="1311418" y="3250726"/>
                </a:cubicBezTo>
                <a:cubicBezTo>
                  <a:pt x="1287321" y="3207637"/>
                  <a:pt x="1248004" y="3177220"/>
                  <a:pt x="1199808" y="3164547"/>
                </a:cubicBezTo>
                <a:cubicBezTo>
                  <a:pt x="1102150" y="3137933"/>
                  <a:pt x="1000686" y="3196230"/>
                  <a:pt x="975320" y="3293816"/>
                </a:cubicBezTo>
                <a:lnTo>
                  <a:pt x="582148" y="4743652"/>
                </a:lnTo>
                <a:lnTo>
                  <a:pt x="5073" y="6842367"/>
                </a:lnTo>
                <a:cubicBezTo>
                  <a:pt x="5073" y="6842367"/>
                  <a:pt x="1268" y="6855040"/>
                  <a:pt x="0" y="6858842"/>
                </a:cubicBezTo>
                <a:lnTo>
                  <a:pt x="26634" y="6858842"/>
                </a:lnTo>
                <a:lnTo>
                  <a:pt x="607514" y="4751256"/>
                </a:lnTo>
                <a:lnTo>
                  <a:pt x="1000686" y="3301420"/>
                </a:lnTo>
                <a:cubicBezTo>
                  <a:pt x="1023515" y="3217775"/>
                  <a:pt x="1111028" y="3167082"/>
                  <a:pt x="1194735" y="3189894"/>
                </a:cubicBezTo>
                <a:cubicBezTo>
                  <a:pt x="1235321" y="3201300"/>
                  <a:pt x="1269565" y="3226647"/>
                  <a:pt x="1289857" y="3263399"/>
                </a:cubicBezTo>
                <a:cubicBezTo>
                  <a:pt x="1311418" y="3300152"/>
                  <a:pt x="1316492" y="3341975"/>
                  <a:pt x="1305077" y="3383797"/>
                </a:cubicBezTo>
                <a:lnTo>
                  <a:pt x="1046345" y="4338103"/>
                </a:lnTo>
                <a:cubicBezTo>
                  <a:pt x="1019710" y="4435689"/>
                  <a:pt x="1078052" y="4537076"/>
                  <a:pt x="1175711" y="4562423"/>
                </a:cubicBezTo>
                <a:cubicBezTo>
                  <a:pt x="1261955" y="4585235"/>
                  <a:pt x="1352004" y="4543413"/>
                  <a:pt x="1390053" y="4462303"/>
                </a:cubicBezTo>
                <a:lnTo>
                  <a:pt x="1390053" y="4461035"/>
                </a:lnTo>
                <a:lnTo>
                  <a:pt x="1731225" y="3188627"/>
                </a:lnTo>
                <a:lnTo>
                  <a:pt x="2553081" y="1267"/>
                </a:lnTo>
                <a:cubicBezTo>
                  <a:pt x="2544203" y="0"/>
                  <a:pt x="2535325" y="0"/>
                  <a:pt x="2526446" y="0"/>
                </a:cubicBezTo>
                <a:close/>
              </a:path>
            </a:pathLst>
          </a:custGeom>
          <a:solidFill>
            <a:schemeClr val="accent1"/>
          </a:solidFill>
          <a:ln w="91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407FD607-51C6-351B-54AD-9052A81CCD7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21626" r="21626"/>
          <a:stretch>
            <a:fillRect/>
          </a:stretch>
        </p:blipFill>
        <p:spPr>
          <a:xfrm>
            <a:off x="0" y="8039"/>
            <a:ext cx="5840730" cy="6862275"/>
          </a:xfrm>
        </p:spPr>
      </p:pic>
    </p:spTree>
    <p:extLst>
      <p:ext uri="{BB962C8B-B14F-4D97-AF65-F5344CB8AC3E}">
        <p14:creationId xmlns:p14="http://schemas.microsoft.com/office/powerpoint/2010/main" val="3503979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2EA33AE-2E4E-2AD0-7AAD-FF06CBACB6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15541" y="715654"/>
            <a:ext cx="4786877" cy="1518315"/>
          </a:xfrm>
        </p:spPr>
        <p:txBody>
          <a:bodyPr/>
          <a:lstStyle/>
          <a:p>
            <a:r>
              <a:rPr lang="en-US" dirty="0"/>
              <a:t>Lesson Outline</a:t>
            </a:r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BA498B66-C42E-029B-6F9F-FF45F4C14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5708" y="2431477"/>
            <a:ext cx="4786877" cy="763899"/>
          </a:xfrm>
        </p:spPr>
        <p:txBody>
          <a:bodyPr>
            <a:normAutofit fontScale="77500" lnSpcReduction="20000"/>
          </a:bodyPr>
          <a:lstStyle/>
          <a:p>
            <a:r>
              <a:rPr lang="en-US" sz="4000" dirty="0"/>
              <a:t>Programming Concepts</a:t>
            </a:r>
          </a:p>
          <a:p>
            <a:endParaRPr lang="en-US" dirty="0"/>
          </a:p>
        </p:txBody>
      </p:sp>
      <p:pic>
        <p:nvPicPr>
          <p:cNvPr id="11" name="Picture Placeholder 10" descr="A person with his hand on his chin">
            <a:extLst>
              <a:ext uri="{FF2B5EF4-FFF2-40B4-BE49-F238E27FC236}">
                <a16:creationId xmlns:a16="http://schemas.microsoft.com/office/drawing/2014/main" id="{8FB04EF3-CC57-2C94-49E0-6F49EAA5217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72" r="172"/>
          <a:stretch/>
        </p:blipFill>
        <p:spPr>
          <a:xfrm>
            <a:off x="0" y="-2235"/>
            <a:ext cx="5840730" cy="6862275"/>
          </a:xfr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3B8BFA9-FBE9-EDA2-FBB1-C2B55CD7C82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09837" y="3051425"/>
            <a:ext cx="4204690" cy="2997573"/>
          </a:xfrm>
        </p:spPr>
        <p:txBody>
          <a:bodyPr>
            <a:normAutofit fontScale="85000" lnSpcReduction="10000"/>
          </a:bodyPr>
          <a:lstStyle/>
          <a:p>
            <a:r>
              <a:rPr lang="en-US" sz="2800" dirty="0"/>
              <a:t>Programing Styles</a:t>
            </a:r>
          </a:p>
          <a:p>
            <a:pPr lvl="0"/>
            <a:r>
              <a:rPr lang="en-US" sz="2800" dirty="0"/>
              <a:t>Programming Languages</a:t>
            </a:r>
            <a:endParaRPr lang="en-MW" sz="2800" dirty="0"/>
          </a:p>
          <a:p>
            <a:pPr lvl="0"/>
            <a:r>
              <a:rPr lang="en-US" sz="2800" dirty="0"/>
              <a:t>Variables</a:t>
            </a:r>
            <a:endParaRPr lang="en-MW" sz="2800" dirty="0"/>
          </a:p>
          <a:p>
            <a:pPr lvl="0"/>
            <a:r>
              <a:rPr lang="en-US" sz="2800" dirty="0"/>
              <a:t>Data types</a:t>
            </a:r>
            <a:endParaRPr lang="en-MW" sz="2800" dirty="0"/>
          </a:p>
          <a:p>
            <a:pPr lvl="0"/>
            <a:r>
              <a:rPr lang="en-US" sz="2800" dirty="0"/>
              <a:t>Arithmetic Operations and operators</a:t>
            </a:r>
            <a:endParaRPr lang="en-MW" sz="28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73E677C-B30B-9361-1557-EE90A7448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929081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9511001-6F2E-D16C-C5A6-4486407F6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498189" y="17722"/>
            <a:ext cx="2545001" cy="6837172"/>
          </a:xfrm>
          <a:custGeom>
            <a:avLst/>
            <a:gdLst>
              <a:gd name="connsiteX0" fmla="*/ 2518452 w 2545001"/>
              <a:gd name="connsiteY0" fmla="*/ 0 h 6837172"/>
              <a:gd name="connsiteX1" fmla="*/ 1701725 w 2545001"/>
              <a:gd name="connsiteY1" fmla="*/ 3172236 h 6837172"/>
              <a:gd name="connsiteX2" fmla="*/ 1361633 w 2545001"/>
              <a:gd name="connsiteY2" fmla="*/ 4439362 h 6837172"/>
              <a:gd name="connsiteX3" fmla="*/ 1178312 w 2545001"/>
              <a:gd name="connsiteY3" fmla="*/ 4524005 h 6837172"/>
              <a:gd name="connsiteX4" fmla="*/ 1067055 w 2545001"/>
              <a:gd name="connsiteY4" fmla="*/ 4330715 h 6837172"/>
              <a:gd name="connsiteX5" fmla="*/ 1324969 w 2545001"/>
              <a:gd name="connsiteY5" fmla="*/ 3379423 h 6837172"/>
              <a:gd name="connsiteX6" fmla="*/ 1307268 w 2545001"/>
              <a:gd name="connsiteY6" fmla="*/ 3240456 h 6837172"/>
              <a:gd name="connsiteX7" fmla="*/ 1196012 w 2545001"/>
              <a:gd name="connsiteY7" fmla="*/ 3154549 h 6837172"/>
              <a:gd name="connsiteX8" fmla="*/ 972233 w 2545001"/>
              <a:gd name="connsiteY8" fmla="*/ 3283409 h 6837172"/>
              <a:gd name="connsiteX9" fmla="*/ 580306 w 2545001"/>
              <a:gd name="connsiteY9" fmla="*/ 4728666 h 6837172"/>
              <a:gd name="connsiteX10" fmla="*/ 5057 w 2545001"/>
              <a:gd name="connsiteY10" fmla="*/ 6820750 h 6837172"/>
              <a:gd name="connsiteX11" fmla="*/ 0 w 2545001"/>
              <a:gd name="connsiteY11" fmla="*/ 6837173 h 6837172"/>
              <a:gd name="connsiteX12" fmla="*/ 26550 w 2545001"/>
              <a:gd name="connsiteY12" fmla="*/ 6837173 h 6837172"/>
              <a:gd name="connsiteX13" fmla="*/ 605591 w 2545001"/>
              <a:gd name="connsiteY13" fmla="*/ 4736246 h 6837172"/>
              <a:gd name="connsiteX14" fmla="*/ 997519 w 2545001"/>
              <a:gd name="connsiteY14" fmla="*/ 3290990 h 6837172"/>
              <a:gd name="connsiteX15" fmla="*/ 1190954 w 2545001"/>
              <a:gd name="connsiteY15" fmla="*/ 3179816 h 6837172"/>
              <a:gd name="connsiteX16" fmla="*/ 1285776 w 2545001"/>
              <a:gd name="connsiteY16" fmla="*/ 3253089 h 6837172"/>
              <a:gd name="connsiteX17" fmla="*/ 1300947 w 2545001"/>
              <a:gd name="connsiteY17" fmla="*/ 3373106 h 6837172"/>
              <a:gd name="connsiteX18" fmla="*/ 1043033 w 2545001"/>
              <a:gd name="connsiteY18" fmla="*/ 4324398 h 6837172"/>
              <a:gd name="connsiteX19" fmla="*/ 1171990 w 2545001"/>
              <a:gd name="connsiteY19" fmla="*/ 4548009 h 6837172"/>
              <a:gd name="connsiteX20" fmla="*/ 1385654 w 2545001"/>
              <a:gd name="connsiteY20" fmla="*/ 4448205 h 6837172"/>
              <a:gd name="connsiteX21" fmla="*/ 1385654 w 2545001"/>
              <a:gd name="connsiteY21" fmla="*/ 4446942 h 6837172"/>
              <a:gd name="connsiteX22" fmla="*/ 1725746 w 2545001"/>
              <a:gd name="connsiteY22" fmla="*/ 3178553 h 6837172"/>
              <a:gd name="connsiteX23" fmla="*/ 2545002 w 2545001"/>
              <a:gd name="connsiteY23" fmla="*/ 1263 h 6837172"/>
              <a:gd name="connsiteX24" fmla="*/ 2518452 w 2545001"/>
              <a:gd name="connsiteY24" fmla="*/ 0 h 6837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45001" h="6837172">
                <a:moveTo>
                  <a:pt x="2518452" y="0"/>
                </a:moveTo>
                <a:lnTo>
                  <a:pt x="1701725" y="3172236"/>
                </a:lnTo>
                <a:lnTo>
                  <a:pt x="1361633" y="4439362"/>
                </a:lnTo>
                <a:cubicBezTo>
                  <a:pt x="1328761" y="4508845"/>
                  <a:pt x="1251640" y="4544219"/>
                  <a:pt x="1178312" y="4524005"/>
                </a:cubicBezTo>
                <a:cubicBezTo>
                  <a:pt x="1094869" y="4501265"/>
                  <a:pt x="1044298" y="4414095"/>
                  <a:pt x="1067055" y="4330715"/>
                </a:cubicBezTo>
                <a:lnTo>
                  <a:pt x="1324969" y="3379423"/>
                </a:lnTo>
                <a:cubicBezTo>
                  <a:pt x="1337611" y="3332679"/>
                  <a:pt x="1331290" y="3283409"/>
                  <a:pt x="1307268" y="3240456"/>
                </a:cubicBezTo>
                <a:cubicBezTo>
                  <a:pt x="1283247" y="3197503"/>
                  <a:pt x="1244054" y="3167183"/>
                  <a:pt x="1196012" y="3154549"/>
                </a:cubicBezTo>
                <a:cubicBezTo>
                  <a:pt x="1098662" y="3128019"/>
                  <a:pt x="997519" y="3186133"/>
                  <a:pt x="972233" y="3283409"/>
                </a:cubicBezTo>
                <a:lnTo>
                  <a:pt x="580306" y="4728666"/>
                </a:lnTo>
                <a:lnTo>
                  <a:pt x="5057" y="6820750"/>
                </a:lnTo>
                <a:cubicBezTo>
                  <a:pt x="5057" y="6820750"/>
                  <a:pt x="1264" y="6833383"/>
                  <a:pt x="0" y="6837173"/>
                </a:cubicBezTo>
                <a:lnTo>
                  <a:pt x="26550" y="6837173"/>
                </a:lnTo>
                <a:lnTo>
                  <a:pt x="605591" y="4736246"/>
                </a:lnTo>
                <a:lnTo>
                  <a:pt x="997519" y="3290990"/>
                </a:lnTo>
                <a:cubicBezTo>
                  <a:pt x="1020276" y="3207609"/>
                  <a:pt x="1107512" y="3157076"/>
                  <a:pt x="1190954" y="3179816"/>
                </a:cubicBezTo>
                <a:cubicBezTo>
                  <a:pt x="1231411" y="3191186"/>
                  <a:pt x="1265547" y="3216453"/>
                  <a:pt x="1285776" y="3253089"/>
                </a:cubicBezTo>
                <a:cubicBezTo>
                  <a:pt x="1307268" y="3289726"/>
                  <a:pt x="1312326" y="3331416"/>
                  <a:pt x="1300947" y="3373106"/>
                </a:cubicBezTo>
                <a:lnTo>
                  <a:pt x="1043033" y="4324398"/>
                </a:lnTo>
                <a:cubicBezTo>
                  <a:pt x="1016483" y="4421675"/>
                  <a:pt x="1074640" y="4522742"/>
                  <a:pt x="1171990" y="4548009"/>
                </a:cubicBezTo>
                <a:cubicBezTo>
                  <a:pt x="1257961" y="4570749"/>
                  <a:pt x="1347725" y="4529059"/>
                  <a:pt x="1385654" y="4448205"/>
                </a:cubicBezTo>
                <a:lnTo>
                  <a:pt x="1385654" y="4446942"/>
                </a:lnTo>
                <a:lnTo>
                  <a:pt x="1725746" y="3178553"/>
                </a:lnTo>
                <a:lnTo>
                  <a:pt x="2545002" y="1263"/>
                </a:lnTo>
                <a:cubicBezTo>
                  <a:pt x="2536151" y="0"/>
                  <a:pt x="2527302" y="0"/>
                  <a:pt x="2518452" y="0"/>
                </a:cubicBezTo>
                <a:close/>
              </a:path>
            </a:pathLst>
          </a:custGeom>
          <a:solidFill>
            <a:schemeClr val="accent1"/>
          </a:solidFill>
          <a:ln w="1263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479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4D835925-3D21-0B99-9A6C-587FBAE43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59" y="202101"/>
            <a:ext cx="6732237" cy="100584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Concepts: Coding styles</a:t>
            </a:r>
            <a:r>
              <a:rPr lang="en-US" dirty="0"/>
              <a:t> 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67690BC-58BE-BD46-38A4-61EC504EA89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72143" y="1371600"/>
            <a:ext cx="6941871" cy="50400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b="1" dirty="0"/>
              <a:t>Procedural Programming</a:t>
            </a:r>
          </a:p>
          <a:p>
            <a:pPr marL="0" indent="0">
              <a:buNone/>
            </a:pPr>
            <a:r>
              <a:rPr lang="en-US" sz="1700" b="1" dirty="0"/>
              <a:t>Object Oriented Programing: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2C984-616F-EC16-3E37-A54495E756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</p:spPr>
        <p:txBody>
          <a:bodyPr/>
          <a:lstStyle/>
          <a:p>
            <a:r>
              <a:rPr lang="en-US" dirty="0"/>
              <a:t>CODE CRACKERS</a:t>
            </a:r>
          </a:p>
        </p:txBody>
      </p:sp>
      <p:pic>
        <p:nvPicPr>
          <p:cNvPr id="19" name="Picture Placeholder 18" descr="A person working at a desk">
            <a:extLst>
              <a:ext uri="{FF2B5EF4-FFF2-40B4-BE49-F238E27FC236}">
                <a16:creationId xmlns:a16="http://schemas.microsoft.com/office/drawing/2014/main" id="{52D45C27-4F4D-5A89-8C52-CB8FC47BCEF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3565" r="3565"/>
          <a:stretch/>
        </p:blipFill>
        <p:spPr>
          <a:xfrm flipH="1">
            <a:off x="7789405" y="-3219"/>
            <a:ext cx="4763978" cy="6501990"/>
          </a:xfr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E7466B0-B69A-FEBF-B8E0-FDA9AEAC7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56652" y="-3219"/>
            <a:ext cx="2076277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756CFB8-E805-3CF9-61D2-C02341EC7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7829202" y="5156615"/>
            <a:ext cx="878334" cy="170500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96053-DF7F-7AFE-4D23-78CFF34D0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467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CCD53A-3321-FDB9-CA50-70544F935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368" y="270880"/>
            <a:ext cx="11297264" cy="15240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Code: Concepts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8BD71C-DCE9-9855-DCBE-675F20E946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18352" y="1894376"/>
            <a:ext cx="2847975" cy="3390899"/>
          </a:xfrm>
        </p:spPr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EAC814C-D211-009A-190F-549B7A0D63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51092" y="1894376"/>
            <a:ext cx="2847975" cy="3390899"/>
          </a:xfrm>
        </p:spPr>
        <p:txBody>
          <a:bodyPr/>
          <a:lstStyle/>
          <a:p>
            <a:r>
              <a:rPr lang="en-US" dirty="0"/>
              <a:t>Languages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B8455C-CEA2-F7C8-E898-97C86849DC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95403" y="1894376"/>
            <a:ext cx="2847975" cy="3390899"/>
          </a:xfrm>
        </p:spPr>
        <p:txBody>
          <a:bodyPr/>
          <a:lstStyle/>
          <a:p>
            <a:r>
              <a:rPr lang="en-US" dirty="0"/>
              <a:t>Operators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2A183-22BD-739B-59DF-20E049F931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</p:spPr>
        <p:txBody>
          <a:bodyPr/>
          <a:lstStyle/>
          <a:p>
            <a:r>
              <a:rPr lang="en-US" dirty="0"/>
              <a:t>CODE CRACKERS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4DC98-ED35-A03F-CA2C-D54F23D0F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B549908E-EB75-3AEA-2DD2-53FBBFCF7BEF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 l="19092" r="19092"/>
          <a:stretch>
            <a:fillRect/>
          </a:stretch>
        </p:blipFill>
        <p:spPr/>
      </p:pic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6CE8B17E-E10F-7080-DC6C-F0409AA78454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3"/>
          <a:srcRect l="19043" r="19043"/>
          <a:stretch>
            <a:fillRect/>
          </a:stretch>
        </p:blipFill>
        <p:spPr/>
      </p:pic>
      <p:pic>
        <p:nvPicPr>
          <p:cNvPr id="22" name="Picture Placeholder 21">
            <a:extLst>
              <a:ext uri="{FF2B5EF4-FFF2-40B4-BE49-F238E27FC236}">
                <a16:creationId xmlns:a16="http://schemas.microsoft.com/office/drawing/2014/main" id="{3599EEFB-9B38-E028-5EB7-F714F33B6F47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4"/>
          <a:srcRect l="19092" r="19092"/>
          <a:stretch>
            <a:fillRect/>
          </a:stretch>
        </p:blipFill>
        <p:spPr>
          <a:xfrm>
            <a:off x="8420133" y="2833688"/>
            <a:ext cx="1689637" cy="914400"/>
          </a:xfrm>
        </p:spPr>
      </p:pic>
    </p:spTree>
    <p:extLst>
      <p:ext uri="{BB962C8B-B14F-4D97-AF65-F5344CB8AC3E}">
        <p14:creationId xmlns:p14="http://schemas.microsoft.com/office/powerpoint/2010/main" val="212903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CCD53A-3321-FDB9-CA50-70544F935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368" y="270880"/>
            <a:ext cx="11297264" cy="15240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Code: Concepts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8BD71C-DCE9-9855-DCBE-675F20E946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18352" y="1894376"/>
            <a:ext cx="2847975" cy="3390899"/>
          </a:xfrm>
        </p:spPr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EAC814C-D211-009A-190F-549B7A0D63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51092" y="1894376"/>
            <a:ext cx="2847975" cy="3390899"/>
          </a:xfrm>
        </p:spPr>
        <p:txBody>
          <a:bodyPr/>
          <a:lstStyle/>
          <a:p>
            <a:r>
              <a:rPr lang="en-US" dirty="0"/>
              <a:t>Pseudo Code 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B8455C-CEA2-F7C8-E898-97C86849DC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95403" y="1894376"/>
            <a:ext cx="2847975" cy="3390899"/>
          </a:xfrm>
        </p:spPr>
        <p:txBody>
          <a:bodyPr/>
          <a:lstStyle/>
          <a:p>
            <a:r>
              <a:rPr lang="en-US" dirty="0"/>
              <a:t>Statements and Expressions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2A183-22BD-739B-59DF-20E049F931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</p:spPr>
        <p:txBody>
          <a:bodyPr/>
          <a:lstStyle/>
          <a:p>
            <a:r>
              <a:rPr lang="en-US" dirty="0"/>
              <a:t>CODE CRACKERS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4DC98-ED35-A03F-CA2C-D54F23D0F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3C03B80E-209F-1A45-CC55-75009E819451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3"/>
          <a:srcRect t="4502" b="4502"/>
          <a:stretch>
            <a:fillRect/>
          </a:stretch>
        </p:blipFill>
        <p:spPr/>
      </p:pic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5900F0F8-1D06-B801-720C-D51D5A855F2E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4"/>
          <a:srcRect l="19009" r="19009"/>
          <a:stretch>
            <a:fillRect/>
          </a:stretch>
        </p:blipFill>
        <p:spPr>
          <a:xfrm>
            <a:off x="5435029" y="2954840"/>
            <a:ext cx="1142970" cy="914400"/>
          </a:xfrm>
        </p:spPr>
      </p:pic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9165D591-144E-2B2C-2B42-9755CB444583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5"/>
          <a:srcRect l="18942" r="18942"/>
          <a:stretch>
            <a:fillRect/>
          </a:stretch>
        </p:blipFill>
        <p:spPr>
          <a:xfrm>
            <a:off x="8762357" y="3128427"/>
            <a:ext cx="1005840" cy="914400"/>
          </a:xfrm>
        </p:spPr>
      </p:pic>
    </p:spTree>
    <p:extLst>
      <p:ext uri="{BB962C8B-B14F-4D97-AF65-F5344CB8AC3E}">
        <p14:creationId xmlns:p14="http://schemas.microsoft.com/office/powerpoint/2010/main" val="487094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4D835925-3D21-0B99-9A6C-587FBAE43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59" y="202101"/>
            <a:ext cx="6732237" cy="100584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Concepts: </a:t>
            </a:r>
            <a:r>
              <a:rPr lang="en-US" dirty="0"/>
              <a:t> 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67690BC-58BE-BD46-38A4-61EC504EA89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72143" y="1207942"/>
            <a:ext cx="7517262" cy="520374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1700" b="1" dirty="0"/>
              <a:t>Pseudocode: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24292F"/>
                </a:solidFill>
                <a:effectLst/>
                <a:latin typeface="monica-ext-font_YIBBBFG"/>
              </a:rPr>
              <a:t>Pseudocode is an informal high-level description of the steps involved in solving a problem. 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24292F"/>
                </a:solidFill>
                <a:effectLst/>
                <a:latin typeface="monica-ext-font_YIBBBFG"/>
              </a:rPr>
              <a:t>It is typically written in a natural language, such as English, and is used to communicate the general flow of a program or algorithm to other programmers or stakeholders. 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24292F"/>
                </a:solidFill>
                <a:effectLst/>
                <a:latin typeface="monica-ext-font_YIBBBFG"/>
              </a:rPr>
              <a:t>Pseudocode is not meant to be executed by a computer, but rather to serve as a blueprint for the actual implementation of the program.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02124"/>
                </a:solidFill>
                <a:effectLst/>
                <a:latin typeface="Google Sans"/>
              </a:rPr>
              <a:t>Begin.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02124"/>
                </a:solidFill>
                <a:latin typeface="Google Sans"/>
              </a:rPr>
              <a:t>PRINT</a:t>
            </a:r>
            <a:r>
              <a:rPr lang="en-US" sz="2400" b="0" i="0" dirty="0">
                <a:solidFill>
                  <a:srgbClr val="202124"/>
                </a:solidFill>
                <a:effectLst/>
                <a:latin typeface="Google Sans"/>
              </a:rPr>
              <a:t> “Please enter two numbers to add”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02124"/>
                </a:solidFill>
                <a:effectLst/>
                <a:latin typeface="Google Sans"/>
              </a:rPr>
              <a:t>READ num1.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02124"/>
                </a:solidFill>
                <a:effectLst/>
                <a:latin typeface="Google Sans"/>
              </a:rPr>
              <a:t>READ num2.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02124"/>
                </a:solidFill>
                <a:effectLst/>
                <a:latin typeface="Google Sans"/>
              </a:rPr>
              <a:t>Sum = num1+num2.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02124"/>
                </a:solidFill>
                <a:latin typeface="Google Sans"/>
              </a:rPr>
              <a:t>PRINT</a:t>
            </a:r>
            <a:r>
              <a:rPr lang="en-US" sz="2400" b="0" i="0" dirty="0">
                <a:solidFill>
                  <a:srgbClr val="202124"/>
                </a:solidFill>
                <a:effectLst/>
                <a:latin typeface="Google Sans"/>
              </a:rPr>
              <a:t> Sum.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02124"/>
                </a:solidFill>
                <a:effectLst/>
                <a:latin typeface="Google Sans"/>
              </a:rPr>
              <a:t>End.</a:t>
            </a:r>
          </a:p>
          <a:p>
            <a:pPr marL="0" indent="0">
              <a:buNone/>
            </a:pPr>
            <a:endParaRPr lang="en-US" sz="1700" b="1" dirty="0"/>
          </a:p>
          <a:p>
            <a:pPr marL="0" indent="0">
              <a:buNone/>
            </a:pPr>
            <a:endParaRPr lang="en-US" sz="1700" b="1" dirty="0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2C984-616F-EC16-3E37-A54495E756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</p:spPr>
        <p:txBody>
          <a:bodyPr/>
          <a:lstStyle/>
          <a:p>
            <a:r>
              <a:rPr lang="en-US" dirty="0"/>
              <a:t>CODE CRACKERS</a:t>
            </a:r>
          </a:p>
        </p:txBody>
      </p:sp>
      <p:pic>
        <p:nvPicPr>
          <p:cNvPr id="19" name="Picture Placeholder 18" descr="A person working at a desk">
            <a:extLst>
              <a:ext uri="{FF2B5EF4-FFF2-40B4-BE49-F238E27FC236}">
                <a16:creationId xmlns:a16="http://schemas.microsoft.com/office/drawing/2014/main" id="{52D45C27-4F4D-5A89-8C52-CB8FC47BCEF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3565" r="3565"/>
          <a:stretch/>
        </p:blipFill>
        <p:spPr>
          <a:xfrm flipH="1">
            <a:off x="7789405" y="-3219"/>
            <a:ext cx="4763978" cy="6501990"/>
          </a:xfr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E7466B0-B69A-FEBF-B8E0-FDA9AEAC7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56652" y="-3219"/>
            <a:ext cx="2076277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756CFB8-E805-3CF9-61D2-C02341EC7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7829202" y="5156615"/>
            <a:ext cx="878334" cy="170500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96053-DF7F-7AFE-4D23-78CFF34D0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28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4D835925-3D21-0B99-9A6C-587FBAE43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59" y="202101"/>
            <a:ext cx="6732237" cy="100584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Concepts: </a:t>
            </a:r>
            <a:r>
              <a:rPr lang="en-US" dirty="0"/>
              <a:t> 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67690BC-58BE-BD46-38A4-61EC504EA89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72143" y="1207942"/>
            <a:ext cx="7517262" cy="520374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200" b="1" i="0" dirty="0">
                <a:solidFill>
                  <a:srgbClr val="24292F"/>
                </a:solidFill>
                <a:effectLst/>
                <a:latin typeface="monica-ext-font_YIBBBFG"/>
              </a:rPr>
              <a:t>Statements</a:t>
            </a:r>
            <a:r>
              <a:rPr lang="en-US" sz="3200" b="0" i="0" dirty="0">
                <a:solidFill>
                  <a:srgbClr val="24292F"/>
                </a:solidFill>
                <a:effectLst/>
                <a:latin typeface="monica-ext-font_YIBBBFG"/>
              </a:rPr>
              <a:t> are complete commands that instruct the computer to perform a specific action. </a:t>
            </a:r>
          </a:p>
          <a:p>
            <a:pPr marL="0" indent="0">
              <a:buNone/>
            </a:pPr>
            <a:r>
              <a:rPr lang="en-US" sz="3200" b="0" i="0" dirty="0">
                <a:solidFill>
                  <a:srgbClr val="24292F"/>
                </a:solidFill>
                <a:effectLst/>
                <a:latin typeface="monica-ext-font_YIBBBFG"/>
              </a:rPr>
              <a:t>They typically end with a semicolon (;) and can include assignments, function calls, loops, conditional statements, and more. Statements modify the state of the program by changing the values of variables or performing some action.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24292F"/>
                </a:solidFill>
                <a:latin typeface="monica-ext-font_YIBBBFG"/>
              </a:rPr>
              <a:t>Expressions, </a:t>
            </a:r>
            <a:r>
              <a:rPr lang="en-US" sz="3100" dirty="0">
                <a:solidFill>
                  <a:srgbClr val="24292F"/>
                </a:solidFill>
                <a:latin typeface="monica-ext-font_YIBBBFG"/>
              </a:rPr>
              <a:t>are combinations of operands (variables, constants, operators) that evaluate to a single value. They do not modify the state of the program and are often used as part of statements. </a:t>
            </a:r>
          </a:p>
          <a:p>
            <a:pPr marL="0" indent="0">
              <a:buNone/>
            </a:pPr>
            <a:r>
              <a:rPr lang="en-US" sz="3100" dirty="0">
                <a:solidFill>
                  <a:srgbClr val="24292F"/>
                </a:solidFill>
                <a:latin typeface="monica-ext-font_YIBBBFG"/>
              </a:rPr>
              <a:t>Expressions can include arithmetic operations, logical comparisons, function calls, and more.</a:t>
            </a:r>
          </a:p>
          <a:p>
            <a:pPr marL="0" indent="0">
              <a:buNone/>
            </a:pPr>
            <a:endParaRPr lang="en-US" sz="1700" b="1" dirty="0"/>
          </a:p>
          <a:p>
            <a:pPr marL="0" indent="0">
              <a:buNone/>
            </a:pPr>
            <a:endParaRPr lang="en-US" sz="1700" b="1" dirty="0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2C984-616F-EC16-3E37-A54495E756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</p:spPr>
        <p:txBody>
          <a:bodyPr/>
          <a:lstStyle/>
          <a:p>
            <a:r>
              <a:rPr lang="en-US" dirty="0"/>
              <a:t>CODE CRACKERS</a:t>
            </a:r>
          </a:p>
        </p:txBody>
      </p:sp>
      <p:pic>
        <p:nvPicPr>
          <p:cNvPr id="19" name="Picture Placeholder 18" descr="A person working at a desk">
            <a:extLst>
              <a:ext uri="{FF2B5EF4-FFF2-40B4-BE49-F238E27FC236}">
                <a16:creationId xmlns:a16="http://schemas.microsoft.com/office/drawing/2014/main" id="{52D45C27-4F4D-5A89-8C52-CB8FC47BCEF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3565" r="3565"/>
          <a:stretch/>
        </p:blipFill>
        <p:spPr>
          <a:xfrm flipH="1">
            <a:off x="7789405" y="-3219"/>
            <a:ext cx="4763978" cy="6501990"/>
          </a:xfr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E7466B0-B69A-FEBF-B8E0-FDA9AEAC7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56652" y="-3219"/>
            <a:ext cx="2076277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756CFB8-E805-3CF9-61D2-C02341EC7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7829202" y="5156615"/>
            <a:ext cx="878334" cy="170500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96053-DF7F-7AFE-4D23-78CFF34D0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1314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4D835925-3D21-0B99-9A6C-587FBAE43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59" y="202101"/>
            <a:ext cx="6732237" cy="100584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Concepts: </a:t>
            </a:r>
            <a:r>
              <a:rPr lang="en-US" dirty="0"/>
              <a:t> 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67690BC-58BE-BD46-38A4-61EC504EA89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72143" y="1207942"/>
            <a:ext cx="7517262" cy="52037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b="1" dirty="0"/>
              <a:t>Syntax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24292F"/>
                </a:solidFill>
                <a:effectLst/>
                <a:latin typeface="monica-ext-font_YIBBBFG"/>
              </a:rPr>
              <a:t>Syntax defines the set of rules that determine whether a sequence of characters or tokens forms a valid program. 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24292F"/>
                </a:solidFill>
                <a:effectLst/>
                <a:latin typeface="monica-ext-font_YIBBBFG"/>
              </a:rPr>
              <a:t>It specifies how different elements of a programming language, such as keywords, identifiers, operators, and statements, should be arranged to create meaningful code.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24292F"/>
                </a:solidFill>
                <a:effectLst/>
                <a:latin typeface="monica-ext-font_YIBBBFG"/>
              </a:rPr>
              <a:t> Syntax errors occur when the code violates these rules, making it difficult or impossible for the compiler or interpreter to process the program.</a:t>
            </a:r>
            <a:endParaRPr lang="en-US" sz="1700" b="1" dirty="0"/>
          </a:p>
          <a:p>
            <a:pPr marL="0" indent="0">
              <a:buNone/>
            </a:pPr>
            <a:endParaRPr lang="en-US" sz="1700" b="1" dirty="0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2C984-616F-EC16-3E37-A54495E756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</p:spPr>
        <p:txBody>
          <a:bodyPr/>
          <a:lstStyle/>
          <a:p>
            <a:r>
              <a:rPr lang="en-US" dirty="0"/>
              <a:t>CODE CRACKERS</a:t>
            </a:r>
          </a:p>
        </p:txBody>
      </p:sp>
      <p:pic>
        <p:nvPicPr>
          <p:cNvPr id="19" name="Picture Placeholder 18" descr="A person working at a desk">
            <a:extLst>
              <a:ext uri="{FF2B5EF4-FFF2-40B4-BE49-F238E27FC236}">
                <a16:creationId xmlns:a16="http://schemas.microsoft.com/office/drawing/2014/main" id="{52D45C27-4F4D-5A89-8C52-CB8FC47BCEF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3565" r="3565"/>
          <a:stretch/>
        </p:blipFill>
        <p:spPr>
          <a:xfrm flipH="1">
            <a:off x="7789405" y="-3219"/>
            <a:ext cx="4763978" cy="6501990"/>
          </a:xfr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E7466B0-B69A-FEBF-B8E0-FDA9AEAC7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56652" y="-3219"/>
            <a:ext cx="2076277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756CFB8-E805-3CF9-61D2-C02341EC7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7829202" y="5156615"/>
            <a:ext cx="878334" cy="170500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96053-DF7F-7AFE-4D23-78CFF34D0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060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4D835925-3D21-0B99-9A6C-587FBAE43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59" y="202101"/>
            <a:ext cx="6732237" cy="100584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Concepts: </a:t>
            </a:r>
            <a:r>
              <a:rPr lang="en-US" dirty="0"/>
              <a:t> 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67690BC-58BE-BD46-38A4-61EC504EA89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72143" y="1207942"/>
            <a:ext cx="7517262" cy="52037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b="1" dirty="0"/>
              <a:t>Semantics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24292F"/>
                </a:solidFill>
                <a:effectLst/>
                <a:latin typeface="monica-ext-font_YIBBBFG"/>
              </a:rPr>
              <a:t>Semantics, on the other hand, focuses on the meaning of the code. It defines how the program behaves when executed. 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24292F"/>
                </a:solidFill>
                <a:effectLst/>
                <a:latin typeface="monica-ext-font_YIBBBFG"/>
              </a:rPr>
              <a:t>Semantic analysis involves understanding the purpose of each statement and expression, evaluating their validity, and ensuring that the program performs the intended task.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24292F"/>
                </a:solidFill>
                <a:effectLst/>
                <a:latin typeface="monica-ext-font_YIBBBFG"/>
              </a:rPr>
              <a:t> Semantic errors arise when the code is syntactically correct but does not produce the desired output or exhibits unexpected behavior.</a:t>
            </a:r>
            <a:endParaRPr lang="en-US" sz="2400" b="1" dirty="0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2C984-616F-EC16-3E37-A54495E756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</p:spPr>
        <p:txBody>
          <a:bodyPr/>
          <a:lstStyle/>
          <a:p>
            <a:r>
              <a:rPr lang="en-US" dirty="0"/>
              <a:t>CODE CRACKERS</a:t>
            </a:r>
          </a:p>
        </p:txBody>
      </p:sp>
      <p:pic>
        <p:nvPicPr>
          <p:cNvPr id="19" name="Picture Placeholder 18" descr="A person working at a desk">
            <a:extLst>
              <a:ext uri="{FF2B5EF4-FFF2-40B4-BE49-F238E27FC236}">
                <a16:creationId xmlns:a16="http://schemas.microsoft.com/office/drawing/2014/main" id="{52D45C27-4F4D-5A89-8C52-CB8FC47BCEF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3565" r="3565"/>
          <a:stretch/>
        </p:blipFill>
        <p:spPr>
          <a:xfrm flipH="1">
            <a:off x="7789405" y="-3219"/>
            <a:ext cx="4763978" cy="6501990"/>
          </a:xfr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E7466B0-B69A-FEBF-B8E0-FDA9AEAC7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56652" y="-3219"/>
            <a:ext cx="2076277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756CFB8-E805-3CF9-61D2-C02341EC7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7829202" y="5156615"/>
            <a:ext cx="878334" cy="170500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96053-DF7F-7AFE-4D23-78CFF34D0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389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D3917-072D-B98F-53A4-46496DCB7D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9788" y="353962"/>
            <a:ext cx="4786877" cy="983225"/>
          </a:xfrm>
        </p:spPr>
        <p:txBody>
          <a:bodyPr/>
          <a:lstStyle/>
          <a:p>
            <a:r>
              <a:rPr lang="en-US" dirty="0"/>
              <a:t>Summary 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DB4740A4-A1D9-E9B5-6838-073E136928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9788" y="1517074"/>
            <a:ext cx="4786877" cy="763899"/>
          </a:xfrm>
        </p:spPr>
        <p:txBody>
          <a:bodyPr/>
          <a:lstStyle/>
          <a:p>
            <a:r>
              <a:rPr lang="en-US" dirty="0"/>
              <a:t>What we’ve learned so far</a:t>
            </a:r>
          </a:p>
        </p:txBody>
      </p:sp>
      <p:pic>
        <p:nvPicPr>
          <p:cNvPr id="7" name="Picture Placeholder 6" descr="A close up of a circuit board">
            <a:extLst>
              <a:ext uri="{FF2B5EF4-FFF2-40B4-BE49-F238E27FC236}">
                <a16:creationId xmlns:a16="http://schemas.microsoft.com/office/drawing/2014/main" id="{F8C45233-1B15-3596-75CE-DED7D720CA0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194" r="1194"/>
          <a:stretch/>
        </p:blipFill>
        <p:spPr>
          <a:xfrm>
            <a:off x="0" y="-2235"/>
            <a:ext cx="5840730" cy="6862275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6C1B1B9-02C9-EF1E-AFBE-E40015F082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99788" y="2123472"/>
            <a:ext cx="4796710" cy="401939"/>
          </a:xfrm>
        </p:spPr>
        <p:txBody>
          <a:bodyPr>
            <a:normAutofit/>
          </a:bodyPr>
          <a:lstStyle/>
          <a:p>
            <a:r>
              <a:rPr lang="en-US" dirty="0"/>
              <a:t>What is a variable?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45E210F-6B8D-736F-B141-2B3CBE6135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89955" y="2728264"/>
            <a:ext cx="4796710" cy="401939"/>
          </a:xfrm>
        </p:spPr>
        <p:txBody>
          <a:bodyPr>
            <a:normAutofit/>
          </a:bodyPr>
          <a:lstStyle/>
          <a:p>
            <a:r>
              <a:rPr lang="en-US" dirty="0"/>
              <a:t>What are data types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9847AB5-5442-A3C4-87F1-C737DF1C6D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99788" y="3937315"/>
            <a:ext cx="4796710" cy="769181"/>
          </a:xfrm>
        </p:spPr>
        <p:txBody>
          <a:bodyPr>
            <a:normAutofit/>
          </a:bodyPr>
          <a:lstStyle/>
          <a:p>
            <a:r>
              <a:rPr lang="en-US" dirty="0"/>
              <a:t>What is the difference between statement and expression?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9A1C40A-BC04-C14E-7867-E3D7B1597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084061" y="0"/>
            <a:ext cx="2959129" cy="6871447"/>
            <a:chOff x="3084061" y="0"/>
            <a:chExt cx="2959129" cy="6871447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5521D96-1220-9A5F-FB15-764C14CD87A4}"/>
                </a:ext>
              </a:extLst>
            </p:cNvPr>
            <p:cNvSpPr/>
            <p:nvPr/>
          </p:nvSpPr>
          <p:spPr>
            <a:xfrm rot="10800000">
              <a:off x="3498189" y="17722"/>
              <a:ext cx="2545001" cy="6837172"/>
            </a:xfrm>
            <a:custGeom>
              <a:avLst/>
              <a:gdLst>
                <a:gd name="connsiteX0" fmla="*/ 2518452 w 2545001"/>
                <a:gd name="connsiteY0" fmla="*/ 0 h 6837172"/>
                <a:gd name="connsiteX1" fmla="*/ 1701725 w 2545001"/>
                <a:gd name="connsiteY1" fmla="*/ 3172236 h 6837172"/>
                <a:gd name="connsiteX2" fmla="*/ 1361633 w 2545001"/>
                <a:gd name="connsiteY2" fmla="*/ 4439362 h 6837172"/>
                <a:gd name="connsiteX3" fmla="*/ 1178312 w 2545001"/>
                <a:gd name="connsiteY3" fmla="*/ 4524005 h 6837172"/>
                <a:gd name="connsiteX4" fmla="*/ 1067055 w 2545001"/>
                <a:gd name="connsiteY4" fmla="*/ 4330715 h 6837172"/>
                <a:gd name="connsiteX5" fmla="*/ 1324969 w 2545001"/>
                <a:gd name="connsiteY5" fmla="*/ 3379423 h 6837172"/>
                <a:gd name="connsiteX6" fmla="*/ 1307268 w 2545001"/>
                <a:gd name="connsiteY6" fmla="*/ 3240456 h 6837172"/>
                <a:gd name="connsiteX7" fmla="*/ 1196012 w 2545001"/>
                <a:gd name="connsiteY7" fmla="*/ 3154549 h 6837172"/>
                <a:gd name="connsiteX8" fmla="*/ 972233 w 2545001"/>
                <a:gd name="connsiteY8" fmla="*/ 3283409 h 6837172"/>
                <a:gd name="connsiteX9" fmla="*/ 580306 w 2545001"/>
                <a:gd name="connsiteY9" fmla="*/ 4728666 h 6837172"/>
                <a:gd name="connsiteX10" fmla="*/ 5057 w 2545001"/>
                <a:gd name="connsiteY10" fmla="*/ 6820750 h 6837172"/>
                <a:gd name="connsiteX11" fmla="*/ 0 w 2545001"/>
                <a:gd name="connsiteY11" fmla="*/ 6837173 h 6837172"/>
                <a:gd name="connsiteX12" fmla="*/ 26550 w 2545001"/>
                <a:gd name="connsiteY12" fmla="*/ 6837173 h 6837172"/>
                <a:gd name="connsiteX13" fmla="*/ 605591 w 2545001"/>
                <a:gd name="connsiteY13" fmla="*/ 4736246 h 6837172"/>
                <a:gd name="connsiteX14" fmla="*/ 997519 w 2545001"/>
                <a:gd name="connsiteY14" fmla="*/ 3290990 h 6837172"/>
                <a:gd name="connsiteX15" fmla="*/ 1190954 w 2545001"/>
                <a:gd name="connsiteY15" fmla="*/ 3179816 h 6837172"/>
                <a:gd name="connsiteX16" fmla="*/ 1285776 w 2545001"/>
                <a:gd name="connsiteY16" fmla="*/ 3253089 h 6837172"/>
                <a:gd name="connsiteX17" fmla="*/ 1300947 w 2545001"/>
                <a:gd name="connsiteY17" fmla="*/ 3373106 h 6837172"/>
                <a:gd name="connsiteX18" fmla="*/ 1043033 w 2545001"/>
                <a:gd name="connsiteY18" fmla="*/ 4324398 h 6837172"/>
                <a:gd name="connsiteX19" fmla="*/ 1171990 w 2545001"/>
                <a:gd name="connsiteY19" fmla="*/ 4548009 h 6837172"/>
                <a:gd name="connsiteX20" fmla="*/ 1385654 w 2545001"/>
                <a:gd name="connsiteY20" fmla="*/ 4448205 h 6837172"/>
                <a:gd name="connsiteX21" fmla="*/ 1385654 w 2545001"/>
                <a:gd name="connsiteY21" fmla="*/ 4446942 h 6837172"/>
                <a:gd name="connsiteX22" fmla="*/ 1725746 w 2545001"/>
                <a:gd name="connsiteY22" fmla="*/ 3178553 h 6837172"/>
                <a:gd name="connsiteX23" fmla="*/ 2545002 w 2545001"/>
                <a:gd name="connsiteY23" fmla="*/ 1263 h 6837172"/>
                <a:gd name="connsiteX24" fmla="*/ 2518452 w 2545001"/>
                <a:gd name="connsiteY24" fmla="*/ 0 h 6837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45001" h="6837172">
                  <a:moveTo>
                    <a:pt x="2518452" y="0"/>
                  </a:moveTo>
                  <a:lnTo>
                    <a:pt x="1701725" y="3172236"/>
                  </a:lnTo>
                  <a:lnTo>
                    <a:pt x="1361633" y="4439362"/>
                  </a:lnTo>
                  <a:cubicBezTo>
                    <a:pt x="1328761" y="4508845"/>
                    <a:pt x="1251640" y="4544219"/>
                    <a:pt x="1178312" y="4524005"/>
                  </a:cubicBezTo>
                  <a:cubicBezTo>
                    <a:pt x="1094869" y="4501265"/>
                    <a:pt x="1044298" y="4414095"/>
                    <a:pt x="1067055" y="4330715"/>
                  </a:cubicBezTo>
                  <a:lnTo>
                    <a:pt x="1324969" y="3379423"/>
                  </a:lnTo>
                  <a:cubicBezTo>
                    <a:pt x="1337611" y="3332679"/>
                    <a:pt x="1331290" y="3283409"/>
                    <a:pt x="1307268" y="3240456"/>
                  </a:cubicBezTo>
                  <a:cubicBezTo>
                    <a:pt x="1283247" y="3197503"/>
                    <a:pt x="1244054" y="3167183"/>
                    <a:pt x="1196012" y="3154549"/>
                  </a:cubicBezTo>
                  <a:cubicBezTo>
                    <a:pt x="1098662" y="3128019"/>
                    <a:pt x="997519" y="3186133"/>
                    <a:pt x="972233" y="3283409"/>
                  </a:cubicBezTo>
                  <a:lnTo>
                    <a:pt x="580306" y="4728666"/>
                  </a:lnTo>
                  <a:lnTo>
                    <a:pt x="5057" y="6820750"/>
                  </a:lnTo>
                  <a:cubicBezTo>
                    <a:pt x="5057" y="6820750"/>
                    <a:pt x="1264" y="6833383"/>
                    <a:pt x="0" y="6837173"/>
                  </a:cubicBezTo>
                  <a:lnTo>
                    <a:pt x="26550" y="6837173"/>
                  </a:lnTo>
                  <a:lnTo>
                    <a:pt x="605591" y="4736246"/>
                  </a:lnTo>
                  <a:lnTo>
                    <a:pt x="997519" y="3290990"/>
                  </a:lnTo>
                  <a:cubicBezTo>
                    <a:pt x="1020276" y="3207609"/>
                    <a:pt x="1107512" y="3157076"/>
                    <a:pt x="1190954" y="3179816"/>
                  </a:cubicBezTo>
                  <a:cubicBezTo>
                    <a:pt x="1231411" y="3191186"/>
                    <a:pt x="1265547" y="3216453"/>
                    <a:pt x="1285776" y="3253089"/>
                  </a:cubicBezTo>
                  <a:cubicBezTo>
                    <a:pt x="1307268" y="3289726"/>
                    <a:pt x="1312326" y="3331416"/>
                    <a:pt x="1300947" y="3373106"/>
                  </a:cubicBezTo>
                  <a:lnTo>
                    <a:pt x="1043033" y="4324398"/>
                  </a:lnTo>
                  <a:cubicBezTo>
                    <a:pt x="1016483" y="4421675"/>
                    <a:pt x="1074640" y="4522742"/>
                    <a:pt x="1171990" y="4548009"/>
                  </a:cubicBezTo>
                  <a:cubicBezTo>
                    <a:pt x="1257961" y="4570749"/>
                    <a:pt x="1347725" y="4529059"/>
                    <a:pt x="1385654" y="4448205"/>
                  </a:cubicBezTo>
                  <a:lnTo>
                    <a:pt x="1385654" y="4446942"/>
                  </a:lnTo>
                  <a:lnTo>
                    <a:pt x="1725746" y="3178553"/>
                  </a:lnTo>
                  <a:lnTo>
                    <a:pt x="2545002" y="1263"/>
                  </a:lnTo>
                  <a:cubicBezTo>
                    <a:pt x="2536151" y="0"/>
                    <a:pt x="2527302" y="0"/>
                    <a:pt x="2518452" y="0"/>
                  </a:cubicBezTo>
                  <a:close/>
                </a:path>
              </a:pathLst>
            </a:custGeom>
            <a:solidFill>
              <a:schemeClr val="accent1"/>
            </a:solidFill>
            <a:ln w="126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37359AB-4FC7-AF1F-096F-69BD733B87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84061" y="0"/>
              <a:ext cx="1822122" cy="6871447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8FFFE4D-5AED-054E-A598-F9D5FEF9E49B}"/>
              </a:ext>
            </a:extLst>
          </p:cNvPr>
          <p:cNvSpPr txBox="1">
            <a:spLocks/>
          </p:cNvSpPr>
          <p:nvPr/>
        </p:nvSpPr>
        <p:spPr>
          <a:xfrm>
            <a:off x="6589955" y="3290939"/>
            <a:ext cx="4796710" cy="401939"/>
          </a:xfrm>
          <a:prstGeom prst="rect">
            <a:avLst/>
          </a:prstGeom>
        </p:spPr>
        <p:txBody>
          <a:bodyPr vert="horz" lIns="91440" tIns="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Courier New" panose="02070309020205020404" pitchFamily="49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74320" indent="-27432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ourier New" panose="02070309020205020404" pitchFamily="49" charset="0"/>
              <a:buChar char="o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274320" indent="-27432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ourier New" panose="02070309020205020404" pitchFamily="49" charset="0"/>
              <a:buChar char="o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74320" indent="-27432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ourier New" panose="02070309020205020404" pitchFamily="49" charset="0"/>
              <a:buChar char="o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What is a pseudocode?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F8875073-FAB3-14DC-5A6A-4FFE3A63D73A}"/>
              </a:ext>
            </a:extLst>
          </p:cNvPr>
          <p:cNvSpPr txBox="1">
            <a:spLocks/>
          </p:cNvSpPr>
          <p:nvPr/>
        </p:nvSpPr>
        <p:spPr>
          <a:xfrm>
            <a:off x="6599788" y="4717218"/>
            <a:ext cx="4796710" cy="769182"/>
          </a:xfrm>
          <a:prstGeom prst="rect">
            <a:avLst/>
          </a:prstGeom>
        </p:spPr>
        <p:txBody>
          <a:bodyPr vert="horz" lIns="91440" tIns="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Courier New" panose="02070309020205020404" pitchFamily="49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74320" indent="-27432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ourier New" panose="02070309020205020404" pitchFamily="49" charset="0"/>
              <a:buChar char="o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274320" indent="-27432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ourier New" panose="02070309020205020404" pitchFamily="49" charset="0"/>
              <a:buChar char="o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74320" indent="-27432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ourier New" panose="02070309020205020404" pitchFamily="49" charset="0"/>
              <a:buChar char="o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What is the difference between syntax and semantics?</a:t>
            </a:r>
          </a:p>
        </p:txBody>
      </p:sp>
    </p:spTree>
    <p:extLst>
      <p:ext uri="{BB962C8B-B14F-4D97-AF65-F5344CB8AC3E}">
        <p14:creationId xmlns:p14="http://schemas.microsoft.com/office/powerpoint/2010/main" val="237198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9452219-785E-4657-C5F4-A53FEF2EB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0326" y="1679216"/>
            <a:ext cx="4786877" cy="151831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A8DFC8D-4AE6-170E-C27A-DA97EBD7D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059704" y="0"/>
            <a:ext cx="2928883" cy="6871447"/>
            <a:chOff x="4059704" y="0"/>
            <a:chExt cx="2928883" cy="687144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F966C9E-A9A2-BF8C-EDCB-B7F6AE51C425}"/>
                </a:ext>
              </a:extLst>
            </p:cNvPr>
            <p:cNvSpPr/>
            <p:nvPr/>
          </p:nvSpPr>
          <p:spPr>
            <a:xfrm rot="10800000">
              <a:off x="4443586" y="5022"/>
              <a:ext cx="2545001" cy="6837172"/>
            </a:xfrm>
            <a:custGeom>
              <a:avLst/>
              <a:gdLst>
                <a:gd name="connsiteX0" fmla="*/ 2518452 w 2545001"/>
                <a:gd name="connsiteY0" fmla="*/ 0 h 6837172"/>
                <a:gd name="connsiteX1" fmla="*/ 1701725 w 2545001"/>
                <a:gd name="connsiteY1" fmla="*/ 3172236 h 6837172"/>
                <a:gd name="connsiteX2" fmla="*/ 1361633 w 2545001"/>
                <a:gd name="connsiteY2" fmla="*/ 4439362 h 6837172"/>
                <a:gd name="connsiteX3" fmla="*/ 1178312 w 2545001"/>
                <a:gd name="connsiteY3" fmla="*/ 4524005 h 6837172"/>
                <a:gd name="connsiteX4" fmla="*/ 1067055 w 2545001"/>
                <a:gd name="connsiteY4" fmla="*/ 4330715 h 6837172"/>
                <a:gd name="connsiteX5" fmla="*/ 1324969 w 2545001"/>
                <a:gd name="connsiteY5" fmla="*/ 3379423 h 6837172"/>
                <a:gd name="connsiteX6" fmla="*/ 1307268 w 2545001"/>
                <a:gd name="connsiteY6" fmla="*/ 3240456 h 6837172"/>
                <a:gd name="connsiteX7" fmla="*/ 1196012 w 2545001"/>
                <a:gd name="connsiteY7" fmla="*/ 3154549 h 6837172"/>
                <a:gd name="connsiteX8" fmla="*/ 972233 w 2545001"/>
                <a:gd name="connsiteY8" fmla="*/ 3283409 h 6837172"/>
                <a:gd name="connsiteX9" fmla="*/ 580306 w 2545001"/>
                <a:gd name="connsiteY9" fmla="*/ 4728666 h 6837172"/>
                <a:gd name="connsiteX10" fmla="*/ 5057 w 2545001"/>
                <a:gd name="connsiteY10" fmla="*/ 6820750 h 6837172"/>
                <a:gd name="connsiteX11" fmla="*/ 0 w 2545001"/>
                <a:gd name="connsiteY11" fmla="*/ 6837173 h 6837172"/>
                <a:gd name="connsiteX12" fmla="*/ 26550 w 2545001"/>
                <a:gd name="connsiteY12" fmla="*/ 6837173 h 6837172"/>
                <a:gd name="connsiteX13" fmla="*/ 605591 w 2545001"/>
                <a:gd name="connsiteY13" fmla="*/ 4736246 h 6837172"/>
                <a:gd name="connsiteX14" fmla="*/ 997519 w 2545001"/>
                <a:gd name="connsiteY14" fmla="*/ 3290990 h 6837172"/>
                <a:gd name="connsiteX15" fmla="*/ 1190954 w 2545001"/>
                <a:gd name="connsiteY15" fmla="*/ 3179816 h 6837172"/>
                <a:gd name="connsiteX16" fmla="*/ 1285776 w 2545001"/>
                <a:gd name="connsiteY16" fmla="*/ 3253089 h 6837172"/>
                <a:gd name="connsiteX17" fmla="*/ 1300947 w 2545001"/>
                <a:gd name="connsiteY17" fmla="*/ 3373106 h 6837172"/>
                <a:gd name="connsiteX18" fmla="*/ 1043033 w 2545001"/>
                <a:gd name="connsiteY18" fmla="*/ 4324398 h 6837172"/>
                <a:gd name="connsiteX19" fmla="*/ 1171990 w 2545001"/>
                <a:gd name="connsiteY19" fmla="*/ 4548009 h 6837172"/>
                <a:gd name="connsiteX20" fmla="*/ 1385654 w 2545001"/>
                <a:gd name="connsiteY20" fmla="*/ 4448205 h 6837172"/>
                <a:gd name="connsiteX21" fmla="*/ 1385654 w 2545001"/>
                <a:gd name="connsiteY21" fmla="*/ 4446942 h 6837172"/>
                <a:gd name="connsiteX22" fmla="*/ 1725746 w 2545001"/>
                <a:gd name="connsiteY22" fmla="*/ 3178553 h 6837172"/>
                <a:gd name="connsiteX23" fmla="*/ 2545002 w 2545001"/>
                <a:gd name="connsiteY23" fmla="*/ 1263 h 6837172"/>
                <a:gd name="connsiteX24" fmla="*/ 2518452 w 2545001"/>
                <a:gd name="connsiteY24" fmla="*/ 0 h 6837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45001" h="6837172">
                  <a:moveTo>
                    <a:pt x="2518452" y="0"/>
                  </a:moveTo>
                  <a:lnTo>
                    <a:pt x="1701725" y="3172236"/>
                  </a:lnTo>
                  <a:lnTo>
                    <a:pt x="1361633" y="4439362"/>
                  </a:lnTo>
                  <a:cubicBezTo>
                    <a:pt x="1328761" y="4508845"/>
                    <a:pt x="1251640" y="4544219"/>
                    <a:pt x="1178312" y="4524005"/>
                  </a:cubicBezTo>
                  <a:cubicBezTo>
                    <a:pt x="1094869" y="4501265"/>
                    <a:pt x="1044298" y="4414095"/>
                    <a:pt x="1067055" y="4330715"/>
                  </a:cubicBezTo>
                  <a:lnTo>
                    <a:pt x="1324969" y="3379423"/>
                  </a:lnTo>
                  <a:cubicBezTo>
                    <a:pt x="1337611" y="3332679"/>
                    <a:pt x="1331290" y="3283409"/>
                    <a:pt x="1307268" y="3240456"/>
                  </a:cubicBezTo>
                  <a:cubicBezTo>
                    <a:pt x="1283247" y="3197503"/>
                    <a:pt x="1244054" y="3167183"/>
                    <a:pt x="1196012" y="3154549"/>
                  </a:cubicBezTo>
                  <a:cubicBezTo>
                    <a:pt x="1098662" y="3128019"/>
                    <a:pt x="997519" y="3186133"/>
                    <a:pt x="972233" y="3283409"/>
                  </a:cubicBezTo>
                  <a:lnTo>
                    <a:pt x="580306" y="4728666"/>
                  </a:lnTo>
                  <a:lnTo>
                    <a:pt x="5057" y="6820750"/>
                  </a:lnTo>
                  <a:cubicBezTo>
                    <a:pt x="5057" y="6820750"/>
                    <a:pt x="1264" y="6833383"/>
                    <a:pt x="0" y="6837173"/>
                  </a:cubicBezTo>
                  <a:lnTo>
                    <a:pt x="26550" y="6837173"/>
                  </a:lnTo>
                  <a:lnTo>
                    <a:pt x="605591" y="4736246"/>
                  </a:lnTo>
                  <a:lnTo>
                    <a:pt x="997519" y="3290990"/>
                  </a:lnTo>
                  <a:cubicBezTo>
                    <a:pt x="1020276" y="3207609"/>
                    <a:pt x="1107512" y="3157076"/>
                    <a:pt x="1190954" y="3179816"/>
                  </a:cubicBezTo>
                  <a:cubicBezTo>
                    <a:pt x="1231411" y="3191186"/>
                    <a:pt x="1265547" y="3216453"/>
                    <a:pt x="1285776" y="3253089"/>
                  </a:cubicBezTo>
                  <a:cubicBezTo>
                    <a:pt x="1307268" y="3289726"/>
                    <a:pt x="1312326" y="3331416"/>
                    <a:pt x="1300947" y="3373106"/>
                  </a:cubicBezTo>
                  <a:lnTo>
                    <a:pt x="1043033" y="4324398"/>
                  </a:lnTo>
                  <a:cubicBezTo>
                    <a:pt x="1016483" y="4421675"/>
                    <a:pt x="1074640" y="4522742"/>
                    <a:pt x="1171990" y="4548009"/>
                  </a:cubicBezTo>
                  <a:cubicBezTo>
                    <a:pt x="1257961" y="4570749"/>
                    <a:pt x="1347725" y="4529059"/>
                    <a:pt x="1385654" y="4448205"/>
                  </a:cubicBezTo>
                  <a:lnTo>
                    <a:pt x="1385654" y="4446942"/>
                  </a:lnTo>
                  <a:lnTo>
                    <a:pt x="1725746" y="3178553"/>
                  </a:lnTo>
                  <a:lnTo>
                    <a:pt x="2545002" y="1263"/>
                  </a:lnTo>
                  <a:cubicBezTo>
                    <a:pt x="2536151" y="0"/>
                    <a:pt x="2527302" y="0"/>
                    <a:pt x="2518452" y="0"/>
                  </a:cubicBezTo>
                  <a:close/>
                </a:path>
              </a:pathLst>
            </a:custGeom>
            <a:solidFill>
              <a:schemeClr val="accent1"/>
            </a:solidFill>
            <a:ln w="126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33BC35A-F255-48AA-48B8-D6561A6FAB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9704" y="0"/>
              <a:ext cx="1822122" cy="6871447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59551C5-337D-31EF-FE1F-CB56CEBC76B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2899485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TM11534312">
      <a:dk1>
        <a:srgbClr val="000000"/>
      </a:dk1>
      <a:lt1>
        <a:srgbClr val="FFFFFF"/>
      </a:lt1>
      <a:dk2>
        <a:srgbClr val="D87A1A"/>
      </a:dk2>
      <a:lt2>
        <a:srgbClr val="E7E6E6"/>
      </a:lt2>
      <a:accent1>
        <a:srgbClr val="FFBA00"/>
      </a:accent1>
      <a:accent2>
        <a:srgbClr val="7229D2"/>
      </a:accent2>
      <a:accent3>
        <a:srgbClr val="C62FE1"/>
      </a:accent3>
      <a:accent4>
        <a:srgbClr val="CF1DA0"/>
      </a:accent4>
      <a:accent5>
        <a:srgbClr val="E12F68"/>
      </a:accent5>
      <a:accent6>
        <a:srgbClr val="CF2E1D"/>
      </a:accent6>
      <a:hlink>
        <a:srgbClr val="87882D"/>
      </a:hlink>
      <a:folHlink>
        <a:srgbClr val="7F7F7F"/>
      </a:folHlink>
    </a:clrScheme>
    <a:fontScheme name="Custom 62">
      <a:majorFont>
        <a:latin typeface="Book Antiqua"/>
        <a:ea typeface=""/>
        <a:cs typeface=""/>
      </a:majorFont>
      <a:minorFont>
        <a:latin typeface="Century Gothic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11534312_Win32_SL_V3" id="{A784F2EB-8377-40E2-878D-F359E4F7734D}" vid="{87F4C17B-0668-4D7F-80F5-6507D8EFBB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9EAE05-2D90-4440-A098-2E114DBDB54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C15CCAF-B227-4420-8A82-899C4EC33714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89BB42C3-98F0-4E09-AE96-62EE07CAC5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491</Words>
  <Application>Microsoft Office PowerPoint</Application>
  <PresentationFormat>Widescreen</PresentationFormat>
  <Paragraphs>81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Book Antiqua</vt:lpstr>
      <vt:lpstr>Calibri</vt:lpstr>
      <vt:lpstr>Century Gothic</vt:lpstr>
      <vt:lpstr>Courier New</vt:lpstr>
      <vt:lpstr>Google Sans</vt:lpstr>
      <vt:lpstr>monica-ext-font_YIBBBFG</vt:lpstr>
      <vt:lpstr>Custom</vt:lpstr>
      <vt:lpstr> Programming Concepts</vt:lpstr>
      <vt:lpstr>Lesson Outline</vt:lpstr>
      <vt:lpstr>Concepts: Coding styles </vt:lpstr>
      <vt:lpstr>Code: Concepts</vt:lpstr>
      <vt:lpstr>Code: Concepts</vt:lpstr>
      <vt:lpstr>Concepts:  </vt:lpstr>
      <vt:lpstr>Concepts:  </vt:lpstr>
      <vt:lpstr>Concepts:  </vt:lpstr>
      <vt:lpstr>Concepts:  </vt:lpstr>
      <vt:lpstr>Summary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2023-07-18T15:28:54Z</dcterms:created>
  <dcterms:modified xsi:type="dcterms:W3CDTF">2024-01-22T14:44:57Z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