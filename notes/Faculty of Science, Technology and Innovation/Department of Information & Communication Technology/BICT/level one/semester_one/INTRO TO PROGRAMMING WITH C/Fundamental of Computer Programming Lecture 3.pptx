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725" r:id="rId4"/>
  </p:sldMasterIdLst>
  <p:notesMasterIdLst>
    <p:notesMasterId r:id="rId19"/>
  </p:notesMasterIdLst>
  <p:handoutMasterIdLst>
    <p:handoutMasterId r:id="rId20"/>
  </p:handoutMasterIdLst>
  <p:sldIdLst>
    <p:sldId id="376" r:id="rId5"/>
    <p:sldId id="378" r:id="rId6"/>
    <p:sldId id="394" r:id="rId7"/>
    <p:sldId id="396" r:id="rId8"/>
    <p:sldId id="277" r:id="rId9"/>
    <p:sldId id="395" r:id="rId10"/>
    <p:sldId id="397" r:id="rId11"/>
    <p:sldId id="398" r:id="rId12"/>
    <p:sldId id="399" r:id="rId13"/>
    <p:sldId id="401" r:id="rId14"/>
    <p:sldId id="402" r:id="rId15"/>
    <p:sldId id="403" r:id="rId16"/>
    <p:sldId id="384" r:id="rId17"/>
    <p:sldId id="38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2C4A5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5388" autoAdjust="0"/>
  </p:normalViewPr>
  <p:slideViewPr>
    <p:cSldViewPr snapToGrid="0" showGuides="1">
      <p:cViewPr>
        <p:scale>
          <a:sx n="62" d="100"/>
          <a:sy n="62" d="100"/>
        </p:scale>
        <p:origin x="420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1/24/2024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1/23/2024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8711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7552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28222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Let us look various parts of the above program: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I have numbered the lines</a:t>
            </a:r>
            <a:r>
              <a:rPr lang="en-US" baseline="0" dirty="0"/>
              <a:t> of code for easy explanation so that we easily follow.</a:t>
            </a:r>
            <a:endParaRPr lang="en-US" dirty="0"/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The first line of the program </a:t>
            </a:r>
            <a:r>
              <a:rPr lang="en-US" b="1" dirty="0"/>
              <a:t>#include &lt;</a:t>
            </a:r>
            <a:r>
              <a:rPr lang="en-US" b="1" dirty="0" err="1"/>
              <a:t>stdio.h</a:t>
            </a:r>
            <a:r>
              <a:rPr lang="en-US" b="1" dirty="0"/>
              <a:t>&gt;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/>
              <a:t>Is a preprocessor command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/>
              <a:t>Which tells a C compiler to include </a:t>
            </a:r>
            <a:r>
              <a:rPr lang="en-US" dirty="0" err="1"/>
              <a:t>stdio.h</a:t>
            </a:r>
            <a:r>
              <a:rPr lang="en-US" dirty="0"/>
              <a:t> file before going to actual compilation.</a:t>
            </a:r>
          </a:p>
          <a:p>
            <a:pPr marL="228600" indent="-228600">
              <a:buAutoNum type="arabicPeriod" startAt="2"/>
            </a:pPr>
            <a:r>
              <a:rPr lang="en-US" dirty="0"/>
              <a:t>The next line </a:t>
            </a:r>
            <a:r>
              <a:rPr lang="en-US" b="1" dirty="0" err="1"/>
              <a:t>int</a:t>
            </a:r>
            <a:r>
              <a:rPr lang="en-US" b="1" dirty="0"/>
              <a:t> main()</a:t>
            </a:r>
            <a:r>
              <a:rPr lang="en-US" dirty="0"/>
              <a:t>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/>
              <a:t>Is the main function where program execution begins. The main function has a body which starts with an opening curly brace/</a:t>
            </a:r>
            <a:r>
              <a:rPr lang="en-US" baseline="0" dirty="0"/>
              <a:t> bracket and has a closing curly brace/bracket</a:t>
            </a:r>
            <a:endParaRPr lang="en-US" dirty="0"/>
          </a:p>
          <a:p>
            <a:pPr marL="228600" indent="-228600">
              <a:buAutoNum type="arabicPeriod" startAt="3"/>
            </a:pPr>
            <a:r>
              <a:rPr lang="en-US" dirty="0"/>
              <a:t>The next line  </a:t>
            </a:r>
            <a:r>
              <a:rPr lang="en-US" b="1" dirty="0"/>
              <a:t>/*...*/</a:t>
            </a:r>
            <a:r>
              <a:rPr lang="en-US" dirty="0"/>
              <a:t>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/>
              <a:t>Will be ignored by the compiler and it has been put to add additional comments in the program.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/>
              <a:t>So such lines are called comments in the program.</a:t>
            </a:r>
          </a:p>
          <a:p>
            <a:pPr marL="228600" indent="-228600">
              <a:buAutoNum type="arabicPeriod" startAt="4"/>
            </a:pPr>
            <a:r>
              <a:rPr lang="en-US" dirty="0"/>
              <a:t>The  next  line </a:t>
            </a:r>
            <a:r>
              <a:rPr lang="en-US" b="1" dirty="0" err="1"/>
              <a:t>printf</a:t>
            </a:r>
            <a:r>
              <a:rPr lang="en-US" b="1" dirty="0"/>
              <a:t>(...)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/>
              <a:t>Is another  function  available  in  C  which  causes  the  message "Hello, World!" to be displayed on the screen.</a:t>
            </a:r>
          </a:p>
          <a:p>
            <a:pPr marL="228600" indent="-228600">
              <a:buAutoNum type="arabicPeriod" startAt="5"/>
            </a:pPr>
            <a:r>
              <a:rPr lang="en-US" dirty="0"/>
              <a:t>The next line </a:t>
            </a:r>
            <a:r>
              <a:rPr lang="en-US" b="1" dirty="0"/>
              <a:t>return 0;</a:t>
            </a:r>
            <a:r>
              <a:rPr lang="en-US" dirty="0"/>
              <a:t>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/>
              <a:t>Terminates main() function and returns the value 0.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0075F-4B00-4702-9442-95885AC3F4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89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481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2413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9350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15855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8236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28146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7128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6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7EC4C7D-9F32-3DD5-0898-0A64AB3E48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CD56122-AE93-63D3-9B51-14AA353EC0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80B457C0-C5F0-38B3-A5A4-4CF83DA5DC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608DDE2-7690-8BBF-1E41-BF40F26AF1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4A70176D-1CA9-F362-DA0D-140ADC80AB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B557568-DAFA-B892-D220-F9088C690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5920ECF3-A4B7-A9A1-C23F-56EDD775AC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A92B7FF-F522-FFD6-3A37-5C7F5CB3AE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718010FC-71DC-C4A0-BBE6-35E03F05FE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512EE29-359B-8558-2A40-DB8D4D2566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70CCBBEB-A224-6D89-748B-8053ED48B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370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6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5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1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920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1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2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627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AE4770-49A2-4785-92C4-84DA7AEE552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21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9" r:id="rId5"/>
    <p:sldLayoutId id="2147483746" r:id="rId6"/>
    <p:sldLayoutId id="2147483747" r:id="rId7"/>
    <p:sldLayoutId id="2147483748" r:id="rId8"/>
    <p:sldLayoutId id="2147483750" r:id="rId9"/>
    <p:sldLayoutId id="2147483756" r:id="rId10"/>
    <p:sldLayoutId id="2147483751" r:id="rId11"/>
    <p:sldLayoutId id="2147483752" r:id="rId12"/>
    <p:sldLayoutId id="2147483754" r:id="rId13"/>
    <p:sldLayoutId id="2147483755" r:id="rId14"/>
    <p:sldLayoutId id="2147483753" r:id="rId15"/>
    <p:sldLayoutId id="2147483757" r:id="rId16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7643F50D-950F-5A7E-722A-79E4F5D3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3137" y="723440"/>
            <a:ext cx="4580179" cy="2579052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Programming Fundamentals</a:t>
            </a:r>
          </a:p>
        </p:txBody>
      </p:sp>
      <p:sp>
        <p:nvSpPr>
          <p:cNvPr id="96" name="Subtitle 95">
            <a:extLst>
              <a:ext uri="{FF2B5EF4-FFF2-40B4-BE49-F238E27FC236}">
                <a16:creationId xmlns:a16="http://schemas.microsoft.com/office/drawing/2014/main" id="{1C5A4B6C-BAC7-A685-A9B1-2F354B12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8152" y="5248834"/>
            <a:ext cx="4323426" cy="10089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Presentation by: </a:t>
            </a:r>
          </a:p>
          <a:p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D. PHIRI</a:t>
            </a:r>
          </a:p>
          <a:p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LECTURER ICT DEPARTMENT</a:t>
            </a:r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2A924E96-9B1C-6D19-49F6-49CA70E655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8751" y="3373515"/>
            <a:ext cx="4743949" cy="1008926"/>
          </a:xfrm>
        </p:spPr>
        <p:txBody>
          <a:bodyPr/>
          <a:lstStyle/>
          <a:p>
            <a:r>
              <a:rPr lang="en-US" dirty="0"/>
              <a:t>Coding Life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96C8D99-3232-849B-9CC8-6E4982208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507757" y="-11160"/>
            <a:ext cx="2553080" cy="6858841"/>
          </a:xfrm>
          <a:custGeom>
            <a:avLst/>
            <a:gdLst>
              <a:gd name="connsiteX0" fmla="*/ 2526446 w 2553080"/>
              <a:gd name="connsiteY0" fmla="*/ 0 h 6858841"/>
              <a:gd name="connsiteX1" fmla="*/ 1707127 w 2553080"/>
              <a:gd name="connsiteY1" fmla="*/ 3182290 h 6858841"/>
              <a:gd name="connsiteX2" fmla="*/ 1365955 w 2553080"/>
              <a:gd name="connsiteY2" fmla="*/ 4453431 h 6858841"/>
              <a:gd name="connsiteX3" fmla="*/ 1182052 w 2553080"/>
              <a:gd name="connsiteY3" fmla="*/ 4538343 h 6858841"/>
              <a:gd name="connsiteX4" fmla="*/ 1070442 w 2553080"/>
              <a:gd name="connsiteY4" fmla="*/ 4344440 h 6858841"/>
              <a:gd name="connsiteX5" fmla="*/ 1329175 w 2553080"/>
              <a:gd name="connsiteY5" fmla="*/ 3390133 h 6858841"/>
              <a:gd name="connsiteX6" fmla="*/ 1311418 w 2553080"/>
              <a:gd name="connsiteY6" fmla="*/ 3250726 h 6858841"/>
              <a:gd name="connsiteX7" fmla="*/ 1199808 w 2553080"/>
              <a:gd name="connsiteY7" fmla="*/ 3164547 h 6858841"/>
              <a:gd name="connsiteX8" fmla="*/ 975320 w 2553080"/>
              <a:gd name="connsiteY8" fmla="*/ 3293816 h 6858841"/>
              <a:gd name="connsiteX9" fmla="*/ 582148 w 2553080"/>
              <a:gd name="connsiteY9" fmla="*/ 4743652 h 6858841"/>
              <a:gd name="connsiteX10" fmla="*/ 5073 w 2553080"/>
              <a:gd name="connsiteY10" fmla="*/ 6842367 h 6858841"/>
              <a:gd name="connsiteX11" fmla="*/ 0 w 2553080"/>
              <a:gd name="connsiteY11" fmla="*/ 6858842 h 6858841"/>
              <a:gd name="connsiteX12" fmla="*/ 26634 w 2553080"/>
              <a:gd name="connsiteY12" fmla="*/ 6858842 h 6858841"/>
              <a:gd name="connsiteX13" fmla="*/ 607514 w 2553080"/>
              <a:gd name="connsiteY13" fmla="*/ 4751256 h 6858841"/>
              <a:gd name="connsiteX14" fmla="*/ 1000686 w 2553080"/>
              <a:gd name="connsiteY14" fmla="*/ 3301420 h 6858841"/>
              <a:gd name="connsiteX15" fmla="*/ 1194735 w 2553080"/>
              <a:gd name="connsiteY15" fmla="*/ 3189894 h 6858841"/>
              <a:gd name="connsiteX16" fmla="*/ 1289857 w 2553080"/>
              <a:gd name="connsiteY16" fmla="*/ 3263399 h 6858841"/>
              <a:gd name="connsiteX17" fmla="*/ 1305077 w 2553080"/>
              <a:gd name="connsiteY17" fmla="*/ 3383797 h 6858841"/>
              <a:gd name="connsiteX18" fmla="*/ 1046345 w 2553080"/>
              <a:gd name="connsiteY18" fmla="*/ 4338103 h 6858841"/>
              <a:gd name="connsiteX19" fmla="*/ 1175711 w 2553080"/>
              <a:gd name="connsiteY19" fmla="*/ 4562423 h 6858841"/>
              <a:gd name="connsiteX20" fmla="*/ 1390053 w 2553080"/>
              <a:gd name="connsiteY20" fmla="*/ 4462303 h 6858841"/>
              <a:gd name="connsiteX21" fmla="*/ 1390053 w 2553080"/>
              <a:gd name="connsiteY21" fmla="*/ 4461035 h 6858841"/>
              <a:gd name="connsiteX22" fmla="*/ 1731225 w 2553080"/>
              <a:gd name="connsiteY22" fmla="*/ 3188627 h 6858841"/>
              <a:gd name="connsiteX23" fmla="*/ 2553081 w 2553080"/>
              <a:gd name="connsiteY23" fmla="*/ 1267 h 6858841"/>
              <a:gd name="connsiteX24" fmla="*/ 2526446 w 2553080"/>
              <a:gd name="connsiteY24" fmla="*/ 0 h 685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53080" h="6858841">
                <a:moveTo>
                  <a:pt x="2526446" y="0"/>
                </a:moveTo>
                <a:lnTo>
                  <a:pt x="1707127" y="3182290"/>
                </a:lnTo>
                <a:lnTo>
                  <a:pt x="1365955" y="4453431"/>
                </a:lnTo>
                <a:cubicBezTo>
                  <a:pt x="1332979" y="4523135"/>
                  <a:pt x="1255613" y="4558621"/>
                  <a:pt x="1182052" y="4538343"/>
                </a:cubicBezTo>
                <a:cubicBezTo>
                  <a:pt x="1098345" y="4515531"/>
                  <a:pt x="1047613" y="4428085"/>
                  <a:pt x="1070442" y="4344440"/>
                </a:cubicBezTo>
                <a:lnTo>
                  <a:pt x="1329175" y="3390133"/>
                </a:lnTo>
                <a:cubicBezTo>
                  <a:pt x="1341858" y="3343242"/>
                  <a:pt x="1335516" y="3293816"/>
                  <a:pt x="1311418" y="3250726"/>
                </a:cubicBezTo>
                <a:cubicBezTo>
                  <a:pt x="1287321" y="3207637"/>
                  <a:pt x="1248004" y="3177220"/>
                  <a:pt x="1199808" y="3164547"/>
                </a:cubicBezTo>
                <a:cubicBezTo>
                  <a:pt x="1102150" y="3137933"/>
                  <a:pt x="1000686" y="3196230"/>
                  <a:pt x="975320" y="3293816"/>
                </a:cubicBezTo>
                <a:lnTo>
                  <a:pt x="582148" y="4743652"/>
                </a:lnTo>
                <a:lnTo>
                  <a:pt x="5073" y="6842367"/>
                </a:lnTo>
                <a:cubicBezTo>
                  <a:pt x="5073" y="6842367"/>
                  <a:pt x="1268" y="6855040"/>
                  <a:pt x="0" y="6858842"/>
                </a:cubicBezTo>
                <a:lnTo>
                  <a:pt x="26634" y="6858842"/>
                </a:lnTo>
                <a:lnTo>
                  <a:pt x="607514" y="4751256"/>
                </a:lnTo>
                <a:lnTo>
                  <a:pt x="1000686" y="3301420"/>
                </a:lnTo>
                <a:cubicBezTo>
                  <a:pt x="1023515" y="3217775"/>
                  <a:pt x="1111028" y="3167082"/>
                  <a:pt x="1194735" y="3189894"/>
                </a:cubicBezTo>
                <a:cubicBezTo>
                  <a:pt x="1235321" y="3201300"/>
                  <a:pt x="1269565" y="3226647"/>
                  <a:pt x="1289857" y="3263399"/>
                </a:cubicBezTo>
                <a:cubicBezTo>
                  <a:pt x="1311418" y="3300152"/>
                  <a:pt x="1316492" y="3341975"/>
                  <a:pt x="1305077" y="3383797"/>
                </a:cubicBezTo>
                <a:lnTo>
                  <a:pt x="1046345" y="4338103"/>
                </a:lnTo>
                <a:cubicBezTo>
                  <a:pt x="1019710" y="4435689"/>
                  <a:pt x="1078052" y="4537076"/>
                  <a:pt x="1175711" y="4562423"/>
                </a:cubicBezTo>
                <a:cubicBezTo>
                  <a:pt x="1261955" y="4585235"/>
                  <a:pt x="1352004" y="4543413"/>
                  <a:pt x="1390053" y="4462303"/>
                </a:cubicBezTo>
                <a:lnTo>
                  <a:pt x="1390053" y="4461035"/>
                </a:lnTo>
                <a:lnTo>
                  <a:pt x="1731225" y="3188627"/>
                </a:lnTo>
                <a:lnTo>
                  <a:pt x="2553081" y="1267"/>
                </a:lnTo>
                <a:cubicBezTo>
                  <a:pt x="2544203" y="0"/>
                  <a:pt x="2535325" y="0"/>
                  <a:pt x="2526446" y="0"/>
                </a:cubicBezTo>
                <a:close/>
              </a:path>
            </a:pathLst>
          </a:custGeom>
          <a:solidFill>
            <a:schemeClr val="accent1"/>
          </a:solidFill>
          <a:ln w="91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07FD607-51C6-351B-54AD-9052A81CCD7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1626" r="21626"/>
          <a:stretch>
            <a:fillRect/>
          </a:stretch>
        </p:blipFill>
        <p:spPr>
          <a:xfrm>
            <a:off x="0" y="8039"/>
            <a:ext cx="5840730" cy="6862275"/>
          </a:xfrm>
        </p:spPr>
      </p:pic>
    </p:spTree>
    <p:extLst>
      <p:ext uri="{BB962C8B-B14F-4D97-AF65-F5344CB8AC3E}">
        <p14:creationId xmlns:p14="http://schemas.microsoft.com/office/powerpoint/2010/main" val="350397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2EA33AE-2E4E-2AD0-7AAD-FF06CBACB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Lesson Outline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BA498B66-C42E-029B-6F9F-FF45F4C14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5708" y="2431477"/>
            <a:ext cx="4786877" cy="763899"/>
          </a:xfrm>
        </p:spPr>
        <p:txBody>
          <a:bodyPr>
            <a:normAutofit fontScale="92500"/>
          </a:bodyPr>
          <a:lstStyle/>
          <a:p>
            <a:r>
              <a:rPr lang="en-US" sz="4000" dirty="0"/>
              <a:t>Programming Logic</a:t>
            </a:r>
          </a:p>
          <a:p>
            <a:endParaRPr lang="en-US" dirty="0"/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8FB04EF3-CC57-2C94-49E0-6F49EAA5217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B8BFA9-FBE9-EDA2-FBB1-C2B55CD7C8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9837" y="3392884"/>
            <a:ext cx="4204690" cy="2656114"/>
          </a:xfrm>
        </p:spPr>
        <p:txBody>
          <a:bodyPr>
            <a:normAutofit/>
          </a:bodyPr>
          <a:lstStyle/>
          <a:p>
            <a:r>
              <a:rPr lang="en-US" sz="2800" dirty="0"/>
              <a:t>C Program Structure</a:t>
            </a:r>
          </a:p>
          <a:p>
            <a:r>
              <a:rPr lang="en-US" sz="2800" dirty="0"/>
              <a:t>Program Flow</a:t>
            </a:r>
          </a:p>
          <a:p>
            <a:r>
              <a:rPr lang="en-US" sz="2800" dirty="0"/>
              <a:t>Loops/Iteration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3E677C-B30B-9361-1557-EE90A7448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9511001-6F2E-D16C-C5A6-4486407F6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47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202101"/>
            <a:ext cx="7967369" cy="75339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Basic C Code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50014" y="871284"/>
            <a:ext cx="7746714" cy="5599416"/>
          </a:xfrm>
        </p:spPr>
        <p:txBody>
          <a:bodyPr>
            <a:normAutofit/>
          </a:bodyPr>
          <a:lstStyle/>
          <a:p>
            <a:r>
              <a:rPr lang="en-US" sz="2000" dirty="0"/>
              <a:t>A C program basically consists of the following parts:</a:t>
            </a:r>
          </a:p>
          <a:p>
            <a:pPr lvl="1"/>
            <a:r>
              <a:rPr lang="en-US" sz="2000" dirty="0"/>
              <a:t>Preprocessor Commands</a:t>
            </a:r>
          </a:p>
          <a:p>
            <a:pPr lvl="1"/>
            <a:r>
              <a:rPr lang="en-US" sz="2000" dirty="0"/>
              <a:t>Variables</a:t>
            </a:r>
          </a:p>
          <a:p>
            <a:pPr lvl="1"/>
            <a:r>
              <a:rPr lang="en-US" sz="2000" dirty="0"/>
              <a:t>Statements &amp; Expressions</a:t>
            </a:r>
          </a:p>
          <a:p>
            <a:pPr lvl="1"/>
            <a:r>
              <a:rPr lang="en-US" sz="2000" dirty="0"/>
              <a:t>Comments</a:t>
            </a:r>
          </a:p>
          <a:p>
            <a:pPr lvl="1"/>
            <a:r>
              <a:rPr lang="en-US" sz="2000" dirty="0"/>
              <a:t>Functions (user defined functions or predefined functions)</a:t>
            </a:r>
          </a:p>
          <a:p>
            <a:pPr marL="0" indent="0">
              <a:buNone/>
            </a:pPr>
            <a:endParaRPr lang="en-US" sz="7200" b="1" dirty="0"/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58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202101"/>
            <a:ext cx="7967369" cy="75339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Basic C Code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50014" y="871284"/>
            <a:ext cx="7746714" cy="559941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4000" dirty="0"/>
              <a:t>#include &lt;</a:t>
            </a:r>
            <a:r>
              <a:rPr lang="en-US" sz="4000" dirty="0" err="1"/>
              <a:t>stdio.h</a:t>
            </a:r>
            <a:r>
              <a:rPr lang="en-US" sz="4000" dirty="0"/>
              <a:t>&gt;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4000" dirty="0"/>
              <a:t>int main()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{</a:t>
            </a:r>
          </a:p>
          <a:p>
            <a:pPr marL="405130" indent="-405130">
              <a:lnSpc>
                <a:spcPct val="150000"/>
              </a:lnSpc>
              <a:buNone/>
            </a:pPr>
            <a:r>
              <a:rPr lang="en-US" sz="4000" dirty="0"/>
              <a:t>3.   /* my first program in C */</a:t>
            </a:r>
          </a:p>
          <a:p>
            <a:pPr marL="509905" indent="-509905">
              <a:lnSpc>
                <a:spcPct val="150000"/>
              </a:lnSpc>
              <a:buNone/>
            </a:pPr>
            <a:r>
              <a:rPr lang="en-US" sz="4000" dirty="0"/>
              <a:t>4. </a:t>
            </a:r>
            <a:r>
              <a:rPr lang="en-US" sz="4000" dirty="0" err="1"/>
              <a:t>printf</a:t>
            </a:r>
            <a:r>
              <a:rPr lang="en-US" sz="4000" dirty="0"/>
              <a:t>(" Welcome to C class! \n");</a:t>
            </a:r>
          </a:p>
          <a:p>
            <a:pPr marL="509905" indent="-509905">
              <a:lnSpc>
                <a:spcPct val="150000"/>
              </a:lnSpc>
              <a:buNone/>
            </a:pPr>
            <a:r>
              <a:rPr lang="en-US" sz="4000" dirty="0"/>
              <a:t>5. return 0;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6. }</a:t>
            </a:r>
          </a:p>
          <a:p>
            <a:pPr marL="0" indent="0">
              <a:buNone/>
            </a:pPr>
            <a:endParaRPr lang="en-US" sz="7200" b="1" dirty="0"/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67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First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250" y="1997075"/>
            <a:ext cx="7772400" cy="4114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	&lt;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 eaLnBrk="1" hangingPunct="1">
              <a:buNone/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main(void)</a:t>
            </a:r>
          </a:p>
          <a:p>
            <a:pPr marL="0" indent="0" eaLnBrk="1" hangingPunct="1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000" dirty="0"/>
              <a:t> Welcome to C class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\n");</a:t>
            </a:r>
          </a:p>
          <a:p>
            <a:pPr marL="0" indent="0" eaLnBrk="1" hangingPunct="1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return(0);</a:t>
            </a:r>
          </a:p>
          <a:p>
            <a:pPr marL="0" indent="0" eaLnBrk="1" hangingPunct="1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/>
            <a:endParaRPr lang="en-US" dirty="0"/>
          </a:p>
        </p:txBody>
      </p:sp>
      <p:sp>
        <p:nvSpPr>
          <p:cNvPr id="7172" name="Line 6"/>
          <p:cNvSpPr>
            <a:spLocks noChangeShapeType="1"/>
          </p:cNvSpPr>
          <p:nvPr/>
        </p:nvSpPr>
        <p:spPr bwMode="auto">
          <a:xfrm flipH="1" flipV="1">
            <a:off x="6477000" y="3810000"/>
            <a:ext cx="1828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173" name="Line 7"/>
          <p:cNvSpPr>
            <a:spLocks noChangeShapeType="1"/>
          </p:cNvSpPr>
          <p:nvPr/>
        </p:nvSpPr>
        <p:spPr bwMode="auto">
          <a:xfrm flipH="1" flipV="1">
            <a:off x="4572000" y="4648200"/>
            <a:ext cx="3657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174" name="Text Box 8"/>
          <p:cNvSpPr txBox="1">
            <a:spLocks noChangeArrowheads="1"/>
          </p:cNvSpPr>
          <p:nvPr/>
        </p:nvSpPr>
        <p:spPr bwMode="auto">
          <a:xfrm>
            <a:off x="8208963" y="4953001"/>
            <a:ext cx="14830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</a:rPr>
              <a:t>statements</a:t>
            </a:r>
          </a:p>
        </p:txBody>
      </p:sp>
      <p:sp>
        <p:nvSpPr>
          <p:cNvPr id="7175" name="Line 9"/>
          <p:cNvSpPr>
            <a:spLocks noChangeShapeType="1"/>
          </p:cNvSpPr>
          <p:nvPr/>
        </p:nvSpPr>
        <p:spPr bwMode="auto">
          <a:xfrm flipH="1">
            <a:off x="4876800" y="25908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176" name="Text Box 10"/>
          <p:cNvSpPr txBox="1">
            <a:spLocks noChangeArrowheads="1"/>
          </p:cNvSpPr>
          <p:nvPr/>
        </p:nvSpPr>
        <p:spPr bwMode="auto">
          <a:xfrm>
            <a:off x="5675314" y="2362200"/>
            <a:ext cx="1030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</a:rPr>
              <a:t>header</a:t>
            </a:r>
          </a:p>
        </p:txBody>
      </p:sp>
      <p:sp>
        <p:nvSpPr>
          <p:cNvPr id="7177" name="Line 11"/>
          <p:cNvSpPr>
            <a:spLocks noChangeShapeType="1"/>
          </p:cNvSpPr>
          <p:nvPr/>
        </p:nvSpPr>
        <p:spPr bwMode="auto">
          <a:xfrm flipH="1" flipV="1">
            <a:off x="2590800" y="4800600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178" name="Line 12"/>
          <p:cNvSpPr>
            <a:spLocks noChangeShapeType="1"/>
          </p:cNvSpPr>
          <p:nvPr/>
        </p:nvSpPr>
        <p:spPr bwMode="auto">
          <a:xfrm flipH="1" flipV="1">
            <a:off x="2514600" y="3429000"/>
            <a:ext cx="609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179" name="Text Box 13"/>
          <p:cNvSpPr txBox="1">
            <a:spLocks noChangeArrowheads="1"/>
          </p:cNvSpPr>
          <p:nvPr/>
        </p:nvSpPr>
        <p:spPr bwMode="auto">
          <a:xfrm>
            <a:off x="2895600" y="5029201"/>
            <a:ext cx="363753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</a:rPr>
              <a:t>open and close braces mark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</a:rPr>
              <a:t>the beginning and end</a:t>
            </a:r>
          </a:p>
        </p:txBody>
      </p:sp>
      <p:sp>
        <p:nvSpPr>
          <p:cNvPr id="7180" name="Line 14"/>
          <p:cNvSpPr>
            <a:spLocks noChangeShapeType="1"/>
          </p:cNvSpPr>
          <p:nvPr/>
        </p:nvSpPr>
        <p:spPr bwMode="auto">
          <a:xfrm flipH="1">
            <a:off x="6019800" y="1905000"/>
            <a:ext cx="1371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181" name="Text Box 15"/>
          <p:cNvSpPr txBox="1">
            <a:spLocks noChangeArrowheads="1"/>
          </p:cNvSpPr>
          <p:nvPr/>
        </p:nvSpPr>
        <p:spPr bwMode="auto">
          <a:xfrm>
            <a:off x="7467600" y="1403351"/>
            <a:ext cx="27286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</a:rPr>
              <a:t>makes input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</a:rPr>
              <a:t>and output available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</a:rPr>
              <a:t>to us</a:t>
            </a:r>
          </a:p>
        </p:txBody>
      </p:sp>
    </p:spTree>
    <p:extLst>
      <p:ext uri="{BB962C8B-B14F-4D97-AF65-F5344CB8AC3E}">
        <p14:creationId xmlns:p14="http://schemas.microsoft.com/office/powerpoint/2010/main" val="371538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202101"/>
            <a:ext cx="7967369" cy="75339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Basic C Code: Adding two numbers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15" y="871283"/>
            <a:ext cx="8065213" cy="583280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#include &lt;</a:t>
            </a:r>
            <a:r>
              <a:rPr lang="en-US" sz="7200" b="0" i="0" dirty="0" err="1">
                <a:solidFill>
                  <a:srgbClr val="24292F"/>
                </a:solidFill>
                <a:effectLst/>
                <a:latin typeface="monica-ext-font_YIBBBFG"/>
              </a:rPr>
              <a:t>stdio.h</a:t>
            </a: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&gt;</a:t>
            </a: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int main() {</a:t>
            </a: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    // Declare variables to store the two numbers</a:t>
            </a: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    int number1, number2</a:t>
            </a:r>
            <a:r>
              <a:rPr lang="en-US" sz="7200" dirty="0">
                <a:solidFill>
                  <a:srgbClr val="24292F"/>
                </a:solidFill>
                <a:latin typeface="monica-ext-font_YIBBBFG"/>
              </a:rPr>
              <a:t>, sum;</a:t>
            </a:r>
            <a:endParaRPr lang="en-US" sz="7200" b="0" i="0" dirty="0">
              <a:solidFill>
                <a:srgbClr val="24292F"/>
              </a:solidFill>
              <a:effectLst/>
              <a:latin typeface="monica-ext-font_YIBBBFG"/>
            </a:endParaRP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    // Read the two numbers from the user</a:t>
            </a: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    </a:t>
            </a:r>
            <a:r>
              <a:rPr lang="en-US" sz="7200" b="0" i="0" dirty="0" err="1">
                <a:solidFill>
                  <a:srgbClr val="24292F"/>
                </a:solidFill>
                <a:effectLst/>
                <a:latin typeface="monica-ext-font_YIBBBFG"/>
              </a:rPr>
              <a:t>printf</a:t>
            </a: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("Enter the first number: ");</a:t>
            </a: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    </a:t>
            </a:r>
            <a:r>
              <a:rPr lang="en-US" sz="7200" b="0" i="0" dirty="0" err="1">
                <a:solidFill>
                  <a:srgbClr val="24292F"/>
                </a:solidFill>
                <a:effectLst/>
                <a:latin typeface="monica-ext-font_YIBBBFG"/>
              </a:rPr>
              <a:t>scanf</a:t>
            </a: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("%d", &amp;number1);</a:t>
            </a: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    </a:t>
            </a:r>
            <a:r>
              <a:rPr lang="en-US" sz="7200" b="0" i="0" dirty="0" err="1">
                <a:solidFill>
                  <a:srgbClr val="24292F"/>
                </a:solidFill>
                <a:effectLst/>
                <a:latin typeface="monica-ext-font_YIBBBFG"/>
              </a:rPr>
              <a:t>printf</a:t>
            </a: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("Enter the second number: ");</a:t>
            </a: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    </a:t>
            </a:r>
            <a:r>
              <a:rPr lang="en-US" sz="7200" b="0" i="0" dirty="0" err="1">
                <a:solidFill>
                  <a:srgbClr val="24292F"/>
                </a:solidFill>
                <a:effectLst/>
                <a:latin typeface="monica-ext-font_YIBBBFG"/>
              </a:rPr>
              <a:t>scanf</a:t>
            </a: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("%d", &amp;number2);</a:t>
            </a: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    // Calculate the sum</a:t>
            </a: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    sum = number1 + number2;</a:t>
            </a: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    // Display the result</a:t>
            </a:r>
          </a:p>
          <a:p>
            <a:pPr marL="0" indent="0">
              <a:buNone/>
            </a:pP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    </a:t>
            </a:r>
            <a:r>
              <a:rPr lang="en-US" sz="7200" b="0" i="0" dirty="0" err="1">
                <a:solidFill>
                  <a:srgbClr val="24292F"/>
                </a:solidFill>
                <a:effectLst/>
                <a:latin typeface="monica-ext-font_YIBBBFG"/>
              </a:rPr>
              <a:t>printf</a:t>
            </a:r>
            <a:r>
              <a:rPr lang="en-US" sz="7200" b="0" i="0" dirty="0">
                <a:solidFill>
                  <a:srgbClr val="24292F"/>
                </a:solidFill>
                <a:effectLst/>
                <a:latin typeface="monica-ext-font_YIBBBFG"/>
              </a:rPr>
              <a:t>("The sum of %d and %d is: %d\n", number1, number2, sum);</a:t>
            </a:r>
          </a:p>
          <a:p>
            <a:pPr marL="0" indent="0">
              <a:buNone/>
            </a:pPr>
            <a:r>
              <a:rPr lang="en-US" sz="7200" dirty="0">
                <a:solidFill>
                  <a:srgbClr val="24292F"/>
                </a:solidFill>
                <a:latin typeface="monica-ext-font_YIBBBFG"/>
              </a:rPr>
              <a:t>return 0;</a:t>
            </a:r>
          </a:p>
          <a:p>
            <a:pPr marL="0" indent="0">
              <a:buNone/>
            </a:pPr>
            <a:r>
              <a:rPr lang="en-US" sz="7200" dirty="0">
                <a:solidFill>
                  <a:srgbClr val="24292F"/>
                </a:solidFill>
                <a:latin typeface="monica-ext-font_YIBBBFG"/>
              </a:rPr>
              <a:t>}.</a:t>
            </a:r>
          </a:p>
          <a:p>
            <a:endParaRPr lang="en-US" dirty="0"/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25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202101"/>
            <a:ext cx="7967369" cy="75339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Code logic: Program Flow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15" y="871283"/>
            <a:ext cx="8065213" cy="5832807"/>
          </a:xfrm>
        </p:spPr>
        <p:txBody>
          <a:bodyPr>
            <a:normAutofit/>
          </a:bodyPr>
          <a:lstStyle/>
          <a:p>
            <a:pPr marL="0" indent="0">
              <a:lnSpc>
                <a:spcPct val="87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 to the order in which instructions in a computer program are executed. It is determined by the program's control structures, such as loops, branches, and jumps.</a:t>
            </a:r>
          </a:p>
          <a:p>
            <a:pPr marL="342900" indent="-342900">
              <a:lnSpc>
                <a:spcPct val="87000"/>
              </a:lnSpc>
              <a:buFont typeface="Symbol" panose="05050102010706020507" pitchFamily="18" charset="2"/>
              <a:buChar char="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7000"/>
              </a:lnSpc>
              <a:buFont typeface="Symbol" panose="05050102010706020507" pitchFamily="18" charset="2"/>
              <a:buChar char="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flow: 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are executed in the order in which they appear in the program.</a:t>
            </a:r>
          </a:p>
          <a:p>
            <a:pPr marL="342900" indent="-342900">
              <a:lnSpc>
                <a:spcPct val="87000"/>
              </a:lnSpc>
              <a:buFont typeface="Symbol" panose="05050102010706020507" pitchFamily="18" charset="2"/>
              <a:buChar char="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flow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The execution of instructions depends on the value of a condition.</a:t>
            </a:r>
          </a:p>
          <a:p>
            <a:pPr marL="342900" indent="-342900">
              <a:lnSpc>
                <a:spcPct val="87000"/>
              </a:lnSpc>
              <a:buFont typeface="Symbol" panose="05050102010706020507" pitchFamily="18" charset="2"/>
              <a:buChar char="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flow: 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are executed repeatedly until a condition is met.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333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202100"/>
            <a:ext cx="7967369" cy="95887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Code logic: Repetition/Looping/Iteration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6998" y="1541124"/>
            <a:ext cx="7859730" cy="4181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i="0" dirty="0">
                <a:solidFill>
                  <a:srgbClr val="24292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 is a fundamental concept in programming that involves repeating a set of instructions multiple times. It allows programmers to execute a block of code multiple times, either a specified number of times or until a certain condition is met.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24292F"/>
                </a:solidFill>
                <a:effectLst/>
                <a:latin typeface="monica-ext-font_YIBBBFG"/>
              </a:rPr>
              <a:t>For loops:</a:t>
            </a: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 These loops repeat a block of code a specified number of times. 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24292F"/>
                </a:solidFill>
                <a:effectLst/>
                <a:latin typeface="monica-ext-font_YIBBBFG"/>
              </a:rPr>
              <a:t>While loops:</a:t>
            </a: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 These loops repeat a block of code as long as a certain condition is true. </a:t>
            </a:r>
            <a:endParaRPr lang="en-US" sz="2400" dirty="0">
              <a:solidFill>
                <a:srgbClr val="24292F"/>
              </a:solidFill>
              <a:latin typeface="monica-ext-font_YIBBBFG"/>
            </a:endParaRPr>
          </a:p>
          <a:p>
            <a:pPr marL="0" indent="0">
              <a:buNone/>
            </a:pPr>
            <a:r>
              <a:rPr lang="en-US" sz="2400" b="1" i="0" dirty="0">
                <a:solidFill>
                  <a:srgbClr val="24292F"/>
                </a:solidFill>
                <a:effectLst/>
                <a:latin typeface="monica-ext-font_YIBBBFG"/>
              </a:rPr>
              <a:t>Do-while loops:</a:t>
            </a:r>
            <a:r>
              <a:rPr lang="en-US" sz="2400" b="0" i="0" dirty="0">
                <a:solidFill>
                  <a:srgbClr val="24292F"/>
                </a:solidFill>
                <a:effectLst/>
                <a:latin typeface="monica-ext-font_YIBBBFG"/>
              </a:rPr>
              <a:t> These loops are similar to while loops, but the block of code is executed at least once, even if the condition is false.</a:t>
            </a:r>
            <a:endParaRPr lang="en-US" sz="1800" dirty="0">
              <a:solidFill>
                <a:srgbClr val="24292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65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531697"/>
            <a:ext cx="7967369" cy="95887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Tools of a good programmer/Software engineer </a:t>
            </a:r>
            <a:br>
              <a:rPr lang="en-MW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15" y="1541124"/>
            <a:ext cx="8065213" cy="5162966"/>
          </a:xfrm>
        </p:spPr>
        <p:txBody>
          <a:bodyPr>
            <a:normAutofit fontScale="85000" lnSpcReduction="2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Compiler: </a:t>
            </a:r>
            <a:r>
              <a:rPr lang="en-US" sz="2400" dirty="0">
                <a:solidFill>
                  <a:srgbClr val="374151"/>
                </a:solidFill>
                <a:latin typeface="Söhne"/>
              </a:rPr>
              <a:t>Quincy, Turbo++, Dev++, </a:t>
            </a:r>
            <a:r>
              <a:rPr lang="en-US" sz="2400" dirty="0" err="1">
                <a:solidFill>
                  <a:srgbClr val="374151"/>
                </a:solidFill>
                <a:latin typeface="Söhne"/>
              </a:rPr>
              <a:t>Openjdk</a:t>
            </a:r>
            <a:endParaRPr lang="en-MW" sz="2400" dirty="0">
              <a:solidFill>
                <a:srgbClr val="374151"/>
              </a:solidFill>
              <a:latin typeface="Söhne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Editor: </a:t>
            </a:r>
            <a:r>
              <a:rPr lang="en-GB" sz="2400" b="0" i="0" dirty="0">
                <a:solidFill>
                  <a:srgbClr val="374151"/>
                </a:solidFill>
                <a:effectLst/>
                <a:latin typeface="Söhne"/>
              </a:rPr>
              <a:t>Sublime Text, Atom, Notepad++, VS Code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Integrated Development Environment (IDE): </a:t>
            </a:r>
            <a:r>
              <a:rPr lang="en-US" sz="2400" dirty="0">
                <a:solidFill>
                  <a:srgbClr val="374151"/>
                </a:solidFill>
                <a:latin typeface="Söhne"/>
              </a:rPr>
              <a:t>Visual Studio, NetBeans, Eclipse, </a:t>
            </a:r>
            <a:r>
              <a:rPr lang="en-GB" sz="2400" dirty="0">
                <a:solidFill>
                  <a:srgbClr val="374151"/>
                </a:solidFill>
                <a:latin typeface="Söhne"/>
              </a:rPr>
              <a:t>IntelliJ IDEA</a:t>
            </a:r>
            <a:endParaRPr lang="en-US" sz="2400" dirty="0">
              <a:solidFill>
                <a:srgbClr val="374151"/>
              </a:solidFill>
              <a:latin typeface="Söhne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Management Tools: </a:t>
            </a:r>
            <a:r>
              <a:rPr lang="en-GB" sz="2000" dirty="0">
                <a:solidFill>
                  <a:srgbClr val="4D5156"/>
                </a:solidFill>
                <a:latin typeface="arial" panose="020B0604020202020204" pitchFamily="34" charset="0"/>
              </a:rPr>
              <a:t>MySQL · MariaDB · Microsoft SQL Server, Oracle, MySQL,</a:t>
            </a:r>
            <a:r>
              <a:rPr lang="en-GB" sz="2000" b="1" i="0" dirty="0">
                <a:solidFill>
                  <a:srgbClr val="24292F"/>
                </a:solidFill>
                <a:effectLst/>
                <a:latin typeface="monica-ext-font_YIBBBFG"/>
              </a:rPr>
              <a:t> </a:t>
            </a:r>
            <a:r>
              <a:rPr lang="en-GB" sz="200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PostgreSQL , MongoDB, Redis, IBM DB2.</a:t>
            </a:r>
            <a:endParaRPr lang="en-MW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Collaboration Tools: </a:t>
            </a:r>
            <a:r>
              <a:rPr lang="en-GB" sz="2400" b="0" i="0" dirty="0">
                <a:solidFill>
                  <a:srgbClr val="374151"/>
                </a:solidFill>
                <a:effectLst/>
                <a:latin typeface="Söhne"/>
              </a:rPr>
              <a:t>Slack, Microsoft Teams, Jira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Integration/Continuous Deployment (CI/CD) Tools: </a:t>
            </a:r>
            <a:r>
              <a:rPr lang="it-IT" sz="2400" b="0" i="0" dirty="0">
                <a:solidFill>
                  <a:srgbClr val="24292F"/>
                </a:solidFill>
                <a:effectLst/>
                <a:latin typeface="monica-ext-font_YIBBBFG"/>
              </a:rPr>
              <a:t>Jenkins, Travis CI, CircleCI, GitLab CI/CD, Azure DevOp</a:t>
            </a:r>
          </a:p>
          <a:p>
            <a:pPr marL="342900" indent="-342900">
              <a:lnSpc>
                <a:spcPct val="117000"/>
              </a:lnSpc>
              <a:buFont typeface="Symbol" panose="05050102010706020507" pitchFamily="18" charset="2"/>
              <a:buChar char=""/>
            </a:pPr>
            <a:r>
              <a:rPr lang="it-IT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Software Development Platforms: </a:t>
            </a:r>
            <a:r>
              <a:rPr lang="en-GB" sz="2400" dirty="0">
                <a:solidFill>
                  <a:srgbClr val="374151"/>
                </a:solidFill>
                <a:latin typeface="Söhne"/>
              </a:rPr>
              <a:t>Django (Python), Ruby on Rails (Ruby),</a:t>
            </a:r>
            <a:r>
              <a:rPr lang="en-GB" sz="3200" b="1" i="0" dirty="0">
                <a:effectLst/>
                <a:latin typeface="Söhne"/>
              </a:rPr>
              <a:t> </a:t>
            </a:r>
            <a:r>
              <a:rPr lang="en-GB" sz="2400" dirty="0">
                <a:solidFill>
                  <a:srgbClr val="374151"/>
                </a:solidFill>
                <a:latin typeface="Söhne"/>
              </a:rPr>
              <a:t>Express.js (JavaScript - Node.js), Laravel (PHP), ASP.NET (C#):, React Native (JavaScript), Flutter (Dart),</a:t>
            </a:r>
          </a:p>
          <a:p>
            <a:pPr marL="342900" indent="-342900">
              <a:lnSpc>
                <a:spcPct val="117000"/>
              </a:lnSpc>
              <a:buFont typeface="Symbol" panose="05050102010706020507" pitchFamily="18" charset="2"/>
              <a:buChar char=""/>
            </a:pPr>
            <a:endParaRPr lang="en-GB" sz="2400" dirty="0">
              <a:solidFill>
                <a:srgbClr val="374151"/>
              </a:solidFill>
              <a:latin typeface="Söhne"/>
            </a:endParaRPr>
          </a:p>
          <a:p>
            <a:pPr marL="342900" indent="-342900">
              <a:lnSpc>
                <a:spcPct val="117000"/>
              </a:lnSpc>
              <a:buFont typeface="Symbol" panose="05050102010706020507" pitchFamily="18" charset="2"/>
              <a:buChar char=""/>
            </a:pPr>
            <a:endParaRPr lang="en-GB" sz="2400" dirty="0">
              <a:solidFill>
                <a:srgbClr val="374151"/>
              </a:solidFill>
              <a:latin typeface="Söhne"/>
            </a:endParaRPr>
          </a:p>
          <a:p>
            <a:pPr marL="342900" indent="-342900">
              <a:lnSpc>
                <a:spcPct val="117000"/>
              </a:lnSpc>
              <a:buFont typeface="Symbol" panose="05050102010706020507" pitchFamily="18" charset="2"/>
              <a:buChar char=""/>
            </a:pPr>
            <a:endParaRPr lang="en-GB" sz="2400" dirty="0">
              <a:solidFill>
                <a:srgbClr val="374151"/>
              </a:solidFill>
              <a:latin typeface="Söhne"/>
            </a:endParaRPr>
          </a:p>
          <a:p>
            <a:pPr marL="342900" indent="-342900">
              <a:lnSpc>
                <a:spcPct val="117000"/>
              </a:lnSpc>
              <a:buFont typeface="Symbol" panose="05050102010706020507" pitchFamily="18" charset="2"/>
              <a:buChar char=""/>
            </a:pPr>
            <a:endParaRPr lang="en-GB" sz="2400" dirty="0">
              <a:solidFill>
                <a:srgbClr val="374151"/>
              </a:solidFill>
              <a:latin typeface="Söhne"/>
            </a:endParaRPr>
          </a:p>
          <a:p>
            <a:pPr marL="342900" indent="-342900">
              <a:lnSpc>
                <a:spcPct val="117000"/>
              </a:lnSpc>
              <a:buFont typeface="Symbol" panose="05050102010706020507" pitchFamily="18" charset="2"/>
              <a:buChar char=""/>
            </a:pPr>
            <a:endParaRPr lang="en-GB" sz="2400" dirty="0">
              <a:solidFill>
                <a:srgbClr val="374151"/>
              </a:solidFill>
              <a:latin typeface="Söhne"/>
            </a:endParaRPr>
          </a:p>
          <a:p>
            <a:pPr marL="342900" indent="-342900">
              <a:lnSpc>
                <a:spcPct val="117000"/>
              </a:lnSpc>
              <a:buFont typeface="Symbol" panose="05050102010706020507" pitchFamily="18" charset="2"/>
              <a:buChar char=""/>
            </a:pPr>
            <a:endParaRPr lang="en-GB" sz="2400" dirty="0">
              <a:solidFill>
                <a:srgbClr val="374151"/>
              </a:solidFill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it-IT" sz="18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8524178" y="-28654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14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552245"/>
            <a:ext cx="7967369" cy="95887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 Trends in Software Development </a:t>
            </a:r>
            <a:br>
              <a:rPr lang="en-MW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15" y="1541124"/>
            <a:ext cx="8065213" cy="5162966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Blockchain Technology: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DevOps and Continuous Integration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Progressive Web Apps (PWAs):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Edge Computing: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Containerization and Orchestration: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 and VR Development: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Cross-Platform Development: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AI: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845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1061684"/>
            <a:ext cx="7967369" cy="95887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Career Opportunities in programming:  </a:t>
            </a:r>
            <a:br>
              <a:rPr lang="en-MW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MW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15" y="1541124"/>
            <a:ext cx="8065213" cy="5162966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Software Developer/Engineer: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Developer: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Mobile App Developer: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Scientist: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Engineer: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Administrator (DBA):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 Solutions Architect: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AI/Machine Learning Engineer:</a:t>
            </a:r>
            <a:endParaRPr lang="en-US" sz="1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Embedded /IoT Systems Developer</a:t>
            </a:r>
            <a:endParaRPr lang="en-US" dirty="0"/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565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515" y="616958"/>
            <a:ext cx="8188503" cy="163308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How to succeed in programming  academic Journey</a:t>
            </a:r>
            <a:br>
              <a:rPr lang="en-MW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MW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757" y="1541124"/>
            <a:ext cx="8280971" cy="5496674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 a Strong Foundation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 Regularly: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Stay Informed about Industry Trends: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Effective time management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Learning: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 Problem-Solving Skills:</a:t>
            </a:r>
            <a:endParaRPr lang="en-MW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 a Portfolio:</a:t>
            </a:r>
            <a:endParaRPr lang="en-US" sz="1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Make it a Hobby</a:t>
            </a:r>
            <a:endParaRPr lang="en-US" dirty="0"/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956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3917-072D-B98F-53A4-46496DCB7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788" y="353962"/>
            <a:ext cx="4786877" cy="983225"/>
          </a:xfrm>
        </p:spPr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B4740A4-A1D9-E9B5-6838-073E1369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9788" y="1517074"/>
            <a:ext cx="4786877" cy="763899"/>
          </a:xfrm>
        </p:spPr>
        <p:txBody>
          <a:bodyPr/>
          <a:lstStyle/>
          <a:p>
            <a:r>
              <a:rPr lang="en-US" dirty="0"/>
              <a:t>C code</a:t>
            </a:r>
          </a:p>
        </p:txBody>
      </p:sp>
      <p:pic>
        <p:nvPicPr>
          <p:cNvPr id="7" name="Picture Placeholder 6" descr="A close up of a circuit board">
            <a:extLst>
              <a:ext uri="{FF2B5EF4-FFF2-40B4-BE49-F238E27FC236}">
                <a16:creationId xmlns:a16="http://schemas.microsoft.com/office/drawing/2014/main" id="{F8C45233-1B15-3596-75CE-DED7D720CA0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194" r="1194"/>
          <a:stretch/>
        </p:blipFill>
        <p:spPr>
          <a:xfrm>
            <a:off x="0" y="-2235"/>
            <a:ext cx="5840730" cy="6862275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C1B1B9-02C9-EF1E-AFBE-E40015F082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9788" y="2123472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Flow Control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5E210F-6B8D-736F-B141-2B3CBE613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707" y="2665319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Loops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A1C40A-BC04-C14E-7867-E3D7B159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84061" y="0"/>
            <a:ext cx="2959129" cy="6871447"/>
            <a:chOff x="3084061" y="0"/>
            <a:chExt cx="2959129" cy="687144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5521D96-1220-9A5F-FB15-764C14CD87A4}"/>
                </a:ext>
              </a:extLst>
            </p:cNvPr>
            <p:cNvSpPr/>
            <p:nvPr/>
          </p:nvSpPr>
          <p:spPr>
            <a:xfrm rot="10800000">
              <a:off x="3498189" y="177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7359AB-4FC7-AF1F-096F-69BD733B8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4061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E5F289F-61BB-8429-85E3-7796AFF76C94}"/>
              </a:ext>
            </a:extLst>
          </p:cNvPr>
          <p:cNvSpPr txBox="1">
            <a:spLocks/>
          </p:cNvSpPr>
          <p:nvPr/>
        </p:nvSpPr>
        <p:spPr>
          <a:xfrm>
            <a:off x="6589955" y="3311696"/>
            <a:ext cx="4796710" cy="401939"/>
          </a:xfrm>
          <a:prstGeom prst="rect">
            <a:avLst/>
          </a:prstGeom>
        </p:spPr>
        <p:txBody>
          <a:bodyPr vert="horz" lIns="91440" tIns="0" rIns="0" bIns="45720" rtlCol="0" anchor="b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Succeed in Software Dev Journey</a:t>
            </a:r>
          </a:p>
        </p:txBody>
      </p:sp>
    </p:spTree>
    <p:extLst>
      <p:ext uri="{BB962C8B-B14F-4D97-AF65-F5344CB8AC3E}">
        <p14:creationId xmlns:p14="http://schemas.microsoft.com/office/powerpoint/2010/main" val="23719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52219-785E-4657-C5F4-A53FEF2E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8DFC8D-4AE6-170E-C27A-DA97EBD7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966C9E-A9A2-BF8C-EDCB-B7F6AE51C425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3BC35A-F255-48AA-48B8-D6561A6FA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59551C5-337D-31EF-FE1F-CB56CEBC76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89948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A784F2EB-8377-40E2-878D-F359E4F7734D}" vid="{87F4C17B-0668-4D7F-80F5-6507D8EFBB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15CCAF-B227-4420-8A82-899C4EC3371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9BB42C3-98F0-4E09-AE96-62EE07CAC5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9EAE05-2D90-4440-A098-2E114DBDB54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959</Words>
  <Application>Microsoft Office PowerPoint</Application>
  <PresentationFormat>Widescreen</PresentationFormat>
  <Paragraphs>158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Arial</vt:lpstr>
      <vt:lpstr>Book Antiqua</vt:lpstr>
      <vt:lpstr>Calibri</vt:lpstr>
      <vt:lpstr>Century Gothic</vt:lpstr>
      <vt:lpstr>Courier New</vt:lpstr>
      <vt:lpstr>monica-ext-font_YIBBBFG</vt:lpstr>
      <vt:lpstr>Söhne</vt:lpstr>
      <vt:lpstr>Symbol</vt:lpstr>
      <vt:lpstr>Times New Roman</vt:lpstr>
      <vt:lpstr>Custom</vt:lpstr>
      <vt:lpstr>Computer Programming Fundamentals</vt:lpstr>
      <vt:lpstr>Lesson Outline</vt:lpstr>
      <vt:lpstr>Basic C Code</vt:lpstr>
      <vt:lpstr>Basic C Code</vt:lpstr>
      <vt:lpstr>A First Program</vt:lpstr>
      <vt:lpstr>Basic C Code: Adding two numbers</vt:lpstr>
      <vt:lpstr>Code logic: Program Flow</vt:lpstr>
      <vt:lpstr>Code logic: Repetition/Looping/Iteration</vt:lpstr>
      <vt:lpstr>Tools of a good programmer/Software engineer  </vt:lpstr>
      <vt:lpstr> Trends in Software Development  </vt:lpstr>
      <vt:lpstr>Career Opportunities in programming:    </vt:lpstr>
      <vt:lpstr>How to succeed in programming  academic Journey  </vt:lpstr>
      <vt:lpstr>Summary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2023-07-18T15:28:54Z</dcterms:created>
  <dcterms:modified xsi:type="dcterms:W3CDTF">2024-01-25T06:09:00Z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