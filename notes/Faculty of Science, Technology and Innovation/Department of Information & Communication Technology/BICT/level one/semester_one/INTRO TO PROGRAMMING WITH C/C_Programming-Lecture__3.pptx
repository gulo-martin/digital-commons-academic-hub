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4" d="100"/>
          <a:sy n="74" d="100"/>
        </p:scale>
        <p:origin x="-570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ED1A6-400C-496B-8F8A-484E10A53709}" type="datetimeFigureOut">
              <a:rPr lang="en-US" smtClean="0"/>
              <a:t>5/17/2018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2E24CA-2AB5-40C4-992A-1D0F78BB7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27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By </a:t>
            </a:r>
            <a:r>
              <a:rPr dirty="0"/>
              <a:t>John</a:t>
            </a:r>
            <a:r>
              <a:rPr spc="-100" dirty="0"/>
              <a:t> </a:t>
            </a:r>
            <a:r>
              <a:rPr dirty="0"/>
              <a:t>Memory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By </a:t>
            </a:r>
            <a:r>
              <a:rPr dirty="0"/>
              <a:t>John</a:t>
            </a:r>
            <a:r>
              <a:rPr spc="-100" dirty="0"/>
              <a:t> </a:t>
            </a:r>
            <a:r>
              <a:rPr dirty="0"/>
              <a:t>Memory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By </a:t>
            </a:r>
            <a:r>
              <a:rPr dirty="0"/>
              <a:t>John</a:t>
            </a:r>
            <a:r>
              <a:rPr spc="-100" dirty="0"/>
              <a:t> </a:t>
            </a:r>
            <a:r>
              <a:rPr dirty="0"/>
              <a:t>Memory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By </a:t>
            </a:r>
            <a:r>
              <a:rPr dirty="0"/>
              <a:t>John</a:t>
            </a:r>
            <a:r>
              <a:rPr spc="-100" dirty="0"/>
              <a:t> </a:t>
            </a:r>
            <a:r>
              <a:rPr dirty="0"/>
              <a:t>Memory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By </a:t>
            </a:r>
            <a:r>
              <a:rPr dirty="0"/>
              <a:t>John</a:t>
            </a:r>
            <a:r>
              <a:rPr spc="-100" dirty="0"/>
              <a:t> </a:t>
            </a:r>
            <a:r>
              <a:rPr dirty="0"/>
              <a:t>Memory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23189"/>
            <a:ext cx="10358120" cy="71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50314"/>
            <a:ext cx="10358120" cy="418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63615" y="6465214"/>
            <a:ext cx="106489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By </a:t>
            </a:r>
            <a:r>
              <a:rPr dirty="0"/>
              <a:t>John</a:t>
            </a:r>
            <a:r>
              <a:rPr spc="-100" dirty="0"/>
              <a:t> </a:t>
            </a:r>
            <a:r>
              <a:rPr dirty="0"/>
              <a:t>Memory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7278" y="2501772"/>
            <a:ext cx="5456555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spc="-30" dirty="0"/>
              <a:t>Programming </a:t>
            </a:r>
            <a:r>
              <a:rPr sz="6000" dirty="0"/>
              <a:t>in</a:t>
            </a:r>
            <a:r>
              <a:rPr sz="6000" spc="-70" dirty="0"/>
              <a:t> </a:t>
            </a:r>
            <a:r>
              <a:rPr sz="6000" dirty="0" smtClean="0"/>
              <a:t>C</a:t>
            </a:r>
            <a:endParaRPr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C - </a:t>
            </a:r>
            <a:r>
              <a:rPr lang="en-US" b="1" dirty="0" smtClean="0"/>
              <a:t>Arrays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1219200"/>
            <a:ext cx="102108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400" dirty="0" smtClean="0"/>
              <a:t>Array is </a:t>
            </a:r>
            <a:r>
              <a:rPr lang="en-US" sz="2400" dirty="0"/>
              <a:t>a kind of data structure that can store a fixed-size sequential collection of elements of the same type. An array is used to store a collection of data, but it is often more useful to think of an array as a collection of variables of the same </a:t>
            </a:r>
            <a:r>
              <a:rPr lang="en-US" sz="2400" dirty="0" smtClean="0"/>
              <a:t>type.</a:t>
            </a:r>
          </a:p>
          <a:p>
            <a:pPr algn="just"/>
            <a:endParaRPr lang="en-US" sz="2400" dirty="0" smtClean="0"/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sz="2400" dirty="0" smtClean="0"/>
              <a:t>Instead </a:t>
            </a:r>
            <a:r>
              <a:rPr lang="en-US" sz="2400" dirty="0"/>
              <a:t>of declaring individual variables, such as number0, number1, ..., and number99, you declare one array variable such as numbers and use numbers[0], numbers[1], and ..., numbers[99] to represent individual variables. A specific element in an array is accessed by an </a:t>
            </a:r>
            <a:r>
              <a:rPr lang="en-US" sz="2400" dirty="0" smtClean="0"/>
              <a:t>index.</a:t>
            </a:r>
          </a:p>
          <a:p>
            <a:pPr marL="285750" indent="-285750" algn="just">
              <a:buFont typeface="Wingdings" pitchFamily="2" charset="2"/>
              <a:buChar char="q"/>
            </a:pPr>
            <a:endParaRPr lang="en-US" sz="2400" dirty="0"/>
          </a:p>
          <a:p>
            <a:pPr marL="285750" indent="-285750" algn="just">
              <a:buFont typeface="Wingdings" pitchFamily="2" charset="2"/>
              <a:buChar char="q"/>
            </a:pPr>
            <a:endParaRPr lang="en-US" sz="2400" dirty="0" smtClean="0"/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sz="2400" dirty="0" smtClean="0"/>
              <a:t>All </a:t>
            </a:r>
            <a:r>
              <a:rPr lang="en-US" sz="2400" dirty="0"/>
              <a:t>arrays consist of contiguous memory locations. The lowest address corresponds to the first element and the highest address to the last element.</a:t>
            </a:r>
          </a:p>
        </p:txBody>
      </p:sp>
    </p:spTree>
    <p:extLst>
      <p:ext uri="{BB962C8B-B14F-4D97-AF65-F5344CB8AC3E}">
        <p14:creationId xmlns:p14="http://schemas.microsoft.com/office/powerpoint/2010/main" val="23629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C - </a:t>
            </a:r>
            <a:r>
              <a:rPr lang="en-US" b="1" dirty="0" smtClean="0"/>
              <a:t>Arrays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50356"/>
            <a:ext cx="8763000" cy="3126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844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Declaring Arrays</a:t>
            </a:r>
          </a:p>
        </p:txBody>
      </p:sp>
      <p:sp>
        <p:nvSpPr>
          <p:cNvPr id="2" name="Rectangle 1"/>
          <p:cNvSpPr/>
          <p:nvPr/>
        </p:nvSpPr>
        <p:spPr>
          <a:xfrm>
            <a:off x="914400" y="1295400"/>
            <a:ext cx="10515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To declare an array in C, a programmer specifies the type of the elements and the number of elements required by an array as follows </a:t>
            </a:r>
            <a:r>
              <a:rPr lang="en-US" sz="2400" dirty="0" smtClean="0"/>
              <a:t>:</a:t>
            </a:r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This is called a </a:t>
            </a:r>
            <a:r>
              <a:rPr lang="en-US" sz="2400" i="1" dirty="0"/>
              <a:t>single-dimensional</a:t>
            </a:r>
            <a:r>
              <a:rPr lang="en-US" sz="2400" dirty="0"/>
              <a:t> array. The </a:t>
            </a:r>
            <a:r>
              <a:rPr lang="en-US" sz="2400" b="1" dirty="0" err="1"/>
              <a:t>arraySize</a:t>
            </a:r>
            <a:r>
              <a:rPr lang="en-US" sz="2400" dirty="0"/>
              <a:t> must be an integer constant greater than zero and </a:t>
            </a:r>
            <a:r>
              <a:rPr lang="en-US" sz="2400" b="1" dirty="0"/>
              <a:t>type</a:t>
            </a:r>
            <a:r>
              <a:rPr lang="en-US" sz="2400" dirty="0"/>
              <a:t> can be any valid C data type. </a:t>
            </a:r>
            <a:endParaRPr lang="en-US" sz="2400" dirty="0" smtClean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/>
              <a:t>For </a:t>
            </a:r>
            <a:r>
              <a:rPr lang="en-US" sz="2400" dirty="0"/>
              <a:t>example, to declare a 10-element array called </a:t>
            </a:r>
            <a:r>
              <a:rPr lang="en-US" sz="2400" b="1" dirty="0"/>
              <a:t>balance</a:t>
            </a:r>
            <a:r>
              <a:rPr lang="en-US" sz="2400" dirty="0"/>
              <a:t> of type double, use this statement </a:t>
            </a:r>
            <a:r>
              <a:rPr lang="en-US" sz="2400" dirty="0" smtClean="0"/>
              <a:t>: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endParaRPr lang="en-US" sz="2400" dirty="0" smtClean="0"/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Here </a:t>
            </a:r>
            <a:r>
              <a:rPr lang="en-US" sz="2400" i="1" dirty="0"/>
              <a:t>balance</a:t>
            </a:r>
            <a:r>
              <a:rPr lang="en-US" sz="2400" dirty="0"/>
              <a:t> is a variable array which is sufficient to hold up to 10 double numbers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57400"/>
            <a:ext cx="10134600" cy="75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382037"/>
            <a:ext cx="10106696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302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Initializing Arrays</a:t>
            </a:r>
          </a:p>
        </p:txBody>
      </p:sp>
      <p:sp>
        <p:nvSpPr>
          <p:cNvPr id="2" name="Rectangle 1"/>
          <p:cNvSpPr/>
          <p:nvPr/>
        </p:nvSpPr>
        <p:spPr>
          <a:xfrm>
            <a:off x="914400" y="1295400"/>
            <a:ext cx="10515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You can initialize an array in C either one by one or using a single statement as follows </a:t>
            </a:r>
            <a:r>
              <a:rPr lang="en-US" sz="2400" dirty="0" smtClean="0"/>
              <a:t>: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400" dirty="0" smtClean="0"/>
          </a:p>
          <a:p>
            <a:pPr marL="342900" indent="-342900">
              <a:buFont typeface="Wingdings" pitchFamily="2" charset="2"/>
              <a:buChar char="q"/>
            </a:pPr>
            <a:endParaRPr lang="en-US" sz="2400" dirty="0" smtClean="0"/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The number of values between braces { } cannot be larger than the number of elements that we declare for the array between square brackets [ </a:t>
            </a:r>
            <a:r>
              <a:rPr lang="en-US" sz="2400" dirty="0" smtClean="0"/>
              <a:t>].</a:t>
            </a: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/>
              <a:t>If </a:t>
            </a:r>
            <a:r>
              <a:rPr lang="en-US" sz="2400" dirty="0"/>
              <a:t>you omit the size of the array, an array just big enough to hold the initialization is created. </a:t>
            </a:r>
          </a:p>
          <a:p>
            <a:endParaRPr lang="en-US" sz="2400" dirty="0" smtClean="0"/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/>
              <a:t>You </a:t>
            </a:r>
            <a:r>
              <a:rPr lang="en-US" sz="2400" dirty="0"/>
              <a:t>will create exactly the same array as you did in the previous example.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279" y="2057400"/>
            <a:ext cx="9982200" cy="642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279" y="4588635"/>
            <a:ext cx="9982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012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Initializing Arrays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134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Following is an example to assign a single element of the </a:t>
            </a:r>
            <a:r>
              <a:rPr lang="en-US" sz="2400" dirty="0" smtClean="0"/>
              <a:t>array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The above statement assigns the 5</a:t>
            </a:r>
            <a:r>
              <a:rPr lang="en-US" sz="2400" baseline="30000" dirty="0"/>
              <a:t>th</a:t>
            </a:r>
            <a:r>
              <a:rPr lang="en-US" sz="2400" dirty="0"/>
              <a:t> element in the array with a value of 50.0. All arrays have 0 as the index of their first element which is also called the base index and the last index of an array will be total size of the array minus 1. </a:t>
            </a:r>
            <a:endParaRPr lang="en-US" sz="2400" dirty="0" smtClean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/>
              <a:t>Shown </a:t>
            </a:r>
            <a:r>
              <a:rPr lang="en-US" sz="2400" dirty="0"/>
              <a:t>below is the pictorial representation of the array we discussed above </a:t>
            </a:r>
          </a:p>
          <a:p>
            <a:endParaRPr lang="en-US" sz="2400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057400"/>
            <a:ext cx="9982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953000"/>
            <a:ext cx="102108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495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Accessing Array Elements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200" y="1143000"/>
            <a:ext cx="10134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An element is accessed by indexing the array name. This is done by placing the index of the element within square brackets after the name of the array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r>
              <a:rPr lang="en-US" sz="2400" dirty="0" smtClean="0"/>
              <a:t> </a:t>
            </a:r>
            <a:r>
              <a:rPr lang="en-US" sz="2400" dirty="0"/>
              <a:t>For example </a:t>
            </a:r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The above statement will take the 10</a:t>
            </a:r>
            <a:r>
              <a:rPr lang="en-US" sz="2400" baseline="30000" dirty="0"/>
              <a:t>th</a:t>
            </a:r>
            <a:r>
              <a:rPr lang="en-US" sz="2400" dirty="0"/>
              <a:t> element from the array and assign the value to salary variable. </a:t>
            </a:r>
            <a:endParaRPr lang="en-US" sz="2400" dirty="0" smtClean="0"/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dirty="0"/>
              <a:t>following example Shows how to use all the three above mentioned concepts viz. declaration, assignment, and accessing arrays 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97793"/>
            <a:ext cx="9829800" cy="780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83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 smtClean="0"/>
              <a:t>Array…..Example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838200" y="1143000"/>
            <a:ext cx="10134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#include &lt;</a:t>
            </a:r>
            <a:r>
              <a:rPr lang="en-US" sz="2400" dirty="0" err="1"/>
              <a:t>stdio.h</a:t>
            </a:r>
            <a:r>
              <a:rPr lang="en-US" sz="2400" dirty="0"/>
              <a:t>&gt; </a:t>
            </a:r>
            <a:endParaRPr lang="en-US" sz="2400" dirty="0" smtClean="0"/>
          </a:p>
          <a:p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/>
              <a:t>main () </a:t>
            </a:r>
            <a:endParaRPr lang="en-US" sz="2400" dirty="0" smtClean="0"/>
          </a:p>
          <a:p>
            <a:r>
              <a:rPr lang="en-US" sz="2400" dirty="0" smtClean="0"/>
              <a:t>{</a:t>
            </a:r>
          </a:p>
          <a:p>
            <a:r>
              <a:rPr lang="en-US" sz="2400" dirty="0" smtClean="0"/>
              <a:t> 	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/>
              <a:t>n[ 10 ]; </a:t>
            </a:r>
            <a:endParaRPr lang="en-US" sz="2400" dirty="0" smtClean="0"/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/>
              <a:t>i,j</a:t>
            </a:r>
            <a:r>
              <a:rPr lang="en-US" sz="2400" dirty="0"/>
              <a:t>; </a:t>
            </a:r>
          </a:p>
          <a:p>
            <a:r>
              <a:rPr lang="en-US" sz="2400" dirty="0" smtClean="0"/>
              <a:t>	for </a:t>
            </a:r>
            <a:r>
              <a:rPr lang="en-US" sz="2400" dirty="0"/>
              <a:t>( i = 0; i &lt; 10; i++ ) </a:t>
            </a:r>
            <a:endParaRPr lang="en-US" sz="2400" dirty="0" smtClean="0"/>
          </a:p>
          <a:p>
            <a:r>
              <a:rPr lang="en-US" sz="2400" dirty="0" smtClean="0"/>
              <a:t>	{ </a:t>
            </a:r>
          </a:p>
          <a:p>
            <a:r>
              <a:rPr lang="en-US" sz="2400" dirty="0" smtClean="0"/>
              <a:t>		n</a:t>
            </a:r>
            <a:r>
              <a:rPr lang="en-US" sz="2400" dirty="0"/>
              <a:t>[ i ] = i + 100; </a:t>
            </a:r>
            <a:endParaRPr lang="en-US" sz="2400" dirty="0" smtClean="0"/>
          </a:p>
          <a:p>
            <a:r>
              <a:rPr lang="en-US" sz="2400" dirty="0" smtClean="0"/>
              <a:t>	} </a:t>
            </a:r>
          </a:p>
          <a:p>
            <a:r>
              <a:rPr lang="en-US" sz="2400" dirty="0" smtClean="0"/>
              <a:t>	for </a:t>
            </a:r>
            <a:r>
              <a:rPr lang="en-US" sz="2400" dirty="0"/>
              <a:t>(j = 0; j &lt; 10; j++ ) </a:t>
            </a:r>
            <a:endParaRPr lang="en-US" sz="2400" dirty="0" smtClean="0"/>
          </a:p>
          <a:p>
            <a:r>
              <a:rPr lang="en-US" sz="2400" dirty="0" smtClean="0"/>
              <a:t>	{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</a:t>
            </a:r>
            <a:r>
              <a:rPr lang="en-US" sz="2400" dirty="0" err="1" smtClean="0"/>
              <a:t>printf</a:t>
            </a:r>
            <a:r>
              <a:rPr lang="en-US" sz="2400" dirty="0"/>
              <a:t>("Element[%d] = %d\n", j, n[j] );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}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return </a:t>
            </a:r>
            <a:r>
              <a:rPr lang="en-US" sz="2400" dirty="0"/>
              <a:t>0; </a:t>
            </a:r>
            <a:endParaRPr lang="en-US" sz="2400" dirty="0" smtClean="0"/>
          </a:p>
          <a:p>
            <a:r>
              <a:rPr lang="en-US" sz="2400" dirty="0" smtClean="0"/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763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 smtClean="0"/>
              <a:t>Arrays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838200" y="1143000"/>
            <a:ext cx="10134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The following important concepts related to array should be clear to a C programmer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73996"/>
            <a:ext cx="9601200" cy="450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971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C - Pointers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1295400"/>
            <a:ext cx="10439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q"/>
            </a:pPr>
            <a:r>
              <a:rPr lang="en-US" sz="2400" dirty="0"/>
              <a:t>Some C programming tasks are performed more easily with pointers, and other tasks, such as dynamic memory allocation, cannot be performed without using pointers. </a:t>
            </a:r>
            <a:r>
              <a:rPr lang="en-US" sz="2400" dirty="0" smtClean="0"/>
              <a:t>So </a:t>
            </a:r>
            <a:r>
              <a:rPr lang="en-US" sz="2400" dirty="0"/>
              <a:t>it becomes necessary to learn pointers to become a perfect C programmer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 smtClean="0"/>
          </a:p>
          <a:p>
            <a:pPr marL="342900" indent="-342900" algn="just">
              <a:buFont typeface="Wingdings" pitchFamily="2" charset="2"/>
              <a:buChar char="q"/>
            </a:pPr>
            <a:r>
              <a:rPr lang="en-US" sz="2400" dirty="0"/>
              <a:t>As you know, every variable is a memory location and every memory location has its address defined which can be accessed using ampersand (&amp;) operator, which denotes an address in memory. </a:t>
            </a:r>
            <a:endParaRPr lang="en-US" sz="2400" dirty="0" smtClean="0"/>
          </a:p>
          <a:p>
            <a:pPr marL="342900" indent="-342900" algn="just">
              <a:buFont typeface="Wingdings" pitchFamily="2" charset="2"/>
              <a:buChar char="q"/>
            </a:pPr>
            <a:endParaRPr lang="en-US" sz="2400" dirty="0"/>
          </a:p>
          <a:p>
            <a:pPr marL="342900" indent="-342900" algn="just">
              <a:buFont typeface="Wingdings" pitchFamily="2" charset="2"/>
              <a:buChar char="q"/>
            </a:pPr>
            <a:r>
              <a:rPr lang="en-US" sz="2400" dirty="0" smtClean="0"/>
              <a:t>Consider </a:t>
            </a:r>
            <a:r>
              <a:rPr lang="en-US" sz="2400" dirty="0"/>
              <a:t>the following example, which prints the address of the variables defined </a:t>
            </a:r>
          </a:p>
        </p:txBody>
      </p:sp>
    </p:spTree>
    <p:extLst>
      <p:ext uri="{BB962C8B-B14F-4D97-AF65-F5344CB8AC3E}">
        <p14:creationId xmlns:p14="http://schemas.microsoft.com/office/powerpoint/2010/main" val="383803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C - Pointers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200" y="1219200"/>
            <a:ext cx="9753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#include &lt;</a:t>
            </a:r>
            <a:r>
              <a:rPr lang="en-US" sz="2400" dirty="0" err="1"/>
              <a:t>stdio.h</a:t>
            </a:r>
            <a:r>
              <a:rPr lang="en-US" sz="2400" dirty="0"/>
              <a:t>&gt;</a:t>
            </a:r>
          </a:p>
          <a:p>
            <a:endParaRPr lang="en-US" sz="2400" dirty="0"/>
          </a:p>
          <a:p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/>
              <a:t>main () </a:t>
            </a:r>
            <a:endParaRPr lang="en-US" sz="2400" dirty="0" smtClean="0"/>
          </a:p>
          <a:p>
            <a:r>
              <a:rPr lang="en-US" sz="2400" dirty="0" smtClean="0"/>
              <a:t>{</a:t>
            </a:r>
            <a:endParaRPr lang="en-US" sz="2400" dirty="0"/>
          </a:p>
          <a:p>
            <a:r>
              <a:rPr lang="en-US" sz="2400" dirty="0"/>
              <a:t>   </a:t>
            </a:r>
            <a:r>
              <a:rPr lang="en-US" sz="2400" dirty="0" smtClean="0"/>
              <a:t>	</a:t>
            </a:r>
            <a:r>
              <a:rPr lang="en-US" sz="2400" dirty="0" err="1" smtClean="0"/>
              <a:t>int</a:t>
            </a:r>
            <a:r>
              <a:rPr lang="en-US" sz="2400" dirty="0" smtClean="0"/>
              <a:t>  </a:t>
            </a:r>
            <a:r>
              <a:rPr lang="en-US" sz="2400" dirty="0"/>
              <a:t>var1;</a:t>
            </a:r>
          </a:p>
          <a:p>
            <a:r>
              <a:rPr lang="en-US" sz="2400" dirty="0"/>
              <a:t>   </a:t>
            </a:r>
            <a:r>
              <a:rPr lang="en-US" sz="2400" dirty="0" smtClean="0"/>
              <a:t>	char </a:t>
            </a:r>
            <a:r>
              <a:rPr lang="en-US" sz="2400" dirty="0"/>
              <a:t>var2[10</a:t>
            </a:r>
            <a:r>
              <a:rPr lang="en-US" sz="2400" dirty="0" smtClean="0"/>
              <a:t>];</a:t>
            </a:r>
            <a:endParaRPr lang="en-US" sz="2400" dirty="0"/>
          </a:p>
          <a:p>
            <a:r>
              <a:rPr lang="en-US" sz="2400" dirty="0"/>
              <a:t>   </a:t>
            </a:r>
            <a:r>
              <a:rPr lang="en-US" sz="2400" dirty="0" smtClean="0"/>
              <a:t>	</a:t>
            </a:r>
            <a:r>
              <a:rPr lang="en-US" sz="2400" dirty="0" err="1" smtClean="0"/>
              <a:t>printf</a:t>
            </a:r>
            <a:r>
              <a:rPr lang="en-US" sz="2400" dirty="0"/>
              <a:t>("Address of var1 variable: %x\n", &amp;var1  );</a:t>
            </a:r>
          </a:p>
          <a:p>
            <a:r>
              <a:rPr lang="en-US" sz="2400" dirty="0"/>
              <a:t>   </a:t>
            </a:r>
            <a:r>
              <a:rPr lang="en-US" sz="2400" dirty="0" smtClean="0"/>
              <a:t>	</a:t>
            </a:r>
            <a:r>
              <a:rPr lang="en-US" sz="2400" dirty="0" err="1" smtClean="0"/>
              <a:t>printf</a:t>
            </a:r>
            <a:r>
              <a:rPr lang="en-US" sz="2400" dirty="0"/>
              <a:t>("Address of var2 variable: %x\n", &amp;var2  </a:t>
            </a:r>
            <a:r>
              <a:rPr lang="en-US" sz="2400" dirty="0" smtClean="0"/>
              <a:t>);</a:t>
            </a:r>
            <a:endParaRPr lang="en-US" sz="2400" dirty="0"/>
          </a:p>
          <a:p>
            <a:r>
              <a:rPr lang="en-US" sz="2400" dirty="0"/>
              <a:t>   </a:t>
            </a:r>
            <a:r>
              <a:rPr lang="en-US" sz="2400" dirty="0" smtClean="0"/>
              <a:t>	return </a:t>
            </a:r>
            <a:r>
              <a:rPr lang="en-US" sz="2400" dirty="0"/>
              <a:t>0;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53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What are Pointers?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200" y="1219200"/>
            <a:ext cx="9753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A </a:t>
            </a:r>
            <a:r>
              <a:rPr lang="en-US" sz="2400" b="1" dirty="0"/>
              <a:t>pointer</a:t>
            </a:r>
            <a:r>
              <a:rPr lang="en-US" sz="2400" dirty="0"/>
              <a:t> is a variable whose value is the address of another variable, i.e., direct address of the memory location. </a:t>
            </a:r>
            <a:endParaRPr lang="en-US" sz="2400" dirty="0" smtClean="0"/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/>
              <a:t>Like </a:t>
            </a:r>
            <a:r>
              <a:rPr lang="en-US" sz="2400" dirty="0"/>
              <a:t>any variable or constant, you must declare a pointer before using it to store any variable address. </a:t>
            </a:r>
            <a:endParaRPr lang="en-US" sz="2400" dirty="0" smtClean="0"/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dirty="0"/>
              <a:t>general form of a pointer variable declaration </a:t>
            </a:r>
            <a:r>
              <a:rPr lang="en-US" sz="2400" dirty="0" smtClean="0"/>
              <a:t>is:</a:t>
            </a:r>
            <a:endParaRPr 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14800"/>
            <a:ext cx="9753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935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What are Pointers?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30" y="1066800"/>
            <a:ext cx="9753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65030" y="2010598"/>
            <a:ext cx="9753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q"/>
            </a:pPr>
            <a:r>
              <a:rPr lang="en-US" sz="2400" b="1" dirty="0" smtClean="0"/>
              <a:t>type</a:t>
            </a:r>
            <a:r>
              <a:rPr lang="en-US" sz="2400" dirty="0" smtClean="0"/>
              <a:t> </a:t>
            </a:r>
            <a:r>
              <a:rPr lang="en-US" sz="2400" dirty="0"/>
              <a:t>is the pointer's base type; it must be a valid C data type and </a:t>
            </a:r>
            <a:r>
              <a:rPr lang="en-US" sz="2400" b="1" dirty="0" err="1"/>
              <a:t>var</a:t>
            </a:r>
            <a:r>
              <a:rPr lang="en-US" sz="2400" b="1" dirty="0"/>
              <a:t>-name</a:t>
            </a:r>
            <a:r>
              <a:rPr lang="en-US" sz="2400" dirty="0"/>
              <a:t> is the name of the pointer variable. </a:t>
            </a:r>
            <a:endParaRPr lang="en-US" sz="2400" dirty="0" smtClean="0"/>
          </a:p>
          <a:p>
            <a:pPr algn="just"/>
            <a:endParaRPr lang="en-US" sz="2400" dirty="0"/>
          </a:p>
          <a:p>
            <a:pPr marL="342900" indent="-342900" algn="just">
              <a:buFont typeface="Wingdings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dirty="0"/>
              <a:t>asterisk * used to declare a pointer is the same asterisk used for multiplication. However, in this statement the asterisk is being used to designate a variable as a pointer.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68478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What are Pointers?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30" y="1295400"/>
            <a:ext cx="975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q"/>
            </a:pPr>
            <a:r>
              <a:rPr lang="en-US" sz="2400" dirty="0" smtClean="0"/>
              <a:t>Take </a:t>
            </a:r>
            <a:r>
              <a:rPr lang="en-US" sz="2400" dirty="0"/>
              <a:t>a look at some of the valid pointer </a:t>
            </a:r>
            <a:r>
              <a:rPr lang="en-US" sz="2400" dirty="0" smtClean="0"/>
              <a:t>declarations: </a:t>
            </a:r>
            <a:endParaRPr lang="en-US" sz="24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22" y="1757065"/>
            <a:ext cx="9829800" cy="160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912252" y="3733800"/>
            <a:ext cx="980296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q"/>
            </a:pPr>
            <a:r>
              <a:rPr lang="en-US" sz="2400" dirty="0"/>
              <a:t>The actual data type of the value of all pointers, whether integer, float, character, or otherwise, is the same, a long hexadecimal number that represents a memory address. </a:t>
            </a:r>
            <a:endParaRPr lang="en-US" sz="2400" dirty="0" smtClean="0"/>
          </a:p>
          <a:p>
            <a:pPr marL="342900" indent="-342900" algn="just">
              <a:buFont typeface="Wingdings" pitchFamily="2" charset="2"/>
              <a:buChar char="q"/>
            </a:pPr>
            <a:endParaRPr lang="en-US" sz="2400" dirty="0"/>
          </a:p>
          <a:p>
            <a:pPr marL="342900" indent="-342900" algn="just">
              <a:buFont typeface="Wingdings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dirty="0"/>
              <a:t>only difference between pointers of different data types is the data type of the variable or constant that the pointer points to.</a:t>
            </a:r>
          </a:p>
        </p:txBody>
      </p:sp>
    </p:spTree>
    <p:extLst>
      <p:ext uri="{BB962C8B-B14F-4D97-AF65-F5344CB8AC3E}">
        <p14:creationId xmlns:p14="http://schemas.microsoft.com/office/powerpoint/2010/main" val="222876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How to Use Pointers?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5400"/>
            <a:ext cx="10896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There are a few important operations, which we will do with the help of pointers very frequently. </a:t>
            </a:r>
            <a:endParaRPr lang="en-US" sz="2400" dirty="0" smtClean="0"/>
          </a:p>
          <a:p>
            <a:r>
              <a:rPr lang="en-US" sz="2400" b="1" dirty="0"/>
              <a:t>	</a:t>
            </a:r>
            <a:r>
              <a:rPr lang="en-US" sz="2400" b="1" dirty="0" smtClean="0"/>
              <a:t>(</a:t>
            </a:r>
            <a:r>
              <a:rPr lang="en-US" sz="2400" b="1" dirty="0"/>
              <a:t>a)</a:t>
            </a:r>
            <a:r>
              <a:rPr lang="en-US" sz="2400" dirty="0"/>
              <a:t> We define a pointer variable, </a:t>
            </a:r>
            <a:endParaRPr lang="en-US" sz="2400" dirty="0" smtClean="0"/>
          </a:p>
          <a:p>
            <a:r>
              <a:rPr lang="en-US" sz="2400" b="1" dirty="0"/>
              <a:t>	</a:t>
            </a:r>
            <a:r>
              <a:rPr lang="en-US" sz="2400" b="1" dirty="0" smtClean="0"/>
              <a:t>(</a:t>
            </a:r>
            <a:r>
              <a:rPr lang="en-US" sz="2400" b="1" dirty="0"/>
              <a:t>b)</a:t>
            </a:r>
            <a:r>
              <a:rPr lang="en-US" sz="2400" dirty="0"/>
              <a:t> assign the address of a variable to a pointer and </a:t>
            </a:r>
            <a:endParaRPr lang="en-US" sz="2400" dirty="0" smtClean="0"/>
          </a:p>
          <a:p>
            <a:r>
              <a:rPr lang="en-US" sz="2400" b="1" dirty="0"/>
              <a:t>	</a:t>
            </a:r>
            <a:r>
              <a:rPr lang="en-US" sz="2400" b="1" dirty="0" smtClean="0"/>
              <a:t>(</a:t>
            </a:r>
            <a:r>
              <a:rPr lang="en-US" sz="2400" b="1" dirty="0"/>
              <a:t>c)</a:t>
            </a:r>
            <a:r>
              <a:rPr lang="en-US" sz="2400" dirty="0"/>
              <a:t> finally access the value at the address available in the pointer variable. </a:t>
            </a:r>
            <a:endParaRPr lang="en-US" sz="2400" dirty="0" smtClean="0"/>
          </a:p>
          <a:p>
            <a:endParaRPr lang="en-US" sz="2400" dirty="0" smtClean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/>
              <a:t>This </a:t>
            </a:r>
            <a:r>
              <a:rPr lang="en-US" sz="2400" dirty="0"/>
              <a:t>is done by using unary operator </a:t>
            </a:r>
            <a:r>
              <a:rPr lang="en-US" sz="2400" b="1" dirty="0"/>
              <a:t>*</a:t>
            </a:r>
            <a:r>
              <a:rPr lang="en-US" sz="2400" dirty="0"/>
              <a:t> that returns the value of the variable located at the address specified by its operand. </a:t>
            </a:r>
            <a:endParaRPr lang="en-US" sz="2400" dirty="0" smtClean="0"/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/>
              <a:t>The following example makes use of these operations −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6072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How to Use </a:t>
            </a:r>
            <a:r>
              <a:rPr lang="en-US" b="1" dirty="0" smtClean="0"/>
              <a:t>Pointers….Example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838200" y="1219200"/>
            <a:ext cx="8077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#include &lt;</a:t>
            </a:r>
            <a:r>
              <a:rPr lang="en-US" sz="2400" dirty="0" err="1"/>
              <a:t>stdio.h</a:t>
            </a:r>
            <a:r>
              <a:rPr lang="en-US" sz="2400" dirty="0"/>
              <a:t>&gt;</a:t>
            </a:r>
          </a:p>
          <a:p>
            <a:endParaRPr lang="en-US" sz="2400" dirty="0"/>
          </a:p>
          <a:p>
            <a:r>
              <a:rPr lang="en-US" sz="2400" dirty="0" err="1"/>
              <a:t>int</a:t>
            </a:r>
            <a:r>
              <a:rPr lang="en-US" sz="2400" dirty="0"/>
              <a:t> main () </a:t>
            </a:r>
            <a:endParaRPr lang="en-US" sz="2400" dirty="0" smtClean="0"/>
          </a:p>
          <a:p>
            <a:r>
              <a:rPr lang="en-US" sz="2400" dirty="0" smtClean="0"/>
              <a:t>{</a:t>
            </a:r>
            <a:endParaRPr lang="en-US" sz="2400" dirty="0"/>
          </a:p>
          <a:p>
            <a:r>
              <a:rPr lang="en-US" sz="2400" dirty="0"/>
              <a:t>  </a:t>
            </a:r>
            <a:r>
              <a:rPr lang="en-US" sz="2400" dirty="0" smtClean="0"/>
              <a:t>	 </a:t>
            </a:r>
            <a:r>
              <a:rPr lang="en-US" sz="2400" dirty="0" err="1"/>
              <a:t>int</a:t>
            </a:r>
            <a:r>
              <a:rPr lang="en-US" sz="2400" dirty="0"/>
              <a:t>  </a:t>
            </a:r>
            <a:r>
              <a:rPr lang="en-US" sz="2400" dirty="0" err="1"/>
              <a:t>var</a:t>
            </a:r>
            <a:r>
              <a:rPr lang="en-US" sz="2400" dirty="0"/>
              <a:t> = 20;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err="1" smtClean="0"/>
              <a:t>int</a:t>
            </a:r>
            <a:r>
              <a:rPr lang="en-US" sz="2400" dirty="0" smtClean="0"/>
              <a:t>  </a:t>
            </a:r>
            <a:r>
              <a:rPr lang="en-US" sz="2400" dirty="0"/>
              <a:t>*</a:t>
            </a:r>
            <a:r>
              <a:rPr lang="en-US" sz="2400" dirty="0" err="1"/>
              <a:t>ip</a:t>
            </a:r>
            <a:r>
              <a:rPr lang="en-US" sz="2400" dirty="0"/>
              <a:t>;        </a:t>
            </a:r>
          </a:p>
          <a:p>
            <a:r>
              <a:rPr lang="en-US" sz="2400" dirty="0"/>
              <a:t>  </a:t>
            </a:r>
            <a:r>
              <a:rPr lang="en-US" sz="2400" dirty="0" smtClean="0"/>
              <a:t>	</a:t>
            </a:r>
            <a:r>
              <a:rPr lang="en-US" sz="2400" dirty="0" err="1" smtClean="0"/>
              <a:t>ip</a:t>
            </a:r>
            <a:r>
              <a:rPr lang="en-US" sz="2400" dirty="0" smtClean="0"/>
              <a:t> </a:t>
            </a:r>
            <a:r>
              <a:rPr lang="en-US" sz="2400" dirty="0"/>
              <a:t>= &amp;</a:t>
            </a:r>
            <a:r>
              <a:rPr lang="en-US" sz="2400" dirty="0" err="1"/>
              <a:t>var</a:t>
            </a:r>
            <a:r>
              <a:rPr lang="en-US" sz="2400" dirty="0"/>
              <a:t>;  </a:t>
            </a:r>
          </a:p>
          <a:p>
            <a:r>
              <a:rPr lang="en-US" sz="2400" dirty="0"/>
              <a:t>   </a:t>
            </a:r>
            <a:r>
              <a:rPr lang="en-US" sz="2400" dirty="0" smtClean="0"/>
              <a:t>	</a:t>
            </a:r>
            <a:r>
              <a:rPr lang="en-US" sz="2400" dirty="0" err="1" smtClean="0"/>
              <a:t>printf</a:t>
            </a:r>
            <a:r>
              <a:rPr lang="en-US" sz="2400" dirty="0"/>
              <a:t>("Address of </a:t>
            </a:r>
            <a:r>
              <a:rPr lang="en-US" sz="2400" dirty="0" err="1"/>
              <a:t>var</a:t>
            </a:r>
            <a:r>
              <a:rPr lang="en-US" sz="2400" dirty="0"/>
              <a:t> variable: %x\n", &amp;</a:t>
            </a:r>
            <a:r>
              <a:rPr lang="en-US" sz="2400" dirty="0" err="1"/>
              <a:t>var</a:t>
            </a:r>
            <a:r>
              <a:rPr lang="en-US" sz="2400" dirty="0"/>
              <a:t>  );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printf</a:t>
            </a:r>
            <a:r>
              <a:rPr lang="en-US" sz="2400" dirty="0"/>
              <a:t>("Address stored in </a:t>
            </a:r>
            <a:r>
              <a:rPr lang="en-US" sz="2400" dirty="0" err="1"/>
              <a:t>ip</a:t>
            </a:r>
            <a:r>
              <a:rPr lang="en-US" sz="2400" dirty="0"/>
              <a:t> variable: %x\n", </a:t>
            </a:r>
            <a:r>
              <a:rPr lang="en-US" sz="2400" dirty="0" err="1"/>
              <a:t>ip</a:t>
            </a:r>
            <a:r>
              <a:rPr lang="en-US" sz="2400" dirty="0"/>
              <a:t> );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printf</a:t>
            </a:r>
            <a:r>
              <a:rPr lang="en-US" sz="2400" dirty="0"/>
              <a:t>("Value of *</a:t>
            </a:r>
            <a:r>
              <a:rPr lang="en-US" sz="2400" dirty="0" err="1"/>
              <a:t>ip</a:t>
            </a:r>
            <a:r>
              <a:rPr lang="en-US" sz="2400" dirty="0"/>
              <a:t> variable: %d\n", *</a:t>
            </a:r>
            <a:r>
              <a:rPr lang="en-US" sz="2400" dirty="0" err="1"/>
              <a:t>ip</a:t>
            </a:r>
            <a:r>
              <a:rPr lang="en-US" sz="2400" dirty="0"/>
              <a:t> </a:t>
            </a:r>
            <a:r>
              <a:rPr lang="en-US" sz="2400" dirty="0" smtClean="0"/>
              <a:t>);</a:t>
            </a:r>
            <a:endParaRPr lang="en-US" sz="2400" dirty="0"/>
          </a:p>
          <a:p>
            <a:r>
              <a:rPr lang="en-US" sz="2400" dirty="0"/>
              <a:t>   </a:t>
            </a:r>
            <a:r>
              <a:rPr lang="en-US" sz="2400" dirty="0" smtClean="0"/>
              <a:t>	return </a:t>
            </a:r>
            <a:r>
              <a:rPr lang="en-US" sz="2400" dirty="0"/>
              <a:t>0;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254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NULL </a:t>
            </a:r>
            <a:r>
              <a:rPr lang="en-US" b="1" dirty="0" smtClean="0"/>
              <a:t>Pointers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914400" y="1152659"/>
            <a:ext cx="10439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It is always a good practice to assign a NULL value to a pointer variable in case you do not have an exact address to be assigned. </a:t>
            </a:r>
            <a:endParaRPr lang="en-US" sz="2400" dirty="0" smtClean="0"/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/>
              <a:t>This </a:t>
            </a:r>
            <a:r>
              <a:rPr lang="en-US" sz="2400" dirty="0"/>
              <a:t>is done at the time of variable declaration. A pointer that is assigned NULL is called a </a:t>
            </a:r>
            <a:r>
              <a:rPr lang="en-US" sz="2400" b="1" dirty="0"/>
              <a:t>null</a:t>
            </a:r>
            <a:r>
              <a:rPr lang="en-US" sz="2400" dirty="0"/>
              <a:t> </a:t>
            </a:r>
            <a:r>
              <a:rPr lang="en-US" sz="2400" dirty="0" smtClean="0"/>
              <a:t>pointer.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dirty="0"/>
              <a:t>NULL pointer is a constant with a value of zero defined in several standard libraries.</a:t>
            </a:r>
          </a:p>
        </p:txBody>
      </p:sp>
    </p:spTree>
    <p:extLst>
      <p:ext uri="{BB962C8B-B14F-4D97-AF65-F5344CB8AC3E}">
        <p14:creationId xmlns:p14="http://schemas.microsoft.com/office/powerpoint/2010/main" val="332055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58120" cy="677108"/>
          </a:xfrm>
        </p:spPr>
        <p:txBody>
          <a:bodyPr/>
          <a:lstStyle/>
          <a:p>
            <a:r>
              <a:rPr lang="en-US" b="1" dirty="0"/>
              <a:t>NULL </a:t>
            </a:r>
            <a:r>
              <a:rPr lang="en-US" b="1" dirty="0" smtClean="0"/>
              <a:t>Pointers…Example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914400" y="1295400"/>
            <a:ext cx="8458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#include &lt;</a:t>
            </a:r>
            <a:r>
              <a:rPr lang="en-US" sz="2400" dirty="0" err="1"/>
              <a:t>stdio.h</a:t>
            </a:r>
            <a:r>
              <a:rPr lang="en-US" sz="2400" dirty="0"/>
              <a:t>&gt;</a:t>
            </a:r>
          </a:p>
          <a:p>
            <a:endParaRPr lang="en-US" sz="2400" dirty="0"/>
          </a:p>
          <a:p>
            <a:r>
              <a:rPr lang="en-US" sz="2400" dirty="0" err="1"/>
              <a:t>int</a:t>
            </a:r>
            <a:r>
              <a:rPr lang="en-US" sz="2400" dirty="0"/>
              <a:t> main () </a:t>
            </a:r>
            <a:endParaRPr lang="en-US" sz="2400" dirty="0" smtClean="0"/>
          </a:p>
          <a:p>
            <a:r>
              <a:rPr lang="en-US" sz="2400" dirty="0" smtClean="0"/>
              <a:t>{</a:t>
            </a:r>
            <a:endParaRPr lang="en-US" sz="2400" dirty="0"/>
          </a:p>
          <a:p>
            <a:r>
              <a:rPr lang="en-US" sz="2400" dirty="0"/>
              <a:t> 	</a:t>
            </a:r>
            <a:r>
              <a:rPr lang="en-US" sz="2400" dirty="0" err="1" smtClean="0"/>
              <a:t>int</a:t>
            </a:r>
            <a:r>
              <a:rPr lang="en-US" sz="2400" dirty="0" smtClean="0"/>
              <a:t>  </a:t>
            </a:r>
            <a:r>
              <a:rPr lang="en-US" sz="2400" dirty="0"/>
              <a:t>*</a:t>
            </a:r>
            <a:r>
              <a:rPr lang="en-US" sz="2400" dirty="0" err="1"/>
              <a:t>ptr</a:t>
            </a:r>
            <a:r>
              <a:rPr lang="en-US" sz="2400" dirty="0"/>
              <a:t> = NULL</a:t>
            </a:r>
            <a:r>
              <a:rPr lang="en-US" sz="2400" dirty="0" smtClean="0"/>
              <a:t>;</a:t>
            </a:r>
            <a:endParaRPr lang="en-US" sz="2400" dirty="0"/>
          </a:p>
          <a:p>
            <a:r>
              <a:rPr lang="en-US" sz="2400" dirty="0"/>
              <a:t>   </a:t>
            </a:r>
            <a:r>
              <a:rPr lang="en-US" sz="2400" dirty="0" smtClean="0"/>
              <a:t>	</a:t>
            </a:r>
            <a:r>
              <a:rPr lang="en-US" sz="2400" dirty="0" err="1" smtClean="0"/>
              <a:t>printf</a:t>
            </a:r>
            <a:r>
              <a:rPr lang="en-US" sz="2400" dirty="0"/>
              <a:t>("The value of </a:t>
            </a:r>
            <a:r>
              <a:rPr lang="en-US" sz="2400" dirty="0" err="1"/>
              <a:t>ptr</a:t>
            </a:r>
            <a:r>
              <a:rPr lang="en-US" sz="2400" dirty="0"/>
              <a:t> is : %x\n", </a:t>
            </a:r>
            <a:r>
              <a:rPr lang="en-US" sz="2400" dirty="0" err="1"/>
              <a:t>ptr</a:t>
            </a:r>
            <a:r>
              <a:rPr lang="en-US" sz="2400" dirty="0"/>
              <a:t>  </a:t>
            </a:r>
            <a:r>
              <a:rPr lang="en-US" sz="2400" dirty="0" smtClean="0"/>
              <a:t>);</a:t>
            </a:r>
            <a:endParaRPr lang="en-US" sz="2400" dirty="0"/>
          </a:p>
          <a:p>
            <a:r>
              <a:rPr lang="en-US" sz="2400" dirty="0"/>
              <a:t>   </a:t>
            </a:r>
            <a:r>
              <a:rPr lang="en-US" sz="2400" dirty="0" smtClean="0"/>
              <a:t>	return </a:t>
            </a:r>
            <a:r>
              <a:rPr lang="en-US" sz="2400" dirty="0"/>
              <a:t>0;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438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228600"/>
            <a:ext cx="10358120" cy="677108"/>
          </a:xfrm>
        </p:spPr>
        <p:txBody>
          <a:bodyPr/>
          <a:lstStyle/>
          <a:p>
            <a:r>
              <a:rPr lang="en-US" b="1" dirty="0" smtClean="0"/>
              <a:t>C Pointers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927278" y="914400"/>
            <a:ext cx="105027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dirty="0"/>
              <a:t>following important pointer concepts should be clear to any C programmer 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91" y="1395383"/>
            <a:ext cx="10210800" cy="5157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411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1073</TotalTime>
  <Words>929</Words>
  <Application>Microsoft Office PowerPoint</Application>
  <PresentationFormat>Custom</PresentationFormat>
  <Paragraphs>136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Programming in C</vt:lpstr>
      <vt:lpstr>C - Arrays</vt:lpstr>
      <vt:lpstr>C - Arrays</vt:lpstr>
      <vt:lpstr>Declaring Arrays</vt:lpstr>
      <vt:lpstr>Initializing Arrays</vt:lpstr>
      <vt:lpstr>Initializing Arrays</vt:lpstr>
      <vt:lpstr>Accessing Array Elements</vt:lpstr>
      <vt:lpstr>Array…..Example</vt:lpstr>
      <vt:lpstr>Arrays</vt:lpstr>
      <vt:lpstr>C - Pointers</vt:lpstr>
      <vt:lpstr>C - Pointers</vt:lpstr>
      <vt:lpstr>What are Pointers?</vt:lpstr>
      <vt:lpstr>What are Pointers?</vt:lpstr>
      <vt:lpstr>What are Pointers?</vt:lpstr>
      <vt:lpstr>How to Use Pointers?</vt:lpstr>
      <vt:lpstr>How to Use Pointers….Example</vt:lpstr>
      <vt:lpstr>NULL Pointers</vt:lpstr>
      <vt:lpstr>NULL Pointers…Example</vt:lpstr>
      <vt:lpstr>C Pointers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C BICT 1202</dc:title>
  <dc:creator>Windows User</dc:creator>
  <cp:lastModifiedBy>CHIMANGO-NYASULU</cp:lastModifiedBy>
  <cp:revision>102</cp:revision>
  <dcterms:created xsi:type="dcterms:W3CDTF">2018-04-23T09:46:24Z</dcterms:created>
  <dcterms:modified xsi:type="dcterms:W3CDTF">2018-05-17T08:21:09Z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2018-04-23T00:00:00Z</vt:filetime>
  </property>
</Properties>
</file>