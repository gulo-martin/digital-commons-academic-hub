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725" r:id="rId4"/>
  </p:sldMasterIdLst>
  <p:notesMasterIdLst>
    <p:notesMasterId r:id="rId17"/>
  </p:notesMasterIdLst>
  <p:handoutMasterIdLst>
    <p:handoutMasterId r:id="rId18"/>
  </p:handoutMasterIdLst>
  <p:sldIdLst>
    <p:sldId id="376" r:id="rId5"/>
    <p:sldId id="388" r:id="rId6"/>
    <p:sldId id="378" r:id="rId7"/>
    <p:sldId id="379" r:id="rId8"/>
    <p:sldId id="381" r:id="rId9"/>
    <p:sldId id="389" r:id="rId10"/>
    <p:sldId id="390" r:id="rId11"/>
    <p:sldId id="391" r:id="rId12"/>
    <p:sldId id="392" r:id="rId13"/>
    <p:sldId id="393" r:id="rId14"/>
    <p:sldId id="384" r:id="rId15"/>
    <p:sldId id="38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  <a:srgbClr val="2C4A52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5388" autoAdjust="0"/>
  </p:normalViewPr>
  <p:slideViewPr>
    <p:cSldViewPr snapToGrid="0" showGuides="1">
      <p:cViewPr varScale="1">
        <p:scale>
          <a:sx n="59" d="100"/>
          <a:sy n="59" d="100"/>
        </p:scale>
        <p:origin x="64" y="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5" d="100"/>
          <a:sy n="65" d="100"/>
        </p:scale>
        <p:origin x="3082" y="3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299BE-0F96-4D8C-8AC3-AFAE1A841C66}" type="datetimeFigureOut">
              <a:rPr lang="en-US" smtClean="0"/>
              <a:t>1/15/2024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692AC-01A2-4EFF-966B-504F28E82D7A}" type="datetimeFigureOut">
              <a:rPr lang="en-US" noProof="0" smtClean="0"/>
              <a:t>1/15/2024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8711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anose="020F0502020204030204" pitchFamily="2" charset="0"/>
              </a:rPr>
              <a:t>A computer is an electronic device that will take input from the user, process it, and give results or respond as per the user. </a:t>
            </a:r>
            <a:r>
              <a:rPr lang="en-GB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computer is a programmable computational device.</a:t>
            </a:r>
            <a:endParaRPr lang="en-M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9659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7FAC3601-9744-9840-0229-E000CCFBE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2131" y="-30007"/>
            <a:ext cx="6064493" cy="68798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119890" y="723440"/>
            <a:ext cx="4323426" cy="257905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28152" y="5248834"/>
            <a:ext cx="4323426" cy="1008925"/>
          </a:xfrm>
        </p:spPr>
        <p:txBody>
          <a:bodyPr lIns="91440" rIns="9144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cap="all" spc="1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19274" y="3373515"/>
            <a:ext cx="4323426" cy="1008926"/>
          </a:xfrm>
        </p:spPr>
        <p:txBody>
          <a:bodyPr lIns="91440" rIns="91440">
            <a:noAutofit/>
          </a:bodyPr>
          <a:lstStyle>
            <a:lvl1pPr marL="0" indent="0">
              <a:buNone/>
              <a:defRPr sz="6000" b="1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###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DF7228-F4CB-A1B9-79EA-63240531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559556" y="-10665"/>
            <a:ext cx="1930144" cy="687729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164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7EC4C7D-9F32-3DD5-0898-0A64AB3E48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CD56122-AE93-63D3-9B51-14AA353EC0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80B457C0-C5F0-38B3-A5A4-4CF83DA5DC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608DDE2-7690-8BBF-1E41-BF40F26AF1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4A70176D-1CA9-F362-DA0D-140ADC80AB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0B557568-DAFA-B892-D220-F9088C690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5920ECF3-A4B7-A9A1-C23F-56EDD775AC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A92B7FF-F522-FFD6-3A37-5C7F5CB3AE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718010FC-71DC-C4A0-BBE6-35E03F05FE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2512EE29-359B-8558-2A40-DB8D4D2566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70CCBBEB-A224-6D89-748B-8053ED48B2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737091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15541" y="715654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605708" y="2431477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5708" y="3348617"/>
            <a:ext cx="2699066" cy="2569866"/>
          </a:xfrm>
        </p:spPr>
        <p:txBody>
          <a:bodyPr lIns="91440" tIns="0">
            <a:normAutofit/>
          </a:bodyPr>
          <a:lstStyle>
            <a:lvl1pPr marL="274320" indent="-274320">
              <a:spcAft>
                <a:spcPts val="600"/>
              </a:spcAft>
              <a:buFont typeface="Courier New" panose="02070309020205020404" pitchFamily="49" charset="0"/>
              <a:buChar char="o"/>
              <a:defRPr sz="14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67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F88AD-4B54-9DC5-D315-825BE9FCEE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2252076"/>
            <a:ext cx="5797550" cy="30517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955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(Sing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408820"/>
            <a:ext cx="8935507" cy="94946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D7E9A-1E17-C6A0-31A6-F6F620FF9E8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1986061"/>
            <a:ext cx="5797550" cy="401524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90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6322" y="2252394"/>
            <a:ext cx="5797518" cy="2532966"/>
          </a:xfrm>
        </p:spPr>
        <p:txBody>
          <a:bodyPr lIns="91440" bIns="0" anchor="t">
            <a:normAutofit/>
          </a:bodyPr>
          <a:lstStyle>
            <a:lvl1pPr marL="0" indent="0">
              <a:spcBef>
                <a:spcPts val="600"/>
              </a:spcBef>
              <a:spcAft>
                <a:spcPts val="1800"/>
              </a:spcAft>
              <a:buNone/>
              <a:defRPr sz="1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38829F9-FA07-E84B-ED85-A3958046C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4430" y="5008931"/>
            <a:ext cx="3842918" cy="43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979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D27DC4C-0653-4DB5-ABFE-50764C59A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368" y="270880"/>
            <a:ext cx="11297264" cy="1524000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012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0CF8376-A762-054E-EA3C-FF9430AD9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099" y="286603"/>
            <a:ext cx="11373803" cy="1450757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17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sson Summar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9788" y="353962"/>
            <a:ext cx="4786877" cy="98322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99788" y="1517074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9788" y="2341261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BC9EC3-C68A-CC9E-C220-8D585A8B43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9789" y="2753247"/>
            <a:ext cx="3852296" cy="817345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E3FA6A1-74D7-3926-C0BF-FECA6C0B03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9788" y="3563285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487AC4B-B367-6BC8-2DCA-61A43B3264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9788" y="3982578"/>
            <a:ext cx="3860546" cy="529133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4E9A44E-6692-ACFA-4EB0-368490BF3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9788" y="4564818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B0B6725-F963-746B-381A-0F998539A0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99788" y="4975138"/>
            <a:ext cx="3860546" cy="852906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19208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33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372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760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819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226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D5142E-2E7B-1488-E5DB-290186766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82569" y="2242"/>
            <a:ext cx="6806909" cy="6862481"/>
            <a:chOff x="5382569" y="2242"/>
            <a:chExt cx="6806909" cy="686248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2299C1B-36CA-1E4A-2BE2-A212B68067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40328" y="2242"/>
              <a:ext cx="6049150" cy="6862481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7875AA7-8584-C85D-D920-B6F361221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382569" y="5060315"/>
              <a:ext cx="927943" cy="180130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70326" y="1679216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9499" y="-2236"/>
            <a:ext cx="6814124" cy="687109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973394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0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96790"/>
              <a:gd name="connsiteX1" fmla="*/ 6814124 w 6814124"/>
              <a:gd name="connsiteY1" fmla="*/ 1 h 6896790"/>
              <a:gd name="connsiteX2" fmla="*/ 6063554 w 6814124"/>
              <a:gd name="connsiteY2" fmla="*/ 2775916 h 6896790"/>
              <a:gd name="connsiteX3" fmla="*/ 5827334 w 6814124"/>
              <a:gd name="connsiteY3" fmla="*/ 2962606 h 6896790"/>
              <a:gd name="connsiteX4" fmla="*/ 5728274 w 6814124"/>
              <a:gd name="connsiteY4" fmla="*/ 2692096 h 6896790"/>
              <a:gd name="connsiteX5" fmla="*/ 5953064 w 6814124"/>
              <a:gd name="connsiteY5" fmla="*/ 1846276 h 6896790"/>
              <a:gd name="connsiteX6" fmla="*/ 5846384 w 6814124"/>
              <a:gd name="connsiteY6" fmla="*/ 1571956 h 6896790"/>
              <a:gd name="connsiteX7" fmla="*/ 5629214 w 6814124"/>
              <a:gd name="connsiteY7" fmla="*/ 1770076 h 6896790"/>
              <a:gd name="connsiteX8" fmla="*/ 4867214 w 6814124"/>
              <a:gd name="connsiteY8" fmla="*/ 4688536 h 6896790"/>
              <a:gd name="connsiteX9" fmla="*/ 4966274 w 6814124"/>
              <a:gd name="connsiteY9" fmla="*/ 4905706 h 6896790"/>
              <a:gd name="connsiteX10" fmla="*/ 5187254 w 6814124"/>
              <a:gd name="connsiteY10" fmla="*/ 4757116 h 6896790"/>
              <a:gd name="connsiteX11" fmla="*/ 5431094 w 6814124"/>
              <a:gd name="connsiteY11" fmla="*/ 3842716 h 6896790"/>
              <a:gd name="connsiteX12" fmla="*/ 5659694 w 6814124"/>
              <a:gd name="connsiteY12" fmla="*/ 3713176 h 6896790"/>
              <a:gd name="connsiteX13" fmla="*/ 5758754 w 6814124"/>
              <a:gd name="connsiteY13" fmla="*/ 3926536 h 6896790"/>
              <a:gd name="connsiteX14" fmla="*/ 5002015 w 6814124"/>
              <a:gd name="connsiteY14" fmla="*/ 6887938 h 6896790"/>
              <a:gd name="connsiteX15" fmla="*/ 0 w 6814124"/>
              <a:gd name="connsiteY15" fmla="*/ 6896790 h 6896790"/>
              <a:gd name="connsiteX16" fmla="*/ 0 w 6814124"/>
              <a:gd name="connsiteY16" fmla="*/ 0 h 689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14124" h="6896790">
                <a:moveTo>
                  <a:pt x="0" y="0"/>
                </a:moveTo>
                <a:lnTo>
                  <a:pt x="6814124" y="1"/>
                </a:lnTo>
                <a:lnTo>
                  <a:pt x="6063554" y="2775916"/>
                </a:lnTo>
                <a:cubicBezTo>
                  <a:pt x="6030534" y="2883866"/>
                  <a:pt x="5993704" y="2976576"/>
                  <a:pt x="5827334" y="2962606"/>
                </a:cubicBezTo>
                <a:cubicBezTo>
                  <a:pt x="5641914" y="2845766"/>
                  <a:pt x="5734624" y="2747976"/>
                  <a:pt x="5728274" y="2692096"/>
                </a:cubicBezTo>
                <a:cubicBezTo>
                  <a:pt x="5818444" y="2355546"/>
                  <a:pt x="5878134" y="2121866"/>
                  <a:pt x="5953064" y="1846276"/>
                </a:cubicBezTo>
                <a:cubicBezTo>
                  <a:pt x="5994974" y="1687526"/>
                  <a:pt x="5969574" y="1615136"/>
                  <a:pt x="5846384" y="1571956"/>
                </a:cubicBezTo>
                <a:cubicBezTo>
                  <a:pt x="5711764" y="1563066"/>
                  <a:pt x="5672394" y="1597356"/>
                  <a:pt x="5629214" y="1770076"/>
                </a:cubicBezTo>
                <a:cubicBezTo>
                  <a:pt x="5644454" y="1858976"/>
                  <a:pt x="4851974" y="4599636"/>
                  <a:pt x="4867214" y="4688536"/>
                </a:cubicBezTo>
                <a:cubicBezTo>
                  <a:pt x="4832289" y="4824426"/>
                  <a:pt x="4898964" y="4880306"/>
                  <a:pt x="4966274" y="4905706"/>
                </a:cubicBezTo>
                <a:cubicBezTo>
                  <a:pt x="5075494" y="4904436"/>
                  <a:pt x="5132009" y="4917136"/>
                  <a:pt x="5187254" y="4757116"/>
                </a:cubicBezTo>
                <a:lnTo>
                  <a:pt x="5431094" y="3842716"/>
                </a:lnTo>
                <a:cubicBezTo>
                  <a:pt x="5455224" y="3756356"/>
                  <a:pt x="5528884" y="3692856"/>
                  <a:pt x="5659694" y="3713176"/>
                </a:cubicBezTo>
                <a:cubicBezTo>
                  <a:pt x="5803204" y="3791916"/>
                  <a:pt x="5756214" y="3882086"/>
                  <a:pt x="5758754" y="3926536"/>
                </a:cubicBezTo>
                <a:lnTo>
                  <a:pt x="5002015" y="6887938"/>
                </a:lnTo>
                <a:lnTo>
                  <a:pt x="0" y="689679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70326" y="3748958"/>
            <a:ext cx="4786878" cy="2258013"/>
          </a:xfrm>
        </p:spPr>
        <p:txBody>
          <a:bodyPr lIns="91440" tIns="0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None/>
              <a:defRPr sz="16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6274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6BCAC9C-7B8B-A7E5-574A-2C2D47365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051" y="6221324"/>
            <a:ext cx="6818262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44D41BF-45CF-B60E-08D3-A8C49332E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0596" y="622132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32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9" r:id="rId5"/>
    <p:sldLayoutId id="2147483746" r:id="rId6"/>
    <p:sldLayoutId id="2147483747" r:id="rId7"/>
    <p:sldLayoutId id="2147483748" r:id="rId8"/>
    <p:sldLayoutId id="2147483750" r:id="rId9"/>
    <p:sldLayoutId id="2147483756" r:id="rId10"/>
    <p:sldLayoutId id="2147483751" r:id="rId11"/>
    <p:sldLayoutId id="2147483752" r:id="rId12"/>
    <p:sldLayoutId id="2147483754" r:id="rId13"/>
    <p:sldLayoutId id="2147483755" r:id="rId14"/>
    <p:sldLayoutId id="2147483753" r:id="rId15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7643F50D-950F-5A7E-722A-79E4F5D31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3137" y="723440"/>
            <a:ext cx="4580179" cy="2579052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Computer Programming Fundamentals</a:t>
            </a:r>
          </a:p>
        </p:txBody>
      </p:sp>
      <p:sp>
        <p:nvSpPr>
          <p:cNvPr id="96" name="Subtitle 95">
            <a:extLst>
              <a:ext uri="{FF2B5EF4-FFF2-40B4-BE49-F238E27FC236}">
                <a16:creationId xmlns:a16="http://schemas.microsoft.com/office/drawing/2014/main" id="{1C5A4B6C-BAC7-A685-A9B1-2F354B128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8152" y="5248834"/>
            <a:ext cx="4323426" cy="100892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Presentation by: </a:t>
            </a:r>
          </a:p>
          <a:p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D. PHIRI</a:t>
            </a:r>
          </a:p>
          <a:p>
            <a:r>
              <a:rPr 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LECTURER ICT DEPARTMENT</a:t>
            </a:r>
          </a:p>
        </p:txBody>
      </p:sp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2A924E96-9B1C-6D19-49F6-49CA70E655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98751" y="3373515"/>
            <a:ext cx="4743949" cy="1008926"/>
          </a:xfrm>
        </p:spPr>
        <p:txBody>
          <a:bodyPr/>
          <a:lstStyle/>
          <a:p>
            <a:r>
              <a:rPr lang="en-US" dirty="0"/>
              <a:t>Coding Life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D96C8D99-3232-849B-9CC8-6E4982208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507757" y="-11160"/>
            <a:ext cx="2553080" cy="6858841"/>
          </a:xfrm>
          <a:custGeom>
            <a:avLst/>
            <a:gdLst>
              <a:gd name="connsiteX0" fmla="*/ 2526446 w 2553080"/>
              <a:gd name="connsiteY0" fmla="*/ 0 h 6858841"/>
              <a:gd name="connsiteX1" fmla="*/ 1707127 w 2553080"/>
              <a:gd name="connsiteY1" fmla="*/ 3182290 h 6858841"/>
              <a:gd name="connsiteX2" fmla="*/ 1365955 w 2553080"/>
              <a:gd name="connsiteY2" fmla="*/ 4453431 h 6858841"/>
              <a:gd name="connsiteX3" fmla="*/ 1182052 w 2553080"/>
              <a:gd name="connsiteY3" fmla="*/ 4538343 h 6858841"/>
              <a:gd name="connsiteX4" fmla="*/ 1070442 w 2553080"/>
              <a:gd name="connsiteY4" fmla="*/ 4344440 h 6858841"/>
              <a:gd name="connsiteX5" fmla="*/ 1329175 w 2553080"/>
              <a:gd name="connsiteY5" fmla="*/ 3390133 h 6858841"/>
              <a:gd name="connsiteX6" fmla="*/ 1311418 w 2553080"/>
              <a:gd name="connsiteY6" fmla="*/ 3250726 h 6858841"/>
              <a:gd name="connsiteX7" fmla="*/ 1199808 w 2553080"/>
              <a:gd name="connsiteY7" fmla="*/ 3164547 h 6858841"/>
              <a:gd name="connsiteX8" fmla="*/ 975320 w 2553080"/>
              <a:gd name="connsiteY8" fmla="*/ 3293816 h 6858841"/>
              <a:gd name="connsiteX9" fmla="*/ 582148 w 2553080"/>
              <a:gd name="connsiteY9" fmla="*/ 4743652 h 6858841"/>
              <a:gd name="connsiteX10" fmla="*/ 5073 w 2553080"/>
              <a:gd name="connsiteY10" fmla="*/ 6842367 h 6858841"/>
              <a:gd name="connsiteX11" fmla="*/ 0 w 2553080"/>
              <a:gd name="connsiteY11" fmla="*/ 6858842 h 6858841"/>
              <a:gd name="connsiteX12" fmla="*/ 26634 w 2553080"/>
              <a:gd name="connsiteY12" fmla="*/ 6858842 h 6858841"/>
              <a:gd name="connsiteX13" fmla="*/ 607514 w 2553080"/>
              <a:gd name="connsiteY13" fmla="*/ 4751256 h 6858841"/>
              <a:gd name="connsiteX14" fmla="*/ 1000686 w 2553080"/>
              <a:gd name="connsiteY14" fmla="*/ 3301420 h 6858841"/>
              <a:gd name="connsiteX15" fmla="*/ 1194735 w 2553080"/>
              <a:gd name="connsiteY15" fmla="*/ 3189894 h 6858841"/>
              <a:gd name="connsiteX16" fmla="*/ 1289857 w 2553080"/>
              <a:gd name="connsiteY16" fmla="*/ 3263399 h 6858841"/>
              <a:gd name="connsiteX17" fmla="*/ 1305077 w 2553080"/>
              <a:gd name="connsiteY17" fmla="*/ 3383797 h 6858841"/>
              <a:gd name="connsiteX18" fmla="*/ 1046345 w 2553080"/>
              <a:gd name="connsiteY18" fmla="*/ 4338103 h 6858841"/>
              <a:gd name="connsiteX19" fmla="*/ 1175711 w 2553080"/>
              <a:gd name="connsiteY19" fmla="*/ 4562423 h 6858841"/>
              <a:gd name="connsiteX20" fmla="*/ 1390053 w 2553080"/>
              <a:gd name="connsiteY20" fmla="*/ 4462303 h 6858841"/>
              <a:gd name="connsiteX21" fmla="*/ 1390053 w 2553080"/>
              <a:gd name="connsiteY21" fmla="*/ 4461035 h 6858841"/>
              <a:gd name="connsiteX22" fmla="*/ 1731225 w 2553080"/>
              <a:gd name="connsiteY22" fmla="*/ 3188627 h 6858841"/>
              <a:gd name="connsiteX23" fmla="*/ 2553081 w 2553080"/>
              <a:gd name="connsiteY23" fmla="*/ 1267 h 6858841"/>
              <a:gd name="connsiteX24" fmla="*/ 2526446 w 2553080"/>
              <a:gd name="connsiteY24" fmla="*/ 0 h 6858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53080" h="6858841">
                <a:moveTo>
                  <a:pt x="2526446" y="0"/>
                </a:moveTo>
                <a:lnTo>
                  <a:pt x="1707127" y="3182290"/>
                </a:lnTo>
                <a:lnTo>
                  <a:pt x="1365955" y="4453431"/>
                </a:lnTo>
                <a:cubicBezTo>
                  <a:pt x="1332979" y="4523135"/>
                  <a:pt x="1255613" y="4558621"/>
                  <a:pt x="1182052" y="4538343"/>
                </a:cubicBezTo>
                <a:cubicBezTo>
                  <a:pt x="1098345" y="4515531"/>
                  <a:pt x="1047613" y="4428085"/>
                  <a:pt x="1070442" y="4344440"/>
                </a:cubicBezTo>
                <a:lnTo>
                  <a:pt x="1329175" y="3390133"/>
                </a:lnTo>
                <a:cubicBezTo>
                  <a:pt x="1341858" y="3343242"/>
                  <a:pt x="1335516" y="3293816"/>
                  <a:pt x="1311418" y="3250726"/>
                </a:cubicBezTo>
                <a:cubicBezTo>
                  <a:pt x="1287321" y="3207637"/>
                  <a:pt x="1248004" y="3177220"/>
                  <a:pt x="1199808" y="3164547"/>
                </a:cubicBezTo>
                <a:cubicBezTo>
                  <a:pt x="1102150" y="3137933"/>
                  <a:pt x="1000686" y="3196230"/>
                  <a:pt x="975320" y="3293816"/>
                </a:cubicBezTo>
                <a:lnTo>
                  <a:pt x="582148" y="4743652"/>
                </a:lnTo>
                <a:lnTo>
                  <a:pt x="5073" y="6842367"/>
                </a:lnTo>
                <a:cubicBezTo>
                  <a:pt x="5073" y="6842367"/>
                  <a:pt x="1268" y="6855040"/>
                  <a:pt x="0" y="6858842"/>
                </a:cubicBezTo>
                <a:lnTo>
                  <a:pt x="26634" y="6858842"/>
                </a:lnTo>
                <a:lnTo>
                  <a:pt x="607514" y="4751256"/>
                </a:lnTo>
                <a:lnTo>
                  <a:pt x="1000686" y="3301420"/>
                </a:lnTo>
                <a:cubicBezTo>
                  <a:pt x="1023515" y="3217775"/>
                  <a:pt x="1111028" y="3167082"/>
                  <a:pt x="1194735" y="3189894"/>
                </a:cubicBezTo>
                <a:cubicBezTo>
                  <a:pt x="1235321" y="3201300"/>
                  <a:pt x="1269565" y="3226647"/>
                  <a:pt x="1289857" y="3263399"/>
                </a:cubicBezTo>
                <a:cubicBezTo>
                  <a:pt x="1311418" y="3300152"/>
                  <a:pt x="1316492" y="3341975"/>
                  <a:pt x="1305077" y="3383797"/>
                </a:cubicBezTo>
                <a:lnTo>
                  <a:pt x="1046345" y="4338103"/>
                </a:lnTo>
                <a:cubicBezTo>
                  <a:pt x="1019710" y="4435689"/>
                  <a:pt x="1078052" y="4537076"/>
                  <a:pt x="1175711" y="4562423"/>
                </a:cubicBezTo>
                <a:cubicBezTo>
                  <a:pt x="1261955" y="4585235"/>
                  <a:pt x="1352004" y="4543413"/>
                  <a:pt x="1390053" y="4462303"/>
                </a:cubicBezTo>
                <a:lnTo>
                  <a:pt x="1390053" y="4461035"/>
                </a:lnTo>
                <a:lnTo>
                  <a:pt x="1731225" y="3188627"/>
                </a:lnTo>
                <a:lnTo>
                  <a:pt x="2553081" y="1267"/>
                </a:lnTo>
                <a:cubicBezTo>
                  <a:pt x="2544203" y="0"/>
                  <a:pt x="2535325" y="0"/>
                  <a:pt x="2526446" y="0"/>
                </a:cubicBezTo>
                <a:close/>
              </a:path>
            </a:pathLst>
          </a:custGeom>
          <a:solidFill>
            <a:schemeClr val="accent1"/>
          </a:solidFill>
          <a:ln w="91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07FD607-51C6-351B-54AD-9052A81CCD7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1626" r="21626"/>
          <a:stretch>
            <a:fillRect/>
          </a:stretch>
        </p:blipFill>
        <p:spPr>
          <a:xfrm>
            <a:off x="0" y="8039"/>
            <a:ext cx="5840730" cy="6862275"/>
          </a:xfrm>
        </p:spPr>
      </p:pic>
    </p:spTree>
    <p:extLst>
      <p:ext uri="{BB962C8B-B14F-4D97-AF65-F5344CB8AC3E}">
        <p14:creationId xmlns:p14="http://schemas.microsoft.com/office/powerpoint/2010/main" val="3503979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Footer Placeholder 109">
            <a:extLst>
              <a:ext uri="{FF2B5EF4-FFF2-40B4-BE49-F238E27FC236}">
                <a16:creationId xmlns:a16="http://schemas.microsoft.com/office/drawing/2014/main" id="{B9CD0557-65B9-FA25-2CD6-66A28B347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</p:spPr>
        <p:txBody>
          <a:bodyPr/>
          <a:lstStyle/>
          <a:p>
            <a:r>
              <a:rPr lang="en-US" dirty="0"/>
              <a:t>CODE CRACKERS</a:t>
            </a:r>
          </a:p>
        </p:txBody>
      </p:sp>
      <p:sp>
        <p:nvSpPr>
          <p:cNvPr id="96" name="Slide Number Placeholder 95">
            <a:extLst>
              <a:ext uri="{FF2B5EF4-FFF2-40B4-BE49-F238E27FC236}">
                <a16:creationId xmlns:a16="http://schemas.microsoft.com/office/drawing/2014/main" id="{3BD80834-FB15-847A-2C6B-65FA4C1A9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9" name="Title 118">
            <a:extLst>
              <a:ext uri="{FF2B5EF4-FFF2-40B4-BE49-F238E27FC236}">
                <a16:creationId xmlns:a16="http://schemas.microsoft.com/office/drawing/2014/main" id="{34974D2A-D531-9065-F011-B2A52FD62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322" y="320040"/>
            <a:ext cx="6732237" cy="1017147"/>
          </a:xfrm>
        </p:spPr>
        <p:txBody>
          <a:bodyPr>
            <a:noAutofit/>
          </a:bodyPr>
          <a:lstStyle/>
          <a:p>
            <a:r>
              <a:rPr lang="en-US" dirty="0"/>
              <a:t>Course Outline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FB8BB2-2253-F694-3F4B-48B1830907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4242" y="1749479"/>
            <a:ext cx="788639" cy="533400"/>
          </a:xfr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o1.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C2F10C-DD1E-58B2-DE8A-900B513BB4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43379" y="1749479"/>
            <a:ext cx="5885179" cy="533400"/>
          </a:xfrm>
        </p:spPr>
        <p:txBody>
          <a:bodyPr/>
          <a:lstStyle/>
          <a:p>
            <a:r>
              <a:rPr lang="en-US" dirty="0"/>
              <a:t>Introduction to Computer Programming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BF3FD88-1E1E-60D7-6DBA-54883EB49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4242" y="3006909"/>
            <a:ext cx="788639" cy="533400"/>
          </a:xfrm>
        </p:spPr>
        <p:txBody>
          <a:bodyPr/>
          <a:lstStyle/>
          <a:p>
            <a:r>
              <a:rPr lang="en-US" dirty="0"/>
              <a:t>o3.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DE41E67-4B27-8ADF-D2D1-675182477D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3379" y="3009613"/>
            <a:ext cx="5885179" cy="533400"/>
          </a:xfrm>
        </p:spPr>
        <p:txBody>
          <a:bodyPr/>
          <a:lstStyle/>
          <a:p>
            <a:r>
              <a:rPr lang="en-US" dirty="0"/>
              <a:t>Programming Logic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6ADDB23-D709-216E-09BB-D24BECACD4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4242" y="3635783"/>
            <a:ext cx="788639" cy="533400"/>
          </a:xfrm>
        </p:spPr>
        <p:txBody>
          <a:bodyPr/>
          <a:lstStyle/>
          <a:p>
            <a:r>
              <a:rPr lang="en-US" dirty="0"/>
              <a:t>o4.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8154CB8-8FD8-4E91-99AF-E3CF734228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43379" y="3638169"/>
            <a:ext cx="5885179" cy="533400"/>
          </a:xfrm>
        </p:spPr>
        <p:txBody>
          <a:bodyPr/>
          <a:lstStyle/>
          <a:p>
            <a:r>
              <a:rPr lang="en-US" dirty="0"/>
              <a:t>Tools for Programmer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1E1F72F-5806-46E4-AC01-9413DBC58B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4242" y="4264656"/>
            <a:ext cx="788639" cy="533400"/>
          </a:xfrm>
        </p:spPr>
        <p:txBody>
          <a:bodyPr/>
          <a:lstStyle/>
          <a:p>
            <a:r>
              <a:rPr lang="en-US" dirty="0"/>
              <a:t>o5.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F673EE5-354A-FD54-2A4E-F922E5E162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43379" y="4269747"/>
            <a:ext cx="5885179" cy="533400"/>
          </a:xfrm>
        </p:spPr>
        <p:txBody>
          <a:bodyPr/>
          <a:lstStyle/>
          <a:p>
            <a:r>
              <a:rPr lang="en-US" dirty="0"/>
              <a:t>Trends in Software Development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4EFEB83-8DF8-9418-13FD-C034C8279A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4242" y="2378035"/>
            <a:ext cx="788639" cy="533400"/>
          </a:xfrm>
        </p:spPr>
        <p:txBody>
          <a:bodyPr/>
          <a:lstStyle/>
          <a:p>
            <a:r>
              <a:rPr lang="en-US" dirty="0"/>
              <a:t>o2.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27C4889-BB27-08A2-E9DE-947634C2E2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3379" y="2378035"/>
            <a:ext cx="5885179" cy="533400"/>
          </a:xfrm>
        </p:spPr>
        <p:txBody>
          <a:bodyPr/>
          <a:lstStyle/>
          <a:p>
            <a:r>
              <a:rPr lang="en-US" dirty="0"/>
              <a:t>Programming Concepts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E3A78732-6A77-06C0-D931-D7D867386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7B7D90C8-A3E9-289E-DC74-AFF053EFB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FAC7700E-588C-D9E9-7158-E2AA873C4A5C}"/>
              </a:ext>
            </a:extLst>
          </p:cNvPr>
          <p:cNvSpPr txBox="1">
            <a:spLocks/>
          </p:cNvSpPr>
          <p:nvPr/>
        </p:nvSpPr>
        <p:spPr>
          <a:xfrm>
            <a:off x="1612881" y="4935178"/>
            <a:ext cx="5885179" cy="533400"/>
          </a:xfrm>
          <a:prstGeom prst="rect">
            <a:avLst/>
          </a:prstGeom>
        </p:spPr>
        <p:txBody>
          <a:bodyPr vert="horz" lIns="0" tIns="4572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Career Opportunities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8E6113E-74E8-8861-EA42-5C7B131017C8}"/>
              </a:ext>
            </a:extLst>
          </p:cNvPr>
          <p:cNvSpPr txBox="1">
            <a:spLocks/>
          </p:cNvSpPr>
          <p:nvPr/>
        </p:nvSpPr>
        <p:spPr>
          <a:xfrm>
            <a:off x="881823" y="4935178"/>
            <a:ext cx="788639" cy="5334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4400" b="0" kern="1200" spc="100" baseline="-25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o6.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810098C-2CCD-DB5A-B6A2-AF0182780B95}"/>
              </a:ext>
            </a:extLst>
          </p:cNvPr>
          <p:cNvSpPr txBox="1">
            <a:spLocks/>
          </p:cNvSpPr>
          <p:nvPr/>
        </p:nvSpPr>
        <p:spPr>
          <a:xfrm>
            <a:off x="1667619" y="5555273"/>
            <a:ext cx="5885179" cy="533400"/>
          </a:xfrm>
          <a:prstGeom prst="rect">
            <a:avLst/>
          </a:prstGeom>
        </p:spPr>
        <p:txBody>
          <a:bodyPr vert="horz" lIns="0" tIns="4572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to succeed as a Programmer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F09F1B46-9CB8-EB4B-86E2-808972FC50F1}"/>
              </a:ext>
            </a:extLst>
          </p:cNvPr>
          <p:cNvSpPr txBox="1">
            <a:spLocks/>
          </p:cNvSpPr>
          <p:nvPr/>
        </p:nvSpPr>
        <p:spPr>
          <a:xfrm>
            <a:off x="900661" y="5508812"/>
            <a:ext cx="788639" cy="5334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4400" b="0" kern="1200" spc="100" baseline="-25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0116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692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9808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o7.</a:t>
            </a:r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3DBEE271-54AD-654C-8B99-AF21CB7C7E9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27674" r="2767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48501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2EA33AE-2E4E-2AD0-7AAD-FF06CBACB6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5541" y="715654"/>
            <a:ext cx="4786877" cy="1518315"/>
          </a:xfrm>
        </p:spPr>
        <p:txBody>
          <a:bodyPr/>
          <a:lstStyle/>
          <a:p>
            <a:r>
              <a:rPr lang="en-US" dirty="0"/>
              <a:t>Lesson Outline</a:t>
            </a: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BA498B66-C42E-029B-6F9F-FF45F4C14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5708" y="2431477"/>
            <a:ext cx="4786877" cy="763899"/>
          </a:xfrm>
        </p:spPr>
        <p:txBody>
          <a:bodyPr>
            <a:normAutofit fontScale="62500" lnSpcReduction="20000"/>
          </a:bodyPr>
          <a:lstStyle/>
          <a:p>
            <a:r>
              <a:rPr lang="en-US" sz="4000" dirty="0"/>
              <a:t>Understanding Programming</a:t>
            </a:r>
          </a:p>
          <a:p>
            <a:endParaRPr lang="en-US" dirty="0"/>
          </a:p>
        </p:txBody>
      </p:sp>
      <p:pic>
        <p:nvPicPr>
          <p:cNvPr id="11" name="Picture Placeholder 10" descr="A person with his hand on his chin">
            <a:extLst>
              <a:ext uri="{FF2B5EF4-FFF2-40B4-BE49-F238E27FC236}">
                <a16:creationId xmlns:a16="http://schemas.microsoft.com/office/drawing/2014/main" id="{8FB04EF3-CC57-2C94-49E0-6F49EAA5217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72" r="172"/>
          <a:stretch/>
        </p:blipFill>
        <p:spPr>
          <a:xfrm>
            <a:off x="0" y="-2235"/>
            <a:ext cx="5840730" cy="6862275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3B8BFA9-FBE9-EDA2-FBB1-C2B55CD7C8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09837" y="3392884"/>
            <a:ext cx="4204690" cy="2656114"/>
          </a:xfrm>
        </p:spPr>
        <p:txBody>
          <a:bodyPr>
            <a:normAutofit/>
          </a:bodyPr>
          <a:lstStyle/>
          <a:p>
            <a:r>
              <a:rPr lang="en-US" sz="2800" dirty="0"/>
              <a:t>What is it all about</a:t>
            </a:r>
          </a:p>
          <a:p>
            <a:r>
              <a:rPr lang="en-US" sz="2800" dirty="0"/>
              <a:t>Why Study it</a:t>
            </a:r>
          </a:p>
          <a:p>
            <a:r>
              <a:rPr lang="en-US" sz="2800" dirty="0"/>
              <a:t>Application areas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3E677C-B30B-9361-1557-EE90A7448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9081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9511001-6F2E-D16C-C5A6-4486407F6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498189" y="17722"/>
            <a:ext cx="2545001" cy="6837172"/>
          </a:xfrm>
          <a:custGeom>
            <a:avLst/>
            <a:gdLst>
              <a:gd name="connsiteX0" fmla="*/ 2518452 w 2545001"/>
              <a:gd name="connsiteY0" fmla="*/ 0 h 6837172"/>
              <a:gd name="connsiteX1" fmla="*/ 1701725 w 2545001"/>
              <a:gd name="connsiteY1" fmla="*/ 3172236 h 6837172"/>
              <a:gd name="connsiteX2" fmla="*/ 1361633 w 2545001"/>
              <a:gd name="connsiteY2" fmla="*/ 4439362 h 6837172"/>
              <a:gd name="connsiteX3" fmla="*/ 1178312 w 2545001"/>
              <a:gd name="connsiteY3" fmla="*/ 4524005 h 6837172"/>
              <a:gd name="connsiteX4" fmla="*/ 1067055 w 2545001"/>
              <a:gd name="connsiteY4" fmla="*/ 4330715 h 6837172"/>
              <a:gd name="connsiteX5" fmla="*/ 1324969 w 2545001"/>
              <a:gd name="connsiteY5" fmla="*/ 3379423 h 6837172"/>
              <a:gd name="connsiteX6" fmla="*/ 1307268 w 2545001"/>
              <a:gd name="connsiteY6" fmla="*/ 3240456 h 6837172"/>
              <a:gd name="connsiteX7" fmla="*/ 1196012 w 2545001"/>
              <a:gd name="connsiteY7" fmla="*/ 3154549 h 6837172"/>
              <a:gd name="connsiteX8" fmla="*/ 972233 w 2545001"/>
              <a:gd name="connsiteY8" fmla="*/ 3283409 h 6837172"/>
              <a:gd name="connsiteX9" fmla="*/ 580306 w 2545001"/>
              <a:gd name="connsiteY9" fmla="*/ 4728666 h 6837172"/>
              <a:gd name="connsiteX10" fmla="*/ 5057 w 2545001"/>
              <a:gd name="connsiteY10" fmla="*/ 6820750 h 6837172"/>
              <a:gd name="connsiteX11" fmla="*/ 0 w 2545001"/>
              <a:gd name="connsiteY11" fmla="*/ 6837173 h 6837172"/>
              <a:gd name="connsiteX12" fmla="*/ 26550 w 2545001"/>
              <a:gd name="connsiteY12" fmla="*/ 6837173 h 6837172"/>
              <a:gd name="connsiteX13" fmla="*/ 605591 w 2545001"/>
              <a:gd name="connsiteY13" fmla="*/ 4736246 h 6837172"/>
              <a:gd name="connsiteX14" fmla="*/ 997519 w 2545001"/>
              <a:gd name="connsiteY14" fmla="*/ 3290990 h 6837172"/>
              <a:gd name="connsiteX15" fmla="*/ 1190954 w 2545001"/>
              <a:gd name="connsiteY15" fmla="*/ 3179816 h 6837172"/>
              <a:gd name="connsiteX16" fmla="*/ 1285776 w 2545001"/>
              <a:gd name="connsiteY16" fmla="*/ 3253089 h 6837172"/>
              <a:gd name="connsiteX17" fmla="*/ 1300947 w 2545001"/>
              <a:gd name="connsiteY17" fmla="*/ 3373106 h 6837172"/>
              <a:gd name="connsiteX18" fmla="*/ 1043033 w 2545001"/>
              <a:gd name="connsiteY18" fmla="*/ 4324398 h 6837172"/>
              <a:gd name="connsiteX19" fmla="*/ 1171990 w 2545001"/>
              <a:gd name="connsiteY19" fmla="*/ 4548009 h 6837172"/>
              <a:gd name="connsiteX20" fmla="*/ 1385654 w 2545001"/>
              <a:gd name="connsiteY20" fmla="*/ 4448205 h 6837172"/>
              <a:gd name="connsiteX21" fmla="*/ 1385654 w 2545001"/>
              <a:gd name="connsiteY21" fmla="*/ 4446942 h 6837172"/>
              <a:gd name="connsiteX22" fmla="*/ 1725746 w 2545001"/>
              <a:gd name="connsiteY22" fmla="*/ 3178553 h 6837172"/>
              <a:gd name="connsiteX23" fmla="*/ 2545002 w 2545001"/>
              <a:gd name="connsiteY23" fmla="*/ 1263 h 6837172"/>
              <a:gd name="connsiteX24" fmla="*/ 2518452 w 2545001"/>
              <a:gd name="connsiteY24" fmla="*/ 0 h 683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5001" h="6837172">
                <a:moveTo>
                  <a:pt x="2518452" y="0"/>
                </a:moveTo>
                <a:lnTo>
                  <a:pt x="1701725" y="3172236"/>
                </a:lnTo>
                <a:lnTo>
                  <a:pt x="1361633" y="4439362"/>
                </a:lnTo>
                <a:cubicBezTo>
                  <a:pt x="1328761" y="4508845"/>
                  <a:pt x="1251640" y="4544219"/>
                  <a:pt x="1178312" y="4524005"/>
                </a:cubicBezTo>
                <a:cubicBezTo>
                  <a:pt x="1094869" y="4501265"/>
                  <a:pt x="1044298" y="4414095"/>
                  <a:pt x="1067055" y="4330715"/>
                </a:cubicBezTo>
                <a:lnTo>
                  <a:pt x="1324969" y="3379423"/>
                </a:lnTo>
                <a:cubicBezTo>
                  <a:pt x="1337611" y="3332679"/>
                  <a:pt x="1331290" y="3283409"/>
                  <a:pt x="1307268" y="3240456"/>
                </a:cubicBezTo>
                <a:cubicBezTo>
                  <a:pt x="1283247" y="3197503"/>
                  <a:pt x="1244054" y="3167183"/>
                  <a:pt x="1196012" y="3154549"/>
                </a:cubicBezTo>
                <a:cubicBezTo>
                  <a:pt x="1098662" y="3128019"/>
                  <a:pt x="997519" y="3186133"/>
                  <a:pt x="972233" y="3283409"/>
                </a:cubicBezTo>
                <a:lnTo>
                  <a:pt x="580306" y="4728666"/>
                </a:lnTo>
                <a:lnTo>
                  <a:pt x="5057" y="6820750"/>
                </a:lnTo>
                <a:cubicBezTo>
                  <a:pt x="5057" y="6820750"/>
                  <a:pt x="1264" y="6833383"/>
                  <a:pt x="0" y="6837173"/>
                </a:cubicBezTo>
                <a:lnTo>
                  <a:pt x="26550" y="6837173"/>
                </a:lnTo>
                <a:lnTo>
                  <a:pt x="605591" y="4736246"/>
                </a:lnTo>
                <a:lnTo>
                  <a:pt x="997519" y="3290990"/>
                </a:lnTo>
                <a:cubicBezTo>
                  <a:pt x="1020276" y="3207609"/>
                  <a:pt x="1107512" y="3157076"/>
                  <a:pt x="1190954" y="3179816"/>
                </a:cubicBezTo>
                <a:cubicBezTo>
                  <a:pt x="1231411" y="3191186"/>
                  <a:pt x="1265547" y="3216453"/>
                  <a:pt x="1285776" y="3253089"/>
                </a:cubicBezTo>
                <a:cubicBezTo>
                  <a:pt x="1307268" y="3289726"/>
                  <a:pt x="1312326" y="3331416"/>
                  <a:pt x="1300947" y="3373106"/>
                </a:cubicBezTo>
                <a:lnTo>
                  <a:pt x="1043033" y="4324398"/>
                </a:lnTo>
                <a:cubicBezTo>
                  <a:pt x="1016483" y="4421675"/>
                  <a:pt x="1074640" y="4522742"/>
                  <a:pt x="1171990" y="4548009"/>
                </a:cubicBezTo>
                <a:cubicBezTo>
                  <a:pt x="1257961" y="4570749"/>
                  <a:pt x="1347725" y="4529059"/>
                  <a:pt x="1385654" y="4448205"/>
                </a:cubicBezTo>
                <a:lnTo>
                  <a:pt x="1385654" y="4446942"/>
                </a:lnTo>
                <a:lnTo>
                  <a:pt x="1725746" y="3178553"/>
                </a:lnTo>
                <a:lnTo>
                  <a:pt x="2545002" y="1263"/>
                </a:lnTo>
                <a:cubicBezTo>
                  <a:pt x="2536151" y="0"/>
                  <a:pt x="2527302" y="0"/>
                  <a:pt x="2518452" y="0"/>
                </a:cubicBezTo>
                <a:close/>
              </a:path>
            </a:pathLst>
          </a:custGeom>
          <a:solidFill>
            <a:schemeClr val="accent1"/>
          </a:solidFill>
          <a:ln w="126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479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359" y="202101"/>
            <a:ext cx="6732237" cy="100584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Code: Lets Understand it</a:t>
            </a:r>
            <a:r>
              <a:rPr lang="en-US" dirty="0"/>
              <a:t> 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72143" y="1371600"/>
            <a:ext cx="6941871" cy="504008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700" dirty="0"/>
              <a:t>We can not talk about Computer Program (Code) without knowing a computer.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700" dirty="0"/>
              <a:t>Then, What is a computer?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700" dirty="0"/>
              <a:t>Functions of a computer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700" dirty="0"/>
              <a:t>What are Components of a computer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Code: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b="0" i="0" dirty="0">
                <a:solidFill>
                  <a:srgbClr val="202124"/>
                </a:solidFill>
                <a:effectLst/>
                <a:cs typeface="Arial" panose="020B0604020202020204" pitchFamily="34" charset="0"/>
              </a:rPr>
              <a:t>Unambiguous, ordered sequence of computational instructions that a computer executes  necessary to achieve  a solution</a:t>
            </a:r>
            <a:r>
              <a:rPr lang="en-US" sz="1600" b="0" i="0" dirty="0">
                <a:solidFill>
                  <a:srgbClr val="202124"/>
                </a:solidFill>
                <a:effectLst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202124"/>
                </a:solidFill>
                <a:cs typeface="Arial" panose="020B0604020202020204" pitchFamily="34" charset="0"/>
              </a:rPr>
              <a:t>Detailed plan or procedure for solving a problem with a computer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202124"/>
                </a:solidFill>
                <a:cs typeface="Arial" panose="020B0604020202020204" pitchFamily="34" charset="0"/>
              </a:rPr>
              <a:t>Simple instructions ( adding numbers, Displaying names, playing music)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202124"/>
                </a:solidFill>
                <a:cs typeface="Arial" panose="020B0604020202020204" pitchFamily="34" charset="0"/>
              </a:rPr>
              <a:t>Few lines of instructions are called (program)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202124"/>
                </a:solidFill>
                <a:cs typeface="Arial" panose="020B0604020202020204" pitchFamily="34" charset="0"/>
              </a:rPr>
              <a:t>If lines of codes are many may be in thousand or million lines of codes are called Software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2C984-616F-EC16-3E37-A54495E756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</p:spPr>
        <p:txBody>
          <a:bodyPr/>
          <a:lstStyle/>
          <a:p>
            <a:r>
              <a:rPr lang="en-US" dirty="0"/>
              <a:t>CODE CRACKERS</a:t>
            </a:r>
          </a:p>
        </p:txBody>
      </p:sp>
      <p:pic>
        <p:nvPicPr>
          <p:cNvPr id="19" name="Picture Placeholder 18" descr="A person working at a desk">
            <a:extLst>
              <a:ext uri="{FF2B5EF4-FFF2-40B4-BE49-F238E27FC236}">
                <a16:creationId xmlns:a16="http://schemas.microsoft.com/office/drawing/2014/main" id="{52D45C27-4F4D-5A89-8C52-CB8FC47BCEF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565" r="3565"/>
          <a:stretch/>
        </p:blipFill>
        <p:spPr>
          <a:xfrm flipH="1">
            <a:off x="7789405" y="-3219"/>
            <a:ext cx="4763978" cy="6501990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56652" y="-3219"/>
            <a:ext cx="2076277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85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CCD53A-3321-FDB9-CA50-70544F935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368" y="270880"/>
            <a:ext cx="11297264" cy="15240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Code: Why study it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BD71C-DCE9-9855-DCBE-675F20E946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18352" y="1894376"/>
            <a:ext cx="2847975" cy="3390899"/>
          </a:xfrm>
        </p:spPr>
        <p:txBody>
          <a:bodyPr/>
          <a:lstStyle/>
          <a:p>
            <a:r>
              <a:rPr lang="en-US" dirty="0"/>
              <a:t>Problem solving</a:t>
            </a:r>
          </a:p>
        </p:txBody>
      </p:sp>
      <p:pic>
        <p:nvPicPr>
          <p:cNvPr id="51" name="Picture Placeholder 50">
            <a:extLst>
              <a:ext uri="{FF2B5EF4-FFF2-40B4-BE49-F238E27FC236}">
                <a16:creationId xmlns:a16="http://schemas.microsoft.com/office/drawing/2014/main" id="{F1A5F630-1971-68D5-BEDA-6FC11471C8E1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 t="1167" b="1167"/>
          <a:stretch/>
        </p:blipFill>
        <p:spPr>
          <a:xfrm>
            <a:off x="2239419" y="2833688"/>
            <a:ext cx="1005840" cy="914400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2063B1-AD32-CF53-B792-70C1B67D52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05817" y="3989405"/>
            <a:ext cx="2275880" cy="893763"/>
          </a:xfrm>
        </p:spPr>
        <p:txBody>
          <a:bodyPr/>
          <a:lstStyle/>
          <a:p>
            <a:r>
              <a:rPr lang="en-GB" b="1" i="0" dirty="0">
                <a:solidFill>
                  <a:srgbClr val="924200"/>
                </a:solidFill>
                <a:effectLst/>
                <a:latin typeface="Open Sans" panose="020F0502020204030204" pitchFamily="34" charset="0"/>
              </a:rPr>
              <a:t>Coding Boosts Problem-Solving Skills</a:t>
            </a:r>
            <a:endParaRPr lang="en-GB" b="0" i="0" dirty="0">
              <a:solidFill>
                <a:srgbClr val="924200"/>
              </a:solidFill>
              <a:effectLst/>
              <a:latin typeface="Open Sans" panose="020F0502020204030204" pitchFamily="34" charset="0"/>
            </a:endParaRPr>
          </a:p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AC814C-D211-009A-190F-549B7A0D63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51092" y="1894376"/>
            <a:ext cx="2847975" cy="3390899"/>
          </a:xfrm>
        </p:spPr>
        <p:txBody>
          <a:bodyPr/>
          <a:lstStyle/>
          <a:p>
            <a:r>
              <a:rPr lang="en-US" dirty="0"/>
              <a:t>Creativity </a:t>
            </a:r>
          </a:p>
        </p:txBody>
      </p:sp>
      <p:pic>
        <p:nvPicPr>
          <p:cNvPr id="53" name="Picture Placeholder 52">
            <a:extLst>
              <a:ext uri="{FF2B5EF4-FFF2-40B4-BE49-F238E27FC236}">
                <a16:creationId xmlns:a16="http://schemas.microsoft.com/office/drawing/2014/main" id="{6D152620-03B9-AECD-503A-E23309285EA7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3"/>
          <a:srcRect t="1705" b="1705"/>
          <a:stretch/>
        </p:blipFill>
        <p:spPr>
          <a:xfrm>
            <a:off x="5572159" y="2954840"/>
            <a:ext cx="1005840" cy="914400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B0AEFB-9FA8-4379-DA69-49759E72608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38557" y="3989404"/>
            <a:ext cx="2275880" cy="893763"/>
          </a:xfrm>
        </p:spPr>
        <p:txBody>
          <a:bodyPr/>
          <a:lstStyle/>
          <a:p>
            <a:pPr algn="l"/>
            <a:r>
              <a:rPr lang="en-GB" b="1" i="0" dirty="0">
                <a:solidFill>
                  <a:srgbClr val="924200"/>
                </a:solidFill>
                <a:effectLst/>
                <a:latin typeface="Open Sans" panose="020B0606030504020204" pitchFamily="34" charset="0"/>
              </a:rPr>
              <a:t>Coding Teaches Creativity and Computational thinking</a:t>
            </a:r>
            <a:endParaRPr lang="en-GB" b="0" i="0" dirty="0">
              <a:solidFill>
                <a:srgbClr val="924200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B8455C-CEA2-F7C8-E898-97C86849DC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95403" y="1894376"/>
            <a:ext cx="2847975" cy="3390899"/>
          </a:xfrm>
        </p:spPr>
        <p:txBody>
          <a:bodyPr/>
          <a:lstStyle/>
          <a:p>
            <a:r>
              <a:rPr lang="en-US" dirty="0"/>
              <a:t>Persistence</a:t>
            </a:r>
          </a:p>
        </p:txBody>
      </p:sp>
      <p:pic>
        <p:nvPicPr>
          <p:cNvPr id="55" name="Picture Placeholder 54">
            <a:extLst>
              <a:ext uri="{FF2B5EF4-FFF2-40B4-BE49-F238E27FC236}">
                <a16:creationId xmlns:a16="http://schemas.microsoft.com/office/drawing/2014/main" id="{415585AE-96E0-81D6-0A31-2A13ECB76808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4"/>
          <a:srcRect t="7912" b="7912"/>
          <a:stretch/>
        </p:blipFill>
        <p:spPr>
          <a:xfrm>
            <a:off x="8651022" y="2833688"/>
            <a:ext cx="1271288" cy="1155716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563BBD-CFF8-BAAA-D1C5-C6AC7B376BC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82868" y="3989404"/>
            <a:ext cx="2275880" cy="893763"/>
          </a:xfrm>
        </p:spPr>
        <p:txBody>
          <a:bodyPr/>
          <a:lstStyle/>
          <a:p>
            <a:pPr algn="l"/>
            <a:r>
              <a:rPr lang="en-GB" b="1" i="0" dirty="0">
                <a:solidFill>
                  <a:srgbClr val="924200"/>
                </a:solidFill>
                <a:effectLst/>
                <a:latin typeface="Open Sans" panose="020B0606030504020204" pitchFamily="34" charset="0"/>
              </a:rPr>
              <a:t>Coding Encourages Persistence and determination</a:t>
            </a:r>
            <a:endParaRPr lang="en-GB" b="0" i="0" dirty="0">
              <a:solidFill>
                <a:srgbClr val="924200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A183-22BD-739B-59DF-20E049F93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</p:spPr>
        <p:txBody>
          <a:bodyPr/>
          <a:lstStyle/>
          <a:p>
            <a:r>
              <a:rPr lang="en-US" dirty="0"/>
              <a:t>CODE CRACKERS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4DC98-ED35-A03F-CA2C-D54F23D0F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03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CCD53A-3321-FDB9-CA50-70544F935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368" y="270880"/>
            <a:ext cx="11297264" cy="15240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Code: Why study it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BD71C-DCE9-9855-DCBE-675F20E946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18352" y="1894376"/>
            <a:ext cx="2847975" cy="3390899"/>
          </a:xfrm>
        </p:spPr>
        <p:txBody>
          <a:bodyPr/>
          <a:lstStyle/>
          <a:p>
            <a:r>
              <a:rPr lang="en-US" dirty="0"/>
              <a:t>Innovation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2063B1-AD32-CF53-B792-70C1B67D52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05817" y="3989405"/>
            <a:ext cx="2275880" cy="893763"/>
          </a:xfrm>
        </p:spPr>
        <p:txBody>
          <a:bodyPr/>
          <a:lstStyle/>
          <a:p>
            <a:r>
              <a:rPr lang="en-GB" b="1" i="0" dirty="0">
                <a:solidFill>
                  <a:srgbClr val="924200"/>
                </a:solidFill>
                <a:effectLst/>
                <a:latin typeface="Open Sans" panose="020F0502020204030204" pitchFamily="34" charset="0"/>
              </a:rPr>
              <a:t>Coding Boosts </a:t>
            </a:r>
            <a:r>
              <a:rPr lang="en-GB" b="1" dirty="0">
                <a:solidFill>
                  <a:srgbClr val="924200"/>
                </a:solidFill>
                <a:latin typeface="Open Sans" panose="020F0502020204030204" pitchFamily="34" charset="0"/>
              </a:rPr>
              <a:t>innovative mind and </a:t>
            </a:r>
            <a:r>
              <a:rPr lang="en-GB" b="1" i="0" dirty="0">
                <a:solidFill>
                  <a:srgbClr val="924200"/>
                </a:solidFill>
                <a:effectLst/>
                <a:latin typeface="Open Sans" panose="020F0502020204030204" pitchFamily="34" charset="0"/>
              </a:rPr>
              <a:t>Skills in us</a:t>
            </a:r>
            <a:endParaRPr lang="en-GB" b="0" i="0" dirty="0">
              <a:solidFill>
                <a:srgbClr val="924200"/>
              </a:solidFill>
              <a:effectLst/>
              <a:latin typeface="Open Sans" panose="020F0502020204030204" pitchFamily="34" charset="0"/>
            </a:endParaRPr>
          </a:p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AC814C-D211-009A-190F-549B7A0D63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51092" y="1894376"/>
            <a:ext cx="2847975" cy="3390899"/>
          </a:xfrm>
        </p:spPr>
        <p:txBody>
          <a:bodyPr/>
          <a:lstStyle/>
          <a:p>
            <a:r>
              <a:rPr lang="en-US" dirty="0"/>
              <a:t>Career 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B0AEFB-9FA8-4379-DA69-49759E72608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38557" y="3989404"/>
            <a:ext cx="2275880" cy="893763"/>
          </a:xfrm>
        </p:spPr>
        <p:txBody>
          <a:bodyPr/>
          <a:lstStyle/>
          <a:p>
            <a:pPr algn="l"/>
            <a:r>
              <a:rPr lang="en-GB" b="1" i="0" dirty="0">
                <a:solidFill>
                  <a:srgbClr val="924200"/>
                </a:solidFill>
                <a:effectLst/>
                <a:latin typeface="Open Sans" panose="020B0606030504020204" pitchFamily="34" charset="0"/>
              </a:rPr>
              <a:t>Coding </a:t>
            </a:r>
            <a:r>
              <a:rPr lang="en-GB" b="1" dirty="0">
                <a:solidFill>
                  <a:srgbClr val="924200"/>
                </a:solidFill>
                <a:latin typeface="Open Sans" panose="020B0606030504020204" pitchFamily="34" charset="0"/>
              </a:rPr>
              <a:t>helps build our career and improve digital skills</a:t>
            </a:r>
            <a:r>
              <a:rPr lang="en-GB" b="1" i="0" dirty="0">
                <a:solidFill>
                  <a:srgbClr val="924200"/>
                </a:solidFill>
                <a:effectLst/>
                <a:latin typeface="Open Sans" panose="020B0606030504020204" pitchFamily="34" charset="0"/>
              </a:rPr>
              <a:t> </a:t>
            </a:r>
            <a:endParaRPr lang="en-GB" b="0" i="0" dirty="0">
              <a:solidFill>
                <a:srgbClr val="924200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B8455C-CEA2-F7C8-E898-97C86849DC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95403" y="1894376"/>
            <a:ext cx="2847975" cy="3390899"/>
          </a:xfrm>
        </p:spPr>
        <p:txBody>
          <a:bodyPr/>
          <a:lstStyle/>
          <a:p>
            <a:r>
              <a:rPr lang="en-US" dirty="0"/>
              <a:t>Accomplishment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563BBD-CFF8-BAAA-D1C5-C6AC7B376BC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92666" y="3989403"/>
            <a:ext cx="2275880" cy="893763"/>
          </a:xfrm>
        </p:spPr>
        <p:txBody>
          <a:bodyPr/>
          <a:lstStyle/>
          <a:p>
            <a:pPr algn="l"/>
            <a:r>
              <a:rPr lang="en-GB" b="1" i="0" dirty="0">
                <a:solidFill>
                  <a:srgbClr val="924200"/>
                </a:solidFill>
                <a:effectLst/>
                <a:latin typeface="Open Sans" panose="020B0606030504020204" pitchFamily="34" charset="0"/>
              </a:rPr>
              <a:t>Coding </a:t>
            </a:r>
            <a:r>
              <a:rPr lang="en-GB" b="1" dirty="0">
                <a:solidFill>
                  <a:srgbClr val="924200"/>
                </a:solidFill>
                <a:latin typeface="Open Sans" panose="020B0606030504020204" pitchFamily="34" charset="0"/>
              </a:rPr>
              <a:t>brings spirit of achievement</a:t>
            </a:r>
            <a:r>
              <a:rPr lang="en-GB" b="1" i="0" dirty="0">
                <a:solidFill>
                  <a:srgbClr val="924200"/>
                </a:solidFill>
                <a:effectLst/>
                <a:latin typeface="Open Sans" panose="020B0606030504020204" pitchFamily="34" charset="0"/>
              </a:rPr>
              <a:t> and Satisfaction</a:t>
            </a:r>
            <a:endParaRPr lang="en-GB" b="0" i="0" dirty="0">
              <a:solidFill>
                <a:srgbClr val="924200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A183-22BD-739B-59DF-20E049F93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</p:spPr>
        <p:txBody>
          <a:bodyPr/>
          <a:lstStyle/>
          <a:p>
            <a:r>
              <a:rPr lang="en-US" dirty="0"/>
              <a:t>CODE CRACKERS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4DC98-ED35-A03F-CA2C-D54F23D0F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4AB1DABB-2263-A8FA-CA84-B8361886BD1B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 t="7822" b="7822"/>
          <a:stretch>
            <a:fillRect/>
          </a:stretch>
        </p:blipFill>
        <p:spPr>
          <a:xfrm>
            <a:off x="1959429" y="2833688"/>
            <a:ext cx="1456194" cy="1035552"/>
          </a:xfrm>
        </p:spPr>
      </p:pic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AB05EEF0-2B1B-66A5-D258-18A1F368FEE0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3"/>
          <a:srcRect t="4574" b="4574"/>
          <a:stretch>
            <a:fillRect/>
          </a:stretch>
        </p:blipFill>
        <p:spPr>
          <a:xfrm>
            <a:off x="5447636" y="2728435"/>
            <a:ext cx="1254885" cy="1140805"/>
          </a:xfrm>
        </p:spPr>
      </p:pic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AA431F7B-1EEB-1627-0C4B-CF98B7D94409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4"/>
          <a:srcRect t="4502" b="450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87094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CCD53A-3321-FDB9-CA50-70544F935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368" y="270880"/>
            <a:ext cx="11297264" cy="15240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Code: Application Areas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BD71C-DCE9-9855-DCBE-675F20E946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18352" y="1894376"/>
            <a:ext cx="2847975" cy="3390899"/>
          </a:xfrm>
        </p:spPr>
        <p:txBody>
          <a:bodyPr/>
          <a:lstStyle/>
          <a:p>
            <a:r>
              <a:rPr lang="en-US" dirty="0"/>
              <a:t>Banking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2063B1-AD32-CF53-B792-70C1B67D52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05817" y="3989405"/>
            <a:ext cx="2275880" cy="893763"/>
          </a:xfrm>
        </p:spPr>
        <p:txBody>
          <a:bodyPr/>
          <a:lstStyle/>
          <a:p>
            <a:r>
              <a:rPr lang="en-GB" b="1" dirty="0">
                <a:solidFill>
                  <a:srgbClr val="924200"/>
                </a:solidFill>
                <a:latin typeface="Open Sans" panose="020F0502020204030204" pitchFamily="34" charset="0"/>
              </a:rPr>
              <a:t>E-banking services</a:t>
            </a:r>
            <a:endParaRPr lang="en-GB" b="0" i="0" dirty="0">
              <a:solidFill>
                <a:srgbClr val="924200"/>
              </a:solidFill>
              <a:effectLst/>
              <a:latin typeface="Open Sans" panose="020F0502020204030204" pitchFamily="34" charset="0"/>
            </a:endParaRPr>
          </a:p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AC814C-D211-009A-190F-549B7A0D63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51092" y="1894376"/>
            <a:ext cx="2847975" cy="3390899"/>
          </a:xfrm>
        </p:spPr>
        <p:txBody>
          <a:bodyPr/>
          <a:lstStyle/>
          <a:p>
            <a:r>
              <a:rPr lang="en-US" dirty="0"/>
              <a:t>Health 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B0AEFB-9FA8-4379-DA69-49759E72608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38557" y="3989404"/>
            <a:ext cx="2275880" cy="893763"/>
          </a:xfrm>
        </p:spPr>
        <p:txBody>
          <a:bodyPr/>
          <a:lstStyle/>
          <a:p>
            <a:pPr algn="l"/>
            <a:r>
              <a:rPr lang="en-GB" b="1" dirty="0">
                <a:solidFill>
                  <a:srgbClr val="924200"/>
                </a:solidFill>
                <a:latin typeface="Open Sans" panose="020B0606030504020204" pitchFamily="34" charset="0"/>
              </a:rPr>
              <a:t>Mobile health, disease prediction</a:t>
            </a:r>
            <a:endParaRPr lang="en-GB" b="0" i="0" dirty="0">
              <a:solidFill>
                <a:srgbClr val="924200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B8455C-CEA2-F7C8-E898-97C86849DC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95403" y="1894376"/>
            <a:ext cx="2847975" cy="3390899"/>
          </a:xfrm>
        </p:spPr>
        <p:txBody>
          <a:bodyPr/>
          <a:lstStyle/>
          <a:p>
            <a:r>
              <a:rPr lang="en-US" dirty="0"/>
              <a:t>Financial Technology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563BBD-CFF8-BAAA-D1C5-C6AC7B376BC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10303" y="4173917"/>
            <a:ext cx="2275880" cy="893763"/>
          </a:xfrm>
        </p:spPr>
        <p:txBody>
          <a:bodyPr/>
          <a:lstStyle/>
          <a:p>
            <a:pPr algn="l"/>
            <a:r>
              <a:rPr lang="en-GB" b="1" dirty="0">
                <a:solidFill>
                  <a:srgbClr val="924200"/>
                </a:solidFill>
                <a:latin typeface="Open Sans" panose="020B0606030504020204" pitchFamily="34" charset="0"/>
              </a:rPr>
              <a:t>Mobile payment, Block chain technology</a:t>
            </a:r>
            <a:endParaRPr lang="en-GB" b="0" i="0" dirty="0">
              <a:solidFill>
                <a:srgbClr val="924200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A183-22BD-739B-59DF-20E049F93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</p:spPr>
        <p:txBody>
          <a:bodyPr/>
          <a:lstStyle/>
          <a:p>
            <a:r>
              <a:rPr lang="en-US" dirty="0"/>
              <a:t>CODE CRACKERS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4DC98-ED35-A03F-CA2C-D54F23D0F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1F4BF9AF-C61E-A2BF-3189-A9DAB3BF3DE1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 t="4502" b="4502"/>
          <a:stretch>
            <a:fillRect/>
          </a:stretch>
        </p:blipFill>
        <p:spPr/>
      </p:pic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AEA39500-4D25-C2AC-1259-9EAA386B41CD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3"/>
          <a:srcRect l="8724" r="8724"/>
          <a:stretch>
            <a:fillRect/>
          </a:stretch>
        </p:blipFill>
        <p:spPr/>
      </p:pic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4EFADBB5-307A-D419-5249-5997DDB314DA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4"/>
          <a:srcRect l="6391" r="6391"/>
          <a:stretch>
            <a:fillRect/>
          </a:stretch>
        </p:blipFill>
        <p:spPr>
          <a:xfrm>
            <a:off x="8946741" y="3075004"/>
            <a:ext cx="1005840" cy="914400"/>
          </a:xfrm>
        </p:spPr>
      </p:pic>
    </p:spTree>
    <p:extLst>
      <p:ext uri="{BB962C8B-B14F-4D97-AF65-F5344CB8AC3E}">
        <p14:creationId xmlns:p14="http://schemas.microsoft.com/office/powerpoint/2010/main" val="3179286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CCD53A-3321-FDB9-CA50-70544F935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368" y="270880"/>
            <a:ext cx="11297264" cy="15240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Code: Application Areas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BD71C-DCE9-9855-DCBE-675F20E946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18352" y="1894376"/>
            <a:ext cx="2847975" cy="3390899"/>
          </a:xfrm>
        </p:spPr>
        <p:txBody>
          <a:bodyPr/>
          <a:lstStyle/>
          <a:p>
            <a:r>
              <a:rPr lang="en-US" dirty="0"/>
              <a:t>Education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2063B1-AD32-CF53-B792-70C1B67D52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05817" y="3989405"/>
            <a:ext cx="2275880" cy="893763"/>
          </a:xfrm>
        </p:spPr>
        <p:txBody>
          <a:bodyPr/>
          <a:lstStyle/>
          <a:p>
            <a:r>
              <a:rPr lang="en-GB" b="1" dirty="0">
                <a:solidFill>
                  <a:srgbClr val="924200"/>
                </a:solidFill>
                <a:latin typeface="Open Sans" panose="020F0502020204030204" pitchFamily="34" charset="0"/>
              </a:rPr>
              <a:t>LMS, Virtual Classes,  Digital resources</a:t>
            </a:r>
            <a:endParaRPr lang="en-GB" b="0" i="0" dirty="0">
              <a:solidFill>
                <a:srgbClr val="924200"/>
              </a:solidFill>
              <a:effectLst/>
              <a:latin typeface="Open Sans" panose="020F0502020204030204" pitchFamily="34" charset="0"/>
            </a:endParaRPr>
          </a:p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AC814C-D211-009A-190F-549B7A0D63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51092" y="1894376"/>
            <a:ext cx="2847975" cy="3390899"/>
          </a:xfrm>
        </p:spPr>
        <p:txBody>
          <a:bodyPr/>
          <a:lstStyle/>
          <a:p>
            <a:r>
              <a:rPr lang="en-US" dirty="0"/>
              <a:t>Agriculture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B0AEFB-9FA8-4379-DA69-49759E72608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38557" y="3989404"/>
            <a:ext cx="2275880" cy="893763"/>
          </a:xfrm>
        </p:spPr>
        <p:txBody>
          <a:bodyPr/>
          <a:lstStyle/>
          <a:p>
            <a:r>
              <a:rPr lang="en-GB" b="1" dirty="0">
                <a:solidFill>
                  <a:srgbClr val="924200"/>
                </a:solidFill>
                <a:latin typeface="Open Sans" panose="020F0502020204030204" pitchFamily="34" charset="0"/>
              </a:rPr>
              <a:t>Precision farming, Data analytics, IoT.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B8455C-CEA2-F7C8-E898-97C86849DC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95403" y="1894376"/>
            <a:ext cx="2847975" cy="3390899"/>
          </a:xfrm>
        </p:spPr>
        <p:txBody>
          <a:bodyPr/>
          <a:lstStyle/>
          <a:p>
            <a:r>
              <a:rPr lang="en-US" dirty="0"/>
              <a:t>Trade/Business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563BBD-CFF8-BAAA-D1C5-C6AC7B376BC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10303" y="4173917"/>
            <a:ext cx="2275880" cy="893763"/>
          </a:xfrm>
        </p:spPr>
        <p:txBody>
          <a:bodyPr/>
          <a:lstStyle/>
          <a:p>
            <a:pPr algn="l"/>
            <a:r>
              <a:rPr lang="en-GB" b="1" dirty="0">
                <a:solidFill>
                  <a:srgbClr val="924200"/>
                </a:solidFill>
                <a:latin typeface="Open Sans" panose="020B0606030504020204" pitchFamily="34" charset="0"/>
              </a:rPr>
              <a:t>Ecommerce platforms, e-POS</a:t>
            </a:r>
            <a:endParaRPr lang="en-GB" b="0" i="0" dirty="0">
              <a:solidFill>
                <a:srgbClr val="924200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A183-22BD-739B-59DF-20E049F93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</p:spPr>
        <p:txBody>
          <a:bodyPr/>
          <a:lstStyle/>
          <a:p>
            <a:r>
              <a:rPr lang="en-US" dirty="0"/>
              <a:t>CODE CRACKERS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4DC98-ED35-A03F-CA2C-D54F23D0F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5EE87973-78BF-085E-AA81-0C7620C5086D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 l="8842" r="8842"/>
          <a:stretch>
            <a:fillRect/>
          </a:stretch>
        </p:blipFill>
        <p:spPr/>
      </p:pic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E08BD4DB-2FF1-AB5E-B26F-ED12ED5C928E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3"/>
          <a:srcRect t="4574" b="4574"/>
          <a:stretch>
            <a:fillRect/>
          </a:stretch>
        </p:blipFill>
        <p:spPr/>
      </p:pic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8E84052A-8CD9-FB0D-07FB-12957CCDB519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4"/>
          <a:srcRect t="4502" b="450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81510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CCD53A-3321-FDB9-CA50-70544F935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368" y="270880"/>
            <a:ext cx="11297264" cy="15240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Code: Products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BD71C-DCE9-9855-DCBE-675F20E946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18352" y="1894376"/>
            <a:ext cx="2847975" cy="3390899"/>
          </a:xfrm>
        </p:spPr>
        <p:txBody>
          <a:bodyPr/>
          <a:lstStyle/>
          <a:p>
            <a:r>
              <a:rPr lang="en-US" dirty="0"/>
              <a:t>Websites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AC814C-D211-009A-190F-549B7A0D63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51092" y="1894376"/>
            <a:ext cx="2847975" cy="3390899"/>
          </a:xfrm>
        </p:spPr>
        <p:txBody>
          <a:bodyPr/>
          <a:lstStyle/>
          <a:p>
            <a:r>
              <a:rPr lang="en-US" dirty="0"/>
              <a:t>Web Apps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B8455C-CEA2-F7C8-E898-97C86849DC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95403" y="1894376"/>
            <a:ext cx="2847975" cy="3390899"/>
          </a:xfrm>
        </p:spPr>
        <p:txBody>
          <a:bodyPr/>
          <a:lstStyle/>
          <a:p>
            <a:r>
              <a:rPr lang="en-US" dirty="0"/>
              <a:t>Mobile Apps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A183-22BD-739B-59DF-20E049F93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</p:spPr>
        <p:txBody>
          <a:bodyPr/>
          <a:lstStyle/>
          <a:p>
            <a:r>
              <a:rPr lang="en-US" dirty="0"/>
              <a:t>CODE CRACKERS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4DC98-ED35-A03F-CA2C-D54F23D0F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639EDE0D-DD75-5A9A-5716-D51031238861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 t="4502" b="4502"/>
          <a:stretch>
            <a:fillRect/>
          </a:stretch>
        </p:blipFill>
        <p:spPr/>
      </p:pic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1F19441C-8080-780F-B076-E2BDAC49A07E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3"/>
          <a:srcRect t="4574" b="4574"/>
          <a:stretch>
            <a:fillRect/>
          </a:stretch>
        </p:blipFill>
        <p:spPr/>
      </p:pic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A6316D1B-34E1-3672-DC33-7DAF9275ABC5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4"/>
          <a:srcRect t="4502" b="450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01213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CCD53A-3321-FDB9-CA50-70544F935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368" y="270880"/>
            <a:ext cx="11297264" cy="1524000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Code: Products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BD71C-DCE9-9855-DCBE-675F20E946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18352" y="1894376"/>
            <a:ext cx="2847975" cy="3390899"/>
          </a:xfrm>
        </p:spPr>
        <p:txBody>
          <a:bodyPr/>
          <a:lstStyle/>
          <a:p>
            <a:r>
              <a:rPr lang="en-US" dirty="0"/>
              <a:t>AI Models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AC814C-D211-009A-190F-549B7A0D63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51092" y="1894376"/>
            <a:ext cx="2847975" cy="3390899"/>
          </a:xfrm>
        </p:spPr>
        <p:txBody>
          <a:bodyPr/>
          <a:lstStyle/>
          <a:p>
            <a:r>
              <a:rPr lang="en-US" dirty="0"/>
              <a:t>Robotics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B8455C-CEA2-F7C8-E898-97C86849DC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95403" y="1894376"/>
            <a:ext cx="2847975" cy="3390899"/>
          </a:xfrm>
        </p:spPr>
        <p:txBody>
          <a:bodyPr/>
          <a:lstStyle/>
          <a:p>
            <a:r>
              <a:rPr lang="en-US" dirty="0"/>
              <a:t>Games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A183-22BD-739B-59DF-20E049F93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</p:spPr>
        <p:txBody>
          <a:bodyPr/>
          <a:lstStyle/>
          <a:p>
            <a:r>
              <a:rPr lang="en-US" dirty="0"/>
              <a:t>CODE CRACKERS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4DC98-ED35-A03F-CA2C-D54F23D0F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08A6B9D9-C3E4-CF07-1B72-35F16205E637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 t="4502" b="4502"/>
          <a:stretch>
            <a:fillRect/>
          </a:stretch>
        </p:blipFill>
        <p:spPr/>
      </p:pic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007502F4-F2DB-7699-5553-2EFE97E7055A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3"/>
          <a:srcRect t="4574" b="4574"/>
          <a:stretch>
            <a:fillRect/>
          </a:stretch>
        </p:blipFill>
        <p:spPr/>
      </p:pic>
      <p:pic>
        <p:nvPicPr>
          <p:cNvPr id="31" name="Picture Placeholder 30">
            <a:extLst>
              <a:ext uri="{FF2B5EF4-FFF2-40B4-BE49-F238E27FC236}">
                <a16:creationId xmlns:a16="http://schemas.microsoft.com/office/drawing/2014/main" id="{DCBE1266-6BF5-FA35-FE59-C67DBAB1C12B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4"/>
          <a:srcRect t="4502" b="450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58665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3917-072D-B98F-53A4-46496DCB7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788" y="353962"/>
            <a:ext cx="4786877" cy="983225"/>
          </a:xfrm>
        </p:spPr>
        <p:txBody>
          <a:bodyPr/>
          <a:lstStyle/>
          <a:p>
            <a:r>
              <a:rPr lang="en-US" dirty="0"/>
              <a:t>Summary 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B4740A4-A1D9-E9B5-6838-073E13692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9788" y="1517074"/>
            <a:ext cx="4786877" cy="763899"/>
          </a:xfrm>
        </p:spPr>
        <p:txBody>
          <a:bodyPr/>
          <a:lstStyle/>
          <a:p>
            <a:r>
              <a:rPr lang="en-US" dirty="0"/>
              <a:t>What we’ve learned so far</a:t>
            </a:r>
          </a:p>
        </p:txBody>
      </p:sp>
      <p:pic>
        <p:nvPicPr>
          <p:cNvPr id="7" name="Picture Placeholder 6" descr="A close up of a circuit board">
            <a:extLst>
              <a:ext uri="{FF2B5EF4-FFF2-40B4-BE49-F238E27FC236}">
                <a16:creationId xmlns:a16="http://schemas.microsoft.com/office/drawing/2014/main" id="{F8C45233-1B15-3596-75CE-DED7D720CA0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194" r="1194"/>
          <a:stretch/>
        </p:blipFill>
        <p:spPr>
          <a:xfrm>
            <a:off x="0" y="-2235"/>
            <a:ext cx="5840730" cy="6862275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6C1B1B9-02C9-EF1E-AFBE-E40015F082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99788" y="2123472"/>
            <a:ext cx="4796710" cy="401939"/>
          </a:xfrm>
        </p:spPr>
        <p:txBody>
          <a:bodyPr>
            <a:normAutofit/>
          </a:bodyPr>
          <a:lstStyle/>
          <a:p>
            <a:r>
              <a:rPr lang="en-US" dirty="0"/>
              <a:t>What is a Computer?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45E210F-6B8D-736F-B141-2B3CBE6135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9955" y="2728264"/>
            <a:ext cx="4796710" cy="401939"/>
          </a:xfrm>
        </p:spPr>
        <p:txBody>
          <a:bodyPr>
            <a:normAutofit/>
          </a:bodyPr>
          <a:lstStyle/>
          <a:p>
            <a:r>
              <a:rPr lang="en-US" dirty="0"/>
              <a:t>What is a Computer Program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9847AB5-5442-A3C4-87F1-C737DF1C6D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99788" y="3937316"/>
            <a:ext cx="4796710" cy="401939"/>
          </a:xfrm>
        </p:spPr>
        <p:txBody>
          <a:bodyPr>
            <a:normAutofit/>
          </a:bodyPr>
          <a:lstStyle/>
          <a:p>
            <a:r>
              <a:rPr lang="en-US" dirty="0"/>
              <a:t>Where can we apply coding?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9A1C40A-BC04-C14E-7867-E3D7B1597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084061" y="0"/>
            <a:ext cx="2959129" cy="6871447"/>
            <a:chOff x="3084061" y="0"/>
            <a:chExt cx="2959129" cy="6871447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5521D96-1220-9A5F-FB15-764C14CD87A4}"/>
                </a:ext>
              </a:extLst>
            </p:cNvPr>
            <p:cNvSpPr/>
            <p:nvPr/>
          </p:nvSpPr>
          <p:spPr>
            <a:xfrm rot="10800000">
              <a:off x="3498189" y="177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37359AB-4FC7-AF1F-096F-69BD733B87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84061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8FFFE4D-5AED-054E-A598-F9D5FEF9E49B}"/>
              </a:ext>
            </a:extLst>
          </p:cNvPr>
          <p:cNvSpPr txBox="1">
            <a:spLocks/>
          </p:cNvSpPr>
          <p:nvPr/>
        </p:nvSpPr>
        <p:spPr>
          <a:xfrm>
            <a:off x="6589955" y="3290939"/>
            <a:ext cx="4796710" cy="401939"/>
          </a:xfrm>
          <a:prstGeom prst="rect">
            <a:avLst/>
          </a:prstGeom>
        </p:spPr>
        <p:txBody>
          <a:bodyPr vert="horz" lIns="91440" tIns="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Courier New" panose="02070309020205020404" pitchFamily="49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Why study coding?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F8875073-FAB3-14DC-5A6A-4FFE3A63D73A}"/>
              </a:ext>
            </a:extLst>
          </p:cNvPr>
          <p:cNvSpPr txBox="1">
            <a:spLocks/>
          </p:cNvSpPr>
          <p:nvPr/>
        </p:nvSpPr>
        <p:spPr>
          <a:xfrm>
            <a:off x="6599788" y="4717218"/>
            <a:ext cx="4796710" cy="401939"/>
          </a:xfrm>
          <a:prstGeom prst="rect">
            <a:avLst/>
          </a:prstGeom>
        </p:spPr>
        <p:txBody>
          <a:bodyPr vert="horz" lIns="91440" tIns="0" rIns="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Courier New" panose="02070309020205020404" pitchFamily="49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74320" indent="-27432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ourier New" panose="02070309020205020404" pitchFamily="49" charset="0"/>
              <a:buChar char="o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Why are products of coding</a:t>
            </a:r>
          </a:p>
        </p:txBody>
      </p:sp>
    </p:spTree>
    <p:extLst>
      <p:ext uri="{BB962C8B-B14F-4D97-AF65-F5344CB8AC3E}">
        <p14:creationId xmlns:p14="http://schemas.microsoft.com/office/powerpoint/2010/main" val="237198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452219-785E-4657-C5F4-A53FEF2EB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0326" y="1679216"/>
            <a:ext cx="4786877" cy="151831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8DFC8D-4AE6-170E-C27A-DA97EBD7D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59704" y="0"/>
            <a:ext cx="2928883" cy="6871447"/>
            <a:chOff x="4059704" y="0"/>
            <a:chExt cx="2928883" cy="687144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F966C9E-A9A2-BF8C-EDCB-B7F6AE51C425}"/>
                </a:ext>
              </a:extLst>
            </p:cNvPr>
            <p:cNvSpPr/>
            <p:nvPr/>
          </p:nvSpPr>
          <p:spPr>
            <a:xfrm rot="10800000">
              <a:off x="4443586" y="50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33BC35A-F255-48AA-48B8-D6561A6FAB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9704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59551C5-337D-31EF-FE1F-CB56CEBC76B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899485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TM11534312">
      <a:dk1>
        <a:srgbClr val="000000"/>
      </a:dk1>
      <a:lt1>
        <a:srgbClr val="FFFFFF"/>
      </a:lt1>
      <a:dk2>
        <a:srgbClr val="D87A1A"/>
      </a:dk2>
      <a:lt2>
        <a:srgbClr val="E7E6E6"/>
      </a:lt2>
      <a:accent1>
        <a:srgbClr val="FFBA00"/>
      </a:accent1>
      <a:accent2>
        <a:srgbClr val="7229D2"/>
      </a:accent2>
      <a:accent3>
        <a:srgbClr val="C62FE1"/>
      </a:accent3>
      <a:accent4>
        <a:srgbClr val="CF1DA0"/>
      </a:accent4>
      <a:accent5>
        <a:srgbClr val="E12F68"/>
      </a:accent5>
      <a:accent6>
        <a:srgbClr val="CF2E1D"/>
      </a:accent6>
      <a:hlink>
        <a:srgbClr val="87882D"/>
      </a:hlink>
      <a:folHlink>
        <a:srgbClr val="7F7F7F"/>
      </a:folHlink>
    </a:clrScheme>
    <a:fontScheme name="Custom 62">
      <a:majorFont>
        <a:latin typeface="Book Antiqua"/>
        <a:ea typeface=""/>
        <a:cs typeface=""/>
      </a:majorFont>
      <a:minorFont>
        <a:latin typeface="Century Gothic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11534312_Win32_SL_V3" id="{A784F2EB-8377-40E2-878D-F359E4F7734D}" vid="{87F4C17B-0668-4D7F-80F5-6507D8EFBB0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15CCAF-B227-4420-8A82-899C4EC33714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39EAE05-2D90-4440-A098-2E114DBDB54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BB42C3-98F0-4E09-AE96-62EE07CAC5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387</Words>
  <Application>Microsoft Office PowerPoint</Application>
  <PresentationFormat>Widescreen</PresentationFormat>
  <Paragraphs>99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Book Antiqua</vt:lpstr>
      <vt:lpstr>Calibri</vt:lpstr>
      <vt:lpstr>Century Gothic</vt:lpstr>
      <vt:lpstr>Courier New</vt:lpstr>
      <vt:lpstr>Nunito</vt:lpstr>
      <vt:lpstr>Open Sans</vt:lpstr>
      <vt:lpstr>Wingdings</vt:lpstr>
      <vt:lpstr>Custom</vt:lpstr>
      <vt:lpstr>Computer Programming Fundamentals</vt:lpstr>
      <vt:lpstr>Course Outline</vt:lpstr>
      <vt:lpstr>Lesson Outline</vt:lpstr>
      <vt:lpstr>Code: Lets Understand it </vt:lpstr>
      <vt:lpstr>Code: Why study it</vt:lpstr>
      <vt:lpstr>Code: Why study it</vt:lpstr>
      <vt:lpstr>Code: Application Areas</vt:lpstr>
      <vt:lpstr>Code: Application Areas</vt:lpstr>
      <vt:lpstr>Code: Products</vt:lpstr>
      <vt:lpstr>Code: Products</vt:lpstr>
      <vt:lpstr>Summary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2023-07-18T15:28:54Z</dcterms:created>
  <dcterms:modified xsi:type="dcterms:W3CDTF">2024-01-16T09:02:23Z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