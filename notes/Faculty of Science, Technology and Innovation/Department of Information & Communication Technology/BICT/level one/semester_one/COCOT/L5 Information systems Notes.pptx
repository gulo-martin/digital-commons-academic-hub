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1"/>
  </p:sldMasterIdLst>
  <p:sldIdLst>
    <p:sldId id="295" r:id="rId2"/>
    <p:sldId id="257" r:id="rId3"/>
    <p:sldId id="259" r:id="rId4"/>
    <p:sldId id="258" r:id="rId5"/>
    <p:sldId id="260" r:id="rId6"/>
    <p:sldId id="261" r:id="rId7"/>
    <p:sldId id="262" r:id="rId8"/>
    <p:sldId id="264" r:id="rId9"/>
    <p:sldId id="263" r:id="rId10"/>
    <p:sldId id="265" r:id="rId11"/>
    <p:sldId id="266" r:id="rId12"/>
    <p:sldId id="267" r:id="rId13"/>
    <p:sldId id="268" r:id="rId14"/>
    <p:sldId id="273" r:id="rId15"/>
    <p:sldId id="269" r:id="rId16"/>
    <p:sldId id="270" r:id="rId17"/>
    <p:sldId id="271" r:id="rId18"/>
    <p:sldId id="272" r:id="rId19"/>
    <p:sldId id="274" r:id="rId20"/>
    <p:sldId id="275" r:id="rId21"/>
    <p:sldId id="276" r:id="rId22"/>
    <p:sldId id="277" r:id="rId23"/>
    <p:sldId id="278" r:id="rId24"/>
    <p:sldId id="279" r:id="rId25"/>
    <p:sldId id="280" r:id="rId26"/>
    <p:sldId id="281" r:id="rId27"/>
    <p:sldId id="282" r:id="rId28"/>
    <p:sldId id="287" r:id="rId29"/>
    <p:sldId id="283" r:id="rId30"/>
    <p:sldId id="284" r:id="rId31"/>
    <p:sldId id="285" r:id="rId32"/>
    <p:sldId id="286" r:id="rId33"/>
    <p:sldId id="288" r:id="rId34"/>
    <p:sldId id="289" r:id="rId35"/>
    <p:sldId id="290" r:id="rId36"/>
    <p:sldId id="291" r:id="rId37"/>
    <p:sldId id="292" r:id="rId38"/>
    <p:sldId id="293" r:id="rId39"/>
    <p:sldId id="294"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90" d="100"/>
          <a:sy n="90" d="100"/>
        </p:scale>
        <p:origin x="57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7/9/2021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9092156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7/9/2021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07764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7/9/2021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907604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7/9/2021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022228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7/9/2021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36756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7/9/2021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164116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7/9/2021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6739564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7/9/2021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736795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7/9/2021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5348400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7/9/2021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5407359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7/9/2021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D22F896-40B5-4ADD-8801-0D06FADFA095}" type="slidenum">
              <a:rPr lang="en-US" smtClean="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0940123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7/9/2021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077088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7/9/2021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D22F896-40B5-4ADD-8801-0D06FADFA095}" type="slidenum">
              <a:rPr lang="en-US" smtClean="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0988850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7/9/2021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0426364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7/9/2021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0021505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7/9/2021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60686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48A87A34-81AB-432B-8DAE-1953F412C126}" type="datetimeFigureOut">
              <a:rPr lang="en-US" smtClean="0"/>
              <a:pPr/>
              <a:t>7/9/2021</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148978905"/>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searchsoftwarequality.techtarget.com/definition/JAD" TargetMode="External"/><Relationship Id="rId2" Type="http://schemas.openxmlformats.org/officeDocument/2006/relationships/hyperlink" Target="https://searchsoftwarequality.techtarget.com/definition/rapid-application-development" TargetMode="External"/><Relationship Id="rId1" Type="http://schemas.openxmlformats.org/officeDocument/2006/relationships/slideLayout" Target="../slideLayouts/slideLayout2.xml"/><Relationship Id="rId5" Type="http://schemas.openxmlformats.org/officeDocument/2006/relationships/hyperlink" Target="https://searchsoftwarequality.techtarget.com/definition/agile-software-development" TargetMode="External"/><Relationship Id="rId4" Type="http://schemas.openxmlformats.org/officeDocument/2006/relationships/hyperlink" Target="https://searchsoftwarequality.techtarget.com/definition/spiral-mode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0AF43-4B3C-4C55-8561-0911D32C8BC0}"/>
              </a:ext>
            </a:extLst>
          </p:cNvPr>
          <p:cNvSpPr>
            <a:spLocks noGrp="1"/>
          </p:cNvSpPr>
          <p:nvPr>
            <p:ph type="ctrTitle"/>
          </p:nvPr>
        </p:nvSpPr>
        <p:spPr/>
        <p:txBody>
          <a:bodyPr>
            <a:normAutofit fontScale="90000"/>
          </a:bodyPr>
          <a:lstStyle/>
          <a:p>
            <a:pPr algn="l"/>
            <a:r>
              <a:rPr kumimoji="0" lang="en-GB" sz="48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COMPUTER &amp; COMMUNICATION TECHNOLOGY.</a:t>
            </a:r>
            <a:br>
              <a:rPr kumimoji="0" lang="en-US" sz="48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br>
            <a:r>
              <a:rPr kumimoji="0" lang="en-US" sz="48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 </a:t>
            </a:r>
            <a:br>
              <a:rPr kumimoji="0" lang="en-US" sz="48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br>
            <a:r>
              <a:rPr kumimoji="0" lang="en-GB" sz="48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BICT 1103</a:t>
            </a:r>
            <a:endParaRPr lang="en-US" dirty="0"/>
          </a:p>
        </p:txBody>
      </p:sp>
      <p:sp>
        <p:nvSpPr>
          <p:cNvPr id="3" name="Subtitle 2">
            <a:extLst>
              <a:ext uri="{FF2B5EF4-FFF2-40B4-BE49-F238E27FC236}">
                <a16:creationId xmlns:a16="http://schemas.microsoft.com/office/drawing/2014/main" id="{B2B24E4A-68DA-44AC-AA95-BF6397DE68DF}"/>
              </a:ext>
            </a:extLst>
          </p:cNvPr>
          <p:cNvSpPr>
            <a:spLocks noGrp="1"/>
          </p:cNvSpPr>
          <p:nvPr>
            <p:ph type="subTitle" idx="1"/>
          </p:nvPr>
        </p:nvSpPr>
        <p:spPr/>
        <p:txBody>
          <a:bodyPr>
            <a:norm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0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Lecture 5: Information Systems.</a:t>
            </a:r>
            <a:endParaRPr kumimoji="0" lang="en-US" sz="4000" b="0" i="0" u="none" strike="noStrike" kern="1200" cap="none" spc="0" normalizeH="0" baseline="0" noProof="0" dirty="0">
              <a:ln>
                <a:noFill/>
              </a:ln>
              <a:solidFill>
                <a:prstClr val="black">
                  <a:lumMod val="65000"/>
                  <a:lumOff val="35000"/>
                </a:prstClr>
              </a:solidFill>
              <a:effectLst/>
              <a:uLnTx/>
              <a:uFillTx/>
              <a:latin typeface="Century Gothic" panose="020B0502020202020204"/>
              <a:ea typeface="+mn-ea"/>
              <a:cs typeface="+mn-cs"/>
            </a:endParaRPr>
          </a:p>
          <a:p>
            <a:endParaRPr lang="en-US" dirty="0"/>
          </a:p>
        </p:txBody>
      </p:sp>
    </p:spTree>
    <p:extLst>
      <p:ext uri="{BB962C8B-B14F-4D97-AF65-F5344CB8AC3E}">
        <p14:creationId xmlns:p14="http://schemas.microsoft.com/office/powerpoint/2010/main" val="27587994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BADA8-C30B-4013-8F96-F0CAEC445E7C}"/>
              </a:ext>
            </a:extLst>
          </p:cNvPr>
          <p:cNvSpPr>
            <a:spLocks noGrp="1"/>
          </p:cNvSpPr>
          <p:nvPr>
            <p:ph type="title"/>
          </p:nvPr>
        </p:nvSpPr>
        <p:spPr>
          <a:xfrm>
            <a:off x="2592925" y="624110"/>
            <a:ext cx="8911687" cy="981406"/>
          </a:xfrm>
        </p:spPr>
        <p:txBody>
          <a:bodyPr/>
          <a:lstStyle/>
          <a:p>
            <a:r>
              <a:rPr lang="en-US" dirty="0"/>
              <a:t>What are information systems?</a:t>
            </a:r>
            <a:endParaRPr lang="en-MW" dirty="0"/>
          </a:p>
        </p:txBody>
      </p:sp>
      <p:sp>
        <p:nvSpPr>
          <p:cNvPr id="3" name="Content Placeholder 2">
            <a:extLst>
              <a:ext uri="{FF2B5EF4-FFF2-40B4-BE49-F238E27FC236}">
                <a16:creationId xmlns:a16="http://schemas.microsoft.com/office/drawing/2014/main" id="{4A349220-AD9E-402D-AAAE-CE7D31591CBF}"/>
              </a:ext>
            </a:extLst>
          </p:cNvPr>
          <p:cNvSpPr>
            <a:spLocks noGrp="1"/>
          </p:cNvSpPr>
          <p:nvPr>
            <p:ph idx="1"/>
          </p:nvPr>
        </p:nvSpPr>
        <p:spPr>
          <a:xfrm>
            <a:off x="2589212" y="1414130"/>
            <a:ext cx="8915400" cy="4497092"/>
          </a:xfrm>
        </p:spPr>
        <p:txBody>
          <a:bodyPr>
            <a:normAutofit/>
          </a:bodyPr>
          <a:lstStyle/>
          <a:p>
            <a:r>
              <a:rPr lang="en-US" sz="2400" dirty="0"/>
              <a:t>An information system is a group of interrelated components that work to carry out input, processing, storage, output and control actions in order to convert data into information that can be used to support forecasting, planning, control, coordination, decision making and operational activities in an </a:t>
            </a:r>
            <a:r>
              <a:rPr lang="en-US" sz="2400" dirty="0" err="1"/>
              <a:t>organisation</a:t>
            </a:r>
            <a:r>
              <a:rPr lang="en-US" sz="2400" dirty="0"/>
              <a:t>. </a:t>
            </a:r>
            <a:endParaRPr lang="en-MW" sz="2400" dirty="0"/>
          </a:p>
        </p:txBody>
      </p:sp>
    </p:spTree>
    <p:extLst>
      <p:ext uri="{BB962C8B-B14F-4D97-AF65-F5344CB8AC3E}">
        <p14:creationId xmlns:p14="http://schemas.microsoft.com/office/powerpoint/2010/main" val="42641729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97803-90FE-48F7-84CA-B3B7D7334594}"/>
              </a:ext>
            </a:extLst>
          </p:cNvPr>
          <p:cNvSpPr>
            <a:spLocks noGrp="1"/>
          </p:cNvSpPr>
          <p:nvPr>
            <p:ph type="title"/>
          </p:nvPr>
        </p:nvSpPr>
        <p:spPr>
          <a:xfrm>
            <a:off x="919118" y="24078"/>
            <a:ext cx="10353761" cy="911587"/>
          </a:xfrm>
        </p:spPr>
        <p:txBody>
          <a:bodyPr/>
          <a:lstStyle/>
          <a:p>
            <a:r>
              <a:rPr lang="en-US" dirty="0"/>
              <a:t>Decision-Making Levels of an Organization</a:t>
            </a:r>
            <a:endParaRPr lang="en-MW" dirty="0"/>
          </a:p>
        </p:txBody>
      </p:sp>
      <p:sp>
        <p:nvSpPr>
          <p:cNvPr id="3" name="Content Placeholder 2">
            <a:extLst>
              <a:ext uri="{FF2B5EF4-FFF2-40B4-BE49-F238E27FC236}">
                <a16:creationId xmlns:a16="http://schemas.microsoft.com/office/drawing/2014/main" id="{A0C2425A-C170-4E3D-BC65-375FC62DF8A3}"/>
              </a:ext>
            </a:extLst>
          </p:cNvPr>
          <p:cNvSpPr>
            <a:spLocks noGrp="1"/>
          </p:cNvSpPr>
          <p:nvPr>
            <p:ph idx="1"/>
          </p:nvPr>
        </p:nvSpPr>
        <p:spPr>
          <a:xfrm>
            <a:off x="477520" y="935665"/>
            <a:ext cx="11236959" cy="5607375"/>
          </a:xfrm>
        </p:spPr>
        <p:txBody>
          <a:bodyPr>
            <a:normAutofit/>
          </a:bodyPr>
          <a:lstStyle/>
          <a:p>
            <a:pPr marL="0" indent="0">
              <a:buNone/>
            </a:pPr>
            <a:r>
              <a:rPr lang="en-US" sz="2800" dirty="0"/>
              <a:t>Executive level (top)</a:t>
            </a:r>
          </a:p>
          <a:p>
            <a:pPr lvl="1"/>
            <a:r>
              <a:rPr lang="en-US" sz="2600" dirty="0"/>
              <a:t>Long-term decisions</a:t>
            </a:r>
          </a:p>
          <a:p>
            <a:pPr lvl="1"/>
            <a:r>
              <a:rPr lang="en-US" sz="2600" dirty="0"/>
              <a:t>Unstructured decisions</a:t>
            </a:r>
          </a:p>
          <a:p>
            <a:pPr marL="0" indent="0">
              <a:buNone/>
            </a:pPr>
            <a:r>
              <a:rPr lang="en-US" sz="2800" dirty="0"/>
              <a:t>Managerial level (middle)</a:t>
            </a:r>
          </a:p>
          <a:p>
            <a:pPr lvl="1"/>
            <a:r>
              <a:rPr lang="en-US" sz="2600" dirty="0"/>
              <a:t>Decisions covering weeks and months</a:t>
            </a:r>
          </a:p>
          <a:p>
            <a:pPr lvl="1"/>
            <a:r>
              <a:rPr lang="en-US" sz="2600" dirty="0"/>
              <a:t>Semi-structured decisions</a:t>
            </a:r>
          </a:p>
          <a:p>
            <a:pPr marL="0" indent="0">
              <a:buNone/>
            </a:pPr>
            <a:r>
              <a:rPr lang="en-US" sz="2800" dirty="0"/>
              <a:t>Operational level (bottom)</a:t>
            </a:r>
          </a:p>
          <a:p>
            <a:pPr lvl="1"/>
            <a:r>
              <a:rPr lang="en-US" sz="2600" dirty="0"/>
              <a:t>Day-to-day decisions</a:t>
            </a:r>
          </a:p>
          <a:p>
            <a:pPr lvl="1"/>
            <a:r>
              <a:rPr lang="en-US" sz="2600" dirty="0"/>
              <a:t>Structured decisions</a:t>
            </a:r>
            <a:endParaRPr lang="en-MW" sz="2600" dirty="0"/>
          </a:p>
        </p:txBody>
      </p:sp>
    </p:spTree>
    <p:extLst>
      <p:ext uri="{BB962C8B-B14F-4D97-AF65-F5344CB8AC3E}">
        <p14:creationId xmlns:p14="http://schemas.microsoft.com/office/powerpoint/2010/main" val="6495889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BCFA6-6106-4AAB-A95D-F998188E2822}"/>
              </a:ext>
            </a:extLst>
          </p:cNvPr>
          <p:cNvSpPr>
            <a:spLocks noGrp="1"/>
          </p:cNvSpPr>
          <p:nvPr>
            <p:ph type="title"/>
          </p:nvPr>
        </p:nvSpPr>
        <p:spPr>
          <a:xfrm>
            <a:off x="2592925" y="624110"/>
            <a:ext cx="8911687" cy="938876"/>
          </a:xfrm>
        </p:spPr>
        <p:txBody>
          <a:bodyPr>
            <a:normAutofit/>
          </a:bodyPr>
          <a:lstStyle/>
          <a:p>
            <a:r>
              <a:rPr lang="en-US" sz="4000" b="0" i="0" u="none" strike="noStrike" baseline="0" dirty="0">
                <a:latin typeface="Arial" panose="020B0604020202020204" pitchFamily="34" charset="0"/>
              </a:rPr>
              <a:t>TYPES OF INFORMATION SYSTEM</a:t>
            </a:r>
            <a:endParaRPr lang="en-MW" sz="6000" dirty="0"/>
          </a:p>
        </p:txBody>
      </p:sp>
      <p:sp>
        <p:nvSpPr>
          <p:cNvPr id="3" name="Content Placeholder 2">
            <a:extLst>
              <a:ext uri="{FF2B5EF4-FFF2-40B4-BE49-F238E27FC236}">
                <a16:creationId xmlns:a16="http://schemas.microsoft.com/office/drawing/2014/main" id="{42C3DCDC-711B-4E8F-9CD1-486F283C58FC}"/>
              </a:ext>
            </a:extLst>
          </p:cNvPr>
          <p:cNvSpPr>
            <a:spLocks noGrp="1"/>
          </p:cNvSpPr>
          <p:nvPr>
            <p:ph idx="1"/>
          </p:nvPr>
        </p:nvSpPr>
        <p:spPr>
          <a:xfrm>
            <a:off x="2589212" y="1562986"/>
            <a:ext cx="8915400" cy="4348236"/>
          </a:xfrm>
        </p:spPr>
        <p:txBody>
          <a:bodyPr>
            <a:normAutofit/>
          </a:bodyPr>
          <a:lstStyle/>
          <a:p>
            <a:r>
              <a:rPr lang="en-US" sz="2800" dirty="0"/>
              <a:t>1. Transaction Processing System (TPS)</a:t>
            </a:r>
          </a:p>
          <a:p>
            <a:r>
              <a:rPr lang="en-US" sz="2800" dirty="0"/>
              <a:t>2. Management Information System (MIS)</a:t>
            </a:r>
          </a:p>
          <a:p>
            <a:r>
              <a:rPr lang="en-US" sz="2800" dirty="0"/>
              <a:t>3. Decision Support System (DSS)</a:t>
            </a:r>
          </a:p>
          <a:p>
            <a:r>
              <a:rPr lang="en-US" sz="2800" dirty="0"/>
              <a:t>4. Executive Information System (EIS)</a:t>
            </a:r>
          </a:p>
          <a:p>
            <a:r>
              <a:rPr lang="en-US" sz="2800" dirty="0"/>
              <a:t>5. Expert System (ES)</a:t>
            </a:r>
          </a:p>
          <a:p>
            <a:r>
              <a:rPr lang="en-US" sz="2800" dirty="0"/>
              <a:t>6. Office Automation System</a:t>
            </a:r>
            <a:endParaRPr lang="en-MW" sz="2800" dirty="0"/>
          </a:p>
        </p:txBody>
      </p:sp>
    </p:spTree>
    <p:extLst>
      <p:ext uri="{BB962C8B-B14F-4D97-AF65-F5344CB8AC3E}">
        <p14:creationId xmlns:p14="http://schemas.microsoft.com/office/powerpoint/2010/main" val="2596734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FFDAC-AC90-4380-A2F3-173A58A245E1}"/>
              </a:ext>
            </a:extLst>
          </p:cNvPr>
          <p:cNvSpPr>
            <a:spLocks noGrp="1"/>
          </p:cNvSpPr>
          <p:nvPr>
            <p:ph type="title"/>
          </p:nvPr>
        </p:nvSpPr>
        <p:spPr/>
        <p:txBody>
          <a:bodyPr/>
          <a:lstStyle/>
          <a:p>
            <a:endParaRPr lang="en-MW"/>
          </a:p>
        </p:txBody>
      </p:sp>
      <p:sp>
        <p:nvSpPr>
          <p:cNvPr id="3" name="Content Placeholder 2">
            <a:extLst>
              <a:ext uri="{FF2B5EF4-FFF2-40B4-BE49-F238E27FC236}">
                <a16:creationId xmlns:a16="http://schemas.microsoft.com/office/drawing/2014/main" id="{1DB21CFE-A285-4514-AABA-28701A7674E6}"/>
              </a:ext>
            </a:extLst>
          </p:cNvPr>
          <p:cNvSpPr>
            <a:spLocks noGrp="1"/>
          </p:cNvSpPr>
          <p:nvPr>
            <p:ph idx="1"/>
          </p:nvPr>
        </p:nvSpPr>
        <p:spPr/>
        <p:txBody>
          <a:bodyPr/>
          <a:lstStyle/>
          <a:p>
            <a:endParaRPr lang="en-MW"/>
          </a:p>
        </p:txBody>
      </p:sp>
      <p:pic>
        <p:nvPicPr>
          <p:cNvPr id="5" name="Picture 4">
            <a:extLst>
              <a:ext uri="{FF2B5EF4-FFF2-40B4-BE49-F238E27FC236}">
                <a16:creationId xmlns:a16="http://schemas.microsoft.com/office/drawing/2014/main" id="{D898E88B-4828-41F2-83E7-8C5A1D51CECD}"/>
              </a:ext>
            </a:extLst>
          </p:cNvPr>
          <p:cNvPicPr>
            <a:picLocks noChangeAspect="1"/>
          </p:cNvPicPr>
          <p:nvPr/>
        </p:nvPicPr>
        <p:blipFill rotWithShape="1">
          <a:blip r:embed="rId2"/>
          <a:srcRect t="10186"/>
          <a:stretch/>
        </p:blipFill>
        <p:spPr>
          <a:xfrm>
            <a:off x="594599" y="0"/>
            <a:ext cx="9843453" cy="6724650"/>
          </a:xfrm>
          <a:prstGeom prst="rect">
            <a:avLst/>
          </a:prstGeom>
        </p:spPr>
      </p:pic>
    </p:spTree>
    <p:extLst>
      <p:ext uri="{BB962C8B-B14F-4D97-AF65-F5344CB8AC3E}">
        <p14:creationId xmlns:p14="http://schemas.microsoft.com/office/powerpoint/2010/main" val="18325972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AD377-66A8-4D49-AC41-B842028A05C2}"/>
              </a:ext>
            </a:extLst>
          </p:cNvPr>
          <p:cNvSpPr>
            <a:spLocks noGrp="1"/>
          </p:cNvSpPr>
          <p:nvPr>
            <p:ph type="title"/>
          </p:nvPr>
        </p:nvSpPr>
        <p:spPr/>
        <p:txBody>
          <a:bodyPr/>
          <a:lstStyle/>
          <a:p>
            <a:endParaRPr lang="en-MW"/>
          </a:p>
        </p:txBody>
      </p:sp>
      <p:sp>
        <p:nvSpPr>
          <p:cNvPr id="3" name="Content Placeholder 2">
            <a:extLst>
              <a:ext uri="{FF2B5EF4-FFF2-40B4-BE49-F238E27FC236}">
                <a16:creationId xmlns:a16="http://schemas.microsoft.com/office/drawing/2014/main" id="{9EF2CCF6-1069-4ACD-BDA3-BCCCECC88AFC}"/>
              </a:ext>
            </a:extLst>
          </p:cNvPr>
          <p:cNvSpPr>
            <a:spLocks noGrp="1"/>
          </p:cNvSpPr>
          <p:nvPr>
            <p:ph idx="1"/>
          </p:nvPr>
        </p:nvSpPr>
        <p:spPr/>
        <p:txBody>
          <a:bodyPr/>
          <a:lstStyle/>
          <a:p>
            <a:endParaRPr lang="en-MW"/>
          </a:p>
        </p:txBody>
      </p:sp>
      <p:pic>
        <p:nvPicPr>
          <p:cNvPr id="5" name="Picture 4">
            <a:extLst>
              <a:ext uri="{FF2B5EF4-FFF2-40B4-BE49-F238E27FC236}">
                <a16:creationId xmlns:a16="http://schemas.microsoft.com/office/drawing/2014/main" id="{8A8C0717-AA4E-4288-BC2C-7F5A35601644}"/>
              </a:ext>
            </a:extLst>
          </p:cNvPr>
          <p:cNvPicPr>
            <a:picLocks noChangeAspect="1"/>
          </p:cNvPicPr>
          <p:nvPr/>
        </p:nvPicPr>
        <p:blipFill>
          <a:blip r:embed="rId2"/>
          <a:stretch>
            <a:fillRect/>
          </a:stretch>
        </p:blipFill>
        <p:spPr>
          <a:xfrm>
            <a:off x="1219766" y="0"/>
            <a:ext cx="9115864" cy="6705600"/>
          </a:xfrm>
          <a:prstGeom prst="rect">
            <a:avLst/>
          </a:prstGeom>
        </p:spPr>
      </p:pic>
    </p:spTree>
    <p:extLst>
      <p:ext uri="{BB962C8B-B14F-4D97-AF65-F5344CB8AC3E}">
        <p14:creationId xmlns:p14="http://schemas.microsoft.com/office/powerpoint/2010/main" val="933592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D011F-082C-41AB-8702-AE7013BBF4E9}"/>
              </a:ext>
            </a:extLst>
          </p:cNvPr>
          <p:cNvSpPr>
            <a:spLocks noGrp="1"/>
          </p:cNvSpPr>
          <p:nvPr>
            <p:ph type="title"/>
          </p:nvPr>
        </p:nvSpPr>
        <p:spPr>
          <a:xfrm>
            <a:off x="1073889" y="624110"/>
            <a:ext cx="10430724" cy="864448"/>
          </a:xfrm>
        </p:spPr>
        <p:txBody>
          <a:bodyPr/>
          <a:lstStyle/>
          <a:p>
            <a:r>
              <a:rPr lang="en-US" dirty="0"/>
              <a:t>TRANSACTION PROCESSING SYSTEM</a:t>
            </a:r>
            <a:endParaRPr lang="en-MW" dirty="0"/>
          </a:p>
        </p:txBody>
      </p:sp>
      <p:sp>
        <p:nvSpPr>
          <p:cNvPr id="3" name="Content Placeholder 2">
            <a:extLst>
              <a:ext uri="{FF2B5EF4-FFF2-40B4-BE49-F238E27FC236}">
                <a16:creationId xmlns:a16="http://schemas.microsoft.com/office/drawing/2014/main" id="{CD697407-CC75-4515-9BE1-39275460DC83}"/>
              </a:ext>
            </a:extLst>
          </p:cNvPr>
          <p:cNvSpPr>
            <a:spLocks noGrp="1"/>
          </p:cNvSpPr>
          <p:nvPr>
            <p:ph idx="1"/>
          </p:nvPr>
        </p:nvSpPr>
        <p:spPr>
          <a:xfrm>
            <a:off x="913795" y="1488558"/>
            <a:ext cx="10353762" cy="4759842"/>
          </a:xfrm>
        </p:spPr>
        <p:txBody>
          <a:bodyPr>
            <a:normAutofit/>
          </a:bodyPr>
          <a:lstStyle/>
          <a:p>
            <a:r>
              <a:rPr lang="en-US" sz="2400" dirty="0"/>
              <a:t>Transaction Processing System are operational-level systems at the bottom of the pyramid. </a:t>
            </a:r>
          </a:p>
          <a:p>
            <a:r>
              <a:rPr lang="en-US" sz="2400" dirty="0"/>
              <a:t>They are also called </a:t>
            </a:r>
            <a:r>
              <a:rPr lang="en-US" sz="2400" u="sng" dirty="0"/>
              <a:t>Data Processing System (DPS)</a:t>
            </a:r>
          </a:p>
          <a:p>
            <a:r>
              <a:rPr lang="en-US" sz="2400" dirty="0"/>
              <a:t>They are usually operated directly by shop floor workers or front line staff, which provide the key data required to support the management of operations. </a:t>
            </a:r>
          </a:p>
          <a:p>
            <a:r>
              <a:rPr lang="en-US" sz="2400" dirty="0"/>
              <a:t>This data is usually obtained through the automated or semiautomated tracking of low-level activities and basic transactions.</a:t>
            </a:r>
            <a:endParaRPr lang="en-MW" sz="2400" dirty="0"/>
          </a:p>
        </p:txBody>
      </p:sp>
    </p:spTree>
    <p:extLst>
      <p:ext uri="{BB962C8B-B14F-4D97-AF65-F5344CB8AC3E}">
        <p14:creationId xmlns:p14="http://schemas.microsoft.com/office/powerpoint/2010/main" val="19734214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F06F6A-C61E-48C5-AB5C-D43A6E6389E7}"/>
              </a:ext>
            </a:extLst>
          </p:cNvPr>
          <p:cNvSpPr>
            <a:spLocks noGrp="1"/>
          </p:cNvSpPr>
          <p:nvPr>
            <p:ph idx="1"/>
          </p:nvPr>
        </p:nvSpPr>
        <p:spPr>
          <a:xfrm>
            <a:off x="247650" y="152400"/>
            <a:ext cx="11353800" cy="6553200"/>
          </a:xfrm>
        </p:spPr>
        <p:txBody>
          <a:bodyPr>
            <a:normAutofit/>
          </a:bodyPr>
          <a:lstStyle/>
          <a:p>
            <a:pPr marL="0" indent="0">
              <a:buNone/>
            </a:pPr>
            <a:r>
              <a:rPr lang="en-US" sz="2400" dirty="0"/>
              <a:t>Transaction = an event that generates or modifies data</a:t>
            </a:r>
          </a:p>
          <a:p>
            <a:pPr marL="0" indent="0">
              <a:buNone/>
            </a:pPr>
            <a:r>
              <a:rPr lang="en-US" sz="2400" dirty="0"/>
              <a:t>Used at Operational level of the organization</a:t>
            </a:r>
          </a:p>
          <a:p>
            <a:pPr marL="0" indent="0">
              <a:buNone/>
            </a:pPr>
            <a:r>
              <a:rPr lang="en-US" sz="2400" dirty="0"/>
              <a:t>Processes business events and transactions to produce reports</a:t>
            </a:r>
          </a:p>
          <a:p>
            <a:pPr marL="0" indent="0">
              <a:buNone/>
            </a:pPr>
            <a:r>
              <a:rPr lang="en-US" sz="2400" dirty="0"/>
              <a:t>Goal: </a:t>
            </a:r>
          </a:p>
          <a:p>
            <a:pPr lvl="1"/>
            <a:r>
              <a:rPr lang="en-US" sz="2400" dirty="0"/>
              <a:t>to automate repetitive information processing activities</a:t>
            </a:r>
          </a:p>
          <a:p>
            <a:pPr lvl="1"/>
            <a:r>
              <a:rPr lang="en-US" sz="2400" dirty="0"/>
              <a:t>within organizations</a:t>
            </a:r>
          </a:p>
          <a:p>
            <a:pPr lvl="1"/>
            <a:r>
              <a:rPr lang="en-US" sz="2400" dirty="0"/>
              <a:t> Increases speed</a:t>
            </a:r>
          </a:p>
          <a:p>
            <a:pPr lvl="1"/>
            <a:r>
              <a:rPr lang="en-US" sz="2400" dirty="0"/>
              <a:t> Increases accuracy</a:t>
            </a:r>
          </a:p>
          <a:p>
            <a:pPr lvl="1"/>
            <a:r>
              <a:rPr lang="en-US" sz="2400" dirty="0"/>
              <a:t> Greater efficiency</a:t>
            </a:r>
          </a:p>
          <a:p>
            <a:r>
              <a:rPr lang="en-US" sz="2400" dirty="0"/>
              <a:t>Supports the monitoring, collection, storage, processing, and dissemination of the organization’s basic business transactions</a:t>
            </a:r>
          </a:p>
          <a:p>
            <a:r>
              <a:rPr lang="en-US" sz="2400" dirty="0"/>
              <a:t>Mainly includes accounting and financial transactions</a:t>
            </a:r>
          </a:p>
          <a:p>
            <a:r>
              <a:rPr lang="en-US" sz="2400" dirty="0"/>
              <a:t>Mainly used for providing other information systems with data.</a:t>
            </a:r>
            <a:endParaRPr lang="en-MW" sz="2400" dirty="0"/>
          </a:p>
        </p:txBody>
      </p:sp>
    </p:spTree>
    <p:extLst>
      <p:ext uri="{BB962C8B-B14F-4D97-AF65-F5344CB8AC3E}">
        <p14:creationId xmlns:p14="http://schemas.microsoft.com/office/powerpoint/2010/main" val="22920572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D6DBF-75E0-4DC1-A3FC-56572B87E65F}"/>
              </a:ext>
            </a:extLst>
          </p:cNvPr>
          <p:cNvSpPr>
            <a:spLocks noGrp="1"/>
          </p:cNvSpPr>
          <p:nvPr>
            <p:ph type="title"/>
          </p:nvPr>
        </p:nvSpPr>
        <p:spPr/>
        <p:txBody>
          <a:bodyPr/>
          <a:lstStyle/>
          <a:p>
            <a:endParaRPr lang="en-MW"/>
          </a:p>
        </p:txBody>
      </p:sp>
      <p:sp>
        <p:nvSpPr>
          <p:cNvPr id="3" name="Content Placeholder 2">
            <a:extLst>
              <a:ext uri="{FF2B5EF4-FFF2-40B4-BE49-F238E27FC236}">
                <a16:creationId xmlns:a16="http://schemas.microsoft.com/office/drawing/2014/main" id="{4CA5512D-631D-4FFF-833B-EA4D7326057A}"/>
              </a:ext>
            </a:extLst>
          </p:cNvPr>
          <p:cNvSpPr>
            <a:spLocks noGrp="1"/>
          </p:cNvSpPr>
          <p:nvPr>
            <p:ph idx="1"/>
          </p:nvPr>
        </p:nvSpPr>
        <p:spPr/>
        <p:txBody>
          <a:bodyPr/>
          <a:lstStyle/>
          <a:p>
            <a:endParaRPr lang="en-MW"/>
          </a:p>
        </p:txBody>
      </p:sp>
      <p:pic>
        <p:nvPicPr>
          <p:cNvPr id="5" name="Picture 4">
            <a:extLst>
              <a:ext uri="{FF2B5EF4-FFF2-40B4-BE49-F238E27FC236}">
                <a16:creationId xmlns:a16="http://schemas.microsoft.com/office/drawing/2014/main" id="{A712FD58-B460-4805-828A-44A82B76442B}"/>
              </a:ext>
            </a:extLst>
          </p:cNvPr>
          <p:cNvPicPr>
            <a:picLocks noChangeAspect="1"/>
          </p:cNvPicPr>
          <p:nvPr/>
        </p:nvPicPr>
        <p:blipFill>
          <a:blip r:embed="rId2"/>
          <a:stretch>
            <a:fillRect/>
          </a:stretch>
        </p:blipFill>
        <p:spPr>
          <a:xfrm>
            <a:off x="0" y="0"/>
            <a:ext cx="11297606" cy="6858000"/>
          </a:xfrm>
          <a:prstGeom prst="rect">
            <a:avLst/>
          </a:prstGeom>
        </p:spPr>
      </p:pic>
    </p:spTree>
    <p:extLst>
      <p:ext uri="{BB962C8B-B14F-4D97-AF65-F5344CB8AC3E}">
        <p14:creationId xmlns:p14="http://schemas.microsoft.com/office/powerpoint/2010/main" val="14642443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63F1E6-2BB4-4498-909B-1BE45BB0DFD4}"/>
              </a:ext>
            </a:extLst>
          </p:cNvPr>
          <p:cNvSpPr>
            <a:spLocks noGrp="1"/>
          </p:cNvSpPr>
          <p:nvPr>
            <p:ph idx="1"/>
          </p:nvPr>
        </p:nvSpPr>
        <p:spPr>
          <a:xfrm>
            <a:off x="342900" y="209550"/>
            <a:ext cx="10929981" cy="5943600"/>
          </a:xfrm>
        </p:spPr>
        <p:txBody>
          <a:bodyPr>
            <a:normAutofit/>
          </a:bodyPr>
          <a:lstStyle/>
          <a:p>
            <a:pPr marL="0" indent="0">
              <a:buNone/>
            </a:pPr>
            <a:r>
              <a:rPr lang="en-US" sz="2800" dirty="0"/>
              <a:t> Role of TPS</a:t>
            </a:r>
          </a:p>
          <a:p>
            <a:r>
              <a:rPr lang="en-US" sz="2800" dirty="0"/>
              <a:t>Produce information for other systems</a:t>
            </a:r>
          </a:p>
          <a:p>
            <a:r>
              <a:rPr lang="en-US" sz="2800" dirty="0"/>
              <a:t> Cross boundaries (internal and external)</a:t>
            </a:r>
          </a:p>
          <a:p>
            <a:r>
              <a:rPr lang="en-US" sz="2800" dirty="0"/>
              <a:t>Used by operational personnel + supervisory levels</a:t>
            </a:r>
          </a:p>
          <a:p>
            <a:r>
              <a:rPr lang="en-US" sz="2800" dirty="0"/>
              <a:t>Efficiency oriented</a:t>
            </a:r>
          </a:p>
          <a:p>
            <a:pPr marL="0" indent="0">
              <a:buNone/>
            </a:pPr>
            <a:r>
              <a:rPr lang="en-US" sz="2800" dirty="0"/>
              <a:t>Examples</a:t>
            </a:r>
          </a:p>
          <a:p>
            <a:r>
              <a:rPr lang="en-US" sz="2800" dirty="0"/>
              <a:t> Payroll processing</a:t>
            </a:r>
          </a:p>
          <a:p>
            <a:r>
              <a:rPr lang="en-US" sz="2800" dirty="0"/>
              <a:t>Sales and order processing</a:t>
            </a:r>
          </a:p>
          <a:p>
            <a:r>
              <a:rPr lang="en-US" sz="2800" dirty="0"/>
              <a:t> Inventory management</a:t>
            </a:r>
          </a:p>
          <a:p>
            <a:r>
              <a:rPr lang="en-US" sz="2800" dirty="0"/>
              <a:t> Accounts payable and receivable</a:t>
            </a:r>
            <a:endParaRPr lang="en-MW" sz="2800" dirty="0"/>
          </a:p>
        </p:txBody>
      </p:sp>
    </p:spTree>
    <p:extLst>
      <p:ext uri="{BB962C8B-B14F-4D97-AF65-F5344CB8AC3E}">
        <p14:creationId xmlns:p14="http://schemas.microsoft.com/office/powerpoint/2010/main" val="11347486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63CB0-3E90-4D4C-8A5E-088E37E59B90}"/>
              </a:ext>
            </a:extLst>
          </p:cNvPr>
          <p:cNvSpPr>
            <a:spLocks noGrp="1"/>
          </p:cNvSpPr>
          <p:nvPr>
            <p:ph type="title"/>
          </p:nvPr>
        </p:nvSpPr>
        <p:spPr>
          <a:xfrm>
            <a:off x="1150851" y="624110"/>
            <a:ext cx="10353762" cy="896346"/>
          </a:xfrm>
        </p:spPr>
        <p:txBody>
          <a:bodyPr/>
          <a:lstStyle/>
          <a:p>
            <a:r>
              <a:rPr lang="en-US" dirty="0"/>
              <a:t>OBJECTIVES OF TPS</a:t>
            </a:r>
            <a:endParaRPr lang="en-MW" dirty="0"/>
          </a:p>
        </p:txBody>
      </p:sp>
      <p:sp>
        <p:nvSpPr>
          <p:cNvPr id="3" name="Content Placeholder 2">
            <a:extLst>
              <a:ext uri="{FF2B5EF4-FFF2-40B4-BE49-F238E27FC236}">
                <a16:creationId xmlns:a16="http://schemas.microsoft.com/office/drawing/2014/main" id="{21F3FB9B-9C8D-49FD-B222-3CA6A7FA6396}"/>
              </a:ext>
            </a:extLst>
          </p:cNvPr>
          <p:cNvSpPr>
            <a:spLocks noGrp="1"/>
          </p:cNvSpPr>
          <p:nvPr>
            <p:ph idx="1"/>
          </p:nvPr>
        </p:nvSpPr>
        <p:spPr>
          <a:xfrm>
            <a:off x="913795" y="1520456"/>
            <a:ext cx="10353762" cy="4918444"/>
          </a:xfrm>
        </p:spPr>
        <p:txBody>
          <a:bodyPr>
            <a:normAutofit/>
          </a:bodyPr>
          <a:lstStyle/>
          <a:p>
            <a:r>
              <a:rPr lang="en-US" sz="2800" dirty="0"/>
              <a:t> Efficient and effective operation of the organization</a:t>
            </a:r>
          </a:p>
          <a:p>
            <a:r>
              <a:rPr lang="en-US" sz="2800" dirty="0"/>
              <a:t> Provide timely documents and reports</a:t>
            </a:r>
          </a:p>
          <a:p>
            <a:r>
              <a:rPr lang="en-US" sz="2800" dirty="0"/>
              <a:t> Increases the competitive advantage</a:t>
            </a:r>
          </a:p>
          <a:p>
            <a:r>
              <a:rPr lang="en-US" sz="2800" dirty="0"/>
              <a:t> Provides necessary data for tactical and strategic systems such as DSS</a:t>
            </a:r>
          </a:p>
          <a:p>
            <a:r>
              <a:rPr lang="en-US" sz="2800" dirty="0"/>
              <a:t> Provide a framework for analyzing an organization’s activities</a:t>
            </a:r>
            <a:endParaRPr lang="en-MW" sz="2800" dirty="0"/>
          </a:p>
        </p:txBody>
      </p:sp>
    </p:spTree>
    <p:extLst>
      <p:ext uri="{BB962C8B-B14F-4D97-AF65-F5344CB8AC3E}">
        <p14:creationId xmlns:p14="http://schemas.microsoft.com/office/powerpoint/2010/main" val="6275808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B1E89-E60F-41A1-B37D-707E9299E1FA}"/>
              </a:ext>
            </a:extLst>
          </p:cNvPr>
          <p:cNvSpPr>
            <a:spLocks noGrp="1"/>
          </p:cNvSpPr>
          <p:nvPr>
            <p:ph type="title"/>
          </p:nvPr>
        </p:nvSpPr>
        <p:spPr/>
        <p:txBody>
          <a:bodyPr/>
          <a:lstStyle/>
          <a:p>
            <a:endParaRPr lang="en-MW"/>
          </a:p>
        </p:txBody>
      </p:sp>
      <p:sp>
        <p:nvSpPr>
          <p:cNvPr id="3" name="Content Placeholder 2">
            <a:extLst>
              <a:ext uri="{FF2B5EF4-FFF2-40B4-BE49-F238E27FC236}">
                <a16:creationId xmlns:a16="http://schemas.microsoft.com/office/drawing/2014/main" id="{33969BFB-6CE9-441C-B0CA-74AD3B67194E}"/>
              </a:ext>
            </a:extLst>
          </p:cNvPr>
          <p:cNvSpPr>
            <a:spLocks noGrp="1"/>
          </p:cNvSpPr>
          <p:nvPr>
            <p:ph idx="1"/>
          </p:nvPr>
        </p:nvSpPr>
        <p:spPr/>
        <p:txBody>
          <a:bodyPr/>
          <a:lstStyle/>
          <a:p>
            <a:endParaRPr lang="en-MW"/>
          </a:p>
        </p:txBody>
      </p:sp>
      <p:pic>
        <p:nvPicPr>
          <p:cNvPr id="5" name="Picture 4">
            <a:extLst>
              <a:ext uri="{FF2B5EF4-FFF2-40B4-BE49-F238E27FC236}">
                <a16:creationId xmlns:a16="http://schemas.microsoft.com/office/drawing/2014/main" id="{2E5EA140-DF66-462C-A427-34C3D30CD459}"/>
              </a:ext>
            </a:extLst>
          </p:cNvPr>
          <p:cNvPicPr>
            <a:picLocks noChangeAspect="1"/>
          </p:cNvPicPr>
          <p:nvPr/>
        </p:nvPicPr>
        <p:blipFill>
          <a:blip r:embed="rId2"/>
          <a:stretch>
            <a:fillRect/>
          </a:stretch>
        </p:blipFill>
        <p:spPr>
          <a:xfrm>
            <a:off x="805286" y="0"/>
            <a:ext cx="10462270" cy="6858000"/>
          </a:xfrm>
          <a:prstGeom prst="rect">
            <a:avLst/>
          </a:prstGeom>
        </p:spPr>
      </p:pic>
    </p:spTree>
    <p:extLst>
      <p:ext uri="{BB962C8B-B14F-4D97-AF65-F5344CB8AC3E}">
        <p14:creationId xmlns:p14="http://schemas.microsoft.com/office/powerpoint/2010/main" val="710974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2A8E6-4A64-4CE2-83BC-2C7B6FAEF376}"/>
              </a:ext>
            </a:extLst>
          </p:cNvPr>
          <p:cNvSpPr>
            <a:spLocks noGrp="1"/>
          </p:cNvSpPr>
          <p:nvPr>
            <p:ph type="title"/>
          </p:nvPr>
        </p:nvSpPr>
        <p:spPr>
          <a:xfrm>
            <a:off x="382773" y="624110"/>
            <a:ext cx="11121840" cy="821918"/>
          </a:xfrm>
        </p:spPr>
        <p:txBody>
          <a:bodyPr/>
          <a:lstStyle/>
          <a:p>
            <a:r>
              <a:rPr lang="en-US" dirty="0"/>
              <a:t>MANAGEMENT INFORMATION SYSTEM</a:t>
            </a:r>
            <a:endParaRPr lang="en-MW" dirty="0"/>
          </a:p>
        </p:txBody>
      </p:sp>
      <p:sp>
        <p:nvSpPr>
          <p:cNvPr id="3" name="Content Placeholder 2">
            <a:extLst>
              <a:ext uri="{FF2B5EF4-FFF2-40B4-BE49-F238E27FC236}">
                <a16:creationId xmlns:a16="http://schemas.microsoft.com/office/drawing/2014/main" id="{F4DC0F95-32C1-4780-A092-19DAA8A3BE02}"/>
              </a:ext>
            </a:extLst>
          </p:cNvPr>
          <p:cNvSpPr>
            <a:spLocks noGrp="1"/>
          </p:cNvSpPr>
          <p:nvPr>
            <p:ph idx="1"/>
          </p:nvPr>
        </p:nvSpPr>
        <p:spPr>
          <a:xfrm>
            <a:off x="133350" y="1446028"/>
            <a:ext cx="11582399" cy="5099429"/>
          </a:xfrm>
        </p:spPr>
        <p:txBody>
          <a:bodyPr>
            <a:normAutofit/>
          </a:bodyPr>
          <a:lstStyle/>
          <a:p>
            <a:pPr>
              <a:buFont typeface="Wingdings" panose="05000000000000000000" pitchFamily="2" charset="2"/>
              <a:buChar char="Ø"/>
            </a:pPr>
            <a:r>
              <a:rPr lang="en-US" sz="2800" dirty="0"/>
              <a:t>A MIS is a system that converts data from internal and external sources into information, communicated in an appropriate form to managers at different levels of an </a:t>
            </a:r>
            <a:r>
              <a:rPr lang="en-US" sz="2800" dirty="0" err="1"/>
              <a:t>organisation</a:t>
            </a:r>
            <a:r>
              <a:rPr lang="en-US" sz="2800" dirty="0"/>
              <a:t>.</a:t>
            </a:r>
          </a:p>
          <a:p>
            <a:pPr>
              <a:buFont typeface="Wingdings" panose="05000000000000000000" pitchFamily="2" charset="2"/>
              <a:buChar char="Ø"/>
            </a:pPr>
            <a:r>
              <a:rPr lang="en-US" sz="2800" dirty="0"/>
              <a:t> The information can contribute to effective decision making or planning to be carried out. </a:t>
            </a:r>
          </a:p>
          <a:p>
            <a:pPr>
              <a:buFont typeface="Wingdings" panose="05000000000000000000" pitchFamily="2" charset="2"/>
              <a:buChar char="Ø"/>
            </a:pPr>
            <a:r>
              <a:rPr lang="en-US" sz="2800" dirty="0"/>
              <a:t>MIS are built on the data provided by the TPS</a:t>
            </a:r>
          </a:p>
        </p:txBody>
      </p:sp>
    </p:spTree>
    <p:extLst>
      <p:ext uri="{BB962C8B-B14F-4D97-AF65-F5344CB8AC3E}">
        <p14:creationId xmlns:p14="http://schemas.microsoft.com/office/powerpoint/2010/main" val="40585650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24850D-410F-4472-AEE7-A3221A6F0B3D}"/>
              </a:ext>
            </a:extLst>
          </p:cNvPr>
          <p:cNvSpPr>
            <a:spLocks noGrp="1"/>
          </p:cNvSpPr>
          <p:nvPr>
            <p:ph idx="1"/>
          </p:nvPr>
        </p:nvSpPr>
        <p:spPr>
          <a:xfrm>
            <a:off x="762000" y="342900"/>
            <a:ext cx="10505557" cy="6229350"/>
          </a:xfrm>
        </p:spPr>
        <p:txBody>
          <a:bodyPr>
            <a:normAutofit/>
          </a:bodyPr>
          <a:lstStyle/>
          <a:p>
            <a:r>
              <a:rPr lang="en-US" sz="2800" dirty="0"/>
              <a:t>MIS produce reports for managers interested in historic trends on a weekly, monthly and yearly basis (not on the day-to-day activities of the DPS). </a:t>
            </a:r>
          </a:p>
          <a:p>
            <a:r>
              <a:rPr lang="en-US" sz="2800" dirty="0"/>
              <a:t>The information in these reports provides answers to routine pre-defined questions.</a:t>
            </a:r>
          </a:p>
          <a:p>
            <a:r>
              <a:rPr lang="en-US" sz="2800" dirty="0"/>
              <a:t> An example from a supermarket will provide reports that show the sales figures for each department each day for a week, with weekly totals, monthly totals, comparisons with last month and the corresponding month last year.  </a:t>
            </a:r>
          </a:p>
          <a:p>
            <a:r>
              <a:rPr lang="en-US" sz="2800" dirty="0"/>
              <a:t>Once the information is in the system many reports can be extracted. </a:t>
            </a:r>
            <a:endParaRPr lang="en-MW" sz="2800" dirty="0"/>
          </a:p>
        </p:txBody>
      </p:sp>
    </p:spTree>
    <p:extLst>
      <p:ext uri="{BB962C8B-B14F-4D97-AF65-F5344CB8AC3E}">
        <p14:creationId xmlns:p14="http://schemas.microsoft.com/office/powerpoint/2010/main" val="24907388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4EB38B-EAC8-4D54-8F32-135E528B72DE}"/>
              </a:ext>
            </a:extLst>
          </p:cNvPr>
          <p:cNvSpPr>
            <a:spLocks noGrp="1"/>
          </p:cNvSpPr>
          <p:nvPr>
            <p:ph idx="1"/>
          </p:nvPr>
        </p:nvSpPr>
        <p:spPr>
          <a:xfrm>
            <a:off x="438150" y="457200"/>
            <a:ext cx="10829407" cy="5334000"/>
          </a:xfrm>
        </p:spPr>
        <p:txBody>
          <a:bodyPr>
            <a:normAutofit/>
          </a:bodyPr>
          <a:lstStyle/>
          <a:p>
            <a:pPr marL="0" indent="0">
              <a:buNone/>
            </a:pPr>
            <a:r>
              <a:rPr lang="en-US" sz="3600" dirty="0"/>
              <a:t>Some examples of MIS</a:t>
            </a:r>
          </a:p>
          <a:p>
            <a:r>
              <a:rPr lang="en-US" sz="3600" dirty="0"/>
              <a:t>Sales management systems</a:t>
            </a:r>
          </a:p>
          <a:p>
            <a:r>
              <a:rPr lang="en-US" sz="3600" dirty="0"/>
              <a:t>Inventory control systems</a:t>
            </a:r>
          </a:p>
          <a:p>
            <a:r>
              <a:rPr lang="en-US" sz="3600" dirty="0"/>
              <a:t>Budgeting systems</a:t>
            </a:r>
          </a:p>
          <a:p>
            <a:r>
              <a:rPr lang="en-US" sz="3600" dirty="0"/>
              <a:t>Management Reporting Systems (MRS)</a:t>
            </a:r>
          </a:p>
          <a:p>
            <a:r>
              <a:rPr lang="en-US" sz="3600" dirty="0"/>
              <a:t>Personnel (HRM) systems</a:t>
            </a:r>
            <a:endParaRPr lang="en-MW" sz="3600" dirty="0"/>
          </a:p>
          <a:p>
            <a:endParaRPr lang="en-MW" sz="3600" dirty="0"/>
          </a:p>
        </p:txBody>
      </p:sp>
    </p:spTree>
    <p:extLst>
      <p:ext uri="{BB962C8B-B14F-4D97-AF65-F5344CB8AC3E}">
        <p14:creationId xmlns:p14="http://schemas.microsoft.com/office/powerpoint/2010/main" val="26983292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33EF2-8DD0-41E0-BFEE-D769FD30E102}"/>
              </a:ext>
            </a:extLst>
          </p:cNvPr>
          <p:cNvSpPr>
            <a:spLocks noGrp="1"/>
          </p:cNvSpPr>
          <p:nvPr>
            <p:ph type="title"/>
          </p:nvPr>
        </p:nvSpPr>
        <p:spPr>
          <a:xfrm>
            <a:off x="903767" y="624110"/>
            <a:ext cx="10600845" cy="853816"/>
          </a:xfrm>
        </p:spPr>
        <p:txBody>
          <a:bodyPr/>
          <a:lstStyle/>
          <a:p>
            <a:r>
              <a:rPr lang="en-US" dirty="0"/>
              <a:t>OBJECTIVES OF MIS</a:t>
            </a:r>
            <a:endParaRPr lang="en-MW" dirty="0"/>
          </a:p>
        </p:txBody>
      </p:sp>
      <p:sp>
        <p:nvSpPr>
          <p:cNvPr id="3" name="Content Placeholder 2">
            <a:extLst>
              <a:ext uri="{FF2B5EF4-FFF2-40B4-BE49-F238E27FC236}">
                <a16:creationId xmlns:a16="http://schemas.microsoft.com/office/drawing/2014/main" id="{EBAA51A2-A9DE-419D-AB41-208DD26B1B67}"/>
              </a:ext>
            </a:extLst>
          </p:cNvPr>
          <p:cNvSpPr>
            <a:spLocks noGrp="1"/>
          </p:cNvSpPr>
          <p:nvPr>
            <p:ph idx="1"/>
          </p:nvPr>
        </p:nvSpPr>
        <p:spPr>
          <a:xfrm>
            <a:off x="1052623" y="1477926"/>
            <a:ext cx="10451989" cy="4433296"/>
          </a:xfrm>
        </p:spPr>
        <p:txBody>
          <a:bodyPr>
            <a:normAutofit/>
          </a:bodyPr>
          <a:lstStyle/>
          <a:p>
            <a:r>
              <a:rPr lang="en-US" sz="3200" dirty="0"/>
              <a:t>Provide summary information of organizational activity at periodical intervals</a:t>
            </a:r>
          </a:p>
          <a:p>
            <a:r>
              <a:rPr lang="en-US" sz="3200" dirty="0"/>
              <a:t>Operational control and efficiency</a:t>
            </a:r>
          </a:p>
          <a:p>
            <a:r>
              <a:rPr lang="en-US" sz="3200" dirty="0"/>
              <a:t>Focus on internal information</a:t>
            </a:r>
          </a:p>
          <a:p>
            <a:r>
              <a:rPr lang="en-US" sz="3200" dirty="0"/>
              <a:t>Useful to structured decisions</a:t>
            </a:r>
            <a:endParaRPr lang="en-MW" sz="3200" dirty="0"/>
          </a:p>
        </p:txBody>
      </p:sp>
    </p:spTree>
    <p:extLst>
      <p:ext uri="{BB962C8B-B14F-4D97-AF65-F5344CB8AC3E}">
        <p14:creationId xmlns:p14="http://schemas.microsoft.com/office/powerpoint/2010/main" val="35034073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60AA3-B4B4-49F1-AE05-F1919A56B6A2}"/>
              </a:ext>
            </a:extLst>
          </p:cNvPr>
          <p:cNvSpPr>
            <a:spLocks noGrp="1"/>
          </p:cNvSpPr>
          <p:nvPr>
            <p:ph type="title"/>
          </p:nvPr>
        </p:nvSpPr>
        <p:spPr/>
        <p:txBody>
          <a:bodyPr/>
          <a:lstStyle/>
          <a:p>
            <a:r>
              <a:rPr lang="en-US" dirty="0"/>
              <a:t>FUNCTIONS OF MIS</a:t>
            </a:r>
            <a:endParaRPr lang="en-MW" dirty="0"/>
          </a:p>
        </p:txBody>
      </p:sp>
      <p:pic>
        <p:nvPicPr>
          <p:cNvPr id="5" name="Content Placeholder 4">
            <a:extLst>
              <a:ext uri="{FF2B5EF4-FFF2-40B4-BE49-F238E27FC236}">
                <a16:creationId xmlns:a16="http://schemas.microsoft.com/office/drawing/2014/main" id="{9080CB61-B834-41ED-BAE0-A95D22B66704}"/>
              </a:ext>
            </a:extLst>
          </p:cNvPr>
          <p:cNvPicPr>
            <a:picLocks noGrp="1" noChangeAspect="1"/>
          </p:cNvPicPr>
          <p:nvPr>
            <p:ph idx="1"/>
          </p:nvPr>
        </p:nvPicPr>
        <p:blipFill rotWithShape="1">
          <a:blip r:embed="rId2"/>
          <a:srcRect l="1535" t="33081" r="24369" b="32152"/>
          <a:stretch/>
        </p:blipFill>
        <p:spPr>
          <a:xfrm>
            <a:off x="-39314" y="1982444"/>
            <a:ext cx="12231314" cy="3226630"/>
          </a:xfrm>
        </p:spPr>
      </p:pic>
    </p:spTree>
    <p:extLst>
      <p:ext uri="{BB962C8B-B14F-4D97-AF65-F5344CB8AC3E}">
        <p14:creationId xmlns:p14="http://schemas.microsoft.com/office/powerpoint/2010/main" val="17659937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5D56D-4199-4975-8F68-B3D4454592D1}"/>
              </a:ext>
            </a:extLst>
          </p:cNvPr>
          <p:cNvSpPr>
            <a:spLocks noGrp="1"/>
          </p:cNvSpPr>
          <p:nvPr>
            <p:ph type="title"/>
          </p:nvPr>
        </p:nvSpPr>
        <p:spPr/>
        <p:txBody>
          <a:bodyPr/>
          <a:lstStyle/>
          <a:p>
            <a:endParaRPr lang="en-MW"/>
          </a:p>
        </p:txBody>
      </p:sp>
      <p:sp>
        <p:nvSpPr>
          <p:cNvPr id="3" name="Content Placeholder 2">
            <a:extLst>
              <a:ext uri="{FF2B5EF4-FFF2-40B4-BE49-F238E27FC236}">
                <a16:creationId xmlns:a16="http://schemas.microsoft.com/office/drawing/2014/main" id="{97FF3E29-24F4-428F-B98D-32F4FFF10912}"/>
              </a:ext>
            </a:extLst>
          </p:cNvPr>
          <p:cNvSpPr>
            <a:spLocks noGrp="1"/>
          </p:cNvSpPr>
          <p:nvPr>
            <p:ph idx="1"/>
          </p:nvPr>
        </p:nvSpPr>
        <p:spPr/>
        <p:txBody>
          <a:bodyPr/>
          <a:lstStyle/>
          <a:p>
            <a:endParaRPr lang="en-MW"/>
          </a:p>
        </p:txBody>
      </p:sp>
      <p:pic>
        <p:nvPicPr>
          <p:cNvPr id="5" name="Picture 4">
            <a:extLst>
              <a:ext uri="{FF2B5EF4-FFF2-40B4-BE49-F238E27FC236}">
                <a16:creationId xmlns:a16="http://schemas.microsoft.com/office/drawing/2014/main" id="{3E0D9481-E5B9-4342-A770-6140704EE23F}"/>
              </a:ext>
            </a:extLst>
          </p:cNvPr>
          <p:cNvPicPr>
            <a:picLocks noChangeAspect="1"/>
          </p:cNvPicPr>
          <p:nvPr/>
        </p:nvPicPr>
        <p:blipFill>
          <a:blip r:embed="rId2"/>
          <a:stretch>
            <a:fillRect/>
          </a:stretch>
        </p:blipFill>
        <p:spPr>
          <a:xfrm>
            <a:off x="609600" y="192386"/>
            <a:ext cx="10972800" cy="6473228"/>
          </a:xfrm>
          <a:prstGeom prst="rect">
            <a:avLst/>
          </a:prstGeom>
        </p:spPr>
      </p:pic>
    </p:spTree>
    <p:extLst>
      <p:ext uri="{BB962C8B-B14F-4D97-AF65-F5344CB8AC3E}">
        <p14:creationId xmlns:p14="http://schemas.microsoft.com/office/powerpoint/2010/main" val="40017582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7EE12-2746-427B-BB66-B1052CE76EAB}"/>
              </a:ext>
            </a:extLst>
          </p:cNvPr>
          <p:cNvSpPr>
            <a:spLocks noGrp="1"/>
          </p:cNvSpPr>
          <p:nvPr>
            <p:ph type="title"/>
          </p:nvPr>
        </p:nvSpPr>
        <p:spPr>
          <a:xfrm>
            <a:off x="919119" y="0"/>
            <a:ext cx="10353761" cy="1326321"/>
          </a:xfrm>
        </p:spPr>
        <p:txBody>
          <a:bodyPr/>
          <a:lstStyle/>
          <a:p>
            <a:r>
              <a:rPr lang="en-US" dirty="0"/>
              <a:t>DECISION SUPPORT SYSTEM</a:t>
            </a:r>
            <a:endParaRPr lang="en-MW" dirty="0"/>
          </a:p>
        </p:txBody>
      </p:sp>
      <p:sp>
        <p:nvSpPr>
          <p:cNvPr id="3" name="Content Placeholder 2">
            <a:extLst>
              <a:ext uri="{FF2B5EF4-FFF2-40B4-BE49-F238E27FC236}">
                <a16:creationId xmlns:a16="http://schemas.microsoft.com/office/drawing/2014/main" id="{BEEE7B6A-A8D3-4A59-9607-66C3917AB0E8}"/>
              </a:ext>
            </a:extLst>
          </p:cNvPr>
          <p:cNvSpPr>
            <a:spLocks noGrp="1"/>
          </p:cNvSpPr>
          <p:nvPr>
            <p:ph idx="1"/>
          </p:nvPr>
        </p:nvSpPr>
        <p:spPr>
          <a:xfrm>
            <a:off x="276224" y="819150"/>
            <a:ext cx="11639550" cy="5619750"/>
          </a:xfrm>
        </p:spPr>
        <p:txBody>
          <a:bodyPr>
            <a:normAutofit fontScale="92500" lnSpcReduction="20000"/>
          </a:bodyPr>
          <a:lstStyle/>
          <a:p>
            <a:r>
              <a:rPr lang="en-US" sz="2800" dirty="0"/>
              <a:t>A Decision Support System can be seen as a knowledge based system, used by senior managers, which facilitates the creation of knowledge and allow its integration into the organization.</a:t>
            </a:r>
          </a:p>
          <a:p>
            <a:r>
              <a:rPr lang="en-US" sz="2800" dirty="0"/>
              <a:t> These systems are often used to analyze existing structured information and allow managers to project the potential effects of their decisions into the future. </a:t>
            </a:r>
          </a:p>
          <a:p>
            <a:r>
              <a:rPr lang="en-US" sz="2800" dirty="0"/>
              <a:t>Such systems are usually interactive and are used to solve ill structured problems. </a:t>
            </a:r>
          </a:p>
          <a:p>
            <a:r>
              <a:rPr lang="en-US" sz="2800" dirty="0"/>
              <a:t>They offer access to databases, analytical tools, allow "what if" simulations, and may support the exchange of information within the organization.</a:t>
            </a:r>
          </a:p>
          <a:p>
            <a:r>
              <a:rPr lang="en-US" sz="2800" dirty="0"/>
              <a:t>An effective blend of human intelligence, information technology and software.</a:t>
            </a:r>
          </a:p>
          <a:p>
            <a:r>
              <a:rPr lang="en-US" sz="2800" dirty="0"/>
              <a:t>DSS manipulate and build upon the information from a MIS and/or TPS to generate insights and new information</a:t>
            </a:r>
          </a:p>
        </p:txBody>
      </p:sp>
    </p:spTree>
    <p:extLst>
      <p:ext uri="{BB962C8B-B14F-4D97-AF65-F5344CB8AC3E}">
        <p14:creationId xmlns:p14="http://schemas.microsoft.com/office/powerpoint/2010/main" val="35420619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ED9C18-8152-44D2-85D4-DDDE1C2DBADF}"/>
              </a:ext>
            </a:extLst>
          </p:cNvPr>
          <p:cNvSpPr>
            <a:spLocks noGrp="1"/>
          </p:cNvSpPr>
          <p:nvPr>
            <p:ph idx="1"/>
          </p:nvPr>
        </p:nvSpPr>
        <p:spPr>
          <a:xfrm>
            <a:off x="113514" y="2133600"/>
            <a:ext cx="12078484" cy="3777622"/>
          </a:xfrm>
        </p:spPr>
        <p:txBody>
          <a:bodyPr/>
          <a:lstStyle/>
          <a:p>
            <a:endParaRPr lang="en-MW" dirty="0"/>
          </a:p>
        </p:txBody>
      </p:sp>
      <p:pic>
        <p:nvPicPr>
          <p:cNvPr id="5" name="Picture 4">
            <a:extLst>
              <a:ext uri="{FF2B5EF4-FFF2-40B4-BE49-F238E27FC236}">
                <a16:creationId xmlns:a16="http://schemas.microsoft.com/office/drawing/2014/main" id="{47CC7D5E-D820-49CA-8C9A-4F7ABE2A2E76}"/>
              </a:ext>
            </a:extLst>
          </p:cNvPr>
          <p:cNvPicPr>
            <a:picLocks noChangeAspect="1"/>
          </p:cNvPicPr>
          <p:nvPr/>
        </p:nvPicPr>
        <p:blipFill rotWithShape="1">
          <a:blip r:embed="rId2"/>
          <a:srcRect l="2344" t="36382" r="35785" b="28218"/>
          <a:stretch/>
        </p:blipFill>
        <p:spPr>
          <a:xfrm>
            <a:off x="113514" y="1272760"/>
            <a:ext cx="12078486" cy="3885354"/>
          </a:xfrm>
          <a:prstGeom prst="rect">
            <a:avLst/>
          </a:prstGeom>
        </p:spPr>
      </p:pic>
    </p:spTree>
    <p:extLst>
      <p:ext uri="{BB962C8B-B14F-4D97-AF65-F5344CB8AC3E}">
        <p14:creationId xmlns:p14="http://schemas.microsoft.com/office/powerpoint/2010/main" val="31210537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7A391-818C-4957-B51A-87AB19AF94B3}"/>
              </a:ext>
            </a:extLst>
          </p:cNvPr>
          <p:cNvSpPr>
            <a:spLocks noGrp="1"/>
          </p:cNvSpPr>
          <p:nvPr>
            <p:ph type="title"/>
          </p:nvPr>
        </p:nvSpPr>
        <p:spPr/>
        <p:txBody>
          <a:bodyPr/>
          <a:lstStyle/>
          <a:p>
            <a:endParaRPr lang="en-MW"/>
          </a:p>
        </p:txBody>
      </p:sp>
      <p:sp>
        <p:nvSpPr>
          <p:cNvPr id="3" name="Content Placeholder 2">
            <a:extLst>
              <a:ext uri="{FF2B5EF4-FFF2-40B4-BE49-F238E27FC236}">
                <a16:creationId xmlns:a16="http://schemas.microsoft.com/office/drawing/2014/main" id="{D309238B-E620-4443-AC56-AA8F06C554F0}"/>
              </a:ext>
            </a:extLst>
          </p:cNvPr>
          <p:cNvSpPr>
            <a:spLocks noGrp="1"/>
          </p:cNvSpPr>
          <p:nvPr>
            <p:ph idx="1"/>
          </p:nvPr>
        </p:nvSpPr>
        <p:spPr/>
        <p:txBody>
          <a:bodyPr/>
          <a:lstStyle/>
          <a:p>
            <a:endParaRPr lang="en-MW"/>
          </a:p>
        </p:txBody>
      </p:sp>
      <p:pic>
        <p:nvPicPr>
          <p:cNvPr id="5" name="Picture 4">
            <a:extLst>
              <a:ext uri="{FF2B5EF4-FFF2-40B4-BE49-F238E27FC236}">
                <a16:creationId xmlns:a16="http://schemas.microsoft.com/office/drawing/2014/main" id="{418B09A6-3D30-458F-A1A1-CCAF316C74F8}"/>
              </a:ext>
            </a:extLst>
          </p:cNvPr>
          <p:cNvPicPr>
            <a:picLocks noChangeAspect="1"/>
          </p:cNvPicPr>
          <p:nvPr/>
        </p:nvPicPr>
        <p:blipFill>
          <a:blip r:embed="rId2"/>
          <a:stretch>
            <a:fillRect/>
          </a:stretch>
        </p:blipFill>
        <p:spPr>
          <a:xfrm>
            <a:off x="416591" y="152400"/>
            <a:ext cx="11003365" cy="6096000"/>
          </a:xfrm>
          <a:prstGeom prst="rect">
            <a:avLst/>
          </a:prstGeom>
        </p:spPr>
      </p:pic>
    </p:spTree>
    <p:extLst>
      <p:ext uri="{BB962C8B-B14F-4D97-AF65-F5344CB8AC3E}">
        <p14:creationId xmlns:p14="http://schemas.microsoft.com/office/powerpoint/2010/main" val="19383582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49E405-67FF-4061-9EC5-3DB9857A6840}"/>
              </a:ext>
            </a:extLst>
          </p:cNvPr>
          <p:cNvSpPr>
            <a:spLocks noGrp="1"/>
          </p:cNvSpPr>
          <p:nvPr>
            <p:ph idx="1"/>
          </p:nvPr>
        </p:nvSpPr>
        <p:spPr>
          <a:xfrm>
            <a:off x="438150" y="1390650"/>
            <a:ext cx="11449050" cy="5048250"/>
          </a:xfrm>
        </p:spPr>
        <p:txBody>
          <a:bodyPr>
            <a:normAutofit/>
          </a:bodyPr>
          <a:lstStyle/>
          <a:p>
            <a:pPr marL="0" indent="0">
              <a:buNone/>
            </a:pPr>
            <a:r>
              <a:rPr lang="en-US" sz="3600" b="1" dirty="0"/>
              <a:t>Role of DSS</a:t>
            </a:r>
          </a:p>
          <a:p>
            <a:r>
              <a:rPr lang="en-US" sz="3600" dirty="0"/>
              <a:t>• Support ill- structured or semi-structured decisions</a:t>
            </a:r>
          </a:p>
          <a:p>
            <a:r>
              <a:rPr lang="en-US" sz="3600" dirty="0"/>
              <a:t>• Have analytical and/or modelling capacity</a:t>
            </a:r>
          </a:p>
          <a:p>
            <a:r>
              <a:rPr lang="en-US" sz="3600" dirty="0"/>
              <a:t>• Used by more senior managerial levels</a:t>
            </a:r>
          </a:p>
          <a:p>
            <a:r>
              <a:rPr lang="en-US" sz="3600" dirty="0"/>
              <a:t>• Are concerned with predicting the future</a:t>
            </a:r>
          </a:p>
          <a:p>
            <a:r>
              <a:rPr lang="en-US" sz="3600" dirty="0"/>
              <a:t>• Are effectiveness oriented</a:t>
            </a:r>
            <a:endParaRPr lang="en-MW" sz="3600" dirty="0"/>
          </a:p>
        </p:txBody>
      </p:sp>
    </p:spTree>
    <p:extLst>
      <p:ext uri="{BB962C8B-B14F-4D97-AF65-F5344CB8AC3E}">
        <p14:creationId xmlns:p14="http://schemas.microsoft.com/office/powerpoint/2010/main" val="22697706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D8EC82-3B27-4112-A70D-130A50D70EBE}"/>
              </a:ext>
            </a:extLst>
          </p:cNvPr>
          <p:cNvSpPr>
            <a:spLocks noGrp="1"/>
          </p:cNvSpPr>
          <p:nvPr>
            <p:ph idx="1"/>
          </p:nvPr>
        </p:nvSpPr>
        <p:spPr>
          <a:xfrm>
            <a:off x="571500" y="971550"/>
            <a:ext cx="11125200" cy="5314950"/>
          </a:xfrm>
        </p:spPr>
        <p:txBody>
          <a:bodyPr>
            <a:normAutofit/>
          </a:bodyPr>
          <a:lstStyle/>
          <a:p>
            <a:pPr marL="0" indent="0">
              <a:buNone/>
            </a:pPr>
            <a:r>
              <a:rPr lang="en-US" sz="4000" dirty="0"/>
              <a:t>Some examples of DSS</a:t>
            </a:r>
          </a:p>
          <a:p>
            <a:r>
              <a:rPr lang="en-US" sz="4000" dirty="0"/>
              <a:t>• Group Decision Support Systems (GDSS)</a:t>
            </a:r>
          </a:p>
          <a:p>
            <a:r>
              <a:rPr lang="en-US" sz="4000" dirty="0"/>
              <a:t>• Computer Supported Co-operative work (CSCW)</a:t>
            </a:r>
          </a:p>
          <a:p>
            <a:r>
              <a:rPr lang="en-US" sz="4000" dirty="0"/>
              <a:t>• Logistics systems</a:t>
            </a:r>
          </a:p>
          <a:p>
            <a:r>
              <a:rPr lang="en-US" sz="4000" dirty="0"/>
              <a:t>• Financial Planning systems</a:t>
            </a:r>
          </a:p>
          <a:p>
            <a:r>
              <a:rPr lang="en-US" sz="4000" dirty="0"/>
              <a:t>• Spreadsheet Models</a:t>
            </a:r>
            <a:endParaRPr lang="en-MW" sz="4000" dirty="0"/>
          </a:p>
        </p:txBody>
      </p:sp>
    </p:spTree>
    <p:extLst>
      <p:ext uri="{BB962C8B-B14F-4D97-AF65-F5344CB8AC3E}">
        <p14:creationId xmlns:p14="http://schemas.microsoft.com/office/powerpoint/2010/main" val="19487061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C7598-CD9D-458A-920C-C2C7FDF71DD2}"/>
              </a:ext>
            </a:extLst>
          </p:cNvPr>
          <p:cNvSpPr>
            <a:spLocks noGrp="1"/>
          </p:cNvSpPr>
          <p:nvPr>
            <p:ph type="title"/>
          </p:nvPr>
        </p:nvSpPr>
        <p:spPr/>
        <p:txBody>
          <a:bodyPr/>
          <a:lstStyle/>
          <a:p>
            <a:endParaRPr lang="en-MW"/>
          </a:p>
        </p:txBody>
      </p:sp>
      <p:sp>
        <p:nvSpPr>
          <p:cNvPr id="3" name="Content Placeholder 2">
            <a:extLst>
              <a:ext uri="{FF2B5EF4-FFF2-40B4-BE49-F238E27FC236}">
                <a16:creationId xmlns:a16="http://schemas.microsoft.com/office/drawing/2014/main" id="{310C08C1-A96F-4B61-8122-8EB865184194}"/>
              </a:ext>
            </a:extLst>
          </p:cNvPr>
          <p:cNvSpPr>
            <a:spLocks noGrp="1"/>
          </p:cNvSpPr>
          <p:nvPr>
            <p:ph idx="1"/>
          </p:nvPr>
        </p:nvSpPr>
        <p:spPr/>
        <p:txBody>
          <a:bodyPr/>
          <a:lstStyle/>
          <a:p>
            <a:endParaRPr lang="en-MW"/>
          </a:p>
        </p:txBody>
      </p:sp>
      <p:pic>
        <p:nvPicPr>
          <p:cNvPr id="5" name="Picture 4">
            <a:extLst>
              <a:ext uri="{FF2B5EF4-FFF2-40B4-BE49-F238E27FC236}">
                <a16:creationId xmlns:a16="http://schemas.microsoft.com/office/drawing/2014/main" id="{12F7FB77-BC83-401F-908F-1A37996981C7}"/>
              </a:ext>
            </a:extLst>
          </p:cNvPr>
          <p:cNvPicPr>
            <a:picLocks noChangeAspect="1"/>
          </p:cNvPicPr>
          <p:nvPr/>
        </p:nvPicPr>
        <p:blipFill rotWithShape="1">
          <a:blip r:embed="rId2"/>
          <a:srcRect l="7344" t="25543" r="31719" b="15817"/>
          <a:stretch/>
        </p:blipFill>
        <p:spPr>
          <a:xfrm>
            <a:off x="208944" y="254828"/>
            <a:ext cx="11465485" cy="6203121"/>
          </a:xfrm>
          <a:prstGeom prst="rect">
            <a:avLst/>
          </a:prstGeom>
        </p:spPr>
      </p:pic>
    </p:spTree>
    <p:extLst>
      <p:ext uri="{BB962C8B-B14F-4D97-AF65-F5344CB8AC3E}">
        <p14:creationId xmlns:p14="http://schemas.microsoft.com/office/powerpoint/2010/main" val="14538904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28BA3-CE7D-4DE3-BBB2-F2D29782A518}"/>
              </a:ext>
            </a:extLst>
          </p:cNvPr>
          <p:cNvSpPr>
            <a:spLocks noGrp="1"/>
          </p:cNvSpPr>
          <p:nvPr>
            <p:ph type="title"/>
          </p:nvPr>
        </p:nvSpPr>
        <p:spPr>
          <a:xfrm>
            <a:off x="919119" y="228600"/>
            <a:ext cx="10353761" cy="895350"/>
          </a:xfrm>
        </p:spPr>
        <p:txBody>
          <a:bodyPr/>
          <a:lstStyle/>
          <a:p>
            <a:r>
              <a:rPr lang="en-US" dirty="0"/>
              <a:t>EXECUTIVE INFORMATION SYSTEM</a:t>
            </a:r>
            <a:endParaRPr lang="en-MW" dirty="0"/>
          </a:p>
        </p:txBody>
      </p:sp>
      <p:sp>
        <p:nvSpPr>
          <p:cNvPr id="3" name="Content Placeholder 2">
            <a:extLst>
              <a:ext uri="{FF2B5EF4-FFF2-40B4-BE49-F238E27FC236}">
                <a16:creationId xmlns:a16="http://schemas.microsoft.com/office/drawing/2014/main" id="{75A2EA38-27CC-4141-A400-347F2AE7F29E}"/>
              </a:ext>
            </a:extLst>
          </p:cNvPr>
          <p:cNvSpPr>
            <a:spLocks noGrp="1"/>
          </p:cNvSpPr>
          <p:nvPr>
            <p:ph idx="1"/>
          </p:nvPr>
        </p:nvSpPr>
        <p:spPr>
          <a:xfrm>
            <a:off x="266700" y="876300"/>
            <a:ext cx="11658600" cy="5981700"/>
          </a:xfrm>
        </p:spPr>
        <p:txBody>
          <a:bodyPr>
            <a:normAutofit lnSpcReduction="10000"/>
          </a:bodyPr>
          <a:lstStyle/>
          <a:p>
            <a:r>
              <a:rPr lang="en-US" sz="2400" dirty="0"/>
              <a:t>Specialized form of DSS</a:t>
            </a:r>
          </a:p>
          <a:p>
            <a:r>
              <a:rPr lang="en-US" sz="2400" dirty="0"/>
              <a:t>Used by top-level managers</a:t>
            </a:r>
          </a:p>
          <a:p>
            <a:r>
              <a:rPr lang="en-US" sz="2400" dirty="0"/>
              <a:t>• Also known as Executive Support System</a:t>
            </a:r>
          </a:p>
          <a:p>
            <a:pPr algn="just"/>
            <a:r>
              <a:rPr lang="en-US" sz="2400" dirty="0"/>
              <a:t>An EIS provides senior managers with a system to assist in taking strategic and tactical decisions. </a:t>
            </a:r>
          </a:p>
          <a:p>
            <a:pPr algn="just"/>
            <a:r>
              <a:rPr lang="en-US" sz="2400" dirty="0"/>
              <a:t>Its purpose is to </a:t>
            </a:r>
            <a:r>
              <a:rPr lang="en-US" sz="2400" dirty="0" err="1"/>
              <a:t>analyse</a:t>
            </a:r>
            <a:r>
              <a:rPr lang="en-US" sz="2400" dirty="0"/>
              <a:t>, compare and identify trends to help the strategic direction of the </a:t>
            </a:r>
            <a:r>
              <a:rPr lang="en-US" sz="2400" dirty="0" err="1"/>
              <a:t>organisation</a:t>
            </a:r>
            <a:r>
              <a:rPr lang="en-US" sz="2400" dirty="0"/>
              <a:t>. </a:t>
            </a:r>
          </a:p>
          <a:p>
            <a:pPr algn="just"/>
            <a:r>
              <a:rPr lang="en-US" sz="2400" dirty="0"/>
              <a:t>EIS address unstructured decisions and create a </a:t>
            </a:r>
            <a:r>
              <a:rPr lang="en-US" sz="2400" dirty="0" err="1"/>
              <a:t>generalised</a:t>
            </a:r>
            <a:r>
              <a:rPr lang="en-US" sz="2400" dirty="0"/>
              <a:t> computing and communications environment, rather than providing any fixed application or specific capability. </a:t>
            </a:r>
          </a:p>
          <a:p>
            <a:pPr algn="just"/>
            <a:r>
              <a:rPr lang="en-US" sz="2400" dirty="0"/>
              <a:t>Such systems are not designed to solve specific problems, but to tackle a changing array of problems. </a:t>
            </a:r>
          </a:p>
          <a:p>
            <a:pPr algn="just"/>
            <a:r>
              <a:rPr lang="en-US" sz="2400" dirty="0"/>
              <a:t>EIS are designed to incorporate data about external events, such as new tax laws or competitors, and also draw </a:t>
            </a:r>
            <a:r>
              <a:rPr lang="en-US" sz="2400" dirty="0" err="1"/>
              <a:t>summarised</a:t>
            </a:r>
            <a:r>
              <a:rPr lang="en-US" sz="2400" dirty="0"/>
              <a:t> information from internal MIS and DSS. </a:t>
            </a:r>
          </a:p>
          <a:p>
            <a:endParaRPr lang="en-MW" sz="2400" dirty="0"/>
          </a:p>
        </p:txBody>
      </p:sp>
    </p:spTree>
    <p:extLst>
      <p:ext uri="{BB962C8B-B14F-4D97-AF65-F5344CB8AC3E}">
        <p14:creationId xmlns:p14="http://schemas.microsoft.com/office/powerpoint/2010/main" val="34207363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C16E815-554E-44CA-A28F-97D1FC9C0FAA}"/>
              </a:ext>
            </a:extLst>
          </p:cNvPr>
          <p:cNvSpPr>
            <a:spLocks noGrp="1"/>
          </p:cNvSpPr>
          <p:nvPr>
            <p:ph type="title"/>
          </p:nvPr>
        </p:nvSpPr>
        <p:spPr>
          <a:xfrm>
            <a:off x="418495" y="-190500"/>
            <a:ext cx="10353761" cy="1326321"/>
          </a:xfrm>
        </p:spPr>
        <p:txBody>
          <a:bodyPr/>
          <a:lstStyle/>
          <a:p>
            <a:r>
              <a:rPr lang="en-US" dirty="0"/>
              <a:t>EXECUTIVE INFORMATION SYSTEM</a:t>
            </a:r>
            <a:endParaRPr lang="en-MW" dirty="0"/>
          </a:p>
        </p:txBody>
      </p:sp>
      <p:sp>
        <p:nvSpPr>
          <p:cNvPr id="3" name="Content Placeholder 2">
            <a:extLst>
              <a:ext uri="{FF2B5EF4-FFF2-40B4-BE49-F238E27FC236}">
                <a16:creationId xmlns:a16="http://schemas.microsoft.com/office/drawing/2014/main" id="{80A2EA7A-6157-41F7-B456-1BFB343FEA98}"/>
              </a:ext>
            </a:extLst>
          </p:cNvPr>
          <p:cNvSpPr>
            <a:spLocks noGrp="1"/>
          </p:cNvSpPr>
          <p:nvPr>
            <p:ph idx="1"/>
          </p:nvPr>
        </p:nvSpPr>
        <p:spPr>
          <a:xfrm>
            <a:off x="161925" y="781050"/>
            <a:ext cx="11868150" cy="6457950"/>
          </a:xfrm>
        </p:spPr>
        <p:txBody>
          <a:bodyPr>
            <a:normAutofit/>
          </a:bodyPr>
          <a:lstStyle/>
          <a:p>
            <a:pPr algn="just"/>
            <a:r>
              <a:rPr lang="en-US" sz="2800" dirty="0"/>
              <a:t>These systems filter, compress, and track critical data; </a:t>
            </a:r>
            <a:r>
              <a:rPr lang="en-GB" sz="2800" dirty="0"/>
              <a:t>emphasising</a:t>
            </a:r>
            <a:r>
              <a:rPr lang="en-US" sz="2800" dirty="0"/>
              <a:t> the reduction of time and effort required to obtain information useful to strategic management. </a:t>
            </a:r>
          </a:p>
          <a:p>
            <a:pPr algn="just"/>
            <a:r>
              <a:rPr lang="en-US" sz="2800" dirty="0"/>
              <a:t>They employ advanced graphics software to provide highly visual and easy-to-use representations of complex information and current trends, but they tend not to provide analytical models. </a:t>
            </a:r>
          </a:p>
          <a:p>
            <a:pPr algn="just"/>
            <a:r>
              <a:rPr lang="en-US" sz="2800" dirty="0"/>
              <a:t>EIS allow the user to look at specific data that has been </a:t>
            </a:r>
            <a:r>
              <a:rPr lang="en-US" sz="2800" dirty="0" err="1"/>
              <a:t>summarised</a:t>
            </a:r>
            <a:r>
              <a:rPr lang="en-US" sz="2800" dirty="0"/>
              <a:t> from lower levels within the </a:t>
            </a:r>
            <a:r>
              <a:rPr lang="en-US" sz="2800" dirty="0" err="1"/>
              <a:t>organisation</a:t>
            </a:r>
            <a:r>
              <a:rPr lang="en-US" sz="2800" dirty="0"/>
              <a:t> and then drill down to increase the level of detail, which is provided by the information systems in different areas. </a:t>
            </a:r>
          </a:p>
          <a:p>
            <a:endParaRPr lang="en-MW" sz="2800" dirty="0"/>
          </a:p>
        </p:txBody>
      </p:sp>
    </p:spTree>
    <p:extLst>
      <p:ext uri="{BB962C8B-B14F-4D97-AF65-F5344CB8AC3E}">
        <p14:creationId xmlns:p14="http://schemas.microsoft.com/office/powerpoint/2010/main" val="18532123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01942-03D6-4107-A66C-DBBD67C6823D}"/>
              </a:ext>
            </a:extLst>
          </p:cNvPr>
          <p:cNvSpPr>
            <a:spLocks noGrp="1"/>
          </p:cNvSpPr>
          <p:nvPr>
            <p:ph type="title"/>
          </p:nvPr>
        </p:nvSpPr>
        <p:spPr>
          <a:xfrm>
            <a:off x="919119" y="1"/>
            <a:ext cx="10353761" cy="829340"/>
          </a:xfrm>
        </p:spPr>
        <p:txBody>
          <a:bodyPr/>
          <a:lstStyle/>
          <a:p>
            <a:r>
              <a:rPr lang="en-US" dirty="0"/>
              <a:t>EXPERT SYSTEMS</a:t>
            </a:r>
            <a:endParaRPr lang="en-MW" dirty="0"/>
          </a:p>
        </p:txBody>
      </p:sp>
      <p:sp>
        <p:nvSpPr>
          <p:cNvPr id="3" name="Content Placeholder 2">
            <a:extLst>
              <a:ext uri="{FF2B5EF4-FFF2-40B4-BE49-F238E27FC236}">
                <a16:creationId xmlns:a16="http://schemas.microsoft.com/office/drawing/2014/main" id="{DFB35B6B-77A6-4406-AB2D-073E6C6CACA1}"/>
              </a:ext>
            </a:extLst>
          </p:cNvPr>
          <p:cNvSpPr>
            <a:spLocks noGrp="1"/>
          </p:cNvSpPr>
          <p:nvPr>
            <p:ph idx="1"/>
          </p:nvPr>
        </p:nvSpPr>
        <p:spPr>
          <a:xfrm>
            <a:off x="171450" y="829341"/>
            <a:ext cx="11810999" cy="5876259"/>
          </a:xfrm>
        </p:spPr>
        <p:txBody>
          <a:bodyPr>
            <a:normAutofit lnSpcReduction="10000"/>
          </a:bodyPr>
          <a:lstStyle/>
          <a:p>
            <a:pPr algn="just"/>
            <a:r>
              <a:rPr lang="en-US" sz="2800" dirty="0"/>
              <a:t>An expert system is a computer program that tries to emulate human reasoning. It does this by combining the knowledge of human experts and then, following a set of rules, it draws inferences. </a:t>
            </a:r>
          </a:p>
          <a:p>
            <a:pPr algn="just"/>
            <a:r>
              <a:rPr lang="en-US" sz="2800" dirty="0"/>
              <a:t>An expert system is made up of three parts: a </a:t>
            </a:r>
            <a:r>
              <a:rPr lang="en-US" sz="2800" u="sng" dirty="0"/>
              <a:t>knowledge base</a:t>
            </a:r>
            <a:r>
              <a:rPr lang="en-US" sz="2800" dirty="0"/>
              <a:t>; an </a:t>
            </a:r>
            <a:r>
              <a:rPr lang="en-US" sz="2800" u="sng" dirty="0"/>
              <a:t>inference engine</a:t>
            </a:r>
            <a:r>
              <a:rPr lang="en-US" sz="2800" dirty="0"/>
              <a:t>; a </a:t>
            </a:r>
            <a:r>
              <a:rPr lang="en-US" sz="2800" u="sng" dirty="0"/>
              <a:t>user interface</a:t>
            </a:r>
            <a:r>
              <a:rPr lang="en-US" sz="2800" dirty="0"/>
              <a:t>. </a:t>
            </a:r>
          </a:p>
          <a:p>
            <a:pPr algn="just"/>
            <a:r>
              <a:rPr lang="en-US" sz="2800" dirty="0"/>
              <a:t>The </a:t>
            </a:r>
            <a:r>
              <a:rPr lang="en-US" sz="2800" u="sng" dirty="0"/>
              <a:t>knowledge base </a:t>
            </a:r>
            <a:r>
              <a:rPr lang="en-US" sz="2800" dirty="0"/>
              <a:t>stores all of the facts, rules and information needed to represent the knowledge of the expert. </a:t>
            </a:r>
          </a:p>
          <a:p>
            <a:pPr algn="just"/>
            <a:r>
              <a:rPr lang="en-US" sz="2800" dirty="0"/>
              <a:t>The </a:t>
            </a:r>
            <a:r>
              <a:rPr lang="en-US" sz="2800" u="sng" dirty="0"/>
              <a:t>inference engine </a:t>
            </a:r>
            <a:r>
              <a:rPr lang="en-US" sz="2800" dirty="0"/>
              <a:t>is the part of the expert system that interprets the rules and facts using backward and forward chaining to find solutions to user queries. </a:t>
            </a:r>
          </a:p>
          <a:p>
            <a:pPr algn="just"/>
            <a:r>
              <a:rPr lang="en-US" sz="2800" dirty="0"/>
              <a:t>The </a:t>
            </a:r>
            <a:r>
              <a:rPr lang="en-US" sz="2800" u="sng" dirty="0"/>
              <a:t>user interface </a:t>
            </a:r>
            <a:r>
              <a:rPr lang="en-US" sz="2800" dirty="0"/>
              <a:t>allows the user to enter new knowledge and query the system. </a:t>
            </a:r>
          </a:p>
        </p:txBody>
      </p:sp>
    </p:spTree>
    <p:extLst>
      <p:ext uri="{BB962C8B-B14F-4D97-AF65-F5344CB8AC3E}">
        <p14:creationId xmlns:p14="http://schemas.microsoft.com/office/powerpoint/2010/main" val="35233964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404EE8-EC62-4514-9A86-9E6C9FFC2B0D}"/>
              </a:ext>
            </a:extLst>
          </p:cNvPr>
          <p:cNvSpPr>
            <a:spLocks noGrp="1"/>
          </p:cNvSpPr>
          <p:nvPr>
            <p:ph idx="1"/>
          </p:nvPr>
        </p:nvSpPr>
        <p:spPr>
          <a:xfrm>
            <a:off x="400050" y="685800"/>
            <a:ext cx="11201400" cy="6038850"/>
          </a:xfrm>
        </p:spPr>
        <p:txBody>
          <a:bodyPr>
            <a:normAutofit/>
          </a:bodyPr>
          <a:lstStyle/>
          <a:p>
            <a:pPr marL="0" indent="0" algn="just">
              <a:buNone/>
            </a:pPr>
            <a:r>
              <a:rPr lang="en-US" sz="2400" b="1" dirty="0"/>
              <a:t>Reasons for expert systems in business: </a:t>
            </a:r>
          </a:p>
          <a:p>
            <a:pPr algn="just">
              <a:buFont typeface="Arial" panose="020B0604020202020204" pitchFamily="34" charset="0"/>
              <a:buChar char="•"/>
            </a:pPr>
            <a:r>
              <a:rPr lang="en-US" sz="2400" dirty="0"/>
              <a:t>To store information in an active form as </a:t>
            </a:r>
            <a:r>
              <a:rPr lang="en-US" sz="2400" dirty="0" err="1"/>
              <a:t>organisational</a:t>
            </a:r>
            <a:r>
              <a:rPr lang="en-US" sz="2400" dirty="0"/>
              <a:t> memory, creating an </a:t>
            </a:r>
            <a:r>
              <a:rPr lang="en-US" sz="2400" dirty="0" err="1"/>
              <a:t>organisational</a:t>
            </a:r>
            <a:r>
              <a:rPr lang="en-US" sz="2400" dirty="0"/>
              <a:t> knowledge base that many employees can examine and preserving expertise that might be lost when an acknowledged expert leaves the </a:t>
            </a:r>
            <a:r>
              <a:rPr lang="en-US" sz="2400" dirty="0" err="1"/>
              <a:t>organisation</a:t>
            </a:r>
            <a:endParaRPr lang="en-US" sz="2400" dirty="0"/>
          </a:p>
          <a:p>
            <a:pPr algn="just">
              <a:buFont typeface="Arial" panose="020B0604020202020204" pitchFamily="34" charset="0"/>
              <a:buChar char="•"/>
            </a:pPr>
            <a:r>
              <a:rPr lang="en-US" sz="2400" dirty="0"/>
              <a:t>To create a mechanism that is not subject to human feelings, such as fatigue and worry. This may be especially useful when jobs may be environmentally, physically or mentally dangerous to humans. These systems may also be useful advisers in times of crisis. </a:t>
            </a:r>
          </a:p>
          <a:p>
            <a:pPr algn="just">
              <a:buFont typeface="Arial" panose="020B0604020202020204" pitchFamily="34" charset="0"/>
              <a:buChar char="•"/>
            </a:pPr>
            <a:r>
              <a:rPr lang="en-US" sz="2400" dirty="0"/>
              <a:t>To enhance the </a:t>
            </a:r>
            <a:r>
              <a:rPr lang="en-US" sz="2400" dirty="0" err="1"/>
              <a:t>organisation’s</a:t>
            </a:r>
            <a:r>
              <a:rPr lang="en-US" sz="2400" dirty="0"/>
              <a:t> knowledge base by generating solutions to specific problems that are too substantial and complex to be </a:t>
            </a:r>
            <a:r>
              <a:rPr lang="en-US" sz="2400" dirty="0" err="1"/>
              <a:t>analysed</a:t>
            </a:r>
            <a:r>
              <a:rPr lang="en-US" sz="2400" dirty="0"/>
              <a:t> by human beings in a short period of time</a:t>
            </a:r>
          </a:p>
          <a:p>
            <a:endParaRPr lang="en-MW" sz="2400" dirty="0"/>
          </a:p>
        </p:txBody>
      </p:sp>
    </p:spTree>
    <p:extLst>
      <p:ext uri="{BB962C8B-B14F-4D97-AF65-F5344CB8AC3E}">
        <p14:creationId xmlns:p14="http://schemas.microsoft.com/office/powerpoint/2010/main" val="30304427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DFDC63-17FA-4B25-A44C-C284E9C4D831}"/>
              </a:ext>
            </a:extLst>
          </p:cNvPr>
          <p:cNvSpPr>
            <a:spLocks noGrp="1"/>
          </p:cNvSpPr>
          <p:nvPr>
            <p:ph idx="1"/>
          </p:nvPr>
        </p:nvSpPr>
        <p:spPr>
          <a:xfrm>
            <a:off x="1477926" y="400050"/>
            <a:ext cx="10275923" cy="6457950"/>
          </a:xfrm>
        </p:spPr>
        <p:txBody>
          <a:bodyPr>
            <a:normAutofit/>
          </a:bodyPr>
          <a:lstStyle/>
          <a:p>
            <a:r>
              <a:rPr lang="en-US" sz="2000" dirty="0"/>
              <a:t>Expert systems can be used in several areas of an </a:t>
            </a:r>
            <a:r>
              <a:rPr lang="en-US" sz="2000" dirty="0" err="1"/>
              <a:t>organisation</a:t>
            </a:r>
            <a:r>
              <a:rPr lang="en-US" sz="2000" dirty="0"/>
              <a:t>:</a:t>
            </a:r>
          </a:p>
          <a:p>
            <a:pPr marL="0" indent="0">
              <a:buNone/>
            </a:pPr>
            <a:r>
              <a:rPr lang="en-US" sz="2000" dirty="0"/>
              <a:t> </a:t>
            </a:r>
            <a:r>
              <a:rPr lang="en-US" sz="2000" b="1" dirty="0"/>
              <a:t>Accounting and finance</a:t>
            </a:r>
          </a:p>
          <a:p>
            <a:r>
              <a:rPr lang="en-US" sz="2000" dirty="0"/>
              <a:t>• In selecting forecasting models</a:t>
            </a:r>
          </a:p>
          <a:p>
            <a:r>
              <a:rPr lang="en-US" sz="2000" dirty="0"/>
              <a:t>• In providing tax advice</a:t>
            </a:r>
          </a:p>
          <a:p>
            <a:pPr marL="0" indent="0">
              <a:buNone/>
            </a:pPr>
            <a:r>
              <a:rPr lang="en-US" sz="2000" b="1" dirty="0"/>
              <a:t> Marketing</a:t>
            </a:r>
          </a:p>
          <a:p>
            <a:r>
              <a:rPr lang="en-US" sz="2000" dirty="0"/>
              <a:t>• In establishing sales quotas</a:t>
            </a:r>
          </a:p>
          <a:p>
            <a:r>
              <a:rPr lang="en-US" sz="2000" dirty="0"/>
              <a:t>• In responding to customer inquiries</a:t>
            </a:r>
          </a:p>
          <a:p>
            <a:pPr marL="0" indent="0">
              <a:buNone/>
            </a:pPr>
            <a:r>
              <a:rPr lang="en-US" sz="2000" b="1" dirty="0"/>
              <a:t>Manufacturing</a:t>
            </a:r>
          </a:p>
          <a:p>
            <a:r>
              <a:rPr lang="en-US" sz="2000" dirty="0"/>
              <a:t>• In determining whether process is running correctly</a:t>
            </a:r>
          </a:p>
          <a:p>
            <a:r>
              <a:rPr lang="en-US" sz="2000" dirty="0"/>
              <a:t>• In </a:t>
            </a:r>
            <a:r>
              <a:rPr lang="en-US" sz="2000" dirty="0" err="1"/>
              <a:t>analysing</a:t>
            </a:r>
            <a:r>
              <a:rPr lang="en-US" sz="2000" dirty="0"/>
              <a:t> quality and providing corrective actions</a:t>
            </a:r>
          </a:p>
          <a:p>
            <a:r>
              <a:rPr lang="en-US" sz="2000" dirty="0"/>
              <a:t>• In product design and layout</a:t>
            </a:r>
          </a:p>
          <a:p>
            <a:pPr marL="0" indent="0">
              <a:buNone/>
            </a:pPr>
            <a:r>
              <a:rPr lang="en-US" sz="2000" dirty="0"/>
              <a:t> </a:t>
            </a:r>
            <a:r>
              <a:rPr lang="en-US" sz="2000" b="1" dirty="0"/>
              <a:t>Others</a:t>
            </a:r>
          </a:p>
          <a:p>
            <a:r>
              <a:rPr lang="en-US" sz="2000" dirty="0"/>
              <a:t>• In assessing project proposals, </a:t>
            </a:r>
            <a:r>
              <a:rPr lang="en-US" sz="2000" dirty="0" err="1"/>
              <a:t>etc</a:t>
            </a:r>
            <a:endParaRPr lang="en-MW" sz="2000" dirty="0"/>
          </a:p>
        </p:txBody>
      </p:sp>
    </p:spTree>
    <p:extLst>
      <p:ext uri="{BB962C8B-B14F-4D97-AF65-F5344CB8AC3E}">
        <p14:creationId xmlns:p14="http://schemas.microsoft.com/office/powerpoint/2010/main" val="3252848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DD3BA-92A6-4FB1-9FA8-5D4B5EC03BDD}"/>
              </a:ext>
            </a:extLst>
          </p:cNvPr>
          <p:cNvSpPr>
            <a:spLocks noGrp="1"/>
          </p:cNvSpPr>
          <p:nvPr>
            <p:ph type="title"/>
          </p:nvPr>
        </p:nvSpPr>
        <p:spPr>
          <a:xfrm>
            <a:off x="552451" y="624110"/>
            <a:ext cx="10952162" cy="938876"/>
          </a:xfrm>
        </p:spPr>
        <p:txBody>
          <a:bodyPr/>
          <a:lstStyle/>
          <a:p>
            <a:r>
              <a:rPr lang="en-US" dirty="0"/>
              <a:t>OFFICE AUTOMATION SYSTEMS</a:t>
            </a:r>
            <a:endParaRPr lang="en-MW" dirty="0"/>
          </a:p>
        </p:txBody>
      </p:sp>
      <p:sp>
        <p:nvSpPr>
          <p:cNvPr id="3" name="Content Placeholder 2">
            <a:extLst>
              <a:ext uri="{FF2B5EF4-FFF2-40B4-BE49-F238E27FC236}">
                <a16:creationId xmlns:a16="http://schemas.microsoft.com/office/drawing/2014/main" id="{8CFA017E-EA27-409D-927A-112388D84BD5}"/>
              </a:ext>
            </a:extLst>
          </p:cNvPr>
          <p:cNvSpPr>
            <a:spLocks noGrp="1"/>
          </p:cNvSpPr>
          <p:nvPr>
            <p:ph idx="1"/>
          </p:nvPr>
        </p:nvSpPr>
        <p:spPr>
          <a:xfrm>
            <a:off x="552450" y="1562986"/>
            <a:ext cx="10715107" cy="4685414"/>
          </a:xfrm>
        </p:spPr>
        <p:txBody>
          <a:bodyPr>
            <a:normAutofit/>
          </a:bodyPr>
          <a:lstStyle/>
          <a:p>
            <a:r>
              <a:rPr lang="en-US" sz="2800" dirty="0"/>
              <a:t>Office automation is the integration of computer, telecommunications and office equipment technologies to improve the execution of business functions through increasing the productivity, effectiveness and working conditions of office support.</a:t>
            </a:r>
          </a:p>
          <a:p>
            <a:r>
              <a:rPr lang="en-US" sz="2800" dirty="0"/>
              <a:t>The concept of office automation encompasses the application of computer and communication technology to improve the productivity of all types of office workers including clerical, administrative, professional and executive.</a:t>
            </a:r>
            <a:endParaRPr lang="en-MW" sz="2800" dirty="0"/>
          </a:p>
        </p:txBody>
      </p:sp>
    </p:spTree>
    <p:extLst>
      <p:ext uri="{BB962C8B-B14F-4D97-AF65-F5344CB8AC3E}">
        <p14:creationId xmlns:p14="http://schemas.microsoft.com/office/powerpoint/2010/main" val="22139487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BAE143-461E-4F88-8221-719DEF56E75C}"/>
              </a:ext>
            </a:extLst>
          </p:cNvPr>
          <p:cNvSpPr>
            <a:spLocks noGrp="1"/>
          </p:cNvSpPr>
          <p:nvPr>
            <p:ph idx="1"/>
          </p:nvPr>
        </p:nvSpPr>
        <p:spPr>
          <a:xfrm>
            <a:off x="381000" y="372140"/>
            <a:ext cx="11391900" cy="6103088"/>
          </a:xfrm>
        </p:spPr>
        <p:txBody>
          <a:bodyPr>
            <a:normAutofit/>
          </a:bodyPr>
          <a:lstStyle/>
          <a:p>
            <a:pPr algn="l"/>
            <a:r>
              <a:rPr lang="en-US" sz="2000" b="0" i="0" u="none" strike="noStrike" baseline="0" dirty="0"/>
              <a:t>Help people perform personal record keeping, writing, and calculations efficiently.</a:t>
            </a:r>
          </a:p>
          <a:p>
            <a:pPr algn="l"/>
            <a:r>
              <a:rPr lang="en-US" sz="2000" b="0" i="0" u="none" strike="noStrike" baseline="0" dirty="0"/>
              <a:t>Aim is to improve the productivity of managers at various levels of management by providing secretarial assistance and better communication facilities.</a:t>
            </a:r>
          </a:p>
          <a:p>
            <a:pPr marL="0" indent="0" algn="l">
              <a:buNone/>
            </a:pPr>
            <a:r>
              <a:rPr lang="en-US" sz="2000" b="1" i="0" u="none" strike="noStrike" baseline="0" dirty="0"/>
              <a:t>Main types of tools include:</a:t>
            </a:r>
          </a:p>
          <a:p>
            <a:pPr algn="l"/>
            <a:r>
              <a:rPr lang="en-US" sz="2000" b="0" i="0" u="none" strike="noStrike" baseline="0" dirty="0"/>
              <a:t>• Spreadsheet programs</a:t>
            </a:r>
          </a:p>
          <a:p>
            <a:pPr algn="l"/>
            <a:r>
              <a:rPr lang="en-US" sz="2000" b="0" i="0" u="none" strike="noStrike" baseline="0" dirty="0"/>
              <a:t>• Text &amp; image processing systems</a:t>
            </a:r>
          </a:p>
          <a:p>
            <a:pPr algn="l"/>
            <a:r>
              <a:rPr lang="en-US" sz="2000" b="0" i="0" u="none" strike="noStrike" baseline="0" dirty="0"/>
              <a:t>• Presentation packages</a:t>
            </a:r>
          </a:p>
          <a:p>
            <a:pPr algn="l"/>
            <a:r>
              <a:rPr lang="en-US" sz="2000" b="0" i="0" u="none" strike="noStrike" baseline="0" dirty="0"/>
              <a:t>• Personal database systems and note-taking systems</a:t>
            </a:r>
          </a:p>
          <a:p>
            <a:pPr marL="0" indent="0" algn="l">
              <a:buNone/>
            </a:pPr>
            <a:r>
              <a:rPr lang="en-US" sz="2000" b="1" i="0" u="none" strike="noStrike" baseline="0" dirty="0"/>
              <a:t>Examples:</a:t>
            </a:r>
          </a:p>
          <a:p>
            <a:pPr algn="l"/>
            <a:r>
              <a:rPr lang="en-US" sz="2000" b="0" i="0" u="none" strike="noStrike" baseline="0" dirty="0"/>
              <a:t>• Communicating and scheduling</a:t>
            </a:r>
          </a:p>
          <a:p>
            <a:pPr algn="l"/>
            <a:r>
              <a:rPr lang="en-US" sz="2000" b="0" i="0" u="none" strike="noStrike" baseline="0" dirty="0"/>
              <a:t>• Document preparation</a:t>
            </a:r>
          </a:p>
          <a:p>
            <a:pPr algn="l"/>
            <a:r>
              <a:rPr lang="en-US" sz="2000" b="0" i="0" u="none" strike="noStrike" baseline="0" dirty="0"/>
              <a:t>• Analyzing data</a:t>
            </a:r>
          </a:p>
          <a:p>
            <a:pPr algn="l"/>
            <a:r>
              <a:rPr lang="en-US" sz="2000" b="0" i="0" u="none" strike="noStrike" baseline="0" dirty="0"/>
              <a:t>• Consolidating information</a:t>
            </a:r>
            <a:endParaRPr lang="en-MW" sz="2000" dirty="0"/>
          </a:p>
        </p:txBody>
      </p:sp>
    </p:spTree>
    <p:extLst>
      <p:ext uri="{BB962C8B-B14F-4D97-AF65-F5344CB8AC3E}">
        <p14:creationId xmlns:p14="http://schemas.microsoft.com/office/powerpoint/2010/main" val="17937801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ED287-0F85-42E1-BDEC-0F4951C7DF87}"/>
              </a:ext>
            </a:extLst>
          </p:cNvPr>
          <p:cNvSpPr>
            <a:spLocks noGrp="1"/>
          </p:cNvSpPr>
          <p:nvPr>
            <p:ph type="title"/>
          </p:nvPr>
        </p:nvSpPr>
        <p:spPr>
          <a:xfrm>
            <a:off x="0" y="87109"/>
            <a:ext cx="11982450" cy="1093105"/>
          </a:xfrm>
        </p:spPr>
        <p:txBody>
          <a:bodyPr>
            <a:noAutofit/>
          </a:bodyPr>
          <a:lstStyle/>
          <a:p>
            <a:r>
              <a:rPr lang="en-US" sz="3200" dirty="0"/>
              <a:t>COMPONENTS OF OFFICE AUTOMATION SYSTEM AND THEIR</a:t>
            </a:r>
            <a:br>
              <a:rPr lang="en-US" sz="3200" dirty="0"/>
            </a:br>
            <a:r>
              <a:rPr lang="en-US" sz="3200" dirty="0"/>
              <a:t>FUNCTIONS</a:t>
            </a:r>
            <a:endParaRPr lang="en-MW" sz="3200" dirty="0"/>
          </a:p>
        </p:txBody>
      </p:sp>
      <p:sp>
        <p:nvSpPr>
          <p:cNvPr id="3" name="Content Placeholder 2">
            <a:extLst>
              <a:ext uri="{FF2B5EF4-FFF2-40B4-BE49-F238E27FC236}">
                <a16:creationId xmlns:a16="http://schemas.microsoft.com/office/drawing/2014/main" id="{1292E1DB-72C0-4312-B0AF-B47047B46BAD}"/>
              </a:ext>
            </a:extLst>
          </p:cNvPr>
          <p:cNvSpPr>
            <a:spLocks noGrp="1"/>
          </p:cNvSpPr>
          <p:nvPr>
            <p:ph idx="1"/>
          </p:nvPr>
        </p:nvSpPr>
        <p:spPr/>
        <p:txBody>
          <a:bodyPr/>
          <a:lstStyle/>
          <a:p>
            <a:endParaRPr lang="en-MW"/>
          </a:p>
        </p:txBody>
      </p:sp>
      <p:pic>
        <p:nvPicPr>
          <p:cNvPr id="5" name="Picture 4">
            <a:extLst>
              <a:ext uri="{FF2B5EF4-FFF2-40B4-BE49-F238E27FC236}">
                <a16:creationId xmlns:a16="http://schemas.microsoft.com/office/drawing/2014/main" id="{A6991B02-338F-4F17-A117-B9E55FA0BB2A}"/>
              </a:ext>
            </a:extLst>
          </p:cNvPr>
          <p:cNvPicPr>
            <a:picLocks noChangeAspect="1"/>
          </p:cNvPicPr>
          <p:nvPr/>
        </p:nvPicPr>
        <p:blipFill rotWithShape="1">
          <a:blip r:embed="rId2"/>
          <a:srcRect l="14218" t="18318" r="18595" b="15539"/>
          <a:stretch/>
        </p:blipFill>
        <p:spPr>
          <a:xfrm>
            <a:off x="152400" y="1389482"/>
            <a:ext cx="11887200" cy="5190023"/>
          </a:xfrm>
          <a:prstGeom prst="rect">
            <a:avLst/>
          </a:prstGeom>
        </p:spPr>
      </p:pic>
    </p:spTree>
    <p:extLst>
      <p:ext uri="{BB962C8B-B14F-4D97-AF65-F5344CB8AC3E}">
        <p14:creationId xmlns:p14="http://schemas.microsoft.com/office/powerpoint/2010/main" val="4888483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7F4CB-E2C1-4E2A-8083-3C069D727EAC}"/>
              </a:ext>
            </a:extLst>
          </p:cNvPr>
          <p:cNvSpPr>
            <a:spLocks noGrp="1"/>
          </p:cNvSpPr>
          <p:nvPr>
            <p:ph type="title"/>
          </p:nvPr>
        </p:nvSpPr>
        <p:spPr>
          <a:xfrm>
            <a:off x="913796" y="0"/>
            <a:ext cx="10353761" cy="1326321"/>
          </a:xfrm>
        </p:spPr>
        <p:txBody>
          <a:bodyPr/>
          <a:lstStyle/>
          <a:p>
            <a:r>
              <a:rPr lang="en-US" dirty="0"/>
              <a:t>System Development Life Cycle</a:t>
            </a:r>
            <a:endParaRPr lang="en-MW" dirty="0"/>
          </a:p>
        </p:txBody>
      </p:sp>
      <p:sp>
        <p:nvSpPr>
          <p:cNvPr id="3" name="Content Placeholder 2">
            <a:extLst>
              <a:ext uri="{FF2B5EF4-FFF2-40B4-BE49-F238E27FC236}">
                <a16:creationId xmlns:a16="http://schemas.microsoft.com/office/drawing/2014/main" id="{4489EF56-437F-41A9-98A4-3BA5CCD83FC4}"/>
              </a:ext>
            </a:extLst>
          </p:cNvPr>
          <p:cNvSpPr>
            <a:spLocks noGrp="1"/>
          </p:cNvSpPr>
          <p:nvPr>
            <p:ph idx="1"/>
          </p:nvPr>
        </p:nvSpPr>
        <p:spPr>
          <a:xfrm>
            <a:off x="209550" y="895350"/>
            <a:ext cx="11334750" cy="5962650"/>
          </a:xfrm>
        </p:spPr>
        <p:txBody>
          <a:bodyPr>
            <a:normAutofit/>
          </a:bodyPr>
          <a:lstStyle/>
          <a:p>
            <a:pPr marL="0" indent="0">
              <a:buNone/>
            </a:pPr>
            <a:r>
              <a:rPr lang="en-US" sz="2400" dirty="0"/>
              <a:t>A system development life cycle or SDLC is essentially a project management model. </a:t>
            </a:r>
          </a:p>
          <a:p>
            <a:pPr marL="0" indent="0">
              <a:buNone/>
            </a:pPr>
            <a:r>
              <a:rPr lang="en-US" sz="2400" dirty="0"/>
              <a:t>It defines different stages that are necessary to bring a project from its initial idea or conception all the way to deployment and later maintenance. </a:t>
            </a:r>
          </a:p>
          <a:p>
            <a:pPr marL="0" indent="0">
              <a:buNone/>
            </a:pPr>
            <a:r>
              <a:rPr lang="en-US" sz="2400" b="1" dirty="0"/>
              <a:t>Advantages and disadvantages of SDLC</a:t>
            </a:r>
          </a:p>
          <a:p>
            <a:r>
              <a:rPr lang="en-US" sz="2400" dirty="0"/>
              <a:t>Benefits of abiding by a clearly defined SDLC model include:</a:t>
            </a:r>
          </a:p>
          <a:p>
            <a:pPr>
              <a:buFont typeface="Arial" panose="020B0604020202020204" pitchFamily="34" charset="0"/>
              <a:buChar char="•"/>
            </a:pPr>
            <a:r>
              <a:rPr lang="en-US" sz="2400" dirty="0"/>
              <a:t>Having a clear view of an entire project, workers involved, estimated costs and timelines.</a:t>
            </a:r>
          </a:p>
          <a:p>
            <a:pPr>
              <a:buFont typeface="Arial" panose="020B0604020202020204" pitchFamily="34" charset="0"/>
              <a:buChar char="•"/>
            </a:pPr>
            <a:r>
              <a:rPr lang="en-US" sz="2400" dirty="0"/>
              <a:t>Gives project managers a projected base cost of the project.</a:t>
            </a:r>
          </a:p>
          <a:p>
            <a:pPr>
              <a:buFont typeface="Arial" panose="020B0604020202020204" pitchFamily="34" charset="0"/>
              <a:buChar char="•"/>
            </a:pPr>
            <a:r>
              <a:rPr lang="en-US" sz="2400" dirty="0"/>
              <a:t>Goals and standards are clearly defined.</a:t>
            </a:r>
          </a:p>
          <a:p>
            <a:pPr>
              <a:buFont typeface="Arial" panose="020B0604020202020204" pitchFamily="34" charset="0"/>
              <a:buChar char="•"/>
            </a:pPr>
            <a:r>
              <a:rPr lang="en-US" sz="2400" dirty="0"/>
              <a:t>Developers can move back a step if something does not go as expected.</a:t>
            </a:r>
          </a:p>
          <a:p>
            <a:endParaRPr lang="en-MW" dirty="0"/>
          </a:p>
        </p:txBody>
      </p:sp>
    </p:spTree>
    <p:extLst>
      <p:ext uri="{BB962C8B-B14F-4D97-AF65-F5344CB8AC3E}">
        <p14:creationId xmlns:p14="http://schemas.microsoft.com/office/powerpoint/2010/main" val="20935826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320E35-BCA0-4AEA-9224-E0754F7476C0}"/>
              </a:ext>
            </a:extLst>
          </p:cNvPr>
          <p:cNvSpPr>
            <a:spLocks noGrp="1"/>
          </p:cNvSpPr>
          <p:nvPr>
            <p:ph idx="1"/>
          </p:nvPr>
        </p:nvSpPr>
        <p:spPr>
          <a:xfrm>
            <a:off x="476250" y="285750"/>
            <a:ext cx="10791307" cy="6572250"/>
          </a:xfrm>
        </p:spPr>
        <p:txBody>
          <a:bodyPr>
            <a:normAutofit/>
          </a:bodyPr>
          <a:lstStyle/>
          <a:p>
            <a:pPr marL="0" indent="0">
              <a:buNone/>
            </a:pPr>
            <a:r>
              <a:rPr lang="en-US" sz="2800" b="1" dirty="0"/>
              <a:t>Disadvantages:</a:t>
            </a:r>
          </a:p>
          <a:p>
            <a:pPr>
              <a:buFont typeface="Arial" panose="020B0604020202020204" pitchFamily="34" charset="0"/>
              <a:buChar char="•"/>
            </a:pPr>
            <a:r>
              <a:rPr lang="en-US" sz="2800" dirty="0"/>
              <a:t>Due to assumptions made at the beginning of a project, if an unexpected circumstance complicates the development of a system, then it may stockpile into more complications down the road. As an example, if newly installed hardware does not work correctly, then it may increase the time a system is in development, increasing the cost.</a:t>
            </a:r>
          </a:p>
          <a:p>
            <a:pPr>
              <a:buFont typeface="Arial" panose="020B0604020202020204" pitchFamily="34" charset="0"/>
              <a:buChar char="•"/>
            </a:pPr>
            <a:r>
              <a:rPr lang="en-US" sz="2800" dirty="0"/>
              <a:t>Some methods are not flexible.</a:t>
            </a:r>
          </a:p>
          <a:p>
            <a:pPr>
              <a:buFont typeface="Arial" panose="020B0604020202020204" pitchFamily="34" charset="0"/>
              <a:buChar char="•"/>
            </a:pPr>
            <a:r>
              <a:rPr lang="en-US" sz="2800" dirty="0"/>
              <a:t>It can be complicated to estimate the overall cost at the beginning of a project.</a:t>
            </a:r>
          </a:p>
          <a:p>
            <a:pPr>
              <a:buFont typeface="Arial" panose="020B0604020202020204" pitchFamily="34" charset="0"/>
              <a:buChar char="•"/>
            </a:pPr>
            <a:r>
              <a:rPr lang="en-US" sz="2800" dirty="0"/>
              <a:t>Testing at the end of development may slow down some development teams.</a:t>
            </a:r>
          </a:p>
          <a:p>
            <a:endParaRPr lang="en-MW" sz="2400" dirty="0"/>
          </a:p>
        </p:txBody>
      </p:sp>
    </p:spTree>
    <p:extLst>
      <p:ext uri="{BB962C8B-B14F-4D97-AF65-F5344CB8AC3E}">
        <p14:creationId xmlns:p14="http://schemas.microsoft.com/office/powerpoint/2010/main" val="9854686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F5AF7-FDD8-434F-A101-398692A89A47}"/>
              </a:ext>
            </a:extLst>
          </p:cNvPr>
          <p:cNvSpPr>
            <a:spLocks noGrp="1"/>
          </p:cNvSpPr>
          <p:nvPr>
            <p:ph type="title"/>
          </p:nvPr>
        </p:nvSpPr>
        <p:spPr>
          <a:xfrm>
            <a:off x="285146" y="209550"/>
            <a:ext cx="10353761" cy="1326321"/>
          </a:xfrm>
        </p:spPr>
        <p:txBody>
          <a:bodyPr/>
          <a:lstStyle/>
          <a:p>
            <a:r>
              <a:rPr lang="en-US" dirty="0"/>
              <a:t>SDLC models</a:t>
            </a:r>
            <a:br>
              <a:rPr lang="en-US" dirty="0"/>
            </a:br>
            <a:endParaRPr lang="en-MW" dirty="0"/>
          </a:p>
        </p:txBody>
      </p:sp>
      <p:sp>
        <p:nvSpPr>
          <p:cNvPr id="3" name="Content Placeholder 2">
            <a:extLst>
              <a:ext uri="{FF2B5EF4-FFF2-40B4-BE49-F238E27FC236}">
                <a16:creationId xmlns:a16="http://schemas.microsoft.com/office/drawing/2014/main" id="{6FE70096-2115-4898-BC39-6BE3C9F279B9}"/>
              </a:ext>
            </a:extLst>
          </p:cNvPr>
          <p:cNvSpPr>
            <a:spLocks noGrp="1"/>
          </p:cNvSpPr>
          <p:nvPr>
            <p:ph idx="1"/>
          </p:nvPr>
        </p:nvSpPr>
        <p:spPr>
          <a:xfrm>
            <a:off x="552450" y="1085850"/>
            <a:ext cx="10715107" cy="5162550"/>
          </a:xfrm>
        </p:spPr>
        <p:txBody>
          <a:bodyPr>
            <a:normAutofit/>
          </a:bodyPr>
          <a:lstStyle/>
          <a:p>
            <a:r>
              <a:rPr lang="en-US" sz="2400" dirty="0"/>
              <a:t>Various SDLC methodologies have been developed to guide the processes involved, including the </a:t>
            </a:r>
          </a:p>
          <a:p>
            <a:pPr lvl="1"/>
            <a:r>
              <a:rPr lang="en-US" sz="2400" dirty="0"/>
              <a:t>the Waterfall model</a:t>
            </a:r>
          </a:p>
          <a:p>
            <a:pPr lvl="1"/>
            <a:r>
              <a:rPr lang="en-US" sz="2400" dirty="0"/>
              <a:t>rapid application development (</a:t>
            </a:r>
            <a:r>
              <a:rPr lang="en-US" sz="2400" dirty="0">
                <a:hlinkClick r:id="rId2"/>
              </a:rPr>
              <a:t>RAD</a:t>
            </a:r>
            <a:r>
              <a:rPr lang="en-US" sz="2400" dirty="0"/>
              <a:t>)</a:t>
            </a:r>
          </a:p>
          <a:p>
            <a:pPr lvl="1"/>
            <a:r>
              <a:rPr lang="en-US" sz="2400" dirty="0"/>
              <a:t>joint application development (</a:t>
            </a:r>
            <a:r>
              <a:rPr lang="en-US" sz="2400" dirty="0">
                <a:hlinkClick r:id="rId3"/>
              </a:rPr>
              <a:t>JAD</a:t>
            </a:r>
            <a:r>
              <a:rPr lang="en-US" sz="2400" dirty="0"/>
              <a:t>)</a:t>
            </a:r>
          </a:p>
          <a:p>
            <a:pPr lvl="1"/>
            <a:r>
              <a:rPr lang="en-US" sz="2400" dirty="0"/>
              <a:t>the fountain model, </a:t>
            </a:r>
          </a:p>
          <a:p>
            <a:pPr lvl="1"/>
            <a:r>
              <a:rPr lang="en-US" sz="2400" dirty="0"/>
              <a:t>the </a:t>
            </a:r>
            <a:r>
              <a:rPr lang="en-US" sz="2400" dirty="0">
                <a:hlinkClick r:id="rId4"/>
              </a:rPr>
              <a:t>spiral model</a:t>
            </a:r>
            <a:r>
              <a:rPr lang="en-US" sz="2400" dirty="0"/>
              <a:t>, </a:t>
            </a:r>
          </a:p>
          <a:p>
            <a:pPr lvl="1"/>
            <a:r>
              <a:rPr lang="en-US" sz="2400" dirty="0">
                <a:hlinkClick r:id="rId5"/>
              </a:rPr>
              <a:t>Agile software development</a:t>
            </a:r>
            <a:r>
              <a:rPr lang="en-US" sz="2400" dirty="0"/>
              <a:t>.</a:t>
            </a:r>
          </a:p>
          <a:p>
            <a:endParaRPr lang="en-MW" dirty="0"/>
          </a:p>
        </p:txBody>
      </p:sp>
    </p:spTree>
    <p:extLst>
      <p:ext uri="{BB962C8B-B14F-4D97-AF65-F5344CB8AC3E}">
        <p14:creationId xmlns:p14="http://schemas.microsoft.com/office/powerpoint/2010/main" val="11900787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CADA6-0BC2-4783-A9FC-4DB5A57E7249}"/>
              </a:ext>
            </a:extLst>
          </p:cNvPr>
          <p:cNvSpPr>
            <a:spLocks noGrp="1"/>
          </p:cNvSpPr>
          <p:nvPr>
            <p:ph type="title"/>
          </p:nvPr>
        </p:nvSpPr>
        <p:spPr>
          <a:xfrm>
            <a:off x="776177" y="624110"/>
            <a:ext cx="10728435" cy="736857"/>
          </a:xfrm>
        </p:spPr>
        <p:txBody>
          <a:bodyPr>
            <a:normAutofit fontScale="90000"/>
          </a:bodyPr>
          <a:lstStyle/>
          <a:p>
            <a:r>
              <a:rPr lang="en-US" sz="3600" dirty="0"/>
              <a:t>Waterfall model</a:t>
            </a:r>
            <a:br>
              <a:rPr lang="en-US" sz="3600" dirty="0"/>
            </a:br>
            <a:endParaRPr lang="en-MW" dirty="0"/>
          </a:p>
        </p:txBody>
      </p:sp>
      <p:sp>
        <p:nvSpPr>
          <p:cNvPr id="3" name="Content Placeholder 2">
            <a:extLst>
              <a:ext uri="{FF2B5EF4-FFF2-40B4-BE49-F238E27FC236}">
                <a16:creationId xmlns:a16="http://schemas.microsoft.com/office/drawing/2014/main" id="{94C38423-C066-4031-975A-B14E63173032}"/>
              </a:ext>
            </a:extLst>
          </p:cNvPr>
          <p:cNvSpPr>
            <a:spLocks noGrp="1"/>
          </p:cNvSpPr>
          <p:nvPr>
            <p:ph idx="1"/>
          </p:nvPr>
        </p:nvSpPr>
        <p:spPr>
          <a:xfrm>
            <a:off x="946298" y="1360967"/>
            <a:ext cx="10558314" cy="4550255"/>
          </a:xfrm>
        </p:spPr>
        <p:txBody>
          <a:bodyPr>
            <a:normAutofit/>
          </a:bodyPr>
          <a:lstStyle/>
          <a:p>
            <a:r>
              <a:rPr lang="en-US" sz="2800" dirty="0"/>
              <a:t>Waterfall approach was first SDLC Model to be used widely in Software Engineering to ensure success of the project. </a:t>
            </a:r>
          </a:p>
          <a:p>
            <a:r>
              <a:rPr lang="en-US" sz="2800" dirty="0"/>
              <a:t>In "The Waterfall" approach, the whole process of software development is divided into separate phases. </a:t>
            </a:r>
          </a:p>
          <a:p>
            <a:r>
              <a:rPr lang="en-US" sz="2800" dirty="0"/>
              <a:t>In this Waterfall model, typically, the outcome of one phase acts as the input for the next phase sequentially</a:t>
            </a:r>
            <a:r>
              <a:rPr lang="en-US" dirty="0"/>
              <a:t>.</a:t>
            </a:r>
            <a:endParaRPr lang="en-MW" dirty="0"/>
          </a:p>
        </p:txBody>
      </p:sp>
    </p:spTree>
    <p:extLst>
      <p:ext uri="{BB962C8B-B14F-4D97-AF65-F5344CB8AC3E}">
        <p14:creationId xmlns:p14="http://schemas.microsoft.com/office/powerpoint/2010/main" val="28709850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66A2D-1D16-4310-BA33-3D5779EDD9C8}"/>
              </a:ext>
            </a:extLst>
          </p:cNvPr>
          <p:cNvSpPr>
            <a:spLocks noGrp="1"/>
          </p:cNvSpPr>
          <p:nvPr>
            <p:ph type="title"/>
          </p:nvPr>
        </p:nvSpPr>
        <p:spPr/>
        <p:txBody>
          <a:bodyPr/>
          <a:lstStyle/>
          <a:p>
            <a:endParaRPr lang="en-MW"/>
          </a:p>
        </p:txBody>
      </p:sp>
      <p:sp>
        <p:nvSpPr>
          <p:cNvPr id="3" name="Content Placeholder 2">
            <a:extLst>
              <a:ext uri="{FF2B5EF4-FFF2-40B4-BE49-F238E27FC236}">
                <a16:creationId xmlns:a16="http://schemas.microsoft.com/office/drawing/2014/main" id="{D11284BE-AD92-4B21-B5EE-2B04D1A61FE6}"/>
              </a:ext>
            </a:extLst>
          </p:cNvPr>
          <p:cNvSpPr>
            <a:spLocks noGrp="1"/>
          </p:cNvSpPr>
          <p:nvPr>
            <p:ph idx="1"/>
          </p:nvPr>
        </p:nvSpPr>
        <p:spPr/>
        <p:txBody>
          <a:bodyPr/>
          <a:lstStyle/>
          <a:p>
            <a:endParaRPr lang="en-MW"/>
          </a:p>
        </p:txBody>
      </p:sp>
      <p:pic>
        <p:nvPicPr>
          <p:cNvPr id="5" name="Picture 4">
            <a:extLst>
              <a:ext uri="{FF2B5EF4-FFF2-40B4-BE49-F238E27FC236}">
                <a16:creationId xmlns:a16="http://schemas.microsoft.com/office/drawing/2014/main" id="{C838A432-97E6-47DA-8B2F-E41AF1A91CB6}"/>
              </a:ext>
            </a:extLst>
          </p:cNvPr>
          <p:cNvPicPr>
            <a:picLocks noChangeAspect="1"/>
          </p:cNvPicPr>
          <p:nvPr/>
        </p:nvPicPr>
        <p:blipFill rotWithShape="1">
          <a:blip r:embed="rId2"/>
          <a:srcRect l="28125" t="43886" r="30156" b="6924"/>
          <a:stretch/>
        </p:blipFill>
        <p:spPr>
          <a:xfrm>
            <a:off x="1090050" y="113979"/>
            <a:ext cx="10001250" cy="6630042"/>
          </a:xfrm>
          <a:prstGeom prst="rect">
            <a:avLst/>
          </a:prstGeom>
        </p:spPr>
      </p:pic>
    </p:spTree>
    <p:extLst>
      <p:ext uri="{BB962C8B-B14F-4D97-AF65-F5344CB8AC3E}">
        <p14:creationId xmlns:p14="http://schemas.microsoft.com/office/powerpoint/2010/main" val="16637421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004EF1-386F-430E-B499-FA46B346A7D5}"/>
              </a:ext>
            </a:extLst>
          </p:cNvPr>
          <p:cNvSpPr>
            <a:spLocks noGrp="1"/>
          </p:cNvSpPr>
          <p:nvPr>
            <p:ph idx="1"/>
          </p:nvPr>
        </p:nvSpPr>
        <p:spPr>
          <a:xfrm>
            <a:off x="438150" y="723900"/>
            <a:ext cx="10829407" cy="5657850"/>
          </a:xfrm>
        </p:spPr>
        <p:txBody>
          <a:bodyPr>
            <a:normAutofit fontScale="92500"/>
          </a:bodyPr>
          <a:lstStyle/>
          <a:p>
            <a:r>
              <a:rPr lang="en-US" sz="2800" b="1" dirty="0"/>
              <a:t>Requirement Gathering and analysis </a:t>
            </a:r>
            <a:r>
              <a:rPr lang="en-US" sz="2800" dirty="0"/>
              <a:t>− All possible requirements of the system to be developed are captured in this phase and documented in a requirement specification document.</a:t>
            </a:r>
          </a:p>
          <a:p>
            <a:r>
              <a:rPr lang="en-US" sz="2800" b="1" dirty="0"/>
              <a:t>System Design </a:t>
            </a:r>
            <a:r>
              <a:rPr lang="en-US" sz="2800" dirty="0"/>
              <a:t>− The requirement specifications from first phase are studied in this phase and the system design is prepared. This system design helps in specifying hardware and system requirements and helps in defining the overall system architecture.</a:t>
            </a:r>
          </a:p>
          <a:p>
            <a:r>
              <a:rPr lang="en-US" sz="2800" b="1" dirty="0"/>
              <a:t>Implementation</a:t>
            </a:r>
            <a:r>
              <a:rPr lang="en-US" sz="2800" dirty="0"/>
              <a:t> − With inputs from the system design, the system is first developed in small programs called units, which are integrated in the next phase. Each unit is developed and tested for its functionality, which is referred to as Unit Testing.</a:t>
            </a:r>
            <a:endParaRPr lang="en-MW" sz="2800" dirty="0"/>
          </a:p>
        </p:txBody>
      </p:sp>
    </p:spTree>
    <p:extLst>
      <p:ext uri="{BB962C8B-B14F-4D97-AF65-F5344CB8AC3E}">
        <p14:creationId xmlns:p14="http://schemas.microsoft.com/office/powerpoint/2010/main" val="41775300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747393-92CB-49A4-90A0-80409F5ADC2E}"/>
              </a:ext>
            </a:extLst>
          </p:cNvPr>
          <p:cNvSpPr>
            <a:spLocks noGrp="1"/>
          </p:cNvSpPr>
          <p:nvPr>
            <p:ph idx="1"/>
          </p:nvPr>
        </p:nvSpPr>
        <p:spPr>
          <a:xfrm>
            <a:off x="495300" y="285750"/>
            <a:ext cx="10777581" cy="6362700"/>
          </a:xfrm>
        </p:spPr>
        <p:txBody>
          <a:bodyPr>
            <a:normAutofit/>
          </a:bodyPr>
          <a:lstStyle/>
          <a:p>
            <a:pPr marL="0" indent="0">
              <a:buNone/>
            </a:pPr>
            <a:r>
              <a:rPr lang="en-US" sz="2800" b="1" dirty="0"/>
              <a:t>Integration and Testing </a:t>
            </a:r>
            <a:r>
              <a:rPr lang="en-US" sz="2800" dirty="0"/>
              <a:t>− All the units developed in the implementation phase are integrated into a system after testing of each unit. Post integration the entire system is tested for any faults and failures.</a:t>
            </a:r>
          </a:p>
          <a:p>
            <a:pPr marL="0" indent="0">
              <a:buNone/>
            </a:pPr>
            <a:r>
              <a:rPr lang="en-US" sz="2800" b="1" dirty="0"/>
              <a:t>Deployment of system </a:t>
            </a:r>
            <a:r>
              <a:rPr lang="en-US" sz="2800" dirty="0"/>
              <a:t>− Once the functional and non-functional testing is done; the product is deployed in the customer environment or released into the market.</a:t>
            </a:r>
          </a:p>
          <a:p>
            <a:pPr marL="0" indent="0">
              <a:buNone/>
            </a:pPr>
            <a:r>
              <a:rPr lang="en-US" sz="2800" b="1" dirty="0"/>
              <a:t>Maintenance</a:t>
            </a:r>
            <a:r>
              <a:rPr lang="en-US" sz="2800" dirty="0"/>
              <a:t> − There are some issues which come up in the client environment. To fix those issues, patches are released. Also to enhance the product some better versions are released. Maintenance is done to deliver these changes in the customer environment.</a:t>
            </a:r>
            <a:endParaRPr lang="en-MW" sz="2800" dirty="0"/>
          </a:p>
        </p:txBody>
      </p:sp>
    </p:spTree>
    <p:extLst>
      <p:ext uri="{BB962C8B-B14F-4D97-AF65-F5344CB8AC3E}">
        <p14:creationId xmlns:p14="http://schemas.microsoft.com/office/powerpoint/2010/main" val="3605507045"/>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1914</TotalTime>
  <Words>2023</Words>
  <Application>Microsoft Office PowerPoint</Application>
  <PresentationFormat>Widescreen</PresentationFormat>
  <Paragraphs>177</Paragraphs>
  <Slides>39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Arial</vt:lpstr>
      <vt:lpstr>Century Gothic</vt:lpstr>
      <vt:lpstr>Times New Roman</vt:lpstr>
      <vt:lpstr>Wingdings</vt:lpstr>
      <vt:lpstr>Wingdings 3</vt:lpstr>
      <vt:lpstr>Wisp</vt:lpstr>
      <vt:lpstr>COMPUTER &amp; COMMUNICATION TECHNOLOGY.   BICT 1103</vt:lpstr>
      <vt:lpstr>What are information systems?</vt:lpstr>
      <vt:lpstr>Decision-Making Levels of an Organization</vt:lpstr>
      <vt:lpstr>TYPES OF INFORMATION SYSTEM</vt:lpstr>
      <vt:lpstr>PowerPoint Presentation</vt:lpstr>
      <vt:lpstr>PowerPoint Presentation</vt:lpstr>
      <vt:lpstr>TRANSACTION PROCESSING SYSTEM</vt:lpstr>
      <vt:lpstr>PowerPoint Presentation</vt:lpstr>
      <vt:lpstr>PowerPoint Presentation</vt:lpstr>
      <vt:lpstr>PowerPoint Presentation</vt:lpstr>
      <vt:lpstr>OBJECTIVES OF TPS</vt:lpstr>
      <vt:lpstr>PowerPoint Presentation</vt:lpstr>
      <vt:lpstr>MANAGEMENT INFORMATION SYSTEM</vt:lpstr>
      <vt:lpstr>PowerPoint Presentation</vt:lpstr>
      <vt:lpstr>PowerPoint Presentation</vt:lpstr>
      <vt:lpstr>OBJECTIVES OF MIS</vt:lpstr>
      <vt:lpstr>FUNCTIONS OF MIS</vt:lpstr>
      <vt:lpstr>PowerPoint Presentation</vt:lpstr>
      <vt:lpstr>DECISION SUPPORT SYSTEM</vt:lpstr>
      <vt:lpstr>PowerPoint Presentation</vt:lpstr>
      <vt:lpstr>PowerPoint Presentation</vt:lpstr>
      <vt:lpstr>PowerPoint Presentation</vt:lpstr>
      <vt:lpstr>PowerPoint Presentation</vt:lpstr>
      <vt:lpstr>PowerPoint Presentation</vt:lpstr>
      <vt:lpstr>EXECUTIVE INFORMATION SYSTEM</vt:lpstr>
      <vt:lpstr>EXECUTIVE INFORMATION SYSTEM</vt:lpstr>
      <vt:lpstr>EXPERT SYSTEMS</vt:lpstr>
      <vt:lpstr>PowerPoint Presentation</vt:lpstr>
      <vt:lpstr>PowerPoint Presentation</vt:lpstr>
      <vt:lpstr>OFFICE AUTOMATION SYSTEMS</vt:lpstr>
      <vt:lpstr>PowerPoint Presentation</vt:lpstr>
      <vt:lpstr>COMPONENTS OF OFFICE AUTOMATION SYSTEM AND THEIR FUNCTIONS</vt:lpstr>
      <vt:lpstr>System Development Life Cycle</vt:lpstr>
      <vt:lpstr>PowerPoint Presentation</vt:lpstr>
      <vt:lpstr>SDLC models </vt:lpstr>
      <vt:lpstr>Waterfall model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systems</dc:title>
  <dc:creator>Nyondo</dc:creator>
  <cp:lastModifiedBy>USER</cp:lastModifiedBy>
  <cp:revision>21</cp:revision>
  <dcterms:created xsi:type="dcterms:W3CDTF">2021-06-15T05:58:32Z</dcterms:created>
  <dcterms:modified xsi:type="dcterms:W3CDTF">2021-07-09T12:09:57Z</dcterms:modified>
</cp:coreProperties>
</file>