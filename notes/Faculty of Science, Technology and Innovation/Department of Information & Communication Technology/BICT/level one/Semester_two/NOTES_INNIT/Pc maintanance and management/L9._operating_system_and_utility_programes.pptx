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5"/>
  </p:sldMasterIdLst>
  <p:handoutMasterIdLst>
    <p:handoutMasterId r:id="rId47"/>
  </p:handoutMasterIdLst>
  <p:sldIdLst>
    <p:sldId id="256" r:id="rId6"/>
    <p:sldId id="327" r:id="rId7"/>
    <p:sldId id="258" r:id="rId8"/>
    <p:sldId id="334" r:id="rId9"/>
    <p:sldId id="260" r:id="rId10"/>
    <p:sldId id="261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335" r:id="rId20"/>
    <p:sldId id="275" r:id="rId21"/>
    <p:sldId id="277" r:id="rId22"/>
    <p:sldId id="278" r:id="rId23"/>
    <p:sldId id="328" r:id="rId24"/>
    <p:sldId id="279" r:id="rId25"/>
    <p:sldId id="280" r:id="rId26"/>
    <p:sldId id="281" r:id="rId27"/>
    <p:sldId id="282" r:id="rId28"/>
    <p:sldId id="284" r:id="rId29"/>
    <p:sldId id="286" r:id="rId30"/>
    <p:sldId id="289" r:id="rId31"/>
    <p:sldId id="333" r:id="rId32"/>
    <p:sldId id="291" r:id="rId33"/>
    <p:sldId id="293" r:id="rId34"/>
    <p:sldId id="294" r:id="rId35"/>
    <p:sldId id="295" r:id="rId36"/>
    <p:sldId id="296" r:id="rId37"/>
    <p:sldId id="299" r:id="rId38"/>
    <p:sldId id="300" r:id="rId39"/>
    <p:sldId id="330" r:id="rId40"/>
    <p:sldId id="331" r:id="rId41"/>
    <p:sldId id="302" r:id="rId42"/>
    <p:sldId id="336" r:id="rId43"/>
    <p:sldId id="332" r:id="rId44"/>
    <p:sldId id="303" r:id="rId45"/>
    <p:sldId id="304" r:id="rId46"/>
  </p:sldIdLst>
  <p:sldSz cx="9144000" cy="6858000" type="screen4x3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60">
          <p15:clr>
            <a:srgbClr val="A4A3A4"/>
          </p15:clr>
        </p15:guide>
        <p15:guide id="2" orient="horz" pos="1832">
          <p15:clr>
            <a:srgbClr val="A4A3A4"/>
          </p15:clr>
        </p15:guide>
        <p15:guide id="3" pos="240">
          <p15:clr>
            <a:srgbClr val="A4A3A4"/>
          </p15:clr>
        </p15:guide>
        <p15:guide id="4" pos="336">
          <p15:clr>
            <a:srgbClr val="A4A3A4"/>
          </p15:clr>
        </p15:guide>
        <p15:guide id="5" pos="65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0099"/>
    <a:srgbClr val="2181B7"/>
    <a:srgbClr val="FFCCFF"/>
    <a:srgbClr val="0099CC"/>
    <a:srgbClr val="F5D28B"/>
    <a:srgbClr val="D94439"/>
    <a:srgbClr val="04D3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1306" y="53"/>
      </p:cViewPr>
      <p:guideLst>
        <p:guide orient="horz" pos="960"/>
        <p:guide orient="horz" pos="1832"/>
        <p:guide pos="240"/>
        <p:guide pos="336"/>
        <p:guide pos="656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427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presProps" Target="presProps.xml"/><Relationship Id="rId8" Type="http://schemas.openxmlformats.org/officeDocument/2006/relationships/slide" Target="slides/slide3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26" Type="http://schemas.openxmlformats.org/officeDocument/2006/relationships/slide" Target="slides/slide26.xml"/><Relationship Id="rId39" Type="http://schemas.openxmlformats.org/officeDocument/2006/relationships/slide" Target="slides/slide39.xml"/><Relationship Id="rId21" Type="http://schemas.openxmlformats.org/officeDocument/2006/relationships/slide" Target="slides/slide21.xml"/><Relationship Id="rId34" Type="http://schemas.openxmlformats.org/officeDocument/2006/relationships/slide" Target="slides/slide34.xml"/><Relationship Id="rId7" Type="http://schemas.openxmlformats.org/officeDocument/2006/relationships/slide" Target="slides/slide7.xml"/><Relationship Id="rId2" Type="http://schemas.openxmlformats.org/officeDocument/2006/relationships/slide" Target="slides/slide2.xml"/><Relationship Id="rId16" Type="http://schemas.openxmlformats.org/officeDocument/2006/relationships/slide" Target="slides/slide16.xml"/><Relationship Id="rId20" Type="http://schemas.openxmlformats.org/officeDocument/2006/relationships/slide" Target="slides/slide20.xml"/><Relationship Id="rId29" Type="http://schemas.openxmlformats.org/officeDocument/2006/relationships/slide" Target="slides/slide29.xml"/><Relationship Id="rId41" Type="http://schemas.openxmlformats.org/officeDocument/2006/relationships/slide" Target="slides/slide41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1" Type="http://schemas.openxmlformats.org/officeDocument/2006/relationships/slide" Target="slides/slide11.xml"/><Relationship Id="rId24" Type="http://schemas.openxmlformats.org/officeDocument/2006/relationships/slide" Target="slides/slide24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40" Type="http://schemas.openxmlformats.org/officeDocument/2006/relationships/slide" Target="slides/slide40.xml"/><Relationship Id="rId5" Type="http://schemas.openxmlformats.org/officeDocument/2006/relationships/slide" Target="slides/slide5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10" Type="http://schemas.openxmlformats.org/officeDocument/2006/relationships/slide" Target="slides/slide10.xml"/><Relationship Id="rId19" Type="http://schemas.openxmlformats.org/officeDocument/2006/relationships/slide" Target="slides/slide19.xml"/><Relationship Id="rId31" Type="http://schemas.openxmlformats.org/officeDocument/2006/relationships/slide" Target="slides/slide31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8" Type="http://schemas.openxmlformats.org/officeDocument/2006/relationships/slide" Target="slides/slide8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1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925" y="0"/>
            <a:ext cx="3038475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1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1263"/>
            <a:ext cx="3038475" cy="465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1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925" y="8831263"/>
            <a:ext cx="3038475" cy="465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/>
            </a:lvl1pPr>
          </a:lstStyle>
          <a:p>
            <a:pPr>
              <a:defRPr/>
            </a:pPr>
            <a:fld id="{929143DB-629C-481F-AE56-5B0AB4E1BBB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495800" y="2514600"/>
            <a:ext cx="4267200" cy="2438400"/>
          </a:xfrm>
        </p:spPr>
        <p:txBody>
          <a:bodyPr anchor="t"/>
          <a:lstStyle>
            <a:lvl1pPr>
              <a:defRPr sz="4400">
                <a:solidFill>
                  <a:srgbClr val="0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E859338E-309F-4317-8CA5-7412777993C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2286000" y="152400"/>
            <a:ext cx="4800600" cy="1860550"/>
            <a:chOff x="3810000" y="152400"/>
            <a:chExt cx="4800600" cy="1860550"/>
          </a:xfrm>
        </p:grpSpPr>
        <p:sp>
          <p:nvSpPr>
            <p:cNvPr id="8" name="Text Box 4"/>
            <p:cNvSpPr txBox="1">
              <a:spLocks noChangeArrowheads="1"/>
            </p:cNvSpPr>
            <p:nvPr/>
          </p:nvSpPr>
          <p:spPr bwMode="auto">
            <a:xfrm>
              <a:off x="3810000" y="152400"/>
              <a:ext cx="4800600" cy="13234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l">
                <a:spcBef>
                  <a:spcPct val="50000"/>
                </a:spcBef>
                <a:defRPr/>
              </a:pPr>
              <a:r>
                <a:rPr lang="en-US" sz="4000" dirty="0">
                  <a:solidFill>
                    <a:srgbClr val="990033"/>
                  </a:solidFill>
                  <a:latin typeface="Arial Black" pitchFamily="34" charset="0"/>
                </a:rPr>
                <a:t>Discovering </a:t>
              </a:r>
              <a:r>
                <a:rPr lang="en-US" sz="4000" dirty="0" smtClean="0">
                  <a:solidFill>
                    <a:srgbClr val="990033"/>
                  </a:solidFill>
                  <a:latin typeface="Arial Black" pitchFamily="34" charset="0"/>
                </a:rPr>
                <a:t/>
              </a:r>
              <a:br>
                <a:rPr lang="en-US" sz="4000" dirty="0" smtClean="0">
                  <a:solidFill>
                    <a:srgbClr val="990033"/>
                  </a:solidFill>
                  <a:latin typeface="Arial Black" pitchFamily="34" charset="0"/>
                </a:rPr>
              </a:br>
              <a:r>
                <a:rPr lang="en-US" sz="4000" baseline="0" dirty="0" smtClean="0">
                  <a:solidFill>
                    <a:srgbClr val="990033"/>
                  </a:solidFill>
                  <a:latin typeface="Arial Black" pitchFamily="34" charset="0"/>
                </a:rPr>
                <a:t>         </a:t>
              </a:r>
              <a:r>
                <a:rPr lang="en-US" sz="4000" dirty="0" smtClean="0">
                  <a:solidFill>
                    <a:srgbClr val="990033"/>
                  </a:solidFill>
                  <a:latin typeface="Arial Black" pitchFamily="34" charset="0"/>
                </a:rPr>
                <a:t>Computers</a:t>
              </a:r>
              <a:endParaRPr lang="en-US" sz="4000" dirty="0">
                <a:solidFill>
                  <a:srgbClr val="990033"/>
                </a:solidFill>
                <a:latin typeface="Arial Black" pitchFamily="34" charset="0"/>
              </a:endParaRPr>
            </a:p>
          </p:txBody>
        </p:sp>
        <p:sp>
          <p:nvSpPr>
            <p:cNvPr id="9" name="Text Box 5"/>
            <p:cNvSpPr txBox="1">
              <a:spLocks noChangeArrowheads="1"/>
            </p:cNvSpPr>
            <p:nvPr/>
          </p:nvSpPr>
          <p:spPr bwMode="auto">
            <a:xfrm>
              <a:off x="6248400" y="1371600"/>
              <a:ext cx="2286000" cy="641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r">
                <a:spcBef>
                  <a:spcPct val="50000"/>
                </a:spcBef>
                <a:defRPr/>
              </a:pPr>
              <a:r>
                <a:rPr lang="en-US" sz="1800" b="1" dirty="0">
                  <a:solidFill>
                    <a:srgbClr val="000000"/>
                  </a:solidFill>
                  <a:latin typeface="Arial" charset="0"/>
                  <a:cs typeface="Arial" charset="0"/>
                </a:rPr>
                <a:t>Fundamentals</a:t>
              </a:r>
              <a:br>
                <a:rPr lang="en-US" sz="1800" b="1" dirty="0">
                  <a:solidFill>
                    <a:srgbClr val="000000"/>
                  </a:solidFill>
                  <a:latin typeface="Arial" charset="0"/>
                  <a:cs typeface="Arial" charset="0"/>
                </a:rPr>
              </a:br>
              <a:r>
                <a:rPr lang="en-US" sz="1800" b="1" dirty="0">
                  <a:solidFill>
                    <a:srgbClr val="5F5F5F"/>
                  </a:solidFill>
                  <a:latin typeface="Arial" charset="0"/>
                  <a:cs typeface="Arial" charset="0"/>
                </a:rPr>
                <a:t>Fifth Edition</a:t>
              </a:r>
            </a:p>
          </p:txBody>
        </p:sp>
      </p:grp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2" cstate="email"/>
          <a:srcRect/>
          <a:stretch>
            <a:fillRect/>
          </a:stretch>
        </p:blipFill>
        <p:spPr bwMode="auto">
          <a:xfrm>
            <a:off x="0" y="3408830"/>
            <a:ext cx="4114800" cy="34491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4AD863-7408-4FCC-A576-699535912E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6EFFAA-39E0-4C90-941D-D70CD5F423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4216400" cy="47577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066800"/>
            <a:ext cx="4216400" cy="47577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6EA46E-EB5D-436B-964A-BD7D9689C3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4FEBE5-4BCB-4962-BE2A-D23AC0EEEAD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31E160-7CE3-4460-97BC-33BC9862993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60F240-11A7-4BAA-87C9-33699FE1B4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00AA0B-E102-4929-84A2-BCA8AB8974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E7ACB4-7771-4D7C-8CB7-9408DA5F8B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CC457A-E044-45A0-8524-28AA9DD2FD1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0525" y="0"/>
            <a:ext cx="2149475" cy="58245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8925" y="0"/>
            <a:ext cx="6299200" cy="58245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F57CC4-5911-4DA4-9EA2-9CDC0E3ADA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DEA9"/>
        </a:solidFill>
        <a:effectLst>
          <a:outerShdw dist="107763" dir="2700000" algn="ctr" rotWithShape="0">
            <a:srgbClr val="000000"/>
          </a:outerShdw>
        </a:effectLst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ChangeArrowheads="1"/>
          </p:cNvSpPr>
          <p:nvPr/>
        </p:nvSpPr>
        <p:spPr bwMode="auto">
          <a:xfrm>
            <a:off x="4940300" y="6057900"/>
            <a:ext cx="4203700" cy="796925"/>
          </a:xfrm>
          <a:prstGeom prst="rect">
            <a:avLst/>
          </a:prstGeom>
          <a:solidFill>
            <a:srgbClr val="000099"/>
          </a:solidFill>
          <a:ln w="57150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46435" name="Rectangle 3"/>
          <p:cNvSpPr>
            <a:spLocks noChangeArrowheads="1"/>
          </p:cNvSpPr>
          <p:nvPr/>
        </p:nvSpPr>
        <p:spPr bwMode="auto">
          <a:xfrm>
            <a:off x="6061075" y="809625"/>
            <a:ext cx="3070225" cy="5248275"/>
          </a:xfrm>
          <a:prstGeom prst="rect">
            <a:avLst/>
          </a:prstGeom>
          <a:solidFill>
            <a:srgbClr val="E4CE7C"/>
          </a:solidFill>
          <a:ln w="57150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46436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968500" y="6248400"/>
            <a:ext cx="1752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400">
                <a:latin typeface="Arial Narrow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6437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497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spcBef>
                <a:spcPct val="50000"/>
              </a:spcBef>
              <a:defRPr sz="1400">
                <a:latin typeface="Arial Narrow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6438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80250" y="6248400"/>
            <a:ext cx="16700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>
                <a:latin typeface="Arial Narrow" pitchFamily="34" charset="0"/>
              </a:defRPr>
            </a:lvl1pPr>
          </a:lstStyle>
          <a:p>
            <a:pPr>
              <a:defRPr/>
            </a:pPr>
            <a:fld id="{ADE581B7-B4ED-4FD2-8FD9-3EEA7005F5F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146439" name="Line 7"/>
          <p:cNvSpPr>
            <a:spLocks noChangeShapeType="1"/>
          </p:cNvSpPr>
          <p:nvPr/>
        </p:nvSpPr>
        <p:spPr bwMode="auto">
          <a:xfrm>
            <a:off x="0" y="838200"/>
            <a:ext cx="6070600" cy="0"/>
          </a:xfrm>
          <a:prstGeom prst="line">
            <a:avLst/>
          </a:prstGeom>
          <a:noFill/>
          <a:ln w="101600" cmpd="thickThin">
            <a:solidFill>
              <a:srgbClr val="000099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032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1066800"/>
            <a:ext cx="8585200" cy="4757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4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288925" y="0"/>
            <a:ext cx="85852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46442" name="Rectangle 10"/>
          <p:cNvSpPr>
            <a:spLocks noChangeArrowheads="1"/>
          </p:cNvSpPr>
          <p:nvPr/>
        </p:nvSpPr>
        <p:spPr bwMode="auto">
          <a:xfrm>
            <a:off x="4940300" y="6061075"/>
            <a:ext cx="4203700" cy="796925"/>
          </a:xfrm>
          <a:prstGeom prst="rect">
            <a:avLst/>
          </a:prstGeom>
          <a:solidFill>
            <a:srgbClr val="990033"/>
          </a:solidFill>
          <a:ln w="57150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46443" name="Rectangle 11"/>
          <p:cNvSpPr>
            <a:spLocks noChangeArrowheads="1"/>
          </p:cNvSpPr>
          <p:nvPr/>
        </p:nvSpPr>
        <p:spPr bwMode="auto">
          <a:xfrm>
            <a:off x="6061075" y="809625"/>
            <a:ext cx="3070225" cy="5248275"/>
          </a:xfrm>
          <a:prstGeom prst="rect">
            <a:avLst/>
          </a:prstGeom>
          <a:solidFill>
            <a:srgbClr val="E4CE7C"/>
          </a:solidFill>
          <a:ln w="57150">
            <a:noFill/>
            <a:miter lim="800000"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endParaRPr lang="en-US"/>
          </a:p>
        </p:txBody>
      </p:sp>
      <p:sp>
        <p:nvSpPr>
          <p:cNvPr id="146444" name="Line 12"/>
          <p:cNvSpPr>
            <a:spLocks noChangeShapeType="1"/>
          </p:cNvSpPr>
          <p:nvPr/>
        </p:nvSpPr>
        <p:spPr bwMode="auto">
          <a:xfrm>
            <a:off x="0" y="838200"/>
            <a:ext cx="6070600" cy="0"/>
          </a:xfrm>
          <a:prstGeom prst="line">
            <a:avLst/>
          </a:prstGeom>
          <a:noFill/>
          <a:ln w="101600" cmpd="thickThin">
            <a:solidFill>
              <a:srgbClr val="990033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pPr>
              <a:defRPr/>
            </a:pPr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700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ransition spd="med">
    <p:wipe dir="r"/>
  </p:transition>
  <p:timing>
    <p:tnLst>
      <p:par>
        <p:cTn id="1" dur="indefinite" restart="never" nodeType="tmRoot"/>
      </p:par>
    </p:tnLst>
  </p:timing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Franklin Gothic Demi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Franklin Gothic Demi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Franklin Gothic Demi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Franklin Gothic Demi" pitchFamily="34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Franklin Gothic Demi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Franklin Gothic Demi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Franklin Gothic Demi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kumimoji="1" sz="3600" b="1">
          <a:solidFill>
            <a:srgbClr val="990033"/>
          </a:solidFill>
          <a:latin typeface="Franklin Gothic Demi" pitchFamily="34" charset="0"/>
        </a:defRPr>
      </a:lvl9pPr>
    </p:titleStyle>
    <p:bodyStyle>
      <a:lvl1pPr marL="533400" indent="-5334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Monotype Sorts" pitchFamily="2" charset="2"/>
        <a:buChar char="•"/>
        <a:defRPr kumimoji="1" sz="2800" b="1">
          <a:solidFill>
            <a:srgbClr val="000000"/>
          </a:solidFill>
          <a:latin typeface="+mn-lt"/>
          <a:ea typeface="+mn-ea"/>
          <a:cs typeface="+mn-cs"/>
        </a:defRPr>
      </a:lvl1pPr>
      <a:lvl2pPr marL="609600" indent="-495300" algn="l" rtl="0" eaLnBrk="0" fontAlgn="base" hangingPunct="0">
        <a:spcBef>
          <a:spcPct val="5000"/>
        </a:spcBef>
        <a:spcAft>
          <a:spcPct val="0"/>
        </a:spcAft>
        <a:buClr>
          <a:srgbClr val="D94439"/>
        </a:buClr>
        <a:buSzPct val="75000"/>
        <a:buFont typeface="Wingdings" pitchFamily="2" charset="2"/>
        <a:buChar char="Ø"/>
        <a:defRPr kumimoji="1" sz="2600" b="1">
          <a:solidFill>
            <a:srgbClr val="000000"/>
          </a:solidFill>
          <a:latin typeface="+mn-lt"/>
        </a:defRPr>
      </a:lvl2pPr>
      <a:lvl3pPr marL="1028700" indent="-457200" algn="l" rtl="0" eaLnBrk="0" fontAlgn="base" hangingPunct="0">
        <a:spcBef>
          <a:spcPct val="20000"/>
        </a:spcBef>
        <a:spcAft>
          <a:spcPct val="0"/>
        </a:spcAft>
        <a:buClr>
          <a:srgbClr val="D94439"/>
        </a:buClr>
        <a:buFont typeface="Wingdings" pitchFamily="2" charset="2"/>
        <a:buChar char="§"/>
        <a:defRPr kumimoji="1" sz="2400">
          <a:solidFill>
            <a:srgbClr val="000000"/>
          </a:solidFill>
          <a:latin typeface="+mn-lt"/>
        </a:defRPr>
      </a:lvl3pPr>
      <a:lvl4pPr marL="1358900" indent="-3810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rgbClr val="000000"/>
          </a:solidFill>
          <a:latin typeface="+mn-lt"/>
        </a:defRPr>
      </a:lvl4pPr>
      <a:lvl5pPr marL="1752600" indent="-3810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rgbClr val="000000"/>
          </a:solidFill>
          <a:latin typeface="+mn-lt"/>
        </a:defRPr>
      </a:lvl5pPr>
      <a:lvl6pPr marL="2209800" indent="-381000" algn="l" rtl="0" eaLnBrk="0" fontAlgn="base" hangingPunct="0">
        <a:spcBef>
          <a:spcPct val="20000"/>
        </a:spcBef>
        <a:spcAft>
          <a:spcPct val="0"/>
        </a:spcAft>
        <a:defRPr kumimoji="1" sz="2000">
          <a:solidFill>
            <a:srgbClr val="000000"/>
          </a:solidFill>
          <a:latin typeface="+mn-lt"/>
        </a:defRPr>
      </a:lvl6pPr>
      <a:lvl7pPr marL="2667000" indent="-381000" algn="l" rtl="0" eaLnBrk="0" fontAlgn="base" hangingPunct="0">
        <a:spcBef>
          <a:spcPct val="20000"/>
        </a:spcBef>
        <a:spcAft>
          <a:spcPct val="0"/>
        </a:spcAft>
        <a:defRPr kumimoji="1" sz="2000">
          <a:solidFill>
            <a:srgbClr val="000000"/>
          </a:solidFill>
          <a:latin typeface="+mn-lt"/>
        </a:defRPr>
      </a:lvl7pPr>
      <a:lvl8pPr marL="3124200" indent="-381000" algn="l" rtl="0" eaLnBrk="0" fontAlgn="base" hangingPunct="0">
        <a:spcBef>
          <a:spcPct val="20000"/>
        </a:spcBef>
        <a:spcAft>
          <a:spcPct val="0"/>
        </a:spcAft>
        <a:defRPr kumimoji="1" sz="2000">
          <a:solidFill>
            <a:srgbClr val="000000"/>
          </a:solidFill>
          <a:latin typeface="+mn-lt"/>
        </a:defRPr>
      </a:lvl8pPr>
      <a:lvl9pPr marL="3581400" indent="-381000" algn="l" rtl="0" eaLnBrk="0" fontAlgn="base" hangingPunct="0">
        <a:spcBef>
          <a:spcPct val="20000"/>
        </a:spcBef>
        <a:spcAft>
          <a:spcPct val="0"/>
        </a:spcAft>
        <a:defRPr kumimoji="1" sz="2000">
          <a:solidFill>
            <a:srgbClr val="000000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csite.com/dcf5ecp/ch7/weblink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www.scsite.com/dcf5ecp/ch7/weblink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hyperlink" Target="http://www.scsite.com/dcf5ecp/ch7/weblink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hyperlink" Target="http://www.scsite.com/dcf5ecp/ch7/weblink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hyperlink" Target="http://www.scsite.com/dcf5ecp/ch7/weblink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hyperlink" Target="http://www.scsite.com/dcf5ecp/ch7/weblink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hyperlink" Target="http://www.scsite.com/dcf5ecp/ch7/weblink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csite.com/dcf5ecp/ch7/weblink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409303" y="1271451"/>
            <a:ext cx="9338991" cy="4854712"/>
          </a:xfrm>
        </p:spPr>
        <p:txBody>
          <a:bodyPr/>
          <a:lstStyle/>
          <a:p>
            <a:pPr algn="ctr"/>
            <a:r>
              <a:rPr lang="en-US" dirty="0" smtClean="0"/>
              <a:t>Operating </a:t>
            </a:r>
            <a:br>
              <a:rPr lang="en-US" dirty="0" smtClean="0"/>
            </a:br>
            <a:r>
              <a:rPr lang="en-US" dirty="0" smtClean="0"/>
              <a:t>Systems and Utility Programs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Chapter 7 Objectives</a:t>
            </a:r>
          </a:p>
        </p:txBody>
      </p:sp>
      <p:sp>
        <p:nvSpPr>
          <p:cNvPr id="125955" name="AutoShape 3"/>
          <p:cNvSpPr>
            <a:spLocks noChangeArrowheads="1"/>
          </p:cNvSpPr>
          <p:nvPr/>
        </p:nvSpPr>
        <p:spPr bwMode="auto">
          <a:xfrm>
            <a:off x="169863" y="1914525"/>
            <a:ext cx="4341812" cy="661988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lnSpc>
                <a:spcPct val="90000"/>
              </a:lnSpc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Identify the types of system software</a:t>
            </a:r>
            <a:endParaRPr lang="en-US" sz="1600" b="1">
              <a:latin typeface="Times New Roman" pitchFamily="18" charset="0"/>
            </a:endParaRPr>
          </a:p>
        </p:txBody>
      </p:sp>
      <p:sp>
        <p:nvSpPr>
          <p:cNvPr id="125959" name="AutoShape 7"/>
          <p:cNvSpPr>
            <a:spLocks noChangeArrowheads="1"/>
          </p:cNvSpPr>
          <p:nvPr/>
        </p:nvSpPr>
        <p:spPr bwMode="auto">
          <a:xfrm>
            <a:off x="176213" y="3630613"/>
            <a:ext cx="4341812" cy="661987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lnSpc>
                <a:spcPct val="90000"/>
              </a:lnSpc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Explain the purpose of the utilities </a:t>
            </a:r>
            <a:br>
              <a:rPr kumimoji="1" lang="en-US" sz="1600" b="1">
                <a:latin typeface="Times New Roman" pitchFamily="18" charset="0"/>
              </a:rPr>
            </a:br>
            <a:r>
              <a:rPr kumimoji="1" lang="en-US" sz="1600" b="1">
                <a:latin typeface="Times New Roman" pitchFamily="18" charset="0"/>
              </a:rPr>
              <a:t>included with most operating systems</a:t>
            </a:r>
          </a:p>
        </p:txBody>
      </p:sp>
      <p:sp>
        <p:nvSpPr>
          <p:cNvPr id="125962" name="AutoShape 10"/>
          <p:cNvSpPr>
            <a:spLocks noChangeArrowheads="1"/>
          </p:cNvSpPr>
          <p:nvPr/>
        </p:nvSpPr>
        <p:spPr bwMode="auto">
          <a:xfrm>
            <a:off x="4606925" y="1903413"/>
            <a:ext cx="4341813" cy="661987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lnSpc>
                <a:spcPct val="90000"/>
              </a:lnSpc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Summarize the features of several </a:t>
            </a:r>
            <a:br>
              <a:rPr kumimoji="1" lang="en-US" sz="1600" b="1">
                <a:latin typeface="Times New Roman" pitchFamily="18" charset="0"/>
              </a:rPr>
            </a:br>
            <a:r>
              <a:rPr kumimoji="1" lang="en-US" sz="1600" b="1">
                <a:latin typeface="Times New Roman" pitchFamily="18" charset="0"/>
              </a:rPr>
              <a:t>stand-alone operating systems</a:t>
            </a:r>
          </a:p>
        </p:txBody>
      </p:sp>
      <p:sp>
        <p:nvSpPr>
          <p:cNvPr id="125964" name="AutoShape 12"/>
          <p:cNvSpPr>
            <a:spLocks noChangeArrowheads="1"/>
          </p:cNvSpPr>
          <p:nvPr/>
        </p:nvSpPr>
        <p:spPr bwMode="auto">
          <a:xfrm>
            <a:off x="4606925" y="2789238"/>
            <a:ext cx="4341813" cy="661987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lnSpc>
                <a:spcPct val="90000"/>
              </a:lnSpc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Identify devices that use </a:t>
            </a:r>
            <a:br>
              <a:rPr kumimoji="1" lang="en-US" sz="1600" b="1">
                <a:latin typeface="Times New Roman" pitchFamily="18" charset="0"/>
              </a:rPr>
            </a:br>
            <a:r>
              <a:rPr kumimoji="1" lang="en-US" sz="1600" b="1">
                <a:latin typeface="Times New Roman" pitchFamily="18" charset="0"/>
              </a:rPr>
              <a:t>embedded operating systems</a:t>
            </a:r>
          </a:p>
        </p:txBody>
      </p:sp>
      <p:sp>
        <p:nvSpPr>
          <p:cNvPr id="125965" name="AutoShape 13"/>
          <p:cNvSpPr>
            <a:spLocks noChangeArrowheads="1"/>
          </p:cNvSpPr>
          <p:nvPr/>
        </p:nvSpPr>
        <p:spPr bwMode="auto">
          <a:xfrm>
            <a:off x="4606925" y="3656013"/>
            <a:ext cx="4341813" cy="661987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lnSpc>
                <a:spcPct val="90000"/>
              </a:lnSpc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Explain the purpose of several</a:t>
            </a:r>
            <a:br>
              <a:rPr kumimoji="1" lang="en-US" sz="1600" b="1">
                <a:latin typeface="Times New Roman" pitchFamily="18" charset="0"/>
              </a:rPr>
            </a:br>
            <a:r>
              <a:rPr kumimoji="1" lang="en-US" sz="1600" b="1">
                <a:latin typeface="Times New Roman" pitchFamily="18" charset="0"/>
              </a:rPr>
              <a:t> stand-alone utility programs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4106" name="AutoShape 18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7" name="Text Box 19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25976" name="AutoShape 24"/>
          <p:cNvSpPr>
            <a:spLocks noChangeArrowheads="1"/>
          </p:cNvSpPr>
          <p:nvPr/>
        </p:nvSpPr>
        <p:spPr bwMode="auto">
          <a:xfrm>
            <a:off x="152400" y="2779713"/>
            <a:ext cx="4341813" cy="661987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lnSpc>
                <a:spcPct val="90000"/>
              </a:lnSpc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Describe the functions of an operating system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5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59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259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259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59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9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259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55" grpId="0" animBg="1" autoUpdateAnimBg="0"/>
      <p:bldP spid="125959" grpId="0" animBg="1" autoUpdateAnimBg="0"/>
      <p:bldP spid="125962" grpId="0" animBg="1" autoUpdateAnimBg="0"/>
      <p:bldP spid="125964" grpId="0" animBg="1" autoUpdateAnimBg="0"/>
      <p:bldP spid="125965" grpId="0" animBg="1" autoUpdateAnimBg="0"/>
      <p:bldP spid="125976" grpId="0" animBg="1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System Software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7381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</a:t>
            </a:r>
            <a:r>
              <a:rPr lang="en-US" smtClean="0">
                <a:solidFill>
                  <a:srgbClr val="D94439"/>
                </a:solidFill>
              </a:rPr>
              <a:t>system software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4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2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5125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250 - 252</a:t>
            </a:r>
          </a:p>
        </p:txBody>
      </p:sp>
      <p:grpSp>
        <p:nvGrpSpPr>
          <p:cNvPr id="3" name="Group 32"/>
          <p:cNvGrpSpPr>
            <a:grpSpLocks/>
          </p:cNvGrpSpPr>
          <p:nvPr/>
        </p:nvGrpSpPr>
        <p:grpSpPr bwMode="auto">
          <a:xfrm>
            <a:off x="1303338" y="1266825"/>
            <a:ext cx="5486400" cy="4006850"/>
            <a:chOff x="821" y="798"/>
            <a:chExt cx="3456" cy="2524"/>
          </a:xfrm>
        </p:grpSpPr>
        <p:sp>
          <p:nvSpPr>
            <p:cNvPr id="5129" name="AutoShape 10"/>
            <p:cNvSpPr>
              <a:spLocks noChangeArrowheads="1"/>
            </p:cNvSpPr>
            <p:nvPr/>
          </p:nvSpPr>
          <p:spPr bwMode="auto">
            <a:xfrm rot="8100000" flipH="1" flipV="1">
              <a:off x="1302" y="798"/>
              <a:ext cx="2508" cy="2521"/>
            </a:xfrm>
            <a:prstGeom prst="rtTriangle">
              <a:avLst/>
            </a:prstGeom>
            <a:solidFill>
              <a:srgbClr val="993366"/>
            </a:soli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993366"/>
              </a:extrusionClr>
            </a:sp3d>
          </p:spPr>
          <p:txBody>
            <a:bodyPr wrap="none" anchor="ctr">
              <a:flatTx/>
            </a:bodyPr>
            <a:lstStyle/>
            <a:p>
              <a:pPr algn="ctr">
                <a:spcBef>
                  <a:spcPct val="50000"/>
                </a:spcBef>
                <a:buClr>
                  <a:srgbClr val="D94439"/>
                </a:buClr>
                <a:buSzPct val="75000"/>
                <a:buFont typeface="Wingdings" pitchFamily="2" charset="2"/>
                <a:buNone/>
              </a:pPr>
              <a:endParaRPr kumimoji="1" lang="en-US" sz="1800" b="1">
                <a:solidFill>
                  <a:srgbClr val="000000"/>
                </a:solidFill>
                <a:latin typeface="Times New Roman" pitchFamily="18" charset="0"/>
              </a:endParaRPr>
            </a:p>
          </p:txBody>
        </p:sp>
        <p:sp>
          <p:nvSpPr>
            <p:cNvPr id="5131" name="Rectangle 11"/>
            <p:cNvSpPr>
              <a:spLocks noChangeArrowheads="1"/>
            </p:cNvSpPr>
            <p:nvPr/>
          </p:nvSpPr>
          <p:spPr bwMode="auto">
            <a:xfrm>
              <a:off x="821" y="2112"/>
              <a:ext cx="3456" cy="1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5000"/>
                </a:spcBef>
                <a:buClr>
                  <a:srgbClr val="D94439"/>
                </a:buClr>
                <a:buSzPct val="75000"/>
                <a:buFont typeface="Wingdings" pitchFamily="2" charset="2"/>
                <a:buNone/>
                <a:defRPr/>
              </a:pPr>
              <a:r>
                <a:rPr kumimoji="1" lang="en-US" sz="2000">
                  <a:solidFill>
                    <a:schemeClr val="accent2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Operating system (OS)</a:t>
              </a:r>
              <a: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 </a:t>
              </a:r>
              <a:b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</a:br>
              <a: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(sometimes called the platform) </a:t>
              </a:r>
              <a:b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</a:br>
              <a: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coordinates all activities </a:t>
              </a:r>
              <a:b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</a:br>
              <a: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among computer </a:t>
              </a:r>
              <a:b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</a:br>
              <a: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hardware </a:t>
              </a:r>
              <a:b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</a:br>
              <a:r>
                <a:rPr kumimoji="1" lang="en-US" sz="2000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resources</a:t>
              </a:r>
            </a:p>
          </p:txBody>
        </p:sp>
      </p:grpSp>
      <p:sp>
        <p:nvSpPr>
          <p:cNvPr id="5150" name="AutoShape 30"/>
          <p:cNvSpPr>
            <a:spLocks noChangeArrowheads="1"/>
          </p:cNvSpPr>
          <p:nvPr/>
        </p:nvSpPr>
        <p:spPr bwMode="auto">
          <a:xfrm>
            <a:off x="1219200" y="2057400"/>
            <a:ext cx="3505200" cy="1219200"/>
          </a:xfrm>
          <a:prstGeom prst="parallelogram">
            <a:avLst>
              <a:gd name="adj" fmla="val 53121"/>
            </a:avLst>
          </a:prstGeom>
          <a:solidFill>
            <a:srgbClr val="0099CC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0099CC"/>
            </a:extrusionClr>
          </a:sp3d>
        </p:spPr>
        <p:txBody>
          <a:bodyPr wrap="none" anchor="ctr">
            <a:flatTx/>
          </a:bodyPr>
          <a:lstStyle/>
          <a:p>
            <a:pPr algn="ctr">
              <a:defRPr/>
            </a:pPr>
            <a: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Programs that </a:t>
            </a:r>
            <a:b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control or maintain</a:t>
            </a:r>
            <a:b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operation of computer</a:t>
            </a:r>
          </a:p>
        </p:txBody>
      </p:sp>
      <p:sp>
        <p:nvSpPr>
          <p:cNvPr id="5151" name="AutoShape 31"/>
          <p:cNvSpPr>
            <a:spLocks noChangeArrowheads="1"/>
          </p:cNvSpPr>
          <p:nvPr/>
        </p:nvSpPr>
        <p:spPr bwMode="auto">
          <a:xfrm>
            <a:off x="4046538" y="2057400"/>
            <a:ext cx="3505200" cy="1219200"/>
          </a:xfrm>
          <a:prstGeom prst="parallelogram">
            <a:avLst>
              <a:gd name="adj" fmla="val 55344"/>
            </a:avLst>
          </a:prstGeom>
          <a:solidFill>
            <a:srgbClr val="FF9900"/>
          </a:solidFill>
          <a:ln w="9525">
            <a:noFill/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flatTx/>
          </a:bodyPr>
          <a:lstStyle/>
          <a:p>
            <a:pPr algn="ctr">
              <a:defRPr/>
            </a:pPr>
            <a: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Two types are </a:t>
            </a:r>
            <a:b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operating systems </a:t>
            </a:r>
            <a:b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20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and utility programs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" presetClass="entr" presetSubtype="8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0"/>
                            </p:stCondLst>
                            <p:childTnLst>
                              <p:par>
                                <p:cTn id="14" presetID="2" presetClass="entr" presetSubtype="2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8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0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3" grpId="0" build="p" autoUpdateAnimBg="0" advAuto="1000"/>
      <p:bldP spid="5150" grpId="0" animBg="1" autoUpdateAnimBg="0"/>
      <p:bldP spid="5151" grpId="0" animBg="1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14950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361363" cy="6238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are the functions of an </a:t>
            </a:r>
            <a:r>
              <a:rPr lang="en-US" smtClean="0">
                <a:solidFill>
                  <a:srgbClr val="D94439"/>
                </a:solidFill>
              </a:rPr>
              <a:t>operating system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6153" name="AutoShape 6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54" name="Text Box 7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6149" name="Text Box 8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250 - 251 Fig. 7-1</a:t>
            </a:r>
          </a:p>
        </p:txBody>
      </p:sp>
      <p:pic>
        <p:nvPicPr>
          <p:cNvPr id="11" name="Picture 10" descr="CFig8-0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37" y="1856096"/>
            <a:ext cx="8362841" cy="36505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95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08" grpId="0" build="p" autoUpdateAnimBg="0" advAuto="100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7793038" cy="7318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cross-platform application?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7191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2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7173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252</a:t>
            </a:r>
          </a:p>
        </p:txBody>
      </p:sp>
      <p:grpSp>
        <p:nvGrpSpPr>
          <p:cNvPr id="3" name="Group 79"/>
          <p:cNvGrpSpPr>
            <a:grpSpLocks/>
          </p:cNvGrpSpPr>
          <p:nvPr/>
        </p:nvGrpSpPr>
        <p:grpSpPr bwMode="auto">
          <a:xfrm>
            <a:off x="323850" y="3467100"/>
            <a:ext cx="3690938" cy="1960563"/>
            <a:chOff x="204" y="2256"/>
            <a:chExt cx="2325" cy="1235"/>
          </a:xfrm>
        </p:grpSpPr>
        <p:sp>
          <p:nvSpPr>
            <p:cNvPr id="7189" name="Line 74"/>
            <p:cNvSpPr>
              <a:spLocks noChangeShapeType="1"/>
            </p:cNvSpPr>
            <p:nvPr/>
          </p:nvSpPr>
          <p:spPr bwMode="auto">
            <a:xfrm flipH="1">
              <a:off x="1143" y="2256"/>
              <a:ext cx="1386" cy="796"/>
            </a:xfrm>
            <a:prstGeom prst="line">
              <a:avLst/>
            </a:prstGeom>
            <a:noFill/>
            <a:ln w="76200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90" name="Oval 54"/>
            <p:cNvSpPr>
              <a:spLocks noChangeArrowheads="1"/>
            </p:cNvSpPr>
            <p:nvPr/>
          </p:nvSpPr>
          <p:spPr bwMode="auto">
            <a:xfrm>
              <a:off x="204" y="2713"/>
              <a:ext cx="1213" cy="778"/>
            </a:xfrm>
            <a:prstGeom prst="ellipse">
              <a:avLst/>
            </a:prstGeom>
            <a:solidFill>
              <a:srgbClr val="D94439"/>
            </a:solidFill>
            <a:ln w="9525">
              <a:round/>
              <a:headEnd/>
              <a:tailEnd/>
            </a:ln>
            <a:scene3d>
              <a:camera prst="legacyPerspectiveBottom"/>
              <a:lightRig rig="legacyFlat3" dir="t"/>
            </a:scene3d>
            <a:sp3d extrusionH="887400" prstMaterial="legacyMatte">
              <a:bevelT w="13500" h="13500" prst="angle"/>
              <a:bevelB w="13500" h="13500" prst="angle"/>
              <a:extrusionClr>
                <a:srgbClr val="D94439"/>
              </a:extrusionClr>
            </a:sp3d>
          </p:spPr>
          <p:txBody>
            <a:bodyPr wrap="none" tIns="228600" bIns="0">
              <a:flatTx/>
            </a:bodyPr>
            <a:lstStyle/>
            <a:p>
              <a:pPr algn="ctr"/>
              <a:r>
                <a:rPr lang="en-US" sz="1800" b="1"/>
                <a:t>Operating System/</a:t>
              </a:r>
              <a:br>
                <a:rPr lang="en-US" sz="1800" b="1"/>
              </a:br>
              <a:r>
                <a:rPr lang="en-US" sz="1800" b="1"/>
                <a:t>Platform A</a:t>
              </a:r>
            </a:p>
          </p:txBody>
        </p:sp>
      </p:grpSp>
      <p:grpSp>
        <p:nvGrpSpPr>
          <p:cNvPr id="4" name="Group 80"/>
          <p:cNvGrpSpPr>
            <a:grpSpLocks/>
          </p:cNvGrpSpPr>
          <p:nvPr/>
        </p:nvGrpSpPr>
        <p:grpSpPr bwMode="auto">
          <a:xfrm>
            <a:off x="2527300" y="3659188"/>
            <a:ext cx="1925638" cy="1768475"/>
            <a:chOff x="1592" y="2377"/>
            <a:chExt cx="1213" cy="1114"/>
          </a:xfrm>
        </p:grpSpPr>
        <p:sp>
          <p:nvSpPr>
            <p:cNvPr id="7187" name="Line 77"/>
            <p:cNvSpPr>
              <a:spLocks noChangeShapeType="1"/>
            </p:cNvSpPr>
            <p:nvPr/>
          </p:nvSpPr>
          <p:spPr bwMode="auto">
            <a:xfrm flipH="1">
              <a:off x="2327" y="2377"/>
              <a:ext cx="394" cy="617"/>
            </a:xfrm>
            <a:prstGeom prst="line">
              <a:avLst/>
            </a:prstGeom>
            <a:noFill/>
            <a:ln w="76200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88" name="Oval 59"/>
            <p:cNvSpPr>
              <a:spLocks noChangeArrowheads="1"/>
            </p:cNvSpPr>
            <p:nvPr/>
          </p:nvSpPr>
          <p:spPr bwMode="auto">
            <a:xfrm>
              <a:off x="1592" y="2713"/>
              <a:ext cx="1213" cy="778"/>
            </a:xfrm>
            <a:prstGeom prst="ellipse">
              <a:avLst/>
            </a:prstGeom>
            <a:solidFill>
              <a:srgbClr val="D94439"/>
            </a:solidFill>
            <a:ln w="9525">
              <a:round/>
              <a:headEnd/>
              <a:tailEnd/>
            </a:ln>
            <a:scene3d>
              <a:camera prst="legacyPerspectiveBottom"/>
              <a:lightRig rig="legacyFlat3" dir="t"/>
            </a:scene3d>
            <a:sp3d extrusionH="887400" prstMaterial="legacyMatte">
              <a:bevelT w="13500" h="13500" prst="angle"/>
              <a:bevelB w="13500" h="13500" prst="angle"/>
              <a:extrusionClr>
                <a:srgbClr val="D94439"/>
              </a:extrusionClr>
            </a:sp3d>
          </p:spPr>
          <p:txBody>
            <a:bodyPr wrap="none" tIns="228600" bIns="0">
              <a:flatTx/>
            </a:bodyPr>
            <a:lstStyle/>
            <a:p>
              <a:pPr algn="ctr"/>
              <a:r>
                <a:rPr lang="en-US" sz="1800" b="1"/>
                <a:t>Operating System/</a:t>
              </a:r>
              <a:br>
                <a:rPr lang="en-US" sz="1800" b="1"/>
              </a:br>
              <a:r>
                <a:rPr lang="en-US" sz="1800" b="1"/>
                <a:t>Platform B</a:t>
              </a:r>
            </a:p>
          </p:txBody>
        </p:sp>
      </p:grpSp>
      <p:grpSp>
        <p:nvGrpSpPr>
          <p:cNvPr id="5" name="Group 81"/>
          <p:cNvGrpSpPr>
            <a:grpSpLocks/>
          </p:cNvGrpSpPr>
          <p:nvPr/>
        </p:nvGrpSpPr>
        <p:grpSpPr bwMode="auto">
          <a:xfrm>
            <a:off x="4730750" y="3638550"/>
            <a:ext cx="1925638" cy="1789113"/>
            <a:chOff x="2980" y="2364"/>
            <a:chExt cx="1213" cy="1127"/>
          </a:xfrm>
        </p:grpSpPr>
        <p:sp>
          <p:nvSpPr>
            <p:cNvPr id="7185" name="Line 78"/>
            <p:cNvSpPr>
              <a:spLocks noChangeShapeType="1"/>
            </p:cNvSpPr>
            <p:nvPr/>
          </p:nvSpPr>
          <p:spPr bwMode="auto">
            <a:xfrm>
              <a:off x="3080" y="2364"/>
              <a:ext cx="394" cy="617"/>
            </a:xfrm>
            <a:prstGeom prst="line">
              <a:avLst/>
            </a:prstGeom>
            <a:noFill/>
            <a:ln w="76200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86" name="Oval 64"/>
            <p:cNvSpPr>
              <a:spLocks noChangeArrowheads="1"/>
            </p:cNvSpPr>
            <p:nvPr/>
          </p:nvSpPr>
          <p:spPr bwMode="auto">
            <a:xfrm>
              <a:off x="2980" y="2713"/>
              <a:ext cx="1213" cy="778"/>
            </a:xfrm>
            <a:prstGeom prst="ellipse">
              <a:avLst/>
            </a:prstGeom>
            <a:solidFill>
              <a:srgbClr val="D94439"/>
            </a:solidFill>
            <a:ln w="9525">
              <a:round/>
              <a:headEnd/>
              <a:tailEnd/>
            </a:ln>
            <a:scene3d>
              <a:camera prst="legacyPerspectiveBottom"/>
              <a:lightRig rig="legacyFlat3" dir="t"/>
            </a:scene3d>
            <a:sp3d extrusionH="887400" prstMaterial="legacyMatte">
              <a:bevelT w="13500" h="13500" prst="angle"/>
              <a:bevelB w="13500" h="13500" prst="angle"/>
              <a:extrusionClr>
                <a:srgbClr val="D94439"/>
              </a:extrusionClr>
            </a:sp3d>
          </p:spPr>
          <p:txBody>
            <a:bodyPr wrap="none" tIns="228600" bIns="0">
              <a:flatTx/>
            </a:bodyPr>
            <a:lstStyle/>
            <a:p>
              <a:pPr algn="ctr"/>
              <a:r>
                <a:rPr lang="en-US" sz="1800" b="1"/>
                <a:t>Operating System/</a:t>
              </a:r>
              <a:br>
                <a:rPr lang="en-US" sz="1800" b="1"/>
              </a:br>
              <a:r>
                <a:rPr lang="en-US" sz="1800" b="1"/>
                <a:t>Platform C</a:t>
              </a:r>
            </a:p>
          </p:txBody>
        </p:sp>
      </p:grpSp>
      <p:grpSp>
        <p:nvGrpSpPr>
          <p:cNvPr id="6" name="Group 82"/>
          <p:cNvGrpSpPr>
            <a:grpSpLocks/>
          </p:cNvGrpSpPr>
          <p:nvPr/>
        </p:nvGrpSpPr>
        <p:grpSpPr bwMode="auto">
          <a:xfrm>
            <a:off x="5299075" y="3416300"/>
            <a:ext cx="3559175" cy="2011363"/>
            <a:chOff x="3338" y="2224"/>
            <a:chExt cx="2242" cy="1267"/>
          </a:xfrm>
        </p:grpSpPr>
        <p:sp>
          <p:nvSpPr>
            <p:cNvPr id="7183" name="Line 76"/>
            <p:cNvSpPr>
              <a:spLocks noChangeShapeType="1"/>
            </p:cNvSpPr>
            <p:nvPr/>
          </p:nvSpPr>
          <p:spPr bwMode="auto">
            <a:xfrm>
              <a:off x="3338" y="2224"/>
              <a:ext cx="1386" cy="796"/>
            </a:xfrm>
            <a:prstGeom prst="line">
              <a:avLst/>
            </a:prstGeom>
            <a:noFill/>
            <a:ln w="76200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84" name="Oval 69"/>
            <p:cNvSpPr>
              <a:spLocks noChangeArrowheads="1"/>
            </p:cNvSpPr>
            <p:nvPr/>
          </p:nvSpPr>
          <p:spPr bwMode="auto">
            <a:xfrm>
              <a:off x="4367" y="2713"/>
              <a:ext cx="1213" cy="778"/>
            </a:xfrm>
            <a:prstGeom prst="ellipse">
              <a:avLst/>
            </a:prstGeom>
            <a:solidFill>
              <a:srgbClr val="D94439"/>
            </a:solidFill>
            <a:ln w="9525">
              <a:round/>
              <a:headEnd/>
              <a:tailEnd/>
            </a:ln>
            <a:scene3d>
              <a:camera prst="legacyPerspectiveBottom"/>
              <a:lightRig rig="legacyFlat3" dir="t"/>
            </a:scene3d>
            <a:sp3d extrusionH="887400" prstMaterial="legacyMatte">
              <a:bevelT w="13500" h="13500" prst="angle"/>
              <a:bevelB w="13500" h="13500" prst="angle"/>
              <a:extrusionClr>
                <a:srgbClr val="D94439"/>
              </a:extrusionClr>
            </a:sp3d>
          </p:spPr>
          <p:txBody>
            <a:bodyPr wrap="none" tIns="228600" bIns="0">
              <a:flatTx/>
            </a:bodyPr>
            <a:lstStyle/>
            <a:p>
              <a:pPr algn="ctr"/>
              <a:r>
                <a:rPr lang="en-US" sz="1800" b="1"/>
                <a:t>Operating System/</a:t>
              </a:r>
              <a:br>
                <a:rPr lang="en-US" sz="1800" b="1"/>
              </a:br>
              <a:r>
                <a:rPr lang="en-US" sz="1800" b="1"/>
                <a:t>Platform D</a:t>
              </a:r>
            </a:p>
          </p:txBody>
        </p:sp>
      </p:grpSp>
      <p:grpSp>
        <p:nvGrpSpPr>
          <p:cNvPr id="7" name="Group 55"/>
          <p:cNvGrpSpPr>
            <a:grpSpLocks/>
          </p:cNvGrpSpPr>
          <p:nvPr/>
        </p:nvGrpSpPr>
        <p:grpSpPr bwMode="auto">
          <a:xfrm>
            <a:off x="3762375" y="2976563"/>
            <a:ext cx="1790700" cy="838200"/>
            <a:chOff x="288" y="1872"/>
            <a:chExt cx="1920" cy="1104"/>
          </a:xfrm>
        </p:grpSpPr>
        <p:sp>
          <p:nvSpPr>
            <p:cNvPr id="7181" name="Oval 56"/>
            <p:cNvSpPr>
              <a:spLocks noChangeArrowheads="1"/>
            </p:cNvSpPr>
            <p:nvPr/>
          </p:nvSpPr>
          <p:spPr bwMode="auto">
            <a:xfrm>
              <a:off x="288" y="1872"/>
              <a:ext cx="1920" cy="1104"/>
            </a:xfrm>
            <a:prstGeom prst="ellipse">
              <a:avLst/>
            </a:prstGeom>
            <a:solidFill>
              <a:srgbClr val="FF9900"/>
            </a:solidFill>
            <a:ln w="9525">
              <a:round/>
              <a:headEnd/>
              <a:tailEnd/>
            </a:ln>
            <a:scene3d>
              <a:camera prst="legacyPerspectiveBottom"/>
              <a:lightRig rig="legacyFlat3" dir="t"/>
            </a:scene3d>
            <a:sp3d extrusionH="887400" prstMaterial="legacyMatte">
              <a:bevelT w="13500" h="13500" prst="angle"/>
              <a:bevelB w="13500" h="13500" prst="angle"/>
              <a:extrusionClr>
                <a:srgbClr val="FF9900"/>
              </a:extrusionClr>
            </a:sp3d>
          </p:spPr>
          <p:txBody>
            <a:bodyPr wrap="none" tIns="0" bIns="137160" anchorCtr="1">
              <a:flatTx/>
            </a:bodyPr>
            <a:lstStyle/>
            <a:p>
              <a:endParaRPr lang="en-US"/>
            </a:p>
          </p:txBody>
        </p:sp>
        <p:sp>
          <p:nvSpPr>
            <p:cNvPr id="7182" name="Rectangle 57"/>
            <p:cNvSpPr>
              <a:spLocks noChangeArrowheads="1"/>
            </p:cNvSpPr>
            <p:nvPr/>
          </p:nvSpPr>
          <p:spPr bwMode="auto">
            <a:xfrm>
              <a:off x="288" y="2165"/>
              <a:ext cx="1920" cy="5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tIns="0" bIns="137160" anchorCtr="1">
              <a:spAutoFit/>
            </a:bodyPr>
            <a:lstStyle/>
            <a:p>
              <a:pPr algn="ctr"/>
              <a:r>
                <a:rPr kumimoji="1" lang="en-US" sz="1800" b="1">
                  <a:latin typeface="Times New Roman" pitchFamily="18" charset="0"/>
                </a:rPr>
                <a:t>Application</a:t>
              </a:r>
            </a:p>
          </p:txBody>
        </p:sp>
      </p:grpSp>
      <p:sp>
        <p:nvSpPr>
          <p:cNvPr id="9299" name="Rectangle 83"/>
          <p:cNvSpPr>
            <a:spLocks noChangeArrowheads="1"/>
          </p:cNvSpPr>
          <p:nvPr/>
        </p:nvSpPr>
        <p:spPr bwMode="auto">
          <a:xfrm>
            <a:off x="304800" y="1535113"/>
            <a:ext cx="7793038" cy="75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Runs identically on multiple operating systems</a:t>
            </a:r>
          </a:p>
        </p:txBody>
      </p:sp>
      <p:sp>
        <p:nvSpPr>
          <p:cNvPr id="9300" name="Rectangle 84"/>
          <p:cNvSpPr>
            <a:spLocks noChangeArrowheads="1"/>
          </p:cNvSpPr>
          <p:nvPr/>
        </p:nvSpPr>
        <p:spPr bwMode="auto">
          <a:xfrm>
            <a:off x="304800" y="2005013"/>
            <a:ext cx="7793038" cy="833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1028700" lvl="2" indent="-457200">
              <a:spcBef>
                <a:spcPct val="20000"/>
              </a:spcBef>
              <a:buClr>
                <a:srgbClr val="D94439"/>
              </a:buClr>
              <a:buFont typeface="Wingdings" pitchFamily="2" charset="2"/>
              <a:buChar char="§"/>
            </a:pPr>
            <a:r>
              <a:rPr kumimoji="1" lang="en-US">
                <a:solidFill>
                  <a:srgbClr val="000000"/>
                </a:solidFill>
                <a:latin typeface="Times New Roman" pitchFamily="18" charset="0"/>
              </a:rPr>
              <a:t>Operating system that computer uses is sometimes called the </a:t>
            </a:r>
            <a:r>
              <a:rPr kumimoji="1" lang="en-US">
                <a:solidFill>
                  <a:schemeClr val="bg2"/>
                </a:solidFill>
                <a:latin typeface="Times New Roman" pitchFamily="18" charset="0"/>
              </a:rPr>
              <a:t>platform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93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23" presetClass="entr" presetSubtype="272" fill="hold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3000"/>
                            </p:stCondLst>
                            <p:childTnLst>
                              <p:par>
                                <p:cTn id="22" presetID="22" presetClass="entr" presetSubtype="2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65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0"/>
                            </p:stCondLst>
                            <p:childTnLst>
                              <p:par>
                                <p:cTn id="30" presetID="22" presetClass="entr" presetSubtype="1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3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 bldLvl="4" autoUpdateAnimBg="0" advAuto="1000"/>
      <p:bldP spid="9299" grpId="0" build="p" bldLvl="4" autoUpdateAnimBg="0" advAuto="2000"/>
      <p:bldP spid="9300" grpId="0" build="p" bldLvl="4" autoUpdateAnimBg="0" advAuto="400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Operating System Functions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6365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1. BOOTING. </a:t>
            </a:r>
            <a:endParaRPr lang="en-US" dirty="0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8201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2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8197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252 Fig. 7-2</a:t>
            </a:r>
          </a:p>
        </p:txBody>
      </p:sp>
      <p:sp>
        <p:nvSpPr>
          <p:cNvPr id="11275" name="Rectangle 11"/>
          <p:cNvSpPr>
            <a:spLocks noChangeArrowheads="1"/>
          </p:cNvSpPr>
          <p:nvPr/>
        </p:nvSpPr>
        <p:spPr bwMode="auto">
          <a:xfrm>
            <a:off x="381000" y="2009775"/>
            <a:ext cx="3505200" cy="3386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1028700" lvl="2" indent="-457200">
              <a:spcBef>
                <a:spcPct val="20000"/>
              </a:spcBef>
              <a:buClr>
                <a:srgbClr val="D94439"/>
              </a:buClr>
              <a:buFont typeface="Wingdings" pitchFamily="2" charset="2"/>
              <a:buChar char="§"/>
            </a:pPr>
            <a:r>
              <a:rPr kumimoji="1" lang="en-US" b="1" dirty="0">
                <a:solidFill>
                  <a:srgbClr val="D94439"/>
                </a:solidFill>
                <a:latin typeface="Times New Roman" pitchFamily="18" charset="0"/>
              </a:rPr>
              <a:t>Cold boot</a:t>
            </a:r>
            <a:r>
              <a:rPr kumimoji="1" lang="en-US" dirty="0">
                <a:solidFill>
                  <a:srgbClr val="000000"/>
                </a:solidFill>
                <a:latin typeface="Times New Roman" pitchFamily="18" charset="0"/>
              </a:rPr>
              <a:t>  Turning on computer that has been powered off</a:t>
            </a:r>
          </a:p>
          <a:p>
            <a:pPr marL="1028700" lvl="2" indent="-457200">
              <a:spcBef>
                <a:spcPct val="20000"/>
              </a:spcBef>
              <a:buClr>
                <a:srgbClr val="D94439"/>
              </a:buClr>
              <a:buFont typeface="Wingdings" pitchFamily="2" charset="2"/>
              <a:buChar char="§"/>
            </a:pPr>
            <a:r>
              <a:rPr kumimoji="1" lang="en-US" b="1" dirty="0">
                <a:solidFill>
                  <a:srgbClr val="D94439"/>
                </a:solidFill>
                <a:latin typeface="Times New Roman" pitchFamily="18" charset="0"/>
              </a:rPr>
              <a:t>Warm boot</a:t>
            </a:r>
            <a:r>
              <a:rPr kumimoji="1" lang="en-US" dirty="0">
                <a:solidFill>
                  <a:srgbClr val="000000"/>
                </a:solidFill>
                <a:latin typeface="Times New Roman" pitchFamily="18" charset="0"/>
              </a:rPr>
              <a:t>  Restarting computer that is powered on</a:t>
            </a:r>
          </a:p>
        </p:txBody>
      </p:sp>
      <p:sp>
        <p:nvSpPr>
          <p:cNvPr id="11281" name="Rectangle 17"/>
          <p:cNvSpPr>
            <a:spLocks noChangeArrowheads="1"/>
          </p:cNvSpPr>
          <p:nvPr/>
        </p:nvSpPr>
        <p:spPr bwMode="auto">
          <a:xfrm>
            <a:off x="304800" y="1535113"/>
            <a:ext cx="8585200" cy="1042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Process of starting or restarting a computer</a:t>
            </a:r>
            <a:endParaRPr kumimoji="1" lang="en-US" sz="2600" b="1">
              <a:solidFill>
                <a:srgbClr val="000000"/>
              </a:solidFill>
              <a:latin typeface="Arial Unicode MS" pitchFamily="34" charset="-128"/>
            </a:endParaRPr>
          </a:p>
        </p:txBody>
      </p:sp>
      <p:pic>
        <p:nvPicPr>
          <p:cNvPr id="11" name="Picture 10" descr="CFig8-02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801" y="2047164"/>
            <a:ext cx="4724187" cy="3722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12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12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12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0"/>
                            </p:stCondLst>
                            <p:childTnLst>
                              <p:par>
                                <p:cTn id="21" presetID="3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5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 bldLvl="5" autoUpdateAnimBg="0" advAuto="1000"/>
      <p:bldP spid="11275" grpId="0" build="p" bldLvl="5" autoUpdateAnimBg="0" advAuto="4000"/>
      <p:bldP spid="11281" grpId="0" build="p" bldLvl="5" autoUpdateAnimBg="0" advAuto="200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Operating System </a:t>
            </a:r>
            <a:r>
              <a:rPr lang="en-US" dirty="0" smtClean="0"/>
              <a:t>Functions…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7064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2. PROVIDES USER INTERFACE</a:t>
            </a:r>
            <a:endParaRPr lang="en-US" dirty="0" smtClean="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9224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5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253 Fig. 7-3a</a:t>
            </a:r>
          </a:p>
        </p:txBody>
      </p:sp>
      <p:sp>
        <p:nvSpPr>
          <p:cNvPr id="19476" name="Rectangle 20"/>
          <p:cNvSpPr>
            <a:spLocks noChangeArrowheads="1"/>
          </p:cNvSpPr>
          <p:nvPr/>
        </p:nvSpPr>
        <p:spPr bwMode="auto">
          <a:xfrm>
            <a:off x="304800" y="1535113"/>
            <a:ext cx="8585200" cy="1455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 dirty="0" smtClean="0">
                <a:solidFill>
                  <a:srgbClr val="000000"/>
                </a:solidFill>
                <a:latin typeface="Times New Roman" pitchFamily="18" charset="0"/>
              </a:rPr>
              <a:t>Interface controls </a:t>
            </a:r>
            <a:r>
              <a:rPr kumimoji="1" lang="en-US" sz="2600" b="1" dirty="0">
                <a:solidFill>
                  <a:srgbClr val="000000"/>
                </a:solidFill>
                <a:latin typeface="Times New Roman" pitchFamily="18" charset="0"/>
              </a:rPr>
              <a:t>how you enter data and instructions and how information displays on screen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 dirty="0">
                <a:solidFill>
                  <a:srgbClr val="000000"/>
                </a:solidFill>
                <a:latin typeface="Times New Roman" pitchFamily="18" charset="0"/>
              </a:rPr>
              <a:t>With a </a:t>
            </a:r>
            <a:r>
              <a:rPr kumimoji="1" lang="en-US" sz="2600" b="1" dirty="0">
                <a:solidFill>
                  <a:srgbClr val="D94439"/>
                </a:solidFill>
                <a:latin typeface="Times New Roman" pitchFamily="18" charset="0"/>
              </a:rPr>
              <a:t>command-line interface</a:t>
            </a:r>
            <a:r>
              <a:rPr kumimoji="1" lang="en-US" sz="2600" b="1" dirty="0">
                <a:solidFill>
                  <a:srgbClr val="000000"/>
                </a:solidFill>
                <a:latin typeface="Times New Roman" pitchFamily="18" charset="0"/>
              </a:rPr>
              <a:t>, a user types commands or presses special keys on the keyboard to enter data and instructions</a:t>
            </a:r>
            <a:endParaRPr kumimoji="1" lang="en-US" sz="2600" b="1" dirty="0">
              <a:solidFill>
                <a:srgbClr val="000000"/>
              </a:solidFill>
              <a:latin typeface="Arial Unicode MS" pitchFamily="34" charset="-128"/>
            </a:endParaRPr>
          </a:p>
        </p:txBody>
      </p:sp>
      <p:pic>
        <p:nvPicPr>
          <p:cNvPr id="10" name="Picture 9" descr="CFig8-04.gif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4805" y="3471596"/>
            <a:ext cx="5391875" cy="25228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94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94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4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 bldLvl="4" autoUpdateAnimBg="0" advAuto="1000"/>
      <p:bldP spid="19476" grpId="0" build="p" bldLvl="4" autoUpdateAnimBg="0" advAuto="100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Operating System </a:t>
            </a:r>
            <a:r>
              <a:rPr lang="en-US" dirty="0" smtClean="0"/>
              <a:t>Functions…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4191000" cy="684213"/>
          </a:xfrm>
        </p:spPr>
        <p:txBody>
          <a:bodyPr/>
          <a:lstStyle/>
          <a:p>
            <a:pPr marL="0" indent="0"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graphical user interface (GUI)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0248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49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253 Fig. 7-3b</a:t>
            </a:r>
          </a:p>
        </p:txBody>
      </p:sp>
      <p:sp>
        <p:nvSpPr>
          <p:cNvPr id="21515" name="Rectangle 11"/>
          <p:cNvSpPr>
            <a:spLocks noChangeArrowheads="1"/>
          </p:cNvSpPr>
          <p:nvPr/>
        </p:nvSpPr>
        <p:spPr bwMode="auto">
          <a:xfrm>
            <a:off x="301625" y="1976438"/>
            <a:ext cx="4191000" cy="1844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User interacts with menus and visual images such as buttons and other graphical objects to issue commands</a:t>
            </a:r>
            <a:endParaRPr kumimoji="1" lang="en-US" sz="2600" b="1">
              <a:solidFill>
                <a:srgbClr val="000000"/>
              </a:solidFill>
              <a:latin typeface="Arial Unicode MS" pitchFamily="34" charset="-128"/>
            </a:endParaRPr>
          </a:p>
        </p:txBody>
      </p:sp>
      <p:pic>
        <p:nvPicPr>
          <p:cNvPr id="10" name="Picture 9" descr="Fig8-05b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711" y="2030103"/>
            <a:ext cx="4423396" cy="28466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5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5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 bldLvl="3" autoUpdateAnimBg="0" advAuto="1000"/>
      <p:bldP spid="21515" grpId="0" build="p" bldLvl="3" autoUpdateAnimBg="0" advAuto="300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5" name="Rectangle 13"/>
          <p:cNvSpPr>
            <a:spLocks noChangeArrowheads="1"/>
          </p:cNvSpPr>
          <p:nvPr/>
        </p:nvSpPr>
        <p:spPr bwMode="auto">
          <a:xfrm>
            <a:off x="309563" y="3579813"/>
            <a:ext cx="4140200" cy="2370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1028700" lvl="2" indent="-457200">
              <a:spcBef>
                <a:spcPct val="20000"/>
              </a:spcBef>
              <a:buClr>
                <a:srgbClr val="D94439"/>
              </a:buClr>
              <a:buFont typeface="Wingdings" pitchFamily="2" charset="2"/>
              <a:buChar char="§"/>
            </a:pPr>
            <a:r>
              <a:rPr kumimoji="1" lang="en-US" sz="2200">
                <a:solidFill>
                  <a:schemeClr val="bg2"/>
                </a:solidFill>
                <a:latin typeface="Times New Roman" pitchFamily="18" charset="0"/>
              </a:rPr>
              <a:t>Foreground</a:t>
            </a:r>
            <a:r>
              <a:rPr kumimoji="1" lang="en-US" sz="2200">
                <a:solidFill>
                  <a:srgbClr val="000000"/>
                </a:solidFill>
                <a:latin typeface="Times New Roman" pitchFamily="18" charset="0"/>
              </a:rPr>
              <a:t> contains program you are using</a:t>
            </a:r>
          </a:p>
          <a:p>
            <a:pPr marL="1028700" lvl="2" indent="-457200">
              <a:spcBef>
                <a:spcPct val="20000"/>
              </a:spcBef>
              <a:buClr>
                <a:srgbClr val="D94439"/>
              </a:buClr>
              <a:buFont typeface="Wingdings" pitchFamily="2" charset="2"/>
              <a:buChar char="§"/>
            </a:pPr>
            <a:r>
              <a:rPr kumimoji="1" lang="en-US" sz="2200">
                <a:solidFill>
                  <a:schemeClr val="bg2"/>
                </a:solidFill>
                <a:latin typeface="Times New Roman" pitchFamily="18" charset="0"/>
              </a:rPr>
              <a:t>Background</a:t>
            </a:r>
            <a:r>
              <a:rPr kumimoji="1" lang="en-US" sz="2200">
                <a:solidFill>
                  <a:srgbClr val="000000"/>
                </a:solidFill>
                <a:latin typeface="Times New Roman" pitchFamily="18" charset="0"/>
              </a:rPr>
              <a:t> contains </a:t>
            </a:r>
            <a:br>
              <a:rPr kumimoji="1" lang="en-US" sz="2200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200">
                <a:solidFill>
                  <a:srgbClr val="000000"/>
                </a:solidFill>
                <a:latin typeface="Times New Roman" pitchFamily="18" charset="0"/>
              </a:rPr>
              <a:t>programs that are </a:t>
            </a:r>
            <a:br>
              <a:rPr kumimoji="1" lang="en-US" sz="2200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200">
                <a:solidFill>
                  <a:srgbClr val="000000"/>
                </a:solidFill>
                <a:latin typeface="Times New Roman" pitchFamily="18" charset="0"/>
              </a:rPr>
              <a:t>running but are not </a:t>
            </a:r>
            <a:br>
              <a:rPr kumimoji="1" lang="en-US" sz="2200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200">
                <a:solidFill>
                  <a:srgbClr val="000000"/>
                </a:solidFill>
                <a:latin typeface="Times New Roman" pitchFamily="18" charset="0"/>
              </a:rPr>
              <a:t>in use</a:t>
            </a:r>
          </a:p>
        </p:txBody>
      </p:sp>
      <p:sp>
        <p:nvSpPr>
          <p:cNvPr id="11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Operating System Functions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4953000" cy="1049338"/>
          </a:xfrm>
        </p:spPr>
        <p:txBody>
          <a:bodyPr/>
          <a:lstStyle/>
          <a:p>
            <a:pPr marL="0" indent="0">
              <a:buFont typeface="Monotype Sorts" pitchFamily="2" charset="2"/>
              <a:buNone/>
            </a:pPr>
            <a:r>
              <a:rPr lang="en-US" smtClean="0"/>
              <a:t>What is single user/ multitasking?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1273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74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253 - 254 Fig. 7-4</a:t>
            </a:r>
          </a:p>
        </p:txBody>
      </p:sp>
      <p:sp>
        <p:nvSpPr>
          <p:cNvPr id="23566" name="Rectangle 14"/>
          <p:cNvSpPr>
            <a:spLocks noChangeArrowheads="1"/>
          </p:cNvSpPr>
          <p:nvPr/>
        </p:nvSpPr>
        <p:spPr bwMode="auto">
          <a:xfrm>
            <a:off x="309563" y="1954213"/>
            <a:ext cx="4200525" cy="2400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Working on two or more programs that reside in memory at same time</a:t>
            </a:r>
            <a:endParaRPr kumimoji="1" lang="en-US" sz="2600" b="1">
              <a:solidFill>
                <a:srgbClr val="000000"/>
              </a:solidFill>
              <a:latin typeface="Arial Unicode MS" pitchFamily="34" charset="-128"/>
            </a:endParaRPr>
          </a:p>
        </p:txBody>
      </p:sp>
      <p:pic>
        <p:nvPicPr>
          <p:cNvPr id="11" name="Picture 10" descr="Fig8-06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329" y="1323833"/>
            <a:ext cx="4771420" cy="37463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3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35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235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0"/>
                            </p:stCondLst>
                            <p:childTnLst>
                              <p:par>
                                <p:cTn id="21" presetID="8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3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65" grpId="0" build="p" bldLvl="3" autoUpdateAnimBg="0" advAuto="4000"/>
      <p:bldP spid="23555" grpId="0" build="p" bldLvl="4" autoUpdateAnimBg="0" advAuto="1000"/>
      <p:bldP spid="23566" grpId="0" build="p" bldLvl="4" autoUpdateAnimBg="0" advAuto="300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5"/>
          <p:cNvGrpSpPr>
            <a:grpSpLocks/>
          </p:cNvGrpSpPr>
          <p:nvPr/>
        </p:nvGrpSpPr>
        <p:grpSpPr bwMode="auto">
          <a:xfrm>
            <a:off x="6032500" y="4262438"/>
            <a:ext cx="3009900" cy="1524000"/>
            <a:chOff x="3792" y="2693"/>
            <a:chExt cx="1896" cy="960"/>
          </a:xfrm>
        </p:grpSpPr>
        <p:sp>
          <p:nvSpPr>
            <p:cNvPr id="12309" name="Line 33"/>
            <p:cNvSpPr>
              <a:spLocks noChangeShapeType="1"/>
            </p:cNvSpPr>
            <p:nvPr/>
          </p:nvSpPr>
          <p:spPr bwMode="auto">
            <a:xfrm flipH="1">
              <a:off x="3792" y="3216"/>
              <a:ext cx="610" cy="48"/>
            </a:xfrm>
            <a:prstGeom prst="line">
              <a:avLst/>
            </a:prstGeom>
            <a:noFill/>
            <a:ln w="76200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10" name="Oval 34"/>
            <p:cNvSpPr>
              <a:spLocks noChangeArrowheads="1"/>
            </p:cNvSpPr>
            <p:nvPr/>
          </p:nvSpPr>
          <p:spPr bwMode="auto">
            <a:xfrm>
              <a:off x="4275" y="2693"/>
              <a:ext cx="1413" cy="960"/>
            </a:xfrm>
            <a:prstGeom prst="ellipse">
              <a:avLst/>
            </a:prstGeom>
            <a:solidFill>
              <a:srgbClr val="0099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spcBef>
                  <a:spcPct val="20000"/>
                </a:spcBef>
                <a:buClr>
                  <a:schemeClr val="accent1"/>
                </a:buClr>
                <a:buSzPct val="80000"/>
                <a:buFont typeface="Monotype Sorts" pitchFamily="2" charset="2"/>
                <a:buNone/>
              </a:pP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Has duplicate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components such as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processors, memory,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and disk drives</a:t>
              </a:r>
            </a:p>
          </p:txBody>
        </p:sp>
      </p:grpSp>
      <p:grpSp>
        <p:nvGrpSpPr>
          <p:cNvPr id="3" name="Group 31"/>
          <p:cNvGrpSpPr>
            <a:grpSpLocks/>
          </p:cNvGrpSpPr>
          <p:nvPr/>
        </p:nvGrpSpPr>
        <p:grpSpPr bwMode="auto">
          <a:xfrm>
            <a:off x="5562600" y="2133600"/>
            <a:ext cx="2776538" cy="1600200"/>
            <a:chOff x="3504" y="1344"/>
            <a:chExt cx="1749" cy="1008"/>
          </a:xfrm>
        </p:grpSpPr>
        <p:sp>
          <p:nvSpPr>
            <p:cNvPr id="12307" name="Line 29"/>
            <p:cNvSpPr>
              <a:spLocks noChangeShapeType="1"/>
            </p:cNvSpPr>
            <p:nvPr/>
          </p:nvSpPr>
          <p:spPr bwMode="auto">
            <a:xfrm flipH="1">
              <a:off x="3504" y="2016"/>
              <a:ext cx="658" cy="336"/>
            </a:xfrm>
            <a:prstGeom prst="line">
              <a:avLst/>
            </a:prstGeom>
            <a:noFill/>
            <a:ln w="76200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08" name="Oval 30"/>
            <p:cNvSpPr>
              <a:spLocks noChangeArrowheads="1"/>
            </p:cNvSpPr>
            <p:nvPr/>
          </p:nvSpPr>
          <p:spPr bwMode="auto">
            <a:xfrm>
              <a:off x="3840" y="1344"/>
              <a:ext cx="1413" cy="960"/>
            </a:xfrm>
            <a:prstGeom prst="ellipse">
              <a:avLst/>
            </a:prstGeom>
            <a:solidFill>
              <a:srgbClr val="0099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spcBef>
                  <a:spcPct val="20000"/>
                </a:spcBef>
                <a:buClr>
                  <a:schemeClr val="accent1"/>
                </a:buClr>
                <a:buSzPct val="80000"/>
                <a:buFont typeface="Monotype Sorts" pitchFamily="2" charset="2"/>
                <a:buNone/>
              </a:pP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Enables two or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more users to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run programs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simultaneously</a:t>
              </a:r>
            </a:p>
          </p:txBody>
        </p:sp>
      </p:grpSp>
      <p:grpSp>
        <p:nvGrpSpPr>
          <p:cNvPr id="4" name="Group 25"/>
          <p:cNvGrpSpPr>
            <a:grpSpLocks/>
          </p:cNvGrpSpPr>
          <p:nvPr/>
        </p:nvGrpSpPr>
        <p:grpSpPr bwMode="auto">
          <a:xfrm>
            <a:off x="1041400" y="5270500"/>
            <a:ext cx="2644775" cy="1524000"/>
            <a:chOff x="62" y="1920"/>
            <a:chExt cx="1666" cy="960"/>
          </a:xfrm>
        </p:grpSpPr>
        <p:sp>
          <p:nvSpPr>
            <p:cNvPr id="12305" name="Line 26"/>
            <p:cNvSpPr>
              <a:spLocks noChangeShapeType="1"/>
            </p:cNvSpPr>
            <p:nvPr/>
          </p:nvSpPr>
          <p:spPr bwMode="auto">
            <a:xfrm flipH="1">
              <a:off x="1070" y="1920"/>
              <a:ext cx="658" cy="336"/>
            </a:xfrm>
            <a:prstGeom prst="line">
              <a:avLst/>
            </a:prstGeom>
            <a:noFill/>
            <a:ln w="76200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06" name="Oval 27"/>
            <p:cNvSpPr>
              <a:spLocks noChangeArrowheads="1"/>
            </p:cNvSpPr>
            <p:nvPr/>
          </p:nvSpPr>
          <p:spPr bwMode="auto">
            <a:xfrm>
              <a:off x="62" y="1920"/>
              <a:ext cx="1413" cy="960"/>
            </a:xfrm>
            <a:prstGeom prst="ellipse">
              <a:avLst/>
            </a:prstGeom>
            <a:solidFill>
              <a:srgbClr val="0099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spcBef>
                  <a:spcPct val="20000"/>
                </a:spcBef>
                <a:buClr>
                  <a:schemeClr val="accent1"/>
                </a:buClr>
                <a:buSzPct val="80000"/>
                <a:buFont typeface="Monotype Sorts" pitchFamily="2" charset="2"/>
                <a:buNone/>
              </a:pP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Continues to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operate when one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of its components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fails</a:t>
              </a:r>
            </a:p>
          </p:txBody>
        </p:sp>
      </p:grpSp>
      <p:sp>
        <p:nvSpPr>
          <p:cNvPr id="122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Operating System Functions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1119188"/>
          </a:xfrm>
        </p:spPr>
        <p:txBody>
          <a:bodyPr/>
          <a:lstStyle/>
          <a:p>
            <a:pPr marL="0" indent="0">
              <a:buFont typeface="Monotype Sorts" pitchFamily="2" charset="2"/>
              <a:buNone/>
            </a:pPr>
            <a:r>
              <a:rPr lang="en-US" smtClean="0"/>
              <a:t>What are other program management features of operating systems?</a:t>
            </a:r>
          </a:p>
          <a:p>
            <a:pPr marL="0" indent="0">
              <a:buFont typeface="Monotype Sorts" pitchFamily="2" charset="2"/>
              <a:buNone/>
            </a:pPr>
            <a:endParaRPr lang="en-US" sz="2000" smtClean="0"/>
          </a:p>
          <a:p>
            <a:pPr marL="0" indent="0">
              <a:buFont typeface="Monotype Sorts" pitchFamily="2" charset="2"/>
              <a:buNone/>
            </a:pPr>
            <a:endParaRPr lang="en-US" sz="2400" smtClean="0"/>
          </a:p>
          <a:p>
            <a:pPr marL="0" indent="0">
              <a:buFont typeface="Monotype Sorts" pitchFamily="2" charset="2"/>
              <a:buNone/>
            </a:pPr>
            <a:endParaRPr lang="en-US" sz="2000" smtClean="0"/>
          </a:p>
        </p:txBody>
      </p:sp>
      <p:grpSp>
        <p:nvGrpSpPr>
          <p:cNvPr id="5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2303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4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2296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255</a:t>
            </a:r>
          </a:p>
        </p:txBody>
      </p:sp>
      <p:grpSp>
        <p:nvGrpSpPr>
          <p:cNvPr id="6" name="Group 24"/>
          <p:cNvGrpSpPr>
            <a:grpSpLocks/>
          </p:cNvGrpSpPr>
          <p:nvPr/>
        </p:nvGrpSpPr>
        <p:grpSpPr bwMode="auto">
          <a:xfrm>
            <a:off x="98425" y="3124200"/>
            <a:ext cx="2644775" cy="1524000"/>
            <a:chOff x="62" y="1920"/>
            <a:chExt cx="1666" cy="960"/>
          </a:xfrm>
        </p:grpSpPr>
        <p:sp>
          <p:nvSpPr>
            <p:cNvPr id="12301" name="Line 9"/>
            <p:cNvSpPr>
              <a:spLocks noChangeShapeType="1"/>
            </p:cNvSpPr>
            <p:nvPr/>
          </p:nvSpPr>
          <p:spPr bwMode="auto">
            <a:xfrm flipH="1">
              <a:off x="1070" y="1920"/>
              <a:ext cx="658" cy="336"/>
            </a:xfrm>
            <a:prstGeom prst="line">
              <a:avLst/>
            </a:prstGeom>
            <a:noFill/>
            <a:ln w="76200">
              <a:solidFill>
                <a:schemeClr val="bg2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02" name="Oval 10"/>
            <p:cNvSpPr>
              <a:spLocks noChangeArrowheads="1"/>
            </p:cNvSpPr>
            <p:nvPr/>
          </p:nvSpPr>
          <p:spPr bwMode="auto">
            <a:xfrm>
              <a:off x="62" y="1920"/>
              <a:ext cx="1413" cy="960"/>
            </a:xfrm>
            <a:prstGeom prst="ellipse">
              <a:avLst/>
            </a:prstGeom>
            <a:solidFill>
              <a:srgbClr val="0099CC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spcBef>
                  <a:spcPct val="20000"/>
                </a:spcBef>
                <a:buClr>
                  <a:schemeClr val="accent1"/>
                </a:buClr>
                <a:buSzPct val="80000"/>
                <a:buFont typeface="Monotype Sorts" pitchFamily="2" charset="2"/>
                <a:buNone/>
              </a:pP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Can support two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or more processors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running programs </a:t>
              </a:r>
              <a:b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000000"/>
                  </a:solidFill>
                  <a:latin typeface="Times New Roman" pitchFamily="18" charset="0"/>
                </a:rPr>
                <a:t>at same time</a:t>
              </a:r>
            </a:p>
          </p:txBody>
        </p:sp>
      </p:grpSp>
      <p:sp>
        <p:nvSpPr>
          <p:cNvPr id="25621" name="Oval 21"/>
          <p:cNvSpPr>
            <a:spLocks noChangeArrowheads="1"/>
          </p:cNvSpPr>
          <p:nvPr/>
        </p:nvSpPr>
        <p:spPr bwMode="auto">
          <a:xfrm>
            <a:off x="3124200" y="4787900"/>
            <a:ext cx="3581400" cy="990600"/>
          </a:xfrm>
          <a:prstGeom prst="ellipse">
            <a:avLst/>
          </a:prstGeom>
          <a:solidFill>
            <a:srgbClr val="FF9900"/>
          </a:solidFill>
          <a:ln w="9525">
            <a:noFill/>
            <a:round/>
            <a:headEnd/>
            <a:tailEnd/>
          </a:ln>
          <a:effectLst/>
          <a:scene3d>
            <a:camera prst="legacyObliqueTopLeft"/>
            <a:lightRig rig="legacyFlat3" dir="r"/>
          </a:scene3d>
          <a:sp3d extrusionH="430200" prstMaterial="legacyMatte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flatTx/>
          </a:bodyPr>
          <a:lstStyle/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b="1">
                <a:solidFill>
                  <a:srgbClr val="04D3F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fault-tolerant computer</a:t>
            </a:r>
          </a:p>
        </p:txBody>
      </p:sp>
      <p:sp>
        <p:nvSpPr>
          <p:cNvPr id="25622" name="Oval 22"/>
          <p:cNvSpPr>
            <a:spLocks noChangeArrowheads="1"/>
          </p:cNvSpPr>
          <p:nvPr/>
        </p:nvSpPr>
        <p:spPr bwMode="auto">
          <a:xfrm>
            <a:off x="2971800" y="3429000"/>
            <a:ext cx="3581400" cy="990600"/>
          </a:xfrm>
          <a:prstGeom prst="ellipse">
            <a:avLst/>
          </a:prstGeom>
          <a:solidFill>
            <a:srgbClr val="FF9900"/>
          </a:solidFill>
          <a:ln w="9525">
            <a:noFill/>
            <a:round/>
            <a:headEnd/>
            <a:tailEnd/>
          </a:ln>
          <a:effectLst/>
          <a:scene3d>
            <a:camera prst="legacyObliqueTopLeft"/>
            <a:lightRig rig="legacyFlat3" dir="r"/>
          </a:scene3d>
          <a:sp3d extrusionH="430200" prstMaterial="legacyMatte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flatTx/>
          </a:bodyPr>
          <a:lstStyle/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multiuser</a:t>
            </a:r>
          </a:p>
        </p:txBody>
      </p:sp>
      <p:sp>
        <p:nvSpPr>
          <p:cNvPr id="25623" name="Oval 23"/>
          <p:cNvSpPr>
            <a:spLocks noChangeArrowheads="1"/>
          </p:cNvSpPr>
          <p:nvPr/>
        </p:nvSpPr>
        <p:spPr bwMode="auto">
          <a:xfrm>
            <a:off x="1371600" y="2286000"/>
            <a:ext cx="3581400" cy="990600"/>
          </a:xfrm>
          <a:prstGeom prst="ellipse">
            <a:avLst/>
          </a:prstGeom>
          <a:solidFill>
            <a:srgbClr val="FF9900"/>
          </a:solidFill>
          <a:ln w="9525">
            <a:noFill/>
            <a:round/>
            <a:headEnd/>
            <a:tailEnd/>
          </a:ln>
          <a:effectLst/>
          <a:scene3d>
            <a:camera prst="legacyObliqueTopLeft"/>
            <a:lightRig rig="legacyFlat3" dir="r"/>
          </a:scene3d>
          <a:sp3d extrusionH="430200" prstMaterial="legacyMatte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flatTx/>
          </a:bodyPr>
          <a:lstStyle/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multiprocessing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56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56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0"/>
                            </p:stCondLst>
                            <p:childTnLst>
                              <p:par>
                                <p:cTn id="14" presetID="22" presetClass="entr" presetSubtype="2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500"/>
                            </p:stCondLst>
                            <p:childTnLst>
                              <p:par>
                                <p:cTn id="18" presetID="23" presetClass="entr" presetSubtype="16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56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56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0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500"/>
                            </p:stCondLst>
                            <p:childTnLst>
                              <p:par>
                                <p:cTn id="27" presetID="23" presetClass="entr" presetSubtype="16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56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56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70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 autoUpdateAnimBg="0" advAuto="1000"/>
      <p:bldP spid="25621" grpId="0" animBg="1" autoUpdateAnimBg="0"/>
      <p:bldP spid="25622" grpId="0" animBg="1" autoUpdateAnimBg="0"/>
      <p:bldP spid="25623" grpId="0" animBg="1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Operating System </a:t>
            </a:r>
            <a:r>
              <a:rPr lang="en-US" dirty="0" smtClean="0"/>
              <a:t>Functions…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6683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3. </a:t>
            </a:r>
            <a:r>
              <a:rPr lang="en-US" dirty="0" smtClean="0"/>
              <a:t>MANAGES MEMORY.</a:t>
            </a:r>
            <a:endParaRPr lang="en-US" dirty="0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3319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20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3317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255</a:t>
            </a:r>
          </a:p>
        </p:txBody>
      </p:sp>
      <p:sp>
        <p:nvSpPr>
          <p:cNvPr id="27681" name="Rectangle 33"/>
          <p:cNvSpPr>
            <a:spLocks noChangeArrowheads="1"/>
          </p:cNvSpPr>
          <p:nvPr/>
        </p:nvSpPr>
        <p:spPr bwMode="auto">
          <a:xfrm>
            <a:off x="304800" y="1535113"/>
            <a:ext cx="8585200" cy="18240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Optimizing use of random access memory (RAM)</a:t>
            </a:r>
            <a:endParaRPr kumimoji="1" lang="en-US" sz="2600" b="1">
              <a:solidFill>
                <a:srgbClr val="000000"/>
              </a:solidFill>
              <a:latin typeface="Arial Unicode MS" pitchFamily="34" charset="-128"/>
            </a:endParaRP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With </a:t>
            </a:r>
            <a:r>
              <a:rPr kumimoji="1" lang="en-US" sz="2600" b="1">
                <a:solidFill>
                  <a:srgbClr val="D94439"/>
                </a:solidFill>
                <a:latin typeface="Times New Roman" pitchFamily="18" charset="0"/>
              </a:rPr>
              <a:t>virtual memory (VM)</a:t>
            </a: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, portion of hard disk is allocated to function as RAM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76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6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 bldLvl="4" autoUpdateAnimBg="0" advAuto="1000"/>
      <p:bldP spid="27681" grpId="0" build="p" bldLvl="4" autoUpdateAnimBg="0" advAuto="300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Operating System Functions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4. MANAGES JOB SCHEDULING</a:t>
            </a:r>
          </a:p>
          <a:p>
            <a:pPr>
              <a:buFont typeface="Monotype Sorts" pitchFamily="2" charset="2"/>
              <a:buNone/>
            </a:pPr>
            <a:r>
              <a:rPr lang="en-US" dirty="0" smtClean="0"/>
              <a:t>How </a:t>
            </a:r>
            <a:r>
              <a:rPr lang="en-US" dirty="0" smtClean="0"/>
              <a:t>does an operating system schedule </a:t>
            </a:r>
            <a:r>
              <a:rPr lang="en-US" dirty="0" smtClean="0">
                <a:solidFill>
                  <a:srgbClr val="D94439"/>
                </a:solidFill>
              </a:rPr>
              <a:t>jobs</a:t>
            </a:r>
            <a:r>
              <a:rPr lang="en-US" dirty="0" smtClean="0"/>
              <a:t>?</a:t>
            </a:r>
            <a:endParaRPr lang="en-US" dirty="0" smtClean="0">
              <a:latin typeface="Arial Unicode MS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sz="1600" dirty="0" smtClean="0">
              <a:latin typeface="Arial" charset="0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4350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351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4341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255 </a:t>
            </a:r>
          </a:p>
        </p:txBody>
      </p:sp>
      <p:sp>
        <p:nvSpPr>
          <p:cNvPr id="29704" name="Rectangle 8"/>
          <p:cNvSpPr>
            <a:spLocks noChangeArrowheads="1"/>
          </p:cNvSpPr>
          <p:nvPr/>
        </p:nvSpPr>
        <p:spPr bwMode="auto">
          <a:xfrm>
            <a:off x="6515100" y="3959225"/>
            <a:ext cx="2095500" cy="993775"/>
          </a:xfrm>
          <a:prstGeom prst="rect">
            <a:avLst/>
          </a:prstGeom>
          <a:solidFill>
            <a:srgbClr val="808000"/>
          </a:solidFill>
          <a:ln w="9525">
            <a:noFill/>
            <a:miter lim="800000"/>
            <a:headEnd/>
            <a:tailEnd/>
          </a:ln>
          <a:effectLst/>
          <a:scene3d>
            <a:camera prst="legacyObliqueTopLeft"/>
            <a:lightRig rig="legacyFlat3" dir="t"/>
          </a:scene3d>
          <a:sp3d extrusionH="430200" prstMaterial="legacyMatte">
            <a:bevelT w="13500" h="13500" prst="angle"/>
            <a:bevelB w="13500" h="13500" prst="angle"/>
            <a:extrusionClr>
              <a:srgbClr val="808000"/>
            </a:extrusionClr>
          </a:sp3d>
        </p:spPr>
        <p:txBody>
          <a:bodyPr wrap="none" anchor="ctr">
            <a:flatTx/>
          </a:bodyPr>
          <a:lstStyle/>
          <a:p>
            <a:pPr algn="ctr">
              <a:defRPr/>
            </a:pP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Transferring items </a:t>
            </a:r>
            <a:b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between storage </a:t>
            </a:r>
            <a:b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and memory</a:t>
            </a:r>
          </a:p>
        </p:txBody>
      </p:sp>
      <p:sp>
        <p:nvSpPr>
          <p:cNvPr id="29705" name="Rectangle 9"/>
          <p:cNvSpPr>
            <a:spLocks noChangeArrowheads="1"/>
          </p:cNvSpPr>
          <p:nvPr/>
        </p:nvSpPr>
        <p:spPr bwMode="auto">
          <a:xfrm>
            <a:off x="6515100" y="2965450"/>
            <a:ext cx="2095500" cy="993775"/>
          </a:xfrm>
          <a:prstGeom prst="rect">
            <a:avLst/>
          </a:prstGeom>
          <a:solidFill>
            <a:srgbClr val="D94439"/>
          </a:solidFill>
          <a:ln w="9525">
            <a:noFill/>
            <a:miter lim="800000"/>
            <a:headEnd/>
            <a:tailEnd/>
          </a:ln>
          <a:effectLst/>
          <a:scene3d>
            <a:camera prst="legacyObliqueTopLeft"/>
            <a:lightRig rig="legacyFlat3" dir="t"/>
          </a:scene3d>
          <a:sp3d extrusionH="430200" prstMaterial="legacyMatte">
            <a:bevelT w="13500" h="13500" prst="angle"/>
            <a:bevelB w="13500" h="13500" prst="angle"/>
            <a:extrusionClr>
              <a:srgbClr val="D94439"/>
            </a:extrusionClr>
          </a:sp3d>
        </p:spPr>
        <p:txBody>
          <a:bodyPr wrap="none" anchor="ctr">
            <a:flatTx/>
          </a:bodyPr>
          <a:lstStyle/>
          <a:p>
            <a:pPr algn="ctr">
              <a:defRPr/>
            </a:pP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Sending </a:t>
            </a:r>
            <a:b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information </a:t>
            </a:r>
            <a:b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to output device</a:t>
            </a:r>
          </a:p>
        </p:txBody>
      </p:sp>
      <p:sp>
        <p:nvSpPr>
          <p:cNvPr id="29706" name="Rectangle 10"/>
          <p:cNvSpPr>
            <a:spLocks noChangeArrowheads="1"/>
          </p:cNvSpPr>
          <p:nvPr/>
        </p:nvSpPr>
        <p:spPr bwMode="auto">
          <a:xfrm>
            <a:off x="4419600" y="3959225"/>
            <a:ext cx="2095500" cy="993775"/>
          </a:xfrm>
          <a:prstGeom prst="rect">
            <a:avLst/>
          </a:prstGeom>
          <a:solidFill>
            <a:srgbClr val="FF9900"/>
          </a:solidFill>
          <a:ln w="9525">
            <a:noFill/>
            <a:miter lim="800000"/>
            <a:headEnd/>
            <a:tailEnd/>
          </a:ln>
          <a:effectLst/>
          <a:scene3d>
            <a:camera prst="legacyObliqueTopLeft"/>
            <a:lightRig rig="legacyFlat3" dir="t"/>
          </a:scene3d>
          <a:sp3d extrusionH="430200" prstMaterial="legacyMatte">
            <a:bevelT w="13500" h="13500" prst="angle"/>
            <a:bevelB w="13500" h="13500" prst="angle"/>
            <a:extrusionClr>
              <a:srgbClr val="FF9900"/>
            </a:extrusionClr>
          </a:sp3d>
        </p:spPr>
        <p:txBody>
          <a:bodyPr wrap="none" anchor="ctr">
            <a:flatTx/>
          </a:bodyPr>
          <a:lstStyle/>
          <a:p>
            <a:pPr algn="ctr">
              <a:defRPr/>
            </a:pP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Processing </a:t>
            </a:r>
            <a:b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instructions</a:t>
            </a:r>
          </a:p>
        </p:txBody>
      </p:sp>
      <p:sp>
        <p:nvSpPr>
          <p:cNvPr id="29707" name="Rectangle 11"/>
          <p:cNvSpPr>
            <a:spLocks noChangeArrowheads="1"/>
          </p:cNvSpPr>
          <p:nvPr/>
        </p:nvSpPr>
        <p:spPr bwMode="auto">
          <a:xfrm>
            <a:off x="4419600" y="2965450"/>
            <a:ext cx="2095500" cy="993775"/>
          </a:xfrm>
          <a:prstGeom prst="rect">
            <a:avLst/>
          </a:prstGeom>
          <a:solidFill>
            <a:srgbClr val="0099CC"/>
          </a:solidFill>
          <a:ln w="9525">
            <a:noFill/>
            <a:miter lim="800000"/>
            <a:headEnd/>
            <a:tailEnd/>
          </a:ln>
          <a:effectLst/>
          <a:scene3d>
            <a:camera prst="legacyObliqueTopLeft"/>
            <a:lightRig rig="legacyFlat3" dir="t"/>
          </a:scene3d>
          <a:sp3d extrusionH="430200" prstMaterial="legacyMatte">
            <a:bevelT w="13500" h="13500" prst="angle"/>
            <a:bevelB w="13500" h="13500" prst="angle"/>
            <a:extrusionClr>
              <a:srgbClr val="0099CC"/>
            </a:extrusionClr>
          </a:sp3d>
        </p:spPr>
        <p:txBody>
          <a:bodyPr wrap="none" anchor="ctr">
            <a:flatTx/>
          </a:bodyPr>
          <a:lstStyle/>
          <a:p>
            <a:pPr algn="ctr">
              <a:defRPr/>
            </a:pP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Receiving data </a:t>
            </a:r>
            <a:b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18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from input device</a:t>
            </a:r>
          </a:p>
        </p:txBody>
      </p: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81000" y="1981200"/>
            <a:ext cx="2398713" cy="2057400"/>
            <a:chOff x="240" y="1248"/>
            <a:chExt cx="1511" cy="1296"/>
          </a:xfrm>
        </p:grpSpPr>
        <p:sp>
          <p:nvSpPr>
            <p:cNvPr id="14348" name="Text Box 13"/>
            <p:cNvSpPr txBox="1">
              <a:spLocks noChangeArrowheads="1"/>
            </p:cNvSpPr>
            <p:nvPr/>
          </p:nvSpPr>
          <p:spPr bwMode="auto">
            <a:xfrm>
              <a:off x="572" y="1559"/>
              <a:ext cx="1179" cy="5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>
                <a:spcBef>
                  <a:spcPct val="50000"/>
                </a:spcBef>
                <a:buClr>
                  <a:srgbClr val="D94439"/>
                </a:buClr>
                <a:buSzPct val="75000"/>
                <a:buFont typeface="Wingdings" pitchFamily="2" charset="2"/>
                <a:buNone/>
              </a:pPr>
              <a:r>
                <a:rPr kumimoji="1" lang="en-US" sz="1600" b="1" dirty="0">
                  <a:solidFill>
                    <a:srgbClr val="000000"/>
                  </a:solidFill>
                  <a:latin typeface="Arial" charset="0"/>
                </a:rPr>
                <a:t>Adjusts schedule </a:t>
              </a:r>
              <a:br>
                <a:rPr kumimoji="1" lang="en-US" sz="1600" b="1" dirty="0">
                  <a:solidFill>
                    <a:srgbClr val="000000"/>
                  </a:solidFill>
                  <a:latin typeface="Arial" charset="0"/>
                </a:rPr>
              </a:br>
              <a:r>
                <a:rPr kumimoji="1" lang="en-US" sz="1600" b="1" dirty="0">
                  <a:solidFill>
                    <a:srgbClr val="000000"/>
                  </a:solidFill>
                  <a:latin typeface="Arial" charset="0"/>
                </a:rPr>
                <a:t>based on </a:t>
              </a:r>
              <a:br>
                <a:rPr kumimoji="1" lang="en-US" sz="1600" b="1" dirty="0">
                  <a:solidFill>
                    <a:srgbClr val="000000"/>
                  </a:solidFill>
                  <a:latin typeface="Arial" charset="0"/>
                </a:rPr>
              </a:br>
              <a:r>
                <a:rPr kumimoji="1" lang="en-US" sz="1600" b="1" dirty="0">
                  <a:solidFill>
                    <a:srgbClr val="000000"/>
                  </a:solidFill>
                  <a:latin typeface="Arial" charset="0"/>
                </a:rPr>
                <a:t>job’s priority</a:t>
              </a:r>
            </a:p>
          </p:txBody>
        </p:sp>
        <p:sp>
          <p:nvSpPr>
            <p:cNvPr id="14349" name="AutoShape 14"/>
            <p:cNvSpPr>
              <a:spLocks noChangeArrowheads="1"/>
            </p:cNvSpPr>
            <p:nvPr/>
          </p:nvSpPr>
          <p:spPr bwMode="auto">
            <a:xfrm>
              <a:off x="240" y="1248"/>
              <a:ext cx="469" cy="1296"/>
            </a:xfrm>
            <a:prstGeom prst="curvedRightArrow">
              <a:avLst>
                <a:gd name="adj1" fmla="val 55267"/>
                <a:gd name="adj2" fmla="val 110533"/>
                <a:gd name="adj3" fmla="val 33333"/>
              </a:avLst>
            </a:prstGeom>
            <a:solidFill>
              <a:srgbClr val="993366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9713" name="Rectangle 17"/>
          <p:cNvSpPr>
            <a:spLocks noChangeArrowheads="1"/>
          </p:cNvSpPr>
          <p:nvPr/>
        </p:nvSpPr>
        <p:spPr bwMode="auto">
          <a:xfrm>
            <a:off x="1371600" y="3657600"/>
            <a:ext cx="2678113" cy="914400"/>
          </a:xfrm>
          <a:prstGeom prst="rect">
            <a:avLst/>
          </a:prstGeom>
          <a:solidFill>
            <a:srgbClr val="993366"/>
          </a:solidFill>
          <a:ln w="9525">
            <a:noFill/>
            <a:miter lim="800000"/>
            <a:headEnd/>
            <a:tailEnd/>
          </a:ln>
          <a:effectLst/>
          <a:scene3d>
            <a:camera prst="legacyObliqueTopLeft"/>
            <a:lightRig rig="legacyFlat3" dir="t"/>
          </a:scene3d>
          <a:sp3d extrusionH="430200" prstMaterial="legacyMatte">
            <a:bevelT w="13500" h="13500" prst="angle"/>
            <a:bevelB w="13500" h="13500" prst="angle"/>
            <a:extrusionClr>
              <a:srgbClr val="993366"/>
            </a:extrusionClr>
          </a:sp3d>
        </p:spPr>
        <p:txBody>
          <a:bodyPr wrap="none" anchor="ctr">
            <a:flatTx/>
          </a:bodyPr>
          <a:lstStyle/>
          <a:p>
            <a:pPr algn="ctr">
              <a:defRPr/>
            </a:pPr>
            <a:r>
              <a:rPr kumimoji="1" lang="en-US" sz="2000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A </a:t>
            </a:r>
            <a:r>
              <a:rPr kumimoji="1" lang="en-US" sz="2000" b="1">
                <a:solidFill>
                  <a:srgbClr val="D94439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job</a:t>
            </a:r>
            <a:r>
              <a:rPr kumimoji="1" lang="en-US" sz="2000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 is operation </a:t>
            </a:r>
            <a:br>
              <a:rPr kumimoji="1" lang="en-US" sz="2000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2000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the processor manages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29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000"/>
                            </p:stCondLst>
                            <p:childTnLst>
                              <p:par>
                                <p:cTn id="21" presetID="2" presetClass="entr" presetSubtype="2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7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7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1500"/>
                            </p:stCondLst>
                            <p:childTnLst>
                              <p:par>
                                <p:cTn id="26" presetID="2" presetClass="entr" presetSubtype="2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97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7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0"/>
                            </p:stCondLst>
                            <p:childTnLst>
                              <p:par>
                                <p:cTn id="31" presetID="2" presetClass="entr" presetSubtype="2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97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97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8500"/>
                            </p:stCondLst>
                            <p:childTnLst>
                              <p:par>
                                <p:cTn id="36" presetID="2" presetClass="entr" presetSubtype="2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97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97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00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build="p" autoUpdateAnimBg="0" advAuto="1000"/>
      <p:bldP spid="29704" grpId="0" animBg="1" autoUpdateAnimBg="0"/>
      <p:bldP spid="29705" grpId="0" animBg="1" autoUpdateAnimBg="0"/>
      <p:bldP spid="29706" grpId="0" animBg="1" autoUpdateAnimBg="0"/>
      <p:bldP spid="29707" grpId="0" animBg="1" autoUpdateAnimBg="0"/>
      <p:bldP spid="29713" grpId="0" animBg="1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Operating System Functions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6985000" cy="6683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5. SPOOLING.</a:t>
            </a:r>
            <a:endParaRPr lang="en-US" dirty="0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5368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369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5365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256 Fig. 7-5</a:t>
            </a:r>
          </a:p>
        </p:txBody>
      </p:sp>
      <p:sp>
        <p:nvSpPr>
          <p:cNvPr id="31754" name="Rectangle 10"/>
          <p:cNvSpPr>
            <a:spLocks noChangeArrowheads="1"/>
          </p:cNvSpPr>
          <p:nvPr/>
        </p:nvSpPr>
        <p:spPr bwMode="auto">
          <a:xfrm>
            <a:off x="304800" y="1543822"/>
            <a:ext cx="6985000" cy="1925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Sending print jobs to buffer instead of directly to printer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Print jobs line up in </a:t>
            </a:r>
            <a:r>
              <a:rPr kumimoji="1" lang="en-US" sz="2600" b="1">
                <a:solidFill>
                  <a:srgbClr val="D94439"/>
                </a:solidFill>
                <a:latin typeface="Times New Roman" pitchFamily="18" charset="0"/>
              </a:rPr>
              <a:t>queue</a:t>
            </a:r>
            <a:endParaRPr kumimoji="1" lang="en-US" sz="2600" b="1">
              <a:solidFill>
                <a:srgbClr val="D94439"/>
              </a:solidFill>
              <a:latin typeface="Arial Unicode MS" pitchFamily="34" charset="-128"/>
            </a:endParaRPr>
          </a:p>
        </p:txBody>
      </p:sp>
      <p:pic>
        <p:nvPicPr>
          <p:cNvPr id="10" name="Picture 9" descr="Fig8-09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17" y="2950049"/>
            <a:ext cx="7165074" cy="29108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1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1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5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build="p" bldLvl="4" autoUpdateAnimBg="0" advAuto="1000"/>
      <p:bldP spid="31754" grpId="0" build="p" bldLvl="4" autoUpdateAnimBg="0" advAuto="300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Operating System </a:t>
            </a:r>
            <a:r>
              <a:rPr lang="en-US" dirty="0" smtClean="0"/>
              <a:t>Functions…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5857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6. MANAGES DRIVERS.</a:t>
            </a:r>
          </a:p>
          <a:p>
            <a:pPr>
              <a:buFont typeface="Monotype Sorts" pitchFamily="2" charset="2"/>
              <a:buNone/>
            </a:pPr>
            <a:r>
              <a:rPr lang="en-US" dirty="0"/>
              <a:t>	</a:t>
            </a:r>
            <a:r>
              <a:rPr lang="en-US" dirty="0" smtClean="0"/>
              <a:t>What </a:t>
            </a:r>
            <a:r>
              <a:rPr lang="en-US" dirty="0" smtClean="0"/>
              <a:t>is a </a:t>
            </a:r>
            <a:r>
              <a:rPr lang="en-US" dirty="0" smtClean="0">
                <a:solidFill>
                  <a:srgbClr val="D94439"/>
                </a:solidFill>
              </a:rPr>
              <a:t>driver</a:t>
            </a:r>
            <a:r>
              <a:rPr lang="en-US" dirty="0" smtClean="0"/>
              <a:t>?</a:t>
            </a:r>
            <a:endParaRPr lang="en-US" dirty="0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6404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405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6389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256</a:t>
            </a:r>
          </a:p>
        </p:txBody>
      </p:sp>
      <p:grpSp>
        <p:nvGrpSpPr>
          <p:cNvPr id="3" name="Group 48"/>
          <p:cNvGrpSpPr>
            <a:grpSpLocks/>
          </p:cNvGrpSpPr>
          <p:nvPr/>
        </p:nvGrpSpPr>
        <p:grpSpPr bwMode="auto">
          <a:xfrm>
            <a:off x="3352800" y="2438400"/>
            <a:ext cx="2374900" cy="2343150"/>
            <a:chOff x="2112" y="1536"/>
            <a:chExt cx="1496" cy="1476"/>
          </a:xfrm>
        </p:grpSpPr>
        <p:sp>
          <p:nvSpPr>
            <p:cNvPr id="16401" name="AutoShape 26"/>
            <p:cNvSpPr>
              <a:spLocks/>
            </p:cNvSpPr>
            <p:nvPr/>
          </p:nvSpPr>
          <p:spPr bwMode="auto">
            <a:xfrm>
              <a:off x="2112" y="1536"/>
              <a:ext cx="558" cy="1476"/>
            </a:xfrm>
            <a:prstGeom prst="rightBracket">
              <a:avLst>
                <a:gd name="adj" fmla="val 0"/>
              </a:avLst>
            </a:prstGeom>
            <a:noFill/>
            <a:ln w="635000">
              <a:solidFill>
                <a:srgbClr val="D94439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402" name="AutoShape 30"/>
            <p:cNvSpPr>
              <a:spLocks/>
            </p:cNvSpPr>
            <p:nvPr/>
          </p:nvSpPr>
          <p:spPr bwMode="auto">
            <a:xfrm rot="10800000">
              <a:off x="3063" y="1536"/>
              <a:ext cx="545" cy="1476"/>
            </a:xfrm>
            <a:prstGeom prst="rightBracket">
              <a:avLst>
                <a:gd name="adj" fmla="val 0"/>
              </a:avLst>
            </a:prstGeom>
            <a:noFill/>
            <a:ln w="635000">
              <a:solidFill>
                <a:srgbClr val="D94439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24" name="Rectangle 32"/>
            <p:cNvSpPr>
              <a:spLocks noChangeArrowheads="1"/>
            </p:cNvSpPr>
            <p:nvPr/>
          </p:nvSpPr>
          <p:spPr bwMode="auto">
            <a:xfrm>
              <a:off x="2487" y="1968"/>
              <a:ext cx="768" cy="3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kumimoji="1" lang="en-US" sz="26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Driver</a:t>
              </a:r>
            </a:p>
          </p:txBody>
        </p:sp>
      </p:grpSp>
      <p:grpSp>
        <p:nvGrpSpPr>
          <p:cNvPr id="4" name="Group 50"/>
          <p:cNvGrpSpPr>
            <a:grpSpLocks/>
          </p:cNvGrpSpPr>
          <p:nvPr/>
        </p:nvGrpSpPr>
        <p:grpSpPr bwMode="auto">
          <a:xfrm>
            <a:off x="1341438" y="2743200"/>
            <a:ext cx="2620962" cy="1727200"/>
            <a:chOff x="821" y="1728"/>
            <a:chExt cx="1651" cy="1088"/>
          </a:xfrm>
        </p:grpSpPr>
        <p:sp>
          <p:nvSpPr>
            <p:cNvPr id="16399" name="Rectangle 33"/>
            <p:cNvSpPr>
              <a:spLocks noChangeArrowheads="1"/>
            </p:cNvSpPr>
            <p:nvPr/>
          </p:nvSpPr>
          <p:spPr bwMode="auto">
            <a:xfrm>
              <a:off x="821" y="1728"/>
              <a:ext cx="1651" cy="1088"/>
            </a:xfrm>
            <a:prstGeom prst="rect">
              <a:avLst/>
            </a:prstGeom>
            <a:solidFill>
              <a:srgbClr val="8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21" name="Rectangle 29"/>
            <p:cNvSpPr>
              <a:spLocks noChangeArrowheads="1"/>
            </p:cNvSpPr>
            <p:nvPr/>
          </p:nvSpPr>
          <p:spPr bwMode="auto">
            <a:xfrm>
              <a:off x="821" y="1774"/>
              <a:ext cx="1632" cy="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buClr>
                  <a:srgbClr val="D94439"/>
                </a:buClr>
                <a:buSzPct val="75000"/>
                <a:buFont typeface="Wingdings" pitchFamily="2" charset="2"/>
                <a:buNone/>
                <a:defRPr/>
              </a:pPr>
              <a: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Program that </a:t>
              </a:r>
              <a:b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tells operating system </a:t>
              </a:r>
              <a:b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how to communicate </a:t>
              </a:r>
              <a:b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</a:br>
              <a: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with device</a:t>
              </a:r>
            </a:p>
          </p:txBody>
        </p:sp>
      </p:grp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5173663" y="2740025"/>
            <a:ext cx="2590800" cy="1739900"/>
            <a:chOff x="3024" y="1440"/>
            <a:chExt cx="1632" cy="1096"/>
          </a:xfrm>
        </p:grpSpPr>
        <p:sp>
          <p:nvSpPr>
            <p:cNvPr id="16397" name="Rectangle 41"/>
            <p:cNvSpPr>
              <a:spLocks noChangeArrowheads="1"/>
            </p:cNvSpPr>
            <p:nvPr/>
          </p:nvSpPr>
          <p:spPr bwMode="auto">
            <a:xfrm>
              <a:off x="3024" y="1440"/>
              <a:ext cx="1632" cy="1096"/>
            </a:xfrm>
            <a:prstGeom prst="rect">
              <a:avLst/>
            </a:prstGeom>
            <a:solidFill>
              <a:srgbClr val="0099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34" name="Rectangle 42"/>
            <p:cNvSpPr>
              <a:spLocks noChangeArrowheads="1"/>
            </p:cNvSpPr>
            <p:nvPr/>
          </p:nvSpPr>
          <p:spPr bwMode="auto">
            <a:xfrm>
              <a:off x="3024" y="1504"/>
              <a:ext cx="1632" cy="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With </a:t>
              </a:r>
              <a:r>
                <a:rPr kumimoji="1" lang="en-US" sz="1800" b="1">
                  <a:solidFill>
                    <a:srgbClr val="D94439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Plug and Play</a:t>
              </a:r>
              <a:r>
                <a:rPr kumimoji="1" lang="en-US" sz="18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, operating system automatically configures new devices as you install them</a:t>
              </a:r>
            </a:p>
          </p:txBody>
        </p:sp>
      </p:grpSp>
      <p:sp>
        <p:nvSpPr>
          <p:cNvPr id="33841" name="Rectangle 49"/>
          <p:cNvSpPr>
            <a:spLocks noChangeArrowheads="1"/>
          </p:cNvSpPr>
          <p:nvPr/>
        </p:nvSpPr>
        <p:spPr bwMode="auto">
          <a:xfrm>
            <a:off x="1562100" y="3962400"/>
            <a:ext cx="2476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20000"/>
              </a:spcBef>
              <a:buClr>
                <a:schemeClr val="tx1"/>
              </a:buClr>
              <a:buSzPct val="80000"/>
              <a:buFont typeface="Wingdings" pitchFamily="2" charset="2"/>
              <a:buNone/>
              <a:defRPr/>
            </a:pPr>
            <a:r>
              <a:rPr kumimoji="1" lang="en-US" sz="2000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 </a:t>
            </a:r>
            <a:endParaRPr kumimoji="1" lang="en-US" sz="2000" b="1">
              <a:solidFill>
                <a:schemeClr val="accent2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Times New Roman" pitchFamily="18" charset="0"/>
            </a:endParaRPr>
          </a:p>
        </p:txBody>
      </p:sp>
      <p:grpSp>
        <p:nvGrpSpPr>
          <p:cNvPr id="6" name="Group 83"/>
          <p:cNvGrpSpPr>
            <a:grpSpLocks/>
          </p:cNvGrpSpPr>
          <p:nvPr/>
        </p:nvGrpSpPr>
        <p:grpSpPr bwMode="auto">
          <a:xfrm>
            <a:off x="0" y="4800600"/>
            <a:ext cx="1981200" cy="1295400"/>
            <a:chOff x="0" y="3024"/>
            <a:chExt cx="1248" cy="816"/>
          </a:xfrm>
        </p:grpSpPr>
        <p:sp>
          <p:nvSpPr>
            <p:cNvPr id="16395" name="Rectangle 84"/>
            <p:cNvSpPr>
              <a:spLocks noChangeArrowheads="1"/>
            </p:cNvSpPr>
            <p:nvPr/>
          </p:nvSpPr>
          <p:spPr bwMode="auto">
            <a:xfrm>
              <a:off x="0" y="3456"/>
              <a:ext cx="1248" cy="38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44450" rIns="90488" bIns="44450"/>
            <a:lstStyle/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to view Web Link,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Chapter 7, Click Web Link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from left navigation, </a:t>
              </a:r>
            </a:p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then click Plug and Play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below Chapter 7</a:t>
              </a:r>
            </a:p>
          </p:txBody>
        </p:sp>
        <p:sp>
          <p:nvSpPr>
            <p:cNvPr id="16396" name="Webpage">
              <a:hlinkClick r:id="rId2"/>
            </p:cNvPr>
            <p:cNvSpPr>
              <a:spLocks noEditPoints="1" noChangeArrowheads="1"/>
            </p:cNvSpPr>
            <p:nvPr/>
          </p:nvSpPr>
          <p:spPr bwMode="auto">
            <a:xfrm>
              <a:off x="96" y="3024"/>
              <a:ext cx="278" cy="37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w 21600"/>
                <a:gd name="T13" fmla="*/ 0 h 21600"/>
                <a:gd name="T14" fmla="*/ 0 w 21600"/>
                <a:gd name="T15" fmla="*/ 0 h 21600"/>
                <a:gd name="T16" fmla="*/ 0 w 21600"/>
                <a:gd name="T17" fmla="*/ 0 h 21600"/>
                <a:gd name="T18" fmla="*/ 0 w 21600"/>
                <a:gd name="T19" fmla="*/ 0 h 2160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1942 w 21600"/>
                <a:gd name="T31" fmla="*/ 12832 h 21600"/>
                <a:gd name="T32" fmla="*/ 19813 w 21600"/>
                <a:gd name="T33" fmla="*/ 20729 h 2160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1600" h="21600" extrusionOk="0">
                  <a:moveTo>
                    <a:pt x="9184" y="949"/>
                  </a:moveTo>
                  <a:lnTo>
                    <a:pt x="9758" y="1309"/>
                  </a:lnTo>
                  <a:lnTo>
                    <a:pt x="11544" y="1292"/>
                  </a:lnTo>
                  <a:lnTo>
                    <a:pt x="12437" y="1292"/>
                  </a:lnTo>
                  <a:lnTo>
                    <a:pt x="13414" y="1161"/>
                  </a:lnTo>
                  <a:lnTo>
                    <a:pt x="13648" y="1243"/>
                  </a:lnTo>
                  <a:lnTo>
                    <a:pt x="13542" y="1390"/>
                  </a:lnTo>
                  <a:lnTo>
                    <a:pt x="13967" y="1849"/>
                  </a:lnTo>
                  <a:lnTo>
                    <a:pt x="14562" y="2520"/>
                  </a:lnTo>
                  <a:lnTo>
                    <a:pt x="14669" y="3223"/>
                  </a:lnTo>
                  <a:lnTo>
                    <a:pt x="14796" y="3518"/>
                  </a:lnTo>
                  <a:lnTo>
                    <a:pt x="15264" y="3665"/>
                  </a:lnTo>
                  <a:lnTo>
                    <a:pt x="15753" y="3518"/>
                  </a:lnTo>
                  <a:lnTo>
                    <a:pt x="15902" y="2978"/>
                  </a:lnTo>
                  <a:lnTo>
                    <a:pt x="16008" y="2323"/>
                  </a:lnTo>
                  <a:moveTo>
                    <a:pt x="10757" y="21632"/>
                  </a:moveTo>
                  <a:lnTo>
                    <a:pt x="5187" y="21632"/>
                  </a:lnTo>
                  <a:lnTo>
                    <a:pt x="85" y="17509"/>
                  </a:lnTo>
                  <a:lnTo>
                    <a:pt x="85" y="10849"/>
                  </a:lnTo>
                  <a:lnTo>
                    <a:pt x="85" y="81"/>
                  </a:lnTo>
                  <a:lnTo>
                    <a:pt x="10757" y="81"/>
                  </a:lnTo>
                  <a:lnTo>
                    <a:pt x="21706" y="81"/>
                  </a:lnTo>
                  <a:lnTo>
                    <a:pt x="21706" y="10652"/>
                  </a:lnTo>
                  <a:lnTo>
                    <a:pt x="21706" y="21632"/>
                  </a:lnTo>
                  <a:lnTo>
                    <a:pt x="10757" y="21632"/>
                  </a:lnTo>
                  <a:close/>
                </a:path>
                <a:path w="21600" h="21600" extrusionOk="0">
                  <a:moveTo>
                    <a:pt x="85" y="17509"/>
                  </a:moveTo>
                  <a:lnTo>
                    <a:pt x="5187" y="17509"/>
                  </a:lnTo>
                  <a:lnTo>
                    <a:pt x="5187" y="21632"/>
                  </a:lnTo>
                  <a:lnTo>
                    <a:pt x="85" y="17509"/>
                  </a:lnTo>
                  <a:close/>
                </a:path>
                <a:path w="21600" h="21600" extrusionOk="0">
                  <a:moveTo>
                    <a:pt x="5591" y="10620"/>
                  </a:moveTo>
                  <a:lnTo>
                    <a:pt x="6122" y="10996"/>
                  </a:lnTo>
                  <a:lnTo>
                    <a:pt x="6696" y="11340"/>
                  </a:lnTo>
                  <a:lnTo>
                    <a:pt x="7313" y="11618"/>
                  </a:lnTo>
                  <a:lnTo>
                    <a:pt x="7972" y="11863"/>
                  </a:lnTo>
                  <a:lnTo>
                    <a:pt x="8652" y="12060"/>
                  </a:lnTo>
                  <a:lnTo>
                    <a:pt x="9396" y="12190"/>
                  </a:lnTo>
                  <a:lnTo>
                    <a:pt x="10119" y="12272"/>
                  </a:lnTo>
                  <a:lnTo>
                    <a:pt x="10906" y="12305"/>
                  </a:lnTo>
                  <a:lnTo>
                    <a:pt x="11650" y="12272"/>
                  </a:lnTo>
                  <a:lnTo>
                    <a:pt x="12373" y="12190"/>
                  </a:lnTo>
                  <a:lnTo>
                    <a:pt x="13117" y="12060"/>
                  </a:lnTo>
                  <a:lnTo>
                    <a:pt x="13797" y="11863"/>
                  </a:lnTo>
                  <a:lnTo>
                    <a:pt x="14456" y="11618"/>
                  </a:lnTo>
                  <a:lnTo>
                    <a:pt x="15073" y="11340"/>
                  </a:lnTo>
                  <a:lnTo>
                    <a:pt x="15647" y="11029"/>
                  </a:lnTo>
                  <a:lnTo>
                    <a:pt x="16178" y="10652"/>
                  </a:lnTo>
                  <a:lnTo>
                    <a:pt x="16667" y="10243"/>
                  </a:lnTo>
                  <a:lnTo>
                    <a:pt x="17071" y="9801"/>
                  </a:lnTo>
                  <a:lnTo>
                    <a:pt x="17475" y="9327"/>
                  </a:lnTo>
                  <a:lnTo>
                    <a:pt x="17815" y="8820"/>
                  </a:lnTo>
                  <a:lnTo>
                    <a:pt x="18049" y="8296"/>
                  </a:lnTo>
                  <a:lnTo>
                    <a:pt x="18262" y="7723"/>
                  </a:lnTo>
                  <a:lnTo>
                    <a:pt x="18347" y="7134"/>
                  </a:lnTo>
                  <a:lnTo>
                    <a:pt x="18389" y="6561"/>
                  </a:lnTo>
                  <a:lnTo>
                    <a:pt x="18347" y="5956"/>
                  </a:lnTo>
                  <a:lnTo>
                    <a:pt x="18262" y="5400"/>
                  </a:lnTo>
                  <a:lnTo>
                    <a:pt x="18049" y="4827"/>
                  </a:lnTo>
                  <a:lnTo>
                    <a:pt x="17815" y="4303"/>
                  </a:lnTo>
                  <a:lnTo>
                    <a:pt x="17475" y="3796"/>
                  </a:lnTo>
                  <a:lnTo>
                    <a:pt x="17114" y="3321"/>
                  </a:lnTo>
                  <a:lnTo>
                    <a:pt x="16710" y="2880"/>
                  </a:lnTo>
                  <a:lnTo>
                    <a:pt x="16221" y="2470"/>
                  </a:lnTo>
                  <a:lnTo>
                    <a:pt x="15689" y="2094"/>
                  </a:lnTo>
                  <a:lnTo>
                    <a:pt x="15115" y="1750"/>
                  </a:lnTo>
                  <a:lnTo>
                    <a:pt x="14499" y="1472"/>
                  </a:lnTo>
                  <a:lnTo>
                    <a:pt x="13797" y="1227"/>
                  </a:lnTo>
                  <a:lnTo>
                    <a:pt x="13117" y="1030"/>
                  </a:lnTo>
                  <a:lnTo>
                    <a:pt x="12415" y="883"/>
                  </a:lnTo>
                  <a:lnTo>
                    <a:pt x="11650" y="818"/>
                  </a:lnTo>
                  <a:lnTo>
                    <a:pt x="10906" y="785"/>
                  </a:lnTo>
                  <a:lnTo>
                    <a:pt x="10119" y="818"/>
                  </a:lnTo>
                  <a:lnTo>
                    <a:pt x="9396" y="883"/>
                  </a:lnTo>
                  <a:lnTo>
                    <a:pt x="8652" y="1030"/>
                  </a:lnTo>
                  <a:lnTo>
                    <a:pt x="8014" y="1227"/>
                  </a:lnTo>
                  <a:lnTo>
                    <a:pt x="7355" y="1440"/>
                  </a:lnTo>
                  <a:lnTo>
                    <a:pt x="6739" y="1750"/>
                  </a:lnTo>
                  <a:lnTo>
                    <a:pt x="6122" y="2061"/>
                  </a:lnTo>
                  <a:lnTo>
                    <a:pt x="5591" y="2438"/>
                  </a:lnTo>
                  <a:lnTo>
                    <a:pt x="5102" y="2847"/>
                  </a:lnTo>
                  <a:lnTo>
                    <a:pt x="4698" y="3289"/>
                  </a:lnTo>
                  <a:lnTo>
                    <a:pt x="4294" y="3763"/>
                  </a:lnTo>
                  <a:lnTo>
                    <a:pt x="3996" y="4270"/>
                  </a:lnTo>
                  <a:lnTo>
                    <a:pt x="3720" y="4794"/>
                  </a:lnTo>
                  <a:lnTo>
                    <a:pt x="3550" y="5367"/>
                  </a:lnTo>
                  <a:lnTo>
                    <a:pt x="3422" y="5956"/>
                  </a:lnTo>
                  <a:lnTo>
                    <a:pt x="3380" y="6561"/>
                  </a:lnTo>
                  <a:lnTo>
                    <a:pt x="3422" y="7134"/>
                  </a:lnTo>
                  <a:lnTo>
                    <a:pt x="3550" y="7690"/>
                  </a:lnTo>
                  <a:lnTo>
                    <a:pt x="3720" y="8263"/>
                  </a:lnTo>
                  <a:lnTo>
                    <a:pt x="3954" y="8787"/>
                  </a:lnTo>
                  <a:lnTo>
                    <a:pt x="4294" y="9294"/>
                  </a:lnTo>
                  <a:lnTo>
                    <a:pt x="4655" y="9769"/>
                  </a:lnTo>
                  <a:lnTo>
                    <a:pt x="5102" y="10210"/>
                  </a:lnTo>
                  <a:lnTo>
                    <a:pt x="5591" y="10620"/>
                  </a:lnTo>
                  <a:close/>
                </a:path>
                <a:path w="21600" h="21600" extrusionOk="0">
                  <a:moveTo>
                    <a:pt x="3401" y="6021"/>
                  </a:moveTo>
                  <a:lnTo>
                    <a:pt x="4039" y="5530"/>
                  </a:lnTo>
                  <a:lnTo>
                    <a:pt x="4294" y="4892"/>
                  </a:lnTo>
                  <a:lnTo>
                    <a:pt x="4677" y="4156"/>
                  </a:lnTo>
                  <a:lnTo>
                    <a:pt x="5166" y="3763"/>
                  </a:lnTo>
                  <a:lnTo>
                    <a:pt x="5378" y="3354"/>
                  </a:lnTo>
                  <a:lnTo>
                    <a:pt x="5293" y="2732"/>
                  </a:lnTo>
                  <a:moveTo>
                    <a:pt x="3507" y="7380"/>
                  </a:moveTo>
                  <a:lnTo>
                    <a:pt x="3890" y="7200"/>
                  </a:lnTo>
                  <a:lnTo>
                    <a:pt x="4103" y="7249"/>
                  </a:lnTo>
                  <a:lnTo>
                    <a:pt x="4400" y="7527"/>
                  </a:lnTo>
                  <a:lnTo>
                    <a:pt x="4719" y="7674"/>
                  </a:lnTo>
                  <a:lnTo>
                    <a:pt x="5293" y="7641"/>
                  </a:lnTo>
                  <a:lnTo>
                    <a:pt x="5740" y="7543"/>
                  </a:lnTo>
                  <a:lnTo>
                    <a:pt x="6144" y="7543"/>
                  </a:lnTo>
                  <a:lnTo>
                    <a:pt x="6526" y="7821"/>
                  </a:lnTo>
                  <a:lnTo>
                    <a:pt x="6569" y="8312"/>
                  </a:lnTo>
                  <a:lnTo>
                    <a:pt x="6059" y="8852"/>
                  </a:lnTo>
                  <a:lnTo>
                    <a:pt x="5803" y="8967"/>
                  </a:lnTo>
                  <a:lnTo>
                    <a:pt x="5803" y="9147"/>
                  </a:lnTo>
                  <a:lnTo>
                    <a:pt x="5421" y="9294"/>
                  </a:lnTo>
                  <a:lnTo>
                    <a:pt x="4868" y="9163"/>
                  </a:lnTo>
                  <a:lnTo>
                    <a:pt x="4337" y="9049"/>
                  </a:lnTo>
                  <a:lnTo>
                    <a:pt x="4081" y="9000"/>
                  </a:lnTo>
                  <a:moveTo>
                    <a:pt x="14988" y="11372"/>
                  </a:moveTo>
                  <a:lnTo>
                    <a:pt x="15115" y="10865"/>
                  </a:lnTo>
                  <a:lnTo>
                    <a:pt x="16072" y="10096"/>
                  </a:lnTo>
                  <a:lnTo>
                    <a:pt x="16455" y="9605"/>
                  </a:lnTo>
                  <a:lnTo>
                    <a:pt x="16455" y="8329"/>
                  </a:lnTo>
                  <a:lnTo>
                    <a:pt x="17156" y="7969"/>
                  </a:lnTo>
                  <a:lnTo>
                    <a:pt x="17879" y="7870"/>
                  </a:lnTo>
                  <a:lnTo>
                    <a:pt x="18177" y="7821"/>
                  </a:lnTo>
                  <a:moveTo>
                    <a:pt x="18368" y="6840"/>
                  </a:moveTo>
                  <a:lnTo>
                    <a:pt x="18049" y="6610"/>
                  </a:lnTo>
                  <a:lnTo>
                    <a:pt x="17411" y="6512"/>
                  </a:lnTo>
                  <a:lnTo>
                    <a:pt x="16859" y="6545"/>
                  </a:lnTo>
                  <a:lnTo>
                    <a:pt x="16603" y="6201"/>
                  </a:lnTo>
                  <a:lnTo>
                    <a:pt x="16731" y="5874"/>
                  </a:lnTo>
                  <a:lnTo>
                    <a:pt x="17241" y="5465"/>
                  </a:lnTo>
                  <a:lnTo>
                    <a:pt x="17858" y="5236"/>
                  </a:lnTo>
                  <a:lnTo>
                    <a:pt x="18007" y="5089"/>
                  </a:lnTo>
                  <a:lnTo>
                    <a:pt x="18049" y="4892"/>
                  </a:lnTo>
                  <a:moveTo>
                    <a:pt x="8100" y="1260"/>
                  </a:moveTo>
                  <a:cubicBezTo>
                    <a:pt x="8333" y="1276"/>
                    <a:pt x="8206" y="1554"/>
                    <a:pt x="8695" y="1652"/>
                  </a:cubicBezTo>
                  <a:cubicBezTo>
                    <a:pt x="9184" y="1750"/>
                    <a:pt x="10481" y="1685"/>
                    <a:pt x="10991" y="1881"/>
                  </a:cubicBezTo>
                  <a:cubicBezTo>
                    <a:pt x="11501" y="2078"/>
                    <a:pt x="11629" y="2503"/>
                    <a:pt x="11799" y="2830"/>
                  </a:cubicBezTo>
                  <a:cubicBezTo>
                    <a:pt x="11969" y="3158"/>
                    <a:pt x="11905" y="3910"/>
                    <a:pt x="12054" y="3894"/>
                  </a:cubicBezTo>
                  <a:cubicBezTo>
                    <a:pt x="12203" y="3878"/>
                    <a:pt x="12351" y="2880"/>
                    <a:pt x="12649" y="2683"/>
                  </a:cubicBezTo>
                  <a:cubicBezTo>
                    <a:pt x="12947" y="2487"/>
                    <a:pt x="13670" y="2536"/>
                    <a:pt x="13840" y="2683"/>
                  </a:cubicBezTo>
                  <a:cubicBezTo>
                    <a:pt x="14010" y="2830"/>
                    <a:pt x="13733" y="3370"/>
                    <a:pt x="13648" y="3616"/>
                  </a:cubicBezTo>
                  <a:cubicBezTo>
                    <a:pt x="13563" y="3861"/>
                    <a:pt x="13457" y="4058"/>
                    <a:pt x="13351" y="4156"/>
                  </a:cubicBezTo>
                  <a:cubicBezTo>
                    <a:pt x="13244" y="4254"/>
                    <a:pt x="13096" y="4221"/>
                    <a:pt x="12947" y="4254"/>
                  </a:cubicBezTo>
                  <a:cubicBezTo>
                    <a:pt x="12777" y="4303"/>
                    <a:pt x="12585" y="4369"/>
                    <a:pt x="12394" y="4401"/>
                  </a:cubicBezTo>
                  <a:cubicBezTo>
                    <a:pt x="12139" y="4500"/>
                    <a:pt x="12054" y="4614"/>
                    <a:pt x="11862" y="4647"/>
                  </a:cubicBezTo>
                  <a:cubicBezTo>
                    <a:pt x="11650" y="4761"/>
                    <a:pt x="11671" y="4680"/>
                    <a:pt x="11437" y="4778"/>
                  </a:cubicBezTo>
                  <a:cubicBezTo>
                    <a:pt x="11352" y="4827"/>
                    <a:pt x="11225" y="4974"/>
                    <a:pt x="11246" y="5072"/>
                  </a:cubicBezTo>
                  <a:cubicBezTo>
                    <a:pt x="11225" y="5154"/>
                    <a:pt x="11267" y="5220"/>
                    <a:pt x="11310" y="5269"/>
                  </a:cubicBezTo>
                  <a:cubicBezTo>
                    <a:pt x="11352" y="5318"/>
                    <a:pt x="11480" y="5383"/>
                    <a:pt x="11565" y="5416"/>
                  </a:cubicBezTo>
                  <a:cubicBezTo>
                    <a:pt x="11629" y="5400"/>
                    <a:pt x="11820" y="5465"/>
                    <a:pt x="11862" y="5432"/>
                  </a:cubicBezTo>
                  <a:cubicBezTo>
                    <a:pt x="11905" y="5416"/>
                    <a:pt x="11926" y="5269"/>
                    <a:pt x="11884" y="5236"/>
                  </a:cubicBezTo>
                  <a:cubicBezTo>
                    <a:pt x="11841" y="5203"/>
                    <a:pt x="11629" y="5269"/>
                    <a:pt x="11565" y="5220"/>
                  </a:cubicBezTo>
                  <a:cubicBezTo>
                    <a:pt x="11480" y="5187"/>
                    <a:pt x="11459" y="5040"/>
                    <a:pt x="11480" y="4974"/>
                  </a:cubicBezTo>
                  <a:cubicBezTo>
                    <a:pt x="11501" y="4909"/>
                    <a:pt x="11607" y="4860"/>
                    <a:pt x="11692" y="4843"/>
                  </a:cubicBezTo>
                  <a:cubicBezTo>
                    <a:pt x="11905" y="4876"/>
                    <a:pt x="11820" y="4876"/>
                    <a:pt x="12054" y="4876"/>
                  </a:cubicBezTo>
                  <a:cubicBezTo>
                    <a:pt x="12075" y="5040"/>
                    <a:pt x="12096" y="5269"/>
                    <a:pt x="12139" y="5416"/>
                  </a:cubicBezTo>
                  <a:cubicBezTo>
                    <a:pt x="12160" y="5465"/>
                    <a:pt x="12330" y="5465"/>
                    <a:pt x="12373" y="5416"/>
                  </a:cubicBezTo>
                  <a:cubicBezTo>
                    <a:pt x="12415" y="5367"/>
                    <a:pt x="12330" y="4974"/>
                    <a:pt x="12394" y="4892"/>
                  </a:cubicBezTo>
                  <a:cubicBezTo>
                    <a:pt x="12458" y="4810"/>
                    <a:pt x="12692" y="4925"/>
                    <a:pt x="12755" y="4892"/>
                  </a:cubicBezTo>
                  <a:cubicBezTo>
                    <a:pt x="12798" y="4860"/>
                    <a:pt x="12840" y="4761"/>
                    <a:pt x="12755" y="4729"/>
                  </a:cubicBezTo>
                  <a:cubicBezTo>
                    <a:pt x="12670" y="4696"/>
                    <a:pt x="12118" y="4745"/>
                    <a:pt x="12203" y="4696"/>
                  </a:cubicBezTo>
                  <a:cubicBezTo>
                    <a:pt x="12543" y="4549"/>
                    <a:pt x="12819" y="4434"/>
                    <a:pt x="13266" y="4401"/>
                  </a:cubicBezTo>
                  <a:cubicBezTo>
                    <a:pt x="13436" y="4385"/>
                    <a:pt x="13585" y="4500"/>
                    <a:pt x="13776" y="4532"/>
                  </a:cubicBezTo>
                  <a:cubicBezTo>
                    <a:pt x="13967" y="4630"/>
                    <a:pt x="13861" y="4843"/>
                    <a:pt x="13712" y="4925"/>
                  </a:cubicBezTo>
                  <a:cubicBezTo>
                    <a:pt x="13648" y="5023"/>
                    <a:pt x="13521" y="5121"/>
                    <a:pt x="13414" y="5187"/>
                  </a:cubicBezTo>
                  <a:cubicBezTo>
                    <a:pt x="13351" y="5285"/>
                    <a:pt x="13287" y="5334"/>
                    <a:pt x="13159" y="5383"/>
                  </a:cubicBezTo>
                  <a:cubicBezTo>
                    <a:pt x="13117" y="5563"/>
                    <a:pt x="12862" y="5743"/>
                    <a:pt x="12649" y="5809"/>
                  </a:cubicBezTo>
                  <a:cubicBezTo>
                    <a:pt x="12543" y="5907"/>
                    <a:pt x="12437" y="5940"/>
                    <a:pt x="12309" y="6005"/>
                  </a:cubicBezTo>
                  <a:cubicBezTo>
                    <a:pt x="12245" y="6120"/>
                    <a:pt x="12139" y="6185"/>
                    <a:pt x="12075" y="6300"/>
                  </a:cubicBezTo>
                  <a:cubicBezTo>
                    <a:pt x="12118" y="6561"/>
                    <a:pt x="12075" y="6643"/>
                    <a:pt x="12373" y="6741"/>
                  </a:cubicBezTo>
                  <a:cubicBezTo>
                    <a:pt x="12500" y="6840"/>
                    <a:pt x="12522" y="6970"/>
                    <a:pt x="12330" y="7036"/>
                  </a:cubicBezTo>
                  <a:cubicBezTo>
                    <a:pt x="12011" y="6987"/>
                    <a:pt x="12033" y="6823"/>
                    <a:pt x="11799" y="6692"/>
                  </a:cubicBezTo>
                  <a:cubicBezTo>
                    <a:pt x="11714" y="6529"/>
                    <a:pt x="11459" y="6430"/>
                    <a:pt x="11246" y="6398"/>
                  </a:cubicBezTo>
                  <a:cubicBezTo>
                    <a:pt x="11076" y="6332"/>
                    <a:pt x="11182" y="6365"/>
                    <a:pt x="10906" y="6365"/>
                  </a:cubicBezTo>
                  <a:cubicBezTo>
                    <a:pt x="10608" y="6512"/>
                    <a:pt x="10544" y="7347"/>
                    <a:pt x="11246" y="7478"/>
                  </a:cubicBezTo>
                  <a:cubicBezTo>
                    <a:pt x="12394" y="7429"/>
                    <a:pt x="13329" y="7772"/>
                    <a:pt x="13733" y="7985"/>
                  </a:cubicBezTo>
                  <a:cubicBezTo>
                    <a:pt x="13840" y="8410"/>
                    <a:pt x="13329" y="8901"/>
                    <a:pt x="12500" y="9343"/>
                  </a:cubicBezTo>
                  <a:cubicBezTo>
                    <a:pt x="11629" y="9736"/>
                    <a:pt x="11480" y="10194"/>
                    <a:pt x="11246" y="10980"/>
                  </a:cubicBezTo>
                  <a:cubicBezTo>
                    <a:pt x="10991" y="11372"/>
                    <a:pt x="10481" y="10930"/>
                    <a:pt x="10289" y="10096"/>
                  </a:cubicBezTo>
                  <a:cubicBezTo>
                    <a:pt x="10140" y="9196"/>
                    <a:pt x="9907" y="8165"/>
                    <a:pt x="10459" y="7576"/>
                  </a:cubicBezTo>
                  <a:cubicBezTo>
                    <a:pt x="9375" y="6790"/>
                    <a:pt x="9269" y="6070"/>
                    <a:pt x="9056" y="6218"/>
                  </a:cubicBezTo>
                  <a:cubicBezTo>
                    <a:pt x="9205" y="6987"/>
                    <a:pt x="8929" y="6660"/>
                    <a:pt x="8737" y="6021"/>
                  </a:cubicBezTo>
                  <a:cubicBezTo>
                    <a:pt x="8822" y="5023"/>
                    <a:pt x="8610" y="4385"/>
                    <a:pt x="8440" y="3550"/>
                  </a:cubicBezTo>
                  <a:lnTo>
                    <a:pt x="7844" y="2290"/>
                  </a:lnTo>
                  <a:lnTo>
                    <a:pt x="6654" y="1849"/>
                  </a:lnTo>
                </a:path>
              </a:pathLst>
            </a:custGeom>
            <a:solidFill>
              <a:srgbClr val="FF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500"/>
                            </p:stCondLst>
                            <p:childTnLst>
                              <p:par>
                                <p:cTn id="16" presetID="2" presetClass="entr" presetSubtype="8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5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60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80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5" grpId="0" build="p" autoUpdateAnimBg="0" advAuto="1000"/>
      <p:bldP spid="33841" grpId="0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Operating System Functions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150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5921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7. INTERNET CONNECTION.</a:t>
            </a:r>
          </a:p>
          <a:p>
            <a:pPr>
              <a:buFont typeface="Monotype Sorts" pitchFamily="2" charset="2"/>
              <a:buNone/>
            </a:pPr>
            <a:r>
              <a:rPr lang="en-US" dirty="0" smtClean="0"/>
              <a:t>How </a:t>
            </a:r>
            <a:r>
              <a:rPr lang="en-US" dirty="0" smtClean="0"/>
              <a:t>do you establish an Internet connection?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7416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17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7413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256 - 257 Fig. 7-6</a:t>
            </a:r>
          </a:p>
        </p:txBody>
      </p:sp>
      <p:sp>
        <p:nvSpPr>
          <p:cNvPr id="150536" name="Rectangle 8"/>
          <p:cNvSpPr>
            <a:spLocks noChangeArrowheads="1"/>
          </p:cNvSpPr>
          <p:nvPr/>
        </p:nvSpPr>
        <p:spPr bwMode="auto">
          <a:xfrm>
            <a:off x="304800" y="1535113"/>
            <a:ext cx="4578350" cy="1925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Font typeface="Wingdings" pitchFamily="2" charset="2"/>
              <a:buChar char="Ø"/>
            </a:pPr>
            <a:endParaRPr kumimoji="1" lang="en-US" sz="2600" b="1" dirty="0" smtClean="0">
              <a:solidFill>
                <a:srgbClr val="000000"/>
              </a:solidFill>
              <a:latin typeface="Times New Roman" pitchFamily="18" charset="0"/>
            </a:endParaRP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Font typeface="Wingdings" pitchFamily="2" charset="2"/>
              <a:buChar char="Ø"/>
            </a:pPr>
            <a:endParaRPr kumimoji="1" lang="en-US" sz="2600" b="1" dirty="0">
              <a:solidFill>
                <a:srgbClr val="000000"/>
              </a:solidFill>
              <a:latin typeface="Times New Roman" pitchFamily="18" charset="0"/>
            </a:endParaRP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Font typeface="Wingdings" pitchFamily="2" charset="2"/>
              <a:buChar char="Ø"/>
            </a:pPr>
            <a:r>
              <a:rPr kumimoji="1" lang="en-US" sz="2600" b="1" dirty="0" smtClean="0">
                <a:solidFill>
                  <a:srgbClr val="000000"/>
                </a:solidFill>
                <a:latin typeface="Times New Roman" pitchFamily="18" charset="0"/>
              </a:rPr>
              <a:t>Windows </a:t>
            </a:r>
            <a:r>
              <a:rPr kumimoji="1" lang="en-US" sz="2600" b="1" dirty="0">
                <a:solidFill>
                  <a:srgbClr val="000000"/>
                </a:solidFill>
                <a:latin typeface="Times New Roman" pitchFamily="18" charset="0"/>
              </a:rPr>
              <a:t>Vista includes Connect to a network wizard</a:t>
            </a:r>
          </a:p>
          <a:p>
            <a:pPr marL="1028700" lvl="2" indent="-457200">
              <a:spcBef>
                <a:spcPct val="20000"/>
              </a:spcBef>
              <a:buClr>
                <a:srgbClr val="D94439"/>
              </a:buClr>
              <a:buFont typeface="Wingdings" pitchFamily="2" charset="2"/>
              <a:buChar char="§"/>
            </a:pPr>
            <a:r>
              <a:rPr kumimoji="1" lang="en-US" dirty="0">
                <a:solidFill>
                  <a:srgbClr val="000000"/>
                </a:solidFill>
                <a:latin typeface="Times New Roman" pitchFamily="18" charset="0"/>
              </a:rPr>
              <a:t>Guides user through setting up connection between computer and Internet</a:t>
            </a:r>
          </a:p>
        </p:txBody>
      </p:sp>
      <p:pic>
        <p:nvPicPr>
          <p:cNvPr id="150537" name="Picture 9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10138" y="2411413"/>
            <a:ext cx="3954462" cy="28575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0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50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505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505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000"/>
                            </p:stCondLst>
                            <p:childTnLst>
                              <p:par>
                                <p:cTn id="21" presetID="49" presetClass="entr" presetSubtype="0" decel="10000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505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505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053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05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5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531" grpId="0" build="p" bldLvl="4" autoUpdateAnimBg="0" advAuto="1000"/>
      <p:bldP spid="150536" grpId="0" build="p" bldLvl="4" autoUpdateAnimBg="0" advAuto="400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Operating System Functions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6619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8. PERFORMANCE MONITORING.</a:t>
            </a:r>
          </a:p>
          <a:p>
            <a:pPr>
              <a:buFont typeface="Monotype Sorts" pitchFamily="2" charset="2"/>
              <a:buNone/>
            </a:pPr>
            <a:r>
              <a:rPr lang="en-US" dirty="0" smtClean="0"/>
              <a:t>How </a:t>
            </a:r>
            <a:r>
              <a:rPr lang="en-US" dirty="0" smtClean="0"/>
              <a:t>does an operating system monitor performance?</a:t>
            </a:r>
            <a:endParaRPr lang="en-US" dirty="0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18439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0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18437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257</a:t>
            </a:r>
          </a:p>
        </p:txBody>
      </p:sp>
      <p:sp>
        <p:nvSpPr>
          <p:cNvPr id="39946" name="Rectangle 10"/>
          <p:cNvSpPr>
            <a:spLocks noChangeArrowheads="1"/>
          </p:cNvSpPr>
          <p:nvPr/>
        </p:nvSpPr>
        <p:spPr bwMode="auto">
          <a:xfrm>
            <a:off x="381000" y="1524000"/>
            <a:ext cx="7950200" cy="3733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endParaRPr kumimoji="1" lang="en-US" sz="2600" b="1" dirty="0" smtClean="0">
              <a:solidFill>
                <a:srgbClr val="000000"/>
              </a:solidFill>
              <a:latin typeface="Times New Roman" pitchFamily="18" charset="0"/>
            </a:endParaRP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endParaRPr kumimoji="1" lang="en-US" sz="2600" b="1" dirty="0">
              <a:solidFill>
                <a:srgbClr val="000000"/>
              </a:solidFill>
              <a:latin typeface="Times New Roman" pitchFamily="18" charset="0"/>
            </a:endParaRP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 dirty="0" smtClean="0">
                <a:solidFill>
                  <a:srgbClr val="000000"/>
                </a:solidFill>
                <a:latin typeface="Times New Roman" pitchFamily="18" charset="0"/>
              </a:rPr>
              <a:t>Provides </a:t>
            </a:r>
            <a:r>
              <a:rPr kumimoji="1" lang="en-US" sz="2600" b="1" dirty="0">
                <a:solidFill>
                  <a:srgbClr val="000000"/>
                </a:solidFill>
                <a:latin typeface="Times New Roman" pitchFamily="18" charset="0"/>
              </a:rPr>
              <a:t>program, called </a:t>
            </a:r>
            <a:r>
              <a:rPr kumimoji="1" lang="en-US" sz="2600" b="1" dirty="0">
                <a:solidFill>
                  <a:srgbClr val="D94439"/>
                </a:solidFill>
                <a:latin typeface="Times New Roman" pitchFamily="18" charset="0"/>
              </a:rPr>
              <a:t>performance monitor</a:t>
            </a:r>
            <a:r>
              <a:rPr kumimoji="1" lang="en-US" sz="2600" b="1" dirty="0">
                <a:solidFill>
                  <a:srgbClr val="000000"/>
                </a:solidFill>
                <a:latin typeface="Times New Roman" pitchFamily="18" charset="0"/>
              </a:rPr>
              <a:t>, that assesses and reports information about </a:t>
            </a:r>
            <a:br>
              <a:rPr kumimoji="1" lang="en-US" sz="2600" b="1" dirty="0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 dirty="0">
                <a:solidFill>
                  <a:srgbClr val="000000"/>
                </a:solidFill>
                <a:latin typeface="Times New Roman" pitchFamily="18" charset="0"/>
              </a:rPr>
              <a:t>various computer resources and devices</a:t>
            </a:r>
            <a:endParaRPr kumimoji="1" lang="en-US" sz="2600" b="1" dirty="0">
              <a:solidFill>
                <a:srgbClr val="000000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99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 bldLvl="4" autoUpdateAnimBg="0" advAuto="1000"/>
      <p:bldP spid="39946" grpId="0" build="p" bldLvl="4" autoUpdateAnimBg="0" advAuto="400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Utility </a:t>
            </a:r>
            <a:r>
              <a:rPr lang="en-US" dirty="0" smtClean="0"/>
              <a:t>Programs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6715125" cy="5921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utility program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0488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489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0485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259 Fig. 7-8</a:t>
            </a:r>
          </a:p>
        </p:txBody>
      </p:sp>
      <p:sp>
        <p:nvSpPr>
          <p:cNvPr id="44043" name="Rectangle 11"/>
          <p:cNvSpPr>
            <a:spLocks noChangeArrowheads="1"/>
          </p:cNvSpPr>
          <p:nvPr/>
        </p:nvSpPr>
        <p:spPr bwMode="auto">
          <a:xfrm>
            <a:off x="304800" y="1535113"/>
            <a:ext cx="6715125" cy="2255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System software that performs maintenance-type tasks</a:t>
            </a:r>
          </a:p>
          <a:p>
            <a:pPr marL="1028700" lvl="2" indent="-457200">
              <a:spcBef>
                <a:spcPct val="20000"/>
              </a:spcBef>
              <a:buClr>
                <a:srgbClr val="D94439"/>
              </a:buClr>
              <a:buFont typeface="Wingdings" pitchFamily="2" charset="2"/>
              <a:buChar char="§"/>
            </a:pPr>
            <a:r>
              <a:rPr kumimoji="1" lang="en-US">
                <a:solidFill>
                  <a:srgbClr val="000000"/>
                </a:solidFill>
                <a:latin typeface="Times New Roman" pitchFamily="18" charset="0"/>
              </a:rPr>
              <a:t>Also called </a:t>
            </a:r>
            <a:br>
              <a:rPr kumimoji="1" lang="en-US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b="1">
                <a:solidFill>
                  <a:srgbClr val="D94439"/>
                </a:solidFill>
                <a:latin typeface="Times New Roman" pitchFamily="18" charset="0"/>
              </a:rPr>
              <a:t>utility</a:t>
            </a:r>
            <a:endParaRPr kumimoji="1" lang="en-US" b="1">
              <a:solidFill>
                <a:srgbClr val="D94439"/>
              </a:solidFill>
              <a:latin typeface="Arial Unicode MS" pitchFamily="34" charset="-128"/>
            </a:endParaRPr>
          </a:p>
        </p:txBody>
      </p:sp>
      <p:pic>
        <p:nvPicPr>
          <p:cNvPr id="10" name="Picture 9" descr="CFig8-14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691" y="2380733"/>
            <a:ext cx="4592659" cy="35969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40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40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40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3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1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 build="p" bldLvl="4" autoUpdateAnimBg="0" advAuto="1000"/>
      <p:bldP spid="44043" grpId="0" build="p" bldLvl="4" autoUpdateAnimBg="0" advAuto="300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Utility Programs…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5857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1. File manager</a:t>
            </a:r>
            <a:r>
              <a:rPr lang="en-US" dirty="0" smtClean="0"/>
              <a:t>?</a:t>
            </a:r>
            <a:endParaRPr lang="en-US" dirty="0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1513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514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1509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259 Figs. 7-9–7-10</a:t>
            </a:r>
          </a:p>
        </p:txBody>
      </p:sp>
      <p:sp>
        <p:nvSpPr>
          <p:cNvPr id="46092" name="Rectangle 12"/>
          <p:cNvSpPr>
            <a:spLocks noChangeArrowheads="1"/>
          </p:cNvSpPr>
          <p:nvPr/>
        </p:nvSpPr>
        <p:spPr bwMode="auto">
          <a:xfrm>
            <a:off x="330200" y="1524000"/>
            <a:ext cx="75184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Performs functions such as formatting, copying, renaming, deleting, and moving files</a:t>
            </a:r>
          </a:p>
        </p:txBody>
      </p:sp>
      <p:sp>
        <p:nvSpPr>
          <p:cNvPr id="46093" name="Rectangle 13"/>
          <p:cNvSpPr>
            <a:spLocks noChangeArrowheads="1"/>
          </p:cNvSpPr>
          <p:nvPr/>
        </p:nvSpPr>
        <p:spPr bwMode="auto">
          <a:xfrm>
            <a:off x="325438" y="2286000"/>
            <a:ext cx="3276600" cy="247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D94439"/>
                </a:solidFill>
                <a:latin typeface="Times New Roman" pitchFamily="18" charset="0"/>
              </a:rPr>
              <a:t>Search utility </a:t>
            </a:r>
            <a:r>
              <a:rPr kumimoji="1" lang="en-US" sz="2600" b="1">
                <a:solidFill>
                  <a:schemeClr val="bg2"/>
                </a:solidFill>
                <a:latin typeface="Times New Roman" pitchFamily="18" charset="0"/>
              </a:rPr>
              <a:t>attempts to locate files on your computer</a:t>
            </a:r>
            <a:endParaRPr kumimoji="1" lang="en-US" sz="2600" b="1">
              <a:solidFill>
                <a:srgbClr val="D94439"/>
              </a:solidFill>
              <a:latin typeface="Times New Roman" pitchFamily="18" charset="0"/>
            </a:endParaRP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D94439"/>
                </a:solidFill>
                <a:latin typeface="Times New Roman" pitchFamily="18" charset="0"/>
              </a:rPr>
              <a:t>Image viewer</a:t>
            </a: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 displays contents of graphics file when you double click on it</a:t>
            </a:r>
          </a:p>
        </p:txBody>
      </p:sp>
      <p:pic>
        <p:nvPicPr>
          <p:cNvPr id="11" name="Picture 10" descr="CFig8-15_16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929" y="2527300"/>
            <a:ext cx="5193550" cy="3235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60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460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460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0"/>
                            </p:stCondLst>
                            <p:childTnLst>
                              <p:par>
                                <p:cTn id="21" presetID="4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5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3" grpId="0" build="p" bldLvl="4" autoUpdateAnimBg="0" advAuto="1000"/>
      <p:bldP spid="46092" grpId="0" build="p" bldLvl="4" autoUpdateAnimBg="0" advAuto="3000"/>
      <p:bldP spid="46093" grpId="0" build="p" bldLvl="4" autoUpdateAnimBg="0" advAuto="400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Utility Programs…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138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5857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2. Firewa</a:t>
            </a:r>
            <a:r>
              <a:rPr lang="en-US" dirty="0" smtClean="0"/>
              <a:t>ll</a:t>
            </a:r>
            <a:endParaRPr lang="en-US" dirty="0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2540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1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2533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260 Figs. 7-11</a:t>
            </a:r>
          </a:p>
        </p:txBody>
      </p:sp>
      <p:sp>
        <p:nvSpPr>
          <p:cNvPr id="138248" name="Rectangle 8"/>
          <p:cNvSpPr>
            <a:spLocks noChangeArrowheads="1"/>
          </p:cNvSpPr>
          <p:nvPr/>
        </p:nvSpPr>
        <p:spPr bwMode="auto">
          <a:xfrm>
            <a:off x="330200" y="1524000"/>
            <a:ext cx="75184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Detects and protects a personal computer from unauthorized intrusions</a:t>
            </a:r>
          </a:p>
        </p:txBody>
      </p:sp>
      <p:sp>
        <p:nvSpPr>
          <p:cNvPr id="138249" name="Rectangle 9"/>
          <p:cNvSpPr>
            <a:spLocks noChangeArrowheads="1"/>
          </p:cNvSpPr>
          <p:nvPr/>
        </p:nvSpPr>
        <p:spPr bwMode="auto">
          <a:xfrm>
            <a:off x="325438" y="2286000"/>
            <a:ext cx="3276600" cy="247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Windows Vista automatically enables the built-in personal firewall upon installation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0" y="4800600"/>
            <a:ext cx="1981200" cy="1295400"/>
            <a:chOff x="0" y="3024"/>
            <a:chExt cx="1248" cy="816"/>
          </a:xfrm>
        </p:grpSpPr>
        <p:sp>
          <p:nvSpPr>
            <p:cNvPr id="22538" name="Rectangle 14"/>
            <p:cNvSpPr>
              <a:spLocks noChangeArrowheads="1"/>
            </p:cNvSpPr>
            <p:nvPr/>
          </p:nvSpPr>
          <p:spPr bwMode="auto">
            <a:xfrm>
              <a:off x="0" y="3456"/>
              <a:ext cx="1248" cy="38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44450" rIns="90488" bIns="44450"/>
            <a:lstStyle/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to view Web Link,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Chapter 7, Click Web Link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from left navigation, </a:t>
              </a:r>
            </a:p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then click Personal Firewalls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below Chapter 7</a:t>
              </a:r>
            </a:p>
          </p:txBody>
        </p:sp>
        <p:sp>
          <p:nvSpPr>
            <p:cNvPr id="22539" name="Webpage">
              <a:hlinkClick r:id="rId2"/>
            </p:cNvPr>
            <p:cNvSpPr>
              <a:spLocks noEditPoints="1" noChangeArrowheads="1"/>
            </p:cNvSpPr>
            <p:nvPr/>
          </p:nvSpPr>
          <p:spPr bwMode="auto">
            <a:xfrm>
              <a:off x="96" y="3024"/>
              <a:ext cx="278" cy="37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w 21600"/>
                <a:gd name="T13" fmla="*/ 0 h 21600"/>
                <a:gd name="T14" fmla="*/ 0 w 21600"/>
                <a:gd name="T15" fmla="*/ 0 h 21600"/>
                <a:gd name="T16" fmla="*/ 0 w 21600"/>
                <a:gd name="T17" fmla="*/ 0 h 21600"/>
                <a:gd name="T18" fmla="*/ 0 w 21600"/>
                <a:gd name="T19" fmla="*/ 0 h 2160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1942 w 21600"/>
                <a:gd name="T31" fmla="*/ 12832 h 21600"/>
                <a:gd name="T32" fmla="*/ 19813 w 21600"/>
                <a:gd name="T33" fmla="*/ 20729 h 2160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1600" h="21600" extrusionOk="0">
                  <a:moveTo>
                    <a:pt x="9184" y="949"/>
                  </a:moveTo>
                  <a:lnTo>
                    <a:pt x="9758" y="1309"/>
                  </a:lnTo>
                  <a:lnTo>
                    <a:pt x="11544" y="1292"/>
                  </a:lnTo>
                  <a:lnTo>
                    <a:pt x="12437" y="1292"/>
                  </a:lnTo>
                  <a:lnTo>
                    <a:pt x="13414" y="1161"/>
                  </a:lnTo>
                  <a:lnTo>
                    <a:pt x="13648" y="1243"/>
                  </a:lnTo>
                  <a:lnTo>
                    <a:pt x="13542" y="1390"/>
                  </a:lnTo>
                  <a:lnTo>
                    <a:pt x="13967" y="1849"/>
                  </a:lnTo>
                  <a:lnTo>
                    <a:pt x="14562" y="2520"/>
                  </a:lnTo>
                  <a:lnTo>
                    <a:pt x="14669" y="3223"/>
                  </a:lnTo>
                  <a:lnTo>
                    <a:pt x="14796" y="3518"/>
                  </a:lnTo>
                  <a:lnTo>
                    <a:pt x="15264" y="3665"/>
                  </a:lnTo>
                  <a:lnTo>
                    <a:pt x="15753" y="3518"/>
                  </a:lnTo>
                  <a:lnTo>
                    <a:pt x="15902" y="2978"/>
                  </a:lnTo>
                  <a:lnTo>
                    <a:pt x="16008" y="2323"/>
                  </a:lnTo>
                  <a:moveTo>
                    <a:pt x="10757" y="21632"/>
                  </a:moveTo>
                  <a:lnTo>
                    <a:pt x="5187" y="21632"/>
                  </a:lnTo>
                  <a:lnTo>
                    <a:pt x="85" y="17509"/>
                  </a:lnTo>
                  <a:lnTo>
                    <a:pt x="85" y="10849"/>
                  </a:lnTo>
                  <a:lnTo>
                    <a:pt x="85" y="81"/>
                  </a:lnTo>
                  <a:lnTo>
                    <a:pt x="10757" y="81"/>
                  </a:lnTo>
                  <a:lnTo>
                    <a:pt x="21706" y="81"/>
                  </a:lnTo>
                  <a:lnTo>
                    <a:pt x="21706" y="10652"/>
                  </a:lnTo>
                  <a:lnTo>
                    <a:pt x="21706" y="21632"/>
                  </a:lnTo>
                  <a:lnTo>
                    <a:pt x="10757" y="21632"/>
                  </a:lnTo>
                  <a:close/>
                </a:path>
                <a:path w="21600" h="21600" extrusionOk="0">
                  <a:moveTo>
                    <a:pt x="85" y="17509"/>
                  </a:moveTo>
                  <a:lnTo>
                    <a:pt x="5187" y="17509"/>
                  </a:lnTo>
                  <a:lnTo>
                    <a:pt x="5187" y="21632"/>
                  </a:lnTo>
                  <a:lnTo>
                    <a:pt x="85" y="17509"/>
                  </a:lnTo>
                  <a:close/>
                </a:path>
                <a:path w="21600" h="21600" extrusionOk="0">
                  <a:moveTo>
                    <a:pt x="5591" y="10620"/>
                  </a:moveTo>
                  <a:lnTo>
                    <a:pt x="6122" y="10996"/>
                  </a:lnTo>
                  <a:lnTo>
                    <a:pt x="6696" y="11340"/>
                  </a:lnTo>
                  <a:lnTo>
                    <a:pt x="7313" y="11618"/>
                  </a:lnTo>
                  <a:lnTo>
                    <a:pt x="7972" y="11863"/>
                  </a:lnTo>
                  <a:lnTo>
                    <a:pt x="8652" y="12060"/>
                  </a:lnTo>
                  <a:lnTo>
                    <a:pt x="9396" y="12190"/>
                  </a:lnTo>
                  <a:lnTo>
                    <a:pt x="10119" y="12272"/>
                  </a:lnTo>
                  <a:lnTo>
                    <a:pt x="10906" y="12305"/>
                  </a:lnTo>
                  <a:lnTo>
                    <a:pt x="11650" y="12272"/>
                  </a:lnTo>
                  <a:lnTo>
                    <a:pt x="12373" y="12190"/>
                  </a:lnTo>
                  <a:lnTo>
                    <a:pt x="13117" y="12060"/>
                  </a:lnTo>
                  <a:lnTo>
                    <a:pt x="13797" y="11863"/>
                  </a:lnTo>
                  <a:lnTo>
                    <a:pt x="14456" y="11618"/>
                  </a:lnTo>
                  <a:lnTo>
                    <a:pt x="15073" y="11340"/>
                  </a:lnTo>
                  <a:lnTo>
                    <a:pt x="15647" y="11029"/>
                  </a:lnTo>
                  <a:lnTo>
                    <a:pt x="16178" y="10652"/>
                  </a:lnTo>
                  <a:lnTo>
                    <a:pt x="16667" y="10243"/>
                  </a:lnTo>
                  <a:lnTo>
                    <a:pt x="17071" y="9801"/>
                  </a:lnTo>
                  <a:lnTo>
                    <a:pt x="17475" y="9327"/>
                  </a:lnTo>
                  <a:lnTo>
                    <a:pt x="17815" y="8820"/>
                  </a:lnTo>
                  <a:lnTo>
                    <a:pt x="18049" y="8296"/>
                  </a:lnTo>
                  <a:lnTo>
                    <a:pt x="18262" y="7723"/>
                  </a:lnTo>
                  <a:lnTo>
                    <a:pt x="18347" y="7134"/>
                  </a:lnTo>
                  <a:lnTo>
                    <a:pt x="18389" y="6561"/>
                  </a:lnTo>
                  <a:lnTo>
                    <a:pt x="18347" y="5956"/>
                  </a:lnTo>
                  <a:lnTo>
                    <a:pt x="18262" y="5400"/>
                  </a:lnTo>
                  <a:lnTo>
                    <a:pt x="18049" y="4827"/>
                  </a:lnTo>
                  <a:lnTo>
                    <a:pt x="17815" y="4303"/>
                  </a:lnTo>
                  <a:lnTo>
                    <a:pt x="17475" y="3796"/>
                  </a:lnTo>
                  <a:lnTo>
                    <a:pt x="17114" y="3321"/>
                  </a:lnTo>
                  <a:lnTo>
                    <a:pt x="16710" y="2880"/>
                  </a:lnTo>
                  <a:lnTo>
                    <a:pt x="16221" y="2470"/>
                  </a:lnTo>
                  <a:lnTo>
                    <a:pt x="15689" y="2094"/>
                  </a:lnTo>
                  <a:lnTo>
                    <a:pt x="15115" y="1750"/>
                  </a:lnTo>
                  <a:lnTo>
                    <a:pt x="14499" y="1472"/>
                  </a:lnTo>
                  <a:lnTo>
                    <a:pt x="13797" y="1227"/>
                  </a:lnTo>
                  <a:lnTo>
                    <a:pt x="13117" y="1030"/>
                  </a:lnTo>
                  <a:lnTo>
                    <a:pt x="12415" y="883"/>
                  </a:lnTo>
                  <a:lnTo>
                    <a:pt x="11650" y="818"/>
                  </a:lnTo>
                  <a:lnTo>
                    <a:pt x="10906" y="785"/>
                  </a:lnTo>
                  <a:lnTo>
                    <a:pt x="10119" y="818"/>
                  </a:lnTo>
                  <a:lnTo>
                    <a:pt x="9396" y="883"/>
                  </a:lnTo>
                  <a:lnTo>
                    <a:pt x="8652" y="1030"/>
                  </a:lnTo>
                  <a:lnTo>
                    <a:pt x="8014" y="1227"/>
                  </a:lnTo>
                  <a:lnTo>
                    <a:pt x="7355" y="1440"/>
                  </a:lnTo>
                  <a:lnTo>
                    <a:pt x="6739" y="1750"/>
                  </a:lnTo>
                  <a:lnTo>
                    <a:pt x="6122" y="2061"/>
                  </a:lnTo>
                  <a:lnTo>
                    <a:pt x="5591" y="2438"/>
                  </a:lnTo>
                  <a:lnTo>
                    <a:pt x="5102" y="2847"/>
                  </a:lnTo>
                  <a:lnTo>
                    <a:pt x="4698" y="3289"/>
                  </a:lnTo>
                  <a:lnTo>
                    <a:pt x="4294" y="3763"/>
                  </a:lnTo>
                  <a:lnTo>
                    <a:pt x="3996" y="4270"/>
                  </a:lnTo>
                  <a:lnTo>
                    <a:pt x="3720" y="4794"/>
                  </a:lnTo>
                  <a:lnTo>
                    <a:pt x="3550" y="5367"/>
                  </a:lnTo>
                  <a:lnTo>
                    <a:pt x="3422" y="5956"/>
                  </a:lnTo>
                  <a:lnTo>
                    <a:pt x="3380" y="6561"/>
                  </a:lnTo>
                  <a:lnTo>
                    <a:pt x="3422" y="7134"/>
                  </a:lnTo>
                  <a:lnTo>
                    <a:pt x="3550" y="7690"/>
                  </a:lnTo>
                  <a:lnTo>
                    <a:pt x="3720" y="8263"/>
                  </a:lnTo>
                  <a:lnTo>
                    <a:pt x="3954" y="8787"/>
                  </a:lnTo>
                  <a:lnTo>
                    <a:pt x="4294" y="9294"/>
                  </a:lnTo>
                  <a:lnTo>
                    <a:pt x="4655" y="9769"/>
                  </a:lnTo>
                  <a:lnTo>
                    <a:pt x="5102" y="10210"/>
                  </a:lnTo>
                  <a:lnTo>
                    <a:pt x="5591" y="10620"/>
                  </a:lnTo>
                  <a:close/>
                </a:path>
                <a:path w="21600" h="21600" extrusionOk="0">
                  <a:moveTo>
                    <a:pt x="3401" y="6021"/>
                  </a:moveTo>
                  <a:lnTo>
                    <a:pt x="4039" y="5530"/>
                  </a:lnTo>
                  <a:lnTo>
                    <a:pt x="4294" y="4892"/>
                  </a:lnTo>
                  <a:lnTo>
                    <a:pt x="4677" y="4156"/>
                  </a:lnTo>
                  <a:lnTo>
                    <a:pt x="5166" y="3763"/>
                  </a:lnTo>
                  <a:lnTo>
                    <a:pt x="5378" y="3354"/>
                  </a:lnTo>
                  <a:lnTo>
                    <a:pt x="5293" y="2732"/>
                  </a:lnTo>
                  <a:moveTo>
                    <a:pt x="3507" y="7380"/>
                  </a:moveTo>
                  <a:lnTo>
                    <a:pt x="3890" y="7200"/>
                  </a:lnTo>
                  <a:lnTo>
                    <a:pt x="4103" y="7249"/>
                  </a:lnTo>
                  <a:lnTo>
                    <a:pt x="4400" y="7527"/>
                  </a:lnTo>
                  <a:lnTo>
                    <a:pt x="4719" y="7674"/>
                  </a:lnTo>
                  <a:lnTo>
                    <a:pt x="5293" y="7641"/>
                  </a:lnTo>
                  <a:lnTo>
                    <a:pt x="5740" y="7543"/>
                  </a:lnTo>
                  <a:lnTo>
                    <a:pt x="6144" y="7543"/>
                  </a:lnTo>
                  <a:lnTo>
                    <a:pt x="6526" y="7821"/>
                  </a:lnTo>
                  <a:lnTo>
                    <a:pt x="6569" y="8312"/>
                  </a:lnTo>
                  <a:lnTo>
                    <a:pt x="6059" y="8852"/>
                  </a:lnTo>
                  <a:lnTo>
                    <a:pt x="5803" y="8967"/>
                  </a:lnTo>
                  <a:lnTo>
                    <a:pt x="5803" y="9147"/>
                  </a:lnTo>
                  <a:lnTo>
                    <a:pt x="5421" y="9294"/>
                  </a:lnTo>
                  <a:lnTo>
                    <a:pt x="4868" y="9163"/>
                  </a:lnTo>
                  <a:lnTo>
                    <a:pt x="4337" y="9049"/>
                  </a:lnTo>
                  <a:lnTo>
                    <a:pt x="4081" y="9000"/>
                  </a:lnTo>
                  <a:moveTo>
                    <a:pt x="14988" y="11372"/>
                  </a:moveTo>
                  <a:lnTo>
                    <a:pt x="15115" y="10865"/>
                  </a:lnTo>
                  <a:lnTo>
                    <a:pt x="16072" y="10096"/>
                  </a:lnTo>
                  <a:lnTo>
                    <a:pt x="16455" y="9605"/>
                  </a:lnTo>
                  <a:lnTo>
                    <a:pt x="16455" y="8329"/>
                  </a:lnTo>
                  <a:lnTo>
                    <a:pt x="17156" y="7969"/>
                  </a:lnTo>
                  <a:lnTo>
                    <a:pt x="17879" y="7870"/>
                  </a:lnTo>
                  <a:lnTo>
                    <a:pt x="18177" y="7821"/>
                  </a:lnTo>
                  <a:moveTo>
                    <a:pt x="18368" y="6840"/>
                  </a:moveTo>
                  <a:lnTo>
                    <a:pt x="18049" y="6610"/>
                  </a:lnTo>
                  <a:lnTo>
                    <a:pt x="17411" y="6512"/>
                  </a:lnTo>
                  <a:lnTo>
                    <a:pt x="16859" y="6545"/>
                  </a:lnTo>
                  <a:lnTo>
                    <a:pt x="16603" y="6201"/>
                  </a:lnTo>
                  <a:lnTo>
                    <a:pt x="16731" y="5874"/>
                  </a:lnTo>
                  <a:lnTo>
                    <a:pt x="17241" y="5465"/>
                  </a:lnTo>
                  <a:lnTo>
                    <a:pt x="17858" y="5236"/>
                  </a:lnTo>
                  <a:lnTo>
                    <a:pt x="18007" y="5089"/>
                  </a:lnTo>
                  <a:lnTo>
                    <a:pt x="18049" y="4892"/>
                  </a:lnTo>
                  <a:moveTo>
                    <a:pt x="8100" y="1260"/>
                  </a:moveTo>
                  <a:cubicBezTo>
                    <a:pt x="8333" y="1276"/>
                    <a:pt x="8206" y="1554"/>
                    <a:pt x="8695" y="1652"/>
                  </a:cubicBezTo>
                  <a:cubicBezTo>
                    <a:pt x="9184" y="1750"/>
                    <a:pt x="10481" y="1685"/>
                    <a:pt x="10991" y="1881"/>
                  </a:cubicBezTo>
                  <a:cubicBezTo>
                    <a:pt x="11501" y="2078"/>
                    <a:pt x="11629" y="2503"/>
                    <a:pt x="11799" y="2830"/>
                  </a:cubicBezTo>
                  <a:cubicBezTo>
                    <a:pt x="11969" y="3158"/>
                    <a:pt x="11905" y="3910"/>
                    <a:pt x="12054" y="3894"/>
                  </a:cubicBezTo>
                  <a:cubicBezTo>
                    <a:pt x="12203" y="3878"/>
                    <a:pt x="12351" y="2880"/>
                    <a:pt x="12649" y="2683"/>
                  </a:cubicBezTo>
                  <a:cubicBezTo>
                    <a:pt x="12947" y="2487"/>
                    <a:pt x="13670" y="2536"/>
                    <a:pt x="13840" y="2683"/>
                  </a:cubicBezTo>
                  <a:cubicBezTo>
                    <a:pt x="14010" y="2830"/>
                    <a:pt x="13733" y="3370"/>
                    <a:pt x="13648" y="3616"/>
                  </a:cubicBezTo>
                  <a:cubicBezTo>
                    <a:pt x="13563" y="3861"/>
                    <a:pt x="13457" y="4058"/>
                    <a:pt x="13351" y="4156"/>
                  </a:cubicBezTo>
                  <a:cubicBezTo>
                    <a:pt x="13244" y="4254"/>
                    <a:pt x="13096" y="4221"/>
                    <a:pt x="12947" y="4254"/>
                  </a:cubicBezTo>
                  <a:cubicBezTo>
                    <a:pt x="12777" y="4303"/>
                    <a:pt x="12585" y="4369"/>
                    <a:pt x="12394" y="4401"/>
                  </a:cubicBezTo>
                  <a:cubicBezTo>
                    <a:pt x="12139" y="4500"/>
                    <a:pt x="12054" y="4614"/>
                    <a:pt x="11862" y="4647"/>
                  </a:cubicBezTo>
                  <a:cubicBezTo>
                    <a:pt x="11650" y="4761"/>
                    <a:pt x="11671" y="4680"/>
                    <a:pt x="11437" y="4778"/>
                  </a:cubicBezTo>
                  <a:cubicBezTo>
                    <a:pt x="11352" y="4827"/>
                    <a:pt x="11225" y="4974"/>
                    <a:pt x="11246" y="5072"/>
                  </a:cubicBezTo>
                  <a:cubicBezTo>
                    <a:pt x="11225" y="5154"/>
                    <a:pt x="11267" y="5220"/>
                    <a:pt x="11310" y="5269"/>
                  </a:cubicBezTo>
                  <a:cubicBezTo>
                    <a:pt x="11352" y="5318"/>
                    <a:pt x="11480" y="5383"/>
                    <a:pt x="11565" y="5416"/>
                  </a:cubicBezTo>
                  <a:cubicBezTo>
                    <a:pt x="11629" y="5400"/>
                    <a:pt x="11820" y="5465"/>
                    <a:pt x="11862" y="5432"/>
                  </a:cubicBezTo>
                  <a:cubicBezTo>
                    <a:pt x="11905" y="5416"/>
                    <a:pt x="11926" y="5269"/>
                    <a:pt x="11884" y="5236"/>
                  </a:cubicBezTo>
                  <a:cubicBezTo>
                    <a:pt x="11841" y="5203"/>
                    <a:pt x="11629" y="5269"/>
                    <a:pt x="11565" y="5220"/>
                  </a:cubicBezTo>
                  <a:cubicBezTo>
                    <a:pt x="11480" y="5187"/>
                    <a:pt x="11459" y="5040"/>
                    <a:pt x="11480" y="4974"/>
                  </a:cubicBezTo>
                  <a:cubicBezTo>
                    <a:pt x="11501" y="4909"/>
                    <a:pt x="11607" y="4860"/>
                    <a:pt x="11692" y="4843"/>
                  </a:cubicBezTo>
                  <a:cubicBezTo>
                    <a:pt x="11905" y="4876"/>
                    <a:pt x="11820" y="4876"/>
                    <a:pt x="12054" y="4876"/>
                  </a:cubicBezTo>
                  <a:cubicBezTo>
                    <a:pt x="12075" y="5040"/>
                    <a:pt x="12096" y="5269"/>
                    <a:pt x="12139" y="5416"/>
                  </a:cubicBezTo>
                  <a:cubicBezTo>
                    <a:pt x="12160" y="5465"/>
                    <a:pt x="12330" y="5465"/>
                    <a:pt x="12373" y="5416"/>
                  </a:cubicBezTo>
                  <a:cubicBezTo>
                    <a:pt x="12415" y="5367"/>
                    <a:pt x="12330" y="4974"/>
                    <a:pt x="12394" y="4892"/>
                  </a:cubicBezTo>
                  <a:cubicBezTo>
                    <a:pt x="12458" y="4810"/>
                    <a:pt x="12692" y="4925"/>
                    <a:pt x="12755" y="4892"/>
                  </a:cubicBezTo>
                  <a:cubicBezTo>
                    <a:pt x="12798" y="4860"/>
                    <a:pt x="12840" y="4761"/>
                    <a:pt x="12755" y="4729"/>
                  </a:cubicBezTo>
                  <a:cubicBezTo>
                    <a:pt x="12670" y="4696"/>
                    <a:pt x="12118" y="4745"/>
                    <a:pt x="12203" y="4696"/>
                  </a:cubicBezTo>
                  <a:cubicBezTo>
                    <a:pt x="12543" y="4549"/>
                    <a:pt x="12819" y="4434"/>
                    <a:pt x="13266" y="4401"/>
                  </a:cubicBezTo>
                  <a:cubicBezTo>
                    <a:pt x="13436" y="4385"/>
                    <a:pt x="13585" y="4500"/>
                    <a:pt x="13776" y="4532"/>
                  </a:cubicBezTo>
                  <a:cubicBezTo>
                    <a:pt x="13967" y="4630"/>
                    <a:pt x="13861" y="4843"/>
                    <a:pt x="13712" y="4925"/>
                  </a:cubicBezTo>
                  <a:cubicBezTo>
                    <a:pt x="13648" y="5023"/>
                    <a:pt x="13521" y="5121"/>
                    <a:pt x="13414" y="5187"/>
                  </a:cubicBezTo>
                  <a:cubicBezTo>
                    <a:pt x="13351" y="5285"/>
                    <a:pt x="13287" y="5334"/>
                    <a:pt x="13159" y="5383"/>
                  </a:cubicBezTo>
                  <a:cubicBezTo>
                    <a:pt x="13117" y="5563"/>
                    <a:pt x="12862" y="5743"/>
                    <a:pt x="12649" y="5809"/>
                  </a:cubicBezTo>
                  <a:cubicBezTo>
                    <a:pt x="12543" y="5907"/>
                    <a:pt x="12437" y="5940"/>
                    <a:pt x="12309" y="6005"/>
                  </a:cubicBezTo>
                  <a:cubicBezTo>
                    <a:pt x="12245" y="6120"/>
                    <a:pt x="12139" y="6185"/>
                    <a:pt x="12075" y="6300"/>
                  </a:cubicBezTo>
                  <a:cubicBezTo>
                    <a:pt x="12118" y="6561"/>
                    <a:pt x="12075" y="6643"/>
                    <a:pt x="12373" y="6741"/>
                  </a:cubicBezTo>
                  <a:cubicBezTo>
                    <a:pt x="12500" y="6840"/>
                    <a:pt x="12522" y="6970"/>
                    <a:pt x="12330" y="7036"/>
                  </a:cubicBezTo>
                  <a:cubicBezTo>
                    <a:pt x="12011" y="6987"/>
                    <a:pt x="12033" y="6823"/>
                    <a:pt x="11799" y="6692"/>
                  </a:cubicBezTo>
                  <a:cubicBezTo>
                    <a:pt x="11714" y="6529"/>
                    <a:pt x="11459" y="6430"/>
                    <a:pt x="11246" y="6398"/>
                  </a:cubicBezTo>
                  <a:cubicBezTo>
                    <a:pt x="11076" y="6332"/>
                    <a:pt x="11182" y="6365"/>
                    <a:pt x="10906" y="6365"/>
                  </a:cubicBezTo>
                  <a:cubicBezTo>
                    <a:pt x="10608" y="6512"/>
                    <a:pt x="10544" y="7347"/>
                    <a:pt x="11246" y="7478"/>
                  </a:cubicBezTo>
                  <a:cubicBezTo>
                    <a:pt x="12394" y="7429"/>
                    <a:pt x="13329" y="7772"/>
                    <a:pt x="13733" y="7985"/>
                  </a:cubicBezTo>
                  <a:cubicBezTo>
                    <a:pt x="13840" y="8410"/>
                    <a:pt x="13329" y="8901"/>
                    <a:pt x="12500" y="9343"/>
                  </a:cubicBezTo>
                  <a:cubicBezTo>
                    <a:pt x="11629" y="9736"/>
                    <a:pt x="11480" y="10194"/>
                    <a:pt x="11246" y="10980"/>
                  </a:cubicBezTo>
                  <a:cubicBezTo>
                    <a:pt x="10991" y="11372"/>
                    <a:pt x="10481" y="10930"/>
                    <a:pt x="10289" y="10096"/>
                  </a:cubicBezTo>
                  <a:cubicBezTo>
                    <a:pt x="10140" y="9196"/>
                    <a:pt x="9907" y="8165"/>
                    <a:pt x="10459" y="7576"/>
                  </a:cubicBezTo>
                  <a:cubicBezTo>
                    <a:pt x="9375" y="6790"/>
                    <a:pt x="9269" y="6070"/>
                    <a:pt x="9056" y="6218"/>
                  </a:cubicBezTo>
                  <a:cubicBezTo>
                    <a:pt x="9205" y="6987"/>
                    <a:pt x="8929" y="6660"/>
                    <a:pt x="8737" y="6021"/>
                  </a:cubicBezTo>
                  <a:cubicBezTo>
                    <a:pt x="8822" y="5023"/>
                    <a:pt x="8610" y="4385"/>
                    <a:pt x="8440" y="3550"/>
                  </a:cubicBezTo>
                  <a:lnTo>
                    <a:pt x="7844" y="2290"/>
                  </a:lnTo>
                  <a:lnTo>
                    <a:pt x="6654" y="1849"/>
                  </a:lnTo>
                </a:path>
              </a:pathLst>
            </a:custGeom>
            <a:solidFill>
              <a:srgbClr val="FF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4" name="Picture 18" descr="fig08_17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25875" y="2527300"/>
            <a:ext cx="5086350" cy="3343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8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82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382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500"/>
                            </p:stCondLst>
                            <p:childTnLst>
                              <p:par>
                                <p:cTn id="17" presetID="5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243" grpId="0" build="p" bldLvl="4" autoUpdateAnimBg="0" advAuto="1000"/>
      <p:bldP spid="138248" grpId="0" build="p" bldLvl="4" autoUpdateAnimBg="0" advAuto="3000"/>
      <p:bldP spid="138249" grpId="0" build="p" bldLvl="4" autoUpdateAnimBg="0" advAuto="400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292100" y="0"/>
            <a:ext cx="8585200" cy="806450"/>
          </a:xfrm>
        </p:spPr>
        <p:txBody>
          <a:bodyPr/>
          <a:lstStyle/>
          <a:p>
            <a:r>
              <a:rPr lang="en-US" dirty="0" smtClean="0"/>
              <a:t>Utility Programs…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8905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3. Uninstaller</a:t>
            </a:r>
            <a:endParaRPr lang="en-US" dirty="0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3559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60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3557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260</a:t>
            </a:r>
          </a:p>
        </p:txBody>
      </p:sp>
      <p:sp>
        <p:nvSpPr>
          <p:cNvPr id="48141" name="AutoShape 13"/>
          <p:cNvSpPr>
            <a:spLocks noChangeArrowheads="1"/>
          </p:cNvSpPr>
          <p:nvPr/>
        </p:nvSpPr>
        <p:spPr bwMode="auto">
          <a:xfrm>
            <a:off x="2057400" y="2519363"/>
            <a:ext cx="5208588" cy="1998662"/>
          </a:xfrm>
          <a:prstGeom prst="hexagon">
            <a:avLst>
              <a:gd name="adj" fmla="val 43748"/>
              <a:gd name="vf" fmla="val 115470"/>
            </a:avLst>
          </a:prstGeom>
          <a:solidFill>
            <a:srgbClr val="333399"/>
          </a:solidFill>
          <a:ln w="9525">
            <a:noFill/>
            <a:miter lim="800000"/>
            <a:headEnd/>
            <a:tailEnd/>
          </a:ln>
          <a:effectLst/>
          <a:scene3d>
            <a:camera prst="legacyObliqueTopLeft"/>
            <a:lightRig rig="legacyFlat3" dir="t"/>
          </a:scene3d>
          <a:sp3d extrusionH="430200" prstMaterial="legacyMatte">
            <a:bevelT w="13500" h="13500" prst="angle"/>
            <a:bevelB w="13500" h="13500" prst="angle"/>
            <a:extrusionClr>
              <a:srgbClr val="333399"/>
            </a:extrusionClr>
          </a:sp3d>
        </p:spPr>
        <p:txBody>
          <a:bodyPr wrap="none" tIns="0" bIns="0" anchorCtr="1">
            <a:flatTx/>
          </a:bodyPr>
          <a:lstStyle/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32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Removes a </a:t>
            </a:r>
            <a:br>
              <a:rPr kumimoji="1" lang="en-US" sz="32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32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program and </a:t>
            </a:r>
            <a:br>
              <a:rPr kumimoji="1" lang="en-US" sz="32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</a:br>
            <a:r>
              <a:rPr kumimoji="1" lang="en-US" sz="3200" b="1">
                <a:solidFill>
                  <a:srgbClr val="FFFF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itchFamily="18" charset="0"/>
              </a:rPr>
              <a:t>all associated files</a:t>
            </a:r>
            <a:endParaRPr lang="en-US" sz="3200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8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 build="p" autoUpdateAnimBg="0" advAuto="1000"/>
      <p:bldP spid="48141" grpId="0" animBg="1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Programs…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5638800" cy="6048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disk scanner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4583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84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4581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260</a:t>
            </a:r>
          </a:p>
        </p:txBody>
      </p:sp>
      <p:sp>
        <p:nvSpPr>
          <p:cNvPr id="50186" name="Rectangle 10"/>
          <p:cNvSpPr>
            <a:spLocks noChangeArrowheads="1"/>
          </p:cNvSpPr>
          <p:nvPr/>
        </p:nvSpPr>
        <p:spPr bwMode="auto">
          <a:xfrm>
            <a:off x="304800" y="1536700"/>
            <a:ext cx="7729538" cy="2357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Searches for and removes unnecessary files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Windows Vista includes a disk scanner utility called Disk Cleanup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01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01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79" grpId="0" build="p" bldLvl="4" autoUpdateAnimBg="0" advAuto="1000"/>
      <p:bldP spid="50186" grpId="0" build="p" bldLvl="4" autoUpdateAnimBg="0" advAuto="400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Programs…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7254875" cy="6302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disk defragmenter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5611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12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5605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261 Fig. 7-12</a:t>
            </a:r>
          </a:p>
        </p:txBody>
      </p:sp>
      <p:sp>
        <p:nvSpPr>
          <p:cNvPr id="52242" name="Rectangle 18"/>
          <p:cNvSpPr>
            <a:spLocks noChangeArrowheads="1"/>
          </p:cNvSpPr>
          <p:nvPr/>
        </p:nvSpPr>
        <p:spPr bwMode="auto">
          <a:xfrm>
            <a:off x="304800" y="1547813"/>
            <a:ext cx="7254875" cy="1074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Reorganizes files and unused space on hard disk so programs run faster</a:t>
            </a:r>
          </a:p>
        </p:txBody>
      </p:sp>
      <p:pic>
        <p:nvPicPr>
          <p:cNvPr id="13" name="Picture 25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417763" y="2616200"/>
            <a:ext cx="3698875" cy="36036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2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1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 bldLvl="4" autoUpdateAnimBg="0" advAuto="1000"/>
      <p:bldP spid="52242" grpId="0" build="p" bldLvl="4" autoUpdateAnimBg="0" advAuto="300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Programs…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5715000" cy="6429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diagnostic utility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6635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36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6629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261</a:t>
            </a:r>
          </a:p>
        </p:txBody>
      </p:sp>
      <p:sp>
        <p:nvSpPr>
          <p:cNvPr id="54287" name="Rectangle 15"/>
          <p:cNvSpPr>
            <a:spLocks noChangeArrowheads="1"/>
          </p:cNvSpPr>
          <p:nvPr/>
        </p:nvSpPr>
        <p:spPr bwMode="auto">
          <a:xfrm>
            <a:off x="304800" y="1536700"/>
            <a:ext cx="8008938" cy="2928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Compiles technical information about hardware and certain system software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Prepares report outlining problems</a:t>
            </a:r>
          </a:p>
        </p:txBody>
      </p:sp>
      <p:sp>
        <p:nvSpPr>
          <p:cNvPr id="54288" name="Rectangle 16"/>
          <p:cNvSpPr>
            <a:spLocks noChangeArrowheads="1"/>
          </p:cNvSpPr>
          <p:nvPr/>
        </p:nvSpPr>
        <p:spPr bwMode="auto">
          <a:xfrm>
            <a:off x="304800" y="2978150"/>
            <a:ext cx="8585200" cy="65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533400" indent="-533400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</a:pPr>
            <a:r>
              <a:rPr kumimoji="1" lang="en-US" sz="2800" b="1">
                <a:solidFill>
                  <a:srgbClr val="000000"/>
                </a:solidFill>
                <a:latin typeface="Times New Roman" pitchFamily="18" charset="0"/>
              </a:rPr>
              <a:t>What is a </a:t>
            </a:r>
            <a:r>
              <a:rPr kumimoji="1" lang="en-US" sz="2800" b="1">
                <a:solidFill>
                  <a:srgbClr val="D94439"/>
                </a:solidFill>
                <a:latin typeface="Times New Roman" pitchFamily="18" charset="0"/>
              </a:rPr>
              <a:t>backup utility</a:t>
            </a:r>
            <a:r>
              <a:rPr kumimoji="1" lang="en-US" sz="2800" b="1">
                <a:solidFill>
                  <a:srgbClr val="000000"/>
                </a:solidFill>
                <a:latin typeface="Times New Roman" pitchFamily="18" charset="0"/>
              </a:rPr>
              <a:t>?</a:t>
            </a:r>
            <a:endParaRPr kumimoji="1" lang="en-US" sz="2800" b="1">
              <a:solidFill>
                <a:srgbClr val="000000"/>
              </a:solidFill>
              <a:latin typeface="Arial Unicode MS" pitchFamily="34" charset="-128"/>
            </a:endParaRPr>
          </a:p>
        </p:txBody>
      </p:sp>
      <p:sp>
        <p:nvSpPr>
          <p:cNvPr id="54289" name="Rectangle 17"/>
          <p:cNvSpPr>
            <a:spLocks noChangeArrowheads="1"/>
          </p:cNvSpPr>
          <p:nvPr/>
        </p:nvSpPr>
        <p:spPr bwMode="auto">
          <a:xfrm>
            <a:off x="311150" y="3427413"/>
            <a:ext cx="7967663" cy="1057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Copies selected files or entire hard disk onto another storage medium</a:t>
            </a:r>
          </a:p>
        </p:txBody>
      </p:sp>
      <p:sp>
        <p:nvSpPr>
          <p:cNvPr id="54290" name="Rectangle 18"/>
          <p:cNvSpPr>
            <a:spLocks noChangeArrowheads="1"/>
          </p:cNvSpPr>
          <p:nvPr/>
        </p:nvSpPr>
        <p:spPr bwMode="auto">
          <a:xfrm>
            <a:off x="317500" y="4243388"/>
            <a:ext cx="7067550" cy="911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Most </a:t>
            </a:r>
            <a:r>
              <a:rPr kumimoji="1" lang="en-US" sz="2600" b="1">
                <a:solidFill>
                  <a:schemeClr val="bg2"/>
                </a:solidFill>
                <a:latin typeface="Times New Roman" pitchFamily="18" charset="0"/>
              </a:rPr>
              <a:t>compress</a:t>
            </a: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 files during backup to require less storage space</a:t>
            </a:r>
          </a:p>
        </p:txBody>
      </p:sp>
      <p:sp>
        <p:nvSpPr>
          <p:cNvPr id="54291" name="Rectangle 19"/>
          <p:cNvSpPr>
            <a:spLocks noChangeArrowheads="1"/>
          </p:cNvSpPr>
          <p:nvPr/>
        </p:nvSpPr>
        <p:spPr bwMode="auto">
          <a:xfrm>
            <a:off x="296863" y="5048250"/>
            <a:ext cx="7067550" cy="911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 </a:t>
            </a:r>
            <a:r>
              <a:rPr kumimoji="1" lang="en-US" sz="2600" b="1">
                <a:solidFill>
                  <a:srgbClr val="D94439"/>
                </a:solidFill>
                <a:latin typeface="Times New Roman" pitchFamily="18" charset="0"/>
              </a:rPr>
              <a:t>restore program</a:t>
            </a: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 reverses the backup process and returns backed up files to their original form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42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42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42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42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5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42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4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4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3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75" grpId="0" build="p" bldLvl="4" autoUpdateAnimBg="0" advAuto="1000"/>
      <p:bldP spid="54287" grpId="0" build="p" bldLvl="4" autoUpdateAnimBg="0" advAuto="4000"/>
      <p:bldP spid="54288" grpId="0" build="p" bldLvl="4" autoUpdateAnimBg="0" advAuto="1000"/>
      <p:bldP spid="54289" grpId="0" build="p" bldLvl="4" autoUpdateAnimBg="0" advAuto="3000"/>
      <p:bldP spid="54290" grpId="0" build="p" bldLvl="4" autoUpdateAnimBg="0" advAuto="4000"/>
      <p:bldP spid="54291" grpId="0" build="p" bldLvl="4" autoUpdateAnimBg="0" advAuto="400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Programs…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583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433388"/>
          </a:xfrm>
        </p:spPr>
        <p:txBody>
          <a:bodyPr/>
          <a:lstStyle/>
          <a:p>
            <a:pPr>
              <a:lnSpc>
                <a:spcPct val="90000"/>
              </a:lnSpc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screen saver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7660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61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7653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261 Fig. 7-13</a:t>
            </a:r>
          </a:p>
        </p:txBody>
      </p:sp>
      <p:sp>
        <p:nvSpPr>
          <p:cNvPr id="58395" name="Rectangle 27"/>
          <p:cNvSpPr>
            <a:spLocks noChangeArrowheads="1"/>
          </p:cNvSpPr>
          <p:nvPr/>
        </p:nvSpPr>
        <p:spPr bwMode="auto">
          <a:xfrm>
            <a:off x="339725" y="1546225"/>
            <a:ext cx="7196138" cy="142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20000"/>
              </a:spcBef>
              <a:buClr>
                <a:srgbClr val="D94439"/>
              </a:buClr>
              <a:buSzPct val="80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Causes monitor’s screen to display moving image or blank screen if there is no activity for a specified time</a:t>
            </a:r>
            <a:endParaRPr kumimoji="1" lang="en-US" sz="2600" b="1">
              <a:solidFill>
                <a:srgbClr val="000000"/>
              </a:solidFill>
              <a:latin typeface="Arial Unicode MS" pitchFamily="34" charset="-128"/>
            </a:endParaRPr>
          </a:p>
        </p:txBody>
      </p:sp>
      <p:sp>
        <p:nvSpPr>
          <p:cNvPr id="58396" name="Rectangle 28"/>
          <p:cNvSpPr>
            <a:spLocks noChangeArrowheads="1"/>
          </p:cNvSpPr>
          <p:nvPr/>
        </p:nvSpPr>
        <p:spPr bwMode="auto">
          <a:xfrm>
            <a:off x="341313" y="2917825"/>
            <a:ext cx="4208462" cy="2386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To secure computer, user configures screen saver to require password to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deactivate</a:t>
            </a:r>
          </a:p>
        </p:txBody>
      </p:sp>
      <p:grpSp>
        <p:nvGrpSpPr>
          <p:cNvPr id="3" name="Group 46"/>
          <p:cNvGrpSpPr>
            <a:grpSpLocks/>
          </p:cNvGrpSpPr>
          <p:nvPr/>
        </p:nvGrpSpPr>
        <p:grpSpPr bwMode="auto">
          <a:xfrm>
            <a:off x="0" y="4800600"/>
            <a:ext cx="1981200" cy="1295400"/>
            <a:chOff x="0" y="3024"/>
            <a:chExt cx="1248" cy="816"/>
          </a:xfrm>
        </p:grpSpPr>
        <p:sp>
          <p:nvSpPr>
            <p:cNvPr id="27658" name="Rectangle 47"/>
            <p:cNvSpPr>
              <a:spLocks noChangeArrowheads="1"/>
            </p:cNvSpPr>
            <p:nvPr/>
          </p:nvSpPr>
          <p:spPr bwMode="auto">
            <a:xfrm>
              <a:off x="0" y="3456"/>
              <a:ext cx="1248" cy="38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44450" rIns="90488" bIns="44450"/>
            <a:lstStyle/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to view Web Link,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Chapter 7, Click Web Link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from left navigation, </a:t>
              </a:r>
            </a:p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then click Screen Savers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below Chapter 7</a:t>
              </a:r>
            </a:p>
          </p:txBody>
        </p:sp>
        <p:sp>
          <p:nvSpPr>
            <p:cNvPr id="27659" name="Webpage">
              <a:hlinkClick r:id="rId2"/>
            </p:cNvPr>
            <p:cNvSpPr>
              <a:spLocks noEditPoints="1" noChangeArrowheads="1"/>
            </p:cNvSpPr>
            <p:nvPr/>
          </p:nvSpPr>
          <p:spPr bwMode="auto">
            <a:xfrm>
              <a:off x="96" y="3024"/>
              <a:ext cx="278" cy="37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w 21600"/>
                <a:gd name="T13" fmla="*/ 0 h 21600"/>
                <a:gd name="T14" fmla="*/ 0 w 21600"/>
                <a:gd name="T15" fmla="*/ 0 h 21600"/>
                <a:gd name="T16" fmla="*/ 0 w 21600"/>
                <a:gd name="T17" fmla="*/ 0 h 21600"/>
                <a:gd name="T18" fmla="*/ 0 w 21600"/>
                <a:gd name="T19" fmla="*/ 0 h 2160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1942 w 21600"/>
                <a:gd name="T31" fmla="*/ 12832 h 21600"/>
                <a:gd name="T32" fmla="*/ 19813 w 21600"/>
                <a:gd name="T33" fmla="*/ 20729 h 2160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1600" h="21600" extrusionOk="0">
                  <a:moveTo>
                    <a:pt x="9184" y="949"/>
                  </a:moveTo>
                  <a:lnTo>
                    <a:pt x="9758" y="1309"/>
                  </a:lnTo>
                  <a:lnTo>
                    <a:pt x="11544" y="1292"/>
                  </a:lnTo>
                  <a:lnTo>
                    <a:pt x="12437" y="1292"/>
                  </a:lnTo>
                  <a:lnTo>
                    <a:pt x="13414" y="1161"/>
                  </a:lnTo>
                  <a:lnTo>
                    <a:pt x="13648" y="1243"/>
                  </a:lnTo>
                  <a:lnTo>
                    <a:pt x="13542" y="1390"/>
                  </a:lnTo>
                  <a:lnTo>
                    <a:pt x="13967" y="1849"/>
                  </a:lnTo>
                  <a:lnTo>
                    <a:pt x="14562" y="2520"/>
                  </a:lnTo>
                  <a:lnTo>
                    <a:pt x="14669" y="3223"/>
                  </a:lnTo>
                  <a:lnTo>
                    <a:pt x="14796" y="3518"/>
                  </a:lnTo>
                  <a:lnTo>
                    <a:pt x="15264" y="3665"/>
                  </a:lnTo>
                  <a:lnTo>
                    <a:pt x="15753" y="3518"/>
                  </a:lnTo>
                  <a:lnTo>
                    <a:pt x="15902" y="2978"/>
                  </a:lnTo>
                  <a:lnTo>
                    <a:pt x="16008" y="2323"/>
                  </a:lnTo>
                  <a:moveTo>
                    <a:pt x="10757" y="21632"/>
                  </a:moveTo>
                  <a:lnTo>
                    <a:pt x="5187" y="21632"/>
                  </a:lnTo>
                  <a:lnTo>
                    <a:pt x="85" y="17509"/>
                  </a:lnTo>
                  <a:lnTo>
                    <a:pt x="85" y="10849"/>
                  </a:lnTo>
                  <a:lnTo>
                    <a:pt x="85" y="81"/>
                  </a:lnTo>
                  <a:lnTo>
                    <a:pt x="10757" y="81"/>
                  </a:lnTo>
                  <a:lnTo>
                    <a:pt x="21706" y="81"/>
                  </a:lnTo>
                  <a:lnTo>
                    <a:pt x="21706" y="10652"/>
                  </a:lnTo>
                  <a:lnTo>
                    <a:pt x="21706" y="21632"/>
                  </a:lnTo>
                  <a:lnTo>
                    <a:pt x="10757" y="21632"/>
                  </a:lnTo>
                  <a:close/>
                </a:path>
                <a:path w="21600" h="21600" extrusionOk="0">
                  <a:moveTo>
                    <a:pt x="85" y="17509"/>
                  </a:moveTo>
                  <a:lnTo>
                    <a:pt x="5187" y="17509"/>
                  </a:lnTo>
                  <a:lnTo>
                    <a:pt x="5187" y="21632"/>
                  </a:lnTo>
                  <a:lnTo>
                    <a:pt x="85" y="17509"/>
                  </a:lnTo>
                  <a:close/>
                </a:path>
                <a:path w="21600" h="21600" extrusionOk="0">
                  <a:moveTo>
                    <a:pt x="5591" y="10620"/>
                  </a:moveTo>
                  <a:lnTo>
                    <a:pt x="6122" y="10996"/>
                  </a:lnTo>
                  <a:lnTo>
                    <a:pt x="6696" y="11340"/>
                  </a:lnTo>
                  <a:lnTo>
                    <a:pt x="7313" y="11618"/>
                  </a:lnTo>
                  <a:lnTo>
                    <a:pt x="7972" y="11863"/>
                  </a:lnTo>
                  <a:lnTo>
                    <a:pt x="8652" y="12060"/>
                  </a:lnTo>
                  <a:lnTo>
                    <a:pt x="9396" y="12190"/>
                  </a:lnTo>
                  <a:lnTo>
                    <a:pt x="10119" y="12272"/>
                  </a:lnTo>
                  <a:lnTo>
                    <a:pt x="10906" y="12305"/>
                  </a:lnTo>
                  <a:lnTo>
                    <a:pt x="11650" y="12272"/>
                  </a:lnTo>
                  <a:lnTo>
                    <a:pt x="12373" y="12190"/>
                  </a:lnTo>
                  <a:lnTo>
                    <a:pt x="13117" y="12060"/>
                  </a:lnTo>
                  <a:lnTo>
                    <a:pt x="13797" y="11863"/>
                  </a:lnTo>
                  <a:lnTo>
                    <a:pt x="14456" y="11618"/>
                  </a:lnTo>
                  <a:lnTo>
                    <a:pt x="15073" y="11340"/>
                  </a:lnTo>
                  <a:lnTo>
                    <a:pt x="15647" y="11029"/>
                  </a:lnTo>
                  <a:lnTo>
                    <a:pt x="16178" y="10652"/>
                  </a:lnTo>
                  <a:lnTo>
                    <a:pt x="16667" y="10243"/>
                  </a:lnTo>
                  <a:lnTo>
                    <a:pt x="17071" y="9801"/>
                  </a:lnTo>
                  <a:lnTo>
                    <a:pt x="17475" y="9327"/>
                  </a:lnTo>
                  <a:lnTo>
                    <a:pt x="17815" y="8820"/>
                  </a:lnTo>
                  <a:lnTo>
                    <a:pt x="18049" y="8296"/>
                  </a:lnTo>
                  <a:lnTo>
                    <a:pt x="18262" y="7723"/>
                  </a:lnTo>
                  <a:lnTo>
                    <a:pt x="18347" y="7134"/>
                  </a:lnTo>
                  <a:lnTo>
                    <a:pt x="18389" y="6561"/>
                  </a:lnTo>
                  <a:lnTo>
                    <a:pt x="18347" y="5956"/>
                  </a:lnTo>
                  <a:lnTo>
                    <a:pt x="18262" y="5400"/>
                  </a:lnTo>
                  <a:lnTo>
                    <a:pt x="18049" y="4827"/>
                  </a:lnTo>
                  <a:lnTo>
                    <a:pt x="17815" y="4303"/>
                  </a:lnTo>
                  <a:lnTo>
                    <a:pt x="17475" y="3796"/>
                  </a:lnTo>
                  <a:lnTo>
                    <a:pt x="17114" y="3321"/>
                  </a:lnTo>
                  <a:lnTo>
                    <a:pt x="16710" y="2880"/>
                  </a:lnTo>
                  <a:lnTo>
                    <a:pt x="16221" y="2470"/>
                  </a:lnTo>
                  <a:lnTo>
                    <a:pt x="15689" y="2094"/>
                  </a:lnTo>
                  <a:lnTo>
                    <a:pt x="15115" y="1750"/>
                  </a:lnTo>
                  <a:lnTo>
                    <a:pt x="14499" y="1472"/>
                  </a:lnTo>
                  <a:lnTo>
                    <a:pt x="13797" y="1227"/>
                  </a:lnTo>
                  <a:lnTo>
                    <a:pt x="13117" y="1030"/>
                  </a:lnTo>
                  <a:lnTo>
                    <a:pt x="12415" y="883"/>
                  </a:lnTo>
                  <a:lnTo>
                    <a:pt x="11650" y="818"/>
                  </a:lnTo>
                  <a:lnTo>
                    <a:pt x="10906" y="785"/>
                  </a:lnTo>
                  <a:lnTo>
                    <a:pt x="10119" y="818"/>
                  </a:lnTo>
                  <a:lnTo>
                    <a:pt x="9396" y="883"/>
                  </a:lnTo>
                  <a:lnTo>
                    <a:pt x="8652" y="1030"/>
                  </a:lnTo>
                  <a:lnTo>
                    <a:pt x="8014" y="1227"/>
                  </a:lnTo>
                  <a:lnTo>
                    <a:pt x="7355" y="1440"/>
                  </a:lnTo>
                  <a:lnTo>
                    <a:pt x="6739" y="1750"/>
                  </a:lnTo>
                  <a:lnTo>
                    <a:pt x="6122" y="2061"/>
                  </a:lnTo>
                  <a:lnTo>
                    <a:pt x="5591" y="2438"/>
                  </a:lnTo>
                  <a:lnTo>
                    <a:pt x="5102" y="2847"/>
                  </a:lnTo>
                  <a:lnTo>
                    <a:pt x="4698" y="3289"/>
                  </a:lnTo>
                  <a:lnTo>
                    <a:pt x="4294" y="3763"/>
                  </a:lnTo>
                  <a:lnTo>
                    <a:pt x="3996" y="4270"/>
                  </a:lnTo>
                  <a:lnTo>
                    <a:pt x="3720" y="4794"/>
                  </a:lnTo>
                  <a:lnTo>
                    <a:pt x="3550" y="5367"/>
                  </a:lnTo>
                  <a:lnTo>
                    <a:pt x="3422" y="5956"/>
                  </a:lnTo>
                  <a:lnTo>
                    <a:pt x="3380" y="6561"/>
                  </a:lnTo>
                  <a:lnTo>
                    <a:pt x="3422" y="7134"/>
                  </a:lnTo>
                  <a:lnTo>
                    <a:pt x="3550" y="7690"/>
                  </a:lnTo>
                  <a:lnTo>
                    <a:pt x="3720" y="8263"/>
                  </a:lnTo>
                  <a:lnTo>
                    <a:pt x="3954" y="8787"/>
                  </a:lnTo>
                  <a:lnTo>
                    <a:pt x="4294" y="9294"/>
                  </a:lnTo>
                  <a:lnTo>
                    <a:pt x="4655" y="9769"/>
                  </a:lnTo>
                  <a:lnTo>
                    <a:pt x="5102" y="10210"/>
                  </a:lnTo>
                  <a:lnTo>
                    <a:pt x="5591" y="10620"/>
                  </a:lnTo>
                  <a:close/>
                </a:path>
                <a:path w="21600" h="21600" extrusionOk="0">
                  <a:moveTo>
                    <a:pt x="3401" y="6021"/>
                  </a:moveTo>
                  <a:lnTo>
                    <a:pt x="4039" y="5530"/>
                  </a:lnTo>
                  <a:lnTo>
                    <a:pt x="4294" y="4892"/>
                  </a:lnTo>
                  <a:lnTo>
                    <a:pt x="4677" y="4156"/>
                  </a:lnTo>
                  <a:lnTo>
                    <a:pt x="5166" y="3763"/>
                  </a:lnTo>
                  <a:lnTo>
                    <a:pt x="5378" y="3354"/>
                  </a:lnTo>
                  <a:lnTo>
                    <a:pt x="5293" y="2732"/>
                  </a:lnTo>
                  <a:moveTo>
                    <a:pt x="3507" y="7380"/>
                  </a:moveTo>
                  <a:lnTo>
                    <a:pt x="3890" y="7200"/>
                  </a:lnTo>
                  <a:lnTo>
                    <a:pt x="4103" y="7249"/>
                  </a:lnTo>
                  <a:lnTo>
                    <a:pt x="4400" y="7527"/>
                  </a:lnTo>
                  <a:lnTo>
                    <a:pt x="4719" y="7674"/>
                  </a:lnTo>
                  <a:lnTo>
                    <a:pt x="5293" y="7641"/>
                  </a:lnTo>
                  <a:lnTo>
                    <a:pt x="5740" y="7543"/>
                  </a:lnTo>
                  <a:lnTo>
                    <a:pt x="6144" y="7543"/>
                  </a:lnTo>
                  <a:lnTo>
                    <a:pt x="6526" y="7821"/>
                  </a:lnTo>
                  <a:lnTo>
                    <a:pt x="6569" y="8312"/>
                  </a:lnTo>
                  <a:lnTo>
                    <a:pt x="6059" y="8852"/>
                  </a:lnTo>
                  <a:lnTo>
                    <a:pt x="5803" y="8967"/>
                  </a:lnTo>
                  <a:lnTo>
                    <a:pt x="5803" y="9147"/>
                  </a:lnTo>
                  <a:lnTo>
                    <a:pt x="5421" y="9294"/>
                  </a:lnTo>
                  <a:lnTo>
                    <a:pt x="4868" y="9163"/>
                  </a:lnTo>
                  <a:lnTo>
                    <a:pt x="4337" y="9049"/>
                  </a:lnTo>
                  <a:lnTo>
                    <a:pt x="4081" y="9000"/>
                  </a:lnTo>
                  <a:moveTo>
                    <a:pt x="14988" y="11372"/>
                  </a:moveTo>
                  <a:lnTo>
                    <a:pt x="15115" y="10865"/>
                  </a:lnTo>
                  <a:lnTo>
                    <a:pt x="16072" y="10096"/>
                  </a:lnTo>
                  <a:lnTo>
                    <a:pt x="16455" y="9605"/>
                  </a:lnTo>
                  <a:lnTo>
                    <a:pt x="16455" y="8329"/>
                  </a:lnTo>
                  <a:lnTo>
                    <a:pt x="17156" y="7969"/>
                  </a:lnTo>
                  <a:lnTo>
                    <a:pt x="17879" y="7870"/>
                  </a:lnTo>
                  <a:lnTo>
                    <a:pt x="18177" y="7821"/>
                  </a:lnTo>
                  <a:moveTo>
                    <a:pt x="18368" y="6840"/>
                  </a:moveTo>
                  <a:lnTo>
                    <a:pt x="18049" y="6610"/>
                  </a:lnTo>
                  <a:lnTo>
                    <a:pt x="17411" y="6512"/>
                  </a:lnTo>
                  <a:lnTo>
                    <a:pt x="16859" y="6545"/>
                  </a:lnTo>
                  <a:lnTo>
                    <a:pt x="16603" y="6201"/>
                  </a:lnTo>
                  <a:lnTo>
                    <a:pt x="16731" y="5874"/>
                  </a:lnTo>
                  <a:lnTo>
                    <a:pt x="17241" y="5465"/>
                  </a:lnTo>
                  <a:lnTo>
                    <a:pt x="17858" y="5236"/>
                  </a:lnTo>
                  <a:lnTo>
                    <a:pt x="18007" y="5089"/>
                  </a:lnTo>
                  <a:lnTo>
                    <a:pt x="18049" y="4892"/>
                  </a:lnTo>
                  <a:moveTo>
                    <a:pt x="8100" y="1260"/>
                  </a:moveTo>
                  <a:cubicBezTo>
                    <a:pt x="8333" y="1276"/>
                    <a:pt x="8206" y="1554"/>
                    <a:pt x="8695" y="1652"/>
                  </a:cubicBezTo>
                  <a:cubicBezTo>
                    <a:pt x="9184" y="1750"/>
                    <a:pt x="10481" y="1685"/>
                    <a:pt x="10991" y="1881"/>
                  </a:cubicBezTo>
                  <a:cubicBezTo>
                    <a:pt x="11501" y="2078"/>
                    <a:pt x="11629" y="2503"/>
                    <a:pt x="11799" y="2830"/>
                  </a:cubicBezTo>
                  <a:cubicBezTo>
                    <a:pt x="11969" y="3158"/>
                    <a:pt x="11905" y="3910"/>
                    <a:pt x="12054" y="3894"/>
                  </a:cubicBezTo>
                  <a:cubicBezTo>
                    <a:pt x="12203" y="3878"/>
                    <a:pt x="12351" y="2880"/>
                    <a:pt x="12649" y="2683"/>
                  </a:cubicBezTo>
                  <a:cubicBezTo>
                    <a:pt x="12947" y="2487"/>
                    <a:pt x="13670" y="2536"/>
                    <a:pt x="13840" y="2683"/>
                  </a:cubicBezTo>
                  <a:cubicBezTo>
                    <a:pt x="14010" y="2830"/>
                    <a:pt x="13733" y="3370"/>
                    <a:pt x="13648" y="3616"/>
                  </a:cubicBezTo>
                  <a:cubicBezTo>
                    <a:pt x="13563" y="3861"/>
                    <a:pt x="13457" y="4058"/>
                    <a:pt x="13351" y="4156"/>
                  </a:cubicBezTo>
                  <a:cubicBezTo>
                    <a:pt x="13244" y="4254"/>
                    <a:pt x="13096" y="4221"/>
                    <a:pt x="12947" y="4254"/>
                  </a:cubicBezTo>
                  <a:cubicBezTo>
                    <a:pt x="12777" y="4303"/>
                    <a:pt x="12585" y="4369"/>
                    <a:pt x="12394" y="4401"/>
                  </a:cubicBezTo>
                  <a:cubicBezTo>
                    <a:pt x="12139" y="4500"/>
                    <a:pt x="12054" y="4614"/>
                    <a:pt x="11862" y="4647"/>
                  </a:cubicBezTo>
                  <a:cubicBezTo>
                    <a:pt x="11650" y="4761"/>
                    <a:pt x="11671" y="4680"/>
                    <a:pt x="11437" y="4778"/>
                  </a:cubicBezTo>
                  <a:cubicBezTo>
                    <a:pt x="11352" y="4827"/>
                    <a:pt x="11225" y="4974"/>
                    <a:pt x="11246" y="5072"/>
                  </a:cubicBezTo>
                  <a:cubicBezTo>
                    <a:pt x="11225" y="5154"/>
                    <a:pt x="11267" y="5220"/>
                    <a:pt x="11310" y="5269"/>
                  </a:cubicBezTo>
                  <a:cubicBezTo>
                    <a:pt x="11352" y="5318"/>
                    <a:pt x="11480" y="5383"/>
                    <a:pt x="11565" y="5416"/>
                  </a:cubicBezTo>
                  <a:cubicBezTo>
                    <a:pt x="11629" y="5400"/>
                    <a:pt x="11820" y="5465"/>
                    <a:pt x="11862" y="5432"/>
                  </a:cubicBezTo>
                  <a:cubicBezTo>
                    <a:pt x="11905" y="5416"/>
                    <a:pt x="11926" y="5269"/>
                    <a:pt x="11884" y="5236"/>
                  </a:cubicBezTo>
                  <a:cubicBezTo>
                    <a:pt x="11841" y="5203"/>
                    <a:pt x="11629" y="5269"/>
                    <a:pt x="11565" y="5220"/>
                  </a:cubicBezTo>
                  <a:cubicBezTo>
                    <a:pt x="11480" y="5187"/>
                    <a:pt x="11459" y="5040"/>
                    <a:pt x="11480" y="4974"/>
                  </a:cubicBezTo>
                  <a:cubicBezTo>
                    <a:pt x="11501" y="4909"/>
                    <a:pt x="11607" y="4860"/>
                    <a:pt x="11692" y="4843"/>
                  </a:cubicBezTo>
                  <a:cubicBezTo>
                    <a:pt x="11905" y="4876"/>
                    <a:pt x="11820" y="4876"/>
                    <a:pt x="12054" y="4876"/>
                  </a:cubicBezTo>
                  <a:cubicBezTo>
                    <a:pt x="12075" y="5040"/>
                    <a:pt x="12096" y="5269"/>
                    <a:pt x="12139" y="5416"/>
                  </a:cubicBezTo>
                  <a:cubicBezTo>
                    <a:pt x="12160" y="5465"/>
                    <a:pt x="12330" y="5465"/>
                    <a:pt x="12373" y="5416"/>
                  </a:cubicBezTo>
                  <a:cubicBezTo>
                    <a:pt x="12415" y="5367"/>
                    <a:pt x="12330" y="4974"/>
                    <a:pt x="12394" y="4892"/>
                  </a:cubicBezTo>
                  <a:cubicBezTo>
                    <a:pt x="12458" y="4810"/>
                    <a:pt x="12692" y="4925"/>
                    <a:pt x="12755" y="4892"/>
                  </a:cubicBezTo>
                  <a:cubicBezTo>
                    <a:pt x="12798" y="4860"/>
                    <a:pt x="12840" y="4761"/>
                    <a:pt x="12755" y="4729"/>
                  </a:cubicBezTo>
                  <a:cubicBezTo>
                    <a:pt x="12670" y="4696"/>
                    <a:pt x="12118" y="4745"/>
                    <a:pt x="12203" y="4696"/>
                  </a:cubicBezTo>
                  <a:cubicBezTo>
                    <a:pt x="12543" y="4549"/>
                    <a:pt x="12819" y="4434"/>
                    <a:pt x="13266" y="4401"/>
                  </a:cubicBezTo>
                  <a:cubicBezTo>
                    <a:pt x="13436" y="4385"/>
                    <a:pt x="13585" y="4500"/>
                    <a:pt x="13776" y="4532"/>
                  </a:cubicBezTo>
                  <a:cubicBezTo>
                    <a:pt x="13967" y="4630"/>
                    <a:pt x="13861" y="4843"/>
                    <a:pt x="13712" y="4925"/>
                  </a:cubicBezTo>
                  <a:cubicBezTo>
                    <a:pt x="13648" y="5023"/>
                    <a:pt x="13521" y="5121"/>
                    <a:pt x="13414" y="5187"/>
                  </a:cubicBezTo>
                  <a:cubicBezTo>
                    <a:pt x="13351" y="5285"/>
                    <a:pt x="13287" y="5334"/>
                    <a:pt x="13159" y="5383"/>
                  </a:cubicBezTo>
                  <a:cubicBezTo>
                    <a:pt x="13117" y="5563"/>
                    <a:pt x="12862" y="5743"/>
                    <a:pt x="12649" y="5809"/>
                  </a:cubicBezTo>
                  <a:cubicBezTo>
                    <a:pt x="12543" y="5907"/>
                    <a:pt x="12437" y="5940"/>
                    <a:pt x="12309" y="6005"/>
                  </a:cubicBezTo>
                  <a:cubicBezTo>
                    <a:pt x="12245" y="6120"/>
                    <a:pt x="12139" y="6185"/>
                    <a:pt x="12075" y="6300"/>
                  </a:cubicBezTo>
                  <a:cubicBezTo>
                    <a:pt x="12118" y="6561"/>
                    <a:pt x="12075" y="6643"/>
                    <a:pt x="12373" y="6741"/>
                  </a:cubicBezTo>
                  <a:cubicBezTo>
                    <a:pt x="12500" y="6840"/>
                    <a:pt x="12522" y="6970"/>
                    <a:pt x="12330" y="7036"/>
                  </a:cubicBezTo>
                  <a:cubicBezTo>
                    <a:pt x="12011" y="6987"/>
                    <a:pt x="12033" y="6823"/>
                    <a:pt x="11799" y="6692"/>
                  </a:cubicBezTo>
                  <a:cubicBezTo>
                    <a:pt x="11714" y="6529"/>
                    <a:pt x="11459" y="6430"/>
                    <a:pt x="11246" y="6398"/>
                  </a:cubicBezTo>
                  <a:cubicBezTo>
                    <a:pt x="11076" y="6332"/>
                    <a:pt x="11182" y="6365"/>
                    <a:pt x="10906" y="6365"/>
                  </a:cubicBezTo>
                  <a:cubicBezTo>
                    <a:pt x="10608" y="6512"/>
                    <a:pt x="10544" y="7347"/>
                    <a:pt x="11246" y="7478"/>
                  </a:cubicBezTo>
                  <a:cubicBezTo>
                    <a:pt x="12394" y="7429"/>
                    <a:pt x="13329" y="7772"/>
                    <a:pt x="13733" y="7985"/>
                  </a:cubicBezTo>
                  <a:cubicBezTo>
                    <a:pt x="13840" y="8410"/>
                    <a:pt x="13329" y="8901"/>
                    <a:pt x="12500" y="9343"/>
                  </a:cubicBezTo>
                  <a:cubicBezTo>
                    <a:pt x="11629" y="9736"/>
                    <a:pt x="11480" y="10194"/>
                    <a:pt x="11246" y="10980"/>
                  </a:cubicBezTo>
                  <a:cubicBezTo>
                    <a:pt x="10991" y="11372"/>
                    <a:pt x="10481" y="10930"/>
                    <a:pt x="10289" y="10096"/>
                  </a:cubicBezTo>
                  <a:cubicBezTo>
                    <a:pt x="10140" y="9196"/>
                    <a:pt x="9907" y="8165"/>
                    <a:pt x="10459" y="7576"/>
                  </a:cubicBezTo>
                  <a:cubicBezTo>
                    <a:pt x="9375" y="6790"/>
                    <a:pt x="9269" y="6070"/>
                    <a:pt x="9056" y="6218"/>
                  </a:cubicBezTo>
                  <a:cubicBezTo>
                    <a:pt x="9205" y="6987"/>
                    <a:pt x="8929" y="6660"/>
                    <a:pt x="8737" y="6021"/>
                  </a:cubicBezTo>
                  <a:cubicBezTo>
                    <a:pt x="8822" y="5023"/>
                    <a:pt x="8610" y="4385"/>
                    <a:pt x="8440" y="3550"/>
                  </a:cubicBezTo>
                  <a:lnTo>
                    <a:pt x="7844" y="2290"/>
                  </a:lnTo>
                  <a:lnTo>
                    <a:pt x="6654" y="1849"/>
                  </a:lnTo>
                </a:path>
              </a:pathLst>
            </a:custGeom>
            <a:solidFill>
              <a:srgbClr val="FF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4" name="Picture 13" descr="CFig8-21.gif"/>
          <p:cNvPicPr>
            <a:picLocks noChangeAspect="1"/>
          </p:cNvPicPr>
          <p:nvPr/>
        </p:nvPicPr>
        <p:blipFill>
          <a:blip r:embed="rId3"/>
          <a:srcRect r="1425"/>
          <a:stretch>
            <a:fillRect/>
          </a:stretch>
        </p:blipFill>
        <p:spPr>
          <a:xfrm>
            <a:off x="4836385" y="2552132"/>
            <a:ext cx="3076683" cy="33709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8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83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83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5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0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0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build="p" bldLvl="4" autoUpdateAnimBg="0" advAuto="1000"/>
      <p:bldP spid="58395" grpId="0" build="p" bldLvl="4" autoUpdateAnimBg="0" advAuto="3000"/>
      <p:bldP spid="58396" grpId="0" build="p" bldLvl="4" autoUpdateAnimBg="0" advAuto="400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8"/>
          <p:cNvGrpSpPr>
            <a:grpSpLocks/>
          </p:cNvGrpSpPr>
          <p:nvPr/>
        </p:nvGrpSpPr>
        <p:grpSpPr bwMode="auto">
          <a:xfrm>
            <a:off x="1981200" y="4483100"/>
            <a:ext cx="5029200" cy="1489075"/>
            <a:chOff x="1248" y="2824"/>
            <a:chExt cx="3168" cy="938"/>
          </a:xfrm>
        </p:grpSpPr>
        <p:sp>
          <p:nvSpPr>
            <p:cNvPr id="28687" name="AutoShape 20"/>
            <p:cNvSpPr>
              <a:spLocks noChangeArrowheads="1"/>
            </p:cNvSpPr>
            <p:nvPr/>
          </p:nvSpPr>
          <p:spPr bwMode="auto">
            <a:xfrm>
              <a:off x="1248" y="2824"/>
              <a:ext cx="3168" cy="938"/>
            </a:xfrm>
            <a:prstGeom prst="triangle">
              <a:avLst>
                <a:gd name="adj" fmla="val 50000"/>
              </a:avLst>
            </a:prstGeom>
            <a:solidFill>
              <a:srgbClr val="FF99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98" name="Rectangle 34"/>
            <p:cNvSpPr>
              <a:spLocks noChangeArrowheads="1"/>
            </p:cNvSpPr>
            <p:nvPr/>
          </p:nvSpPr>
          <p:spPr bwMode="auto">
            <a:xfrm>
              <a:off x="2331" y="3254"/>
              <a:ext cx="933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r">
                <a:spcBef>
                  <a:spcPct val="20000"/>
                </a:spcBef>
                <a:buClr>
                  <a:schemeClr val="accent1"/>
                </a:buClr>
                <a:buSzPct val="80000"/>
                <a:buFont typeface="Monotype Sorts" pitchFamily="2" charset="2"/>
                <a:buNone/>
                <a:defRPr/>
              </a:pPr>
              <a:r>
                <a:rPr kumimoji="1" lang="en-US" sz="20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Stand-alone</a:t>
              </a:r>
            </a:p>
          </p:txBody>
        </p:sp>
      </p:grpSp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Types of 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8143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are three categories of operating systems?</a:t>
            </a:r>
          </a:p>
        </p:txBody>
      </p:sp>
      <p:grpSp>
        <p:nvGrpSpPr>
          <p:cNvPr id="3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8685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86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8678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262</a:t>
            </a:r>
          </a:p>
        </p:txBody>
      </p: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3048000" y="1676400"/>
            <a:ext cx="1585913" cy="5029200"/>
            <a:chOff x="1920" y="1056"/>
            <a:chExt cx="999" cy="3168"/>
          </a:xfrm>
        </p:grpSpPr>
        <p:sp>
          <p:nvSpPr>
            <p:cNvPr id="28683" name="AutoShape 22"/>
            <p:cNvSpPr>
              <a:spLocks noChangeArrowheads="1"/>
            </p:cNvSpPr>
            <p:nvPr/>
          </p:nvSpPr>
          <p:spPr bwMode="auto">
            <a:xfrm rot="7230674">
              <a:off x="866" y="2171"/>
              <a:ext cx="3168" cy="938"/>
            </a:xfrm>
            <a:prstGeom prst="triangle">
              <a:avLst>
                <a:gd name="adj" fmla="val 50000"/>
              </a:avLst>
            </a:prstGeom>
            <a:solidFill>
              <a:srgbClr val="D9443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97" name="Rectangle 33"/>
            <p:cNvSpPr>
              <a:spLocks noChangeArrowheads="1"/>
            </p:cNvSpPr>
            <p:nvPr/>
          </p:nvSpPr>
          <p:spPr bwMode="auto">
            <a:xfrm>
              <a:off x="1920" y="2496"/>
              <a:ext cx="904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r">
                <a:defRPr/>
              </a:pPr>
              <a:r>
                <a:rPr kumimoji="1" lang="en-US" sz="20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Embedded</a:t>
              </a:r>
            </a:p>
          </p:txBody>
        </p:sp>
      </p:grpSp>
      <p:grpSp>
        <p:nvGrpSpPr>
          <p:cNvPr id="5" name="Group 37"/>
          <p:cNvGrpSpPr>
            <a:grpSpLocks/>
          </p:cNvGrpSpPr>
          <p:nvPr/>
        </p:nvGrpSpPr>
        <p:grpSpPr bwMode="auto">
          <a:xfrm>
            <a:off x="4387850" y="1676400"/>
            <a:ext cx="1489075" cy="5029200"/>
            <a:chOff x="2764" y="1056"/>
            <a:chExt cx="938" cy="3168"/>
          </a:xfrm>
        </p:grpSpPr>
        <p:sp>
          <p:nvSpPr>
            <p:cNvPr id="28681" name="AutoShape 21"/>
            <p:cNvSpPr>
              <a:spLocks noChangeArrowheads="1"/>
            </p:cNvSpPr>
            <p:nvPr/>
          </p:nvSpPr>
          <p:spPr bwMode="auto">
            <a:xfrm rot="-7200000">
              <a:off x="1649" y="2171"/>
              <a:ext cx="3168" cy="938"/>
            </a:xfrm>
            <a:prstGeom prst="triangle">
              <a:avLst>
                <a:gd name="adj" fmla="val 50000"/>
              </a:avLst>
            </a:prstGeom>
            <a:solidFill>
              <a:srgbClr val="33339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99" name="Rectangle 35"/>
            <p:cNvSpPr>
              <a:spLocks noChangeArrowheads="1"/>
            </p:cNvSpPr>
            <p:nvPr/>
          </p:nvSpPr>
          <p:spPr bwMode="auto">
            <a:xfrm>
              <a:off x="2920" y="2496"/>
              <a:ext cx="712" cy="250"/>
            </a:xfrm>
            <a:prstGeom prst="rect">
              <a:avLst/>
            </a:prstGeom>
            <a:solidFill>
              <a:srgbClr val="333399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r">
                <a:defRPr/>
              </a:pPr>
              <a:r>
                <a:rPr kumimoji="1" lang="en-US" sz="2000" b="1">
                  <a:solidFill>
                    <a:srgbClr val="FFFFCC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Times New Roman" pitchFamily="18" charset="0"/>
                </a:rPr>
                <a:t>Network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24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2" presetClass="entr" presetSubtype="2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0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67" grpId="0" build="p" autoUpdateAnimBg="0" advAuto="100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35" name="Rectangle 27"/>
          <p:cNvSpPr>
            <a:spLocks noChangeArrowheads="1"/>
          </p:cNvSpPr>
          <p:nvPr/>
        </p:nvSpPr>
        <p:spPr bwMode="auto">
          <a:xfrm>
            <a:off x="512763" y="1547813"/>
            <a:ext cx="7518400" cy="100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Fast, reliable Windows operating system</a:t>
            </a:r>
          </a:p>
        </p:txBody>
      </p:sp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686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736600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</a:t>
            </a:r>
            <a:r>
              <a:rPr lang="en-US" smtClean="0">
                <a:solidFill>
                  <a:srgbClr val="D94439"/>
                </a:solidFill>
              </a:rPr>
              <a:t>Windows XP</a:t>
            </a:r>
            <a:r>
              <a:rPr lang="en-US" smtClean="0"/>
              <a:t>?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29705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06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29702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262 - 263 Fig. 7-15</a:t>
            </a:r>
          </a:p>
        </p:txBody>
      </p:sp>
      <p:sp>
        <p:nvSpPr>
          <p:cNvPr id="68636" name="Rectangle 28"/>
          <p:cNvSpPr>
            <a:spLocks noChangeArrowheads="1"/>
          </p:cNvSpPr>
          <p:nvPr/>
        </p:nvSpPr>
        <p:spPr bwMode="auto">
          <a:xfrm>
            <a:off x="520700" y="2035175"/>
            <a:ext cx="4052888" cy="2355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Available in five editions: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Home Edition, Professional Edition,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Tablet PC Edition,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Media Center Edition,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and Professional 64-bit Edition</a:t>
            </a:r>
          </a:p>
        </p:txBody>
      </p:sp>
      <p:pic>
        <p:nvPicPr>
          <p:cNvPr id="11" name="Picture 10" descr="CFig8-24.gif"/>
          <p:cNvPicPr>
            <a:picLocks noChangeAspect="1"/>
          </p:cNvPicPr>
          <p:nvPr/>
        </p:nvPicPr>
        <p:blipFill>
          <a:blip r:embed="rId2"/>
          <a:srcRect l="1484" t="1430" r="1778"/>
          <a:stretch>
            <a:fillRect/>
          </a:stretch>
        </p:blipFill>
        <p:spPr>
          <a:xfrm>
            <a:off x="4678148" y="2271595"/>
            <a:ext cx="4096983" cy="3151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8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86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15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35" grpId="0" build="p" bldLvl="4" autoUpdateAnimBg="0" advAuto="3000"/>
      <p:bldP spid="68611" grpId="0" build="p" bldLvl="4" autoUpdateAnimBg="0" advAuto="1000"/>
      <p:bldP spid="68636" grpId="0" build="p" bldLvl="4" autoUpdateAnimBg="0" advAuto="400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ChangeArrowheads="1"/>
          </p:cNvSpPr>
          <p:nvPr/>
        </p:nvSpPr>
        <p:spPr bwMode="auto">
          <a:xfrm>
            <a:off x="512763" y="1547813"/>
            <a:ext cx="7518400" cy="57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Successor to Windows XP, containing a new interface and new / enhanced features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143364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736600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dirty="0" smtClean="0"/>
              <a:t>What is </a:t>
            </a:r>
            <a:r>
              <a:rPr lang="en-US" dirty="0" smtClean="0">
                <a:solidFill>
                  <a:srgbClr val="D94439"/>
                </a:solidFill>
              </a:rPr>
              <a:t>Windows Vista</a:t>
            </a:r>
            <a:r>
              <a:rPr lang="en-US" dirty="0" smtClean="0"/>
              <a:t>?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0732" name="AutoShape 6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733" name="Text Box 7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30726" name="Text Box 8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263 Fig. 7-16</a:t>
            </a:r>
          </a:p>
        </p:txBody>
      </p:sp>
      <p:sp>
        <p:nvSpPr>
          <p:cNvPr id="143369" name="Rectangle 9"/>
          <p:cNvSpPr>
            <a:spLocks noChangeArrowheads="1"/>
          </p:cNvSpPr>
          <p:nvPr/>
        </p:nvSpPr>
        <p:spPr bwMode="auto">
          <a:xfrm>
            <a:off x="520700" y="2470150"/>
            <a:ext cx="4052888" cy="2355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Available in several editions, grouped into Home and Business categories</a:t>
            </a:r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0" y="4800600"/>
            <a:ext cx="1981200" cy="1295400"/>
            <a:chOff x="0" y="3024"/>
            <a:chExt cx="1248" cy="816"/>
          </a:xfrm>
        </p:grpSpPr>
        <p:sp>
          <p:nvSpPr>
            <p:cNvPr id="30730" name="Rectangle 13"/>
            <p:cNvSpPr>
              <a:spLocks noChangeArrowheads="1"/>
            </p:cNvSpPr>
            <p:nvPr/>
          </p:nvSpPr>
          <p:spPr bwMode="auto">
            <a:xfrm>
              <a:off x="0" y="3456"/>
              <a:ext cx="1248" cy="38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44450" rIns="90488" bIns="44450"/>
            <a:lstStyle/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to view Web Link,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Chapter 7, Click Web Link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from left navigation, </a:t>
              </a:r>
            </a:p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then click Windows Vista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below Chapter 7</a:t>
              </a:r>
            </a:p>
          </p:txBody>
        </p:sp>
        <p:sp>
          <p:nvSpPr>
            <p:cNvPr id="30731" name="Webpage">
              <a:hlinkClick r:id="rId2"/>
            </p:cNvPr>
            <p:cNvSpPr>
              <a:spLocks noEditPoints="1" noChangeArrowheads="1"/>
            </p:cNvSpPr>
            <p:nvPr/>
          </p:nvSpPr>
          <p:spPr bwMode="auto">
            <a:xfrm>
              <a:off x="96" y="3024"/>
              <a:ext cx="278" cy="37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w 21600"/>
                <a:gd name="T13" fmla="*/ 0 h 21600"/>
                <a:gd name="T14" fmla="*/ 0 w 21600"/>
                <a:gd name="T15" fmla="*/ 0 h 21600"/>
                <a:gd name="T16" fmla="*/ 0 w 21600"/>
                <a:gd name="T17" fmla="*/ 0 h 21600"/>
                <a:gd name="T18" fmla="*/ 0 w 21600"/>
                <a:gd name="T19" fmla="*/ 0 h 2160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1942 w 21600"/>
                <a:gd name="T31" fmla="*/ 12832 h 21600"/>
                <a:gd name="T32" fmla="*/ 19813 w 21600"/>
                <a:gd name="T33" fmla="*/ 20729 h 2160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1600" h="21600" extrusionOk="0">
                  <a:moveTo>
                    <a:pt x="9184" y="949"/>
                  </a:moveTo>
                  <a:lnTo>
                    <a:pt x="9758" y="1309"/>
                  </a:lnTo>
                  <a:lnTo>
                    <a:pt x="11544" y="1292"/>
                  </a:lnTo>
                  <a:lnTo>
                    <a:pt x="12437" y="1292"/>
                  </a:lnTo>
                  <a:lnTo>
                    <a:pt x="13414" y="1161"/>
                  </a:lnTo>
                  <a:lnTo>
                    <a:pt x="13648" y="1243"/>
                  </a:lnTo>
                  <a:lnTo>
                    <a:pt x="13542" y="1390"/>
                  </a:lnTo>
                  <a:lnTo>
                    <a:pt x="13967" y="1849"/>
                  </a:lnTo>
                  <a:lnTo>
                    <a:pt x="14562" y="2520"/>
                  </a:lnTo>
                  <a:lnTo>
                    <a:pt x="14669" y="3223"/>
                  </a:lnTo>
                  <a:lnTo>
                    <a:pt x="14796" y="3518"/>
                  </a:lnTo>
                  <a:lnTo>
                    <a:pt x="15264" y="3665"/>
                  </a:lnTo>
                  <a:lnTo>
                    <a:pt x="15753" y="3518"/>
                  </a:lnTo>
                  <a:lnTo>
                    <a:pt x="15902" y="2978"/>
                  </a:lnTo>
                  <a:lnTo>
                    <a:pt x="16008" y="2323"/>
                  </a:lnTo>
                  <a:moveTo>
                    <a:pt x="10757" y="21632"/>
                  </a:moveTo>
                  <a:lnTo>
                    <a:pt x="5187" y="21632"/>
                  </a:lnTo>
                  <a:lnTo>
                    <a:pt x="85" y="17509"/>
                  </a:lnTo>
                  <a:lnTo>
                    <a:pt x="85" y="10849"/>
                  </a:lnTo>
                  <a:lnTo>
                    <a:pt x="85" y="81"/>
                  </a:lnTo>
                  <a:lnTo>
                    <a:pt x="10757" y="81"/>
                  </a:lnTo>
                  <a:lnTo>
                    <a:pt x="21706" y="81"/>
                  </a:lnTo>
                  <a:lnTo>
                    <a:pt x="21706" y="10652"/>
                  </a:lnTo>
                  <a:lnTo>
                    <a:pt x="21706" y="21632"/>
                  </a:lnTo>
                  <a:lnTo>
                    <a:pt x="10757" y="21632"/>
                  </a:lnTo>
                  <a:close/>
                </a:path>
                <a:path w="21600" h="21600" extrusionOk="0">
                  <a:moveTo>
                    <a:pt x="85" y="17509"/>
                  </a:moveTo>
                  <a:lnTo>
                    <a:pt x="5187" y="17509"/>
                  </a:lnTo>
                  <a:lnTo>
                    <a:pt x="5187" y="21632"/>
                  </a:lnTo>
                  <a:lnTo>
                    <a:pt x="85" y="17509"/>
                  </a:lnTo>
                  <a:close/>
                </a:path>
                <a:path w="21600" h="21600" extrusionOk="0">
                  <a:moveTo>
                    <a:pt x="5591" y="10620"/>
                  </a:moveTo>
                  <a:lnTo>
                    <a:pt x="6122" y="10996"/>
                  </a:lnTo>
                  <a:lnTo>
                    <a:pt x="6696" y="11340"/>
                  </a:lnTo>
                  <a:lnTo>
                    <a:pt x="7313" y="11618"/>
                  </a:lnTo>
                  <a:lnTo>
                    <a:pt x="7972" y="11863"/>
                  </a:lnTo>
                  <a:lnTo>
                    <a:pt x="8652" y="12060"/>
                  </a:lnTo>
                  <a:lnTo>
                    <a:pt x="9396" y="12190"/>
                  </a:lnTo>
                  <a:lnTo>
                    <a:pt x="10119" y="12272"/>
                  </a:lnTo>
                  <a:lnTo>
                    <a:pt x="10906" y="12305"/>
                  </a:lnTo>
                  <a:lnTo>
                    <a:pt x="11650" y="12272"/>
                  </a:lnTo>
                  <a:lnTo>
                    <a:pt x="12373" y="12190"/>
                  </a:lnTo>
                  <a:lnTo>
                    <a:pt x="13117" y="12060"/>
                  </a:lnTo>
                  <a:lnTo>
                    <a:pt x="13797" y="11863"/>
                  </a:lnTo>
                  <a:lnTo>
                    <a:pt x="14456" y="11618"/>
                  </a:lnTo>
                  <a:lnTo>
                    <a:pt x="15073" y="11340"/>
                  </a:lnTo>
                  <a:lnTo>
                    <a:pt x="15647" y="11029"/>
                  </a:lnTo>
                  <a:lnTo>
                    <a:pt x="16178" y="10652"/>
                  </a:lnTo>
                  <a:lnTo>
                    <a:pt x="16667" y="10243"/>
                  </a:lnTo>
                  <a:lnTo>
                    <a:pt x="17071" y="9801"/>
                  </a:lnTo>
                  <a:lnTo>
                    <a:pt x="17475" y="9327"/>
                  </a:lnTo>
                  <a:lnTo>
                    <a:pt x="17815" y="8820"/>
                  </a:lnTo>
                  <a:lnTo>
                    <a:pt x="18049" y="8296"/>
                  </a:lnTo>
                  <a:lnTo>
                    <a:pt x="18262" y="7723"/>
                  </a:lnTo>
                  <a:lnTo>
                    <a:pt x="18347" y="7134"/>
                  </a:lnTo>
                  <a:lnTo>
                    <a:pt x="18389" y="6561"/>
                  </a:lnTo>
                  <a:lnTo>
                    <a:pt x="18347" y="5956"/>
                  </a:lnTo>
                  <a:lnTo>
                    <a:pt x="18262" y="5400"/>
                  </a:lnTo>
                  <a:lnTo>
                    <a:pt x="18049" y="4827"/>
                  </a:lnTo>
                  <a:lnTo>
                    <a:pt x="17815" y="4303"/>
                  </a:lnTo>
                  <a:lnTo>
                    <a:pt x="17475" y="3796"/>
                  </a:lnTo>
                  <a:lnTo>
                    <a:pt x="17114" y="3321"/>
                  </a:lnTo>
                  <a:lnTo>
                    <a:pt x="16710" y="2880"/>
                  </a:lnTo>
                  <a:lnTo>
                    <a:pt x="16221" y="2470"/>
                  </a:lnTo>
                  <a:lnTo>
                    <a:pt x="15689" y="2094"/>
                  </a:lnTo>
                  <a:lnTo>
                    <a:pt x="15115" y="1750"/>
                  </a:lnTo>
                  <a:lnTo>
                    <a:pt x="14499" y="1472"/>
                  </a:lnTo>
                  <a:lnTo>
                    <a:pt x="13797" y="1227"/>
                  </a:lnTo>
                  <a:lnTo>
                    <a:pt x="13117" y="1030"/>
                  </a:lnTo>
                  <a:lnTo>
                    <a:pt x="12415" y="883"/>
                  </a:lnTo>
                  <a:lnTo>
                    <a:pt x="11650" y="818"/>
                  </a:lnTo>
                  <a:lnTo>
                    <a:pt x="10906" y="785"/>
                  </a:lnTo>
                  <a:lnTo>
                    <a:pt x="10119" y="818"/>
                  </a:lnTo>
                  <a:lnTo>
                    <a:pt x="9396" y="883"/>
                  </a:lnTo>
                  <a:lnTo>
                    <a:pt x="8652" y="1030"/>
                  </a:lnTo>
                  <a:lnTo>
                    <a:pt x="8014" y="1227"/>
                  </a:lnTo>
                  <a:lnTo>
                    <a:pt x="7355" y="1440"/>
                  </a:lnTo>
                  <a:lnTo>
                    <a:pt x="6739" y="1750"/>
                  </a:lnTo>
                  <a:lnTo>
                    <a:pt x="6122" y="2061"/>
                  </a:lnTo>
                  <a:lnTo>
                    <a:pt x="5591" y="2438"/>
                  </a:lnTo>
                  <a:lnTo>
                    <a:pt x="5102" y="2847"/>
                  </a:lnTo>
                  <a:lnTo>
                    <a:pt x="4698" y="3289"/>
                  </a:lnTo>
                  <a:lnTo>
                    <a:pt x="4294" y="3763"/>
                  </a:lnTo>
                  <a:lnTo>
                    <a:pt x="3996" y="4270"/>
                  </a:lnTo>
                  <a:lnTo>
                    <a:pt x="3720" y="4794"/>
                  </a:lnTo>
                  <a:lnTo>
                    <a:pt x="3550" y="5367"/>
                  </a:lnTo>
                  <a:lnTo>
                    <a:pt x="3422" y="5956"/>
                  </a:lnTo>
                  <a:lnTo>
                    <a:pt x="3380" y="6561"/>
                  </a:lnTo>
                  <a:lnTo>
                    <a:pt x="3422" y="7134"/>
                  </a:lnTo>
                  <a:lnTo>
                    <a:pt x="3550" y="7690"/>
                  </a:lnTo>
                  <a:lnTo>
                    <a:pt x="3720" y="8263"/>
                  </a:lnTo>
                  <a:lnTo>
                    <a:pt x="3954" y="8787"/>
                  </a:lnTo>
                  <a:lnTo>
                    <a:pt x="4294" y="9294"/>
                  </a:lnTo>
                  <a:lnTo>
                    <a:pt x="4655" y="9769"/>
                  </a:lnTo>
                  <a:lnTo>
                    <a:pt x="5102" y="10210"/>
                  </a:lnTo>
                  <a:lnTo>
                    <a:pt x="5591" y="10620"/>
                  </a:lnTo>
                  <a:close/>
                </a:path>
                <a:path w="21600" h="21600" extrusionOk="0">
                  <a:moveTo>
                    <a:pt x="3401" y="6021"/>
                  </a:moveTo>
                  <a:lnTo>
                    <a:pt x="4039" y="5530"/>
                  </a:lnTo>
                  <a:lnTo>
                    <a:pt x="4294" y="4892"/>
                  </a:lnTo>
                  <a:lnTo>
                    <a:pt x="4677" y="4156"/>
                  </a:lnTo>
                  <a:lnTo>
                    <a:pt x="5166" y="3763"/>
                  </a:lnTo>
                  <a:lnTo>
                    <a:pt x="5378" y="3354"/>
                  </a:lnTo>
                  <a:lnTo>
                    <a:pt x="5293" y="2732"/>
                  </a:lnTo>
                  <a:moveTo>
                    <a:pt x="3507" y="7380"/>
                  </a:moveTo>
                  <a:lnTo>
                    <a:pt x="3890" y="7200"/>
                  </a:lnTo>
                  <a:lnTo>
                    <a:pt x="4103" y="7249"/>
                  </a:lnTo>
                  <a:lnTo>
                    <a:pt x="4400" y="7527"/>
                  </a:lnTo>
                  <a:lnTo>
                    <a:pt x="4719" y="7674"/>
                  </a:lnTo>
                  <a:lnTo>
                    <a:pt x="5293" y="7641"/>
                  </a:lnTo>
                  <a:lnTo>
                    <a:pt x="5740" y="7543"/>
                  </a:lnTo>
                  <a:lnTo>
                    <a:pt x="6144" y="7543"/>
                  </a:lnTo>
                  <a:lnTo>
                    <a:pt x="6526" y="7821"/>
                  </a:lnTo>
                  <a:lnTo>
                    <a:pt x="6569" y="8312"/>
                  </a:lnTo>
                  <a:lnTo>
                    <a:pt x="6059" y="8852"/>
                  </a:lnTo>
                  <a:lnTo>
                    <a:pt x="5803" y="8967"/>
                  </a:lnTo>
                  <a:lnTo>
                    <a:pt x="5803" y="9147"/>
                  </a:lnTo>
                  <a:lnTo>
                    <a:pt x="5421" y="9294"/>
                  </a:lnTo>
                  <a:lnTo>
                    <a:pt x="4868" y="9163"/>
                  </a:lnTo>
                  <a:lnTo>
                    <a:pt x="4337" y="9049"/>
                  </a:lnTo>
                  <a:lnTo>
                    <a:pt x="4081" y="9000"/>
                  </a:lnTo>
                  <a:moveTo>
                    <a:pt x="14988" y="11372"/>
                  </a:moveTo>
                  <a:lnTo>
                    <a:pt x="15115" y="10865"/>
                  </a:lnTo>
                  <a:lnTo>
                    <a:pt x="16072" y="10096"/>
                  </a:lnTo>
                  <a:lnTo>
                    <a:pt x="16455" y="9605"/>
                  </a:lnTo>
                  <a:lnTo>
                    <a:pt x="16455" y="8329"/>
                  </a:lnTo>
                  <a:lnTo>
                    <a:pt x="17156" y="7969"/>
                  </a:lnTo>
                  <a:lnTo>
                    <a:pt x="17879" y="7870"/>
                  </a:lnTo>
                  <a:lnTo>
                    <a:pt x="18177" y="7821"/>
                  </a:lnTo>
                  <a:moveTo>
                    <a:pt x="18368" y="6840"/>
                  </a:moveTo>
                  <a:lnTo>
                    <a:pt x="18049" y="6610"/>
                  </a:lnTo>
                  <a:lnTo>
                    <a:pt x="17411" y="6512"/>
                  </a:lnTo>
                  <a:lnTo>
                    <a:pt x="16859" y="6545"/>
                  </a:lnTo>
                  <a:lnTo>
                    <a:pt x="16603" y="6201"/>
                  </a:lnTo>
                  <a:lnTo>
                    <a:pt x="16731" y="5874"/>
                  </a:lnTo>
                  <a:lnTo>
                    <a:pt x="17241" y="5465"/>
                  </a:lnTo>
                  <a:lnTo>
                    <a:pt x="17858" y="5236"/>
                  </a:lnTo>
                  <a:lnTo>
                    <a:pt x="18007" y="5089"/>
                  </a:lnTo>
                  <a:lnTo>
                    <a:pt x="18049" y="4892"/>
                  </a:lnTo>
                  <a:moveTo>
                    <a:pt x="8100" y="1260"/>
                  </a:moveTo>
                  <a:cubicBezTo>
                    <a:pt x="8333" y="1276"/>
                    <a:pt x="8206" y="1554"/>
                    <a:pt x="8695" y="1652"/>
                  </a:cubicBezTo>
                  <a:cubicBezTo>
                    <a:pt x="9184" y="1750"/>
                    <a:pt x="10481" y="1685"/>
                    <a:pt x="10991" y="1881"/>
                  </a:cubicBezTo>
                  <a:cubicBezTo>
                    <a:pt x="11501" y="2078"/>
                    <a:pt x="11629" y="2503"/>
                    <a:pt x="11799" y="2830"/>
                  </a:cubicBezTo>
                  <a:cubicBezTo>
                    <a:pt x="11969" y="3158"/>
                    <a:pt x="11905" y="3910"/>
                    <a:pt x="12054" y="3894"/>
                  </a:cubicBezTo>
                  <a:cubicBezTo>
                    <a:pt x="12203" y="3878"/>
                    <a:pt x="12351" y="2880"/>
                    <a:pt x="12649" y="2683"/>
                  </a:cubicBezTo>
                  <a:cubicBezTo>
                    <a:pt x="12947" y="2487"/>
                    <a:pt x="13670" y="2536"/>
                    <a:pt x="13840" y="2683"/>
                  </a:cubicBezTo>
                  <a:cubicBezTo>
                    <a:pt x="14010" y="2830"/>
                    <a:pt x="13733" y="3370"/>
                    <a:pt x="13648" y="3616"/>
                  </a:cubicBezTo>
                  <a:cubicBezTo>
                    <a:pt x="13563" y="3861"/>
                    <a:pt x="13457" y="4058"/>
                    <a:pt x="13351" y="4156"/>
                  </a:cubicBezTo>
                  <a:cubicBezTo>
                    <a:pt x="13244" y="4254"/>
                    <a:pt x="13096" y="4221"/>
                    <a:pt x="12947" y="4254"/>
                  </a:cubicBezTo>
                  <a:cubicBezTo>
                    <a:pt x="12777" y="4303"/>
                    <a:pt x="12585" y="4369"/>
                    <a:pt x="12394" y="4401"/>
                  </a:cubicBezTo>
                  <a:cubicBezTo>
                    <a:pt x="12139" y="4500"/>
                    <a:pt x="12054" y="4614"/>
                    <a:pt x="11862" y="4647"/>
                  </a:cubicBezTo>
                  <a:cubicBezTo>
                    <a:pt x="11650" y="4761"/>
                    <a:pt x="11671" y="4680"/>
                    <a:pt x="11437" y="4778"/>
                  </a:cubicBezTo>
                  <a:cubicBezTo>
                    <a:pt x="11352" y="4827"/>
                    <a:pt x="11225" y="4974"/>
                    <a:pt x="11246" y="5072"/>
                  </a:cubicBezTo>
                  <a:cubicBezTo>
                    <a:pt x="11225" y="5154"/>
                    <a:pt x="11267" y="5220"/>
                    <a:pt x="11310" y="5269"/>
                  </a:cubicBezTo>
                  <a:cubicBezTo>
                    <a:pt x="11352" y="5318"/>
                    <a:pt x="11480" y="5383"/>
                    <a:pt x="11565" y="5416"/>
                  </a:cubicBezTo>
                  <a:cubicBezTo>
                    <a:pt x="11629" y="5400"/>
                    <a:pt x="11820" y="5465"/>
                    <a:pt x="11862" y="5432"/>
                  </a:cubicBezTo>
                  <a:cubicBezTo>
                    <a:pt x="11905" y="5416"/>
                    <a:pt x="11926" y="5269"/>
                    <a:pt x="11884" y="5236"/>
                  </a:cubicBezTo>
                  <a:cubicBezTo>
                    <a:pt x="11841" y="5203"/>
                    <a:pt x="11629" y="5269"/>
                    <a:pt x="11565" y="5220"/>
                  </a:cubicBezTo>
                  <a:cubicBezTo>
                    <a:pt x="11480" y="5187"/>
                    <a:pt x="11459" y="5040"/>
                    <a:pt x="11480" y="4974"/>
                  </a:cubicBezTo>
                  <a:cubicBezTo>
                    <a:pt x="11501" y="4909"/>
                    <a:pt x="11607" y="4860"/>
                    <a:pt x="11692" y="4843"/>
                  </a:cubicBezTo>
                  <a:cubicBezTo>
                    <a:pt x="11905" y="4876"/>
                    <a:pt x="11820" y="4876"/>
                    <a:pt x="12054" y="4876"/>
                  </a:cubicBezTo>
                  <a:cubicBezTo>
                    <a:pt x="12075" y="5040"/>
                    <a:pt x="12096" y="5269"/>
                    <a:pt x="12139" y="5416"/>
                  </a:cubicBezTo>
                  <a:cubicBezTo>
                    <a:pt x="12160" y="5465"/>
                    <a:pt x="12330" y="5465"/>
                    <a:pt x="12373" y="5416"/>
                  </a:cubicBezTo>
                  <a:cubicBezTo>
                    <a:pt x="12415" y="5367"/>
                    <a:pt x="12330" y="4974"/>
                    <a:pt x="12394" y="4892"/>
                  </a:cubicBezTo>
                  <a:cubicBezTo>
                    <a:pt x="12458" y="4810"/>
                    <a:pt x="12692" y="4925"/>
                    <a:pt x="12755" y="4892"/>
                  </a:cubicBezTo>
                  <a:cubicBezTo>
                    <a:pt x="12798" y="4860"/>
                    <a:pt x="12840" y="4761"/>
                    <a:pt x="12755" y="4729"/>
                  </a:cubicBezTo>
                  <a:cubicBezTo>
                    <a:pt x="12670" y="4696"/>
                    <a:pt x="12118" y="4745"/>
                    <a:pt x="12203" y="4696"/>
                  </a:cubicBezTo>
                  <a:cubicBezTo>
                    <a:pt x="12543" y="4549"/>
                    <a:pt x="12819" y="4434"/>
                    <a:pt x="13266" y="4401"/>
                  </a:cubicBezTo>
                  <a:cubicBezTo>
                    <a:pt x="13436" y="4385"/>
                    <a:pt x="13585" y="4500"/>
                    <a:pt x="13776" y="4532"/>
                  </a:cubicBezTo>
                  <a:cubicBezTo>
                    <a:pt x="13967" y="4630"/>
                    <a:pt x="13861" y="4843"/>
                    <a:pt x="13712" y="4925"/>
                  </a:cubicBezTo>
                  <a:cubicBezTo>
                    <a:pt x="13648" y="5023"/>
                    <a:pt x="13521" y="5121"/>
                    <a:pt x="13414" y="5187"/>
                  </a:cubicBezTo>
                  <a:cubicBezTo>
                    <a:pt x="13351" y="5285"/>
                    <a:pt x="13287" y="5334"/>
                    <a:pt x="13159" y="5383"/>
                  </a:cubicBezTo>
                  <a:cubicBezTo>
                    <a:pt x="13117" y="5563"/>
                    <a:pt x="12862" y="5743"/>
                    <a:pt x="12649" y="5809"/>
                  </a:cubicBezTo>
                  <a:cubicBezTo>
                    <a:pt x="12543" y="5907"/>
                    <a:pt x="12437" y="5940"/>
                    <a:pt x="12309" y="6005"/>
                  </a:cubicBezTo>
                  <a:cubicBezTo>
                    <a:pt x="12245" y="6120"/>
                    <a:pt x="12139" y="6185"/>
                    <a:pt x="12075" y="6300"/>
                  </a:cubicBezTo>
                  <a:cubicBezTo>
                    <a:pt x="12118" y="6561"/>
                    <a:pt x="12075" y="6643"/>
                    <a:pt x="12373" y="6741"/>
                  </a:cubicBezTo>
                  <a:cubicBezTo>
                    <a:pt x="12500" y="6840"/>
                    <a:pt x="12522" y="6970"/>
                    <a:pt x="12330" y="7036"/>
                  </a:cubicBezTo>
                  <a:cubicBezTo>
                    <a:pt x="12011" y="6987"/>
                    <a:pt x="12033" y="6823"/>
                    <a:pt x="11799" y="6692"/>
                  </a:cubicBezTo>
                  <a:cubicBezTo>
                    <a:pt x="11714" y="6529"/>
                    <a:pt x="11459" y="6430"/>
                    <a:pt x="11246" y="6398"/>
                  </a:cubicBezTo>
                  <a:cubicBezTo>
                    <a:pt x="11076" y="6332"/>
                    <a:pt x="11182" y="6365"/>
                    <a:pt x="10906" y="6365"/>
                  </a:cubicBezTo>
                  <a:cubicBezTo>
                    <a:pt x="10608" y="6512"/>
                    <a:pt x="10544" y="7347"/>
                    <a:pt x="11246" y="7478"/>
                  </a:cubicBezTo>
                  <a:cubicBezTo>
                    <a:pt x="12394" y="7429"/>
                    <a:pt x="13329" y="7772"/>
                    <a:pt x="13733" y="7985"/>
                  </a:cubicBezTo>
                  <a:cubicBezTo>
                    <a:pt x="13840" y="8410"/>
                    <a:pt x="13329" y="8901"/>
                    <a:pt x="12500" y="9343"/>
                  </a:cubicBezTo>
                  <a:cubicBezTo>
                    <a:pt x="11629" y="9736"/>
                    <a:pt x="11480" y="10194"/>
                    <a:pt x="11246" y="10980"/>
                  </a:cubicBezTo>
                  <a:cubicBezTo>
                    <a:pt x="10991" y="11372"/>
                    <a:pt x="10481" y="10930"/>
                    <a:pt x="10289" y="10096"/>
                  </a:cubicBezTo>
                  <a:cubicBezTo>
                    <a:pt x="10140" y="9196"/>
                    <a:pt x="9907" y="8165"/>
                    <a:pt x="10459" y="7576"/>
                  </a:cubicBezTo>
                  <a:cubicBezTo>
                    <a:pt x="9375" y="6790"/>
                    <a:pt x="9269" y="6070"/>
                    <a:pt x="9056" y="6218"/>
                  </a:cubicBezTo>
                  <a:cubicBezTo>
                    <a:pt x="9205" y="6987"/>
                    <a:pt x="8929" y="6660"/>
                    <a:pt x="8737" y="6021"/>
                  </a:cubicBezTo>
                  <a:cubicBezTo>
                    <a:pt x="8822" y="5023"/>
                    <a:pt x="8610" y="4385"/>
                    <a:pt x="8440" y="3550"/>
                  </a:cubicBezTo>
                  <a:lnTo>
                    <a:pt x="7844" y="2290"/>
                  </a:lnTo>
                  <a:lnTo>
                    <a:pt x="6654" y="1849"/>
                  </a:lnTo>
                </a:path>
              </a:pathLst>
            </a:custGeom>
            <a:solidFill>
              <a:srgbClr val="FF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4" name="Picture 13" descr="CFig8-25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017" y="2511187"/>
            <a:ext cx="4472323" cy="3367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33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33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43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500"/>
                            </p:stCondLst>
                            <p:childTnLst>
                              <p:par>
                                <p:cTn id="17" presetID="3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5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62" grpId="0" build="p" bldLvl="4" autoUpdateAnimBg="0" advAuto="3000"/>
      <p:bldP spid="143364" grpId="0" build="p" bldLvl="4" autoUpdateAnimBg="0" advAuto="1000"/>
      <p:bldP spid="143369" grpId="0" build="p" bldLvl="4" autoUpdateAnimBg="0" advAuto="400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6994525" cy="27638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</a:t>
            </a:r>
            <a:r>
              <a:rPr lang="en-US" smtClean="0">
                <a:solidFill>
                  <a:srgbClr val="D94439"/>
                </a:solidFill>
              </a:rPr>
              <a:t>Mac OS X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2779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2780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32773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264 Fig. 7-17</a:t>
            </a:r>
          </a:p>
        </p:txBody>
      </p:sp>
      <p:sp>
        <p:nvSpPr>
          <p:cNvPr id="72730" name="Rectangle 26"/>
          <p:cNvSpPr>
            <a:spLocks noChangeArrowheads="1"/>
          </p:cNvSpPr>
          <p:nvPr/>
        </p:nvSpPr>
        <p:spPr bwMode="auto">
          <a:xfrm>
            <a:off x="304800" y="1524000"/>
            <a:ext cx="6994525" cy="27638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Available only for computers manufactured by Apple</a:t>
            </a:r>
            <a:endParaRPr kumimoji="1" lang="en-US" sz="2600" b="1">
              <a:solidFill>
                <a:srgbClr val="000000"/>
              </a:solidFill>
              <a:latin typeface="Arial Unicode MS" pitchFamily="34" charset="-128"/>
            </a:endParaRP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Macintosh operating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system has been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model for most GUIs</a:t>
            </a:r>
          </a:p>
        </p:txBody>
      </p:sp>
      <p:grpSp>
        <p:nvGrpSpPr>
          <p:cNvPr id="3" name="Group 60"/>
          <p:cNvGrpSpPr>
            <a:grpSpLocks/>
          </p:cNvGrpSpPr>
          <p:nvPr/>
        </p:nvGrpSpPr>
        <p:grpSpPr bwMode="auto">
          <a:xfrm>
            <a:off x="0" y="4800600"/>
            <a:ext cx="1981200" cy="1295400"/>
            <a:chOff x="0" y="3024"/>
            <a:chExt cx="1248" cy="816"/>
          </a:xfrm>
        </p:grpSpPr>
        <p:sp>
          <p:nvSpPr>
            <p:cNvPr id="32777" name="Rectangle 61"/>
            <p:cNvSpPr>
              <a:spLocks noChangeArrowheads="1"/>
            </p:cNvSpPr>
            <p:nvPr/>
          </p:nvSpPr>
          <p:spPr bwMode="auto">
            <a:xfrm>
              <a:off x="0" y="3456"/>
              <a:ext cx="1248" cy="38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44450" rIns="90488" bIns="44450"/>
            <a:lstStyle/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to view Web Link,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Chapter 7, Click Web Link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from left navigation, </a:t>
              </a:r>
            </a:p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then click Mac OS X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below Chapter 7</a:t>
              </a:r>
            </a:p>
          </p:txBody>
        </p:sp>
        <p:sp>
          <p:nvSpPr>
            <p:cNvPr id="32778" name="Webpage">
              <a:hlinkClick r:id="rId2"/>
            </p:cNvPr>
            <p:cNvSpPr>
              <a:spLocks noEditPoints="1" noChangeArrowheads="1"/>
            </p:cNvSpPr>
            <p:nvPr/>
          </p:nvSpPr>
          <p:spPr bwMode="auto">
            <a:xfrm>
              <a:off x="96" y="3024"/>
              <a:ext cx="278" cy="37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w 21600"/>
                <a:gd name="T13" fmla="*/ 0 h 21600"/>
                <a:gd name="T14" fmla="*/ 0 w 21600"/>
                <a:gd name="T15" fmla="*/ 0 h 21600"/>
                <a:gd name="T16" fmla="*/ 0 w 21600"/>
                <a:gd name="T17" fmla="*/ 0 h 21600"/>
                <a:gd name="T18" fmla="*/ 0 w 21600"/>
                <a:gd name="T19" fmla="*/ 0 h 2160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1942 w 21600"/>
                <a:gd name="T31" fmla="*/ 12832 h 21600"/>
                <a:gd name="T32" fmla="*/ 19813 w 21600"/>
                <a:gd name="T33" fmla="*/ 20729 h 2160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1600" h="21600" extrusionOk="0">
                  <a:moveTo>
                    <a:pt x="9184" y="949"/>
                  </a:moveTo>
                  <a:lnTo>
                    <a:pt x="9758" y="1309"/>
                  </a:lnTo>
                  <a:lnTo>
                    <a:pt x="11544" y="1292"/>
                  </a:lnTo>
                  <a:lnTo>
                    <a:pt x="12437" y="1292"/>
                  </a:lnTo>
                  <a:lnTo>
                    <a:pt x="13414" y="1161"/>
                  </a:lnTo>
                  <a:lnTo>
                    <a:pt x="13648" y="1243"/>
                  </a:lnTo>
                  <a:lnTo>
                    <a:pt x="13542" y="1390"/>
                  </a:lnTo>
                  <a:lnTo>
                    <a:pt x="13967" y="1849"/>
                  </a:lnTo>
                  <a:lnTo>
                    <a:pt x="14562" y="2520"/>
                  </a:lnTo>
                  <a:lnTo>
                    <a:pt x="14669" y="3223"/>
                  </a:lnTo>
                  <a:lnTo>
                    <a:pt x="14796" y="3518"/>
                  </a:lnTo>
                  <a:lnTo>
                    <a:pt x="15264" y="3665"/>
                  </a:lnTo>
                  <a:lnTo>
                    <a:pt x="15753" y="3518"/>
                  </a:lnTo>
                  <a:lnTo>
                    <a:pt x="15902" y="2978"/>
                  </a:lnTo>
                  <a:lnTo>
                    <a:pt x="16008" y="2323"/>
                  </a:lnTo>
                  <a:moveTo>
                    <a:pt x="10757" y="21632"/>
                  </a:moveTo>
                  <a:lnTo>
                    <a:pt x="5187" y="21632"/>
                  </a:lnTo>
                  <a:lnTo>
                    <a:pt x="85" y="17509"/>
                  </a:lnTo>
                  <a:lnTo>
                    <a:pt x="85" y="10849"/>
                  </a:lnTo>
                  <a:lnTo>
                    <a:pt x="85" y="81"/>
                  </a:lnTo>
                  <a:lnTo>
                    <a:pt x="10757" y="81"/>
                  </a:lnTo>
                  <a:lnTo>
                    <a:pt x="21706" y="81"/>
                  </a:lnTo>
                  <a:lnTo>
                    <a:pt x="21706" y="10652"/>
                  </a:lnTo>
                  <a:lnTo>
                    <a:pt x="21706" y="21632"/>
                  </a:lnTo>
                  <a:lnTo>
                    <a:pt x="10757" y="21632"/>
                  </a:lnTo>
                  <a:close/>
                </a:path>
                <a:path w="21600" h="21600" extrusionOk="0">
                  <a:moveTo>
                    <a:pt x="85" y="17509"/>
                  </a:moveTo>
                  <a:lnTo>
                    <a:pt x="5187" y="17509"/>
                  </a:lnTo>
                  <a:lnTo>
                    <a:pt x="5187" y="21632"/>
                  </a:lnTo>
                  <a:lnTo>
                    <a:pt x="85" y="17509"/>
                  </a:lnTo>
                  <a:close/>
                </a:path>
                <a:path w="21600" h="21600" extrusionOk="0">
                  <a:moveTo>
                    <a:pt x="5591" y="10620"/>
                  </a:moveTo>
                  <a:lnTo>
                    <a:pt x="6122" y="10996"/>
                  </a:lnTo>
                  <a:lnTo>
                    <a:pt x="6696" y="11340"/>
                  </a:lnTo>
                  <a:lnTo>
                    <a:pt x="7313" y="11618"/>
                  </a:lnTo>
                  <a:lnTo>
                    <a:pt x="7972" y="11863"/>
                  </a:lnTo>
                  <a:lnTo>
                    <a:pt x="8652" y="12060"/>
                  </a:lnTo>
                  <a:lnTo>
                    <a:pt x="9396" y="12190"/>
                  </a:lnTo>
                  <a:lnTo>
                    <a:pt x="10119" y="12272"/>
                  </a:lnTo>
                  <a:lnTo>
                    <a:pt x="10906" y="12305"/>
                  </a:lnTo>
                  <a:lnTo>
                    <a:pt x="11650" y="12272"/>
                  </a:lnTo>
                  <a:lnTo>
                    <a:pt x="12373" y="12190"/>
                  </a:lnTo>
                  <a:lnTo>
                    <a:pt x="13117" y="12060"/>
                  </a:lnTo>
                  <a:lnTo>
                    <a:pt x="13797" y="11863"/>
                  </a:lnTo>
                  <a:lnTo>
                    <a:pt x="14456" y="11618"/>
                  </a:lnTo>
                  <a:lnTo>
                    <a:pt x="15073" y="11340"/>
                  </a:lnTo>
                  <a:lnTo>
                    <a:pt x="15647" y="11029"/>
                  </a:lnTo>
                  <a:lnTo>
                    <a:pt x="16178" y="10652"/>
                  </a:lnTo>
                  <a:lnTo>
                    <a:pt x="16667" y="10243"/>
                  </a:lnTo>
                  <a:lnTo>
                    <a:pt x="17071" y="9801"/>
                  </a:lnTo>
                  <a:lnTo>
                    <a:pt x="17475" y="9327"/>
                  </a:lnTo>
                  <a:lnTo>
                    <a:pt x="17815" y="8820"/>
                  </a:lnTo>
                  <a:lnTo>
                    <a:pt x="18049" y="8296"/>
                  </a:lnTo>
                  <a:lnTo>
                    <a:pt x="18262" y="7723"/>
                  </a:lnTo>
                  <a:lnTo>
                    <a:pt x="18347" y="7134"/>
                  </a:lnTo>
                  <a:lnTo>
                    <a:pt x="18389" y="6561"/>
                  </a:lnTo>
                  <a:lnTo>
                    <a:pt x="18347" y="5956"/>
                  </a:lnTo>
                  <a:lnTo>
                    <a:pt x="18262" y="5400"/>
                  </a:lnTo>
                  <a:lnTo>
                    <a:pt x="18049" y="4827"/>
                  </a:lnTo>
                  <a:lnTo>
                    <a:pt x="17815" y="4303"/>
                  </a:lnTo>
                  <a:lnTo>
                    <a:pt x="17475" y="3796"/>
                  </a:lnTo>
                  <a:lnTo>
                    <a:pt x="17114" y="3321"/>
                  </a:lnTo>
                  <a:lnTo>
                    <a:pt x="16710" y="2880"/>
                  </a:lnTo>
                  <a:lnTo>
                    <a:pt x="16221" y="2470"/>
                  </a:lnTo>
                  <a:lnTo>
                    <a:pt x="15689" y="2094"/>
                  </a:lnTo>
                  <a:lnTo>
                    <a:pt x="15115" y="1750"/>
                  </a:lnTo>
                  <a:lnTo>
                    <a:pt x="14499" y="1472"/>
                  </a:lnTo>
                  <a:lnTo>
                    <a:pt x="13797" y="1227"/>
                  </a:lnTo>
                  <a:lnTo>
                    <a:pt x="13117" y="1030"/>
                  </a:lnTo>
                  <a:lnTo>
                    <a:pt x="12415" y="883"/>
                  </a:lnTo>
                  <a:lnTo>
                    <a:pt x="11650" y="818"/>
                  </a:lnTo>
                  <a:lnTo>
                    <a:pt x="10906" y="785"/>
                  </a:lnTo>
                  <a:lnTo>
                    <a:pt x="10119" y="818"/>
                  </a:lnTo>
                  <a:lnTo>
                    <a:pt x="9396" y="883"/>
                  </a:lnTo>
                  <a:lnTo>
                    <a:pt x="8652" y="1030"/>
                  </a:lnTo>
                  <a:lnTo>
                    <a:pt x="8014" y="1227"/>
                  </a:lnTo>
                  <a:lnTo>
                    <a:pt x="7355" y="1440"/>
                  </a:lnTo>
                  <a:lnTo>
                    <a:pt x="6739" y="1750"/>
                  </a:lnTo>
                  <a:lnTo>
                    <a:pt x="6122" y="2061"/>
                  </a:lnTo>
                  <a:lnTo>
                    <a:pt x="5591" y="2438"/>
                  </a:lnTo>
                  <a:lnTo>
                    <a:pt x="5102" y="2847"/>
                  </a:lnTo>
                  <a:lnTo>
                    <a:pt x="4698" y="3289"/>
                  </a:lnTo>
                  <a:lnTo>
                    <a:pt x="4294" y="3763"/>
                  </a:lnTo>
                  <a:lnTo>
                    <a:pt x="3996" y="4270"/>
                  </a:lnTo>
                  <a:lnTo>
                    <a:pt x="3720" y="4794"/>
                  </a:lnTo>
                  <a:lnTo>
                    <a:pt x="3550" y="5367"/>
                  </a:lnTo>
                  <a:lnTo>
                    <a:pt x="3422" y="5956"/>
                  </a:lnTo>
                  <a:lnTo>
                    <a:pt x="3380" y="6561"/>
                  </a:lnTo>
                  <a:lnTo>
                    <a:pt x="3422" y="7134"/>
                  </a:lnTo>
                  <a:lnTo>
                    <a:pt x="3550" y="7690"/>
                  </a:lnTo>
                  <a:lnTo>
                    <a:pt x="3720" y="8263"/>
                  </a:lnTo>
                  <a:lnTo>
                    <a:pt x="3954" y="8787"/>
                  </a:lnTo>
                  <a:lnTo>
                    <a:pt x="4294" y="9294"/>
                  </a:lnTo>
                  <a:lnTo>
                    <a:pt x="4655" y="9769"/>
                  </a:lnTo>
                  <a:lnTo>
                    <a:pt x="5102" y="10210"/>
                  </a:lnTo>
                  <a:lnTo>
                    <a:pt x="5591" y="10620"/>
                  </a:lnTo>
                  <a:close/>
                </a:path>
                <a:path w="21600" h="21600" extrusionOk="0">
                  <a:moveTo>
                    <a:pt x="3401" y="6021"/>
                  </a:moveTo>
                  <a:lnTo>
                    <a:pt x="4039" y="5530"/>
                  </a:lnTo>
                  <a:lnTo>
                    <a:pt x="4294" y="4892"/>
                  </a:lnTo>
                  <a:lnTo>
                    <a:pt x="4677" y="4156"/>
                  </a:lnTo>
                  <a:lnTo>
                    <a:pt x="5166" y="3763"/>
                  </a:lnTo>
                  <a:lnTo>
                    <a:pt x="5378" y="3354"/>
                  </a:lnTo>
                  <a:lnTo>
                    <a:pt x="5293" y="2732"/>
                  </a:lnTo>
                  <a:moveTo>
                    <a:pt x="3507" y="7380"/>
                  </a:moveTo>
                  <a:lnTo>
                    <a:pt x="3890" y="7200"/>
                  </a:lnTo>
                  <a:lnTo>
                    <a:pt x="4103" y="7249"/>
                  </a:lnTo>
                  <a:lnTo>
                    <a:pt x="4400" y="7527"/>
                  </a:lnTo>
                  <a:lnTo>
                    <a:pt x="4719" y="7674"/>
                  </a:lnTo>
                  <a:lnTo>
                    <a:pt x="5293" y="7641"/>
                  </a:lnTo>
                  <a:lnTo>
                    <a:pt x="5740" y="7543"/>
                  </a:lnTo>
                  <a:lnTo>
                    <a:pt x="6144" y="7543"/>
                  </a:lnTo>
                  <a:lnTo>
                    <a:pt x="6526" y="7821"/>
                  </a:lnTo>
                  <a:lnTo>
                    <a:pt x="6569" y="8312"/>
                  </a:lnTo>
                  <a:lnTo>
                    <a:pt x="6059" y="8852"/>
                  </a:lnTo>
                  <a:lnTo>
                    <a:pt x="5803" y="8967"/>
                  </a:lnTo>
                  <a:lnTo>
                    <a:pt x="5803" y="9147"/>
                  </a:lnTo>
                  <a:lnTo>
                    <a:pt x="5421" y="9294"/>
                  </a:lnTo>
                  <a:lnTo>
                    <a:pt x="4868" y="9163"/>
                  </a:lnTo>
                  <a:lnTo>
                    <a:pt x="4337" y="9049"/>
                  </a:lnTo>
                  <a:lnTo>
                    <a:pt x="4081" y="9000"/>
                  </a:lnTo>
                  <a:moveTo>
                    <a:pt x="14988" y="11372"/>
                  </a:moveTo>
                  <a:lnTo>
                    <a:pt x="15115" y="10865"/>
                  </a:lnTo>
                  <a:lnTo>
                    <a:pt x="16072" y="10096"/>
                  </a:lnTo>
                  <a:lnTo>
                    <a:pt x="16455" y="9605"/>
                  </a:lnTo>
                  <a:lnTo>
                    <a:pt x="16455" y="8329"/>
                  </a:lnTo>
                  <a:lnTo>
                    <a:pt x="17156" y="7969"/>
                  </a:lnTo>
                  <a:lnTo>
                    <a:pt x="17879" y="7870"/>
                  </a:lnTo>
                  <a:lnTo>
                    <a:pt x="18177" y="7821"/>
                  </a:lnTo>
                  <a:moveTo>
                    <a:pt x="18368" y="6840"/>
                  </a:moveTo>
                  <a:lnTo>
                    <a:pt x="18049" y="6610"/>
                  </a:lnTo>
                  <a:lnTo>
                    <a:pt x="17411" y="6512"/>
                  </a:lnTo>
                  <a:lnTo>
                    <a:pt x="16859" y="6545"/>
                  </a:lnTo>
                  <a:lnTo>
                    <a:pt x="16603" y="6201"/>
                  </a:lnTo>
                  <a:lnTo>
                    <a:pt x="16731" y="5874"/>
                  </a:lnTo>
                  <a:lnTo>
                    <a:pt x="17241" y="5465"/>
                  </a:lnTo>
                  <a:lnTo>
                    <a:pt x="17858" y="5236"/>
                  </a:lnTo>
                  <a:lnTo>
                    <a:pt x="18007" y="5089"/>
                  </a:lnTo>
                  <a:lnTo>
                    <a:pt x="18049" y="4892"/>
                  </a:lnTo>
                  <a:moveTo>
                    <a:pt x="8100" y="1260"/>
                  </a:moveTo>
                  <a:cubicBezTo>
                    <a:pt x="8333" y="1276"/>
                    <a:pt x="8206" y="1554"/>
                    <a:pt x="8695" y="1652"/>
                  </a:cubicBezTo>
                  <a:cubicBezTo>
                    <a:pt x="9184" y="1750"/>
                    <a:pt x="10481" y="1685"/>
                    <a:pt x="10991" y="1881"/>
                  </a:cubicBezTo>
                  <a:cubicBezTo>
                    <a:pt x="11501" y="2078"/>
                    <a:pt x="11629" y="2503"/>
                    <a:pt x="11799" y="2830"/>
                  </a:cubicBezTo>
                  <a:cubicBezTo>
                    <a:pt x="11969" y="3158"/>
                    <a:pt x="11905" y="3910"/>
                    <a:pt x="12054" y="3894"/>
                  </a:cubicBezTo>
                  <a:cubicBezTo>
                    <a:pt x="12203" y="3878"/>
                    <a:pt x="12351" y="2880"/>
                    <a:pt x="12649" y="2683"/>
                  </a:cubicBezTo>
                  <a:cubicBezTo>
                    <a:pt x="12947" y="2487"/>
                    <a:pt x="13670" y="2536"/>
                    <a:pt x="13840" y="2683"/>
                  </a:cubicBezTo>
                  <a:cubicBezTo>
                    <a:pt x="14010" y="2830"/>
                    <a:pt x="13733" y="3370"/>
                    <a:pt x="13648" y="3616"/>
                  </a:cubicBezTo>
                  <a:cubicBezTo>
                    <a:pt x="13563" y="3861"/>
                    <a:pt x="13457" y="4058"/>
                    <a:pt x="13351" y="4156"/>
                  </a:cubicBezTo>
                  <a:cubicBezTo>
                    <a:pt x="13244" y="4254"/>
                    <a:pt x="13096" y="4221"/>
                    <a:pt x="12947" y="4254"/>
                  </a:cubicBezTo>
                  <a:cubicBezTo>
                    <a:pt x="12777" y="4303"/>
                    <a:pt x="12585" y="4369"/>
                    <a:pt x="12394" y="4401"/>
                  </a:cubicBezTo>
                  <a:cubicBezTo>
                    <a:pt x="12139" y="4500"/>
                    <a:pt x="12054" y="4614"/>
                    <a:pt x="11862" y="4647"/>
                  </a:cubicBezTo>
                  <a:cubicBezTo>
                    <a:pt x="11650" y="4761"/>
                    <a:pt x="11671" y="4680"/>
                    <a:pt x="11437" y="4778"/>
                  </a:cubicBezTo>
                  <a:cubicBezTo>
                    <a:pt x="11352" y="4827"/>
                    <a:pt x="11225" y="4974"/>
                    <a:pt x="11246" y="5072"/>
                  </a:cubicBezTo>
                  <a:cubicBezTo>
                    <a:pt x="11225" y="5154"/>
                    <a:pt x="11267" y="5220"/>
                    <a:pt x="11310" y="5269"/>
                  </a:cubicBezTo>
                  <a:cubicBezTo>
                    <a:pt x="11352" y="5318"/>
                    <a:pt x="11480" y="5383"/>
                    <a:pt x="11565" y="5416"/>
                  </a:cubicBezTo>
                  <a:cubicBezTo>
                    <a:pt x="11629" y="5400"/>
                    <a:pt x="11820" y="5465"/>
                    <a:pt x="11862" y="5432"/>
                  </a:cubicBezTo>
                  <a:cubicBezTo>
                    <a:pt x="11905" y="5416"/>
                    <a:pt x="11926" y="5269"/>
                    <a:pt x="11884" y="5236"/>
                  </a:cubicBezTo>
                  <a:cubicBezTo>
                    <a:pt x="11841" y="5203"/>
                    <a:pt x="11629" y="5269"/>
                    <a:pt x="11565" y="5220"/>
                  </a:cubicBezTo>
                  <a:cubicBezTo>
                    <a:pt x="11480" y="5187"/>
                    <a:pt x="11459" y="5040"/>
                    <a:pt x="11480" y="4974"/>
                  </a:cubicBezTo>
                  <a:cubicBezTo>
                    <a:pt x="11501" y="4909"/>
                    <a:pt x="11607" y="4860"/>
                    <a:pt x="11692" y="4843"/>
                  </a:cubicBezTo>
                  <a:cubicBezTo>
                    <a:pt x="11905" y="4876"/>
                    <a:pt x="11820" y="4876"/>
                    <a:pt x="12054" y="4876"/>
                  </a:cubicBezTo>
                  <a:cubicBezTo>
                    <a:pt x="12075" y="5040"/>
                    <a:pt x="12096" y="5269"/>
                    <a:pt x="12139" y="5416"/>
                  </a:cubicBezTo>
                  <a:cubicBezTo>
                    <a:pt x="12160" y="5465"/>
                    <a:pt x="12330" y="5465"/>
                    <a:pt x="12373" y="5416"/>
                  </a:cubicBezTo>
                  <a:cubicBezTo>
                    <a:pt x="12415" y="5367"/>
                    <a:pt x="12330" y="4974"/>
                    <a:pt x="12394" y="4892"/>
                  </a:cubicBezTo>
                  <a:cubicBezTo>
                    <a:pt x="12458" y="4810"/>
                    <a:pt x="12692" y="4925"/>
                    <a:pt x="12755" y="4892"/>
                  </a:cubicBezTo>
                  <a:cubicBezTo>
                    <a:pt x="12798" y="4860"/>
                    <a:pt x="12840" y="4761"/>
                    <a:pt x="12755" y="4729"/>
                  </a:cubicBezTo>
                  <a:cubicBezTo>
                    <a:pt x="12670" y="4696"/>
                    <a:pt x="12118" y="4745"/>
                    <a:pt x="12203" y="4696"/>
                  </a:cubicBezTo>
                  <a:cubicBezTo>
                    <a:pt x="12543" y="4549"/>
                    <a:pt x="12819" y="4434"/>
                    <a:pt x="13266" y="4401"/>
                  </a:cubicBezTo>
                  <a:cubicBezTo>
                    <a:pt x="13436" y="4385"/>
                    <a:pt x="13585" y="4500"/>
                    <a:pt x="13776" y="4532"/>
                  </a:cubicBezTo>
                  <a:cubicBezTo>
                    <a:pt x="13967" y="4630"/>
                    <a:pt x="13861" y="4843"/>
                    <a:pt x="13712" y="4925"/>
                  </a:cubicBezTo>
                  <a:cubicBezTo>
                    <a:pt x="13648" y="5023"/>
                    <a:pt x="13521" y="5121"/>
                    <a:pt x="13414" y="5187"/>
                  </a:cubicBezTo>
                  <a:cubicBezTo>
                    <a:pt x="13351" y="5285"/>
                    <a:pt x="13287" y="5334"/>
                    <a:pt x="13159" y="5383"/>
                  </a:cubicBezTo>
                  <a:cubicBezTo>
                    <a:pt x="13117" y="5563"/>
                    <a:pt x="12862" y="5743"/>
                    <a:pt x="12649" y="5809"/>
                  </a:cubicBezTo>
                  <a:cubicBezTo>
                    <a:pt x="12543" y="5907"/>
                    <a:pt x="12437" y="5940"/>
                    <a:pt x="12309" y="6005"/>
                  </a:cubicBezTo>
                  <a:cubicBezTo>
                    <a:pt x="12245" y="6120"/>
                    <a:pt x="12139" y="6185"/>
                    <a:pt x="12075" y="6300"/>
                  </a:cubicBezTo>
                  <a:cubicBezTo>
                    <a:pt x="12118" y="6561"/>
                    <a:pt x="12075" y="6643"/>
                    <a:pt x="12373" y="6741"/>
                  </a:cubicBezTo>
                  <a:cubicBezTo>
                    <a:pt x="12500" y="6840"/>
                    <a:pt x="12522" y="6970"/>
                    <a:pt x="12330" y="7036"/>
                  </a:cubicBezTo>
                  <a:cubicBezTo>
                    <a:pt x="12011" y="6987"/>
                    <a:pt x="12033" y="6823"/>
                    <a:pt x="11799" y="6692"/>
                  </a:cubicBezTo>
                  <a:cubicBezTo>
                    <a:pt x="11714" y="6529"/>
                    <a:pt x="11459" y="6430"/>
                    <a:pt x="11246" y="6398"/>
                  </a:cubicBezTo>
                  <a:cubicBezTo>
                    <a:pt x="11076" y="6332"/>
                    <a:pt x="11182" y="6365"/>
                    <a:pt x="10906" y="6365"/>
                  </a:cubicBezTo>
                  <a:cubicBezTo>
                    <a:pt x="10608" y="6512"/>
                    <a:pt x="10544" y="7347"/>
                    <a:pt x="11246" y="7478"/>
                  </a:cubicBezTo>
                  <a:cubicBezTo>
                    <a:pt x="12394" y="7429"/>
                    <a:pt x="13329" y="7772"/>
                    <a:pt x="13733" y="7985"/>
                  </a:cubicBezTo>
                  <a:cubicBezTo>
                    <a:pt x="13840" y="8410"/>
                    <a:pt x="13329" y="8901"/>
                    <a:pt x="12500" y="9343"/>
                  </a:cubicBezTo>
                  <a:cubicBezTo>
                    <a:pt x="11629" y="9736"/>
                    <a:pt x="11480" y="10194"/>
                    <a:pt x="11246" y="10980"/>
                  </a:cubicBezTo>
                  <a:cubicBezTo>
                    <a:pt x="10991" y="11372"/>
                    <a:pt x="10481" y="10930"/>
                    <a:pt x="10289" y="10096"/>
                  </a:cubicBezTo>
                  <a:cubicBezTo>
                    <a:pt x="10140" y="9196"/>
                    <a:pt x="9907" y="8165"/>
                    <a:pt x="10459" y="7576"/>
                  </a:cubicBezTo>
                  <a:cubicBezTo>
                    <a:pt x="9375" y="6790"/>
                    <a:pt x="9269" y="6070"/>
                    <a:pt x="9056" y="6218"/>
                  </a:cubicBezTo>
                  <a:cubicBezTo>
                    <a:pt x="9205" y="6987"/>
                    <a:pt x="8929" y="6660"/>
                    <a:pt x="8737" y="6021"/>
                  </a:cubicBezTo>
                  <a:cubicBezTo>
                    <a:pt x="8822" y="5023"/>
                    <a:pt x="8610" y="4385"/>
                    <a:pt x="8440" y="3550"/>
                  </a:cubicBezTo>
                  <a:lnTo>
                    <a:pt x="7844" y="2290"/>
                  </a:lnTo>
                  <a:lnTo>
                    <a:pt x="6654" y="1849"/>
                  </a:lnTo>
                </a:path>
              </a:pathLst>
            </a:custGeom>
            <a:solidFill>
              <a:srgbClr val="FF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3" name="Picture 12" descr="CFig8-28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623" y="2374710"/>
            <a:ext cx="4795126" cy="30063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27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27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27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0"/>
                            </p:stCondLst>
                            <p:childTnLst>
                              <p:par>
                                <p:cTn id="17" presetID="4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0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707" grpId="0" build="p" bldLvl="4" autoUpdateAnimBg="0" advAuto="1000"/>
      <p:bldP spid="72730" grpId="0" build="p" bldLvl="4" autoUpdateAnimBg="0" advAuto="200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768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7467600" cy="80168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</a:t>
            </a:r>
            <a:r>
              <a:rPr lang="en-US" smtClean="0">
                <a:solidFill>
                  <a:srgbClr val="D94439"/>
                </a:solidFill>
              </a:rPr>
              <a:t>UNIX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3800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1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33797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264 Fig. 7-18</a:t>
            </a:r>
          </a:p>
        </p:txBody>
      </p:sp>
      <p:sp>
        <p:nvSpPr>
          <p:cNvPr id="76826" name="Rectangle 26"/>
          <p:cNvSpPr>
            <a:spLocks noChangeArrowheads="1"/>
          </p:cNvSpPr>
          <p:nvPr/>
        </p:nvSpPr>
        <p:spPr bwMode="auto">
          <a:xfrm>
            <a:off x="304800" y="1536700"/>
            <a:ext cx="7467600" cy="3436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Used by power users because of its flexibility and power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Most versions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offer GUI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Available for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computers of all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sizes</a:t>
            </a:r>
          </a:p>
        </p:txBody>
      </p:sp>
      <p:pic>
        <p:nvPicPr>
          <p:cNvPr id="10" name="Picture 9" descr="CFig8-29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770" y="2101755"/>
            <a:ext cx="4887672" cy="367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68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68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68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68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0"/>
                            </p:stCondLst>
                            <p:childTnLst>
                              <p:par>
                                <p:cTn id="21" presetID="5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3" grpId="0" build="p" bldLvl="4" autoUpdateAnimBg="0" advAuto="1000"/>
      <p:bldP spid="76826" grpId="0" build="p" bldLvl="4" autoUpdateAnimBg="0" advAuto="400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6807200" cy="6556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</a:t>
            </a:r>
            <a:r>
              <a:rPr lang="en-US" smtClean="0">
                <a:solidFill>
                  <a:srgbClr val="D94439"/>
                </a:solidFill>
              </a:rPr>
              <a:t>Linux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4827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828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78860" name="Rectangle 12"/>
          <p:cNvSpPr>
            <a:spLocks noChangeArrowheads="1"/>
          </p:cNvSpPr>
          <p:nvPr/>
        </p:nvSpPr>
        <p:spPr bwMode="auto">
          <a:xfrm>
            <a:off x="317500" y="1535113"/>
            <a:ext cx="6807200" cy="3640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Popular, free, multitasking UNIX-type operating system</a:t>
            </a:r>
            <a:endParaRPr kumimoji="1" lang="en-US" sz="2600" b="1">
              <a:solidFill>
                <a:srgbClr val="000000"/>
              </a:solidFill>
              <a:latin typeface="Arial Unicode MS" pitchFamily="34" charset="-128"/>
            </a:endParaRP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Open-source software</a:t>
            </a:r>
            <a:r>
              <a:rPr kumimoji="1" lang="en-US" sz="400">
                <a:solidFill>
                  <a:srgbClr val="000000"/>
                </a:solidFill>
                <a:latin typeface="Times New Roman" pitchFamily="18" charset="0"/>
              </a:rPr>
              <a:t>e</a:t>
            </a: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—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code is available to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public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Both a stand-alone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and a network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operating system</a:t>
            </a:r>
          </a:p>
        </p:txBody>
      </p:sp>
      <p:sp>
        <p:nvSpPr>
          <p:cNvPr id="34826" name="Webpage">
            <a:hlinkClick r:id="rId2"/>
          </p:cNvPr>
          <p:cNvSpPr>
            <a:spLocks noEditPoints="1" noChangeArrowheads="1"/>
          </p:cNvSpPr>
          <p:nvPr/>
        </p:nvSpPr>
        <p:spPr bwMode="auto">
          <a:xfrm>
            <a:off x="152400" y="4800600"/>
            <a:ext cx="441325" cy="590550"/>
          </a:xfrm>
          <a:custGeom>
            <a:avLst/>
            <a:gdLst>
              <a:gd name="T0" fmla="*/ 27971 w 21600"/>
              <a:gd name="T1" fmla="*/ 278078 h 21600"/>
              <a:gd name="T2" fmla="*/ 0 w 21600"/>
              <a:gd name="T3" fmla="*/ 225749 h 21600"/>
              <a:gd name="T4" fmla="*/ 116052 w 21600"/>
              <a:gd name="T5" fmla="*/ 0 h 21600"/>
              <a:gd name="T6" fmla="*/ 0 w 21600"/>
              <a:gd name="T7" fmla="*/ 0 h 21600"/>
              <a:gd name="T8" fmla="*/ 58026 w 21600"/>
              <a:gd name="T9" fmla="*/ 0 h 21600"/>
              <a:gd name="T10" fmla="*/ 116052 w 21600"/>
              <a:gd name="T11" fmla="*/ 0 h 21600"/>
              <a:gd name="T12" fmla="*/ 116052 w 21600"/>
              <a:gd name="T13" fmla="*/ 139025 h 21600"/>
              <a:gd name="T14" fmla="*/ 116052 w 21600"/>
              <a:gd name="T15" fmla="*/ 278078 h 21600"/>
              <a:gd name="T16" fmla="*/ 58026 w 21600"/>
              <a:gd name="T17" fmla="*/ 278078 h 21600"/>
              <a:gd name="T18" fmla="*/ 0 w 21600"/>
              <a:gd name="T19" fmla="*/ 139025 h 216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1942 w 21600"/>
              <a:gd name="T31" fmla="*/ 12832 h 21600"/>
              <a:gd name="T32" fmla="*/ 19813 w 21600"/>
              <a:gd name="T33" fmla="*/ 20729 h 21600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21600" h="21600" extrusionOk="0">
                <a:moveTo>
                  <a:pt x="9184" y="949"/>
                </a:moveTo>
                <a:lnTo>
                  <a:pt x="9758" y="1309"/>
                </a:lnTo>
                <a:lnTo>
                  <a:pt x="11544" y="1292"/>
                </a:lnTo>
                <a:lnTo>
                  <a:pt x="12437" y="1292"/>
                </a:lnTo>
                <a:lnTo>
                  <a:pt x="13414" y="1161"/>
                </a:lnTo>
                <a:lnTo>
                  <a:pt x="13648" y="1243"/>
                </a:lnTo>
                <a:lnTo>
                  <a:pt x="13542" y="1390"/>
                </a:lnTo>
                <a:lnTo>
                  <a:pt x="13967" y="1849"/>
                </a:lnTo>
                <a:lnTo>
                  <a:pt x="14562" y="2520"/>
                </a:lnTo>
                <a:lnTo>
                  <a:pt x="14669" y="3223"/>
                </a:lnTo>
                <a:lnTo>
                  <a:pt x="14796" y="3518"/>
                </a:lnTo>
                <a:lnTo>
                  <a:pt x="15264" y="3665"/>
                </a:lnTo>
                <a:lnTo>
                  <a:pt x="15753" y="3518"/>
                </a:lnTo>
                <a:lnTo>
                  <a:pt x="15902" y="2978"/>
                </a:lnTo>
                <a:lnTo>
                  <a:pt x="16008" y="2323"/>
                </a:lnTo>
                <a:moveTo>
                  <a:pt x="10757" y="21632"/>
                </a:moveTo>
                <a:lnTo>
                  <a:pt x="5187" y="21632"/>
                </a:lnTo>
                <a:lnTo>
                  <a:pt x="85" y="17509"/>
                </a:lnTo>
                <a:lnTo>
                  <a:pt x="85" y="10849"/>
                </a:lnTo>
                <a:lnTo>
                  <a:pt x="85" y="81"/>
                </a:lnTo>
                <a:lnTo>
                  <a:pt x="10757" y="81"/>
                </a:lnTo>
                <a:lnTo>
                  <a:pt x="21706" y="81"/>
                </a:lnTo>
                <a:lnTo>
                  <a:pt x="21706" y="10652"/>
                </a:lnTo>
                <a:lnTo>
                  <a:pt x="21706" y="21632"/>
                </a:lnTo>
                <a:lnTo>
                  <a:pt x="10757" y="21632"/>
                </a:lnTo>
                <a:close/>
              </a:path>
              <a:path w="21600" h="21600" extrusionOk="0">
                <a:moveTo>
                  <a:pt x="85" y="17509"/>
                </a:moveTo>
                <a:lnTo>
                  <a:pt x="5187" y="17509"/>
                </a:lnTo>
                <a:lnTo>
                  <a:pt x="5187" y="21632"/>
                </a:lnTo>
                <a:lnTo>
                  <a:pt x="85" y="17509"/>
                </a:lnTo>
                <a:close/>
              </a:path>
              <a:path w="21600" h="21600" extrusionOk="0">
                <a:moveTo>
                  <a:pt x="5591" y="10620"/>
                </a:moveTo>
                <a:lnTo>
                  <a:pt x="6122" y="10996"/>
                </a:lnTo>
                <a:lnTo>
                  <a:pt x="6696" y="11340"/>
                </a:lnTo>
                <a:lnTo>
                  <a:pt x="7313" y="11618"/>
                </a:lnTo>
                <a:lnTo>
                  <a:pt x="7972" y="11863"/>
                </a:lnTo>
                <a:lnTo>
                  <a:pt x="8652" y="12060"/>
                </a:lnTo>
                <a:lnTo>
                  <a:pt x="9396" y="12190"/>
                </a:lnTo>
                <a:lnTo>
                  <a:pt x="10119" y="12272"/>
                </a:lnTo>
                <a:lnTo>
                  <a:pt x="10906" y="12305"/>
                </a:lnTo>
                <a:lnTo>
                  <a:pt x="11650" y="12272"/>
                </a:lnTo>
                <a:lnTo>
                  <a:pt x="12373" y="12190"/>
                </a:lnTo>
                <a:lnTo>
                  <a:pt x="13117" y="12060"/>
                </a:lnTo>
                <a:lnTo>
                  <a:pt x="13797" y="11863"/>
                </a:lnTo>
                <a:lnTo>
                  <a:pt x="14456" y="11618"/>
                </a:lnTo>
                <a:lnTo>
                  <a:pt x="15073" y="11340"/>
                </a:lnTo>
                <a:lnTo>
                  <a:pt x="15647" y="11029"/>
                </a:lnTo>
                <a:lnTo>
                  <a:pt x="16178" y="10652"/>
                </a:lnTo>
                <a:lnTo>
                  <a:pt x="16667" y="10243"/>
                </a:lnTo>
                <a:lnTo>
                  <a:pt x="17071" y="9801"/>
                </a:lnTo>
                <a:lnTo>
                  <a:pt x="17475" y="9327"/>
                </a:lnTo>
                <a:lnTo>
                  <a:pt x="17815" y="8820"/>
                </a:lnTo>
                <a:lnTo>
                  <a:pt x="18049" y="8296"/>
                </a:lnTo>
                <a:lnTo>
                  <a:pt x="18262" y="7723"/>
                </a:lnTo>
                <a:lnTo>
                  <a:pt x="18347" y="7134"/>
                </a:lnTo>
                <a:lnTo>
                  <a:pt x="18389" y="6561"/>
                </a:lnTo>
                <a:lnTo>
                  <a:pt x="18347" y="5956"/>
                </a:lnTo>
                <a:lnTo>
                  <a:pt x="18262" y="5400"/>
                </a:lnTo>
                <a:lnTo>
                  <a:pt x="18049" y="4827"/>
                </a:lnTo>
                <a:lnTo>
                  <a:pt x="17815" y="4303"/>
                </a:lnTo>
                <a:lnTo>
                  <a:pt x="17475" y="3796"/>
                </a:lnTo>
                <a:lnTo>
                  <a:pt x="17114" y="3321"/>
                </a:lnTo>
                <a:lnTo>
                  <a:pt x="16710" y="2880"/>
                </a:lnTo>
                <a:lnTo>
                  <a:pt x="16221" y="2470"/>
                </a:lnTo>
                <a:lnTo>
                  <a:pt x="15689" y="2094"/>
                </a:lnTo>
                <a:lnTo>
                  <a:pt x="15115" y="1750"/>
                </a:lnTo>
                <a:lnTo>
                  <a:pt x="14499" y="1472"/>
                </a:lnTo>
                <a:lnTo>
                  <a:pt x="13797" y="1227"/>
                </a:lnTo>
                <a:lnTo>
                  <a:pt x="13117" y="1030"/>
                </a:lnTo>
                <a:lnTo>
                  <a:pt x="12415" y="883"/>
                </a:lnTo>
                <a:lnTo>
                  <a:pt x="11650" y="818"/>
                </a:lnTo>
                <a:lnTo>
                  <a:pt x="10906" y="785"/>
                </a:lnTo>
                <a:lnTo>
                  <a:pt x="10119" y="818"/>
                </a:lnTo>
                <a:lnTo>
                  <a:pt x="9396" y="883"/>
                </a:lnTo>
                <a:lnTo>
                  <a:pt x="8652" y="1030"/>
                </a:lnTo>
                <a:lnTo>
                  <a:pt x="8014" y="1227"/>
                </a:lnTo>
                <a:lnTo>
                  <a:pt x="7355" y="1440"/>
                </a:lnTo>
                <a:lnTo>
                  <a:pt x="6739" y="1750"/>
                </a:lnTo>
                <a:lnTo>
                  <a:pt x="6122" y="2061"/>
                </a:lnTo>
                <a:lnTo>
                  <a:pt x="5591" y="2438"/>
                </a:lnTo>
                <a:lnTo>
                  <a:pt x="5102" y="2847"/>
                </a:lnTo>
                <a:lnTo>
                  <a:pt x="4698" y="3289"/>
                </a:lnTo>
                <a:lnTo>
                  <a:pt x="4294" y="3763"/>
                </a:lnTo>
                <a:lnTo>
                  <a:pt x="3996" y="4270"/>
                </a:lnTo>
                <a:lnTo>
                  <a:pt x="3720" y="4794"/>
                </a:lnTo>
                <a:lnTo>
                  <a:pt x="3550" y="5367"/>
                </a:lnTo>
                <a:lnTo>
                  <a:pt x="3422" y="5956"/>
                </a:lnTo>
                <a:lnTo>
                  <a:pt x="3380" y="6561"/>
                </a:lnTo>
                <a:lnTo>
                  <a:pt x="3422" y="7134"/>
                </a:lnTo>
                <a:lnTo>
                  <a:pt x="3550" y="7690"/>
                </a:lnTo>
                <a:lnTo>
                  <a:pt x="3720" y="8263"/>
                </a:lnTo>
                <a:lnTo>
                  <a:pt x="3954" y="8787"/>
                </a:lnTo>
                <a:lnTo>
                  <a:pt x="4294" y="9294"/>
                </a:lnTo>
                <a:lnTo>
                  <a:pt x="4655" y="9769"/>
                </a:lnTo>
                <a:lnTo>
                  <a:pt x="5102" y="10210"/>
                </a:lnTo>
                <a:lnTo>
                  <a:pt x="5591" y="10620"/>
                </a:lnTo>
                <a:close/>
              </a:path>
              <a:path w="21600" h="21600" extrusionOk="0">
                <a:moveTo>
                  <a:pt x="3401" y="6021"/>
                </a:moveTo>
                <a:lnTo>
                  <a:pt x="4039" y="5530"/>
                </a:lnTo>
                <a:lnTo>
                  <a:pt x="4294" y="4892"/>
                </a:lnTo>
                <a:lnTo>
                  <a:pt x="4677" y="4156"/>
                </a:lnTo>
                <a:lnTo>
                  <a:pt x="5166" y="3763"/>
                </a:lnTo>
                <a:lnTo>
                  <a:pt x="5378" y="3354"/>
                </a:lnTo>
                <a:lnTo>
                  <a:pt x="5293" y="2732"/>
                </a:lnTo>
                <a:moveTo>
                  <a:pt x="3507" y="7380"/>
                </a:moveTo>
                <a:lnTo>
                  <a:pt x="3890" y="7200"/>
                </a:lnTo>
                <a:lnTo>
                  <a:pt x="4103" y="7249"/>
                </a:lnTo>
                <a:lnTo>
                  <a:pt x="4400" y="7527"/>
                </a:lnTo>
                <a:lnTo>
                  <a:pt x="4719" y="7674"/>
                </a:lnTo>
                <a:lnTo>
                  <a:pt x="5293" y="7641"/>
                </a:lnTo>
                <a:lnTo>
                  <a:pt x="5740" y="7543"/>
                </a:lnTo>
                <a:lnTo>
                  <a:pt x="6144" y="7543"/>
                </a:lnTo>
                <a:lnTo>
                  <a:pt x="6526" y="7821"/>
                </a:lnTo>
                <a:lnTo>
                  <a:pt x="6569" y="8312"/>
                </a:lnTo>
                <a:lnTo>
                  <a:pt x="6059" y="8852"/>
                </a:lnTo>
                <a:lnTo>
                  <a:pt x="5803" y="8967"/>
                </a:lnTo>
                <a:lnTo>
                  <a:pt x="5803" y="9147"/>
                </a:lnTo>
                <a:lnTo>
                  <a:pt x="5421" y="9294"/>
                </a:lnTo>
                <a:lnTo>
                  <a:pt x="4868" y="9163"/>
                </a:lnTo>
                <a:lnTo>
                  <a:pt x="4337" y="9049"/>
                </a:lnTo>
                <a:lnTo>
                  <a:pt x="4081" y="9000"/>
                </a:lnTo>
                <a:moveTo>
                  <a:pt x="14988" y="11372"/>
                </a:moveTo>
                <a:lnTo>
                  <a:pt x="15115" y="10865"/>
                </a:lnTo>
                <a:lnTo>
                  <a:pt x="16072" y="10096"/>
                </a:lnTo>
                <a:lnTo>
                  <a:pt x="16455" y="9605"/>
                </a:lnTo>
                <a:lnTo>
                  <a:pt x="16455" y="8329"/>
                </a:lnTo>
                <a:lnTo>
                  <a:pt x="17156" y="7969"/>
                </a:lnTo>
                <a:lnTo>
                  <a:pt x="17879" y="7870"/>
                </a:lnTo>
                <a:lnTo>
                  <a:pt x="18177" y="7821"/>
                </a:lnTo>
                <a:moveTo>
                  <a:pt x="18368" y="6840"/>
                </a:moveTo>
                <a:lnTo>
                  <a:pt x="18049" y="6610"/>
                </a:lnTo>
                <a:lnTo>
                  <a:pt x="17411" y="6512"/>
                </a:lnTo>
                <a:lnTo>
                  <a:pt x="16859" y="6545"/>
                </a:lnTo>
                <a:lnTo>
                  <a:pt x="16603" y="6201"/>
                </a:lnTo>
                <a:lnTo>
                  <a:pt x="16731" y="5874"/>
                </a:lnTo>
                <a:lnTo>
                  <a:pt x="17241" y="5465"/>
                </a:lnTo>
                <a:lnTo>
                  <a:pt x="17858" y="5236"/>
                </a:lnTo>
                <a:lnTo>
                  <a:pt x="18007" y="5089"/>
                </a:lnTo>
                <a:lnTo>
                  <a:pt x="18049" y="4892"/>
                </a:lnTo>
                <a:moveTo>
                  <a:pt x="8100" y="1260"/>
                </a:moveTo>
                <a:cubicBezTo>
                  <a:pt x="8333" y="1276"/>
                  <a:pt x="8206" y="1554"/>
                  <a:pt x="8695" y="1652"/>
                </a:cubicBezTo>
                <a:cubicBezTo>
                  <a:pt x="9184" y="1750"/>
                  <a:pt x="10481" y="1685"/>
                  <a:pt x="10991" y="1881"/>
                </a:cubicBezTo>
                <a:cubicBezTo>
                  <a:pt x="11501" y="2078"/>
                  <a:pt x="11629" y="2503"/>
                  <a:pt x="11799" y="2830"/>
                </a:cubicBezTo>
                <a:cubicBezTo>
                  <a:pt x="11969" y="3158"/>
                  <a:pt x="11905" y="3910"/>
                  <a:pt x="12054" y="3894"/>
                </a:cubicBezTo>
                <a:cubicBezTo>
                  <a:pt x="12203" y="3878"/>
                  <a:pt x="12351" y="2880"/>
                  <a:pt x="12649" y="2683"/>
                </a:cubicBezTo>
                <a:cubicBezTo>
                  <a:pt x="12947" y="2487"/>
                  <a:pt x="13670" y="2536"/>
                  <a:pt x="13840" y="2683"/>
                </a:cubicBezTo>
                <a:cubicBezTo>
                  <a:pt x="14010" y="2830"/>
                  <a:pt x="13733" y="3370"/>
                  <a:pt x="13648" y="3616"/>
                </a:cubicBezTo>
                <a:cubicBezTo>
                  <a:pt x="13563" y="3861"/>
                  <a:pt x="13457" y="4058"/>
                  <a:pt x="13351" y="4156"/>
                </a:cubicBezTo>
                <a:cubicBezTo>
                  <a:pt x="13244" y="4254"/>
                  <a:pt x="13096" y="4221"/>
                  <a:pt x="12947" y="4254"/>
                </a:cubicBezTo>
                <a:cubicBezTo>
                  <a:pt x="12777" y="4303"/>
                  <a:pt x="12585" y="4369"/>
                  <a:pt x="12394" y="4401"/>
                </a:cubicBezTo>
                <a:cubicBezTo>
                  <a:pt x="12139" y="4500"/>
                  <a:pt x="12054" y="4614"/>
                  <a:pt x="11862" y="4647"/>
                </a:cubicBezTo>
                <a:cubicBezTo>
                  <a:pt x="11650" y="4761"/>
                  <a:pt x="11671" y="4680"/>
                  <a:pt x="11437" y="4778"/>
                </a:cubicBezTo>
                <a:cubicBezTo>
                  <a:pt x="11352" y="4827"/>
                  <a:pt x="11225" y="4974"/>
                  <a:pt x="11246" y="5072"/>
                </a:cubicBezTo>
                <a:cubicBezTo>
                  <a:pt x="11225" y="5154"/>
                  <a:pt x="11267" y="5220"/>
                  <a:pt x="11310" y="5269"/>
                </a:cubicBezTo>
                <a:cubicBezTo>
                  <a:pt x="11352" y="5318"/>
                  <a:pt x="11480" y="5383"/>
                  <a:pt x="11565" y="5416"/>
                </a:cubicBezTo>
                <a:cubicBezTo>
                  <a:pt x="11629" y="5400"/>
                  <a:pt x="11820" y="5465"/>
                  <a:pt x="11862" y="5432"/>
                </a:cubicBezTo>
                <a:cubicBezTo>
                  <a:pt x="11905" y="5416"/>
                  <a:pt x="11926" y="5269"/>
                  <a:pt x="11884" y="5236"/>
                </a:cubicBezTo>
                <a:cubicBezTo>
                  <a:pt x="11841" y="5203"/>
                  <a:pt x="11629" y="5269"/>
                  <a:pt x="11565" y="5220"/>
                </a:cubicBezTo>
                <a:cubicBezTo>
                  <a:pt x="11480" y="5187"/>
                  <a:pt x="11459" y="5040"/>
                  <a:pt x="11480" y="4974"/>
                </a:cubicBezTo>
                <a:cubicBezTo>
                  <a:pt x="11501" y="4909"/>
                  <a:pt x="11607" y="4860"/>
                  <a:pt x="11692" y="4843"/>
                </a:cubicBezTo>
                <a:cubicBezTo>
                  <a:pt x="11905" y="4876"/>
                  <a:pt x="11820" y="4876"/>
                  <a:pt x="12054" y="4876"/>
                </a:cubicBezTo>
                <a:cubicBezTo>
                  <a:pt x="12075" y="5040"/>
                  <a:pt x="12096" y="5269"/>
                  <a:pt x="12139" y="5416"/>
                </a:cubicBezTo>
                <a:cubicBezTo>
                  <a:pt x="12160" y="5465"/>
                  <a:pt x="12330" y="5465"/>
                  <a:pt x="12373" y="5416"/>
                </a:cubicBezTo>
                <a:cubicBezTo>
                  <a:pt x="12415" y="5367"/>
                  <a:pt x="12330" y="4974"/>
                  <a:pt x="12394" y="4892"/>
                </a:cubicBezTo>
                <a:cubicBezTo>
                  <a:pt x="12458" y="4810"/>
                  <a:pt x="12692" y="4925"/>
                  <a:pt x="12755" y="4892"/>
                </a:cubicBezTo>
                <a:cubicBezTo>
                  <a:pt x="12798" y="4860"/>
                  <a:pt x="12840" y="4761"/>
                  <a:pt x="12755" y="4729"/>
                </a:cubicBezTo>
                <a:cubicBezTo>
                  <a:pt x="12670" y="4696"/>
                  <a:pt x="12118" y="4745"/>
                  <a:pt x="12203" y="4696"/>
                </a:cubicBezTo>
                <a:cubicBezTo>
                  <a:pt x="12543" y="4549"/>
                  <a:pt x="12819" y="4434"/>
                  <a:pt x="13266" y="4401"/>
                </a:cubicBezTo>
                <a:cubicBezTo>
                  <a:pt x="13436" y="4385"/>
                  <a:pt x="13585" y="4500"/>
                  <a:pt x="13776" y="4532"/>
                </a:cubicBezTo>
                <a:cubicBezTo>
                  <a:pt x="13967" y="4630"/>
                  <a:pt x="13861" y="4843"/>
                  <a:pt x="13712" y="4925"/>
                </a:cubicBezTo>
                <a:cubicBezTo>
                  <a:pt x="13648" y="5023"/>
                  <a:pt x="13521" y="5121"/>
                  <a:pt x="13414" y="5187"/>
                </a:cubicBezTo>
                <a:cubicBezTo>
                  <a:pt x="13351" y="5285"/>
                  <a:pt x="13287" y="5334"/>
                  <a:pt x="13159" y="5383"/>
                </a:cubicBezTo>
                <a:cubicBezTo>
                  <a:pt x="13117" y="5563"/>
                  <a:pt x="12862" y="5743"/>
                  <a:pt x="12649" y="5809"/>
                </a:cubicBezTo>
                <a:cubicBezTo>
                  <a:pt x="12543" y="5907"/>
                  <a:pt x="12437" y="5940"/>
                  <a:pt x="12309" y="6005"/>
                </a:cubicBezTo>
                <a:cubicBezTo>
                  <a:pt x="12245" y="6120"/>
                  <a:pt x="12139" y="6185"/>
                  <a:pt x="12075" y="6300"/>
                </a:cubicBezTo>
                <a:cubicBezTo>
                  <a:pt x="12118" y="6561"/>
                  <a:pt x="12075" y="6643"/>
                  <a:pt x="12373" y="6741"/>
                </a:cubicBezTo>
                <a:cubicBezTo>
                  <a:pt x="12500" y="6840"/>
                  <a:pt x="12522" y="6970"/>
                  <a:pt x="12330" y="7036"/>
                </a:cubicBezTo>
                <a:cubicBezTo>
                  <a:pt x="12011" y="6987"/>
                  <a:pt x="12033" y="6823"/>
                  <a:pt x="11799" y="6692"/>
                </a:cubicBezTo>
                <a:cubicBezTo>
                  <a:pt x="11714" y="6529"/>
                  <a:pt x="11459" y="6430"/>
                  <a:pt x="11246" y="6398"/>
                </a:cubicBezTo>
                <a:cubicBezTo>
                  <a:pt x="11076" y="6332"/>
                  <a:pt x="11182" y="6365"/>
                  <a:pt x="10906" y="6365"/>
                </a:cubicBezTo>
                <a:cubicBezTo>
                  <a:pt x="10608" y="6512"/>
                  <a:pt x="10544" y="7347"/>
                  <a:pt x="11246" y="7478"/>
                </a:cubicBezTo>
                <a:cubicBezTo>
                  <a:pt x="12394" y="7429"/>
                  <a:pt x="13329" y="7772"/>
                  <a:pt x="13733" y="7985"/>
                </a:cubicBezTo>
                <a:cubicBezTo>
                  <a:pt x="13840" y="8410"/>
                  <a:pt x="13329" y="8901"/>
                  <a:pt x="12500" y="9343"/>
                </a:cubicBezTo>
                <a:cubicBezTo>
                  <a:pt x="11629" y="9736"/>
                  <a:pt x="11480" y="10194"/>
                  <a:pt x="11246" y="10980"/>
                </a:cubicBezTo>
                <a:cubicBezTo>
                  <a:pt x="10991" y="11372"/>
                  <a:pt x="10481" y="10930"/>
                  <a:pt x="10289" y="10096"/>
                </a:cubicBezTo>
                <a:cubicBezTo>
                  <a:pt x="10140" y="9196"/>
                  <a:pt x="9907" y="8165"/>
                  <a:pt x="10459" y="7576"/>
                </a:cubicBezTo>
                <a:cubicBezTo>
                  <a:pt x="9375" y="6790"/>
                  <a:pt x="9269" y="6070"/>
                  <a:pt x="9056" y="6218"/>
                </a:cubicBezTo>
                <a:cubicBezTo>
                  <a:pt x="9205" y="6987"/>
                  <a:pt x="8929" y="6660"/>
                  <a:pt x="8737" y="6021"/>
                </a:cubicBezTo>
                <a:cubicBezTo>
                  <a:pt x="8822" y="5023"/>
                  <a:pt x="8610" y="4385"/>
                  <a:pt x="8440" y="3550"/>
                </a:cubicBezTo>
                <a:lnTo>
                  <a:pt x="7844" y="2290"/>
                </a:lnTo>
                <a:lnTo>
                  <a:pt x="6654" y="1849"/>
                </a:lnTo>
              </a:path>
            </a:pathLst>
          </a:custGeom>
          <a:solidFill>
            <a:srgbClr val="FF0000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  <p:pic>
        <p:nvPicPr>
          <p:cNvPr id="13" name="Picture 12" descr="CFig8-3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025" y="3016155"/>
            <a:ext cx="4745837" cy="24702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88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88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88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88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0"/>
                            </p:stCondLst>
                            <p:childTnLst>
                              <p:par>
                                <p:cTn id="21" presetID="8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3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90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51" grpId="0" build="p" bldLvl="5" autoUpdateAnimBg="0" advAuto="1000"/>
      <p:bldP spid="78860" grpId="0" build="p" bldLvl="5" autoUpdateAnimBg="0" advAuto="400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Network 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1576388"/>
          </a:xfrm>
        </p:spPr>
        <p:txBody>
          <a:bodyPr/>
          <a:lstStyle/>
          <a:p>
            <a:pPr marL="0" indent="0">
              <a:buFont typeface="Monotype Sorts" pitchFamily="2" charset="2"/>
              <a:buNone/>
            </a:pPr>
            <a:r>
              <a:rPr lang="en-US" smtClean="0"/>
              <a:t>What are examples of network </a:t>
            </a:r>
            <a:br>
              <a:rPr lang="en-US" smtClean="0"/>
            </a:br>
            <a:r>
              <a:rPr lang="en-US" smtClean="0"/>
              <a:t>operating systems?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5858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859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35845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266</a:t>
            </a:r>
          </a:p>
        </p:txBody>
      </p:sp>
      <p:grpSp>
        <p:nvGrpSpPr>
          <p:cNvPr id="3" name="Group 45"/>
          <p:cNvGrpSpPr>
            <a:grpSpLocks/>
          </p:cNvGrpSpPr>
          <p:nvPr/>
        </p:nvGrpSpPr>
        <p:grpSpPr bwMode="auto">
          <a:xfrm>
            <a:off x="4349750" y="1524000"/>
            <a:ext cx="2470150" cy="2011363"/>
            <a:chOff x="2668" y="992"/>
            <a:chExt cx="1556" cy="1267"/>
          </a:xfrm>
        </p:grpSpPr>
        <p:sp>
          <p:nvSpPr>
            <p:cNvPr id="35856" name="Rectangle 24"/>
            <p:cNvSpPr>
              <a:spLocks noChangeArrowheads="1"/>
            </p:cNvSpPr>
            <p:nvPr/>
          </p:nvSpPr>
          <p:spPr bwMode="auto">
            <a:xfrm rot="2691476">
              <a:off x="2836" y="992"/>
              <a:ext cx="1260" cy="1267"/>
            </a:xfrm>
            <a:prstGeom prst="rect">
              <a:avLst/>
            </a:prstGeom>
            <a:solidFill>
              <a:srgbClr val="8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0931" name="Rectangle 35"/>
            <p:cNvSpPr>
              <a:spLocks noChangeArrowheads="1"/>
            </p:cNvSpPr>
            <p:nvPr/>
          </p:nvSpPr>
          <p:spPr bwMode="auto">
            <a:xfrm>
              <a:off x="2668" y="1176"/>
              <a:ext cx="1556" cy="7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2000"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NetWare</a:t>
              </a:r>
            </a:p>
            <a:p>
              <a:pPr algn="ctr">
                <a:lnSpc>
                  <a:spcPct val="90000"/>
                </a:lnSpc>
                <a:spcBef>
                  <a:spcPct val="50000"/>
                </a:spcBef>
                <a:defRPr/>
              </a:pPr>
              <a: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Designed for </a:t>
              </a:r>
              <a:b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</a:br>
              <a: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client/server </a:t>
              </a:r>
              <a:b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</a:br>
              <a: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networks</a:t>
              </a:r>
            </a:p>
          </p:txBody>
        </p: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3095625" y="2941638"/>
            <a:ext cx="2133600" cy="2012950"/>
            <a:chOff x="1872" y="1891"/>
            <a:chExt cx="1344" cy="1268"/>
          </a:xfrm>
        </p:grpSpPr>
        <p:sp>
          <p:nvSpPr>
            <p:cNvPr id="35854" name="Rectangle 28"/>
            <p:cNvSpPr>
              <a:spLocks noChangeArrowheads="1"/>
            </p:cNvSpPr>
            <p:nvPr/>
          </p:nvSpPr>
          <p:spPr bwMode="auto">
            <a:xfrm rot="2691476">
              <a:off x="1943" y="1891"/>
              <a:ext cx="1259" cy="1268"/>
            </a:xfrm>
            <a:prstGeom prst="rect">
              <a:avLst/>
            </a:prstGeom>
            <a:solidFill>
              <a:srgbClr val="D94439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0932" name="Rectangle 36"/>
            <p:cNvSpPr>
              <a:spLocks noChangeArrowheads="1"/>
            </p:cNvSpPr>
            <p:nvPr/>
          </p:nvSpPr>
          <p:spPr bwMode="auto">
            <a:xfrm>
              <a:off x="1872" y="2064"/>
              <a:ext cx="1344" cy="7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2000" dirty="0"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Windows </a:t>
              </a:r>
              <a:br>
                <a:rPr lang="en-US" sz="2000" dirty="0">
                  <a:effectLst>
                    <a:outerShdw blurRad="38100" dist="38100" dir="2700000" algn="tl">
                      <a:srgbClr val="000000"/>
                    </a:outerShdw>
                  </a:effectLst>
                </a:rPr>
              </a:br>
              <a:r>
                <a:rPr lang="en-US" sz="2000" dirty="0"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Server 2008</a:t>
              </a:r>
            </a:p>
            <a:p>
              <a:pPr algn="ctr">
                <a:lnSpc>
                  <a:spcPct val="90000"/>
                </a:lnSpc>
                <a:spcBef>
                  <a:spcPct val="50000"/>
                </a:spcBef>
                <a:defRPr/>
              </a:pPr>
              <a:r>
                <a:rPr lang="en-US" sz="1600" dirty="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Upgrade to Windows 2003 Server</a:t>
              </a:r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5829300" y="2921000"/>
            <a:ext cx="2286000" cy="2011363"/>
            <a:chOff x="3672" y="1840"/>
            <a:chExt cx="1440" cy="1267"/>
          </a:xfrm>
        </p:grpSpPr>
        <p:sp>
          <p:nvSpPr>
            <p:cNvPr id="35852" name="Rectangle 27"/>
            <p:cNvSpPr>
              <a:spLocks noChangeArrowheads="1"/>
            </p:cNvSpPr>
            <p:nvPr/>
          </p:nvSpPr>
          <p:spPr bwMode="auto">
            <a:xfrm rot="2691476">
              <a:off x="3794" y="1840"/>
              <a:ext cx="1258" cy="1267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0934" name="Rectangle 38"/>
            <p:cNvSpPr>
              <a:spLocks noChangeArrowheads="1"/>
            </p:cNvSpPr>
            <p:nvPr/>
          </p:nvSpPr>
          <p:spPr bwMode="auto">
            <a:xfrm>
              <a:off x="3672" y="1840"/>
              <a:ext cx="1440" cy="98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2000"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/>
              </a:r>
              <a:br>
                <a:rPr lang="en-US" sz="2000">
                  <a:effectLst>
                    <a:outerShdw blurRad="38100" dist="38100" dir="2700000" algn="tl">
                      <a:srgbClr val="000000"/>
                    </a:outerShdw>
                  </a:effectLst>
                </a:rPr>
              </a:br>
              <a:r>
                <a:rPr lang="en-US" sz="2000"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Unix and</a:t>
              </a:r>
              <a:br>
                <a:rPr lang="en-US" sz="2000">
                  <a:effectLst>
                    <a:outerShdw blurRad="38100" dist="38100" dir="2700000" algn="tl">
                      <a:srgbClr val="000000"/>
                    </a:outerShdw>
                  </a:effectLst>
                </a:rPr>
              </a:br>
              <a:r>
                <a:rPr lang="en-US" sz="2000"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Linux</a:t>
              </a:r>
            </a:p>
            <a:p>
              <a:pPr algn="ctr">
                <a:lnSpc>
                  <a:spcPct val="90000"/>
                </a:lnSpc>
                <a:spcBef>
                  <a:spcPct val="50000"/>
                </a:spcBef>
                <a:defRPr/>
              </a:pPr>
              <a: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Multi-purpose</a:t>
              </a:r>
              <a:b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</a:br>
              <a: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operating system</a:t>
              </a:r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548188" y="4283075"/>
            <a:ext cx="2133600" cy="2065338"/>
            <a:chOff x="2784" y="2736"/>
            <a:chExt cx="1344" cy="1301"/>
          </a:xfrm>
        </p:grpSpPr>
        <p:sp>
          <p:nvSpPr>
            <p:cNvPr id="35850" name="Rectangle 25"/>
            <p:cNvSpPr>
              <a:spLocks noChangeArrowheads="1"/>
            </p:cNvSpPr>
            <p:nvPr/>
          </p:nvSpPr>
          <p:spPr bwMode="auto">
            <a:xfrm rot="2691476">
              <a:off x="2826" y="2770"/>
              <a:ext cx="1260" cy="1267"/>
            </a:xfrm>
            <a:prstGeom prst="rect">
              <a:avLst/>
            </a:prstGeom>
            <a:solidFill>
              <a:srgbClr val="0099CC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0936" name="Rectangle 40"/>
            <p:cNvSpPr>
              <a:spLocks noChangeArrowheads="1"/>
            </p:cNvSpPr>
            <p:nvPr/>
          </p:nvSpPr>
          <p:spPr bwMode="auto">
            <a:xfrm>
              <a:off x="2784" y="2736"/>
              <a:ext cx="1344" cy="12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2000"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Solaris</a:t>
              </a:r>
            </a:p>
            <a:p>
              <a:pPr algn="ctr">
                <a:lnSpc>
                  <a:spcPct val="90000"/>
                </a:lnSpc>
                <a:spcBef>
                  <a:spcPct val="50000"/>
                </a:spcBef>
                <a:buClr>
                  <a:schemeClr val="tx1"/>
                </a:buClr>
                <a:buFont typeface="Wingdings" pitchFamily="2" charset="2"/>
                <a:buChar char="§"/>
                <a:defRPr/>
              </a:pPr>
              <a: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 Version of UNIX developed by Sun Microsystems</a:t>
              </a:r>
            </a:p>
            <a:p>
              <a:pPr algn="ctr">
                <a:lnSpc>
                  <a:spcPct val="90000"/>
                </a:lnSpc>
                <a:spcBef>
                  <a:spcPct val="50000"/>
                </a:spcBef>
                <a:buClr>
                  <a:schemeClr val="tx1"/>
                </a:buClr>
                <a:buFont typeface="Wingdings" pitchFamily="2" charset="2"/>
                <a:buChar char="§"/>
                <a:defRPr/>
              </a:pPr>
              <a: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 Specifically for </a:t>
              </a:r>
              <a:b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</a:br>
              <a:r>
                <a:rPr lang="en-US" sz="1600">
                  <a:solidFill>
                    <a:srgbClr val="F5D28B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e-commerce applications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0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" presetClass="entr" presetSubtype="1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0"/>
                            </p:stCondLst>
                            <p:childTnLst>
                              <p:par>
                                <p:cTn id="14" presetID="2" presetClass="entr" presetSubtype="8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0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5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899" grpId="0" build="p" autoUpdateAnimBg="0" advAuto="100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Embedded Operating Systems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6483350" cy="3609975"/>
          </a:xfrm>
        </p:spPr>
        <p:txBody>
          <a:bodyPr/>
          <a:lstStyle/>
          <a:p>
            <a:pPr marL="0" indent="0">
              <a:buFont typeface="Monotype Sorts" pitchFamily="2" charset="2"/>
              <a:buNone/>
            </a:pPr>
            <a:r>
              <a:rPr lang="en-US" smtClean="0"/>
              <a:t>What is an </a:t>
            </a:r>
            <a:r>
              <a:rPr lang="en-US" smtClean="0">
                <a:solidFill>
                  <a:srgbClr val="D94439"/>
                </a:solidFill>
              </a:rPr>
              <a:t>embedded operating system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6875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876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36869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266 - 267 Fig. 7-20</a:t>
            </a:r>
          </a:p>
        </p:txBody>
      </p:sp>
      <p:sp>
        <p:nvSpPr>
          <p:cNvPr id="82954" name="Rectangle 10"/>
          <p:cNvSpPr>
            <a:spLocks noChangeArrowheads="1"/>
          </p:cNvSpPr>
          <p:nvPr/>
        </p:nvSpPr>
        <p:spPr bwMode="auto">
          <a:xfrm>
            <a:off x="307975" y="1582738"/>
            <a:ext cx="7891463" cy="360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Found on most mobile computers, PDAs, and other small devices</a:t>
            </a:r>
            <a:endParaRPr kumimoji="1" lang="en-US" sz="2600" b="1">
              <a:solidFill>
                <a:srgbClr val="000000"/>
              </a:solidFill>
              <a:latin typeface="Arial Unicode MS" pitchFamily="34" charset="-128"/>
            </a:endParaRPr>
          </a:p>
          <a:p>
            <a:pPr marL="1028700" lvl="2" indent="-4572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chemeClr val="bg2"/>
                </a:solidFill>
                <a:latin typeface="Times New Roman" pitchFamily="18" charset="0"/>
              </a:rPr>
              <a:t>Windows Embedded CE </a:t>
            </a: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is scaled-down version of Windows</a:t>
            </a:r>
          </a:p>
          <a:p>
            <a:pPr marL="1028700" lvl="2" indent="-4572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Windows Mobile</a:t>
            </a:r>
            <a:r>
              <a:rPr kumimoji="1" lang="en-US" sz="2600" b="1">
                <a:solidFill>
                  <a:schemeClr val="hlink"/>
                </a:solidFill>
                <a:latin typeface="Times New Roman" pitchFamily="18" charset="0"/>
              </a:rPr>
              <a:t> </a:t>
            </a: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for Pocket PC</a:t>
            </a:r>
          </a:p>
          <a:p>
            <a:pPr marL="1028700" lvl="2" indent="-4572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Palm OS for Palm</a:t>
            </a:r>
          </a:p>
          <a:p>
            <a:pPr marL="1028700" lvl="2" indent="-4572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BlackBerry OS</a:t>
            </a:r>
          </a:p>
          <a:p>
            <a:pPr marL="1028700" lvl="2" indent="-4572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Embedded Linux</a:t>
            </a:r>
          </a:p>
          <a:p>
            <a:pPr marL="1028700" lvl="2" indent="-4572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Symbian OS</a:t>
            </a:r>
          </a:p>
        </p:txBody>
      </p:sp>
      <p:grpSp>
        <p:nvGrpSpPr>
          <p:cNvPr id="3" name="Group 32"/>
          <p:cNvGrpSpPr>
            <a:grpSpLocks/>
          </p:cNvGrpSpPr>
          <p:nvPr/>
        </p:nvGrpSpPr>
        <p:grpSpPr bwMode="auto">
          <a:xfrm>
            <a:off x="0" y="4800600"/>
            <a:ext cx="1981200" cy="1295400"/>
            <a:chOff x="0" y="3024"/>
            <a:chExt cx="1248" cy="816"/>
          </a:xfrm>
        </p:grpSpPr>
        <p:sp>
          <p:nvSpPr>
            <p:cNvPr id="36873" name="Rectangle 33"/>
            <p:cNvSpPr>
              <a:spLocks noChangeArrowheads="1"/>
            </p:cNvSpPr>
            <p:nvPr/>
          </p:nvSpPr>
          <p:spPr bwMode="auto">
            <a:xfrm>
              <a:off x="0" y="3456"/>
              <a:ext cx="1248" cy="38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44450" rIns="90488" bIns="44450"/>
            <a:lstStyle/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to view Web Link,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Chapter 7, Click Web Link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from left navigation, </a:t>
              </a:r>
            </a:p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then click BlackBerry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below Chapter 7</a:t>
              </a:r>
            </a:p>
          </p:txBody>
        </p:sp>
        <p:sp>
          <p:nvSpPr>
            <p:cNvPr id="36874" name="Webpage">
              <a:hlinkClick r:id="rId2"/>
            </p:cNvPr>
            <p:cNvSpPr>
              <a:spLocks noEditPoints="1" noChangeArrowheads="1"/>
            </p:cNvSpPr>
            <p:nvPr/>
          </p:nvSpPr>
          <p:spPr bwMode="auto">
            <a:xfrm>
              <a:off x="96" y="3024"/>
              <a:ext cx="278" cy="37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w 21600"/>
                <a:gd name="T13" fmla="*/ 0 h 21600"/>
                <a:gd name="T14" fmla="*/ 0 w 21600"/>
                <a:gd name="T15" fmla="*/ 0 h 21600"/>
                <a:gd name="T16" fmla="*/ 0 w 21600"/>
                <a:gd name="T17" fmla="*/ 0 h 21600"/>
                <a:gd name="T18" fmla="*/ 0 w 21600"/>
                <a:gd name="T19" fmla="*/ 0 h 2160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1942 w 21600"/>
                <a:gd name="T31" fmla="*/ 12832 h 21600"/>
                <a:gd name="T32" fmla="*/ 19813 w 21600"/>
                <a:gd name="T33" fmla="*/ 20729 h 2160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1600" h="21600" extrusionOk="0">
                  <a:moveTo>
                    <a:pt x="9184" y="949"/>
                  </a:moveTo>
                  <a:lnTo>
                    <a:pt x="9758" y="1309"/>
                  </a:lnTo>
                  <a:lnTo>
                    <a:pt x="11544" y="1292"/>
                  </a:lnTo>
                  <a:lnTo>
                    <a:pt x="12437" y="1292"/>
                  </a:lnTo>
                  <a:lnTo>
                    <a:pt x="13414" y="1161"/>
                  </a:lnTo>
                  <a:lnTo>
                    <a:pt x="13648" y="1243"/>
                  </a:lnTo>
                  <a:lnTo>
                    <a:pt x="13542" y="1390"/>
                  </a:lnTo>
                  <a:lnTo>
                    <a:pt x="13967" y="1849"/>
                  </a:lnTo>
                  <a:lnTo>
                    <a:pt x="14562" y="2520"/>
                  </a:lnTo>
                  <a:lnTo>
                    <a:pt x="14669" y="3223"/>
                  </a:lnTo>
                  <a:lnTo>
                    <a:pt x="14796" y="3518"/>
                  </a:lnTo>
                  <a:lnTo>
                    <a:pt x="15264" y="3665"/>
                  </a:lnTo>
                  <a:lnTo>
                    <a:pt x="15753" y="3518"/>
                  </a:lnTo>
                  <a:lnTo>
                    <a:pt x="15902" y="2978"/>
                  </a:lnTo>
                  <a:lnTo>
                    <a:pt x="16008" y="2323"/>
                  </a:lnTo>
                  <a:moveTo>
                    <a:pt x="10757" y="21632"/>
                  </a:moveTo>
                  <a:lnTo>
                    <a:pt x="5187" y="21632"/>
                  </a:lnTo>
                  <a:lnTo>
                    <a:pt x="85" y="17509"/>
                  </a:lnTo>
                  <a:lnTo>
                    <a:pt x="85" y="10849"/>
                  </a:lnTo>
                  <a:lnTo>
                    <a:pt x="85" y="81"/>
                  </a:lnTo>
                  <a:lnTo>
                    <a:pt x="10757" y="81"/>
                  </a:lnTo>
                  <a:lnTo>
                    <a:pt x="21706" y="81"/>
                  </a:lnTo>
                  <a:lnTo>
                    <a:pt x="21706" y="10652"/>
                  </a:lnTo>
                  <a:lnTo>
                    <a:pt x="21706" y="21632"/>
                  </a:lnTo>
                  <a:lnTo>
                    <a:pt x="10757" y="21632"/>
                  </a:lnTo>
                  <a:close/>
                </a:path>
                <a:path w="21600" h="21600" extrusionOk="0">
                  <a:moveTo>
                    <a:pt x="85" y="17509"/>
                  </a:moveTo>
                  <a:lnTo>
                    <a:pt x="5187" y="17509"/>
                  </a:lnTo>
                  <a:lnTo>
                    <a:pt x="5187" y="21632"/>
                  </a:lnTo>
                  <a:lnTo>
                    <a:pt x="85" y="17509"/>
                  </a:lnTo>
                  <a:close/>
                </a:path>
                <a:path w="21600" h="21600" extrusionOk="0">
                  <a:moveTo>
                    <a:pt x="5591" y="10620"/>
                  </a:moveTo>
                  <a:lnTo>
                    <a:pt x="6122" y="10996"/>
                  </a:lnTo>
                  <a:lnTo>
                    <a:pt x="6696" y="11340"/>
                  </a:lnTo>
                  <a:lnTo>
                    <a:pt x="7313" y="11618"/>
                  </a:lnTo>
                  <a:lnTo>
                    <a:pt x="7972" y="11863"/>
                  </a:lnTo>
                  <a:lnTo>
                    <a:pt x="8652" y="12060"/>
                  </a:lnTo>
                  <a:lnTo>
                    <a:pt x="9396" y="12190"/>
                  </a:lnTo>
                  <a:lnTo>
                    <a:pt x="10119" y="12272"/>
                  </a:lnTo>
                  <a:lnTo>
                    <a:pt x="10906" y="12305"/>
                  </a:lnTo>
                  <a:lnTo>
                    <a:pt x="11650" y="12272"/>
                  </a:lnTo>
                  <a:lnTo>
                    <a:pt x="12373" y="12190"/>
                  </a:lnTo>
                  <a:lnTo>
                    <a:pt x="13117" y="12060"/>
                  </a:lnTo>
                  <a:lnTo>
                    <a:pt x="13797" y="11863"/>
                  </a:lnTo>
                  <a:lnTo>
                    <a:pt x="14456" y="11618"/>
                  </a:lnTo>
                  <a:lnTo>
                    <a:pt x="15073" y="11340"/>
                  </a:lnTo>
                  <a:lnTo>
                    <a:pt x="15647" y="11029"/>
                  </a:lnTo>
                  <a:lnTo>
                    <a:pt x="16178" y="10652"/>
                  </a:lnTo>
                  <a:lnTo>
                    <a:pt x="16667" y="10243"/>
                  </a:lnTo>
                  <a:lnTo>
                    <a:pt x="17071" y="9801"/>
                  </a:lnTo>
                  <a:lnTo>
                    <a:pt x="17475" y="9327"/>
                  </a:lnTo>
                  <a:lnTo>
                    <a:pt x="17815" y="8820"/>
                  </a:lnTo>
                  <a:lnTo>
                    <a:pt x="18049" y="8296"/>
                  </a:lnTo>
                  <a:lnTo>
                    <a:pt x="18262" y="7723"/>
                  </a:lnTo>
                  <a:lnTo>
                    <a:pt x="18347" y="7134"/>
                  </a:lnTo>
                  <a:lnTo>
                    <a:pt x="18389" y="6561"/>
                  </a:lnTo>
                  <a:lnTo>
                    <a:pt x="18347" y="5956"/>
                  </a:lnTo>
                  <a:lnTo>
                    <a:pt x="18262" y="5400"/>
                  </a:lnTo>
                  <a:lnTo>
                    <a:pt x="18049" y="4827"/>
                  </a:lnTo>
                  <a:lnTo>
                    <a:pt x="17815" y="4303"/>
                  </a:lnTo>
                  <a:lnTo>
                    <a:pt x="17475" y="3796"/>
                  </a:lnTo>
                  <a:lnTo>
                    <a:pt x="17114" y="3321"/>
                  </a:lnTo>
                  <a:lnTo>
                    <a:pt x="16710" y="2880"/>
                  </a:lnTo>
                  <a:lnTo>
                    <a:pt x="16221" y="2470"/>
                  </a:lnTo>
                  <a:lnTo>
                    <a:pt x="15689" y="2094"/>
                  </a:lnTo>
                  <a:lnTo>
                    <a:pt x="15115" y="1750"/>
                  </a:lnTo>
                  <a:lnTo>
                    <a:pt x="14499" y="1472"/>
                  </a:lnTo>
                  <a:lnTo>
                    <a:pt x="13797" y="1227"/>
                  </a:lnTo>
                  <a:lnTo>
                    <a:pt x="13117" y="1030"/>
                  </a:lnTo>
                  <a:lnTo>
                    <a:pt x="12415" y="883"/>
                  </a:lnTo>
                  <a:lnTo>
                    <a:pt x="11650" y="818"/>
                  </a:lnTo>
                  <a:lnTo>
                    <a:pt x="10906" y="785"/>
                  </a:lnTo>
                  <a:lnTo>
                    <a:pt x="10119" y="818"/>
                  </a:lnTo>
                  <a:lnTo>
                    <a:pt x="9396" y="883"/>
                  </a:lnTo>
                  <a:lnTo>
                    <a:pt x="8652" y="1030"/>
                  </a:lnTo>
                  <a:lnTo>
                    <a:pt x="8014" y="1227"/>
                  </a:lnTo>
                  <a:lnTo>
                    <a:pt x="7355" y="1440"/>
                  </a:lnTo>
                  <a:lnTo>
                    <a:pt x="6739" y="1750"/>
                  </a:lnTo>
                  <a:lnTo>
                    <a:pt x="6122" y="2061"/>
                  </a:lnTo>
                  <a:lnTo>
                    <a:pt x="5591" y="2438"/>
                  </a:lnTo>
                  <a:lnTo>
                    <a:pt x="5102" y="2847"/>
                  </a:lnTo>
                  <a:lnTo>
                    <a:pt x="4698" y="3289"/>
                  </a:lnTo>
                  <a:lnTo>
                    <a:pt x="4294" y="3763"/>
                  </a:lnTo>
                  <a:lnTo>
                    <a:pt x="3996" y="4270"/>
                  </a:lnTo>
                  <a:lnTo>
                    <a:pt x="3720" y="4794"/>
                  </a:lnTo>
                  <a:lnTo>
                    <a:pt x="3550" y="5367"/>
                  </a:lnTo>
                  <a:lnTo>
                    <a:pt x="3422" y="5956"/>
                  </a:lnTo>
                  <a:lnTo>
                    <a:pt x="3380" y="6561"/>
                  </a:lnTo>
                  <a:lnTo>
                    <a:pt x="3422" y="7134"/>
                  </a:lnTo>
                  <a:lnTo>
                    <a:pt x="3550" y="7690"/>
                  </a:lnTo>
                  <a:lnTo>
                    <a:pt x="3720" y="8263"/>
                  </a:lnTo>
                  <a:lnTo>
                    <a:pt x="3954" y="8787"/>
                  </a:lnTo>
                  <a:lnTo>
                    <a:pt x="4294" y="9294"/>
                  </a:lnTo>
                  <a:lnTo>
                    <a:pt x="4655" y="9769"/>
                  </a:lnTo>
                  <a:lnTo>
                    <a:pt x="5102" y="10210"/>
                  </a:lnTo>
                  <a:lnTo>
                    <a:pt x="5591" y="10620"/>
                  </a:lnTo>
                  <a:close/>
                </a:path>
                <a:path w="21600" h="21600" extrusionOk="0">
                  <a:moveTo>
                    <a:pt x="3401" y="6021"/>
                  </a:moveTo>
                  <a:lnTo>
                    <a:pt x="4039" y="5530"/>
                  </a:lnTo>
                  <a:lnTo>
                    <a:pt x="4294" y="4892"/>
                  </a:lnTo>
                  <a:lnTo>
                    <a:pt x="4677" y="4156"/>
                  </a:lnTo>
                  <a:lnTo>
                    <a:pt x="5166" y="3763"/>
                  </a:lnTo>
                  <a:lnTo>
                    <a:pt x="5378" y="3354"/>
                  </a:lnTo>
                  <a:lnTo>
                    <a:pt x="5293" y="2732"/>
                  </a:lnTo>
                  <a:moveTo>
                    <a:pt x="3507" y="7380"/>
                  </a:moveTo>
                  <a:lnTo>
                    <a:pt x="3890" y="7200"/>
                  </a:lnTo>
                  <a:lnTo>
                    <a:pt x="4103" y="7249"/>
                  </a:lnTo>
                  <a:lnTo>
                    <a:pt x="4400" y="7527"/>
                  </a:lnTo>
                  <a:lnTo>
                    <a:pt x="4719" y="7674"/>
                  </a:lnTo>
                  <a:lnTo>
                    <a:pt x="5293" y="7641"/>
                  </a:lnTo>
                  <a:lnTo>
                    <a:pt x="5740" y="7543"/>
                  </a:lnTo>
                  <a:lnTo>
                    <a:pt x="6144" y="7543"/>
                  </a:lnTo>
                  <a:lnTo>
                    <a:pt x="6526" y="7821"/>
                  </a:lnTo>
                  <a:lnTo>
                    <a:pt x="6569" y="8312"/>
                  </a:lnTo>
                  <a:lnTo>
                    <a:pt x="6059" y="8852"/>
                  </a:lnTo>
                  <a:lnTo>
                    <a:pt x="5803" y="8967"/>
                  </a:lnTo>
                  <a:lnTo>
                    <a:pt x="5803" y="9147"/>
                  </a:lnTo>
                  <a:lnTo>
                    <a:pt x="5421" y="9294"/>
                  </a:lnTo>
                  <a:lnTo>
                    <a:pt x="4868" y="9163"/>
                  </a:lnTo>
                  <a:lnTo>
                    <a:pt x="4337" y="9049"/>
                  </a:lnTo>
                  <a:lnTo>
                    <a:pt x="4081" y="9000"/>
                  </a:lnTo>
                  <a:moveTo>
                    <a:pt x="14988" y="11372"/>
                  </a:moveTo>
                  <a:lnTo>
                    <a:pt x="15115" y="10865"/>
                  </a:lnTo>
                  <a:lnTo>
                    <a:pt x="16072" y="10096"/>
                  </a:lnTo>
                  <a:lnTo>
                    <a:pt x="16455" y="9605"/>
                  </a:lnTo>
                  <a:lnTo>
                    <a:pt x="16455" y="8329"/>
                  </a:lnTo>
                  <a:lnTo>
                    <a:pt x="17156" y="7969"/>
                  </a:lnTo>
                  <a:lnTo>
                    <a:pt x="17879" y="7870"/>
                  </a:lnTo>
                  <a:lnTo>
                    <a:pt x="18177" y="7821"/>
                  </a:lnTo>
                  <a:moveTo>
                    <a:pt x="18368" y="6840"/>
                  </a:moveTo>
                  <a:lnTo>
                    <a:pt x="18049" y="6610"/>
                  </a:lnTo>
                  <a:lnTo>
                    <a:pt x="17411" y="6512"/>
                  </a:lnTo>
                  <a:lnTo>
                    <a:pt x="16859" y="6545"/>
                  </a:lnTo>
                  <a:lnTo>
                    <a:pt x="16603" y="6201"/>
                  </a:lnTo>
                  <a:lnTo>
                    <a:pt x="16731" y="5874"/>
                  </a:lnTo>
                  <a:lnTo>
                    <a:pt x="17241" y="5465"/>
                  </a:lnTo>
                  <a:lnTo>
                    <a:pt x="17858" y="5236"/>
                  </a:lnTo>
                  <a:lnTo>
                    <a:pt x="18007" y="5089"/>
                  </a:lnTo>
                  <a:lnTo>
                    <a:pt x="18049" y="4892"/>
                  </a:lnTo>
                  <a:moveTo>
                    <a:pt x="8100" y="1260"/>
                  </a:moveTo>
                  <a:cubicBezTo>
                    <a:pt x="8333" y="1276"/>
                    <a:pt x="8206" y="1554"/>
                    <a:pt x="8695" y="1652"/>
                  </a:cubicBezTo>
                  <a:cubicBezTo>
                    <a:pt x="9184" y="1750"/>
                    <a:pt x="10481" y="1685"/>
                    <a:pt x="10991" y="1881"/>
                  </a:cubicBezTo>
                  <a:cubicBezTo>
                    <a:pt x="11501" y="2078"/>
                    <a:pt x="11629" y="2503"/>
                    <a:pt x="11799" y="2830"/>
                  </a:cubicBezTo>
                  <a:cubicBezTo>
                    <a:pt x="11969" y="3158"/>
                    <a:pt x="11905" y="3910"/>
                    <a:pt x="12054" y="3894"/>
                  </a:cubicBezTo>
                  <a:cubicBezTo>
                    <a:pt x="12203" y="3878"/>
                    <a:pt x="12351" y="2880"/>
                    <a:pt x="12649" y="2683"/>
                  </a:cubicBezTo>
                  <a:cubicBezTo>
                    <a:pt x="12947" y="2487"/>
                    <a:pt x="13670" y="2536"/>
                    <a:pt x="13840" y="2683"/>
                  </a:cubicBezTo>
                  <a:cubicBezTo>
                    <a:pt x="14010" y="2830"/>
                    <a:pt x="13733" y="3370"/>
                    <a:pt x="13648" y="3616"/>
                  </a:cubicBezTo>
                  <a:cubicBezTo>
                    <a:pt x="13563" y="3861"/>
                    <a:pt x="13457" y="4058"/>
                    <a:pt x="13351" y="4156"/>
                  </a:cubicBezTo>
                  <a:cubicBezTo>
                    <a:pt x="13244" y="4254"/>
                    <a:pt x="13096" y="4221"/>
                    <a:pt x="12947" y="4254"/>
                  </a:cubicBezTo>
                  <a:cubicBezTo>
                    <a:pt x="12777" y="4303"/>
                    <a:pt x="12585" y="4369"/>
                    <a:pt x="12394" y="4401"/>
                  </a:cubicBezTo>
                  <a:cubicBezTo>
                    <a:pt x="12139" y="4500"/>
                    <a:pt x="12054" y="4614"/>
                    <a:pt x="11862" y="4647"/>
                  </a:cubicBezTo>
                  <a:cubicBezTo>
                    <a:pt x="11650" y="4761"/>
                    <a:pt x="11671" y="4680"/>
                    <a:pt x="11437" y="4778"/>
                  </a:cubicBezTo>
                  <a:cubicBezTo>
                    <a:pt x="11352" y="4827"/>
                    <a:pt x="11225" y="4974"/>
                    <a:pt x="11246" y="5072"/>
                  </a:cubicBezTo>
                  <a:cubicBezTo>
                    <a:pt x="11225" y="5154"/>
                    <a:pt x="11267" y="5220"/>
                    <a:pt x="11310" y="5269"/>
                  </a:cubicBezTo>
                  <a:cubicBezTo>
                    <a:pt x="11352" y="5318"/>
                    <a:pt x="11480" y="5383"/>
                    <a:pt x="11565" y="5416"/>
                  </a:cubicBezTo>
                  <a:cubicBezTo>
                    <a:pt x="11629" y="5400"/>
                    <a:pt x="11820" y="5465"/>
                    <a:pt x="11862" y="5432"/>
                  </a:cubicBezTo>
                  <a:cubicBezTo>
                    <a:pt x="11905" y="5416"/>
                    <a:pt x="11926" y="5269"/>
                    <a:pt x="11884" y="5236"/>
                  </a:cubicBezTo>
                  <a:cubicBezTo>
                    <a:pt x="11841" y="5203"/>
                    <a:pt x="11629" y="5269"/>
                    <a:pt x="11565" y="5220"/>
                  </a:cubicBezTo>
                  <a:cubicBezTo>
                    <a:pt x="11480" y="5187"/>
                    <a:pt x="11459" y="5040"/>
                    <a:pt x="11480" y="4974"/>
                  </a:cubicBezTo>
                  <a:cubicBezTo>
                    <a:pt x="11501" y="4909"/>
                    <a:pt x="11607" y="4860"/>
                    <a:pt x="11692" y="4843"/>
                  </a:cubicBezTo>
                  <a:cubicBezTo>
                    <a:pt x="11905" y="4876"/>
                    <a:pt x="11820" y="4876"/>
                    <a:pt x="12054" y="4876"/>
                  </a:cubicBezTo>
                  <a:cubicBezTo>
                    <a:pt x="12075" y="5040"/>
                    <a:pt x="12096" y="5269"/>
                    <a:pt x="12139" y="5416"/>
                  </a:cubicBezTo>
                  <a:cubicBezTo>
                    <a:pt x="12160" y="5465"/>
                    <a:pt x="12330" y="5465"/>
                    <a:pt x="12373" y="5416"/>
                  </a:cubicBezTo>
                  <a:cubicBezTo>
                    <a:pt x="12415" y="5367"/>
                    <a:pt x="12330" y="4974"/>
                    <a:pt x="12394" y="4892"/>
                  </a:cubicBezTo>
                  <a:cubicBezTo>
                    <a:pt x="12458" y="4810"/>
                    <a:pt x="12692" y="4925"/>
                    <a:pt x="12755" y="4892"/>
                  </a:cubicBezTo>
                  <a:cubicBezTo>
                    <a:pt x="12798" y="4860"/>
                    <a:pt x="12840" y="4761"/>
                    <a:pt x="12755" y="4729"/>
                  </a:cubicBezTo>
                  <a:cubicBezTo>
                    <a:pt x="12670" y="4696"/>
                    <a:pt x="12118" y="4745"/>
                    <a:pt x="12203" y="4696"/>
                  </a:cubicBezTo>
                  <a:cubicBezTo>
                    <a:pt x="12543" y="4549"/>
                    <a:pt x="12819" y="4434"/>
                    <a:pt x="13266" y="4401"/>
                  </a:cubicBezTo>
                  <a:cubicBezTo>
                    <a:pt x="13436" y="4385"/>
                    <a:pt x="13585" y="4500"/>
                    <a:pt x="13776" y="4532"/>
                  </a:cubicBezTo>
                  <a:cubicBezTo>
                    <a:pt x="13967" y="4630"/>
                    <a:pt x="13861" y="4843"/>
                    <a:pt x="13712" y="4925"/>
                  </a:cubicBezTo>
                  <a:cubicBezTo>
                    <a:pt x="13648" y="5023"/>
                    <a:pt x="13521" y="5121"/>
                    <a:pt x="13414" y="5187"/>
                  </a:cubicBezTo>
                  <a:cubicBezTo>
                    <a:pt x="13351" y="5285"/>
                    <a:pt x="13287" y="5334"/>
                    <a:pt x="13159" y="5383"/>
                  </a:cubicBezTo>
                  <a:cubicBezTo>
                    <a:pt x="13117" y="5563"/>
                    <a:pt x="12862" y="5743"/>
                    <a:pt x="12649" y="5809"/>
                  </a:cubicBezTo>
                  <a:cubicBezTo>
                    <a:pt x="12543" y="5907"/>
                    <a:pt x="12437" y="5940"/>
                    <a:pt x="12309" y="6005"/>
                  </a:cubicBezTo>
                  <a:cubicBezTo>
                    <a:pt x="12245" y="6120"/>
                    <a:pt x="12139" y="6185"/>
                    <a:pt x="12075" y="6300"/>
                  </a:cubicBezTo>
                  <a:cubicBezTo>
                    <a:pt x="12118" y="6561"/>
                    <a:pt x="12075" y="6643"/>
                    <a:pt x="12373" y="6741"/>
                  </a:cubicBezTo>
                  <a:cubicBezTo>
                    <a:pt x="12500" y="6840"/>
                    <a:pt x="12522" y="6970"/>
                    <a:pt x="12330" y="7036"/>
                  </a:cubicBezTo>
                  <a:cubicBezTo>
                    <a:pt x="12011" y="6987"/>
                    <a:pt x="12033" y="6823"/>
                    <a:pt x="11799" y="6692"/>
                  </a:cubicBezTo>
                  <a:cubicBezTo>
                    <a:pt x="11714" y="6529"/>
                    <a:pt x="11459" y="6430"/>
                    <a:pt x="11246" y="6398"/>
                  </a:cubicBezTo>
                  <a:cubicBezTo>
                    <a:pt x="11076" y="6332"/>
                    <a:pt x="11182" y="6365"/>
                    <a:pt x="10906" y="6365"/>
                  </a:cubicBezTo>
                  <a:cubicBezTo>
                    <a:pt x="10608" y="6512"/>
                    <a:pt x="10544" y="7347"/>
                    <a:pt x="11246" y="7478"/>
                  </a:cubicBezTo>
                  <a:cubicBezTo>
                    <a:pt x="12394" y="7429"/>
                    <a:pt x="13329" y="7772"/>
                    <a:pt x="13733" y="7985"/>
                  </a:cubicBezTo>
                  <a:cubicBezTo>
                    <a:pt x="13840" y="8410"/>
                    <a:pt x="13329" y="8901"/>
                    <a:pt x="12500" y="9343"/>
                  </a:cubicBezTo>
                  <a:cubicBezTo>
                    <a:pt x="11629" y="9736"/>
                    <a:pt x="11480" y="10194"/>
                    <a:pt x="11246" y="10980"/>
                  </a:cubicBezTo>
                  <a:cubicBezTo>
                    <a:pt x="10991" y="11372"/>
                    <a:pt x="10481" y="10930"/>
                    <a:pt x="10289" y="10096"/>
                  </a:cubicBezTo>
                  <a:cubicBezTo>
                    <a:pt x="10140" y="9196"/>
                    <a:pt x="9907" y="8165"/>
                    <a:pt x="10459" y="7576"/>
                  </a:cubicBezTo>
                  <a:cubicBezTo>
                    <a:pt x="9375" y="6790"/>
                    <a:pt x="9269" y="6070"/>
                    <a:pt x="9056" y="6218"/>
                  </a:cubicBezTo>
                  <a:cubicBezTo>
                    <a:pt x="9205" y="6987"/>
                    <a:pt x="8929" y="6660"/>
                    <a:pt x="8737" y="6021"/>
                  </a:cubicBezTo>
                  <a:cubicBezTo>
                    <a:pt x="8822" y="5023"/>
                    <a:pt x="8610" y="4385"/>
                    <a:pt x="8440" y="3550"/>
                  </a:cubicBezTo>
                  <a:lnTo>
                    <a:pt x="7844" y="2290"/>
                  </a:lnTo>
                  <a:lnTo>
                    <a:pt x="6654" y="1849"/>
                  </a:lnTo>
                </a:path>
              </a:pathLst>
            </a:custGeom>
            <a:solidFill>
              <a:srgbClr val="FF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3" name="Picture 12" descr="CFig8-34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846" y="3098043"/>
            <a:ext cx="2054199" cy="26544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29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29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29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29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29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9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829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29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8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829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3000"/>
                            </p:stCondLst>
                            <p:childTnLst>
                              <p:par>
                                <p:cTn id="37" presetID="3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550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75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947" grpId="0" build="p" bldLvl="4" autoUpdateAnimBg="0" advAuto="1000"/>
      <p:bldP spid="82954" grpId="0" build="p" bldLvl="4" autoUpdateAnimBg="0" advAuto="400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Utility Programs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6302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virus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7899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00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37893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267 Fig. 7-21</a:t>
            </a:r>
          </a:p>
        </p:txBody>
      </p: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990600" y="3101975"/>
            <a:ext cx="2000250" cy="2011363"/>
            <a:chOff x="168" y="1880"/>
            <a:chExt cx="1260" cy="1267"/>
          </a:xfrm>
        </p:grpSpPr>
        <p:sp>
          <p:nvSpPr>
            <p:cNvPr id="37897" name="AutoShape 14"/>
            <p:cNvSpPr>
              <a:spLocks noChangeArrowheads="1"/>
            </p:cNvSpPr>
            <p:nvPr/>
          </p:nvSpPr>
          <p:spPr bwMode="auto">
            <a:xfrm>
              <a:off x="168" y="1880"/>
              <a:ext cx="1260" cy="1267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rgbClr val="808000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9103" name="Rectangle 15"/>
            <p:cNvSpPr>
              <a:spLocks noChangeArrowheads="1"/>
            </p:cNvSpPr>
            <p:nvPr/>
          </p:nvSpPr>
          <p:spPr bwMode="auto">
            <a:xfrm>
              <a:off x="192" y="2224"/>
              <a:ext cx="1052" cy="5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1800"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SIGNS OF VIRUS INFECTION</a:t>
              </a:r>
            </a:p>
          </p:txBody>
        </p:sp>
      </p:grpSp>
      <p:sp>
        <p:nvSpPr>
          <p:cNvPr id="89112" name="Rectangle 24"/>
          <p:cNvSpPr>
            <a:spLocks noChangeArrowheads="1"/>
          </p:cNvSpPr>
          <p:nvPr/>
        </p:nvSpPr>
        <p:spPr bwMode="auto">
          <a:xfrm>
            <a:off x="304800" y="1524000"/>
            <a:ext cx="8585200" cy="14938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Potentially damaging computer program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Affects computer without user’s knowledge</a:t>
            </a:r>
          </a:p>
        </p:txBody>
      </p:sp>
      <p:sp>
        <p:nvSpPr>
          <p:cNvPr id="89113" name="Rectangle 25"/>
          <p:cNvSpPr>
            <a:spLocks noChangeArrowheads="1"/>
          </p:cNvSpPr>
          <p:nvPr/>
        </p:nvSpPr>
        <p:spPr bwMode="auto">
          <a:xfrm>
            <a:off x="2997200" y="2293938"/>
            <a:ext cx="5878513" cy="3462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502920" bIns="0">
            <a:spAutoFit/>
          </a:bodyPr>
          <a:lstStyle/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An unusual message or image is displayed on the computer screen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An unusual sound or music plays randomly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The available memory is less than what should be available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A program or file suddenly is missing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An unknown program or file mysteriously appears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The size of a file changes without explanation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A file becomes corrupted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A program or file does not work properly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System properties change</a:t>
            </a:r>
          </a:p>
          <a:p>
            <a:pPr>
              <a:buFontTx/>
              <a:buChar char="•"/>
            </a:pPr>
            <a:r>
              <a:rPr lang="en-US" sz="1600" b="1">
                <a:solidFill>
                  <a:srgbClr val="000000"/>
                </a:solidFill>
                <a:latin typeface="Arial" charset="0"/>
              </a:rPr>
              <a:t> The operating system runs much slower than usual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90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9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9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1000"/>
                            </p:stCondLst>
                            <p:childTnLst>
                              <p:par>
                                <p:cTn id="21" presetID="22" presetClass="entr" presetSubtype="1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89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35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091" grpId="0" build="p" bldLvl="4" autoUpdateAnimBg="0" advAuto="1000"/>
      <p:bldP spid="89112" grpId="0" build="p" bldLvl="4" autoUpdateAnimBg="0" advAuto="3000"/>
      <p:bldP spid="8911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Stand-Alone Utility Programs</a:t>
            </a:r>
            <a:endParaRPr lang="en-US" dirty="0" smtClean="0">
              <a:latin typeface="Arial Unicode MS" pitchFamily="34" charset="-128"/>
            </a:endParaRPr>
          </a:p>
        </p:txBody>
      </p:sp>
      <p:sp>
        <p:nvSpPr>
          <p:cNvPr id="911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6683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an </a:t>
            </a:r>
            <a:r>
              <a:rPr lang="en-US" smtClean="0">
                <a:solidFill>
                  <a:srgbClr val="D94439"/>
                </a:solidFill>
              </a:rPr>
              <a:t>antivirus program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8920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921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38917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268 Fig. 7-22</a:t>
            </a:r>
          </a:p>
        </p:txBody>
      </p:sp>
      <p:sp>
        <p:nvSpPr>
          <p:cNvPr id="91165" name="Rectangle 29"/>
          <p:cNvSpPr>
            <a:spLocks noChangeArrowheads="1"/>
          </p:cNvSpPr>
          <p:nvPr/>
        </p:nvSpPr>
        <p:spPr bwMode="auto">
          <a:xfrm>
            <a:off x="304800" y="1536700"/>
            <a:ext cx="8585200" cy="20018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Identifies and removes viruses in memory, storage media, and incoming files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Must be updated frequently</a:t>
            </a:r>
          </a:p>
        </p:txBody>
      </p:sp>
      <p:pic>
        <p:nvPicPr>
          <p:cNvPr id="10" name="Picture 9" descr="CFig8-37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019" y="2988858"/>
            <a:ext cx="3906486" cy="2906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1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1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91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0"/>
                            </p:stCondLst>
                            <p:childTnLst>
                              <p:par>
                                <p:cTn id="17" presetID="3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139" grpId="0" build="p" bldLvl="4" autoUpdateAnimBg="0" advAuto="1000"/>
      <p:bldP spid="91165" grpId="0" uiExpand="1" build="p" bldLvl="4" autoUpdateAnimBg="0" advAuto="400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Utility Programs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140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6683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</a:t>
            </a:r>
            <a:r>
              <a:rPr lang="en-US" smtClean="0">
                <a:solidFill>
                  <a:srgbClr val="D94439"/>
                </a:solidFill>
              </a:rPr>
              <a:t>spyware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39943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4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39941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268</a:t>
            </a:r>
          </a:p>
        </p:txBody>
      </p:sp>
      <p:sp>
        <p:nvSpPr>
          <p:cNvPr id="140296" name="Rectangle 8"/>
          <p:cNvSpPr>
            <a:spLocks noChangeArrowheads="1"/>
          </p:cNvSpPr>
          <p:nvPr/>
        </p:nvSpPr>
        <p:spPr bwMode="auto">
          <a:xfrm>
            <a:off x="304800" y="1536700"/>
            <a:ext cx="8585200" cy="20018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Program placed on a computer without the user’s knowledge that secretly collects information about the user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Often enters a computer as a result of a user installing a new program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 </a:t>
            </a:r>
            <a:r>
              <a:rPr kumimoji="1" lang="en-US" sz="2600" b="1">
                <a:solidFill>
                  <a:srgbClr val="D94439"/>
                </a:solidFill>
                <a:latin typeface="Times New Roman" pitchFamily="18" charset="0"/>
              </a:rPr>
              <a:t>spyware remover</a:t>
            </a: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 is a program that detects and deletes spyware, adware, and similar programs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0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02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402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402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0291" grpId="0" build="p" bldLvl="4" autoUpdateAnimBg="0" advAuto="1000"/>
      <p:bldP spid="140296" grpId="0" build="p" bldLvl="4" autoUpdateAnimBg="0" advAuto="400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Utility Programs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141318" name="Rectangle 6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6683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are internet filters?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40978" name="AutoShape 8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79" name="Text Box 9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40965" name="Text Box 10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268 - 269</a:t>
            </a:r>
          </a:p>
        </p:txBody>
      </p:sp>
      <p:sp>
        <p:nvSpPr>
          <p:cNvPr id="141323" name="Rectangle 11"/>
          <p:cNvSpPr>
            <a:spLocks noChangeArrowheads="1"/>
          </p:cNvSpPr>
          <p:nvPr/>
        </p:nvSpPr>
        <p:spPr bwMode="auto">
          <a:xfrm>
            <a:off x="304800" y="1536700"/>
            <a:ext cx="8585200" cy="1160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Programs that remove or block certain items from being displayed</a:t>
            </a:r>
          </a:p>
        </p:txBody>
      </p:sp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2533650" y="3978275"/>
            <a:ext cx="2365375" cy="1974850"/>
            <a:chOff x="2088" y="2500"/>
            <a:chExt cx="1490" cy="1244"/>
          </a:xfrm>
        </p:grpSpPr>
        <p:sp>
          <p:nvSpPr>
            <p:cNvPr id="40976" name="AutoShape 27"/>
            <p:cNvSpPr>
              <a:spLocks noChangeArrowheads="1"/>
            </p:cNvSpPr>
            <p:nvPr/>
          </p:nvSpPr>
          <p:spPr bwMode="auto">
            <a:xfrm>
              <a:off x="2088" y="2500"/>
              <a:ext cx="1490" cy="1244"/>
            </a:xfrm>
            <a:prstGeom prst="cube">
              <a:avLst>
                <a:gd name="adj" fmla="val 25000"/>
              </a:avLst>
            </a:prstGeom>
            <a:solidFill>
              <a:srgbClr val="00808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tIns="502920" bIns="0" anchor="ctr"/>
            <a:lstStyle/>
            <a:p>
              <a:pPr algn="ctr"/>
              <a:endParaRPr lang="en-US"/>
            </a:p>
          </p:txBody>
        </p:sp>
        <p:sp>
          <p:nvSpPr>
            <p:cNvPr id="40977" name="Text Box 33"/>
            <p:cNvSpPr txBox="1">
              <a:spLocks noChangeArrowheads="1"/>
            </p:cNvSpPr>
            <p:nvPr/>
          </p:nvSpPr>
          <p:spPr bwMode="auto">
            <a:xfrm>
              <a:off x="2328" y="2702"/>
              <a:ext cx="795" cy="10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tIns="502920" bIns="0">
              <a:spAutoFit/>
            </a:bodyPr>
            <a:lstStyle/>
            <a:p>
              <a:pPr algn="ctr"/>
              <a:r>
                <a:rPr lang="en-US"/>
                <a:t>Phishing</a:t>
              </a:r>
              <a:br>
                <a:rPr lang="en-US"/>
              </a:br>
              <a:r>
                <a:rPr lang="en-US"/>
                <a:t>Filters</a:t>
              </a:r>
            </a:p>
            <a:p>
              <a:pPr algn="ctr"/>
              <a:endParaRPr lang="en-US"/>
            </a:p>
          </p:txBody>
        </p:sp>
      </p:grpSp>
      <p:grpSp>
        <p:nvGrpSpPr>
          <p:cNvPr id="4" name="Group 34"/>
          <p:cNvGrpSpPr>
            <a:grpSpLocks/>
          </p:cNvGrpSpPr>
          <p:nvPr/>
        </p:nvGrpSpPr>
        <p:grpSpPr bwMode="auto">
          <a:xfrm>
            <a:off x="4371975" y="3968750"/>
            <a:ext cx="2365375" cy="1974850"/>
            <a:chOff x="2088" y="2500"/>
            <a:chExt cx="1490" cy="1244"/>
          </a:xfrm>
        </p:grpSpPr>
        <p:sp>
          <p:nvSpPr>
            <p:cNvPr id="40974" name="AutoShape 27"/>
            <p:cNvSpPr>
              <a:spLocks noChangeArrowheads="1"/>
            </p:cNvSpPr>
            <p:nvPr/>
          </p:nvSpPr>
          <p:spPr bwMode="auto">
            <a:xfrm>
              <a:off x="2088" y="2500"/>
              <a:ext cx="1490" cy="1244"/>
            </a:xfrm>
            <a:prstGeom prst="cube">
              <a:avLst>
                <a:gd name="adj" fmla="val 25000"/>
              </a:avLst>
            </a:prstGeom>
            <a:solidFill>
              <a:srgbClr val="7030A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tIns="502920" bIns="0" anchor="ctr"/>
            <a:lstStyle/>
            <a:p>
              <a:pPr algn="ctr"/>
              <a:endParaRPr lang="en-US"/>
            </a:p>
          </p:txBody>
        </p:sp>
        <p:sp>
          <p:nvSpPr>
            <p:cNvPr id="40975" name="Text Box 33"/>
            <p:cNvSpPr txBox="1">
              <a:spLocks noChangeArrowheads="1"/>
            </p:cNvSpPr>
            <p:nvPr/>
          </p:nvSpPr>
          <p:spPr bwMode="auto">
            <a:xfrm>
              <a:off x="2328" y="2702"/>
              <a:ext cx="846" cy="10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tIns="502920" bIns="0">
              <a:spAutoFit/>
            </a:bodyPr>
            <a:lstStyle/>
            <a:p>
              <a:pPr algn="ctr"/>
              <a:r>
                <a:rPr lang="en-US"/>
                <a:t>Pop-up</a:t>
              </a:r>
              <a:br>
                <a:rPr lang="en-US"/>
              </a:br>
              <a:r>
                <a:rPr lang="en-US"/>
                <a:t> Blockers</a:t>
              </a:r>
            </a:p>
            <a:p>
              <a:pPr algn="ctr"/>
              <a:endParaRPr lang="en-US"/>
            </a:p>
          </p:txBody>
        </p:sp>
      </p:grpSp>
      <p:sp>
        <p:nvSpPr>
          <p:cNvPr id="20" name="AutoShape 26"/>
          <p:cNvSpPr>
            <a:spLocks noChangeArrowheads="1"/>
          </p:cNvSpPr>
          <p:nvPr/>
        </p:nvSpPr>
        <p:spPr bwMode="auto">
          <a:xfrm>
            <a:off x="2540000" y="2495550"/>
            <a:ext cx="2365375" cy="1974850"/>
          </a:xfrm>
          <a:prstGeom prst="cube">
            <a:avLst>
              <a:gd name="adj" fmla="val 25000"/>
            </a:avLst>
          </a:prstGeom>
          <a:solidFill>
            <a:srgbClr val="80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tIns="502920" bIns="0" anchor="ctr"/>
          <a:lstStyle/>
          <a:p>
            <a:pPr algn="ctr"/>
            <a:r>
              <a:rPr lang="en-US"/>
              <a:t>Anti-Spam</a:t>
            </a:r>
          </a:p>
          <a:p>
            <a:pPr algn="ctr"/>
            <a:r>
              <a:rPr lang="en-US"/>
              <a:t>Programs</a:t>
            </a:r>
          </a:p>
          <a:p>
            <a:pPr algn="ctr"/>
            <a:endParaRPr lang="en-US"/>
          </a:p>
        </p:txBody>
      </p:sp>
      <p:sp>
        <p:nvSpPr>
          <p:cNvPr id="21" name="AutoShape 29"/>
          <p:cNvSpPr>
            <a:spLocks noChangeArrowheads="1"/>
          </p:cNvSpPr>
          <p:nvPr/>
        </p:nvSpPr>
        <p:spPr bwMode="auto">
          <a:xfrm>
            <a:off x="4376738" y="2501900"/>
            <a:ext cx="2365375" cy="1974850"/>
          </a:xfrm>
          <a:prstGeom prst="cube">
            <a:avLst>
              <a:gd name="adj" fmla="val 25000"/>
            </a:avLst>
          </a:pr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tIns="502920" bIns="0" anchor="ctr"/>
          <a:lstStyle/>
          <a:p>
            <a:pPr algn="ctr"/>
            <a:r>
              <a:rPr lang="en-US"/>
              <a:t>Web</a:t>
            </a:r>
            <a:br>
              <a:rPr lang="en-US"/>
            </a:br>
            <a:r>
              <a:rPr lang="en-US"/>
              <a:t>Filters</a:t>
            </a:r>
            <a:br>
              <a:rPr lang="en-US"/>
            </a:br>
            <a:endParaRPr lang="en-US"/>
          </a:p>
        </p:txBody>
      </p:sp>
      <p:grpSp>
        <p:nvGrpSpPr>
          <p:cNvPr id="5" name="Group 9"/>
          <p:cNvGrpSpPr>
            <a:grpSpLocks/>
          </p:cNvGrpSpPr>
          <p:nvPr/>
        </p:nvGrpSpPr>
        <p:grpSpPr bwMode="auto">
          <a:xfrm>
            <a:off x="0" y="4678363"/>
            <a:ext cx="1981200" cy="1295400"/>
            <a:chOff x="0" y="2904"/>
            <a:chExt cx="1248" cy="816"/>
          </a:xfrm>
        </p:grpSpPr>
        <p:sp>
          <p:nvSpPr>
            <p:cNvPr id="40972" name="Rectangle 10"/>
            <p:cNvSpPr>
              <a:spLocks noChangeArrowheads="1"/>
            </p:cNvSpPr>
            <p:nvPr/>
          </p:nvSpPr>
          <p:spPr bwMode="auto">
            <a:xfrm>
              <a:off x="0" y="3336"/>
              <a:ext cx="1248" cy="384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lIns="90488" tIns="44450" rIns="90488" bIns="44450"/>
            <a:lstStyle/>
            <a:p>
              <a:pPr>
                <a:lnSpc>
                  <a:spcPct val="90000"/>
                </a:lnSpc>
                <a:buClr>
                  <a:schemeClr val="accent1"/>
                </a:buClr>
                <a:buSzPct val="75000"/>
                <a:buFont typeface="Wingdings" pitchFamily="2" charset="2"/>
                <a:buNone/>
              </a:pP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Click to view Web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Link, click Chapter 7, Click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Web Link from left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navigation, then click 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Phishing Filters</a:t>
              </a:r>
              <a:b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</a:br>
              <a:r>
                <a:rPr kumimoji="1" lang="en-US" sz="1200">
                  <a:solidFill>
                    <a:schemeClr val="bg2"/>
                  </a:solidFill>
                  <a:latin typeface="Arial Narrow" pitchFamily="34" charset="0"/>
                </a:rPr>
                <a:t> below Chapter 7</a:t>
              </a:r>
            </a:p>
          </p:txBody>
        </p:sp>
        <p:sp>
          <p:nvSpPr>
            <p:cNvPr id="40973" name="Webpage">
              <a:hlinkClick r:id="rId2"/>
            </p:cNvPr>
            <p:cNvSpPr>
              <a:spLocks noEditPoints="1" noChangeArrowheads="1"/>
            </p:cNvSpPr>
            <p:nvPr/>
          </p:nvSpPr>
          <p:spPr bwMode="auto">
            <a:xfrm>
              <a:off x="96" y="2904"/>
              <a:ext cx="278" cy="37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w 21600"/>
                <a:gd name="T13" fmla="*/ 0 h 21600"/>
                <a:gd name="T14" fmla="*/ 0 w 21600"/>
                <a:gd name="T15" fmla="*/ 0 h 21600"/>
                <a:gd name="T16" fmla="*/ 0 w 21600"/>
                <a:gd name="T17" fmla="*/ 0 h 21600"/>
                <a:gd name="T18" fmla="*/ 0 w 21600"/>
                <a:gd name="T19" fmla="*/ 0 h 2160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1942 w 21600"/>
                <a:gd name="T31" fmla="*/ 12832 h 21600"/>
                <a:gd name="T32" fmla="*/ 19813 w 21600"/>
                <a:gd name="T33" fmla="*/ 20729 h 2160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1600" h="21600" extrusionOk="0">
                  <a:moveTo>
                    <a:pt x="9184" y="949"/>
                  </a:moveTo>
                  <a:lnTo>
                    <a:pt x="9758" y="1309"/>
                  </a:lnTo>
                  <a:lnTo>
                    <a:pt x="11544" y="1292"/>
                  </a:lnTo>
                  <a:lnTo>
                    <a:pt x="12437" y="1292"/>
                  </a:lnTo>
                  <a:lnTo>
                    <a:pt x="13414" y="1161"/>
                  </a:lnTo>
                  <a:lnTo>
                    <a:pt x="13648" y="1243"/>
                  </a:lnTo>
                  <a:lnTo>
                    <a:pt x="13542" y="1390"/>
                  </a:lnTo>
                  <a:lnTo>
                    <a:pt x="13967" y="1849"/>
                  </a:lnTo>
                  <a:lnTo>
                    <a:pt x="14562" y="2520"/>
                  </a:lnTo>
                  <a:lnTo>
                    <a:pt x="14669" y="3223"/>
                  </a:lnTo>
                  <a:lnTo>
                    <a:pt x="14796" y="3518"/>
                  </a:lnTo>
                  <a:lnTo>
                    <a:pt x="15264" y="3665"/>
                  </a:lnTo>
                  <a:lnTo>
                    <a:pt x="15753" y="3518"/>
                  </a:lnTo>
                  <a:lnTo>
                    <a:pt x="15902" y="2978"/>
                  </a:lnTo>
                  <a:lnTo>
                    <a:pt x="16008" y="2323"/>
                  </a:lnTo>
                  <a:moveTo>
                    <a:pt x="10757" y="21632"/>
                  </a:moveTo>
                  <a:lnTo>
                    <a:pt x="5187" y="21632"/>
                  </a:lnTo>
                  <a:lnTo>
                    <a:pt x="85" y="17509"/>
                  </a:lnTo>
                  <a:lnTo>
                    <a:pt x="85" y="10849"/>
                  </a:lnTo>
                  <a:lnTo>
                    <a:pt x="85" y="81"/>
                  </a:lnTo>
                  <a:lnTo>
                    <a:pt x="10757" y="81"/>
                  </a:lnTo>
                  <a:lnTo>
                    <a:pt x="21706" y="81"/>
                  </a:lnTo>
                  <a:lnTo>
                    <a:pt x="21706" y="10652"/>
                  </a:lnTo>
                  <a:lnTo>
                    <a:pt x="21706" y="21632"/>
                  </a:lnTo>
                  <a:lnTo>
                    <a:pt x="10757" y="21632"/>
                  </a:lnTo>
                  <a:close/>
                </a:path>
                <a:path w="21600" h="21600" extrusionOk="0">
                  <a:moveTo>
                    <a:pt x="85" y="17509"/>
                  </a:moveTo>
                  <a:lnTo>
                    <a:pt x="5187" y="17509"/>
                  </a:lnTo>
                  <a:lnTo>
                    <a:pt x="5187" y="21632"/>
                  </a:lnTo>
                  <a:lnTo>
                    <a:pt x="85" y="17509"/>
                  </a:lnTo>
                  <a:close/>
                </a:path>
                <a:path w="21600" h="21600" extrusionOk="0">
                  <a:moveTo>
                    <a:pt x="5591" y="10620"/>
                  </a:moveTo>
                  <a:lnTo>
                    <a:pt x="6122" y="10996"/>
                  </a:lnTo>
                  <a:lnTo>
                    <a:pt x="6696" y="11340"/>
                  </a:lnTo>
                  <a:lnTo>
                    <a:pt x="7313" y="11618"/>
                  </a:lnTo>
                  <a:lnTo>
                    <a:pt x="7972" y="11863"/>
                  </a:lnTo>
                  <a:lnTo>
                    <a:pt x="8652" y="12060"/>
                  </a:lnTo>
                  <a:lnTo>
                    <a:pt x="9396" y="12190"/>
                  </a:lnTo>
                  <a:lnTo>
                    <a:pt x="10119" y="12272"/>
                  </a:lnTo>
                  <a:lnTo>
                    <a:pt x="10906" y="12305"/>
                  </a:lnTo>
                  <a:lnTo>
                    <a:pt x="11650" y="12272"/>
                  </a:lnTo>
                  <a:lnTo>
                    <a:pt x="12373" y="12190"/>
                  </a:lnTo>
                  <a:lnTo>
                    <a:pt x="13117" y="12060"/>
                  </a:lnTo>
                  <a:lnTo>
                    <a:pt x="13797" y="11863"/>
                  </a:lnTo>
                  <a:lnTo>
                    <a:pt x="14456" y="11618"/>
                  </a:lnTo>
                  <a:lnTo>
                    <a:pt x="15073" y="11340"/>
                  </a:lnTo>
                  <a:lnTo>
                    <a:pt x="15647" y="11029"/>
                  </a:lnTo>
                  <a:lnTo>
                    <a:pt x="16178" y="10652"/>
                  </a:lnTo>
                  <a:lnTo>
                    <a:pt x="16667" y="10243"/>
                  </a:lnTo>
                  <a:lnTo>
                    <a:pt x="17071" y="9801"/>
                  </a:lnTo>
                  <a:lnTo>
                    <a:pt x="17475" y="9327"/>
                  </a:lnTo>
                  <a:lnTo>
                    <a:pt x="17815" y="8820"/>
                  </a:lnTo>
                  <a:lnTo>
                    <a:pt x="18049" y="8296"/>
                  </a:lnTo>
                  <a:lnTo>
                    <a:pt x="18262" y="7723"/>
                  </a:lnTo>
                  <a:lnTo>
                    <a:pt x="18347" y="7134"/>
                  </a:lnTo>
                  <a:lnTo>
                    <a:pt x="18389" y="6561"/>
                  </a:lnTo>
                  <a:lnTo>
                    <a:pt x="18347" y="5956"/>
                  </a:lnTo>
                  <a:lnTo>
                    <a:pt x="18262" y="5400"/>
                  </a:lnTo>
                  <a:lnTo>
                    <a:pt x="18049" y="4827"/>
                  </a:lnTo>
                  <a:lnTo>
                    <a:pt x="17815" y="4303"/>
                  </a:lnTo>
                  <a:lnTo>
                    <a:pt x="17475" y="3796"/>
                  </a:lnTo>
                  <a:lnTo>
                    <a:pt x="17114" y="3321"/>
                  </a:lnTo>
                  <a:lnTo>
                    <a:pt x="16710" y="2880"/>
                  </a:lnTo>
                  <a:lnTo>
                    <a:pt x="16221" y="2470"/>
                  </a:lnTo>
                  <a:lnTo>
                    <a:pt x="15689" y="2094"/>
                  </a:lnTo>
                  <a:lnTo>
                    <a:pt x="15115" y="1750"/>
                  </a:lnTo>
                  <a:lnTo>
                    <a:pt x="14499" y="1472"/>
                  </a:lnTo>
                  <a:lnTo>
                    <a:pt x="13797" y="1227"/>
                  </a:lnTo>
                  <a:lnTo>
                    <a:pt x="13117" y="1030"/>
                  </a:lnTo>
                  <a:lnTo>
                    <a:pt x="12415" y="883"/>
                  </a:lnTo>
                  <a:lnTo>
                    <a:pt x="11650" y="818"/>
                  </a:lnTo>
                  <a:lnTo>
                    <a:pt x="10906" y="785"/>
                  </a:lnTo>
                  <a:lnTo>
                    <a:pt x="10119" y="818"/>
                  </a:lnTo>
                  <a:lnTo>
                    <a:pt x="9396" y="883"/>
                  </a:lnTo>
                  <a:lnTo>
                    <a:pt x="8652" y="1030"/>
                  </a:lnTo>
                  <a:lnTo>
                    <a:pt x="8014" y="1227"/>
                  </a:lnTo>
                  <a:lnTo>
                    <a:pt x="7355" y="1440"/>
                  </a:lnTo>
                  <a:lnTo>
                    <a:pt x="6739" y="1750"/>
                  </a:lnTo>
                  <a:lnTo>
                    <a:pt x="6122" y="2061"/>
                  </a:lnTo>
                  <a:lnTo>
                    <a:pt x="5591" y="2438"/>
                  </a:lnTo>
                  <a:lnTo>
                    <a:pt x="5102" y="2847"/>
                  </a:lnTo>
                  <a:lnTo>
                    <a:pt x="4698" y="3289"/>
                  </a:lnTo>
                  <a:lnTo>
                    <a:pt x="4294" y="3763"/>
                  </a:lnTo>
                  <a:lnTo>
                    <a:pt x="3996" y="4270"/>
                  </a:lnTo>
                  <a:lnTo>
                    <a:pt x="3720" y="4794"/>
                  </a:lnTo>
                  <a:lnTo>
                    <a:pt x="3550" y="5367"/>
                  </a:lnTo>
                  <a:lnTo>
                    <a:pt x="3422" y="5956"/>
                  </a:lnTo>
                  <a:lnTo>
                    <a:pt x="3380" y="6561"/>
                  </a:lnTo>
                  <a:lnTo>
                    <a:pt x="3422" y="7134"/>
                  </a:lnTo>
                  <a:lnTo>
                    <a:pt x="3550" y="7690"/>
                  </a:lnTo>
                  <a:lnTo>
                    <a:pt x="3720" y="8263"/>
                  </a:lnTo>
                  <a:lnTo>
                    <a:pt x="3954" y="8787"/>
                  </a:lnTo>
                  <a:lnTo>
                    <a:pt x="4294" y="9294"/>
                  </a:lnTo>
                  <a:lnTo>
                    <a:pt x="4655" y="9769"/>
                  </a:lnTo>
                  <a:lnTo>
                    <a:pt x="5102" y="10210"/>
                  </a:lnTo>
                  <a:lnTo>
                    <a:pt x="5591" y="10620"/>
                  </a:lnTo>
                  <a:close/>
                </a:path>
                <a:path w="21600" h="21600" extrusionOk="0">
                  <a:moveTo>
                    <a:pt x="3401" y="6021"/>
                  </a:moveTo>
                  <a:lnTo>
                    <a:pt x="4039" y="5530"/>
                  </a:lnTo>
                  <a:lnTo>
                    <a:pt x="4294" y="4892"/>
                  </a:lnTo>
                  <a:lnTo>
                    <a:pt x="4677" y="4156"/>
                  </a:lnTo>
                  <a:lnTo>
                    <a:pt x="5166" y="3763"/>
                  </a:lnTo>
                  <a:lnTo>
                    <a:pt x="5378" y="3354"/>
                  </a:lnTo>
                  <a:lnTo>
                    <a:pt x="5293" y="2732"/>
                  </a:lnTo>
                  <a:moveTo>
                    <a:pt x="3507" y="7380"/>
                  </a:moveTo>
                  <a:lnTo>
                    <a:pt x="3890" y="7200"/>
                  </a:lnTo>
                  <a:lnTo>
                    <a:pt x="4103" y="7249"/>
                  </a:lnTo>
                  <a:lnTo>
                    <a:pt x="4400" y="7527"/>
                  </a:lnTo>
                  <a:lnTo>
                    <a:pt x="4719" y="7674"/>
                  </a:lnTo>
                  <a:lnTo>
                    <a:pt x="5293" y="7641"/>
                  </a:lnTo>
                  <a:lnTo>
                    <a:pt x="5740" y="7543"/>
                  </a:lnTo>
                  <a:lnTo>
                    <a:pt x="6144" y="7543"/>
                  </a:lnTo>
                  <a:lnTo>
                    <a:pt x="6526" y="7821"/>
                  </a:lnTo>
                  <a:lnTo>
                    <a:pt x="6569" y="8312"/>
                  </a:lnTo>
                  <a:lnTo>
                    <a:pt x="6059" y="8852"/>
                  </a:lnTo>
                  <a:lnTo>
                    <a:pt x="5803" y="8967"/>
                  </a:lnTo>
                  <a:lnTo>
                    <a:pt x="5803" y="9147"/>
                  </a:lnTo>
                  <a:lnTo>
                    <a:pt x="5421" y="9294"/>
                  </a:lnTo>
                  <a:lnTo>
                    <a:pt x="4868" y="9163"/>
                  </a:lnTo>
                  <a:lnTo>
                    <a:pt x="4337" y="9049"/>
                  </a:lnTo>
                  <a:lnTo>
                    <a:pt x="4081" y="9000"/>
                  </a:lnTo>
                  <a:moveTo>
                    <a:pt x="14988" y="11372"/>
                  </a:moveTo>
                  <a:lnTo>
                    <a:pt x="15115" y="10865"/>
                  </a:lnTo>
                  <a:lnTo>
                    <a:pt x="16072" y="10096"/>
                  </a:lnTo>
                  <a:lnTo>
                    <a:pt x="16455" y="9605"/>
                  </a:lnTo>
                  <a:lnTo>
                    <a:pt x="16455" y="8329"/>
                  </a:lnTo>
                  <a:lnTo>
                    <a:pt x="17156" y="7969"/>
                  </a:lnTo>
                  <a:lnTo>
                    <a:pt x="17879" y="7870"/>
                  </a:lnTo>
                  <a:lnTo>
                    <a:pt x="18177" y="7821"/>
                  </a:lnTo>
                  <a:moveTo>
                    <a:pt x="18368" y="6840"/>
                  </a:moveTo>
                  <a:lnTo>
                    <a:pt x="18049" y="6610"/>
                  </a:lnTo>
                  <a:lnTo>
                    <a:pt x="17411" y="6512"/>
                  </a:lnTo>
                  <a:lnTo>
                    <a:pt x="16859" y="6545"/>
                  </a:lnTo>
                  <a:lnTo>
                    <a:pt x="16603" y="6201"/>
                  </a:lnTo>
                  <a:lnTo>
                    <a:pt x="16731" y="5874"/>
                  </a:lnTo>
                  <a:lnTo>
                    <a:pt x="17241" y="5465"/>
                  </a:lnTo>
                  <a:lnTo>
                    <a:pt x="17858" y="5236"/>
                  </a:lnTo>
                  <a:lnTo>
                    <a:pt x="18007" y="5089"/>
                  </a:lnTo>
                  <a:lnTo>
                    <a:pt x="18049" y="4892"/>
                  </a:lnTo>
                  <a:moveTo>
                    <a:pt x="8100" y="1260"/>
                  </a:moveTo>
                  <a:cubicBezTo>
                    <a:pt x="8333" y="1276"/>
                    <a:pt x="8206" y="1554"/>
                    <a:pt x="8695" y="1652"/>
                  </a:cubicBezTo>
                  <a:cubicBezTo>
                    <a:pt x="9184" y="1750"/>
                    <a:pt x="10481" y="1685"/>
                    <a:pt x="10991" y="1881"/>
                  </a:cubicBezTo>
                  <a:cubicBezTo>
                    <a:pt x="11501" y="2078"/>
                    <a:pt x="11629" y="2503"/>
                    <a:pt x="11799" y="2830"/>
                  </a:cubicBezTo>
                  <a:cubicBezTo>
                    <a:pt x="11969" y="3158"/>
                    <a:pt x="11905" y="3910"/>
                    <a:pt x="12054" y="3894"/>
                  </a:cubicBezTo>
                  <a:cubicBezTo>
                    <a:pt x="12203" y="3878"/>
                    <a:pt x="12351" y="2880"/>
                    <a:pt x="12649" y="2683"/>
                  </a:cubicBezTo>
                  <a:cubicBezTo>
                    <a:pt x="12947" y="2487"/>
                    <a:pt x="13670" y="2536"/>
                    <a:pt x="13840" y="2683"/>
                  </a:cubicBezTo>
                  <a:cubicBezTo>
                    <a:pt x="14010" y="2830"/>
                    <a:pt x="13733" y="3370"/>
                    <a:pt x="13648" y="3616"/>
                  </a:cubicBezTo>
                  <a:cubicBezTo>
                    <a:pt x="13563" y="3861"/>
                    <a:pt x="13457" y="4058"/>
                    <a:pt x="13351" y="4156"/>
                  </a:cubicBezTo>
                  <a:cubicBezTo>
                    <a:pt x="13244" y="4254"/>
                    <a:pt x="13096" y="4221"/>
                    <a:pt x="12947" y="4254"/>
                  </a:cubicBezTo>
                  <a:cubicBezTo>
                    <a:pt x="12777" y="4303"/>
                    <a:pt x="12585" y="4369"/>
                    <a:pt x="12394" y="4401"/>
                  </a:cubicBezTo>
                  <a:cubicBezTo>
                    <a:pt x="12139" y="4500"/>
                    <a:pt x="12054" y="4614"/>
                    <a:pt x="11862" y="4647"/>
                  </a:cubicBezTo>
                  <a:cubicBezTo>
                    <a:pt x="11650" y="4761"/>
                    <a:pt x="11671" y="4680"/>
                    <a:pt x="11437" y="4778"/>
                  </a:cubicBezTo>
                  <a:cubicBezTo>
                    <a:pt x="11352" y="4827"/>
                    <a:pt x="11225" y="4974"/>
                    <a:pt x="11246" y="5072"/>
                  </a:cubicBezTo>
                  <a:cubicBezTo>
                    <a:pt x="11225" y="5154"/>
                    <a:pt x="11267" y="5220"/>
                    <a:pt x="11310" y="5269"/>
                  </a:cubicBezTo>
                  <a:cubicBezTo>
                    <a:pt x="11352" y="5318"/>
                    <a:pt x="11480" y="5383"/>
                    <a:pt x="11565" y="5416"/>
                  </a:cubicBezTo>
                  <a:cubicBezTo>
                    <a:pt x="11629" y="5400"/>
                    <a:pt x="11820" y="5465"/>
                    <a:pt x="11862" y="5432"/>
                  </a:cubicBezTo>
                  <a:cubicBezTo>
                    <a:pt x="11905" y="5416"/>
                    <a:pt x="11926" y="5269"/>
                    <a:pt x="11884" y="5236"/>
                  </a:cubicBezTo>
                  <a:cubicBezTo>
                    <a:pt x="11841" y="5203"/>
                    <a:pt x="11629" y="5269"/>
                    <a:pt x="11565" y="5220"/>
                  </a:cubicBezTo>
                  <a:cubicBezTo>
                    <a:pt x="11480" y="5187"/>
                    <a:pt x="11459" y="5040"/>
                    <a:pt x="11480" y="4974"/>
                  </a:cubicBezTo>
                  <a:cubicBezTo>
                    <a:pt x="11501" y="4909"/>
                    <a:pt x="11607" y="4860"/>
                    <a:pt x="11692" y="4843"/>
                  </a:cubicBezTo>
                  <a:cubicBezTo>
                    <a:pt x="11905" y="4876"/>
                    <a:pt x="11820" y="4876"/>
                    <a:pt x="12054" y="4876"/>
                  </a:cubicBezTo>
                  <a:cubicBezTo>
                    <a:pt x="12075" y="5040"/>
                    <a:pt x="12096" y="5269"/>
                    <a:pt x="12139" y="5416"/>
                  </a:cubicBezTo>
                  <a:cubicBezTo>
                    <a:pt x="12160" y="5465"/>
                    <a:pt x="12330" y="5465"/>
                    <a:pt x="12373" y="5416"/>
                  </a:cubicBezTo>
                  <a:cubicBezTo>
                    <a:pt x="12415" y="5367"/>
                    <a:pt x="12330" y="4974"/>
                    <a:pt x="12394" y="4892"/>
                  </a:cubicBezTo>
                  <a:cubicBezTo>
                    <a:pt x="12458" y="4810"/>
                    <a:pt x="12692" y="4925"/>
                    <a:pt x="12755" y="4892"/>
                  </a:cubicBezTo>
                  <a:cubicBezTo>
                    <a:pt x="12798" y="4860"/>
                    <a:pt x="12840" y="4761"/>
                    <a:pt x="12755" y="4729"/>
                  </a:cubicBezTo>
                  <a:cubicBezTo>
                    <a:pt x="12670" y="4696"/>
                    <a:pt x="12118" y="4745"/>
                    <a:pt x="12203" y="4696"/>
                  </a:cubicBezTo>
                  <a:cubicBezTo>
                    <a:pt x="12543" y="4549"/>
                    <a:pt x="12819" y="4434"/>
                    <a:pt x="13266" y="4401"/>
                  </a:cubicBezTo>
                  <a:cubicBezTo>
                    <a:pt x="13436" y="4385"/>
                    <a:pt x="13585" y="4500"/>
                    <a:pt x="13776" y="4532"/>
                  </a:cubicBezTo>
                  <a:cubicBezTo>
                    <a:pt x="13967" y="4630"/>
                    <a:pt x="13861" y="4843"/>
                    <a:pt x="13712" y="4925"/>
                  </a:cubicBezTo>
                  <a:cubicBezTo>
                    <a:pt x="13648" y="5023"/>
                    <a:pt x="13521" y="5121"/>
                    <a:pt x="13414" y="5187"/>
                  </a:cubicBezTo>
                  <a:cubicBezTo>
                    <a:pt x="13351" y="5285"/>
                    <a:pt x="13287" y="5334"/>
                    <a:pt x="13159" y="5383"/>
                  </a:cubicBezTo>
                  <a:cubicBezTo>
                    <a:pt x="13117" y="5563"/>
                    <a:pt x="12862" y="5743"/>
                    <a:pt x="12649" y="5809"/>
                  </a:cubicBezTo>
                  <a:cubicBezTo>
                    <a:pt x="12543" y="5907"/>
                    <a:pt x="12437" y="5940"/>
                    <a:pt x="12309" y="6005"/>
                  </a:cubicBezTo>
                  <a:cubicBezTo>
                    <a:pt x="12245" y="6120"/>
                    <a:pt x="12139" y="6185"/>
                    <a:pt x="12075" y="6300"/>
                  </a:cubicBezTo>
                  <a:cubicBezTo>
                    <a:pt x="12118" y="6561"/>
                    <a:pt x="12075" y="6643"/>
                    <a:pt x="12373" y="6741"/>
                  </a:cubicBezTo>
                  <a:cubicBezTo>
                    <a:pt x="12500" y="6840"/>
                    <a:pt x="12522" y="6970"/>
                    <a:pt x="12330" y="7036"/>
                  </a:cubicBezTo>
                  <a:cubicBezTo>
                    <a:pt x="12011" y="6987"/>
                    <a:pt x="12033" y="6823"/>
                    <a:pt x="11799" y="6692"/>
                  </a:cubicBezTo>
                  <a:cubicBezTo>
                    <a:pt x="11714" y="6529"/>
                    <a:pt x="11459" y="6430"/>
                    <a:pt x="11246" y="6398"/>
                  </a:cubicBezTo>
                  <a:cubicBezTo>
                    <a:pt x="11076" y="6332"/>
                    <a:pt x="11182" y="6365"/>
                    <a:pt x="10906" y="6365"/>
                  </a:cubicBezTo>
                  <a:cubicBezTo>
                    <a:pt x="10608" y="6512"/>
                    <a:pt x="10544" y="7347"/>
                    <a:pt x="11246" y="7478"/>
                  </a:cubicBezTo>
                  <a:cubicBezTo>
                    <a:pt x="12394" y="7429"/>
                    <a:pt x="13329" y="7772"/>
                    <a:pt x="13733" y="7985"/>
                  </a:cubicBezTo>
                  <a:cubicBezTo>
                    <a:pt x="13840" y="8410"/>
                    <a:pt x="13329" y="8901"/>
                    <a:pt x="12500" y="9343"/>
                  </a:cubicBezTo>
                  <a:cubicBezTo>
                    <a:pt x="11629" y="9736"/>
                    <a:pt x="11480" y="10194"/>
                    <a:pt x="11246" y="10980"/>
                  </a:cubicBezTo>
                  <a:cubicBezTo>
                    <a:pt x="10991" y="11372"/>
                    <a:pt x="10481" y="10930"/>
                    <a:pt x="10289" y="10096"/>
                  </a:cubicBezTo>
                  <a:cubicBezTo>
                    <a:pt x="10140" y="9196"/>
                    <a:pt x="9907" y="8165"/>
                    <a:pt x="10459" y="7576"/>
                  </a:cubicBezTo>
                  <a:cubicBezTo>
                    <a:pt x="9375" y="6790"/>
                    <a:pt x="9269" y="6070"/>
                    <a:pt x="9056" y="6218"/>
                  </a:cubicBezTo>
                  <a:cubicBezTo>
                    <a:pt x="9205" y="6987"/>
                    <a:pt x="8929" y="6660"/>
                    <a:pt x="8737" y="6021"/>
                  </a:cubicBezTo>
                  <a:cubicBezTo>
                    <a:pt x="8822" y="5023"/>
                    <a:pt x="8610" y="4385"/>
                    <a:pt x="8440" y="3550"/>
                  </a:cubicBezTo>
                  <a:lnTo>
                    <a:pt x="7844" y="2290"/>
                  </a:lnTo>
                  <a:lnTo>
                    <a:pt x="6654" y="1849"/>
                  </a:lnTo>
                </a:path>
              </a:pathLst>
            </a:custGeom>
            <a:solidFill>
              <a:srgbClr val="FF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13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13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0"/>
                            </p:stCondLst>
                            <p:childTnLst>
                              <p:par>
                                <p:cTn id="13" presetID="23" presetClass="entr" presetSubtype="16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0"/>
                            </p:stCondLst>
                            <p:childTnLst>
                              <p:par>
                                <p:cTn id="18" presetID="23" presetClass="entr" presetSubtype="16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500"/>
                            </p:stCondLst>
                            <p:childTnLst>
                              <p:par>
                                <p:cTn id="23" presetID="23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0"/>
                            </p:stCondLst>
                            <p:childTnLst>
                              <p:par>
                                <p:cTn id="28" presetID="23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0"/>
                            </p:stCondLst>
                            <p:childTnLst>
                              <p:par>
                                <p:cTn id="3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80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18" grpId="0" build="p" bldLvl="4" autoUpdateAnimBg="0" advAuto="1000"/>
      <p:bldP spid="141323" grpId="0" build="p" bldLvl="4" autoUpdateAnimBg="0" advAuto="4000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Utility Programs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952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6205538" cy="5921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file compression utility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41991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2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41989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 dirty="0">
                <a:solidFill>
                  <a:srgbClr val="000099"/>
                </a:solidFill>
                <a:latin typeface="Arial Narrow" pitchFamily="34" charset="0"/>
              </a:rPr>
              <a:t>p. </a:t>
            </a:r>
            <a:r>
              <a:rPr lang="en-US" sz="1200" dirty="0" smtClean="0">
                <a:solidFill>
                  <a:srgbClr val="000099"/>
                </a:solidFill>
                <a:latin typeface="Arial Narrow" pitchFamily="34" charset="0"/>
              </a:rPr>
              <a:t>269</a:t>
            </a:r>
            <a:endParaRPr lang="en-US" sz="1200" dirty="0">
              <a:solidFill>
                <a:srgbClr val="000099"/>
              </a:solidFill>
              <a:latin typeface="Arial Narrow" pitchFamily="34" charset="0"/>
            </a:endParaRPr>
          </a:p>
        </p:txBody>
      </p:sp>
      <p:sp>
        <p:nvSpPr>
          <p:cNvPr id="95244" name="Rectangle 12"/>
          <p:cNvSpPr>
            <a:spLocks noChangeArrowheads="1"/>
          </p:cNvSpPr>
          <p:nvPr/>
        </p:nvSpPr>
        <p:spPr bwMode="auto">
          <a:xfrm>
            <a:off x="304800" y="1560513"/>
            <a:ext cx="6205538" cy="3157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Shrinks size of files to free up room and improve performance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Compressed files are sometimes called </a:t>
            </a:r>
            <a:r>
              <a:rPr kumimoji="1" lang="en-US" sz="2600" b="1">
                <a:solidFill>
                  <a:srgbClr val="D94439"/>
                </a:solidFill>
                <a:latin typeface="Times New Roman" pitchFamily="18" charset="0"/>
              </a:rPr>
              <a:t>zipped files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52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5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95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235" grpId="0" build="p" bldLvl="4" autoUpdateAnimBg="0" advAuto="1000"/>
      <p:bldP spid="95244" grpId="0" build="p" bldLvl="4" autoUpdateAnimBg="0" advAuto="400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Utility Programs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151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6205538" cy="5921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media player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43016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17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43013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269 Fig. 7-23</a:t>
            </a:r>
          </a:p>
        </p:txBody>
      </p:sp>
      <p:sp>
        <p:nvSpPr>
          <p:cNvPr id="151560" name="Rectangle 8"/>
          <p:cNvSpPr>
            <a:spLocks noChangeArrowheads="1"/>
          </p:cNvSpPr>
          <p:nvPr/>
        </p:nvSpPr>
        <p:spPr bwMode="auto">
          <a:xfrm>
            <a:off x="304800" y="1560513"/>
            <a:ext cx="4276725" cy="3157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Allows you to view images and animation, listen to audio, and watch video files on your computer</a:t>
            </a:r>
          </a:p>
        </p:txBody>
      </p:sp>
      <p:pic>
        <p:nvPicPr>
          <p:cNvPr id="10" name="Picture 9" descr="CFig8-38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362" y="1364776"/>
            <a:ext cx="4265639" cy="42239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1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515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4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555" grpId="0" build="p" bldLvl="4" autoUpdateAnimBg="0" advAuto="1000"/>
      <p:bldP spid="151560" grpId="0" build="p" bldLvl="4" autoUpdateAnimBg="0" advAuto="400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Utility Programs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142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6205538" cy="5921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</a:t>
            </a:r>
            <a:r>
              <a:rPr lang="en-US" smtClean="0">
                <a:solidFill>
                  <a:srgbClr val="D94439"/>
                </a:solidFill>
              </a:rPr>
              <a:t>CD/DVD burning software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44040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1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44037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269 Fig. 7-24</a:t>
            </a:r>
          </a:p>
        </p:txBody>
      </p:sp>
      <p:sp>
        <p:nvSpPr>
          <p:cNvPr id="142344" name="Rectangle 8"/>
          <p:cNvSpPr>
            <a:spLocks noChangeArrowheads="1"/>
          </p:cNvSpPr>
          <p:nvPr/>
        </p:nvSpPr>
        <p:spPr bwMode="auto">
          <a:xfrm>
            <a:off x="304800" y="1560513"/>
            <a:ext cx="4711700" cy="3157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Writes text, graphics, audio, and video files to a recordable or rewriteable CD or DVD</a:t>
            </a:r>
          </a:p>
        </p:txBody>
      </p:sp>
      <p:pic>
        <p:nvPicPr>
          <p:cNvPr id="10" name="Picture 9" descr="CFig8-39.gif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12609" y="1801503"/>
            <a:ext cx="4671978" cy="40806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2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23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0"/>
                            </p:stCondLst>
                            <p:childTnLst>
                              <p:par>
                                <p:cTn id="13" presetID="5" presetClass="entr" presetSubtype="1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339" grpId="0" build="p" bldLvl="4" autoUpdateAnimBg="0" advAuto="1000"/>
      <p:bldP spid="142344" grpId="0" build="p" bldLvl="4" autoUpdateAnimBg="0" advAuto="400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Stand-Alone Utility Programs</a:t>
            </a:r>
            <a:endParaRPr lang="en-US" smtClean="0">
              <a:latin typeface="Arial Unicode MS" pitchFamily="34" charset="-128"/>
            </a:endParaRPr>
          </a:p>
        </p:txBody>
      </p:sp>
      <p:sp>
        <p:nvSpPr>
          <p:cNvPr id="972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066800"/>
            <a:ext cx="8585200" cy="744538"/>
          </a:xfrm>
        </p:spPr>
        <p:txBody>
          <a:bodyPr/>
          <a:lstStyle/>
          <a:p>
            <a:pPr>
              <a:buFont typeface="Monotype Sorts" pitchFamily="2" charset="2"/>
              <a:buNone/>
            </a:pPr>
            <a:r>
              <a:rPr lang="en-US" smtClean="0"/>
              <a:t>What is a </a:t>
            </a:r>
            <a:r>
              <a:rPr lang="en-US" smtClean="0">
                <a:solidFill>
                  <a:srgbClr val="D94439"/>
                </a:solidFill>
              </a:rPr>
              <a:t>personal computer maintenance utility</a:t>
            </a:r>
            <a:r>
              <a:rPr lang="en-US" smtClean="0"/>
              <a:t>?</a:t>
            </a:r>
            <a:endParaRPr lang="en-US" smtClean="0">
              <a:latin typeface="Arial Unicode MS" pitchFamily="34" charset="-128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847013" y="6402388"/>
            <a:ext cx="860425" cy="271462"/>
            <a:chOff x="4943" y="4033"/>
            <a:chExt cx="542" cy="171"/>
          </a:xfrm>
        </p:grpSpPr>
        <p:sp>
          <p:nvSpPr>
            <p:cNvPr id="45064" name="AutoShape 5">
              <a:hlinkClick r:id="" action="ppaction://hlinkshowjump?jump=nextslide" highlightClick="1"/>
            </p:cNvPr>
            <p:cNvSpPr>
              <a:spLocks noChangeArrowheads="1"/>
            </p:cNvSpPr>
            <p:nvPr/>
          </p:nvSpPr>
          <p:spPr bwMode="auto">
            <a:xfrm>
              <a:off x="4960" y="4033"/>
              <a:ext cx="525" cy="171"/>
            </a:xfrm>
            <a:prstGeom prst="actionButtonForwardNext">
              <a:avLst/>
            </a:prstGeom>
            <a:solidFill>
              <a:srgbClr val="FFBA02"/>
            </a:solidFill>
            <a:ln w="0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65" name="Text Box 6"/>
            <p:cNvSpPr txBox="1">
              <a:spLocks noChangeArrowheads="1"/>
            </p:cNvSpPr>
            <p:nvPr/>
          </p:nvSpPr>
          <p:spPr bwMode="auto">
            <a:xfrm>
              <a:off x="4943" y="4036"/>
              <a:ext cx="294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SzPct val="140000"/>
                <a:buFont typeface="Wingdings" pitchFamily="2" charset="2"/>
                <a:buNone/>
              </a:pPr>
              <a:r>
                <a:rPr lang="en-US" sz="1000" b="1">
                  <a:solidFill>
                    <a:schemeClr val="bg2"/>
                  </a:solidFill>
                  <a:latin typeface="Times New Roman" pitchFamily="18" charset="0"/>
                </a:rPr>
                <a:t>Next</a:t>
              </a:r>
              <a:endParaRPr lang="en-US" sz="1200" b="1">
                <a:solidFill>
                  <a:schemeClr val="bg1"/>
                </a:solidFill>
                <a:latin typeface="Arial" charset="0"/>
              </a:endParaRPr>
            </a:p>
          </p:txBody>
        </p:sp>
      </p:grpSp>
      <p:sp>
        <p:nvSpPr>
          <p:cNvPr id="45061" name="Text Box 7"/>
          <p:cNvSpPr txBox="1">
            <a:spLocks noChangeArrowheads="1"/>
          </p:cNvSpPr>
          <p:nvPr/>
        </p:nvSpPr>
        <p:spPr bwMode="auto">
          <a:xfrm>
            <a:off x="177800" y="6400800"/>
            <a:ext cx="1549400" cy="274638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200">
                <a:solidFill>
                  <a:srgbClr val="000099"/>
                </a:solidFill>
                <a:latin typeface="Arial Narrow" pitchFamily="34" charset="0"/>
              </a:rPr>
              <a:t>p. 270 Fig. 7-25</a:t>
            </a:r>
          </a:p>
        </p:txBody>
      </p:sp>
      <p:sp>
        <p:nvSpPr>
          <p:cNvPr id="97290" name="Rectangle 10"/>
          <p:cNvSpPr>
            <a:spLocks noChangeArrowheads="1"/>
          </p:cNvSpPr>
          <p:nvPr/>
        </p:nvSpPr>
        <p:spPr bwMode="auto">
          <a:xfrm>
            <a:off x="304800" y="1535113"/>
            <a:ext cx="8585200" cy="27130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Identifies and fixes operating system problems and disk problems</a:t>
            </a:r>
          </a:p>
          <a:p>
            <a:pPr marL="609600" lvl="1" indent="-495300">
              <a:spcBef>
                <a:spcPct val="5000"/>
              </a:spcBef>
              <a:buClr>
                <a:srgbClr val="D94439"/>
              </a:buClr>
              <a:buSzPct val="75000"/>
              <a:buFont typeface="Wingdings" pitchFamily="2" charset="2"/>
              <a:buChar char="Ø"/>
            </a:pP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Some continuously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monitor computer to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identify problems </a:t>
            </a:r>
            <a:b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</a:br>
            <a:r>
              <a:rPr kumimoji="1" lang="en-US" sz="2600" b="1">
                <a:solidFill>
                  <a:srgbClr val="000000"/>
                </a:solidFill>
                <a:latin typeface="Times New Roman" pitchFamily="18" charset="0"/>
              </a:rPr>
              <a:t>before they occur</a:t>
            </a:r>
          </a:p>
        </p:txBody>
      </p:sp>
      <p:pic>
        <p:nvPicPr>
          <p:cNvPr id="10" name="Picture 9" descr="CFig8-40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090" y="2224585"/>
            <a:ext cx="4932462" cy="3521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72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7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972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8" presetClass="entr" presetSubtype="16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9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83" grpId="0" build="p" bldLvl="4" autoUpdateAnimBg="0" advAuto="1000"/>
      <p:bldP spid="97290" grpId="0" build="p" bldLvl="4" autoUpdateAnimBg="0" advAuto="300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301625" y="0"/>
            <a:ext cx="8842375" cy="806450"/>
          </a:xfrm>
        </p:spPr>
        <p:txBody>
          <a:bodyPr/>
          <a:lstStyle/>
          <a:p>
            <a:r>
              <a:rPr lang="en-US" sz="2600" smtClean="0"/>
              <a:t>Summary of Operating Systems and Utility Programs</a:t>
            </a:r>
            <a:endParaRPr lang="en-US" sz="2600" smtClean="0">
              <a:latin typeface="Arial Unicode MS" pitchFamily="34" charset="-128"/>
            </a:endParaRPr>
          </a:p>
        </p:txBody>
      </p:sp>
      <p:sp>
        <p:nvSpPr>
          <p:cNvPr id="99336" name="AutoShape 8"/>
          <p:cNvSpPr>
            <a:spLocks noChangeArrowheads="1"/>
          </p:cNvSpPr>
          <p:nvPr/>
        </p:nvSpPr>
        <p:spPr bwMode="auto">
          <a:xfrm>
            <a:off x="327025" y="1784350"/>
            <a:ext cx="4341813" cy="661988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Define an operating system</a:t>
            </a:r>
          </a:p>
        </p:txBody>
      </p:sp>
      <p:sp>
        <p:nvSpPr>
          <p:cNvPr id="99337" name="AutoShape 9"/>
          <p:cNvSpPr>
            <a:spLocks noChangeArrowheads="1"/>
          </p:cNvSpPr>
          <p:nvPr/>
        </p:nvSpPr>
        <p:spPr bwMode="auto">
          <a:xfrm>
            <a:off x="327025" y="2903538"/>
            <a:ext cx="4341813" cy="661987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Discuss the functions common to </a:t>
            </a:r>
            <a:br>
              <a:rPr kumimoji="1" lang="en-US" sz="1600" b="1">
                <a:latin typeface="Times New Roman" pitchFamily="18" charset="0"/>
              </a:rPr>
            </a:br>
            <a:r>
              <a:rPr kumimoji="1" lang="en-US" sz="1600" b="1">
                <a:latin typeface="Times New Roman" pitchFamily="18" charset="0"/>
              </a:rPr>
              <a:t>most operating systems</a:t>
            </a:r>
          </a:p>
        </p:txBody>
      </p:sp>
      <p:sp>
        <p:nvSpPr>
          <p:cNvPr id="99338" name="AutoShape 10"/>
          <p:cNvSpPr>
            <a:spLocks noChangeArrowheads="1"/>
          </p:cNvSpPr>
          <p:nvPr/>
        </p:nvSpPr>
        <p:spPr bwMode="auto">
          <a:xfrm>
            <a:off x="327025" y="4024313"/>
            <a:ext cx="4341813" cy="661987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Introduce several utility programs commonly </a:t>
            </a:r>
            <a:br>
              <a:rPr kumimoji="1" lang="en-US" sz="1600" b="1">
                <a:latin typeface="Times New Roman" pitchFamily="18" charset="0"/>
              </a:rPr>
            </a:br>
            <a:r>
              <a:rPr kumimoji="1" lang="en-US" sz="1600" b="1">
                <a:latin typeface="Times New Roman" pitchFamily="18" charset="0"/>
              </a:rPr>
              <a:t>found in operating systems</a:t>
            </a:r>
          </a:p>
        </p:txBody>
      </p:sp>
      <p:sp>
        <p:nvSpPr>
          <p:cNvPr id="99339" name="AutoShape 11"/>
          <p:cNvSpPr>
            <a:spLocks noChangeArrowheads="1"/>
          </p:cNvSpPr>
          <p:nvPr/>
        </p:nvSpPr>
        <p:spPr bwMode="auto">
          <a:xfrm>
            <a:off x="4537075" y="2308225"/>
            <a:ext cx="4341813" cy="720725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tIns="274320" anchor="ctr" anchorCtr="1"/>
          <a:lstStyle/>
          <a:p>
            <a:pPr algn="ctr">
              <a:lnSpc>
                <a:spcPct val="90000"/>
              </a:lnSpc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 dirty="0">
                <a:latin typeface="Times New Roman" pitchFamily="18" charset="0"/>
              </a:rPr>
              <a:t>Discuss a variety of stand-alone </a:t>
            </a:r>
            <a:br>
              <a:rPr kumimoji="1" lang="en-US" sz="1600" b="1" dirty="0">
                <a:latin typeface="Times New Roman" pitchFamily="18" charset="0"/>
              </a:rPr>
            </a:br>
            <a:r>
              <a:rPr kumimoji="1" lang="en-US" sz="1600" b="1" dirty="0">
                <a:latin typeface="Times New Roman" pitchFamily="18" charset="0"/>
              </a:rPr>
              <a:t>operating systems, network operating systems, and embedded operating systems</a:t>
            </a:r>
          </a:p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endParaRPr kumimoji="1" lang="en-US" sz="1600" b="1" dirty="0">
              <a:latin typeface="Times New Roman" pitchFamily="18" charset="0"/>
            </a:endParaRPr>
          </a:p>
        </p:txBody>
      </p:sp>
      <p:sp>
        <p:nvSpPr>
          <p:cNvPr id="99340" name="AutoShape 12"/>
          <p:cNvSpPr>
            <a:spLocks noChangeArrowheads="1"/>
          </p:cNvSpPr>
          <p:nvPr/>
        </p:nvSpPr>
        <p:spPr bwMode="auto">
          <a:xfrm>
            <a:off x="4567238" y="3506788"/>
            <a:ext cx="4341812" cy="661987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8787AE"/>
              </a:gs>
              <a:gs pos="100000">
                <a:srgbClr val="003D7A"/>
              </a:gs>
            </a:gsLst>
            <a:lin ang="0" scaled="1"/>
          </a:gradFill>
          <a:ln w="12700">
            <a:noFill/>
            <a:round/>
            <a:headEnd/>
            <a:tailEnd/>
          </a:ln>
          <a:effectLst>
            <a:outerShdw dist="81320" dir="2319588" algn="ctr" rotWithShape="0">
              <a:schemeClr val="bg2">
                <a:alpha val="50000"/>
              </a:schemeClr>
            </a:outerShdw>
          </a:effectLst>
        </p:spPr>
        <p:txBody>
          <a:bodyPr anchor="ctr"/>
          <a:lstStyle/>
          <a:p>
            <a:pPr algn="ctr">
              <a:spcBef>
                <a:spcPct val="20000"/>
              </a:spcBef>
              <a:buClr>
                <a:schemeClr val="accent1"/>
              </a:buClr>
              <a:buSzPct val="80000"/>
              <a:buFont typeface="Monotype Sorts" pitchFamily="2" charset="2"/>
              <a:buNone/>
              <a:defRPr/>
            </a:pPr>
            <a:r>
              <a:rPr kumimoji="1" lang="en-US" sz="1600" b="1">
                <a:latin typeface="Times New Roman" pitchFamily="18" charset="0"/>
              </a:rPr>
              <a:t>Describe several stand-alone </a:t>
            </a:r>
            <a:br>
              <a:rPr kumimoji="1" lang="en-US" sz="1600" b="1">
                <a:latin typeface="Times New Roman" pitchFamily="18" charset="0"/>
              </a:rPr>
            </a:br>
            <a:r>
              <a:rPr kumimoji="1" lang="en-US" sz="1600" b="1">
                <a:latin typeface="Times New Roman" pitchFamily="18" charset="0"/>
              </a:rPr>
              <a:t>utility programs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9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9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99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9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99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36" grpId="0" animBg="1" autoUpdateAnimBg="0"/>
      <p:bldP spid="99337" grpId="0" animBg="1" autoUpdateAnimBg="0"/>
      <p:bldP spid="99338" grpId="0" animBg="1" autoUpdateAnimBg="0"/>
      <p:bldP spid="99339" grpId="0" animBg="1" autoUpdateAnimBg="0"/>
      <p:bldP spid="99340" grpId="0" animBg="1" autoUpdateAnimBg="0"/>
    </p:bldLst>
  </p:timing>
</p:sld>
</file>

<file path=ppt/theme/theme1.xml><?xml version="1.0" encoding="utf-8"?>
<a:theme xmlns:a="http://schemas.openxmlformats.org/drawingml/2006/main" name="1_dt2">
  <a:themeElements>
    <a:clrScheme name="">
      <a:dk1>
        <a:srgbClr val="001932"/>
      </a:dk1>
      <a:lt1>
        <a:srgbClr val="FFFFFF"/>
      </a:lt1>
      <a:dk2>
        <a:srgbClr val="2181B7"/>
      </a:dk2>
      <a:lt2>
        <a:srgbClr val="CCFFFF"/>
      </a:lt2>
      <a:accent1>
        <a:srgbClr val="99FFCC"/>
      </a:accent1>
      <a:accent2>
        <a:srgbClr val="01B0FF"/>
      </a:accent2>
      <a:accent3>
        <a:srgbClr val="ABC1D8"/>
      </a:accent3>
      <a:accent4>
        <a:srgbClr val="DADADA"/>
      </a:accent4>
      <a:accent5>
        <a:srgbClr val="CAFFE2"/>
      </a:accent5>
      <a:accent6>
        <a:srgbClr val="019FE7"/>
      </a:accent6>
      <a:hlink>
        <a:srgbClr val="6666FF"/>
      </a:hlink>
      <a:folHlink>
        <a:srgbClr val="1C6D9A"/>
      </a:folHlink>
    </a:clrScheme>
    <a:fontScheme name="1_dt2">
      <a:majorFont>
        <a:latin typeface="Franklin Gothic Demi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  <a:scene3d>
          <a:camera prst="legacyPerspectiveBottom"/>
          <a:lightRig rig="legacyFlat3" dir="t"/>
        </a:scene3d>
        <a:sp3d extrusionH="887400" prstMaterial="legacyMatte">
          <a:bevelT w="13500" h="13500" prst="angle"/>
          <a:bevelB w="13500" h="13500" prst="angle"/>
          <a:extrusionClr>
            <a:schemeClr val="accent1"/>
          </a:extrusionClr>
        </a:sp3d>
      </a:spPr>
      <a:bodyPr vert="horz" wrap="none" lIns="91440" tIns="502920" rIns="91440" bIns="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  <a:scene3d>
          <a:camera prst="legacyPerspectiveBottom"/>
          <a:lightRig rig="legacyFlat3" dir="t"/>
        </a:scene3d>
        <a:sp3d extrusionH="887400" prstMaterial="legacyMatte">
          <a:bevelT w="13500" h="13500" prst="angle"/>
          <a:bevelB w="13500" h="13500" prst="angle"/>
          <a:extrusionClr>
            <a:schemeClr val="accent1"/>
          </a:extrusionClr>
        </a:sp3d>
      </a:spPr>
      <a:bodyPr vert="horz" wrap="none" lIns="91440" tIns="502920" rIns="91440" bIns="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18" charset="0"/>
          </a:defRPr>
        </a:defPPr>
      </a:lstStyle>
    </a:lnDef>
  </a:objectDefaults>
  <a:extraClrSchemeLst>
    <a:extraClrScheme>
      <a:clrScheme name="1_dt2 1">
        <a:dk1>
          <a:srgbClr val="000000"/>
        </a:dk1>
        <a:lt1>
          <a:srgbClr val="FFFFFF"/>
        </a:lt1>
        <a:dk2>
          <a:srgbClr val="000000"/>
        </a:dk2>
        <a:lt2>
          <a:srgbClr val="FFCC00"/>
        </a:lt2>
        <a:accent1>
          <a:srgbClr val="FF9900"/>
        </a:accent1>
        <a:accent2>
          <a:srgbClr val="D60093"/>
        </a:accent2>
        <a:accent3>
          <a:srgbClr val="AAAAAA"/>
        </a:accent3>
        <a:accent4>
          <a:srgbClr val="DADADA"/>
        </a:accent4>
        <a:accent5>
          <a:srgbClr val="FFCAAA"/>
        </a:accent5>
        <a:accent6>
          <a:srgbClr val="C20085"/>
        </a:accent6>
        <a:hlink>
          <a:srgbClr val="9966FF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WikiEditForm</Display>
  <Edit>WikiEditForm</Edit>
  <New>WikiEditForm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WikiField xmlns="http://schemas.microsoft.com/sharepoint/v3" xsi:nil="true"/>
    <_dlc_DocId xmlns="e5222bea-0a0f-4f8c-b9f7-21e1ae72cb64" xsi:nil="true"/>
    <_dlc_DocIdUrl xmlns="e5222bea-0a0f-4f8c-b9f7-21e1ae72cb64">
      <Url xsi:nil="true"/>
      <Description xsi:nil="true"/>
    </_dlc_DocIdUrl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Wiki Page" ma:contentTypeID="0x010108000A229418E70B3449916068AA20145DBD" ma:contentTypeVersion="1" ma:contentTypeDescription="Create a new wiki page." ma:contentTypeScope="" ma:versionID="a6202e0020b7f577dc8d5991ce5e7c99">
  <xsd:schema xmlns:xsd="http://www.w3.org/2001/XMLSchema" xmlns:xs="http://www.w3.org/2001/XMLSchema" xmlns:p="http://schemas.microsoft.com/office/2006/metadata/properties" xmlns:ns1="http://schemas.microsoft.com/sharepoint/v3" xmlns:ns2="e5222bea-0a0f-4f8c-b9f7-21e1ae72cb64" targetNamespace="http://schemas.microsoft.com/office/2006/metadata/properties" ma:root="true" ma:fieldsID="35dc98d1b06bd8f9f810fb7c0d70b157" ns1:_="" ns2:_="">
    <xsd:import namespace="http://schemas.microsoft.com/sharepoint/v3"/>
    <xsd:import namespace="e5222bea-0a0f-4f8c-b9f7-21e1ae72cb64"/>
    <xsd:element name="properties">
      <xsd:complexType>
        <xsd:sequence>
          <xsd:element name="documentManagement">
            <xsd:complexType>
              <xsd:all>
                <xsd:element ref="ns1:WikiField" minOccurs="0"/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WikiField" ma:index="7" nillable="true" ma:displayName="Wiki Content" ma:internalName="WikiField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222bea-0a0f-4f8c-b9f7-21e1ae72cb64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1D058519-94A6-4CBB-B9CF-F58C72BDA0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FFB652D-46B6-4BAB-9B70-CB73BF8693CC}">
  <ds:schemaRefs>
    <ds:schemaRef ds:uri="http://schemas.microsoft.com/sharepoint/v3"/>
    <ds:schemaRef ds:uri="http://purl.org/dc/terms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e5222bea-0a0f-4f8c-b9f7-21e1ae72cb64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DAB676F-F691-4989-9476-49D0FE33B0A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5222bea-0a0f-4f8c-b9f7-21e1ae72cb6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46B85B85-EB81-4ECE-BB03-0E96C3BAD1F4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DCF4e</Template>
  <TotalTime>2421</TotalTime>
  <Words>1958</Words>
  <Application>Microsoft Office PowerPoint</Application>
  <PresentationFormat>On-screen Show (4:3)</PresentationFormat>
  <Paragraphs>311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1" baseType="lpstr">
      <vt:lpstr>Arial</vt:lpstr>
      <vt:lpstr>Arial Black</vt:lpstr>
      <vt:lpstr>Arial Narrow</vt:lpstr>
      <vt:lpstr>Arial Unicode MS</vt:lpstr>
      <vt:lpstr>Franklin Gothic Demi</vt:lpstr>
      <vt:lpstr>Monotype Sorts</vt:lpstr>
      <vt:lpstr>Times</vt:lpstr>
      <vt:lpstr>Times New Roman</vt:lpstr>
      <vt:lpstr>Wingdings</vt:lpstr>
      <vt:lpstr>1_dt2</vt:lpstr>
      <vt:lpstr>Operating  Systems and Utility Programs</vt:lpstr>
      <vt:lpstr>Chapter 7 Objectives</vt:lpstr>
      <vt:lpstr>System Software</vt:lpstr>
      <vt:lpstr>Operating Systems</vt:lpstr>
      <vt:lpstr>Operating Systems</vt:lpstr>
      <vt:lpstr>Operating System Functions</vt:lpstr>
      <vt:lpstr>Operating System Functions…</vt:lpstr>
      <vt:lpstr>Operating System Functions…</vt:lpstr>
      <vt:lpstr>Operating System Functions</vt:lpstr>
      <vt:lpstr>Operating System Functions</vt:lpstr>
      <vt:lpstr>Operating System Functions…</vt:lpstr>
      <vt:lpstr>Operating System Functions</vt:lpstr>
      <vt:lpstr>Operating System Functions</vt:lpstr>
      <vt:lpstr>Operating System Functions…</vt:lpstr>
      <vt:lpstr>Operating System Functions</vt:lpstr>
      <vt:lpstr>Operating System Functions</vt:lpstr>
      <vt:lpstr>Utility Programs</vt:lpstr>
      <vt:lpstr>Utility Programs…</vt:lpstr>
      <vt:lpstr>Utility Programs…</vt:lpstr>
      <vt:lpstr>Utility Programs…</vt:lpstr>
      <vt:lpstr>Utility Programs…</vt:lpstr>
      <vt:lpstr>Utility Programs…</vt:lpstr>
      <vt:lpstr>Utility Programs…</vt:lpstr>
      <vt:lpstr>Utility Programs…</vt:lpstr>
      <vt:lpstr>Types of Operating Systems</vt:lpstr>
      <vt:lpstr>Stand-Alone Operating Systems</vt:lpstr>
      <vt:lpstr>Stand-Alone Operating Systems</vt:lpstr>
      <vt:lpstr>Stand-Alone Operating Systems</vt:lpstr>
      <vt:lpstr>Stand-Alone Operating Systems</vt:lpstr>
      <vt:lpstr>Stand-Alone Operating Systems</vt:lpstr>
      <vt:lpstr>Network Operating Systems</vt:lpstr>
      <vt:lpstr>Embedded Operating Systems</vt:lpstr>
      <vt:lpstr>Stand-Alone Utility Programs</vt:lpstr>
      <vt:lpstr>Stand-Alone Utility Programs</vt:lpstr>
      <vt:lpstr>Stand-Alone Utility Programs</vt:lpstr>
      <vt:lpstr>Stand-Alone Utility Programs</vt:lpstr>
      <vt:lpstr>Stand-Alone Utility Programs</vt:lpstr>
      <vt:lpstr>Stand-Alone Utility Programs</vt:lpstr>
      <vt:lpstr>Stand-Alone Utility Programs</vt:lpstr>
      <vt:lpstr>Stand-Alone Utility Programs</vt:lpstr>
      <vt:lpstr>Summary of Operating Systems and Utility Programs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Discovering Computers Fundamentals 5th Edition</dc:title>
  <dc:creator>Steven Freund</dc:creator>
  <cp:lastModifiedBy>JAMIE</cp:lastModifiedBy>
  <cp:revision>201</cp:revision>
  <dcterms:created xsi:type="dcterms:W3CDTF">2002-11-05T15:14:35Z</dcterms:created>
  <dcterms:modified xsi:type="dcterms:W3CDTF">2024-08-31T14:36:30Z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0x010108000A229418E70B3449916068AA20145DBD</vt:lpwstr>
  </property>
  <property fmtid="{D5CDD505-2E9C-101B-9397-08002B2CF9AE}" pid="3" name="_dlc_DocIdItemGuid">
    <vt:lpwstr>d754c546-4f07-4027-b6d0-2b28d1ec2a1e</vt:lpwstr>
  </property>
</Properties>
</file>