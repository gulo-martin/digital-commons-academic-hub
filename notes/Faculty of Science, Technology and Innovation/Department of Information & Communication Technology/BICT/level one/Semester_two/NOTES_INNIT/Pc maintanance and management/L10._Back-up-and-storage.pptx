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notesMasterIdLst>
    <p:notesMasterId r:id="rId26"/>
  </p:notesMasterIdLst>
  <p:sldIdLst>
    <p:sldId id="256" r:id="rId2"/>
    <p:sldId id="257" r:id="rId3"/>
    <p:sldId id="280"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1941" autoAdjust="0"/>
  </p:normalViewPr>
  <p:slideViewPr>
    <p:cSldViewPr snapToGrid="0">
      <p:cViewPr varScale="1">
        <p:scale>
          <a:sx n="72" d="100"/>
          <a:sy n="72" d="100"/>
        </p:scale>
        <p:origin x="110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008669-DA57-4B04-A508-7ABA31F88948}" type="datetimeFigureOut">
              <a:rPr lang="en-US" smtClean="0"/>
              <a:t>9/6/2024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4F3581-0982-4D71-9CB1-AAFD15BEF504}" type="slidenum">
              <a:rPr lang="en-US" smtClean="0"/>
              <a:t>‹#›</a:t>
            </a:fld>
            <a:endParaRPr lang="en-US"/>
          </a:p>
        </p:txBody>
      </p:sp>
    </p:spTree>
    <p:extLst>
      <p:ext uri="{BB962C8B-B14F-4D97-AF65-F5344CB8AC3E}">
        <p14:creationId xmlns:p14="http://schemas.microsoft.com/office/powerpoint/2010/main" val="3811527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400" dirty="0" smtClean="0"/>
              <a:t>flash memory devices tends to have a shorter retention period and may be more prone to degradation over time compared to data stored on hard disk drives, making HDDs a preferred choice for long-term backups.</a:t>
            </a:r>
            <a:endParaRPr lang="en-US" sz="4400" dirty="0"/>
          </a:p>
        </p:txBody>
      </p:sp>
      <p:sp>
        <p:nvSpPr>
          <p:cNvPr id="4" name="Slide Number Placeholder 3"/>
          <p:cNvSpPr>
            <a:spLocks noGrp="1"/>
          </p:cNvSpPr>
          <p:nvPr>
            <p:ph type="sldNum" sz="quarter" idx="10"/>
          </p:nvPr>
        </p:nvSpPr>
        <p:spPr/>
        <p:txBody>
          <a:bodyPr/>
          <a:lstStyle/>
          <a:p>
            <a:fld id="{6D4F3581-0982-4D71-9CB1-AAFD15BEF504}" type="slidenum">
              <a:rPr lang="en-US" smtClean="0"/>
              <a:t>15</a:t>
            </a:fld>
            <a:endParaRPr lang="en-US"/>
          </a:p>
        </p:txBody>
      </p:sp>
    </p:spTree>
    <p:extLst>
      <p:ext uri="{BB962C8B-B14F-4D97-AF65-F5344CB8AC3E}">
        <p14:creationId xmlns:p14="http://schemas.microsoft.com/office/powerpoint/2010/main" val="1214237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Заглавен слайд">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bg-BG" smtClean="0"/>
              <a:t>Редакт. стил загл. образец</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bg-BG" smtClean="0"/>
              <a:t>Щракнете, за да редактирате стила на подзаглавието в образеца</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smtClean="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9365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лавие и съдържа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mtClean="0"/>
              <a:t>Редакт. стил загл. образец</a:t>
            </a:r>
            <a:endParaRPr lang="en-US" dirty="0"/>
          </a:p>
        </p:txBody>
      </p:sp>
      <p:sp>
        <p:nvSpPr>
          <p:cNvPr id="3" name="Content Placeholder 2"/>
          <p:cNvSpPr>
            <a:spLocks noGrp="1"/>
          </p:cNvSpPr>
          <p:nvPr>
            <p:ph idx="1"/>
          </p:nvPr>
        </p:nvSpPr>
        <p:spPr/>
        <p:txBody>
          <a:bodyPr/>
          <a:lstStyle/>
          <a:p>
            <a:pPr lvl="0"/>
            <a:r>
              <a:rPr lang="bg-BG" smtClean="0"/>
              <a:t>Редактиране на стиловете на текста в образеца</a:t>
            </a:r>
          </a:p>
          <a:p>
            <a:pPr lvl="1"/>
            <a:r>
              <a:rPr lang="bg-BG" smtClean="0"/>
              <a:t>Второ ниво</a:t>
            </a:r>
          </a:p>
          <a:p>
            <a:pPr lvl="2"/>
            <a:r>
              <a:rPr lang="bg-BG" smtClean="0"/>
              <a:t>Трето ниво</a:t>
            </a:r>
          </a:p>
          <a:p>
            <a:pPr lvl="3"/>
            <a:r>
              <a:rPr lang="bg-BG" smtClean="0"/>
              <a:t>Четвърто ниво</a:t>
            </a:r>
          </a:p>
          <a:p>
            <a:pPr lvl="4"/>
            <a:r>
              <a:rPr lang="bg-BG" smtClean="0"/>
              <a:t>Пето ниво</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7149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лавка на секция">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bg-BG" smtClean="0"/>
              <a:t>Редакт. стил загл. образец</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bg-BG" smtClean="0"/>
              <a:t>Редактиране на стиловете на текста в образеца</a:t>
            </a:r>
          </a:p>
        </p:txBody>
      </p:sp>
      <p:sp>
        <p:nvSpPr>
          <p:cNvPr id="4" name="Date Placeholder 3"/>
          <p:cNvSpPr>
            <a:spLocks noGrp="1"/>
          </p:cNvSpPr>
          <p:nvPr>
            <p:ph type="dt" sz="half" idx="10"/>
          </p:nvPr>
        </p:nvSpPr>
        <p:spPr/>
        <p:txBody>
          <a:bodyPr/>
          <a:lstStyle/>
          <a:p>
            <a:fld id="{5A61015F-7CC6-4D0A-9D87-873EA4C304CC}" type="datetimeFigureOut">
              <a:rPr lang="en-US" smtClean="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7751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е съдържания">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bg-BG" smtClean="0"/>
              <a:t>Редакт. стил загл. образец</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bg-BG" smtClean="0"/>
              <a:t>Редактиране на стиловете на текста в образеца</a:t>
            </a:r>
          </a:p>
          <a:p>
            <a:pPr lvl="1"/>
            <a:r>
              <a:rPr lang="bg-BG" smtClean="0"/>
              <a:t>Второ ниво</a:t>
            </a:r>
          </a:p>
          <a:p>
            <a:pPr lvl="2"/>
            <a:r>
              <a:rPr lang="bg-BG" smtClean="0"/>
              <a:t>Трето ниво</a:t>
            </a:r>
          </a:p>
          <a:p>
            <a:pPr lvl="3"/>
            <a:r>
              <a:rPr lang="bg-BG" smtClean="0"/>
              <a:t>Четвърто ниво</a:t>
            </a:r>
          </a:p>
          <a:p>
            <a:pPr lvl="4"/>
            <a:r>
              <a:rPr lang="bg-BG" smtClean="0"/>
              <a:t>Пето ниво</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bg-BG" smtClean="0"/>
              <a:t>Редактиране на стиловете на текста в образеца</a:t>
            </a:r>
          </a:p>
          <a:p>
            <a:pPr lvl="1"/>
            <a:r>
              <a:rPr lang="bg-BG" smtClean="0"/>
              <a:t>Второ ниво</a:t>
            </a:r>
          </a:p>
          <a:p>
            <a:pPr lvl="2"/>
            <a:r>
              <a:rPr lang="bg-BG" smtClean="0"/>
              <a:t>Трето ниво</a:t>
            </a:r>
          </a:p>
          <a:p>
            <a:pPr lvl="3"/>
            <a:r>
              <a:rPr lang="bg-BG" smtClean="0"/>
              <a:t>Четвърто ниво</a:t>
            </a:r>
          </a:p>
          <a:p>
            <a:pPr lvl="4"/>
            <a:r>
              <a:rPr lang="bg-BG" smtClean="0"/>
              <a:t>Пето ниво</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50516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bg-BG" smtClean="0"/>
              <a:t>Редакт. стил загл. образец</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smtClean="0"/>
              <a:t>Редактиране на стиловете на текста в образеца</a:t>
            </a:r>
          </a:p>
        </p:txBody>
      </p:sp>
      <p:sp>
        <p:nvSpPr>
          <p:cNvPr id="4" name="Content Placeholder 3"/>
          <p:cNvSpPr>
            <a:spLocks noGrp="1"/>
          </p:cNvSpPr>
          <p:nvPr>
            <p:ph sz="half" idx="2"/>
          </p:nvPr>
        </p:nvSpPr>
        <p:spPr>
          <a:xfrm>
            <a:off x="1024128" y="2967788"/>
            <a:ext cx="4754880" cy="3341572"/>
          </a:xfrm>
        </p:spPr>
        <p:txBody>
          <a:bodyPr/>
          <a:lstStyle/>
          <a:p>
            <a:pPr lvl="0"/>
            <a:r>
              <a:rPr lang="bg-BG" smtClean="0"/>
              <a:t>Редактиране на стиловете на текста в образеца</a:t>
            </a:r>
          </a:p>
          <a:p>
            <a:pPr lvl="1"/>
            <a:r>
              <a:rPr lang="bg-BG" smtClean="0"/>
              <a:t>Второ ниво</a:t>
            </a:r>
          </a:p>
          <a:p>
            <a:pPr lvl="2"/>
            <a:r>
              <a:rPr lang="bg-BG" smtClean="0"/>
              <a:t>Трето ниво</a:t>
            </a:r>
          </a:p>
          <a:p>
            <a:pPr lvl="3"/>
            <a:r>
              <a:rPr lang="bg-BG" smtClean="0"/>
              <a:t>Четвърто ниво</a:t>
            </a:r>
          </a:p>
          <a:p>
            <a:pPr lvl="4"/>
            <a:r>
              <a:rPr lang="bg-BG" smtClean="0"/>
              <a:t>Пето ниво</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bg-BG" smtClean="0"/>
              <a:t>Редактиране на стиловете на текста в образеца</a:t>
            </a:r>
          </a:p>
        </p:txBody>
      </p:sp>
      <p:sp>
        <p:nvSpPr>
          <p:cNvPr id="6" name="Content Placeholder 5"/>
          <p:cNvSpPr>
            <a:spLocks noGrp="1"/>
          </p:cNvSpPr>
          <p:nvPr>
            <p:ph sz="quarter" idx="4"/>
          </p:nvPr>
        </p:nvSpPr>
        <p:spPr>
          <a:xfrm>
            <a:off x="5990888" y="2967788"/>
            <a:ext cx="4754880" cy="3341572"/>
          </a:xfrm>
        </p:spPr>
        <p:txBody>
          <a:bodyPr/>
          <a:lstStyle/>
          <a:p>
            <a:pPr lvl="0"/>
            <a:r>
              <a:rPr lang="bg-BG" smtClean="0"/>
              <a:t>Редактиране на стиловете на текста в образеца</a:t>
            </a:r>
          </a:p>
          <a:p>
            <a:pPr lvl="1"/>
            <a:r>
              <a:rPr lang="bg-BG" smtClean="0"/>
              <a:t>Второ ниво</a:t>
            </a:r>
          </a:p>
          <a:p>
            <a:pPr lvl="2"/>
            <a:r>
              <a:rPr lang="bg-BG" smtClean="0"/>
              <a:t>Трето ниво</a:t>
            </a:r>
          </a:p>
          <a:p>
            <a:pPr lvl="3"/>
            <a:r>
              <a:rPr lang="bg-BG" smtClean="0"/>
              <a:t>Четвърто ниво</a:t>
            </a:r>
          </a:p>
          <a:p>
            <a:pPr lvl="4"/>
            <a:r>
              <a:rPr lang="bg-BG" smtClean="0"/>
              <a:t>Пето ниво</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9/6/2024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99466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Само заглав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mtClean="0"/>
              <a:t>Редакт. стил загл. образец</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9/6/2024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53719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разе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9/6/2024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93807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Съдържание с надпис">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bg-BG" smtClean="0"/>
              <a:t>Редакт. стил загл. образец</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bg-BG" smtClean="0"/>
              <a:t>Редактиране на стиловете на текста в образеца</a:t>
            </a:r>
          </a:p>
          <a:p>
            <a:pPr lvl="1"/>
            <a:r>
              <a:rPr lang="bg-BG" smtClean="0"/>
              <a:t>Второ ниво</a:t>
            </a:r>
          </a:p>
          <a:p>
            <a:pPr lvl="2"/>
            <a:r>
              <a:rPr lang="bg-BG" smtClean="0"/>
              <a:t>Трето ниво</a:t>
            </a:r>
          </a:p>
          <a:p>
            <a:pPr lvl="3"/>
            <a:r>
              <a:rPr lang="bg-BG" smtClean="0"/>
              <a:t>Четвърто ниво</a:t>
            </a:r>
          </a:p>
          <a:p>
            <a:pPr lvl="4"/>
            <a:r>
              <a:rPr lang="bg-BG" smtClean="0"/>
              <a:t>Пето ниво</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smtClean="0"/>
              <a:t>Редактиране на стиловете на текста в образеца</a:t>
            </a:r>
          </a:p>
        </p:txBody>
      </p:sp>
      <p:sp>
        <p:nvSpPr>
          <p:cNvPr id="5" name="Date Placeholder 4"/>
          <p:cNvSpPr>
            <a:spLocks noGrp="1"/>
          </p:cNvSpPr>
          <p:nvPr>
            <p:ph type="dt" sz="half" idx="10"/>
          </p:nvPr>
        </p:nvSpPr>
        <p:spPr/>
        <p:txBody>
          <a:bodyPr/>
          <a:lstStyle/>
          <a:p>
            <a:fld id="{05C68B11-C5A8-448C-8CE9-B1A273C79CFC}" type="datetimeFigureOut">
              <a:rPr lang="en-US" smtClean="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37162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Картина с надпис">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bg-BG" smtClean="0"/>
              <a:t>Редакт. стил загл. образец</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bg-BG" smtClean="0"/>
              <a:t>Щракнете върху иконата, за да добавите картина</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smtClean="0"/>
              <a:t>Редактиране на стиловете на текста в образеца</a:t>
            </a:r>
          </a:p>
        </p:txBody>
      </p:sp>
      <p:sp>
        <p:nvSpPr>
          <p:cNvPr id="5" name="Date Placeholder 4"/>
          <p:cNvSpPr>
            <a:spLocks noGrp="1"/>
          </p:cNvSpPr>
          <p:nvPr>
            <p:ph type="dt" sz="half" idx="10"/>
          </p:nvPr>
        </p:nvSpPr>
        <p:spPr/>
        <p:txBody>
          <a:bodyPr/>
          <a:lstStyle/>
          <a:p>
            <a:fld id="{C7616CA0-919D-4A49-9C8A-62FDFB3A5183}" type="datetimeFigureOut">
              <a:rPr lang="en-US" smtClean="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81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лавие и вертикален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mtClean="0"/>
              <a:t>Редакт. стил загл. образец</a:t>
            </a:r>
            <a:endParaRPr lang="en-US" dirty="0"/>
          </a:p>
        </p:txBody>
      </p:sp>
      <p:sp>
        <p:nvSpPr>
          <p:cNvPr id="3" name="Vertical Text Placeholder 2"/>
          <p:cNvSpPr>
            <a:spLocks noGrp="1"/>
          </p:cNvSpPr>
          <p:nvPr>
            <p:ph type="body" orient="vert" idx="1"/>
          </p:nvPr>
        </p:nvSpPr>
        <p:spPr/>
        <p:txBody>
          <a:bodyPr vert="eaVert"/>
          <a:lstStyle/>
          <a:p>
            <a:pPr lvl="0"/>
            <a:r>
              <a:rPr lang="bg-BG" smtClean="0"/>
              <a:t>Редактиране на стиловете на текста в образеца</a:t>
            </a:r>
          </a:p>
          <a:p>
            <a:pPr lvl="1"/>
            <a:r>
              <a:rPr lang="bg-BG" smtClean="0"/>
              <a:t>Второ ниво</a:t>
            </a:r>
          </a:p>
          <a:p>
            <a:pPr lvl="2"/>
            <a:r>
              <a:rPr lang="bg-BG" smtClean="0"/>
              <a:t>Трето ниво</a:t>
            </a:r>
          </a:p>
          <a:p>
            <a:pPr lvl="3"/>
            <a:r>
              <a:rPr lang="bg-BG" smtClean="0"/>
              <a:t>Четвърто ниво</a:t>
            </a:r>
          </a:p>
          <a:p>
            <a:pPr lvl="4"/>
            <a:r>
              <a:rPr lang="bg-BG" smtClean="0"/>
              <a:t>Пето ниво</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44606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но заглавие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bg-BG" smtClean="0"/>
              <a:t>Редакт. стил загл. образец</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bg-BG" smtClean="0"/>
              <a:t>Редактиране на стиловете на текста в образеца</a:t>
            </a:r>
          </a:p>
          <a:p>
            <a:pPr lvl="1"/>
            <a:r>
              <a:rPr lang="bg-BG" smtClean="0"/>
              <a:t>Второ ниво</a:t>
            </a:r>
          </a:p>
          <a:p>
            <a:pPr lvl="2"/>
            <a:r>
              <a:rPr lang="bg-BG" smtClean="0"/>
              <a:t>Трето ниво</a:t>
            </a:r>
          </a:p>
          <a:p>
            <a:pPr lvl="3"/>
            <a:r>
              <a:rPr lang="bg-BG" smtClean="0"/>
              <a:t>Четвърто ниво</a:t>
            </a:r>
          </a:p>
          <a:p>
            <a:pPr lvl="4"/>
            <a:r>
              <a:rPr lang="bg-BG" smtClean="0"/>
              <a:t>Пето ниво</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132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bg-BG" smtClean="0"/>
              <a:t>Редакт. стил загл. образец</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bg-BG" smtClean="0"/>
              <a:t>Редактиране на стиловете на текста в образеца</a:t>
            </a:r>
          </a:p>
          <a:p>
            <a:pPr lvl="1"/>
            <a:r>
              <a:rPr lang="bg-BG" smtClean="0"/>
              <a:t>Второ ниво</a:t>
            </a:r>
          </a:p>
          <a:p>
            <a:pPr lvl="2"/>
            <a:r>
              <a:rPr lang="bg-BG" smtClean="0"/>
              <a:t>Трето ниво</a:t>
            </a:r>
          </a:p>
          <a:p>
            <a:pPr lvl="3"/>
            <a:r>
              <a:rPr lang="bg-BG" smtClean="0"/>
              <a:t>Четвърто ниво</a:t>
            </a:r>
          </a:p>
          <a:p>
            <a:pPr lvl="4"/>
            <a:r>
              <a:rPr lang="bg-BG" smtClean="0"/>
              <a:t>Пето ниво</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smtClean="0"/>
              <a:pPr/>
              <a:t>9/6/2024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41394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2177511" y="798163"/>
            <a:ext cx="8803037" cy="1166608"/>
          </a:xfrm>
        </p:spPr>
        <p:txBody>
          <a:bodyPr>
            <a:normAutofit/>
          </a:bodyPr>
          <a:lstStyle/>
          <a:p>
            <a:r>
              <a:rPr lang="en-US" b="1" dirty="0" smtClean="0">
                <a:solidFill>
                  <a:schemeClr val="bg1"/>
                </a:solidFill>
                <a:latin typeface="Century" panose="02040604050505020304" pitchFamily="18" charset="0"/>
                <a:ea typeface="Adobe Heiti Std R" panose="020B0400000000000000" pitchFamily="34" charset="-128"/>
              </a:rPr>
              <a:t>Backup and storage </a:t>
            </a:r>
            <a:endParaRPr lang="en-US" b="1" dirty="0">
              <a:solidFill>
                <a:schemeClr val="bg1"/>
              </a:solidFill>
              <a:latin typeface="Century" panose="02040604050505020304" pitchFamily="18" charset="0"/>
              <a:ea typeface="Adobe Heiti Std R" panose="020B0400000000000000" pitchFamily="34" charset="-128"/>
            </a:endParaRPr>
          </a:p>
        </p:txBody>
      </p:sp>
      <p:sp>
        <p:nvSpPr>
          <p:cNvPr id="2" name="Subtitle 1"/>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923469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964401" y="772124"/>
            <a:ext cx="8934773" cy="1463040"/>
          </a:xfrm>
        </p:spPr>
        <p:txBody>
          <a:bodyPr>
            <a:normAutofit fontScale="90000"/>
          </a:bodyPr>
          <a:lstStyle/>
          <a:p>
            <a:pPr algn="l"/>
            <a:r>
              <a:rPr lang="en-US" dirty="0" smtClean="0">
                <a:solidFill>
                  <a:schemeClr val="accent1">
                    <a:lumMod val="40000"/>
                    <a:lumOff val="60000"/>
                  </a:schemeClr>
                </a:solidFill>
                <a:latin typeface="Century" panose="02040604050505020304" pitchFamily="18" charset="0"/>
                <a:ea typeface="Adobe Heiti Std R" panose="020B0400000000000000" pitchFamily="34" charset="-128"/>
              </a:rPr>
              <a:t>What</a:t>
            </a:r>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 will this presentation contain</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964401" y="2797444"/>
            <a:ext cx="9489206" cy="3038458"/>
          </a:xfrm>
        </p:spPr>
        <p:txBody>
          <a:bodyPr>
            <a:normAutofit fontScale="25000" lnSpcReduction="20000"/>
          </a:bodyPr>
          <a:lstStyle/>
          <a:p>
            <a:pPr marL="571500" indent="-571500">
              <a:buFont typeface="Arial" panose="020B0604020202020204" pitchFamily="34" charset="0"/>
              <a:buChar char="•"/>
            </a:pPr>
            <a:r>
              <a:rPr lang="en-US" sz="16000" dirty="0" smtClean="0">
                <a:solidFill>
                  <a:schemeClr val="bg1"/>
                </a:solidFill>
                <a:latin typeface="Century" panose="02040604050505020304" pitchFamily="18" charset="0"/>
              </a:rPr>
              <a:t>What is a backup and why is it done</a:t>
            </a:r>
          </a:p>
          <a:p>
            <a:pPr marL="571500" indent="-571500">
              <a:buFont typeface="Arial" panose="020B0604020202020204" pitchFamily="34" charset="0"/>
              <a:buChar char="•"/>
            </a:pPr>
            <a:r>
              <a:rPr lang="en-US" sz="16000" dirty="0" smtClean="0">
                <a:solidFill>
                  <a:schemeClr val="bg1"/>
                </a:solidFill>
                <a:latin typeface="Century" panose="02040604050505020304" pitchFamily="18" charset="0"/>
              </a:rPr>
              <a:t>Types of backup </a:t>
            </a:r>
          </a:p>
          <a:p>
            <a:pPr marL="571500" indent="-571500">
              <a:buFont typeface="Arial" panose="020B0604020202020204" pitchFamily="34" charset="0"/>
              <a:buChar char="•"/>
            </a:pPr>
            <a:r>
              <a:rPr lang="en-US" sz="16000" dirty="0" smtClean="0">
                <a:solidFill>
                  <a:schemeClr val="bg1"/>
                </a:solidFill>
                <a:latin typeface="Century" panose="02040604050505020304" pitchFamily="18" charset="0"/>
              </a:rPr>
              <a:t>Storage methods </a:t>
            </a:r>
          </a:p>
          <a:p>
            <a:pPr marL="571500" indent="-571500">
              <a:buFont typeface="Arial" panose="020B0604020202020204" pitchFamily="34" charset="0"/>
              <a:buChar char="•"/>
            </a:pPr>
            <a:r>
              <a:rPr lang="en-US" sz="16000" dirty="0" smtClean="0">
                <a:solidFill>
                  <a:schemeClr val="bg1"/>
                </a:solidFill>
                <a:latin typeface="Century" panose="02040604050505020304" pitchFamily="18" charset="0"/>
              </a:rPr>
              <a:t>Common </a:t>
            </a:r>
            <a:r>
              <a:rPr lang="en-US" sz="16000" dirty="0">
                <a:solidFill>
                  <a:schemeClr val="bg1"/>
                </a:solidFill>
                <a:latin typeface="Century" panose="02040604050505020304" pitchFamily="18" charset="0"/>
              </a:rPr>
              <a:t>issues with </a:t>
            </a:r>
            <a:r>
              <a:rPr lang="en-US" sz="16000" dirty="0" smtClean="0">
                <a:solidFill>
                  <a:schemeClr val="bg1"/>
                </a:solidFill>
                <a:latin typeface="Century" panose="02040604050505020304" pitchFamily="18" charset="0"/>
              </a:rPr>
              <a:t>backups</a:t>
            </a:r>
          </a:p>
          <a:p>
            <a:r>
              <a:rPr lang="en-US" sz="3900" dirty="0" smtClean="0">
                <a:solidFill>
                  <a:schemeClr val="bg1"/>
                </a:solidFill>
                <a:latin typeface="Century" panose="02040604050505020304" pitchFamily="18" charset="0"/>
              </a:rPr>
              <a:t> </a:t>
            </a:r>
            <a:endParaRPr lang="en-US" sz="3900" dirty="0">
              <a:solidFill>
                <a:schemeClr val="bg1"/>
              </a:solidFill>
              <a:latin typeface="Century" panose="02040604050505020304" pitchFamily="18" charset="0"/>
            </a:endParaRPr>
          </a:p>
          <a:p>
            <a:pPr marL="571500" indent="-571500">
              <a:buFont typeface="Arial" panose="020B0604020202020204" pitchFamily="34" charset="0"/>
              <a:buChar char="•"/>
            </a:pPr>
            <a:endParaRPr lang="en-US" sz="3900" dirty="0" smtClean="0">
              <a:solidFill>
                <a:schemeClr val="bg1"/>
              </a:solidFill>
              <a:latin typeface="Century" panose="02040604050505020304" pitchFamily="18" charset="0"/>
            </a:endParaRPr>
          </a:p>
          <a:p>
            <a:pPr marL="571500" indent="-571500">
              <a:buFont typeface="Arial" panose="020B0604020202020204" pitchFamily="34" charset="0"/>
              <a:buChar char="•"/>
            </a:pPr>
            <a:endParaRPr lang="en-US" sz="3600" dirty="0" smtClean="0">
              <a:solidFill>
                <a:schemeClr val="bg1"/>
              </a:solidFill>
              <a:latin typeface="Century" panose="02040604050505020304" pitchFamily="18" charset="0"/>
            </a:endParaRPr>
          </a:p>
          <a:p>
            <a:pPr marL="571500" indent="-571500">
              <a:buFont typeface="Arial" panose="020B0604020202020204" pitchFamily="34" charset="0"/>
              <a:buChar char="•"/>
            </a:pPr>
            <a:endParaRPr lang="en-US" sz="3600" dirty="0" smtClean="0">
              <a:solidFill>
                <a:schemeClr val="bg1"/>
              </a:solidFill>
              <a:latin typeface="Century" panose="02040604050505020304" pitchFamily="18" charset="0"/>
            </a:endParaRPr>
          </a:p>
        </p:txBody>
      </p:sp>
    </p:spTree>
    <p:extLst>
      <p:ext uri="{BB962C8B-B14F-4D97-AF65-F5344CB8AC3E}">
        <p14:creationId xmlns:p14="http://schemas.microsoft.com/office/powerpoint/2010/main" val="275983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964401" y="772124"/>
            <a:ext cx="8934773" cy="1463040"/>
          </a:xfrm>
        </p:spPr>
        <p:txBody>
          <a:bodyPr>
            <a:normAutofit/>
          </a:bodyPr>
          <a:lstStyle/>
          <a:p>
            <a:pPr algn="l"/>
            <a:r>
              <a:rPr lang="en-US" dirty="0" smtClean="0">
                <a:solidFill>
                  <a:schemeClr val="accent1">
                    <a:lumMod val="40000"/>
                    <a:lumOff val="60000"/>
                  </a:schemeClr>
                </a:solidFill>
                <a:latin typeface="Century" panose="02040604050505020304" pitchFamily="18" charset="0"/>
                <a:ea typeface="Adobe Heiti Std R" panose="020B0400000000000000" pitchFamily="34" charset="-128"/>
              </a:rPr>
              <a:t>Backup process</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964401" y="2797444"/>
            <a:ext cx="9489206" cy="3038458"/>
          </a:xfrm>
        </p:spPr>
        <p:txBody>
          <a:bodyPr>
            <a:normAutofit fontScale="25000" lnSpcReduction="20000"/>
          </a:bodyPr>
          <a:lstStyle/>
          <a:p>
            <a:pPr marL="571500" indent="-571500">
              <a:buFont typeface="Arial" panose="020B0604020202020204" pitchFamily="34" charset="0"/>
              <a:buChar char="•"/>
            </a:pPr>
            <a:endParaRPr lang="en-US" sz="16000" dirty="0">
              <a:solidFill>
                <a:schemeClr val="bg1"/>
              </a:solidFill>
              <a:latin typeface="Century" panose="02040604050505020304" pitchFamily="18" charset="0"/>
            </a:endParaRPr>
          </a:p>
          <a:p>
            <a:pPr marL="571500" indent="-571500">
              <a:buFont typeface="Arial" panose="020B0604020202020204" pitchFamily="34" charset="0"/>
              <a:buChar char="•"/>
            </a:pPr>
            <a:r>
              <a:rPr lang="en-US" sz="16000" dirty="0">
                <a:solidFill>
                  <a:schemeClr val="bg1"/>
                </a:solidFill>
                <a:latin typeface="Century" panose="02040604050505020304" pitchFamily="18" charset="0"/>
              </a:rPr>
              <a:t>In information technology, a backup, or data backup, or the process of backing up, refers to the copying into an archive file of computer data so it may be used to restore the original after a data loss event. </a:t>
            </a:r>
            <a:endParaRPr lang="en-US" sz="16000" dirty="0" smtClean="0">
              <a:solidFill>
                <a:schemeClr val="bg1"/>
              </a:solidFill>
              <a:latin typeface="Century" panose="02040604050505020304" pitchFamily="18" charset="0"/>
            </a:endParaRPr>
          </a:p>
          <a:p>
            <a:pPr marL="571500" indent="-571500">
              <a:buFont typeface="Arial" panose="020B0604020202020204" pitchFamily="34" charset="0"/>
              <a:buChar char="•"/>
            </a:pPr>
            <a:r>
              <a:rPr lang="en-US" sz="16000" dirty="0" smtClean="0">
                <a:solidFill>
                  <a:schemeClr val="bg1"/>
                </a:solidFill>
                <a:latin typeface="Century" panose="02040604050505020304" pitchFamily="18" charset="0"/>
              </a:rPr>
              <a:t>The client that sends the backup data is called SOURCE and the recipient is called DATA STORAGE </a:t>
            </a:r>
          </a:p>
          <a:p>
            <a:pPr marL="571500" indent="-571500">
              <a:buFont typeface="Arial" panose="020B0604020202020204" pitchFamily="34" charset="0"/>
              <a:buChar char="•"/>
            </a:pPr>
            <a:endParaRPr lang="en-US" sz="3900" dirty="0">
              <a:solidFill>
                <a:schemeClr val="bg1"/>
              </a:solidFill>
              <a:latin typeface="Century" panose="02040604050505020304" pitchFamily="18" charset="0"/>
            </a:endParaRPr>
          </a:p>
          <a:p>
            <a:pPr marL="571500" indent="-571500">
              <a:buFont typeface="Arial" panose="020B0604020202020204" pitchFamily="34" charset="0"/>
              <a:buChar char="•"/>
            </a:pPr>
            <a:endParaRPr lang="en-US" sz="3900" dirty="0" smtClean="0">
              <a:solidFill>
                <a:schemeClr val="bg1"/>
              </a:solidFill>
              <a:latin typeface="Century" panose="02040604050505020304" pitchFamily="18" charset="0"/>
            </a:endParaRPr>
          </a:p>
          <a:p>
            <a:pPr marL="571500" indent="-571500">
              <a:buFont typeface="Arial" panose="020B0604020202020204" pitchFamily="34" charset="0"/>
              <a:buChar char="•"/>
            </a:pPr>
            <a:endParaRPr lang="en-US" sz="3600" dirty="0" smtClean="0">
              <a:solidFill>
                <a:schemeClr val="bg1"/>
              </a:solidFill>
              <a:latin typeface="Century" panose="02040604050505020304" pitchFamily="18" charset="0"/>
            </a:endParaRPr>
          </a:p>
          <a:p>
            <a:pPr marL="571500" indent="-571500">
              <a:buFont typeface="Arial" panose="020B0604020202020204" pitchFamily="34" charset="0"/>
              <a:buChar char="•"/>
            </a:pPr>
            <a:endParaRPr lang="en-US" sz="3600" dirty="0" smtClean="0">
              <a:solidFill>
                <a:schemeClr val="bg1"/>
              </a:solidFill>
              <a:latin typeface="Century" panose="02040604050505020304" pitchFamily="18" charset="0"/>
            </a:endParaRPr>
          </a:p>
        </p:txBody>
      </p:sp>
    </p:spTree>
    <p:extLst>
      <p:ext uri="{BB962C8B-B14F-4D97-AF65-F5344CB8AC3E}">
        <p14:creationId xmlns:p14="http://schemas.microsoft.com/office/powerpoint/2010/main" val="1898051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1034143" y="686882"/>
            <a:ext cx="7772400" cy="1463040"/>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Backup storage</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1034143" y="2038027"/>
            <a:ext cx="9248983" cy="4162085"/>
          </a:xfrm>
        </p:spPr>
        <p:txBody>
          <a:bodyPr>
            <a:normAutofit fontScale="25000" lnSpcReduction="20000"/>
          </a:bodyPr>
          <a:lstStyle/>
          <a:p>
            <a:pPr marL="571500" indent="-571500">
              <a:buFont typeface="Arial" panose="020B0604020202020204" pitchFamily="34" charset="0"/>
              <a:buChar char="•"/>
            </a:pPr>
            <a:r>
              <a:rPr lang="en-US" sz="14400" dirty="0">
                <a:solidFill>
                  <a:schemeClr val="bg1"/>
                </a:solidFill>
                <a:latin typeface="Century" panose="02040604050505020304" pitchFamily="18" charset="0"/>
              </a:rPr>
              <a:t>Backup storage refers to a storage device, medium or facility that is used for storing copies and instances of backup data. Backup storage enables the maintenance, management, retrieval and restoration of backup data for any individual, application, computer, server or any computing device</a:t>
            </a:r>
            <a:r>
              <a:rPr lang="en-US" sz="14400" dirty="0" smtClean="0">
                <a:solidFill>
                  <a:schemeClr val="bg1"/>
                </a:solidFill>
                <a:latin typeface="Century" panose="02040604050505020304" pitchFamily="18" charset="0"/>
              </a:rPr>
              <a:t>.</a:t>
            </a:r>
          </a:p>
          <a:p>
            <a:pPr marL="571500" indent="-571500">
              <a:buFont typeface="Arial" panose="020B0604020202020204" pitchFamily="34" charset="0"/>
              <a:buChar char="•"/>
            </a:pPr>
            <a:endParaRPr lang="en-US" sz="14400" dirty="0" smtClean="0">
              <a:solidFill>
                <a:schemeClr val="bg1"/>
              </a:solidFill>
              <a:latin typeface="Century" panose="02040604050505020304" pitchFamily="18" charset="0"/>
            </a:endParaRPr>
          </a:p>
          <a:p>
            <a:pPr marL="571500" indent="-571500">
              <a:buFont typeface="Arial" panose="020B0604020202020204" pitchFamily="34" charset="0"/>
              <a:buChar char="•"/>
            </a:pPr>
            <a:endParaRPr lang="en-US" sz="3600" dirty="0" smtClean="0">
              <a:latin typeface="Century" panose="02040604050505020304" pitchFamily="18" charset="0"/>
            </a:endParaRPr>
          </a:p>
        </p:txBody>
      </p:sp>
    </p:spTree>
    <p:extLst>
      <p:ext uri="{BB962C8B-B14F-4D97-AF65-F5344CB8AC3E}">
        <p14:creationId xmlns:p14="http://schemas.microsoft.com/office/powerpoint/2010/main" val="360024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720671" y="322672"/>
            <a:ext cx="7772400" cy="1463040"/>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Backup storage</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813660" y="1263112"/>
            <a:ext cx="9577954" cy="5594888"/>
          </a:xfrm>
        </p:spPr>
        <p:txBody>
          <a:bodyPr>
            <a:noAutofit/>
          </a:bodyPr>
          <a:lstStyle/>
          <a:p>
            <a:pPr marL="571500" indent="-571500">
              <a:buFont typeface="Arial" panose="020B0604020202020204" pitchFamily="34" charset="0"/>
              <a:buChar char="•"/>
            </a:pPr>
            <a:r>
              <a:rPr lang="en-US" sz="2400" dirty="0">
                <a:solidFill>
                  <a:schemeClr val="bg1"/>
                </a:solidFill>
                <a:latin typeface="Century" panose="02040604050505020304" pitchFamily="18" charset="0"/>
              </a:rPr>
              <a:t>Backup storage is primarily an additional storage device used for keeping backup data. </a:t>
            </a:r>
            <a:endParaRPr lang="en-US" sz="2400" dirty="0" smtClean="0">
              <a:solidFill>
                <a:schemeClr val="bg1"/>
              </a:solidFill>
              <a:latin typeface="Century" panose="02040604050505020304" pitchFamily="18" charset="0"/>
            </a:endParaRPr>
          </a:p>
          <a:p>
            <a:pPr marL="571500" indent="-571500">
              <a:buFont typeface="Arial" panose="020B0604020202020204" pitchFamily="34" charset="0"/>
              <a:buChar char="•"/>
            </a:pPr>
            <a:r>
              <a:rPr lang="en-US" sz="2400" dirty="0" smtClean="0">
                <a:solidFill>
                  <a:schemeClr val="bg1"/>
                </a:solidFill>
                <a:latin typeface="Century" panose="02040604050505020304" pitchFamily="18" charset="0"/>
              </a:rPr>
              <a:t>Typically</a:t>
            </a:r>
            <a:r>
              <a:rPr lang="en-US" sz="2400" dirty="0">
                <a:solidFill>
                  <a:schemeClr val="bg1"/>
                </a:solidFill>
                <a:latin typeface="Century" panose="02040604050505020304" pitchFamily="18" charset="0"/>
              </a:rPr>
              <a:t>, it is external to the system, server or device for which the backup data is created, such as a local/remote storage server. </a:t>
            </a:r>
            <a:endParaRPr lang="en-US" sz="2400" dirty="0" smtClean="0">
              <a:solidFill>
                <a:schemeClr val="bg1"/>
              </a:solidFill>
              <a:latin typeface="Century" panose="02040604050505020304" pitchFamily="18" charset="0"/>
            </a:endParaRPr>
          </a:p>
          <a:p>
            <a:pPr marL="571500" indent="-571500">
              <a:buFont typeface="Arial" panose="020B0604020202020204" pitchFamily="34" charset="0"/>
              <a:buChar char="•"/>
            </a:pPr>
            <a:r>
              <a:rPr lang="en-US" sz="2400" dirty="0" smtClean="0">
                <a:solidFill>
                  <a:schemeClr val="bg1"/>
                </a:solidFill>
                <a:latin typeface="Century" panose="02040604050505020304" pitchFamily="18" charset="0"/>
              </a:rPr>
              <a:t>The </a:t>
            </a:r>
            <a:r>
              <a:rPr lang="en-US" sz="2400" dirty="0">
                <a:solidFill>
                  <a:schemeClr val="bg1"/>
                </a:solidFill>
                <a:latin typeface="Century" panose="02040604050505020304" pitchFamily="18" charset="0"/>
              </a:rPr>
              <a:t>backup storage itself can be a hard disk drive, tape drive, compact disk drive or any mass storage medium installed within a computer or storage server. In enterprise IT environments, the backup storage medium/technology used can be RAID, a storage area network or a network-attached storage system. </a:t>
            </a:r>
            <a:endParaRPr lang="en-US" sz="2400" dirty="0" smtClean="0">
              <a:solidFill>
                <a:schemeClr val="bg1"/>
              </a:solidFill>
              <a:latin typeface="Century" panose="02040604050505020304" pitchFamily="18" charset="0"/>
            </a:endParaRPr>
          </a:p>
          <a:p>
            <a:pPr marL="571500" indent="-571500">
              <a:buFont typeface="Arial" panose="020B0604020202020204" pitchFamily="34" charset="0"/>
              <a:buChar char="•"/>
            </a:pPr>
            <a:r>
              <a:rPr lang="en-US" sz="2400" dirty="0" smtClean="0">
                <a:solidFill>
                  <a:schemeClr val="bg1"/>
                </a:solidFill>
                <a:latin typeface="Century" panose="02040604050505020304" pitchFamily="18" charset="0"/>
              </a:rPr>
              <a:t>Backup </a:t>
            </a:r>
            <a:r>
              <a:rPr lang="en-US" sz="2400" dirty="0">
                <a:solidFill>
                  <a:schemeClr val="bg1"/>
                </a:solidFill>
                <a:latin typeface="Century" panose="02040604050505020304" pitchFamily="18" charset="0"/>
              </a:rPr>
              <a:t>software or a backup manager is used to create, store, manage and retrieve backup data to and from the backed up application/device and the backup storage location.</a:t>
            </a:r>
            <a:endParaRPr lang="en-US" sz="2400" dirty="0" smtClean="0">
              <a:solidFill>
                <a:schemeClr val="bg1"/>
              </a:solidFill>
              <a:latin typeface="Century" panose="02040604050505020304" pitchFamily="18" charset="0"/>
            </a:endParaRPr>
          </a:p>
        </p:txBody>
      </p:sp>
    </p:spTree>
    <p:extLst>
      <p:ext uri="{BB962C8B-B14F-4D97-AF65-F5344CB8AC3E}">
        <p14:creationId xmlns:p14="http://schemas.microsoft.com/office/powerpoint/2010/main" val="3465844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1034143" y="577563"/>
            <a:ext cx="7772400" cy="1463040"/>
          </a:xfrm>
        </p:spPr>
        <p:txBody>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Types of backup</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1034143" y="1890793"/>
            <a:ext cx="10020300" cy="3256541"/>
          </a:xfrm>
        </p:spPr>
        <p:txBody>
          <a:bodyPr>
            <a:normAutofit fontScale="25000" lnSpcReduction="20000"/>
          </a:bodyPr>
          <a:lstStyle/>
          <a:p>
            <a:pPr marL="571500" indent="-571500">
              <a:buFont typeface="Arial" panose="020B0604020202020204" pitchFamily="34" charset="0"/>
              <a:buChar char="•"/>
            </a:pPr>
            <a:r>
              <a:rPr lang="en-US" sz="16000" dirty="0" smtClean="0">
                <a:solidFill>
                  <a:schemeClr val="bg1"/>
                </a:solidFill>
                <a:latin typeface="Century" panose="02040604050505020304" pitchFamily="18" charset="0"/>
              </a:rPr>
              <a:t>Four most common types of backup</a:t>
            </a:r>
          </a:p>
          <a:p>
            <a:pPr marL="571500" indent="-571500">
              <a:buFont typeface="Arial" panose="020B0604020202020204" pitchFamily="34" charset="0"/>
              <a:buChar char="•"/>
            </a:pPr>
            <a:r>
              <a:rPr lang="en-US" sz="16000" dirty="0">
                <a:solidFill>
                  <a:schemeClr val="bg1"/>
                </a:solidFill>
                <a:latin typeface="Century" panose="02040604050505020304" pitchFamily="18" charset="0"/>
              </a:rPr>
              <a:t>Full backup</a:t>
            </a:r>
            <a:r>
              <a:rPr lang="en-US" sz="16000" dirty="0" smtClean="0">
                <a:solidFill>
                  <a:schemeClr val="bg1"/>
                </a:solidFill>
                <a:latin typeface="Century" panose="02040604050505020304" pitchFamily="18" charset="0"/>
              </a:rPr>
              <a:t> </a:t>
            </a:r>
          </a:p>
          <a:p>
            <a:pPr marL="571500" indent="-571500">
              <a:buFont typeface="Arial" panose="020B0604020202020204" pitchFamily="34" charset="0"/>
              <a:buChar char="•"/>
            </a:pPr>
            <a:r>
              <a:rPr lang="en-US" sz="16000" dirty="0" smtClean="0">
                <a:solidFill>
                  <a:schemeClr val="bg1"/>
                </a:solidFill>
                <a:latin typeface="Century" panose="02040604050505020304" pitchFamily="18" charset="0"/>
              </a:rPr>
              <a:t>Incremental backup</a:t>
            </a:r>
          </a:p>
          <a:p>
            <a:pPr marL="571500" indent="-571500">
              <a:buFont typeface="Arial" panose="020B0604020202020204" pitchFamily="34" charset="0"/>
              <a:buChar char="•"/>
            </a:pPr>
            <a:r>
              <a:rPr lang="en-US" sz="16000" dirty="0" smtClean="0">
                <a:solidFill>
                  <a:schemeClr val="bg1"/>
                </a:solidFill>
                <a:latin typeface="Century" panose="02040604050505020304" pitchFamily="18" charset="0"/>
              </a:rPr>
              <a:t>Differential backup </a:t>
            </a:r>
          </a:p>
          <a:p>
            <a:pPr marL="571500" indent="-571500">
              <a:buFont typeface="Arial" panose="020B0604020202020204" pitchFamily="34" charset="0"/>
              <a:buChar char="•"/>
            </a:pPr>
            <a:r>
              <a:rPr lang="en-US" sz="16000" dirty="0" smtClean="0">
                <a:solidFill>
                  <a:schemeClr val="bg1"/>
                </a:solidFill>
                <a:latin typeface="Century" panose="02040604050505020304" pitchFamily="18" charset="0"/>
              </a:rPr>
              <a:t>Mirror backup </a:t>
            </a:r>
          </a:p>
          <a:p>
            <a:pPr marL="571500" indent="-571500">
              <a:buFont typeface="Arial" panose="020B0604020202020204" pitchFamily="34" charset="0"/>
              <a:buChar char="•"/>
            </a:pPr>
            <a:endParaRPr lang="en-US" sz="4000" dirty="0" smtClean="0">
              <a:solidFill>
                <a:schemeClr val="bg1"/>
              </a:solidFill>
            </a:endParaRPr>
          </a:p>
        </p:txBody>
      </p:sp>
    </p:spTree>
    <p:extLst>
      <p:ext uri="{BB962C8B-B14F-4D97-AF65-F5344CB8AC3E}">
        <p14:creationId xmlns:p14="http://schemas.microsoft.com/office/powerpoint/2010/main" val="21199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756834" y="633467"/>
            <a:ext cx="7772400" cy="1463040"/>
          </a:xfrm>
        </p:spPr>
        <p:txBody>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Full backup</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756834" y="1709049"/>
            <a:ext cx="10812651" cy="3468123"/>
          </a:xfrm>
        </p:spPr>
        <p:txBody>
          <a:bodyPr>
            <a:normAutofit/>
          </a:bodyPr>
          <a:lstStyle/>
          <a:p>
            <a:pPr marL="571500" indent="-571500">
              <a:buFont typeface="Arial" panose="020B0604020202020204" pitchFamily="34" charset="0"/>
              <a:buChar char="•"/>
            </a:pPr>
            <a:r>
              <a:rPr lang="en-US" sz="3000" dirty="0" smtClean="0">
                <a:solidFill>
                  <a:schemeClr val="bg1"/>
                </a:solidFill>
                <a:latin typeface="Century" panose="02040604050505020304" pitchFamily="18" charset="0"/>
              </a:rPr>
              <a:t>Every single file and folder in the system is backed up </a:t>
            </a:r>
          </a:p>
          <a:p>
            <a:pPr marL="571500" indent="-571500">
              <a:buFont typeface="Arial" panose="020B0604020202020204" pitchFamily="34" charset="0"/>
              <a:buChar char="•"/>
            </a:pPr>
            <a:r>
              <a:rPr lang="en-US" sz="3000" dirty="0" smtClean="0">
                <a:solidFill>
                  <a:schemeClr val="bg1"/>
                </a:solidFill>
                <a:latin typeface="Century" panose="02040604050505020304" pitchFamily="18" charset="0"/>
              </a:rPr>
              <a:t>Takes longer </a:t>
            </a:r>
          </a:p>
          <a:p>
            <a:pPr marL="571500" indent="-571500">
              <a:buFont typeface="Arial" panose="020B0604020202020204" pitchFamily="34" charset="0"/>
              <a:buChar char="•"/>
            </a:pPr>
            <a:r>
              <a:rPr lang="en-US" sz="3000" dirty="0" smtClean="0">
                <a:solidFill>
                  <a:schemeClr val="bg1"/>
                </a:solidFill>
                <a:latin typeface="Century" panose="02040604050505020304" pitchFamily="18" charset="0"/>
              </a:rPr>
              <a:t>Restoration process is easier and faster </a:t>
            </a:r>
          </a:p>
          <a:p>
            <a:pPr marL="571500" indent="-571500">
              <a:buFont typeface="Arial" panose="020B0604020202020204" pitchFamily="34" charset="0"/>
              <a:buChar char="•"/>
            </a:pPr>
            <a:r>
              <a:rPr lang="en-US" sz="3000" dirty="0" smtClean="0">
                <a:solidFill>
                  <a:schemeClr val="bg1"/>
                </a:solidFill>
                <a:latin typeface="Century" panose="02040604050505020304" pitchFamily="18" charset="0"/>
              </a:rPr>
              <a:t>Is used for the other methods of backup </a:t>
            </a:r>
          </a:p>
          <a:p>
            <a:endParaRPr lang="en-US" sz="3000" dirty="0" smtClean="0">
              <a:solidFill>
                <a:schemeClr val="bg1"/>
              </a:solidFill>
              <a:latin typeface="Century" panose="02040604050505020304" pitchFamily="18" charset="0"/>
            </a:endParaRPr>
          </a:p>
        </p:txBody>
      </p:sp>
      <p:pic>
        <p:nvPicPr>
          <p:cNvPr id="15364" name="Picture 4" descr="Image result for full backu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4989" y="4637315"/>
            <a:ext cx="6096000" cy="2133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43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756833" y="564002"/>
            <a:ext cx="9038095" cy="1463040"/>
          </a:xfrm>
        </p:spPr>
        <p:txBody>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Incremental backup </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756833" y="1536887"/>
            <a:ext cx="9929248" cy="4298225"/>
          </a:xfrm>
        </p:spPr>
        <p:txBody>
          <a:bodyPr>
            <a:noAutofit/>
          </a:bodyPr>
          <a:lstStyle/>
          <a:p>
            <a:pPr marL="571500" indent="-571500">
              <a:buFont typeface="Arial" panose="020B0604020202020204" pitchFamily="34" charset="0"/>
              <a:buChar char="•"/>
            </a:pPr>
            <a:r>
              <a:rPr lang="en-US" sz="3600" dirty="0" smtClean="0">
                <a:solidFill>
                  <a:schemeClr val="bg1"/>
                </a:solidFill>
                <a:latin typeface="Century" panose="02040604050505020304" pitchFamily="18" charset="0"/>
              </a:rPr>
              <a:t>Only the initial backup is full</a:t>
            </a:r>
          </a:p>
          <a:p>
            <a:pPr marL="571500" indent="-571500">
              <a:buFont typeface="Arial" panose="020B0604020202020204" pitchFamily="34" charset="0"/>
              <a:buChar char="•"/>
            </a:pPr>
            <a:r>
              <a:rPr lang="en-US" sz="3600" dirty="0" err="1" smtClean="0">
                <a:solidFill>
                  <a:schemeClr val="bg1"/>
                </a:solidFill>
                <a:latin typeface="Century" panose="02040604050505020304" pitchFamily="18" charset="0"/>
              </a:rPr>
              <a:t>Subsiquent</a:t>
            </a:r>
            <a:r>
              <a:rPr lang="en-US" sz="3600" dirty="0" smtClean="0">
                <a:solidFill>
                  <a:schemeClr val="bg1"/>
                </a:solidFill>
                <a:latin typeface="Century" panose="02040604050505020304" pitchFamily="18" charset="0"/>
              </a:rPr>
              <a:t> backups only store changes that were made since the last backup </a:t>
            </a:r>
          </a:p>
          <a:p>
            <a:pPr marL="571500" indent="-571500">
              <a:buFont typeface="Arial" panose="020B0604020202020204" pitchFamily="34" charset="0"/>
              <a:buChar char="•"/>
            </a:pPr>
            <a:r>
              <a:rPr lang="en-US" sz="3600" dirty="0" smtClean="0">
                <a:solidFill>
                  <a:schemeClr val="bg1"/>
                </a:solidFill>
                <a:latin typeface="Century" panose="02040604050505020304" pitchFamily="18" charset="0"/>
              </a:rPr>
              <a:t>The process restoring data is longer </a:t>
            </a:r>
          </a:p>
          <a:p>
            <a:pPr marL="571500" indent="-571500">
              <a:buFont typeface="Arial" panose="020B0604020202020204" pitchFamily="34" charset="0"/>
              <a:buChar char="•"/>
            </a:pPr>
            <a:r>
              <a:rPr lang="en-US" sz="3600" dirty="0" smtClean="0">
                <a:solidFill>
                  <a:schemeClr val="bg1"/>
                </a:solidFill>
                <a:latin typeface="Century" panose="02040604050505020304" pitchFamily="18" charset="0"/>
              </a:rPr>
              <a:t>Backup process is much faster</a:t>
            </a:r>
          </a:p>
          <a:p>
            <a:pPr marL="571500" indent="-571500">
              <a:buFont typeface="Arial" panose="020B0604020202020204" pitchFamily="34" charset="0"/>
              <a:buChar char="•"/>
            </a:pPr>
            <a:endParaRPr lang="en-US" sz="3600" dirty="0" smtClean="0">
              <a:solidFill>
                <a:schemeClr val="bg1"/>
              </a:solidFill>
              <a:latin typeface="Century" panose="02040604050505020304" pitchFamily="18" charset="0"/>
            </a:endParaRPr>
          </a:p>
        </p:txBody>
      </p:sp>
      <p:pic>
        <p:nvPicPr>
          <p:cNvPr id="13314" name="Picture 2" descr="Image result for incremental backu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8067" y="4811744"/>
            <a:ext cx="3119145" cy="1996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588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609600" y="564002"/>
            <a:ext cx="9983492" cy="1280296"/>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Differential backup </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609600" y="1588576"/>
            <a:ext cx="9611532" cy="3449356"/>
          </a:xfrm>
        </p:spPr>
        <p:txBody>
          <a:bodyPr>
            <a:noAutofit/>
          </a:bodyPr>
          <a:lstStyle/>
          <a:p>
            <a:pPr marL="571500" indent="-571500">
              <a:buFont typeface="Arial" panose="020B0604020202020204" pitchFamily="34" charset="0"/>
              <a:buChar char="•"/>
            </a:pPr>
            <a:r>
              <a:rPr lang="en-US" sz="2400" dirty="0" smtClean="0">
                <a:solidFill>
                  <a:schemeClr val="bg1"/>
                </a:solidFill>
                <a:latin typeface="Century" panose="02040604050505020304" pitchFamily="18" charset="0"/>
              </a:rPr>
              <a:t>Only the initial backup is full</a:t>
            </a:r>
          </a:p>
          <a:p>
            <a:pPr marL="571500" indent="-571500">
              <a:buFont typeface="Arial" panose="020B0604020202020204" pitchFamily="34" charset="0"/>
              <a:buChar char="•"/>
            </a:pPr>
            <a:r>
              <a:rPr lang="en-US" sz="2400" dirty="0" smtClean="0">
                <a:solidFill>
                  <a:schemeClr val="bg1"/>
                </a:solidFill>
                <a:latin typeface="Century" panose="02040604050505020304" pitchFamily="18" charset="0"/>
              </a:rPr>
              <a:t>Subsequent </a:t>
            </a:r>
            <a:r>
              <a:rPr lang="en-US" sz="2400" dirty="0" smtClean="0">
                <a:solidFill>
                  <a:schemeClr val="bg1"/>
                </a:solidFill>
                <a:latin typeface="Century" panose="02040604050505020304" pitchFamily="18" charset="0"/>
              </a:rPr>
              <a:t>backups only store changes that were made since the last backup </a:t>
            </a:r>
          </a:p>
          <a:p>
            <a:pPr marL="571500" indent="-571500">
              <a:buFont typeface="Arial" panose="020B0604020202020204" pitchFamily="34" charset="0"/>
              <a:buChar char="•"/>
            </a:pPr>
            <a:r>
              <a:rPr lang="en-US" sz="2400" dirty="0">
                <a:solidFill>
                  <a:schemeClr val="bg1"/>
                </a:solidFill>
                <a:latin typeface="Century" panose="02040604050505020304" pitchFamily="18" charset="0"/>
              </a:rPr>
              <a:t>The difference is that while an incremental backup only includes the data that has changed since the previous backup, a differential backup contains all of the data that has changed since the last full backup</a:t>
            </a:r>
            <a:r>
              <a:rPr lang="en-US" sz="2400" dirty="0" smtClean="0">
                <a:solidFill>
                  <a:schemeClr val="bg1"/>
                </a:solidFill>
                <a:latin typeface="Century" panose="02040604050505020304" pitchFamily="18" charset="0"/>
              </a:rPr>
              <a:t>.</a:t>
            </a:r>
          </a:p>
        </p:txBody>
      </p:sp>
      <p:pic>
        <p:nvPicPr>
          <p:cNvPr id="14340" name="Picture 4" descr="Image result for differential backu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880" y="4584090"/>
            <a:ext cx="4748738" cy="2160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07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601850" y="533006"/>
            <a:ext cx="7772400" cy="1164059"/>
          </a:xfrm>
        </p:spPr>
        <p:txBody>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Mirror backup </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601850" y="1538330"/>
            <a:ext cx="10020300" cy="5040699"/>
          </a:xfrm>
        </p:spPr>
        <p:txBody>
          <a:bodyPr>
            <a:noAutofit/>
          </a:bodyPr>
          <a:lstStyle/>
          <a:p>
            <a:pPr marL="571500" indent="-571500">
              <a:buFont typeface="Arial" panose="020B0604020202020204" pitchFamily="34" charset="0"/>
              <a:buChar char="•"/>
            </a:pPr>
            <a:r>
              <a:rPr lang="en-US" sz="2800" dirty="0" smtClean="0">
                <a:solidFill>
                  <a:schemeClr val="bg1"/>
                </a:solidFill>
                <a:latin typeface="Century" panose="02040604050505020304" pitchFamily="18" charset="0"/>
              </a:rPr>
              <a:t>Only the initial backup is full</a:t>
            </a:r>
          </a:p>
          <a:p>
            <a:pPr marL="571500" indent="-571500">
              <a:buFont typeface="Arial" panose="020B0604020202020204" pitchFamily="34" charset="0"/>
              <a:buChar char="•"/>
            </a:pPr>
            <a:r>
              <a:rPr lang="en-US" sz="2800" dirty="0">
                <a:solidFill>
                  <a:schemeClr val="bg1"/>
                </a:solidFill>
                <a:latin typeface="Century" panose="02040604050505020304" pitchFamily="18" charset="0"/>
              </a:rPr>
              <a:t>Mirror backups are as the name suggests a mirror of the source being backed </a:t>
            </a:r>
            <a:r>
              <a:rPr lang="en-US" sz="2800" dirty="0" smtClean="0">
                <a:solidFill>
                  <a:schemeClr val="bg1"/>
                </a:solidFill>
                <a:latin typeface="Century" panose="02040604050505020304" pitchFamily="18" charset="0"/>
              </a:rPr>
              <a:t>up.</a:t>
            </a:r>
          </a:p>
          <a:p>
            <a:pPr marL="571500" indent="-571500">
              <a:buFont typeface="Arial" panose="020B0604020202020204" pitchFamily="34" charset="0"/>
              <a:buChar char="•"/>
            </a:pPr>
            <a:r>
              <a:rPr lang="en-US" sz="2800" dirty="0">
                <a:solidFill>
                  <a:schemeClr val="bg1"/>
                </a:solidFill>
                <a:latin typeface="Century" panose="02040604050505020304" pitchFamily="18" charset="0"/>
              </a:rPr>
              <a:t>With mirror backups, when a file in the source is deleted, that file is eventually also deleted in the mirror backup</a:t>
            </a:r>
            <a:r>
              <a:rPr lang="en-US" sz="2800" dirty="0" smtClean="0">
                <a:solidFill>
                  <a:schemeClr val="bg1"/>
                </a:solidFill>
                <a:latin typeface="Century" panose="02040604050505020304" pitchFamily="18" charset="0"/>
              </a:rPr>
              <a:t>.</a:t>
            </a:r>
          </a:p>
          <a:p>
            <a:pPr marL="571500" indent="-571500">
              <a:buFont typeface="Arial" panose="020B0604020202020204" pitchFamily="34" charset="0"/>
              <a:buChar char="•"/>
            </a:pPr>
            <a:r>
              <a:rPr lang="en-US" sz="2800" dirty="0">
                <a:solidFill>
                  <a:schemeClr val="bg1"/>
                </a:solidFill>
                <a:latin typeface="Century" panose="02040604050505020304" pitchFamily="18" charset="0"/>
              </a:rPr>
              <a:t>Because of this, mirror backups should be used with caution as a file that is deleted by accident, sabotage or through a virus may also cause that same file in mirror to be deleted as well. Some do not consider a mirror to be a </a:t>
            </a:r>
            <a:r>
              <a:rPr lang="en-US" sz="2800" dirty="0" smtClean="0">
                <a:solidFill>
                  <a:schemeClr val="bg1"/>
                </a:solidFill>
                <a:latin typeface="Century" panose="02040604050505020304" pitchFamily="18" charset="0"/>
              </a:rPr>
              <a:t>backup</a:t>
            </a:r>
          </a:p>
        </p:txBody>
      </p:sp>
    </p:spTree>
    <p:extLst>
      <p:ext uri="{BB962C8B-B14F-4D97-AF65-F5344CB8AC3E}">
        <p14:creationId xmlns:p14="http://schemas.microsoft.com/office/powerpoint/2010/main" val="1074109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609600" y="564002"/>
            <a:ext cx="7772400" cy="1463040"/>
          </a:xfrm>
        </p:spPr>
        <p:txBody>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Back up storage</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609600" y="2200759"/>
            <a:ext cx="10020300" cy="3226098"/>
          </a:xfrm>
        </p:spPr>
        <p:txBody>
          <a:bodyPr>
            <a:noAutofit/>
          </a:bodyPr>
          <a:lstStyle/>
          <a:p>
            <a:pPr marL="571500" indent="-571500">
              <a:buFont typeface="Arial" panose="020B0604020202020204" pitchFamily="34" charset="0"/>
              <a:buChar char="•"/>
            </a:pPr>
            <a:r>
              <a:rPr lang="en-US" sz="3200" dirty="0" smtClean="0">
                <a:solidFill>
                  <a:schemeClr val="bg1"/>
                </a:solidFill>
                <a:latin typeface="Century" panose="02040604050505020304" pitchFamily="18" charset="0"/>
              </a:rPr>
              <a:t>Magnetic type</a:t>
            </a:r>
          </a:p>
          <a:p>
            <a:pPr marL="571500" indent="-571500">
              <a:buFont typeface="Arial" panose="020B0604020202020204" pitchFamily="34" charset="0"/>
              <a:buChar char="•"/>
            </a:pPr>
            <a:r>
              <a:rPr lang="en-US" sz="3200" dirty="0" smtClean="0">
                <a:solidFill>
                  <a:schemeClr val="bg1"/>
                </a:solidFill>
                <a:latin typeface="Century" panose="02040604050505020304" pitchFamily="18" charset="0"/>
              </a:rPr>
              <a:t>Hard disk </a:t>
            </a:r>
          </a:p>
          <a:p>
            <a:pPr marL="571500" indent="-571500">
              <a:buFont typeface="Arial" panose="020B0604020202020204" pitchFamily="34" charset="0"/>
              <a:buChar char="•"/>
            </a:pPr>
            <a:r>
              <a:rPr lang="en-US" sz="3200" dirty="0" smtClean="0">
                <a:solidFill>
                  <a:schemeClr val="bg1"/>
                </a:solidFill>
                <a:latin typeface="Century" panose="02040604050505020304" pitchFamily="18" charset="0"/>
              </a:rPr>
              <a:t>Optical storage </a:t>
            </a:r>
          </a:p>
          <a:p>
            <a:pPr marL="571500" indent="-571500">
              <a:buFont typeface="Arial" panose="020B0604020202020204" pitchFamily="34" charset="0"/>
              <a:buChar char="•"/>
            </a:pPr>
            <a:r>
              <a:rPr lang="en-US" sz="3200" dirty="0" smtClean="0">
                <a:solidFill>
                  <a:schemeClr val="bg1"/>
                </a:solidFill>
                <a:latin typeface="Century" panose="02040604050505020304" pitchFamily="18" charset="0"/>
              </a:rPr>
              <a:t>SSD</a:t>
            </a:r>
          </a:p>
          <a:p>
            <a:pPr marL="571500" indent="-571500">
              <a:buFont typeface="Arial" panose="020B0604020202020204" pitchFamily="34" charset="0"/>
              <a:buChar char="•"/>
            </a:pPr>
            <a:r>
              <a:rPr lang="en-US" sz="3200" dirty="0" smtClean="0">
                <a:solidFill>
                  <a:schemeClr val="bg1"/>
                </a:solidFill>
                <a:latin typeface="Century" panose="02040604050505020304" pitchFamily="18" charset="0"/>
              </a:rPr>
              <a:t>Remote backup services</a:t>
            </a:r>
          </a:p>
        </p:txBody>
      </p:sp>
    </p:spTree>
    <p:extLst>
      <p:ext uri="{BB962C8B-B14F-4D97-AF65-F5344CB8AC3E}">
        <p14:creationId xmlns:p14="http://schemas.microsoft.com/office/powerpoint/2010/main" val="309657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609600" y="564002"/>
            <a:ext cx="7772400" cy="1463040"/>
          </a:xfrm>
        </p:spPr>
        <p:txBody>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Magnetic tape </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609600" y="1863797"/>
            <a:ext cx="10020300" cy="4273532"/>
          </a:xfrm>
        </p:spPr>
        <p:txBody>
          <a:bodyPr>
            <a:noAutofit/>
          </a:bodyPr>
          <a:lstStyle/>
          <a:p>
            <a:r>
              <a:rPr lang="en-US" sz="3200" dirty="0" smtClean="0">
                <a:solidFill>
                  <a:schemeClr val="bg1"/>
                </a:solidFill>
                <a:latin typeface="Century" panose="02040604050505020304" pitchFamily="18" charset="0"/>
              </a:rPr>
              <a:t>This is </a:t>
            </a:r>
            <a:r>
              <a:rPr lang="en-US" sz="3200" dirty="0">
                <a:solidFill>
                  <a:schemeClr val="bg1"/>
                </a:solidFill>
                <a:latin typeface="Century" panose="02040604050505020304" pitchFamily="18" charset="0"/>
              </a:rPr>
              <a:t>a storage device that contains one or more tape drives, a number of slots to hold tape cartridges, a barcode reader to identify tape cartridges and an automated method for loading tapes (a robot). Additionally, the area where tapes that are NOT currently in a silo are stored is also called a tape library. Some tape libraries contain literally millions of tapes.</a:t>
            </a:r>
            <a:endParaRPr lang="en-US" sz="3200" dirty="0" smtClean="0">
              <a:solidFill>
                <a:schemeClr val="bg1"/>
              </a:solidFill>
              <a:latin typeface="Century" panose="02040604050505020304" pitchFamily="18" charset="0"/>
            </a:endParaRPr>
          </a:p>
        </p:txBody>
      </p:sp>
    </p:spTree>
    <p:extLst>
      <p:ext uri="{BB962C8B-B14F-4D97-AF65-F5344CB8AC3E}">
        <p14:creationId xmlns:p14="http://schemas.microsoft.com/office/powerpoint/2010/main" val="847139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609600" y="238494"/>
            <a:ext cx="7772400" cy="1463040"/>
          </a:xfrm>
        </p:spPr>
        <p:txBody>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Magnetic tape </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pic>
        <p:nvPicPr>
          <p:cNvPr id="1026" name="Picture 2" descr="https://upload.wikimedia.org/wikipedia/commons/5/5a/NDOC_magnetic_tape_library.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068" y="1469663"/>
            <a:ext cx="4150932" cy="32883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9/91/Powervault_124T_autoloader.jpg/1920px-Powervault_124T_autoloade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068" y="4985223"/>
            <a:ext cx="4150932" cy="13641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upload.wikimedia.org/wikipedia/commons/c/c9/StorageTek_Powderhorn_tape_library.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6828" y="1469663"/>
            <a:ext cx="3642374" cy="4856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2425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621060" y="477015"/>
            <a:ext cx="7259828" cy="995324"/>
          </a:xfrm>
        </p:spPr>
        <p:txBody>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Hard disks</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621060" y="1264328"/>
            <a:ext cx="8710565" cy="5446438"/>
          </a:xfrm>
        </p:spPr>
        <p:txBody>
          <a:bodyPr>
            <a:noAutofit/>
          </a:bodyPr>
          <a:lstStyle/>
          <a:p>
            <a:pPr marL="457200" indent="-457200">
              <a:buFont typeface="Arial" panose="020B0604020202020204" pitchFamily="34" charset="0"/>
              <a:buChar char="•"/>
            </a:pPr>
            <a:r>
              <a:rPr lang="en-US" sz="2400" dirty="0">
                <a:solidFill>
                  <a:schemeClr val="bg1"/>
                </a:solidFill>
                <a:latin typeface="Century" panose="02040604050505020304" pitchFamily="18" charset="0"/>
              </a:rPr>
              <a:t>The capacity-to-price ratio of hard disks has </a:t>
            </a:r>
            <a:r>
              <a:rPr lang="en-US" sz="2400" dirty="0" smtClean="0">
                <a:solidFill>
                  <a:schemeClr val="bg1"/>
                </a:solidFill>
                <a:latin typeface="Century" panose="02040604050505020304" pitchFamily="18" charset="0"/>
              </a:rPr>
              <a:t>been improving </a:t>
            </a:r>
            <a:r>
              <a:rPr lang="en-US" sz="2400" dirty="0">
                <a:solidFill>
                  <a:schemeClr val="bg1"/>
                </a:solidFill>
                <a:latin typeface="Century" panose="02040604050505020304" pitchFamily="18" charset="0"/>
              </a:rPr>
              <a:t>for many years, making them more competitive with magnetic tape as a bulk storage medium</a:t>
            </a:r>
            <a:r>
              <a:rPr lang="en-US" sz="2400" dirty="0" smtClean="0">
                <a:solidFill>
                  <a:schemeClr val="bg1"/>
                </a:solidFill>
                <a:latin typeface="Century" panose="02040604050505020304" pitchFamily="18" charset="0"/>
              </a:rPr>
              <a:t>.</a:t>
            </a:r>
          </a:p>
          <a:p>
            <a:pPr marL="457200" indent="-457200">
              <a:buFont typeface="Arial" panose="020B0604020202020204" pitchFamily="34" charset="0"/>
              <a:buChar char="•"/>
            </a:pPr>
            <a:r>
              <a:rPr lang="en-US" sz="2400" dirty="0">
                <a:solidFill>
                  <a:schemeClr val="bg1"/>
                </a:solidFill>
                <a:latin typeface="Century" panose="02040604050505020304" pitchFamily="18" charset="0"/>
              </a:rPr>
              <a:t>The main advantages of hard disk storage are low access times, availability, capacity and ease of use</a:t>
            </a:r>
            <a:r>
              <a:rPr lang="en-US" sz="2400" dirty="0" smtClean="0">
                <a:solidFill>
                  <a:schemeClr val="bg1"/>
                </a:solidFill>
                <a:latin typeface="Century" panose="02040604050505020304" pitchFamily="18" charset="0"/>
              </a:rPr>
              <a:t>.</a:t>
            </a:r>
          </a:p>
          <a:p>
            <a:pPr marL="457200" indent="-457200">
              <a:buFont typeface="Arial" panose="020B0604020202020204" pitchFamily="34" charset="0"/>
              <a:buChar char="•"/>
            </a:pPr>
            <a:r>
              <a:rPr lang="en-US" sz="2400" dirty="0">
                <a:solidFill>
                  <a:schemeClr val="bg1"/>
                </a:solidFill>
                <a:latin typeface="Century" panose="02040604050505020304" pitchFamily="18" charset="0"/>
              </a:rPr>
              <a:t> External disks can be connected via local interfaces like SCSI, USB, FireWire, or </a:t>
            </a:r>
            <a:r>
              <a:rPr lang="en-US" sz="2400" dirty="0" err="1">
                <a:solidFill>
                  <a:schemeClr val="bg1"/>
                </a:solidFill>
                <a:latin typeface="Century" panose="02040604050505020304" pitchFamily="18" charset="0"/>
              </a:rPr>
              <a:t>eSATA</a:t>
            </a:r>
            <a:r>
              <a:rPr lang="en-US" sz="2400" dirty="0">
                <a:solidFill>
                  <a:schemeClr val="bg1"/>
                </a:solidFill>
                <a:latin typeface="Century" panose="02040604050505020304" pitchFamily="18" charset="0"/>
              </a:rPr>
              <a:t>, or via longer distance technologies like Ethernet, iSCSI, or </a:t>
            </a:r>
            <a:r>
              <a:rPr lang="en-US" sz="2400" dirty="0" err="1">
                <a:solidFill>
                  <a:schemeClr val="bg1"/>
                </a:solidFill>
                <a:latin typeface="Century" panose="02040604050505020304" pitchFamily="18" charset="0"/>
              </a:rPr>
              <a:t>Fibre</a:t>
            </a:r>
            <a:r>
              <a:rPr lang="en-US" sz="2400" dirty="0">
                <a:solidFill>
                  <a:schemeClr val="bg1"/>
                </a:solidFill>
                <a:latin typeface="Century" panose="02040604050505020304" pitchFamily="18" charset="0"/>
              </a:rPr>
              <a:t> Channel</a:t>
            </a:r>
            <a:r>
              <a:rPr lang="en-US" sz="2400" dirty="0" smtClean="0">
                <a:solidFill>
                  <a:schemeClr val="bg1"/>
                </a:solidFill>
                <a:latin typeface="Century" panose="02040604050505020304" pitchFamily="18" charset="0"/>
              </a:rPr>
              <a:t>.</a:t>
            </a:r>
          </a:p>
          <a:p>
            <a:pPr marL="457200" indent="-457200">
              <a:buFont typeface="Arial" panose="020B0604020202020204" pitchFamily="34" charset="0"/>
              <a:buChar char="•"/>
            </a:pPr>
            <a:r>
              <a:rPr lang="en-US" sz="2400" dirty="0">
                <a:solidFill>
                  <a:schemeClr val="bg1"/>
                </a:solidFill>
                <a:latin typeface="Century" panose="02040604050505020304" pitchFamily="18" charset="0"/>
              </a:rPr>
              <a:t>Some disk-based backup systems, via Virtual Tape Libraries or otherwise, support data deduplication, which can dramatically reduce the amount of disk storage capacity consumed by daily and weekly backup data</a:t>
            </a:r>
            <a:endParaRPr lang="en-US" sz="2400" dirty="0" smtClean="0">
              <a:solidFill>
                <a:schemeClr val="bg1"/>
              </a:solidFill>
              <a:latin typeface="Century" panose="02040604050505020304" pitchFamily="18" charset="0"/>
            </a:endParaRPr>
          </a:p>
        </p:txBody>
      </p:sp>
      <p:pic>
        <p:nvPicPr>
          <p:cNvPr id="11266" name="Picture 2" descr="Image result for hard disk ra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2450" y="576287"/>
            <a:ext cx="3077022" cy="2309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37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791541" y="577208"/>
            <a:ext cx="7772400" cy="1463040"/>
          </a:xfrm>
        </p:spPr>
        <p:txBody>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Solid state drives</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704465" y="2169942"/>
            <a:ext cx="10020300" cy="3812403"/>
          </a:xfrm>
        </p:spPr>
        <p:txBody>
          <a:bodyPr>
            <a:noAutofit/>
          </a:bodyPr>
          <a:lstStyle/>
          <a:p>
            <a:pPr marL="457200" indent="-457200">
              <a:buFont typeface="Arial" panose="020B0604020202020204" pitchFamily="34" charset="0"/>
              <a:buChar char="•"/>
            </a:pPr>
            <a:r>
              <a:rPr lang="en-US" sz="2000" dirty="0">
                <a:solidFill>
                  <a:schemeClr val="bg1"/>
                </a:solidFill>
                <a:latin typeface="Century" panose="02040604050505020304" pitchFamily="18" charset="0"/>
              </a:rPr>
              <a:t>Also known as flash memory, thumb drives, USB flash drives, </a:t>
            </a:r>
            <a:r>
              <a:rPr lang="en-US" sz="2000" dirty="0" smtClean="0">
                <a:solidFill>
                  <a:schemeClr val="bg1"/>
                </a:solidFill>
                <a:latin typeface="Century" panose="02040604050505020304" pitchFamily="18" charset="0"/>
              </a:rPr>
              <a:t>CompactFlash</a:t>
            </a:r>
            <a:r>
              <a:rPr lang="en-US" sz="2000" dirty="0">
                <a:solidFill>
                  <a:schemeClr val="bg1"/>
                </a:solidFill>
                <a:latin typeface="Century" panose="02040604050505020304" pitchFamily="18" charset="0"/>
              </a:rPr>
              <a:t>, </a:t>
            </a:r>
            <a:r>
              <a:rPr lang="en-US" sz="2000" dirty="0" err="1">
                <a:solidFill>
                  <a:schemeClr val="bg1"/>
                </a:solidFill>
                <a:latin typeface="Century" panose="02040604050505020304" pitchFamily="18" charset="0"/>
              </a:rPr>
              <a:t>SmartMedia</a:t>
            </a:r>
            <a:r>
              <a:rPr lang="en-US" sz="2000" dirty="0">
                <a:solidFill>
                  <a:schemeClr val="bg1"/>
                </a:solidFill>
                <a:latin typeface="Century" panose="02040604050505020304" pitchFamily="18" charset="0"/>
              </a:rPr>
              <a:t>, Memory Stick, Secure Digital cards, etc</a:t>
            </a:r>
            <a:r>
              <a:rPr lang="en-US" sz="2000" dirty="0" smtClean="0">
                <a:solidFill>
                  <a:schemeClr val="bg1"/>
                </a:solidFill>
                <a:latin typeface="Century" panose="02040604050505020304" pitchFamily="18" charset="0"/>
              </a:rPr>
              <a:t>.</a:t>
            </a:r>
          </a:p>
          <a:p>
            <a:pPr marL="457200" indent="-457200">
              <a:buFont typeface="Arial" panose="020B0604020202020204" pitchFamily="34" charset="0"/>
              <a:buChar char="•"/>
            </a:pPr>
            <a:r>
              <a:rPr lang="en-US" sz="2000" dirty="0">
                <a:solidFill>
                  <a:schemeClr val="bg1"/>
                </a:solidFill>
                <a:latin typeface="Century" panose="02040604050505020304" pitchFamily="18" charset="0"/>
              </a:rPr>
              <a:t>R</a:t>
            </a:r>
            <a:r>
              <a:rPr lang="en-US" sz="2000" dirty="0" smtClean="0">
                <a:solidFill>
                  <a:schemeClr val="bg1"/>
                </a:solidFill>
                <a:latin typeface="Century" panose="02040604050505020304" pitchFamily="18" charset="0"/>
              </a:rPr>
              <a:t>elatively </a:t>
            </a:r>
            <a:r>
              <a:rPr lang="en-US" sz="2000" dirty="0">
                <a:solidFill>
                  <a:schemeClr val="bg1"/>
                </a:solidFill>
                <a:latin typeface="Century" panose="02040604050505020304" pitchFamily="18" charset="0"/>
              </a:rPr>
              <a:t>expensive for their low capacity in comparison to hard disk drives, but are very convenient for backing up relatively low data volumes. </a:t>
            </a:r>
            <a:endParaRPr lang="en-US" sz="2000" dirty="0" smtClean="0">
              <a:solidFill>
                <a:schemeClr val="bg1"/>
              </a:solidFill>
              <a:latin typeface="Century" panose="02040604050505020304" pitchFamily="18" charset="0"/>
            </a:endParaRPr>
          </a:p>
          <a:p>
            <a:pPr marL="457200" indent="-457200">
              <a:buFont typeface="Arial" panose="020B0604020202020204" pitchFamily="34" charset="0"/>
              <a:buChar char="•"/>
            </a:pPr>
            <a:r>
              <a:rPr lang="en-US" sz="2000" dirty="0">
                <a:solidFill>
                  <a:schemeClr val="bg1"/>
                </a:solidFill>
                <a:latin typeface="Century" panose="02040604050505020304" pitchFamily="18" charset="0"/>
              </a:rPr>
              <a:t>A solid-state drive does not contain any movable parts unlike its magnetic drive counterpart, making it less susceptible to physical damage, and can have huge throughput in the order of 500Mbit/s to 6Gbit/s. The capacity offered from SSDs continues to grow and prices are gradually decreasing as they become more common</a:t>
            </a:r>
            <a:r>
              <a:rPr lang="en-US" sz="2000" dirty="0" smtClean="0">
                <a:solidFill>
                  <a:schemeClr val="bg1"/>
                </a:solidFill>
                <a:latin typeface="Century" panose="02040604050505020304" pitchFamily="18" charset="0"/>
              </a:rPr>
              <a:t>.</a:t>
            </a:r>
          </a:p>
          <a:p>
            <a:pPr marL="457200" indent="-457200">
              <a:buFont typeface="Arial" panose="020B0604020202020204" pitchFamily="34" charset="0"/>
              <a:buChar char="•"/>
            </a:pPr>
            <a:r>
              <a:rPr lang="en-US" sz="2000" dirty="0">
                <a:solidFill>
                  <a:schemeClr val="bg1"/>
                </a:solidFill>
                <a:latin typeface="Century" panose="02040604050505020304" pitchFamily="18" charset="0"/>
              </a:rPr>
              <a:t>Over a period of years the stability of flash memory backups is shorter than that of hard disk backups.</a:t>
            </a:r>
            <a:endParaRPr lang="en-US" sz="2000" dirty="0" smtClean="0">
              <a:solidFill>
                <a:schemeClr val="bg1"/>
              </a:solidFill>
              <a:latin typeface="Century" panose="02040604050505020304" pitchFamily="18" charset="0"/>
            </a:endParaRPr>
          </a:p>
        </p:txBody>
      </p:sp>
      <p:pic>
        <p:nvPicPr>
          <p:cNvPr id="10242" name="Picture 2" descr="Image result for SS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4986" y="271676"/>
            <a:ext cx="2279559" cy="2074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001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744898" y="732191"/>
            <a:ext cx="9496258" cy="2065252"/>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Remote backup </a:t>
            </a:r>
            <a:b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br>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services</a:t>
            </a:r>
            <a:b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b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744898" y="2557220"/>
            <a:ext cx="10020300" cy="4013881"/>
          </a:xfrm>
        </p:spPr>
        <p:txBody>
          <a:bodyPr>
            <a:noAutofit/>
          </a:bodyPr>
          <a:lstStyle/>
          <a:p>
            <a:pPr marL="457200" indent="-457200">
              <a:buFont typeface="Arial" panose="020B0604020202020204" pitchFamily="34" charset="0"/>
              <a:buChar char="•"/>
            </a:pPr>
            <a:r>
              <a:rPr lang="en-US" sz="3200" dirty="0">
                <a:solidFill>
                  <a:schemeClr val="bg1"/>
                </a:solidFill>
              </a:rPr>
              <a:t>Backing up via the Internet to a remote location can protect against events such as fires, floods, or earthquakes which could destroy </a:t>
            </a:r>
            <a:r>
              <a:rPr lang="en-US" sz="3200" dirty="0" smtClean="0">
                <a:solidFill>
                  <a:schemeClr val="bg1"/>
                </a:solidFill>
              </a:rPr>
              <a:t>locally-stored</a:t>
            </a:r>
          </a:p>
          <a:p>
            <a:pPr marL="457200" indent="-457200">
              <a:buFont typeface="Arial" panose="020B0604020202020204" pitchFamily="34" charset="0"/>
              <a:buChar char="•"/>
            </a:pPr>
            <a:r>
              <a:rPr lang="en-US" sz="3200" dirty="0" smtClean="0">
                <a:solidFill>
                  <a:schemeClr val="bg1"/>
                </a:solidFill>
              </a:rPr>
              <a:t>Support is responsibility of a third party company </a:t>
            </a:r>
          </a:p>
          <a:p>
            <a:pPr marL="457200" indent="-457200">
              <a:buFont typeface="Arial" panose="020B0604020202020204" pitchFamily="34" charset="0"/>
              <a:buChar char="•"/>
            </a:pPr>
            <a:r>
              <a:rPr lang="en-US" sz="3200" dirty="0" smtClean="0">
                <a:solidFill>
                  <a:schemeClr val="bg1"/>
                </a:solidFill>
              </a:rPr>
              <a:t>Requires high speed internet connection, especially the upload link </a:t>
            </a:r>
          </a:p>
          <a:p>
            <a:r>
              <a:rPr lang="en-US" sz="3200" dirty="0" smtClean="0">
                <a:solidFill>
                  <a:schemeClr val="bg1"/>
                </a:solidFill>
              </a:rPr>
              <a:t> </a:t>
            </a:r>
          </a:p>
          <a:p>
            <a:pPr marL="457200" indent="-457200">
              <a:buFont typeface="Arial" panose="020B0604020202020204" pitchFamily="34" charset="0"/>
              <a:buChar char="•"/>
            </a:pPr>
            <a:endParaRPr lang="en-US" sz="2000" dirty="0" smtClean="0">
              <a:solidFill>
                <a:schemeClr val="bg1"/>
              </a:solidFill>
            </a:endParaRPr>
          </a:p>
        </p:txBody>
      </p:sp>
      <p:pic>
        <p:nvPicPr>
          <p:cNvPr id="2" name="Картина 1"/>
          <p:cNvPicPr>
            <a:picLocks noChangeAspect="1"/>
          </p:cNvPicPr>
          <p:nvPr/>
        </p:nvPicPr>
        <p:blipFill>
          <a:blip r:embed="rId3"/>
          <a:stretch>
            <a:fillRect/>
          </a:stretch>
        </p:blipFill>
        <p:spPr>
          <a:xfrm>
            <a:off x="9621632" y="171960"/>
            <a:ext cx="2287132" cy="2385260"/>
          </a:xfrm>
          <a:prstGeom prst="rect">
            <a:avLst/>
          </a:prstGeom>
        </p:spPr>
      </p:pic>
    </p:spTree>
    <p:extLst>
      <p:ext uri="{BB962C8B-B14F-4D97-AF65-F5344CB8AC3E}">
        <p14:creationId xmlns:p14="http://schemas.microsoft.com/office/powerpoint/2010/main" val="345167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683053" y="499716"/>
            <a:ext cx="8910397" cy="1463040"/>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Data backup failure</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683053" y="2100200"/>
            <a:ext cx="10020300" cy="3417196"/>
          </a:xfrm>
        </p:spPr>
        <p:txBody>
          <a:bodyPr>
            <a:noAutofit/>
          </a:bodyPr>
          <a:lstStyle/>
          <a:p>
            <a:endParaRPr lang="en-US" sz="3200" dirty="0">
              <a:solidFill>
                <a:schemeClr val="bg1"/>
              </a:solidFill>
              <a:latin typeface="Century" panose="02040604050505020304" pitchFamily="18" charset="0"/>
            </a:endParaRPr>
          </a:p>
          <a:p>
            <a:pPr marL="457200" indent="-457200">
              <a:buFont typeface="Arial" panose="020B0604020202020204" pitchFamily="34" charset="0"/>
              <a:buChar char="•"/>
            </a:pPr>
            <a:r>
              <a:rPr lang="en-US" sz="3200" dirty="0">
                <a:solidFill>
                  <a:schemeClr val="bg1"/>
                </a:solidFill>
                <a:latin typeface="Century" panose="02040604050505020304" pitchFamily="18" charset="0"/>
              </a:rPr>
              <a:t>Media </a:t>
            </a:r>
            <a:r>
              <a:rPr lang="en-US" sz="3200" dirty="0" smtClean="0">
                <a:solidFill>
                  <a:schemeClr val="bg1"/>
                </a:solidFill>
                <a:latin typeface="Century" panose="02040604050505020304" pitchFamily="18" charset="0"/>
              </a:rPr>
              <a:t>failure</a:t>
            </a:r>
          </a:p>
          <a:p>
            <a:pPr marL="457200" indent="-457200">
              <a:buFont typeface="Arial" panose="020B0604020202020204" pitchFamily="34" charset="0"/>
              <a:buChar char="•"/>
            </a:pPr>
            <a:r>
              <a:rPr lang="en-US" sz="3200" dirty="0">
                <a:solidFill>
                  <a:schemeClr val="bg1"/>
                </a:solidFill>
                <a:latin typeface="Century" panose="02040604050505020304" pitchFamily="18" charset="0"/>
              </a:rPr>
              <a:t>Human </a:t>
            </a:r>
            <a:r>
              <a:rPr lang="en-US" sz="3200" dirty="0" smtClean="0">
                <a:solidFill>
                  <a:schemeClr val="bg1"/>
                </a:solidFill>
                <a:latin typeface="Century" panose="02040604050505020304" pitchFamily="18" charset="0"/>
              </a:rPr>
              <a:t>error</a:t>
            </a:r>
          </a:p>
          <a:p>
            <a:pPr marL="457200" indent="-457200">
              <a:buFont typeface="Arial" panose="020B0604020202020204" pitchFamily="34" charset="0"/>
              <a:buChar char="•"/>
            </a:pPr>
            <a:r>
              <a:rPr lang="en-US" sz="3200" dirty="0">
                <a:solidFill>
                  <a:schemeClr val="bg1"/>
                </a:solidFill>
                <a:latin typeface="Century" panose="02040604050505020304" pitchFamily="18" charset="0"/>
              </a:rPr>
              <a:t>Software </a:t>
            </a:r>
            <a:r>
              <a:rPr lang="en-US" sz="3200" dirty="0" smtClean="0">
                <a:solidFill>
                  <a:schemeClr val="bg1"/>
                </a:solidFill>
                <a:latin typeface="Century" panose="02040604050505020304" pitchFamily="18" charset="0"/>
              </a:rPr>
              <a:t>failure</a:t>
            </a:r>
          </a:p>
          <a:p>
            <a:pPr marL="457200" indent="-457200">
              <a:buFont typeface="Arial" panose="020B0604020202020204" pitchFamily="34" charset="0"/>
              <a:buChar char="•"/>
            </a:pPr>
            <a:r>
              <a:rPr lang="en-US" sz="3200" dirty="0">
                <a:solidFill>
                  <a:schemeClr val="bg1"/>
                </a:solidFill>
                <a:latin typeface="Century" panose="02040604050505020304" pitchFamily="18" charset="0"/>
              </a:rPr>
              <a:t>Hardware </a:t>
            </a:r>
            <a:r>
              <a:rPr lang="en-US" sz="3200" dirty="0" smtClean="0">
                <a:solidFill>
                  <a:schemeClr val="bg1"/>
                </a:solidFill>
                <a:latin typeface="Century" panose="02040604050505020304" pitchFamily="18" charset="0"/>
              </a:rPr>
              <a:t>failure</a:t>
            </a:r>
          </a:p>
          <a:p>
            <a:pPr marL="457200" indent="-457200">
              <a:buFont typeface="Arial" panose="020B0604020202020204" pitchFamily="34" charset="0"/>
              <a:buChar char="•"/>
            </a:pPr>
            <a:r>
              <a:rPr lang="en-US" sz="3200" dirty="0">
                <a:solidFill>
                  <a:schemeClr val="bg1"/>
                </a:solidFill>
                <a:latin typeface="Century" panose="02040604050505020304" pitchFamily="18" charset="0"/>
              </a:rPr>
              <a:t>Network </a:t>
            </a:r>
            <a:r>
              <a:rPr lang="en-US" sz="3200" dirty="0" smtClean="0">
                <a:solidFill>
                  <a:schemeClr val="bg1"/>
                </a:solidFill>
                <a:latin typeface="Century" panose="02040604050505020304" pitchFamily="18" charset="0"/>
              </a:rPr>
              <a:t>failure</a:t>
            </a:r>
          </a:p>
          <a:p>
            <a:r>
              <a:rPr lang="en-US" sz="3200" dirty="0" smtClean="0">
                <a:solidFill>
                  <a:schemeClr val="bg1"/>
                </a:solidFill>
                <a:latin typeface="Century" panose="02040604050505020304" pitchFamily="18" charset="0"/>
              </a:rPr>
              <a:t> </a:t>
            </a:r>
          </a:p>
          <a:p>
            <a:pPr marL="457200" indent="-457200">
              <a:buFont typeface="Arial" panose="020B0604020202020204" pitchFamily="34" charset="0"/>
              <a:buChar char="•"/>
            </a:pPr>
            <a:endParaRPr lang="en-US" sz="2000" dirty="0" smtClean="0">
              <a:solidFill>
                <a:schemeClr val="bg1"/>
              </a:solidFill>
              <a:latin typeface="Century" panose="02040604050505020304" pitchFamily="18" charset="0"/>
            </a:endParaRPr>
          </a:p>
        </p:txBody>
      </p:sp>
      <p:pic>
        <p:nvPicPr>
          <p:cNvPr id="8194" name="Picture 2" descr="Image result for failur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7" y="2250465"/>
            <a:ext cx="4236121" cy="2872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8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690803" y="453222"/>
            <a:ext cx="7772400" cy="1463040"/>
          </a:xfrm>
        </p:spPr>
        <p:txBody>
          <a:bodyPr>
            <a:normAutofit/>
          </a:bodyPr>
          <a:lstStyle/>
          <a:p>
            <a:pPr algn="l"/>
            <a:r>
              <a:rPr lang="en-US" b="1" dirty="0">
                <a:solidFill>
                  <a:schemeClr val="accent1">
                    <a:lumMod val="40000"/>
                    <a:lumOff val="60000"/>
                  </a:schemeClr>
                </a:solidFill>
                <a:latin typeface="Century" panose="02040604050505020304" pitchFamily="18" charset="0"/>
                <a:ea typeface="Adobe Heiti Std R" panose="020B0400000000000000" pitchFamily="34" charset="-128"/>
              </a:rPr>
              <a:t>Media </a:t>
            </a:r>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failure</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690803" y="1776776"/>
            <a:ext cx="10020300" cy="4438043"/>
          </a:xfrm>
        </p:spPr>
        <p:txBody>
          <a:bodyPr>
            <a:noAutofit/>
          </a:bodyPr>
          <a:lstStyle/>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Media </a:t>
            </a:r>
            <a:r>
              <a:rPr lang="en-US" sz="3200" dirty="0">
                <a:solidFill>
                  <a:schemeClr val="bg1"/>
                </a:solidFill>
                <a:latin typeface="Century" panose="02040604050505020304" pitchFamily="18" charset="0"/>
              </a:rPr>
              <a:t>failure ranks at the top of nearly every list of reasons backups and restores fail</a:t>
            </a:r>
            <a:r>
              <a:rPr lang="en-US" sz="3200" dirty="0" smtClean="0">
                <a:solidFill>
                  <a:schemeClr val="bg1"/>
                </a:solidFill>
                <a:latin typeface="Century" panose="02040604050505020304" pitchFamily="18" charset="0"/>
              </a:rPr>
              <a:t>.</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What to do?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Taking care of the equipment according to manufacturer’s schedules and instructions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Redundant power supplies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Hot spare parts </a:t>
            </a:r>
          </a:p>
        </p:txBody>
      </p:sp>
    </p:spTree>
    <p:extLst>
      <p:ext uri="{BB962C8B-B14F-4D97-AF65-F5344CB8AC3E}">
        <p14:creationId xmlns:p14="http://schemas.microsoft.com/office/powerpoint/2010/main" val="50270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745047" y="479718"/>
            <a:ext cx="7772400" cy="1463040"/>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Human error</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745047" y="1805732"/>
            <a:ext cx="10020300" cy="3429135"/>
          </a:xfrm>
        </p:spPr>
        <p:txBody>
          <a:bodyPr>
            <a:noAutofit/>
          </a:bodyPr>
          <a:lstStyle/>
          <a:p>
            <a:endParaRPr lang="en-US" sz="3200" dirty="0">
              <a:solidFill>
                <a:schemeClr val="bg1"/>
              </a:solidFill>
              <a:latin typeface="Century" panose="02040604050505020304" pitchFamily="18" charset="0"/>
            </a:endParaRP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Improper maintenance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Lack of training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Too much human interaction in the backup operations</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What to do?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Trainings and rules </a:t>
            </a:r>
          </a:p>
          <a:p>
            <a:r>
              <a:rPr lang="en-US" sz="3200" dirty="0" smtClean="0">
                <a:solidFill>
                  <a:schemeClr val="bg1"/>
                </a:solidFill>
                <a:latin typeface="Century" panose="02040604050505020304" pitchFamily="18" charset="0"/>
              </a:rPr>
              <a:t> </a:t>
            </a:r>
          </a:p>
          <a:p>
            <a:pPr marL="457200" indent="-457200">
              <a:buFont typeface="Arial" panose="020B0604020202020204" pitchFamily="34" charset="0"/>
              <a:buChar char="•"/>
            </a:pPr>
            <a:endParaRPr lang="en-US" sz="2000" dirty="0" smtClean="0">
              <a:solidFill>
                <a:schemeClr val="bg1"/>
              </a:solidFill>
              <a:latin typeface="Century" panose="02040604050505020304" pitchFamily="18" charset="0"/>
            </a:endParaRPr>
          </a:p>
        </p:txBody>
      </p:sp>
      <p:pic>
        <p:nvPicPr>
          <p:cNvPr id="6146" name="Picture 2" descr="Image result for human err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1648" y="3746574"/>
            <a:ext cx="4068695" cy="2697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4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884531" y="460971"/>
            <a:ext cx="7772400" cy="1463040"/>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Software failure</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884531" y="1263112"/>
            <a:ext cx="10020300" cy="5137687"/>
          </a:xfrm>
        </p:spPr>
        <p:txBody>
          <a:bodyPr>
            <a:noAutofit/>
          </a:bodyPr>
          <a:lstStyle/>
          <a:p>
            <a:endParaRPr lang="en-US" sz="3200" dirty="0">
              <a:solidFill>
                <a:schemeClr val="bg1"/>
              </a:solidFill>
              <a:latin typeface="Century" panose="02040604050505020304" pitchFamily="18" charset="0"/>
            </a:endParaRP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Updates go wrong or include new settings which prevent the backup operations to happen (turning on firewall automatically)</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Misconfigurations – backup </a:t>
            </a:r>
            <a:r>
              <a:rPr lang="en-US" sz="3200" dirty="0" err="1" smtClean="0">
                <a:solidFill>
                  <a:schemeClr val="bg1"/>
                </a:solidFill>
                <a:latin typeface="Century" panose="02040604050505020304" pitchFamily="18" charset="0"/>
              </a:rPr>
              <a:t>softwares</a:t>
            </a:r>
            <a:r>
              <a:rPr lang="en-US" sz="3200" dirty="0">
                <a:solidFill>
                  <a:schemeClr val="bg1"/>
                </a:solidFill>
                <a:latin typeface="Century" panose="02040604050505020304" pitchFamily="18" charset="0"/>
              </a:rPr>
              <a:t> </a:t>
            </a:r>
            <a:r>
              <a:rPr lang="en-US" sz="3200" dirty="0" smtClean="0">
                <a:solidFill>
                  <a:schemeClr val="bg1"/>
                </a:solidFill>
                <a:latin typeface="Century" panose="02040604050505020304" pitchFamily="18" charset="0"/>
              </a:rPr>
              <a:t>have plenty of options and settings. If not set up correctly, this could result in incomplete backups or total failures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What to do?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Handle with care and attention to detail</a:t>
            </a:r>
          </a:p>
        </p:txBody>
      </p:sp>
    </p:spTree>
    <p:extLst>
      <p:ext uri="{BB962C8B-B14F-4D97-AF65-F5344CB8AC3E}">
        <p14:creationId xmlns:p14="http://schemas.microsoft.com/office/powerpoint/2010/main" val="290243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814789" y="453222"/>
            <a:ext cx="7772400" cy="1463040"/>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Hardware failure</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814789" y="1916262"/>
            <a:ext cx="10020300" cy="4279207"/>
          </a:xfrm>
        </p:spPr>
        <p:txBody>
          <a:bodyPr>
            <a:noAutofit/>
          </a:bodyPr>
          <a:lstStyle/>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Hardware that is taking part in backing up and storage gets old or suffers from defects. This could mess up the entire process.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What to do?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Use only quality and up to date equipment and hardware.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Perform checks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Change equipment according to a schedule</a:t>
            </a:r>
          </a:p>
        </p:txBody>
      </p:sp>
    </p:spTree>
    <p:extLst>
      <p:ext uri="{BB962C8B-B14F-4D97-AF65-F5344CB8AC3E}">
        <p14:creationId xmlns:p14="http://schemas.microsoft.com/office/powerpoint/2010/main" val="340648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799290" y="476469"/>
            <a:ext cx="7772400" cy="1463040"/>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Network failure</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799290" y="1939509"/>
            <a:ext cx="10020300" cy="4232712"/>
          </a:xfrm>
        </p:spPr>
        <p:txBody>
          <a:bodyPr>
            <a:noAutofit/>
          </a:bodyPr>
          <a:lstStyle/>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Backing up via network increases up efficiency by reducing number of local devices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Misconfigurations is the main reason for network failures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What to do? </a:t>
            </a:r>
          </a:p>
          <a:p>
            <a:pPr marL="457200" indent="-457200">
              <a:buFont typeface="Arial" panose="020B0604020202020204" pitchFamily="34" charset="0"/>
              <a:buChar char="•"/>
            </a:pPr>
            <a:r>
              <a:rPr lang="en-US" sz="3200" dirty="0" smtClean="0">
                <a:solidFill>
                  <a:schemeClr val="bg1"/>
                </a:solidFill>
                <a:latin typeface="Century" panose="02040604050505020304" pitchFamily="18" charset="0"/>
              </a:rPr>
              <a:t>Networks are not only used for backups so problems should be more obvious by performing network troubleshooting.</a:t>
            </a:r>
          </a:p>
        </p:txBody>
      </p:sp>
    </p:spTree>
    <p:extLst>
      <p:ext uri="{BB962C8B-B14F-4D97-AF65-F5344CB8AC3E}">
        <p14:creationId xmlns:p14="http://schemas.microsoft.com/office/powerpoint/2010/main" val="62043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942259" y="274992"/>
            <a:ext cx="10256259" cy="1463040"/>
          </a:xfrm>
        </p:spPr>
        <p:txBody>
          <a:bodyPr>
            <a:normAutofit/>
          </a:bodyPr>
          <a:lstStyle/>
          <a:p>
            <a:pPr algn="l"/>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Prevention</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942259" y="1563654"/>
            <a:ext cx="10020300" cy="4813899"/>
          </a:xfrm>
        </p:spPr>
        <p:txBody>
          <a:bodyPr>
            <a:noAutofit/>
          </a:bodyPr>
          <a:lstStyle/>
          <a:p>
            <a:pPr marL="457200" indent="-457200">
              <a:buFont typeface="Arial" panose="020B0604020202020204" pitchFamily="34" charset="0"/>
              <a:buChar char="•"/>
            </a:pPr>
            <a:r>
              <a:rPr lang="en-US" sz="3600" dirty="0" smtClean="0">
                <a:solidFill>
                  <a:schemeClr val="bg1"/>
                </a:solidFill>
              </a:rPr>
              <a:t> </a:t>
            </a:r>
            <a:r>
              <a:rPr lang="en-US" sz="3600" dirty="0">
                <a:solidFill>
                  <a:schemeClr val="bg1"/>
                </a:solidFill>
              </a:rPr>
              <a:t>Whatever the cause of failure, the best way to keep them from damaging your organization is to verify your backups by performing regular test </a:t>
            </a:r>
            <a:r>
              <a:rPr lang="en-US" sz="3600" dirty="0" smtClean="0">
                <a:solidFill>
                  <a:schemeClr val="bg1"/>
                </a:solidFill>
              </a:rPr>
              <a:t>restores</a:t>
            </a:r>
          </a:p>
          <a:p>
            <a:pPr marL="457200" indent="-457200">
              <a:buFont typeface="Arial" panose="020B0604020202020204" pitchFamily="34" charset="0"/>
              <a:buChar char="•"/>
            </a:pPr>
            <a:r>
              <a:rPr lang="en-US" sz="3600" dirty="0">
                <a:solidFill>
                  <a:schemeClr val="bg1"/>
                </a:solidFill>
              </a:rPr>
              <a:t>Testing your backups regularly won't prevent backup failures, but they can help in noticing the issue and this will allow you to fix the problem before you really need those backups and you get a nasty </a:t>
            </a:r>
            <a:r>
              <a:rPr lang="en-US" sz="3600" dirty="0" smtClean="0">
                <a:solidFill>
                  <a:schemeClr val="bg1"/>
                </a:solidFill>
              </a:rPr>
              <a:t>surprise</a:t>
            </a:r>
            <a:r>
              <a:rPr lang="en-US" sz="3600" dirty="0">
                <a:solidFill>
                  <a:schemeClr val="bg1"/>
                </a:solidFill>
              </a:rPr>
              <a:t>.</a:t>
            </a:r>
            <a:endParaRPr lang="en-US" sz="3600" dirty="0" smtClean="0">
              <a:solidFill>
                <a:schemeClr val="bg1"/>
              </a:solidFill>
            </a:endParaRPr>
          </a:p>
        </p:txBody>
      </p:sp>
    </p:spTree>
    <p:extLst>
      <p:ext uri="{BB962C8B-B14F-4D97-AF65-F5344CB8AC3E}">
        <p14:creationId xmlns:p14="http://schemas.microsoft.com/office/powerpoint/2010/main" val="93537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6000" r="-16000"/>
          </a:stretch>
        </a:blipFill>
        <a:effectLst/>
      </p:bgPr>
    </p:bg>
    <p:spTree>
      <p:nvGrpSpPr>
        <p:cNvPr id="1" name=""/>
        <p:cNvGrpSpPr/>
        <p:nvPr/>
      </p:nvGrpSpPr>
      <p:grpSpPr>
        <a:xfrm>
          <a:off x="0" y="0"/>
          <a:ext cx="0" cy="0"/>
          <a:chOff x="0" y="0"/>
          <a:chExt cx="0" cy="0"/>
        </a:xfrm>
      </p:grpSpPr>
      <p:sp>
        <p:nvSpPr>
          <p:cNvPr id="4" name="Заглавие 3"/>
          <p:cNvSpPr>
            <a:spLocks noGrp="1"/>
          </p:cNvSpPr>
          <p:nvPr>
            <p:ph type="ctrTitle"/>
          </p:nvPr>
        </p:nvSpPr>
        <p:spPr>
          <a:xfrm>
            <a:off x="1761267" y="2789985"/>
            <a:ext cx="7772400" cy="1463040"/>
          </a:xfrm>
        </p:spPr>
        <p:txBody>
          <a:bodyPr>
            <a:normAutofit/>
          </a:bodyPr>
          <a:lstStyle/>
          <a:p>
            <a:pPr algn="ctr"/>
            <a:r>
              <a:rPr lang="en-US" b="1" dirty="0" smtClean="0">
                <a:solidFill>
                  <a:schemeClr val="accent1">
                    <a:lumMod val="40000"/>
                    <a:lumOff val="60000"/>
                  </a:schemeClr>
                </a:solidFill>
                <a:latin typeface="Century" panose="02040604050505020304" pitchFamily="18" charset="0"/>
                <a:ea typeface="Adobe Heiti Std R" panose="020B0400000000000000" pitchFamily="34" charset="-128"/>
              </a:rPr>
              <a:t>The end</a:t>
            </a:r>
            <a:endParaRPr lang="en-US" b="1" dirty="0">
              <a:solidFill>
                <a:schemeClr val="accent1">
                  <a:lumMod val="40000"/>
                  <a:lumOff val="60000"/>
                </a:schemeClr>
              </a:solidFill>
              <a:latin typeface="Century" panose="02040604050505020304" pitchFamily="18" charset="0"/>
              <a:ea typeface="Adobe Heiti Std R" panose="020B0400000000000000" pitchFamily="34" charset="-128"/>
            </a:endParaRPr>
          </a:p>
        </p:txBody>
      </p:sp>
      <p:sp>
        <p:nvSpPr>
          <p:cNvPr id="5" name="Подзаглавие 4"/>
          <p:cNvSpPr>
            <a:spLocks noGrp="1"/>
          </p:cNvSpPr>
          <p:nvPr>
            <p:ph type="subTitle" idx="1"/>
          </p:nvPr>
        </p:nvSpPr>
        <p:spPr>
          <a:xfrm>
            <a:off x="1970314" y="5917844"/>
            <a:ext cx="4288642" cy="356277"/>
          </a:xfrm>
        </p:spPr>
        <p:txBody>
          <a:bodyPr>
            <a:noAutofit/>
          </a:bodyPr>
          <a:lstStyle/>
          <a:p>
            <a:pPr marL="457200" indent="-457200">
              <a:buFont typeface="Arial" panose="020B0604020202020204" pitchFamily="34" charset="0"/>
              <a:buChar char="•"/>
            </a:pPr>
            <a:endParaRPr lang="en-US" sz="3200" dirty="0">
              <a:solidFill>
                <a:schemeClr val="bg1"/>
              </a:solidFill>
            </a:endParaRPr>
          </a:p>
          <a:p>
            <a:pPr marL="457200" indent="-457200">
              <a:buFont typeface="Arial" panose="020B0604020202020204" pitchFamily="34" charset="0"/>
              <a:buChar char="•"/>
            </a:pPr>
            <a:endParaRPr lang="en-US" sz="3600" dirty="0" smtClean="0">
              <a:solidFill>
                <a:schemeClr val="bg1"/>
              </a:solidFill>
            </a:endParaRPr>
          </a:p>
          <a:p>
            <a:pPr marL="457200" indent="-457200">
              <a:buFont typeface="Arial" panose="020B0604020202020204" pitchFamily="34" charset="0"/>
              <a:buChar char="•"/>
            </a:pPr>
            <a:endParaRPr lang="en-US" sz="3200" dirty="0" smtClean="0">
              <a:solidFill>
                <a:schemeClr val="bg1"/>
              </a:solidFill>
            </a:endParaRPr>
          </a:p>
          <a:p>
            <a:r>
              <a:rPr lang="en-US" sz="3200" dirty="0" smtClean="0">
                <a:solidFill>
                  <a:schemeClr val="bg1"/>
                </a:solidFill>
              </a:rPr>
              <a:t> </a:t>
            </a:r>
          </a:p>
          <a:p>
            <a:pPr marL="457200" indent="-457200">
              <a:buFont typeface="Arial" panose="020B0604020202020204" pitchFamily="34" charset="0"/>
              <a:buChar char="•"/>
            </a:pPr>
            <a:endParaRPr lang="en-US" sz="2000" dirty="0" smtClean="0">
              <a:solidFill>
                <a:schemeClr val="bg1"/>
              </a:solidFill>
            </a:endParaRPr>
          </a:p>
        </p:txBody>
      </p:sp>
    </p:spTree>
    <p:extLst>
      <p:ext uri="{BB962C8B-B14F-4D97-AF65-F5344CB8AC3E}">
        <p14:creationId xmlns:p14="http://schemas.microsoft.com/office/powerpoint/2010/main" val="1362455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Интеграл">
  <a:themeElements>
    <a:clrScheme name="Интеграл">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Интеграл">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Интеграл">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224</TotalTime>
  <Words>1222</Words>
  <Application>Microsoft Office PowerPoint</Application>
  <PresentationFormat>Widescreen</PresentationFormat>
  <Paragraphs>119</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Adobe Heiti Std R</vt:lpstr>
      <vt:lpstr>Arial</vt:lpstr>
      <vt:lpstr>Calibri</vt:lpstr>
      <vt:lpstr>Century</vt:lpstr>
      <vt:lpstr>Tw Cen MT</vt:lpstr>
      <vt:lpstr>Tw Cen MT Condensed</vt:lpstr>
      <vt:lpstr>Wingdings 3</vt:lpstr>
      <vt:lpstr>Интеграл</vt:lpstr>
      <vt:lpstr>Backup and storage </vt:lpstr>
      <vt:lpstr>What will this presentation contain</vt:lpstr>
      <vt:lpstr>Backup process</vt:lpstr>
      <vt:lpstr>Backup storage</vt:lpstr>
      <vt:lpstr>Backup storage</vt:lpstr>
      <vt:lpstr>Types of backup</vt:lpstr>
      <vt:lpstr>Full backup</vt:lpstr>
      <vt:lpstr>Incremental backup </vt:lpstr>
      <vt:lpstr>Differential backup </vt:lpstr>
      <vt:lpstr>Mirror backup </vt:lpstr>
      <vt:lpstr>Back up storage</vt:lpstr>
      <vt:lpstr>Magnetic tape </vt:lpstr>
      <vt:lpstr>Magnetic tape </vt:lpstr>
      <vt:lpstr>Hard disks</vt:lpstr>
      <vt:lpstr>Solid state drives</vt:lpstr>
      <vt:lpstr>Remote backup  services </vt:lpstr>
      <vt:lpstr>Data backup failure</vt:lpstr>
      <vt:lpstr>Media failure</vt:lpstr>
      <vt:lpstr>Human error</vt:lpstr>
      <vt:lpstr>Software failure</vt:lpstr>
      <vt:lpstr>Hardware failure</vt:lpstr>
      <vt:lpstr>Network failure</vt:lpstr>
      <vt:lpstr>Prevention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 up and storage</dc:title>
  <dc:creator>Lyubo Tochev</dc:creator>
  <cp:lastModifiedBy>JAMIE</cp:lastModifiedBy>
  <cp:revision>28</cp:revision>
  <dcterms:created xsi:type="dcterms:W3CDTF">2018-10-08T01:33:24Z</dcterms:created>
  <dcterms:modified xsi:type="dcterms:W3CDTF">2024-09-06T08:12:40Z</dcterms:modified>
</cp:coreProperties>
</file>