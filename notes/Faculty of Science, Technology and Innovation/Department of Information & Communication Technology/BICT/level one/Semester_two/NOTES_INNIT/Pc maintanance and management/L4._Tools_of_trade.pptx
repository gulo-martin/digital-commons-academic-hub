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8" r:id="rId5"/>
    <p:sldId id="257" r:id="rId6"/>
    <p:sldId id="260" r:id="rId7"/>
    <p:sldId id="258" r:id="rId8"/>
    <p:sldId id="259" r:id="rId9"/>
    <p:sldId id="261" r:id="rId10"/>
    <p:sldId id="262" r:id="rId11"/>
    <p:sldId id="264" r:id="rId12"/>
    <p:sldId id="263" r:id="rId13"/>
    <p:sldId id="265" r:id="rId14"/>
    <p:sldId id="269" r:id="rId15"/>
    <p:sldId id="270" r:id="rId16"/>
    <p:sldId id="272" r:id="rId17"/>
    <p:sldId id="271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9" autoAdjust="0"/>
    <p:restoredTop sz="94660"/>
  </p:normalViewPr>
  <p:slideViewPr>
    <p:cSldViewPr snapToGrid="0">
      <p:cViewPr varScale="1">
        <p:scale>
          <a:sx n="89" d="100"/>
          <a:sy n="89" d="100"/>
        </p:scale>
        <p:origin x="23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62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865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011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32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9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4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67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114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6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45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5C6BA-7C22-438E-B27A-94A8A7FBF037}" type="datetimeFigureOut">
              <a:rPr lang="en-US" smtClean="0"/>
              <a:t>8/25/2024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96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b="1" dirty="0" smtClean="0"/>
              <a:t>PROFESSIONAL BEST PRACTICES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Hardware and Software 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73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entury Gothic" panose="020B0502020202020204" pitchFamily="34" charset="0"/>
              </a:rPr>
              <a:t>Selecting the proper tool is important in doing maintenance or testing. </a:t>
            </a:r>
            <a:endParaRPr lang="en-US" dirty="0" smtClean="0">
              <a:latin typeface="Century Gothic" panose="020B0502020202020204" pitchFamily="34" charset="0"/>
            </a:endParaRPr>
          </a:p>
          <a:p>
            <a:r>
              <a:rPr lang="en-US" dirty="0" smtClean="0">
                <a:latin typeface="Century Gothic" panose="020B0502020202020204" pitchFamily="34" charset="0"/>
              </a:rPr>
              <a:t>Using </a:t>
            </a:r>
            <a:r>
              <a:rPr lang="en-US" dirty="0">
                <a:latin typeface="Century Gothic" panose="020B0502020202020204" pitchFamily="34" charset="0"/>
              </a:rPr>
              <a:t>the right tool will avoid any damage to any part of the computer systems</a:t>
            </a:r>
            <a:r>
              <a:rPr lang="en-US" dirty="0" smtClean="0">
                <a:latin typeface="Century Gothic" panose="020B0502020202020204" pitchFamily="34" charset="0"/>
              </a:rPr>
              <a:t>.</a:t>
            </a:r>
          </a:p>
          <a:p>
            <a:r>
              <a:rPr lang="en-US" dirty="0">
                <a:latin typeface="Century Gothic" panose="020B0502020202020204" pitchFamily="34" charset="0"/>
              </a:rPr>
              <a:t>Safety must also be observed in doing these tasks to avoid accidents and damage. </a:t>
            </a:r>
            <a:endParaRPr lang="en-PH" dirty="0">
              <a:latin typeface="Century Gothic" panose="020B0502020202020204" pitchFamily="34" charset="0"/>
            </a:endParaRPr>
          </a:p>
          <a:p>
            <a:endParaRPr lang="en-PH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PH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535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D</a:t>
            </a:r>
            <a:r>
              <a:rPr lang="en-US" b="1" dirty="0" smtClean="0">
                <a:latin typeface="Century Gothic" panose="020B0502020202020204" pitchFamily="34" charset="0"/>
              </a:rPr>
              <a:t>etermining </a:t>
            </a:r>
            <a:r>
              <a:rPr lang="en-US" b="1" dirty="0">
                <a:latin typeface="Century Gothic" panose="020B0502020202020204" pitchFamily="34" charset="0"/>
              </a:rPr>
              <a:t>the best tool for the </a:t>
            </a:r>
            <a:r>
              <a:rPr lang="en-US" b="1" dirty="0" smtClean="0">
                <a:latin typeface="Century Gothic" panose="020B0502020202020204" pitchFamily="34" charset="0"/>
              </a:rPr>
              <a:t>task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42950" lvl="0" indent="-742950"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Analyze </a:t>
            </a:r>
            <a:r>
              <a:rPr lang="en-US" dirty="0">
                <a:latin typeface="Century Gothic" panose="020B0502020202020204" pitchFamily="34" charset="0"/>
              </a:rPr>
              <a:t>the problem and the task to be done.</a:t>
            </a:r>
          </a:p>
          <a:p>
            <a:pPr lvl="0"/>
            <a:endParaRPr lang="en-US" dirty="0">
              <a:latin typeface="Century Gothic" panose="020B0502020202020204" pitchFamily="34" charset="0"/>
            </a:endParaRPr>
          </a:p>
          <a:p>
            <a:pPr marL="0" lvl="0" indent="0">
              <a:buNone/>
            </a:pPr>
            <a:r>
              <a:rPr lang="en-US" dirty="0" smtClean="0">
                <a:latin typeface="Century Gothic" panose="020B0502020202020204" pitchFamily="34" charset="0"/>
              </a:rPr>
              <a:t>2.	Read </a:t>
            </a:r>
            <a:r>
              <a:rPr lang="en-US" dirty="0">
                <a:latin typeface="Century Gothic" panose="020B0502020202020204" pitchFamily="34" charset="0"/>
              </a:rPr>
              <a:t>the manual provided for the tools and equipment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494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Hardware Tools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>
                <a:latin typeface="Century Gothic" panose="020B0502020202020204" pitchFamily="34" charset="0"/>
              </a:rPr>
              <a:t>Hardware tools are classified into:</a:t>
            </a:r>
          </a:p>
          <a:p>
            <a:pPr lvl="0"/>
            <a:endParaRPr lang="en-US" dirty="0">
              <a:latin typeface="Century Gothic" panose="020B0502020202020204" pitchFamily="34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Hand </a:t>
            </a:r>
            <a:r>
              <a:rPr lang="en-US" dirty="0">
                <a:latin typeface="Century Gothic" panose="020B0502020202020204" pitchFamily="34" charset="0"/>
              </a:rPr>
              <a:t>Tools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Cleaning Tools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 smtClean="0">
                <a:latin typeface="Century Gothic" panose="020B0502020202020204" pitchFamily="34" charset="0"/>
              </a:rPr>
              <a:t>Electrostatic Discharge (ESD) Tools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566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Screwdrivers: </a:t>
            </a:r>
            <a:r>
              <a:rPr lang="en-US" dirty="0"/>
              <a:t>Most premade toolkits come with a variety of </a:t>
            </a:r>
            <a:r>
              <a:rPr lang="en-US" dirty="0" smtClean="0"/>
              <a:t>screwdrivers that </a:t>
            </a:r>
            <a:r>
              <a:rPr lang="en-US" dirty="0"/>
              <a:t>have a variety of tip shapes and sizes — flat head </a:t>
            </a:r>
            <a:r>
              <a:rPr lang="en-US" dirty="0" smtClean="0"/>
              <a:t>screwdrivers with </a:t>
            </a:r>
            <a:r>
              <a:rPr lang="en-US" dirty="0"/>
              <a:t>a flat tip, Phillips screw drivers with a +-shaped tip, </a:t>
            </a:r>
            <a:r>
              <a:rPr lang="en-US" dirty="0" smtClean="0"/>
              <a:t>and TORX </a:t>
            </a:r>
            <a:r>
              <a:rPr lang="en-US" dirty="0"/>
              <a:t>screwdrivers with a star-shaped tip. I usually use a </a:t>
            </a:r>
            <a:r>
              <a:rPr lang="en-US" dirty="0" smtClean="0"/>
              <a:t>multi-head screwdriver </a:t>
            </a:r>
            <a:r>
              <a:rPr lang="en-US" dirty="0"/>
              <a:t>instead of a mass of different </a:t>
            </a:r>
            <a:r>
              <a:rPr lang="en-US" dirty="0" smtClean="0"/>
              <a:t>screwdrivers. Be </a:t>
            </a:r>
            <a:r>
              <a:rPr lang="en-US" dirty="0"/>
              <a:t>sure that you don’t use a magnetic screwdriver on the </a:t>
            </a:r>
            <a:r>
              <a:rPr lang="en-US" dirty="0" smtClean="0"/>
              <a:t>computer because </a:t>
            </a:r>
            <a:r>
              <a:rPr lang="en-US" dirty="0"/>
              <a:t>you could erase your data!</a:t>
            </a:r>
          </a:p>
          <a:p>
            <a:r>
              <a:rPr lang="en-US" b="1" dirty="0" smtClean="0"/>
              <a:t>Tweezers</a:t>
            </a:r>
            <a:r>
              <a:rPr lang="en-US" b="1" dirty="0"/>
              <a:t>: </a:t>
            </a:r>
            <a:r>
              <a:rPr lang="en-US" dirty="0"/>
              <a:t>PC repair toolkits typically come with a set of </a:t>
            </a:r>
            <a:r>
              <a:rPr lang="en-US" dirty="0" smtClean="0"/>
              <a:t>tweezers, which </a:t>
            </a:r>
            <a:r>
              <a:rPr lang="en-US" dirty="0"/>
              <a:t>are a lot more useful than they might seem. You use tweezers </a:t>
            </a:r>
            <a:r>
              <a:rPr lang="en-US" dirty="0" smtClean="0"/>
              <a:t>to work </a:t>
            </a:r>
            <a:r>
              <a:rPr lang="en-US" dirty="0"/>
              <a:t>with smaller items in the computer, such as jumpers (for </a:t>
            </a:r>
            <a:r>
              <a:rPr lang="en-US" dirty="0" smtClean="0"/>
              <a:t>more information </a:t>
            </a:r>
            <a:r>
              <a:rPr lang="en-US" dirty="0"/>
              <a:t>on jumpers, check out Book II, Chapter 1</a:t>
            </a:r>
            <a:r>
              <a:rPr lang="en-US" dirty="0" smtClean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61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✦ </a:t>
            </a:r>
            <a:r>
              <a:rPr lang="en-US" b="1" dirty="0" smtClean="0"/>
              <a:t>Chip extractor: </a:t>
            </a:r>
            <a:r>
              <a:rPr lang="en-US" dirty="0" smtClean="0"/>
              <a:t>A lot of PC repair toolkits come with a chip extractor, which you use to remove a chip from a board. For the most part, you won’t need this because most of the chips today are on a card or module instead of being attached directly to the board — and you can remove the entire module by hand.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681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Chip inserter: </a:t>
            </a:r>
            <a:r>
              <a:rPr lang="en-US" dirty="0"/>
              <a:t>PC repair toolkits also come with a chip inserter, </a:t>
            </a:r>
            <a:r>
              <a:rPr lang="en-US" dirty="0" smtClean="0"/>
              <a:t>which you </a:t>
            </a:r>
            <a:r>
              <a:rPr lang="en-US" dirty="0"/>
              <a:t>use to push a chip into a socket. This tool is just as useful (or just </a:t>
            </a:r>
            <a:r>
              <a:rPr lang="en-US" dirty="0" smtClean="0"/>
              <a:t>as useless</a:t>
            </a:r>
            <a:r>
              <a:rPr lang="en-US" dirty="0"/>
              <a:t>) as a chip extractor.</a:t>
            </a:r>
          </a:p>
          <a:p>
            <a:r>
              <a:rPr lang="en-US" b="1" dirty="0" smtClean="0"/>
              <a:t>Canister</a:t>
            </a:r>
            <a:r>
              <a:rPr lang="en-US" b="1" dirty="0"/>
              <a:t>: </a:t>
            </a:r>
            <a:r>
              <a:rPr lang="en-US" dirty="0"/>
              <a:t>A number of premade PC repair toolkits include an empty </a:t>
            </a:r>
            <a:r>
              <a:rPr lang="en-US" dirty="0" smtClean="0"/>
              <a:t>canister, which </a:t>
            </a:r>
            <a:r>
              <a:rPr lang="en-US" dirty="0"/>
              <a:t>seems really silly at first but becomes very useful. You can </a:t>
            </a:r>
            <a:r>
              <a:rPr lang="en-US" dirty="0" smtClean="0"/>
              <a:t>use this </a:t>
            </a:r>
            <a:r>
              <a:rPr lang="en-US" dirty="0"/>
              <a:t>canister to store additional screws or jumpers. Before throwing </a:t>
            </a:r>
            <a:r>
              <a:rPr lang="en-US" dirty="0" smtClean="0"/>
              <a:t>away any </a:t>
            </a:r>
            <a:r>
              <a:rPr lang="en-US" dirty="0"/>
              <a:t>old computer parts, I usually take the screws and jumpers off and </a:t>
            </a:r>
            <a:r>
              <a:rPr lang="en-US" dirty="0" smtClean="0"/>
              <a:t>put them </a:t>
            </a:r>
            <a:r>
              <a:rPr lang="en-US" dirty="0"/>
              <a:t>in my canister — you never know when you might need them!</a:t>
            </a:r>
          </a:p>
          <a:p>
            <a:r>
              <a:rPr lang="en-US" b="1" dirty="0" err="1" smtClean="0"/>
              <a:t>Multimeter</a:t>
            </a:r>
            <a:r>
              <a:rPr lang="en-US" b="1" dirty="0"/>
              <a:t>: </a:t>
            </a:r>
            <a:r>
              <a:rPr lang="en-US" dirty="0"/>
              <a:t>You can use a </a:t>
            </a:r>
            <a:r>
              <a:rPr lang="en-US" dirty="0" err="1"/>
              <a:t>multimeter</a:t>
            </a:r>
            <a:r>
              <a:rPr lang="en-US" dirty="0"/>
              <a:t> </a:t>
            </a:r>
            <a:r>
              <a:rPr lang="en-US" dirty="0" smtClean="0"/>
              <a:t>to verify that </a:t>
            </a:r>
            <a:r>
              <a:rPr lang="en-US" dirty="0"/>
              <a:t>the wall outlet is supplying the correct voltage and that your </a:t>
            </a:r>
            <a:r>
              <a:rPr lang="en-US" dirty="0" smtClean="0"/>
              <a:t>power connectors </a:t>
            </a:r>
            <a:r>
              <a:rPr lang="en-US" dirty="0"/>
              <a:t>to the hard drive and CD-ROM drives are supplying the </a:t>
            </a:r>
            <a:r>
              <a:rPr lang="en-US" dirty="0" smtClean="0"/>
              <a:t>correct voltage </a:t>
            </a:r>
            <a:r>
              <a:rPr lang="en-US" dirty="0"/>
              <a:t>as well. This is a useful tool to have around if you </a:t>
            </a:r>
            <a:r>
              <a:rPr lang="en-US" dirty="0" smtClean="0"/>
              <a:t>suspect the </a:t>
            </a:r>
            <a:r>
              <a:rPr lang="en-US" dirty="0"/>
              <a:t>power supply isn’t doing its job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832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Windows boot disk: </a:t>
            </a:r>
            <a:r>
              <a:rPr lang="en-US" dirty="0"/>
              <a:t>A Windows boot disk contains the core boot </a:t>
            </a:r>
            <a:r>
              <a:rPr lang="en-US" dirty="0" smtClean="0"/>
              <a:t>files that </a:t>
            </a:r>
            <a:r>
              <a:rPr lang="en-US" dirty="0"/>
              <a:t>are needed to boot a Windows 2000/XP/Server 2003 </a:t>
            </a:r>
            <a:r>
              <a:rPr lang="en-US" dirty="0" smtClean="0"/>
              <a:t>operating system</a:t>
            </a:r>
            <a:r>
              <a:rPr lang="en-US" dirty="0"/>
              <a:t>. If those files go missing off the hard drive, you can boot </a:t>
            </a:r>
            <a:r>
              <a:rPr lang="en-US" dirty="0" smtClean="0"/>
              <a:t>the operating </a:t>
            </a:r>
            <a:r>
              <a:rPr lang="en-US" dirty="0"/>
              <a:t>system from the boot disk.</a:t>
            </a:r>
          </a:p>
          <a:p>
            <a:r>
              <a:rPr lang="en-US" b="1" dirty="0" smtClean="0"/>
              <a:t>Windows </a:t>
            </a:r>
            <a:r>
              <a:rPr lang="en-US" b="1" dirty="0"/>
              <a:t>CD: </a:t>
            </a:r>
            <a:r>
              <a:rPr lang="en-US" dirty="0"/>
              <a:t>The Windows CD can help you fix boot problems </a:t>
            </a:r>
            <a:r>
              <a:rPr lang="en-US" dirty="0" smtClean="0"/>
              <a:t>with Windows </a:t>
            </a:r>
            <a:r>
              <a:rPr lang="en-US" dirty="0"/>
              <a:t>when a file goes missing. You can also use it to recover </a:t>
            </a:r>
            <a:r>
              <a:rPr lang="en-US" dirty="0" smtClean="0"/>
              <a:t>from some </a:t>
            </a:r>
            <a:r>
              <a:rPr lang="en-US" dirty="0"/>
              <a:t>basic disk problems by using the Recovery Console.</a:t>
            </a:r>
          </a:p>
          <a:p>
            <a:r>
              <a:rPr lang="en-US" b="1" dirty="0" smtClean="0"/>
              <a:t>Live </a:t>
            </a:r>
            <a:r>
              <a:rPr lang="en-US" b="1" dirty="0"/>
              <a:t>CD: </a:t>
            </a:r>
            <a:r>
              <a:rPr lang="en-US" i="1" dirty="0"/>
              <a:t>Live CD </a:t>
            </a:r>
            <a:r>
              <a:rPr lang="en-US" dirty="0"/>
              <a:t>is the general term used for booting and running </a:t>
            </a:r>
            <a:r>
              <a:rPr lang="en-US" dirty="0" smtClean="0"/>
              <a:t>the operating </a:t>
            </a:r>
            <a:r>
              <a:rPr lang="en-US" dirty="0"/>
              <a:t>system from CD. There are Live CD versions of Windows </a:t>
            </a:r>
            <a:r>
              <a:rPr lang="en-US" dirty="0" smtClean="0"/>
              <a:t>XP and </a:t>
            </a:r>
            <a:r>
              <a:rPr lang="en-US" dirty="0"/>
              <a:t>Linux, and you can use them to help retrieve your data when </a:t>
            </a:r>
            <a:r>
              <a:rPr lang="en-US" dirty="0" smtClean="0"/>
              <a:t>the operating </a:t>
            </a:r>
            <a:r>
              <a:rPr lang="en-US" dirty="0"/>
              <a:t>system will not boot.</a:t>
            </a:r>
          </a:p>
        </p:txBody>
      </p:sp>
    </p:spTree>
    <p:extLst>
      <p:ext uri="{BB962C8B-B14F-4D97-AF65-F5344CB8AC3E}">
        <p14:creationId xmlns:p14="http://schemas.microsoft.com/office/powerpoint/2010/main" val="2460766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AVOIDING THE DREADED ESD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ESD means electrostatic </a:t>
            </a:r>
            <a:r>
              <a:rPr lang="en-US" dirty="0" smtClean="0"/>
              <a:t>discharge (not </a:t>
            </a:r>
            <a:r>
              <a:rPr lang="en-US" dirty="0"/>
              <a:t>extrasensory deprivation</a:t>
            </a:r>
            <a:r>
              <a:rPr lang="en-US" dirty="0" smtClean="0"/>
              <a:t>).</a:t>
            </a:r>
          </a:p>
          <a:p>
            <a:r>
              <a:rPr lang="en-US" dirty="0"/>
              <a:t>When two objects with </a:t>
            </a:r>
            <a:r>
              <a:rPr lang="en-US" dirty="0" smtClean="0"/>
              <a:t>dissimilar charges </a:t>
            </a:r>
            <a:r>
              <a:rPr lang="en-US" dirty="0"/>
              <a:t>touch, the excess electrons are transferred to the object with </a:t>
            </a:r>
            <a:r>
              <a:rPr lang="en-US" dirty="0" smtClean="0"/>
              <a:t>the lesser charge which create a shock. </a:t>
            </a:r>
          </a:p>
          <a:p>
            <a:r>
              <a:rPr lang="en-US" dirty="0" smtClean="0"/>
              <a:t>That </a:t>
            </a:r>
            <a:r>
              <a:rPr lang="en-US" dirty="0"/>
              <a:t>little shock is more than enough to kill </a:t>
            </a:r>
            <a:r>
              <a:rPr lang="en-US" dirty="0" smtClean="0"/>
              <a:t>a computer </a:t>
            </a:r>
            <a:r>
              <a:rPr lang="en-US" dirty="0"/>
              <a:t>chip</a:t>
            </a:r>
            <a:r>
              <a:rPr lang="en-US" i="1" dirty="0"/>
              <a:t>. </a:t>
            </a:r>
            <a:r>
              <a:rPr lang="en-US" dirty="0"/>
              <a:t>So, </a:t>
            </a:r>
            <a:r>
              <a:rPr lang="en-US" dirty="0" smtClean="0"/>
              <a:t>touching a </a:t>
            </a:r>
            <a:r>
              <a:rPr lang="en-US" dirty="0"/>
              <a:t>computer component </a:t>
            </a:r>
            <a:r>
              <a:rPr lang="en-US" dirty="0" smtClean="0"/>
              <a:t>would </a:t>
            </a:r>
            <a:r>
              <a:rPr lang="en-US" dirty="0"/>
              <a:t>most likely kill the </a:t>
            </a:r>
            <a:r>
              <a:rPr lang="en-US" dirty="0" smtClean="0"/>
              <a:t>computer </a:t>
            </a:r>
            <a:r>
              <a:rPr lang="en-US" dirty="0"/>
              <a:t>chip</a:t>
            </a:r>
            <a:r>
              <a:rPr lang="en-US" dirty="0" smtClean="0"/>
              <a:t>.</a:t>
            </a:r>
          </a:p>
          <a:p>
            <a:r>
              <a:rPr lang="en-US" dirty="0"/>
              <a:t>The transferring of the static charge to another object is called </a:t>
            </a:r>
            <a:r>
              <a:rPr lang="en-US" i="1" dirty="0" err="1" smtClean="0"/>
              <a:t>ElectroStatic</a:t>
            </a:r>
            <a:r>
              <a:rPr lang="en-US" i="1" dirty="0" smtClean="0"/>
              <a:t> Discharge </a:t>
            </a:r>
            <a:r>
              <a:rPr lang="en-US" i="1" dirty="0"/>
              <a:t>(ESD</a:t>
            </a:r>
            <a:r>
              <a:rPr lang="en-US" i="1" dirty="0" smtClean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171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PREVENTING ESD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Use a grounding strap: </a:t>
            </a:r>
            <a:r>
              <a:rPr lang="en-US" dirty="0" smtClean="0"/>
              <a:t>also </a:t>
            </a:r>
            <a:r>
              <a:rPr lang="en-US" dirty="0"/>
              <a:t>known as an ESD wrist strap. The grounding strap </a:t>
            </a:r>
            <a:r>
              <a:rPr lang="en-US" dirty="0" smtClean="0"/>
              <a:t>goes around </a:t>
            </a:r>
            <a:r>
              <a:rPr lang="en-US" dirty="0"/>
              <a:t>your wrist and contains a </a:t>
            </a:r>
            <a:r>
              <a:rPr lang="en-US" i="1" dirty="0"/>
              <a:t>resistor </a:t>
            </a:r>
            <a:r>
              <a:rPr lang="en-US" dirty="0"/>
              <a:t>that absorbs any static electricity.</a:t>
            </a:r>
          </a:p>
          <a:p>
            <a:r>
              <a:rPr lang="en-US" dirty="0"/>
              <a:t>The wrist strap then clamps to the metal chassis. The </a:t>
            </a:r>
            <a:r>
              <a:rPr lang="en-US" i="1" dirty="0"/>
              <a:t>chassis </a:t>
            </a:r>
            <a:r>
              <a:rPr lang="en-US" dirty="0" smtClean="0"/>
              <a:t>is the </a:t>
            </a:r>
            <a:r>
              <a:rPr lang="en-US" dirty="0"/>
              <a:t>metal casing of the </a:t>
            </a:r>
            <a:r>
              <a:rPr lang="en-US" dirty="0" smtClean="0"/>
              <a:t>computer. </a:t>
            </a:r>
            <a:r>
              <a:rPr lang="en-US" dirty="0"/>
              <a:t>This gives you constant </a:t>
            </a:r>
            <a:r>
              <a:rPr lang="en-US" dirty="0" smtClean="0"/>
              <a:t>grounding while </a:t>
            </a:r>
            <a:r>
              <a:rPr lang="en-US" dirty="0"/>
              <a:t>servicing the computer, eliminating any static build-up</a:t>
            </a:r>
            <a:r>
              <a:rPr lang="en-US" dirty="0" smtClean="0"/>
              <a:t>.</a:t>
            </a:r>
          </a:p>
          <a:p>
            <a:r>
              <a:rPr lang="en-US" b="1" dirty="0"/>
              <a:t>Carpet spray: </a:t>
            </a:r>
            <a:r>
              <a:rPr lang="en-US" dirty="0"/>
              <a:t>You can use a specialized carpet spray on the carpet</a:t>
            </a:r>
          </a:p>
          <a:p>
            <a:r>
              <a:rPr lang="en-US" dirty="0"/>
              <a:t>around your work area to help reduce the static electricity, but it won’t</a:t>
            </a:r>
          </a:p>
          <a:p>
            <a:r>
              <a:rPr lang="en-US" dirty="0"/>
              <a:t>eliminate the static entirely. Don’t rely on antistatic carpet spray as your</a:t>
            </a:r>
          </a:p>
          <a:p>
            <a:r>
              <a:rPr lang="en-US" i="1" dirty="0"/>
              <a:t>only </a:t>
            </a:r>
            <a:r>
              <a:rPr lang="en-US" dirty="0"/>
              <a:t>source to eliminate static electricity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7007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PREVENTING ESD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Antistatic bags: </a:t>
            </a:r>
            <a:r>
              <a:rPr lang="en-US" dirty="0" smtClean="0"/>
              <a:t>When carrying computer components from one place to another, it’s a good idea to carry the components in an antistatic bag to protect the components from static electricity. For example, if you are going to carry some memory to a user’s workstation, carry the memory in the antistatic bag.</a:t>
            </a:r>
          </a:p>
          <a:p>
            <a:r>
              <a:rPr lang="en-US" b="1" dirty="0" smtClean="0"/>
              <a:t>Humidifiers: </a:t>
            </a:r>
            <a:r>
              <a:rPr lang="en-US" dirty="0" smtClean="0"/>
              <a:t>You can use humidifiers to place moisture in the air. Your goal is to get the humidity level to about 50 percent. Overly dry environments help create static electricity.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944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PREVENTATIVE MAINTENANCE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</a:t>
            </a:r>
            <a:r>
              <a:rPr lang="en-US" dirty="0" smtClean="0"/>
              <a:t>nlike </a:t>
            </a:r>
            <a:r>
              <a:rPr lang="en-US" dirty="0"/>
              <a:t>repairs, which is remedial or unscheduled </a:t>
            </a:r>
            <a:r>
              <a:rPr lang="en-US" dirty="0" smtClean="0"/>
              <a:t>maintenance, preventative </a:t>
            </a:r>
            <a:r>
              <a:rPr lang="en-US" dirty="0"/>
              <a:t>maintenance is designed to prevent problems from </a:t>
            </a:r>
            <a:r>
              <a:rPr lang="en-US" dirty="0" smtClean="0"/>
              <a:t>occurring.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273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REASONS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Save time. </a:t>
            </a:r>
            <a:r>
              <a:rPr lang="en-US" dirty="0"/>
              <a:t>Even though it takes time to perform some of the </a:t>
            </a:r>
            <a:r>
              <a:rPr lang="en-US" dirty="0" smtClean="0"/>
              <a:t>maintenance tasks</a:t>
            </a:r>
            <a:r>
              <a:rPr lang="en-US" dirty="0"/>
              <a:t>, many can be automated. If a computer is well maintained, you </a:t>
            </a:r>
            <a:r>
              <a:rPr lang="en-US" dirty="0" smtClean="0"/>
              <a:t>will have </a:t>
            </a:r>
            <a:r>
              <a:rPr lang="en-US" dirty="0"/>
              <a:t>fewer repairs to make, and the user will end up with less downtime.</a:t>
            </a:r>
          </a:p>
          <a:p>
            <a:r>
              <a:rPr lang="en-US" b="1" dirty="0" smtClean="0"/>
              <a:t>Save </a:t>
            </a:r>
            <a:r>
              <a:rPr lang="en-US" b="1" dirty="0"/>
              <a:t>money. </a:t>
            </a:r>
            <a:r>
              <a:rPr lang="en-US" dirty="0"/>
              <a:t>Time is money. Users who have less downtime related </a:t>
            </a:r>
            <a:r>
              <a:rPr lang="en-US" dirty="0" smtClean="0"/>
              <a:t>to IT </a:t>
            </a:r>
            <a:r>
              <a:rPr lang="en-US" dirty="0"/>
              <a:t>activities will be more productive. Also, if you’re not spending </a:t>
            </a:r>
            <a:r>
              <a:rPr lang="en-US" dirty="0" smtClean="0"/>
              <a:t>time repairing </a:t>
            </a:r>
            <a:r>
              <a:rPr lang="en-US" dirty="0"/>
              <a:t>computers, then your time can be devoted to other </a:t>
            </a:r>
            <a:r>
              <a:rPr lang="en-US" dirty="0" smtClean="0"/>
              <a:t>pursuits that </a:t>
            </a:r>
            <a:r>
              <a:rPr lang="en-US" dirty="0"/>
              <a:t>can improve the overall IT infrastructure.</a:t>
            </a:r>
          </a:p>
          <a:p>
            <a:r>
              <a:rPr lang="en-US" b="1" dirty="0" smtClean="0"/>
              <a:t>Protect </a:t>
            </a:r>
            <a:r>
              <a:rPr lang="en-US" b="1" dirty="0"/>
              <a:t>data. </a:t>
            </a:r>
            <a:r>
              <a:rPr lang="en-US" dirty="0"/>
              <a:t>Data is the life of many organizations. </a:t>
            </a:r>
            <a:endParaRPr lang="en-US" dirty="0" smtClean="0"/>
          </a:p>
          <a:p>
            <a:r>
              <a:rPr lang="en-US" b="1" dirty="0"/>
              <a:t>Improve performance. </a:t>
            </a:r>
            <a:r>
              <a:rPr lang="en-US" dirty="0"/>
              <a:t>All computer systems seem to slow down </a:t>
            </a:r>
            <a:r>
              <a:rPr lang="en-US" dirty="0" smtClean="0"/>
              <a:t>over time </a:t>
            </a:r>
            <a:r>
              <a:rPr lang="en-US" dirty="0"/>
              <a:t>and some simple steps can eliminate these slowdowns.</a:t>
            </a:r>
          </a:p>
        </p:txBody>
      </p:sp>
    </p:spTree>
    <p:extLst>
      <p:ext uri="{BB962C8B-B14F-4D97-AF65-F5344CB8AC3E}">
        <p14:creationId xmlns:p14="http://schemas.microsoft.com/office/powerpoint/2010/main" val="30597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</a:t>
            </a:r>
            <a:r>
              <a:rPr lang="en-US" b="1" dirty="0" smtClean="0"/>
              <a:t>ist </a:t>
            </a:r>
            <a:r>
              <a:rPr lang="en-US" b="1" dirty="0"/>
              <a:t>of possible </a:t>
            </a:r>
            <a:r>
              <a:rPr lang="en-US" b="1" dirty="0" smtClean="0"/>
              <a:t>preventative tasks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Scanning for file system errors and viruses</a:t>
            </a:r>
          </a:p>
          <a:p>
            <a:r>
              <a:rPr lang="en-US" dirty="0" smtClean="0"/>
              <a:t>Updating </a:t>
            </a:r>
            <a:r>
              <a:rPr lang="en-US" dirty="0"/>
              <a:t>virus and spam definitions and emergency boot disks</a:t>
            </a:r>
          </a:p>
          <a:p>
            <a:r>
              <a:rPr lang="en-US" dirty="0" smtClean="0"/>
              <a:t>Backing </a:t>
            </a:r>
            <a:r>
              <a:rPr lang="en-US" dirty="0"/>
              <a:t>up data and CMOS settings</a:t>
            </a:r>
          </a:p>
          <a:p>
            <a:r>
              <a:rPr lang="en-US" dirty="0" smtClean="0"/>
              <a:t>Defragmenting </a:t>
            </a:r>
            <a:r>
              <a:rPr lang="en-US" dirty="0"/>
              <a:t>hard drives</a:t>
            </a:r>
          </a:p>
          <a:p>
            <a:r>
              <a:rPr lang="en-US" dirty="0" smtClean="0"/>
              <a:t>Removing </a:t>
            </a:r>
            <a:r>
              <a:rPr lang="en-US" dirty="0"/>
              <a:t>unnecessary hard drive files</a:t>
            </a:r>
          </a:p>
          <a:p>
            <a:r>
              <a:rPr lang="en-US" dirty="0" smtClean="0"/>
              <a:t>Cleaning </a:t>
            </a:r>
            <a:r>
              <a:rPr lang="en-US" dirty="0"/>
              <a:t>screens, mice, keyboards, floppy and tape drives, and </a:t>
            </a:r>
            <a:r>
              <a:rPr lang="en-US" dirty="0" smtClean="0"/>
              <a:t>internal and </a:t>
            </a:r>
            <a:r>
              <a:rPr lang="en-US" dirty="0"/>
              <a:t>external </a:t>
            </a:r>
            <a:r>
              <a:rPr lang="en-US" dirty="0" smtClean="0"/>
              <a:t>surfaces</a:t>
            </a:r>
          </a:p>
          <a:p>
            <a:r>
              <a:rPr lang="en-US" dirty="0"/>
              <a:t>Ensuring that external system fans and vents, internal fans, and </a:t>
            </a:r>
            <a:r>
              <a:rPr lang="en-US" dirty="0" smtClean="0"/>
              <a:t>heat sinks </a:t>
            </a:r>
            <a:r>
              <a:rPr lang="en-US" dirty="0"/>
              <a:t>are functioning properly and are free of dirt and </a:t>
            </a:r>
            <a:r>
              <a:rPr lang="en-US" dirty="0" smtClean="0"/>
              <a:t>debris Checking </a:t>
            </a:r>
            <a:r>
              <a:rPr lang="en-US" dirty="0"/>
              <a:t>power protection devices and internal and </a:t>
            </a:r>
            <a:r>
              <a:rPr lang="en-US"/>
              <a:t>external </a:t>
            </a:r>
            <a:r>
              <a:rPr lang="en-US" smtClean="0"/>
              <a:t>cable connections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791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Preventative Maintenance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</a:t>
            </a:r>
            <a:r>
              <a:rPr lang="en-US" dirty="0" smtClean="0"/>
              <a:t>reventative </a:t>
            </a:r>
            <a:r>
              <a:rPr lang="en-US" dirty="0"/>
              <a:t>maintenance tools should include both </a:t>
            </a:r>
            <a:r>
              <a:rPr lang="en-US" dirty="0" smtClean="0"/>
              <a:t>software and </a:t>
            </a:r>
            <a:r>
              <a:rPr lang="en-US" dirty="0"/>
              <a:t>hardware devices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Compressed </a:t>
            </a:r>
            <a:r>
              <a:rPr lang="en-US" b="1" dirty="0"/>
              <a:t>air: </a:t>
            </a:r>
            <a:r>
              <a:rPr lang="en-US" dirty="0"/>
              <a:t>Used to remove debris and dust from surfaces that </a:t>
            </a:r>
            <a:r>
              <a:rPr lang="en-US" dirty="0" smtClean="0"/>
              <a:t>you don’t </a:t>
            </a:r>
            <a:r>
              <a:rPr lang="en-US" dirty="0"/>
              <a:t>want to touch or for dusting small corners.</a:t>
            </a:r>
          </a:p>
          <a:p>
            <a:r>
              <a:rPr lang="en-US" b="1" dirty="0" smtClean="0"/>
              <a:t>Computer </a:t>
            </a:r>
            <a:r>
              <a:rPr lang="en-US" b="1" dirty="0"/>
              <a:t>vacuum: </a:t>
            </a:r>
            <a:r>
              <a:rPr lang="en-US" dirty="0"/>
              <a:t>These vacuums can be used to remove dust and </a:t>
            </a:r>
            <a:r>
              <a:rPr lang="en-US" dirty="0" smtClean="0"/>
              <a:t>debris from </a:t>
            </a:r>
            <a:r>
              <a:rPr lang="en-US" dirty="0"/>
              <a:t>a variety of surfaces within your computer, such as system fans.</a:t>
            </a:r>
          </a:p>
          <a:p>
            <a:r>
              <a:rPr lang="en-US" b="1" dirty="0" smtClean="0"/>
              <a:t>Cleaning </a:t>
            </a:r>
            <a:r>
              <a:rPr lang="en-US" b="1" dirty="0"/>
              <a:t>cloths: </a:t>
            </a:r>
            <a:r>
              <a:rPr lang="en-US" dirty="0" smtClean="0"/>
              <a:t>They should </a:t>
            </a:r>
            <a:r>
              <a:rPr lang="en-US" dirty="0"/>
              <a:t>be lint-free cloths. If you use </a:t>
            </a:r>
            <a:r>
              <a:rPr lang="en-US" dirty="0" smtClean="0"/>
              <a:t>synthetic cloths</a:t>
            </a:r>
            <a:r>
              <a:rPr lang="en-US" dirty="0"/>
              <a:t>, take care when you’re working with cleaning chemicals; </a:t>
            </a:r>
            <a:r>
              <a:rPr lang="en-US" dirty="0" smtClean="0"/>
              <a:t>some chemicals </a:t>
            </a:r>
            <a:r>
              <a:rPr lang="en-US" dirty="0"/>
              <a:t>can decompose the cloth or bleed out the dyes in </a:t>
            </a:r>
            <a:r>
              <a:rPr lang="en-US" dirty="0" smtClean="0"/>
              <a:t>them, which </a:t>
            </a:r>
            <a:r>
              <a:rPr lang="en-US" dirty="0"/>
              <a:t>may leave residue on the surfaces you are trying to clean.</a:t>
            </a:r>
          </a:p>
        </p:txBody>
      </p:sp>
    </p:spTree>
    <p:extLst>
      <p:ext uri="{BB962C8B-B14F-4D97-AF65-F5344CB8AC3E}">
        <p14:creationId xmlns:p14="http://schemas.microsoft.com/office/powerpoint/2010/main" val="992055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Preventative Maintenance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Cleaners and chemicals: </a:t>
            </a:r>
            <a:r>
              <a:rPr lang="en-US" dirty="0"/>
              <a:t>Most approved cleaners are mild, </a:t>
            </a:r>
            <a:r>
              <a:rPr lang="en-US" dirty="0" smtClean="0"/>
              <a:t>non-abrasive, and </a:t>
            </a:r>
            <a:r>
              <a:rPr lang="en-US" dirty="0"/>
              <a:t>benzene- and ammonia-free. In most cases, chemicals </a:t>
            </a:r>
            <a:r>
              <a:rPr lang="en-US" dirty="0" smtClean="0"/>
              <a:t>should be </a:t>
            </a:r>
            <a:r>
              <a:rPr lang="en-US" dirty="0"/>
              <a:t>avoided on most surfaces, and either a dry cloth or a cloth </a:t>
            </a:r>
            <a:r>
              <a:rPr lang="en-US" dirty="0" smtClean="0"/>
              <a:t>moistened with </a:t>
            </a:r>
            <a:r>
              <a:rPr lang="en-US" dirty="0"/>
              <a:t>water should be used.</a:t>
            </a:r>
          </a:p>
          <a:p>
            <a:r>
              <a:rPr lang="en-US" b="1" dirty="0" smtClean="0"/>
              <a:t>Cleaning </a:t>
            </a:r>
            <a:r>
              <a:rPr lang="en-US" b="1" dirty="0"/>
              <a:t>pads: </a:t>
            </a:r>
            <a:r>
              <a:rPr lang="en-US" dirty="0"/>
              <a:t>These are soft, lint-free cloths that are already </a:t>
            </a:r>
            <a:r>
              <a:rPr lang="en-US" dirty="0" smtClean="0"/>
              <a:t>pre-moistened</a:t>
            </a:r>
            <a:r>
              <a:rPr lang="en-US" dirty="0"/>
              <a:t> </a:t>
            </a:r>
            <a:r>
              <a:rPr lang="en-US" dirty="0" smtClean="0"/>
              <a:t>with </a:t>
            </a:r>
            <a:r>
              <a:rPr lang="en-US" dirty="0"/>
              <a:t>mild cleaners. Cleaning pads are usually more of a</a:t>
            </a:r>
          </a:p>
          <a:p>
            <a:r>
              <a:rPr lang="en-US" dirty="0"/>
              <a:t>convenience item than a necessity.</a:t>
            </a:r>
          </a:p>
          <a:p>
            <a:r>
              <a:rPr lang="en-US" b="1" dirty="0" smtClean="0"/>
              <a:t>Manufacturer-approved </a:t>
            </a:r>
            <a:r>
              <a:rPr lang="en-US" b="1" dirty="0"/>
              <a:t>cleaning kit: </a:t>
            </a:r>
            <a:r>
              <a:rPr lang="en-US" dirty="0"/>
              <a:t>Usually designed for things </a:t>
            </a:r>
            <a:r>
              <a:rPr lang="en-US" dirty="0" smtClean="0"/>
              <a:t>like floppy </a:t>
            </a:r>
            <a:r>
              <a:rPr lang="en-US" dirty="0"/>
              <a:t>disk drives and tape drives.</a:t>
            </a:r>
          </a:p>
        </p:txBody>
      </p:sp>
    </p:spTree>
    <p:extLst>
      <p:ext uri="{BB962C8B-B14F-4D97-AF65-F5344CB8AC3E}">
        <p14:creationId xmlns:p14="http://schemas.microsoft.com/office/powerpoint/2010/main" val="998673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</a:t>
            </a:r>
            <a:r>
              <a:rPr lang="en-US" b="1" dirty="0" smtClean="0"/>
              <a:t>oftware-based </a:t>
            </a:r>
            <a:r>
              <a:rPr lang="en-US" b="1" dirty="0"/>
              <a:t>preventative maintenance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Automatic update tools </a:t>
            </a:r>
            <a:r>
              <a:rPr lang="en-US" dirty="0"/>
              <a:t>for anti-virus, anti-spam, Windows, and so on.</a:t>
            </a:r>
          </a:p>
          <a:p>
            <a:r>
              <a:rPr lang="en-US" b="1" dirty="0" smtClean="0"/>
              <a:t>Firmware </a:t>
            </a:r>
            <a:r>
              <a:rPr lang="en-US" b="1" dirty="0"/>
              <a:t>updates, </a:t>
            </a:r>
            <a:r>
              <a:rPr lang="en-US" dirty="0"/>
              <a:t>although these should be applied only to respond </a:t>
            </a:r>
            <a:r>
              <a:rPr lang="en-US" dirty="0" smtClean="0"/>
              <a:t>to a </a:t>
            </a:r>
            <a:r>
              <a:rPr lang="en-US" dirty="0"/>
              <a:t>problem because they sometimes create other problems.</a:t>
            </a:r>
          </a:p>
          <a:p>
            <a:r>
              <a:rPr lang="en-US" b="1" dirty="0" smtClean="0"/>
              <a:t>Driver </a:t>
            </a:r>
            <a:r>
              <a:rPr lang="en-US" b="1" dirty="0"/>
              <a:t>updates </a:t>
            </a:r>
            <a:r>
              <a:rPr lang="en-US" dirty="0"/>
              <a:t>can be thought of as firmware updates. If you don’t </a:t>
            </a:r>
            <a:r>
              <a:rPr lang="en-US" dirty="0" smtClean="0"/>
              <a:t>have a </a:t>
            </a:r>
            <a:r>
              <a:rPr lang="en-US" dirty="0"/>
              <a:t>reason to update, don’t apply updates out of hand.</a:t>
            </a:r>
          </a:p>
          <a:p>
            <a:r>
              <a:rPr lang="en-US" b="1" dirty="0" smtClean="0"/>
              <a:t>OS-level </a:t>
            </a:r>
            <a:r>
              <a:rPr lang="en-US" b="1" dirty="0"/>
              <a:t>tools, </a:t>
            </a:r>
            <a:r>
              <a:rPr lang="en-US" dirty="0"/>
              <a:t>such as defrag.exe, chkdsk.exe, Task Scheduler</a:t>
            </a:r>
          </a:p>
          <a:p>
            <a:r>
              <a:rPr lang="en-US" b="1" dirty="0" smtClean="0"/>
              <a:t>Third-party </a:t>
            </a:r>
            <a:r>
              <a:rPr lang="en-US" b="1" dirty="0"/>
              <a:t>maintenance tools, </a:t>
            </a:r>
            <a:r>
              <a:rPr lang="en-US" dirty="0"/>
              <a:t>which are often available as </a:t>
            </a:r>
            <a:r>
              <a:rPr lang="en-US" dirty="0" smtClean="0"/>
              <a:t>packages from </a:t>
            </a:r>
            <a:r>
              <a:rPr lang="en-US" dirty="0"/>
              <a:t>large companies such as Symantec and McAfee or from </a:t>
            </a:r>
            <a:r>
              <a:rPr lang="en-US" dirty="0" smtClean="0"/>
              <a:t>smaller, independent </a:t>
            </a:r>
            <a:r>
              <a:rPr lang="en-US" dirty="0"/>
              <a:t>companies.</a:t>
            </a:r>
          </a:p>
        </p:txBody>
      </p:sp>
    </p:spTree>
    <p:extLst>
      <p:ext uri="{BB962C8B-B14F-4D97-AF65-F5344CB8AC3E}">
        <p14:creationId xmlns:p14="http://schemas.microsoft.com/office/powerpoint/2010/main" val="3717928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DISPOSING OF COMPONENTS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replace an old part from a </a:t>
            </a:r>
            <a:r>
              <a:rPr lang="en-US" dirty="0" smtClean="0"/>
              <a:t>computer, you </a:t>
            </a:r>
            <a:r>
              <a:rPr lang="en-US" dirty="0"/>
              <a:t>have a responsibility to dispose of the old part properly. </a:t>
            </a:r>
            <a:endParaRPr lang="en-US" dirty="0" smtClean="0"/>
          </a:p>
          <a:p>
            <a:r>
              <a:rPr lang="en-US" dirty="0" smtClean="0"/>
              <a:t>You are not </a:t>
            </a:r>
            <a:r>
              <a:rPr lang="en-US" dirty="0"/>
              <a:t>permitted to dump certain computer components in a landfill </a:t>
            </a:r>
            <a:r>
              <a:rPr lang="en-US" dirty="0" smtClean="0"/>
              <a:t>because they </a:t>
            </a:r>
            <a:r>
              <a:rPr lang="en-US" dirty="0"/>
              <a:t>are hazardous to the environment</a:t>
            </a:r>
            <a:r>
              <a:rPr lang="en-US" dirty="0" smtClean="0"/>
              <a:t>.</a:t>
            </a:r>
          </a:p>
          <a:p>
            <a:r>
              <a:rPr lang="en-US" dirty="0"/>
              <a:t>For example, the chemicals in a </a:t>
            </a:r>
            <a:r>
              <a:rPr lang="en-US" dirty="0" smtClean="0"/>
              <a:t>battery could </a:t>
            </a:r>
            <a:r>
              <a:rPr lang="en-US" dirty="0"/>
              <a:t>leak into the water supply and contaminate the drinking </a:t>
            </a:r>
            <a:r>
              <a:rPr lang="en-US" dirty="0" smtClean="0"/>
              <a:t>water.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24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5262</TotalTime>
  <Words>1487</Words>
  <Application>Microsoft Office PowerPoint</Application>
  <PresentationFormat>Widescreen</PresentationFormat>
  <Paragraphs>76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Calibri</vt:lpstr>
      <vt:lpstr>Calisto MT</vt:lpstr>
      <vt:lpstr>Century Gothic</vt:lpstr>
      <vt:lpstr>Office Theme</vt:lpstr>
      <vt:lpstr>PROFESSIONAL BEST PRACTICES</vt:lpstr>
      <vt:lpstr>PowerPoint Presentation</vt:lpstr>
      <vt:lpstr>Determining the best tool for the task</vt:lpstr>
      <vt:lpstr>Hardware Tools</vt:lpstr>
      <vt:lpstr>HARDWARE TOOLS</vt:lpstr>
      <vt:lpstr>PowerPoint Presentation</vt:lpstr>
      <vt:lpstr>PowerPoint Presentation</vt:lpstr>
      <vt:lpstr>SOFTWARE TOOLS</vt:lpstr>
      <vt:lpstr>AVOIDING THE DREADED ESD</vt:lpstr>
      <vt:lpstr>PREVENTING ESD</vt:lpstr>
      <vt:lpstr>PREVENTING ESD</vt:lpstr>
      <vt:lpstr>PREVENTATIVE MAINTENANCE</vt:lpstr>
      <vt:lpstr>REASONS</vt:lpstr>
      <vt:lpstr>List of possible preventative tasks</vt:lpstr>
      <vt:lpstr>Preventative Maintenance Tools</vt:lpstr>
      <vt:lpstr>Preventative Maintenance Tools</vt:lpstr>
      <vt:lpstr>Software-based preventative maintenance</vt:lpstr>
      <vt:lpstr>DISPOSING OF COMPONENTS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JAMIE</dc:creator>
  <cp:lastModifiedBy>Emmanuel Mhango</cp:lastModifiedBy>
  <cp:revision>28</cp:revision>
  <dcterms:created xsi:type="dcterms:W3CDTF">2024-08-02T15:16:03Z</dcterms:created>
  <dcterms:modified xsi:type="dcterms:W3CDTF">2024-08-28T07:29:02Z</dcterms:modified>
</cp:coreProperties>
</file>