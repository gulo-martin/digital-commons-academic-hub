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5"/>
  </p:notesMasterIdLst>
  <p:sldIdLst>
    <p:sldId id="256" r:id="rId2"/>
    <p:sldId id="257" r:id="rId3"/>
    <p:sldId id="258" r:id="rId4"/>
    <p:sldId id="264" r:id="rId5"/>
    <p:sldId id="265" r:id="rId6"/>
    <p:sldId id="266" r:id="rId7"/>
    <p:sldId id="267" r:id="rId8"/>
    <p:sldId id="259" r:id="rId9"/>
    <p:sldId id="268" r:id="rId10"/>
    <p:sldId id="269" r:id="rId11"/>
    <p:sldId id="270" r:id="rId12"/>
    <p:sldId id="271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2678" autoAdjust="0"/>
  </p:normalViewPr>
  <p:slideViewPr>
    <p:cSldViewPr snapToGrid="0">
      <p:cViewPr varScale="1">
        <p:scale>
          <a:sx n="72" d="100"/>
          <a:sy n="72" d="100"/>
        </p:scale>
        <p:origin x="110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F9EF6D-5467-4EE1-BEE2-CC06EF37D8F8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BA1F6A-5461-4765-98B4-3980918E67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9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992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64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349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210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55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861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526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4463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311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BA1F6A-5461-4765-98B4-3980918E67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65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8/9/2024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PROFESSIONALISM AND COMMUNICATION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050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327991" cy="4601183"/>
          </a:xfrm>
        </p:spPr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In order to </a:t>
            </a:r>
            <a:r>
              <a:rPr lang="en-US" sz="2800" dirty="0" smtClean="0"/>
              <a:t>provide service to customers, </a:t>
            </a:r>
            <a:r>
              <a:rPr lang="en-US" sz="2800" dirty="0"/>
              <a:t>you will be required to </a:t>
            </a:r>
            <a:r>
              <a:rPr lang="en-US" sz="2800" dirty="0" smtClean="0"/>
              <a:t>communicate with </a:t>
            </a:r>
            <a:r>
              <a:rPr lang="en-US" sz="2800" dirty="0"/>
              <a:t>them, and this communication should remain professional in </a:t>
            </a:r>
            <a:r>
              <a:rPr lang="en-US" sz="2800" dirty="0" smtClean="0"/>
              <a:t>its tone </a:t>
            </a:r>
            <a:r>
              <a:rPr lang="en-US" sz="2800" dirty="0"/>
              <a:t>and manner. </a:t>
            </a:r>
            <a:endParaRPr lang="en-US" sz="2800" dirty="0" smtClean="0"/>
          </a:p>
          <a:p>
            <a:r>
              <a:rPr lang="en-US" sz="2800" dirty="0" smtClean="0"/>
              <a:t>The </a:t>
            </a:r>
            <a:r>
              <a:rPr lang="en-US" sz="2800" dirty="0"/>
              <a:t>best way to maintain the right level of </a:t>
            </a:r>
            <a:r>
              <a:rPr lang="en-US" sz="2800" dirty="0" smtClean="0"/>
              <a:t>professionalism is </a:t>
            </a:r>
            <a:r>
              <a:rPr lang="en-US" sz="2800" dirty="0"/>
              <a:t>to respect the customer; whether the customer is right or wrong, </a:t>
            </a:r>
            <a:r>
              <a:rPr lang="en-US" sz="2800" dirty="0" smtClean="0"/>
              <a:t>you should </a:t>
            </a:r>
            <a:r>
              <a:rPr lang="en-US" sz="2800" dirty="0"/>
              <a:t>still give him respect. </a:t>
            </a:r>
            <a:endParaRPr lang="en-US" sz="2800" dirty="0" smtClean="0"/>
          </a:p>
          <a:p>
            <a:r>
              <a:rPr lang="en-US" sz="2800" dirty="0" smtClean="0"/>
              <a:t>You </a:t>
            </a:r>
            <a:r>
              <a:rPr lang="en-US" sz="2800" dirty="0"/>
              <a:t>can still show him respect while you </a:t>
            </a:r>
            <a:r>
              <a:rPr lang="en-US" sz="2800" dirty="0" smtClean="0"/>
              <a:t>tell him </a:t>
            </a:r>
            <a:r>
              <a:rPr lang="en-US" sz="2800" dirty="0"/>
              <a:t>that he is wrong</a:t>
            </a:r>
          </a:p>
        </p:txBody>
      </p:sp>
    </p:spTree>
    <p:extLst>
      <p:ext uri="{BB962C8B-B14F-4D97-AF65-F5344CB8AC3E}">
        <p14:creationId xmlns:p14="http://schemas.microsoft.com/office/powerpoint/2010/main" val="4062850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34315" cy="4601183"/>
          </a:xfrm>
        </p:spPr>
        <p:txBody>
          <a:bodyPr/>
          <a:lstStyle/>
          <a:p>
            <a:r>
              <a:rPr lang="en-US" b="1" dirty="0"/>
              <a:t>Good communication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A breakdown in communication </a:t>
            </a:r>
            <a:r>
              <a:rPr lang="en-US" sz="2800" dirty="0" smtClean="0"/>
              <a:t>is </a:t>
            </a:r>
            <a:r>
              <a:rPr lang="en-US" sz="2800" dirty="0"/>
              <a:t>often a source of conflict that begins with </a:t>
            </a:r>
            <a:r>
              <a:rPr lang="en-US" sz="2800" dirty="0" smtClean="0"/>
              <a:t>a misunderstanding</a:t>
            </a:r>
            <a:r>
              <a:rPr lang="en-US" sz="2800" dirty="0"/>
              <a:t>. </a:t>
            </a:r>
            <a:endParaRPr lang="en-US" sz="2800" dirty="0" smtClean="0"/>
          </a:p>
          <a:p>
            <a:r>
              <a:rPr lang="en-US" sz="2800" dirty="0" smtClean="0"/>
              <a:t>In </a:t>
            </a:r>
            <a:r>
              <a:rPr lang="en-US" sz="2800" dirty="0"/>
              <a:t>order to avoid this conflict with your customers, </a:t>
            </a:r>
            <a:r>
              <a:rPr lang="en-US" sz="2800" dirty="0" smtClean="0"/>
              <a:t>you should </a:t>
            </a:r>
            <a:r>
              <a:rPr lang="en-US" sz="2800" dirty="0"/>
              <a:t>always make sure you use good communication skills</a:t>
            </a:r>
          </a:p>
        </p:txBody>
      </p:sp>
    </p:spTree>
    <p:extLst>
      <p:ext uri="{BB962C8B-B14F-4D97-AF65-F5344CB8AC3E}">
        <p14:creationId xmlns:p14="http://schemas.microsoft.com/office/powerpoint/2010/main" val="1252207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34315" cy="4601183"/>
          </a:xfrm>
        </p:spPr>
        <p:txBody>
          <a:bodyPr/>
          <a:lstStyle/>
          <a:p>
            <a:r>
              <a:rPr lang="en-US" dirty="0" smtClean="0"/>
              <a:t>1.</a:t>
            </a:r>
            <a:br>
              <a:rPr lang="en-US" dirty="0" smtClean="0"/>
            </a:br>
            <a:r>
              <a:rPr lang="en-US" dirty="0" smtClean="0"/>
              <a:t>Listen </a:t>
            </a:r>
            <a:r>
              <a:rPr lang="en-US" dirty="0"/>
              <a:t>to the customer and don’t interrupt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In </a:t>
            </a:r>
            <a:r>
              <a:rPr lang="en-US" sz="2800" dirty="0"/>
              <a:t>today’s </a:t>
            </a:r>
            <a:r>
              <a:rPr lang="en-US" sz="2800" dirty="0" smtClean="0"/>
              <a:t>society, the </a:t>
            </a:r>
            <a:r>
              <a:rPr lang="en-US" sz="2800" dirty="0"/>
              <a:t>emphasis is on speed, and for the sake of speed, people tend </a:t>
            </a:r>
            <a:r>
              <a:rPr lang="en-US" sz="2800" dirty="0" smtClean="0"/>
              <a:t>not to </a:t>
            </a:r>
            <a:r>
              <a:rPr lang="en-US" sz="2800" dirty="0"/>
              <a:t>listen. </a:t>
            </a:r>
            <a:endParaRPr lang="en-US" sz="2800" dirty="0" smtClean="0"/>
          </a:p>
          <a:p>
            <a:r>
              <a:rPr lang="en-US" sz="2800" dirty="0" smtClean="0"/>
              <a:t>Part </a:t>
            </a:r>
            <a:r>
              <a:rPr lang="en-US" sz="2800" dirty="0"/>
              <a:t>of “not listening” is completing other peoples’ thoughts </a:t>
            </a:r>
            <a:r>
              <a:rPr lang="en-US" sz="2800" dirty="0" smtClean="0"/>
              <a:t>or sentences</a:t>
            </a:r>
            <a:r>
              <a:rPr lang="en-US" sz="2800" dirty="0"/>
              <a:t>. </a:t>
            </a:r>
            <a:endParaRPr lang="en-US" sz="2800" dirty="0" smtClean="0"/>
          </a:p>
          <a:p>
            <a:r>
              <a:rPr lang="en-US" sz="2800" dirty="0" smtClean="0"/>
              <a:t>This </a:t>
            </a:r>
            <a:r>
              <a:rPr lang="en-US" sz="2800" dirty="0"/>
              <a:t>is a problem that can be resolved by resisting the </a:t>
            </a:r>
            <a:r>
              <a:rPr lang="en-US" sz="2800" dirty="0" smtClean="0"/>
              <a:t>urge to </a:t>
            </a:r>
            <a:r>
              <a:rPr lang="en-US" sz="2800" dirty="0"/>
              <a:t>just jump in. Put yourself in the listener’s position while you let </a:t>
            </a:r>
            <a:r>
              <a:rPr lang="en-US" sz="2800" dirty="0" smtClean="0"/>
              <a:t>the </a:t>
            </a:r>
            <a:r>
              <a:rPr lang="en-US" sz="2800" dirty="0"/>
              <a:t>person tell you the problem and how it is affecting her </a:t>
            </a:r>
            <a:r>
              <a:rPr lang="en-US" sz="2800" dirty="0" smtClean="0"/>
              <a:t>life.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49240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34315" cy="4601183"/>
          </a:xfrm>
        </p:spPr>
        <p:txBody>
          <a:bodyPr/>
          <a:lstStyle/>
          <a:p>
            <a:r>
              <a:rPr lang="en-US" dirty="0"/>
              <a:t>2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/>
              <a:t>Clarify statements and repeat what you have heard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Repeating </a:t>
            </a:r>
            <a:r>
              <a:rPr lang="en-US" sz="2800" dirty="0"/>
              <a:t>to the user </a:t>
            </a:r>
            <a:r>
              <a:rPr lang="en-US" sz="2800" dirty="0" smtClean="0"/>
              <a:t>what he </a:t>
            </a:r>
            <a:r>
              <a:rPr lang="en-US" sz="2800" dirty="0"/>
              <a:t>has told </a:t>
            </a:r>
            <a:r>
              <a:rPr lang="en-US" sz="2800" dirty="0" smtClean="0"/>
              <a:t>you will reinforces </a:t>
            </a:r>
            <a:r>
              <a:rPr lang="en-US" sz="2800" dirty="0"/>
              <a:t>for the user that you are listening </a:t>
            </a:r>
            <a:r>
              <a:rPr lang="en-US" sz="2800" dirty="0" smtClean="0"/>
              <a:t>and are </a:t>
            </a:r>
            <a:r>
              <a:rPr lang="en-US" sz="2800" dirty="0"/>
              <a:t>not daydreaming. </a:t>
            </a:r>
            <a:endParaRPr lang="en-US" sz="2800" dirty="0" smtClean="0"/>
          </a:p>
          <a:p>
            <a:r>
              <a:rPr lang="en-US" sz="2800" dirty="0" smtClean="0"/>
              <a:t>It </a:t>
            </a:r>
            <a:r>
              <a:rPr lang="en-US" sz="2800" dirty="0"/>
              <a:t>also verifies that you understand what the </a:t>
            </a:r>
            <a:r>
              <a:rPr lang="en-US" sz="2800" dirty="0" smtClean="0"/>
              <a:t>user said.</a:t>
            </a:r>
          </a:p>
          <a:p>
            <a:r>
              <a:rPr lang="en-US" sz="2800" dirty="0" smtClean="0"/>
              <a:t>When </a:t>
            </a:r>
            <a:r>
              <a:rPr lang="en-US" sz="2800" dirty="0"/>
              <a:t>you repeat it back, you may substitute terms or give </a:t>
            </a:r>
            <a:r>
              <a:rPr lang="en-US" sz="2800" dirty="0" smtClean="0"/>
              <a:t>additional examples </a:t>
            </a:r>
            <a:r>
              <a:rPr lang="en-US" sz="2800" dirty="0"/>
              <a:t>of what the client described to you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This technique will help </a:t>
            </a:r>
            <a:r>
              <a:rPr lang="en-US" sz="2800" dirty="0"/>
              <a:t>to clarify any </a:t>
            </a:r>
            <a:r>
              <a:rPr lang="en-US" sz="2800" dirty="0" smtClean="0"/>
              <a:t>misunderstandings.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35365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34315" cy="4601183"/>
          </a:xfrm>
        </p:spPr>
        <p:txBody>
          <a:bodyPr/>
          <a:lstStyle/>
          <a:p>
            <a:r>
              <a:rPr lang="en-US" dirty="0" smtClean="0"/>
              <a:t>3.</a:t>
            </a:r>
            <a:br>
              <a:rPr lang="en-US" dirty="0" smtClean="0"/>
            </a:br>
            <a:r>
              <a:rPr lang="en-US" dirty="0"/>
              <a:t>Use clear, concise, and direct statements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Translation</a:t>
            </a:r>
            <a:r>
              <a:rPr lang="en-US" dirty="0"/>
              <a:t>: Don’t be longwinded.</a:t>
            </a:r>
          </a:p>
          <a:p>
            <a:r>
              <a:rPr lang="en-US" dirty="0" smtClean="0"/>
              <a:t>Resist any temptations to </a:t>
            </a:r>
            <a:r>
              <a:rPr lang="en-US" dirty="0"/>
              <a:t>verbosity you might have. Don’t use the ten-dollar word if a </a:t>
            </a:r>
            <a:r>
              <a:rPr lang="en-US" dirty="0" smtClean="0"/>
              <a:t>twenty five-cent </a:t>
            </a:r>
            <a:r>
              <a:rPr lang="en-US" dirty="0"/>
              <a:t>word will </a:t>
            </a:r>
            <a:r>
              <a:rPr lang="en-US" dirty="0" smtClean="0"/>
              <a:t>do.</a:t>
            </a:r>
          </a:p>
          <a:p>
            <a:r>
              <a:rPr lang="en-US" dirty="0" smtClean="0"/>
              <a:t>Keep </a:t>
            </a:r>
            <a:r>
              <a:rPr lang="en-US" dirty="0"/>
              <a:t>your statements direct with clearly </a:t>
            </a:r>
            <a:r>
              <a:rPr lang="en-US" dirty="0" smtClean="0"/>
              <a:t>focused points</a:t>
            </a:r>
            <a:r>
              <a:rPr lang="en-US" dirty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27416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34315" cy="4601183"/>
          </a:xfrm>
        </p:spPr>
        <p:txBody>
          <a:bodyPr/>
          <a:lstStyle/>
          <a:p>
            <a:r>
              <a:rPr lang="en-US" dirty="0"/>
              <a:t>4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/>
              <a:t>Avoid tech talk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As </a:t>
            </a:r>
            <a:r>
              <a:rPr lang="en-US" sz="2800" dirty="0"/>
              <a:t>a </a:t>
            </a:r>
            <a:r>
              <a:rPr lang="en-US" sz="2800" dirty="0" smtClean="0"/>
              <a:t>Certified </a:t>
            </a:r>
            <a:r>
              <a:rPr lang="en-US" sz="2800" dirty="0"/>
              <a:t>Professional, you are </a:t>
            </a:r>
            <a:r>
              <a:rPr lang="en-US" sz="2800" dirty="0" smtClean="0"/>
              <a:t>constantly exposed </a:t>
            </a:r>
            <a:r>
              <a:rPr lang="en-US" sz="2800" dirty="0"/>
              <a:t>to technical terms and abbreviations that you </a:t>
            </a:r>
            <a:r>
              <a:rPr lang="en-US" sz="2800" dirty="0" smtClean="0"/>
              <a:t>slowly incorporate </a:t>
            </a:r>
            <a:r>
              <a:rPr lang="en-US" sz="2800" dirty="0"/>
              <a:t>into your vocabulary. </a:t>
            </a:r>
            <a:endParaRPr lang="en-US" sz="2800" dirty="0" smtClean="0"/>
          </a:p>
          <a:p>
            <a:r>
              <a:rPr lang="en-US" sz="2800" dirty="0" smtClean="0"/>
              <a:t>However</a:t>
            </a:r>
            <a:r>
              <a:rPr lang="en-US" sz="2800" dirty="0"/>
              <a:t>, not everybody in the </a:t>
            </a:r>
            <a:r>
              <a:rPr lang="en-US" sz="2800" dirty="0" smtClean="0"/>
              <a:t>general public </a:t>
            </a:r>
            <a:r>
              <a:rPr lang="en-US" sz="2800" dirty="0"/>
              <a:t>is familiar with </a:t>
            </a:r>
            <a:r>
              <a:rPr lang="en-US" sz="2800" dirty="0" smtClean="0"/>
              <a:t>the terms you might be mentioning.</a:t>
            </a:r>
          </a:p>
          <a:p>
            <a:r>
              <a:rPr lang="en-US" sz="2800" dirty="0" smtClean="0"/>
              <a:t>Whenever</a:t>
            </a:r>
            <a:r>
              <a:rPr lang="en-US" sz="2800" dirty="0"/>
              <a:t> </a:t>
            </a:r>
            <a:r>
              <a:rPr lang="en-US" sz="2800" dirty="0" smtClean="0"/>
              <a:t>possible</a:t>
            </a:r>
            <a:r>
              <a:rPr lang="en-US" sz="2800" dirty="0"/>
              <a:t>, try to gauge the user’s knowledge level and use an </a:t>
            </a:r>
            <a:r>
              <a:rPr lang="en-US" sz="2800" dirty="0" smtClean="0"/>
              <a:t>appropriate level </a:t>
            </a:r>
            <a:r>
              <a:rPr lang="en-US" sz="2800" dirty="0"/>
              <a:t>of terminology.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0392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PROFESSIONAL BEHAVIOR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You should always try to conduct yourself with professionalism. </a:t>
            </a:r>
            <a:endParaRPr lang="en-US" sz="2800" dirty="0" smtClean="0"/>
          </a:p>
          <a:p>
            <a:r>
              <a:rPr lang="en-US" sz="2800" dirty="0" smtClean="0"/>
              <a:t>Doing </a:t>
            </a:r>
            <a:r>
              <a:rPr lang="en-US" sz="2800" dirty="0"/>
              <a:t>so </a:t>
            </a:r>
            <a:r>
              <a:rPr lang="en-US" sz="2800" dirty="0" smtClean="0"/>
              <a:t>generates respectability </a:t>
            </a:r>
            <a:r>
              <a:rPr lang="en-US" sz="2800" dirty="0"/>
              <a:t>in the eyes of your clients and supervisors. </a:t>
            </a:r>
            <a:endParaRPr lang="en-US" sz="2800" dirty="0" smtClean="0"/>
          </a:p>
          <a:p>
            <a:r>
              <a:rPr lang="en-US" sz="2800" dirty="0" smtClean="0"/>
              <a:t>The following list </a:t>
            </a:r>
            <a:r>
              <a:rPr lang="en-US" sz="2800" dirty="0"/>
              <a:t>contains some aspects of professionalism that should be practiced:</a:t>
            </a:r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3393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1.</a:t>
            </a:r>
            <a:br>
              <a:rPr lang="en-US" dirty="0" smtClean="0"/>
            </a:br>
            <a:r>
              <a:rPr lang="en-US" dirty="0" smtClean="0"/>
              <a:t>Positive attitude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800" dirty="0" smtClean="0"/>
              <a:t>Users can </a:t>
            </a:r>
            <a:r>
              <a:rPr lang="en-US" sz="2800" dirty="0"/>
              <a:t>smell a negative attitude right away.</a:t>
            </a:r>
          </a:p>
          <a:p>
            <a:r>
              <a:rPr lang="en-US" sz="2800" dirty="0"/>
              <a:t>You should approach each client and each job with a positive </a:t>
            </a:r>
            <a:r>
              <a:rPr lang="en-US" sz="2800" dirty="0" smtClean="0"/>
              <a:t>attitude and </a:t>
            </a:r>
            <a:r>
              <a:rPr lang="en-US" sz="2800" dirty="0"/>
              <a:t>a feeling of </a:t>
            </a:r>
            <a:r>
              <a:rPr lang="en-US" sz="2800" dirty="0" smtClean="0"/>
              <a:t>confidence.</a:t>
            </a:r>
          </a:p>
          <a:p>
            <a:r>
              <a:rPr lang="en-US" sz="2800" dirty="0" smtClean="0"/>
              <a:t>If </a:t>
            </a:r>
            <a:r>
              <a:rPr lang="en-US" sz="2800" dirty="0"/>
              <a:t>you do, you will get more satisfaction </a:t>
            </a:r>
            <a:r>
              <a:rPr lang="en-US" sz="2800" dirty="0" smtClean="0"/>
              <a:t>from your </a:t>
            </a:r>
            <a:r>
              <a:rPr lang="en-US" sz="2800" dirty="0"/>
              <a:t>job. </a:t>
            </a:r>
            <a:endParaRPr lang="en-US" sz="2800" dirty="0" smtClean="0"/>
          </a:p>
          <a:p>
            <a:r>
              <a:rPr lang="en-US" sz="2800" dirty="0" smtClean="0"/>
              <a:t>Regardless </a:t>
            </a:r>
            <a:r>
              <a:rPr lang="en-US" sz="2800" dirty="0"/>
              <a:t>of your position, there will likely be some </a:t>
            </a:r>
            <a:r>
              <a:rPr lang="en-US" sz="2800" dirty="0" smtClean="0"/>
              <a:t>aspects of </a:t>
            </a:r>
            <a:r>
              <a:rPr lang="en-US" sz="2800" dirty="0"/>
              <a:t>your job that you don’t enjoy, but don’t let these things bring </a:t>
            </a:r>
            <a:r>
              <a:rPr lang="en-US" sz="2800" dirty="0" smtClean="0"/>
              <a:t>your attitude </a:t>
            </a:r>
            <a:r>
              <a:rPr lang="en-US" sz="2800" dirty="0"/>
              <a:t>down.</a:t>
            </a:r>
          </a:p>
          <a:p>
            <a:r>
              <a:rPr lang="en-US" sz="2800" dirty="0"/>
              <a:t>In most cases, you deal with clients who have problems. These </a:t>
            </a:r>
            <a:r>
              <a:rPr lang="en-US" sz="2800" dirty="0" smtClean="0"/>
              <a:t>problems may </a:t>
            </a:r>
            <a:r>
              <a:rPr lang="en-US" sz="2800" dirty="0"/>
              <a:t>put the client in a foul mood. If you seem happy to see a </a:t>
            </a:r>
            <a:r>
              <a:rPr lang="en-US" sz="2800" dirty="0" smtClean="0"/>
              <a:t>client, then </a:t>
            </a:r>
            <a:r>
              <a:rPr lang="en-US" sz="2800" dirty="0"/>
              <a:t>he will likely lighten his mood, and you will both have a more </a:t>
            </a:r>
            <a:r>
              <a:rPr lang="en-US" sz="2800" dirty="0" smtClean="0"/>
              <a:t>positive experience</a:t>
            </a:r>
            <a:r>
              <a:rPr lang="en-US" sz="2800" dirty="0"/>
              <a:t>.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20683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/>
              <a:t>Proper dress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800" dirty="0" smtClean="0"/>
              <a:t>Professionalism </a:t>
            </a:r>
            <a:r>
              <a:rPr lang="en-US" sz="2800" dirty="0"/>
              <a:t>likely includes appropriate attire as </a:t>
            </a:r>
            <a:r>
              <a:rPr lang="en-US" sz="2800" dirty="0" smtClean="0"/>
              <a:t>well as </a:t>
            </a:r>
            <a:r>
              <a:rPr lang="en-US" sz="2800" dirty="0"/>
              <a:t>attitude. </a:t>
            </a:r>
            <a:endParaRPr lang="en-US" sz="2800" dirty="0" smtClean="0"/>
          </a:p>
          <a:p>
            <a:r>
              <a:rPr lang="en-US" sz="2800" dirty="0" smtClean="0"/>
              <a:t>When </a:t>
            </a:r>
            <a:r>
              <a:rPr lang="en-US" sz="2800" dirty="0"/>
              <a:t>choosing what to wear, you should plan around </a:t>
            </a:r>
            <a:r>
              <a:rPr lang="en-US" sz="2800" dirty="0" smtClean="0"/>
              <a:t>the jobs </a:t>
            </a:r>
            <a:r>
              <a:rPr lang="en-US" sz="2800" dirty="0"/>
              <a:t>that you are doing. </a:t>
            </a:r>
            <a:endParaRPr lang="en-US" sz="2800" dirty="0" smtClean="0"/>
          </a:p>
          <a:p>
            <a:r>
              <a:rPr lang="en-US" sz="2800" dirty="0" smtClean="0"/>
              <a:t>Client </a:t>
            </a:r>
            <a:r>
              <a:rPr lang="en-US" sz="2800" dirty="0"/>
              <a:t>meetings might dictate formal </a:t>
            </a:r>
            <a:r>
              <a:rPr lang="en-US" sz="2800" dirty="0" smtClean="0"/>
              <a:t>business attire</a:t>
            </a:r>
            <a:r>
              <a:rPr lang="en-US" sz="2800" dirty="0"/>
              <a:t>, while if you are expecting to pull cable through crawlspaces, </a:t>
            </a:r>
            <a:r>
              <a:rPr lang="en-US" sz="2800" dirty="0" smtClean="0"/>
              <a:t>then something </a:t>
            </a:r>
            <a:r>
              <a:rPr lang="en-US" sz="2800" dirty="0"/>
              <a:t>more casual would fit the task.</a:t>
            </a:r>
          </a:p>
          <a:p>
            <a:r>
              <a:rPr lang="en-US" sz="2800" dirty="0"/>
              <a:t>Regardless of the job, your clothes should be clean and well-mended. </a:t>
            </a:r>
            <a:r>
              <a:rPr lang="en-US" sz="2800" dirty="0" smtClean="0"/>
              <a:t>To a </a:t>
            </a:r>
            <a:r>
              <a:rPr lang="en-US" sz="2800" dirty="0"/>
              <a:t>client, a shoddy appearance indicates shoddy work.</a:t>
            </a:r>
            <a:endParaRPr lang="en-US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521752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3.</a:t>
            </a:r>
            <a:br>
              <a:rPr lang="en-US" dirty="0" smtClean="0"/>
            </a:br>
            <a:r>
              <a:rPr lang="en-US" dirty="0"/>
              <a:t>Privacy, confidentiality, and discretion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800" dirty="0" smtClean="0"/>
              <a:t>In </a:t>
            </a:r>
            <a:r>
              <a:rPr lang="en-US" sz="2800" dirty="0"/>
              <a:t>many cases, </a:t>
            </a:r>
            <a:r>
              <a:rPr lang="en-US" sz="2800" dirty="0" smtClean="0"/>
              <a:t>you will </a:t>
            </a:r>
            <a:r>
              <a:rPr lang="en-US" sz="2800" dirty="0"/>
              <a:t>have access to their most private documents. In corporate </a:t>
            </a:r>
            <a:r>
              <a:rPr lang="en-US" sz="2800" dirty="0" smtClean="0"/>
              <a:t>environments, this </a:t>
            </a:r>
            <a:r>
              <a:rPr lang="en-US" sz="2800" dirty="0"/>
              <a:t>may include confidential employee information, and </a:t>
            </a:r>
            <a:r>
              <a:rPr lang="en-US" sz="2800" dirty="0" smtClean="0"/>
              <a:t>when doing </a:t>
            </a:r>
            <a:r>
              <a:rPr lang="en-US" sz="2800" dirty="0"/>
              <a:t>retail bench work, this may include private financial information.</a:t>
            </a:r>
          </a:p>
          <a:p>
            <a:r>
              <a:rPr lang="en-US" sz="2800" dirty="0"/>
              <a:t>In both cases, a client’s computer often holds information that </a:t>
            </a:r>
            <a:r>
              <a:rPr lang="en-US" sz="2800" dirty="0" smtClean="0"/>
              <a:t>you should </a:t>
            </a:r>
            <a:r>
              <a:rPr lang="en-US" sz="2800" dirty="0"/>
              <a:t>not be seeing and that, in normal circumstances, you would </a:t>
            </a:r>
            <a:r>
              <a:rPr lang="en-US" sz="2800" dirty="0" smtClean="0"/>
              <a:t>not be </a:t>
            </a:r>
            <a:r>
              <a:rPr lang="en-US" sz="2800" dirty="0"/>
              <a:t>allowed to see. </a:t>
            </a:r>
            <a:endParaRPr lang="en-US" sz="2800" dirty="0" smtClean="0"/>
          </a:p>
          <a:p>
            <a:r>
              <a:rPr lang="en-US" sz="2800" dirty="0" smtClean="0"/>
              <a:t>In </a:t>
            </a:r>
            <a:r>
              <a:rPr lang="en-US" sz="2800" dirty="0"/>
              <a:t>most cases, you will know what you should </a:t>
            </a:r>
            <a:r>
              <a:rPr lang="en-US" sz="2800" dirty="0" smtClean="0"/>
              <a:t>and should </a:t>
            </a:r>
            <a:r>
              <a:rPr lang="en-US" sz="2800" dirty="0"/>
              <a:t>not be looking at. </a:t>
            </a:r>
            <a:endParaRPr lang="en-US" sz="2800" dirty="0" smtClean="0"/>
          </a:p>
          <a:p>
            <a:r>
              <a:rPr lang="en-US" sz="2800" dirty="0" smtClean="0"/>
              <a:t>If </a:t>
            </a:r>
            <a:r>
              <a:rPr lang="en-US" sz="2800" dirty="0"/>
              <a:t>there is a reason to open a file to </a:t>
            </a:r>
            <a:r>
              <a:rPr lang="en-US" sz="2800" dirty="0" smtClean="0"/>
              <a:t>verify accessibility</a:t>
            </a:r>
            <a:r>
              <a:rPr lang="en-US" sz="2800" dirty="0"/>
              <a:t>, then you will need to do that, but you should ignore </a:t>
            </a:r>
            <a:r>
              <a:rPr lang="en-US" sz="2800" dirty="0" smtClean="0"/>
              <a:t>the information </a:t>
            </a:r>
            <a:r>
              <a:rPr lang="en-US" sz="2800" dirty="0"/>
              <a:t>you find when you’re done.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459598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/>
              <a:t>Respect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800" dirty="0" smtClean="0"/>
              <a:t>People </a:t>
            </a:r>
            <a:r>
              <a:rPr lang="en-US" sz="2800" dirty="0"/>
              <a:t>with different cultural backgrounds will have </a:t>
            </a:r>
            <a:r>
              <a:rPr lang="en-US" sz="2800" dirty="0" smtClean="0"/>
              <a:t>different means </a:t>
            </a:r>
            <a:r>
              <a:rPr lang="en-US" sz="2800" dirty="0"/>
              <a:t>of showing respect, and you should use techniques </a:t>
            </a:r>
            <a:r>
              <a:rPr lang="en-US" sz="2800" dirty="0" smtClean="0"/>
              <a:t>appropriate to </a:t>
            </a:r>
            <a:r>
              <a:rPr lang="en-US" sz="2800" dirty="0"/>
              <a:t>your local region or culture. </a:t>
            </a:r>
            <a:endParaRPr lang="en-US" sz="2800" dirty="0" smtClean="0"/>
          </a:p>
          <a:p>
            <a:r>
              <a:rPr lang="en-US" sz="2800" dirty="0" smtClean="0"/>
              <a:t>Respect </a:t>
            </a:r>
            <a:r>
              <a:rPr lang="en-US" sz="2800" dirty="0"/>
              <a:t>should be thought of as a two-way street. </a:t>
            </a:r>
            <a:endParaRPr lang="en-US" sz="2800" dirty="0" smtClean="0"/>
          </a:p>
          <a:p>
            <a:r>
              <a:rPr lang="en-US" sz="2800" dirty="0" smtClean="0"/>
              <a:t>In</a:t>
            </a:r>
            <a:r>
              <a:rPr lang="en-US" sz="2800" dirty="0"/>
              <a:t> </a:t>
            </a:r>
            <a:r>
              <a:rPr lang="en-US" sz="2800" dirty="0" smtClean="0"/>
              <a:t>most </a:t>
            </a:r>
            <a:r>
              <a:rPr lang="en-US" sz="2800" dirty="0"/>
              <a:t>cases, if you show appropriate respect to your clients, they </a:t>
            </a:r>
            <a:r>
              <a:rPr lang="en-US" sz="2800" dirty="0" smtClean="0"/>
              <a:t>will return </a:t>
            </a:r>
            <a:r>
              <a:rPr lang="en-US" sz="2800" dirty="0"/>
              <a:t>that level of respect.</a:t>
            </a:r>
            <a:endParaRPr lang="en-US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69709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Ways of showing</a:t>
            </a:r>
            <a:br>
              <a:rPr lang="en-US" dirty="0" smtClean="0"/>
            </a:br>
            <a:r>
              <a:rPr lang="en-US" dirty="0"/>
              <a:t>Respect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Don’t argue or be </a:t>
            </a:r>
            <a:r>
              <a:rPr lang="en-US" b="1" dirty="0" smtClean="0"/>
              <a:t>defensive</a:t>
            </a:r>
          </a:p>
          <a:p>
            <a:r>
              <a:rPr lang="en-US" b="1" dirty="0"/>
              <a:t>Don’t belittle or minimize </a:t>
            </a:r>
            <a:r>
              <a:rPr lang="en-US" b="1" dirty="0" smtClean="0"/>
              <a:t>problems. </a:t>
            </a:r>
            <a:r>
              <a:rPr lang="en-US" dirty="0"/>
              <a:t>In most cases, the </a:t>
            </a:r>
            <a:r>
              <a:rPr lang="en-US" dirty="0" smtClean="0"/>
              <a:t>problems that </a:t>
            </a:r>
            <a:r>
              <a:rPr lang="en-US" dirty="0"/>
              <a:t>users face are serious to </a:t>
            </a:r>
            <a:r>
              <a:rPr lang="en-US" dirty="0" smtClean="0"/>
              <a:t>them.</a:t>
            </a:r>
          </a:p>
          <a:p>
            <a:r>
              <a:rPr lang="en-US" b="1" dirty="0"/>
              <a:t>Don’t be judgmental</a:t>
            </a:r>
            <a:r>
              <a:rPr lang="en-US" b="1" dirty="0" smtClean="0"/>
              <a:t>.</a:t>
            </a:r>
          </a:p>
          <a:p>
            <a:r>
              <a:rPr lang="en-US" b="1" dirty="0"/>
              <a:t>Avoid distractions and interruptions</a:t>
            </a:r>
            <a:r>
              <a:rPr lang="en-US" b="1" dirty="0" smtClean="0"/>
              <a:t>.</a:t>
            </a:r>
          </a:p>
          <a:p>
            <a:r>
              <a:rPr lang="en-US" b="1" dirty="0"/>
              <a:t>Property is as important as </a:t>
            </a:r>
            <a:r>
              <a:rPr lang="en-US" b="1" dirty="0" smtClean="0"/>
              <a:t>people.</a:t>
            </a:r>
          </a:p>
          <a:p>
            <a:r>
              <a:rPr lang="en-US" b="1" dirty="0"/>
              <a:t>Don’t bad-mouth past clients</a:t>
            </a:r>
            <a:endParaRPr lang="en-US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92929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4119</TotalTime>
  <Words>890</Words>
  <Application>Microsoft Office PowerPoint</Application>
  <PresentationFormat>Widescreen</PresentationFormat>
  <Paragraphs>67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Corbel</vt:lpstr>
      <vt:lpstr>Wingdings 2</vt:lpstr>
      <vt:lpstr>Frame</vt:lpstr>
      <vt:lpstr>PROFESSIONALISM AND COMMUNICATION</vt:lpstr>
      <vt:lpstr>OVERVIEW</vt:lpstr>
      <vt:lpstr>Good communication skills</vt:lpstr>
      <vt:lpstr>1. Listen to the customer and don’t interrupt</vt:lpstr>
      <vt:lpstr>2. Clarify statements and repeat what you have heard</vt:lpstr>
      <vt:lpstr>3. Use clear, concise, and direct statements</vt:lpstr>
      <vt:lpstr>4. Avoid tech talk</vt:lpstr>
      <vt:lpstr>PROFESSIONAL BEHAVIOR</vt:lpstr>
      <vt:lpstr>1. Positive attitude</vt:lpstr>
      <vt:lpstr>2. Proper dress</vt:lpstr>
      <vt:lpstr>3. Privacy, confidentiality, and discretion</vt:lpstr>
      <vt:lpstr>4. Respect</vt:lpstr>
      <vt:lpstr>Ways of showing Respect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Information Gathering Approaches</dc:title>
  <dc:creator>Windows 用户</dc:creator>
  <cp:lastModifiedBy>JAMIE</cp:lastModifiedBy>
  <cp:revision>49</cp:revision>
  <dcterms:created xsi:type="dcterms:W3CDTF">2023-09-04T06:52:25Z</dcterms:created>
  <dcterms:modified xsi:type="dcterms:W3CDTF">2024-08-09T08:50:56Z</dcterms:modified>
</cp:coreProperties>
</file>