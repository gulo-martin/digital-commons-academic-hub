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sldIdLst>
    <p:sldId id="281" r:id="rId2"/>
    <p:sldId id="282" r:id="rId3"/>
    <p:sldId id="256" r:id="rId4"/>
    <p:sldId id="257" r:id="rId5"/>
    <p:sldId id="258" r:id="rId6"/>
    <p:sldId id="259" r:id="rId7"/>
    <p:sldId id="280" r:id="rId8"/>
    <p:sldId id="267" r:id="rId9"/>
    <p:sldId id="260" r:id="rId10"/>
    <p:sldId id="261" r:id="rId11"/>
    <p:sldId id="262" r:id="rId12"/>
    <p:sldId id="263" r:id="rId13"/>
    <p:sldId id="264" r:id="rId14"/>
    <p:sldId id="265" r:id="rId15"/>
    <p:sldId id="266" r:id="rId16"/>
    <p:sldId id="273" r:id="rId17"/>
    <p:sldId id="274" r:id="rId18"/>
    <p:sldId id="275" r:id="rId19"/>
    <p:sldId id="276" r:id="rId20"/>
    <p:sldId id="277" r:id="rId21"/>
    <p:sldId id="278" r:id="rId22"/>
    <p:sldId id="279" r:id="rId23"/>
    <p:sldId id="268" r:id="rId24"/>
    <p:sldId id="269" r:id="rId25"/>
    <p:sldId id="270" r:id="rId26"/>
    <p:sldId id="271" r:id="rId27"/>
    <p:sldId id="272" r:id="rId2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384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3146"/>
    <a:srgbClr val="263E58"/>
    <a:srgbClr val="2E3256"/>
    <a:srgbClr val="2E3054"/>
    <a:srgbClr val="282D5A"/>
    <a:srgbClr val="BBBBB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000" autoAdjust="0"/>
    <p:restoredTop sz="94434" autoAdjust="0"/>
  </p:normalViewPr>
  <p:slideViewPr>
    <p:cSldViewPr snapToGrid="0">
      <p:cViewPr>
        <p:scale>
          <a:sx n="73" d="100"/>
          <a:sy n="73" d="100"/>
        </p:scale>
        <p:origin x="404" y="44"/>
      </p:cViewPr>
      <p:guideLst>
        <p:guide orient="horz" pos="2160"/>
        <p:guide pos="3840"/>
      </p:guideLst>
    </p:cSldViewPr>
  </p:slideViewPr>
  <p:outlineViewPr>
    <p:cViewPr>
      <p:scale>
        <a:sx n="33" d="100"/>
        <a:sy n="33" d="100"/>
      </p:scale>
      <p:origin x="0" y="0"/>
    </p:cViewPr>
  </p:outlineViewPr>
  <p:notesTextViewPr>
    <p:cViewPr>
      <p:scale>
        <a:sx n="1" d="1"/>
        <a:sy n="1" d="1"/>
      </p:scale>
      <p:origin x="0" y="0"/>
    </p:cViewPr>
  </p:notesTextViewPr>
  <p:sorterViewPr>
    <p:cViewPr>
      <p:scale>
        <a:sx n="100" d="100"/>
        <a:sy n="100" d="100"/>
      </p:scale>
      <p:origin x="0" y="0"/>
    </p:cViewPr>
  </p:sorter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154955" y="1447800"/>
            <a:ext cx="8825658" cy="3329581"/>
          </a:xfrm>
        </p:spPr>
        <p:txBody>
          <a:bodyPr anchor="b"/>
          <a:lstStyle>
            <a:lvl1pPr>
              <a:defRPr sz="7200"/>
            </a:lvl1pPr>
          </a:lstStyle>
          <a:p>
            <a:r>
              <a:rPr lang="en-US"/>
              <a:t>Click to edit Master title style</a:t>
            </a:r>
            <a:endParaRPr lang="en-US" dirty="0"/>
          </a:p>
        </p:txBody>
      </p:sp>
      <p:sp>
        <p:nvSpPr>
          <p:cNvPr id="3" name="Subtitle 2"/>
          <p:cNvSpPr>
            <a:spLocks noGrp="1"/>
          </p:cNvSpPr>
          <p:nvPr>
            <p:ph type="subTitle" idx="1"/>
          </p:nvPr>
        </p:nvSpPr>
        <p:spPr>
          <a:xfrm>
            <a:off x="1154955" y="4777380"/>
            <a:ext cx="8825658" cy="861420"/>
          </a:xfrm>
        </p:spPr>
        <p:txBody>
          <a:bodyPr anchor="t"/>
          <a:lstStyle>
            <a:lvl1pPr marL="0" indent="0" algn="l">
              <a:buNone/>
              <a:defRPr cap="all">
                <a:solidFill>
                  <a:schemeClr val="bg2">
                    <a:lumMod val="40000"/>
                    <a:lumOff val="6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4AAD347D-5ACD-4C99-B74B-A9C85AD731AF}" type="datetimeFigureOut">
              <a:rPr lang="en-US" dirty="0"/>
              <a:pPr/>
              <a:t>8/18/2025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3"/>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54956" y="2861733"/>
            <a:ext cx="8825657" cy="1915647"/>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5" y="4777381"/>
            <a:ext cx="8825658" cy="860400"/>
          </a:xfrm>
        </p:spPr>
        <p:txBody>
          <a:bodyPr anchor="t"/>
          <a:lstStyle>
            <a:lvl1pPr marL="0" indent="0" algn="l">
              <a:buNone/>
              <a:defRPr sz="2000" cap="all">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9796027F-7875-4030-9381-8BD8C4F21935}" type="datetimeFigureOut">
              <a:rPr lang="en-US" dirty="0"/>
              <a:pPr/>
              <a:t>8/18/2025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103312" y="2060575"/>
            <a:ext cx="4396339" cy="4195763"/>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654493" y="2056092"/>
            <a:ext cx="4396341" cy="4200245"/>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9796027F-7875-4030-9381-8BD8C4F21935}" type="datetimeFigureOut">
              <a:rPr lang="en-US" dirty="0"/>
              <a:pPr/>
              <a:t>8/18/2025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1103313" y="1905000"/>
            <a:ext cx="4396338"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103312"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654495" y="1905000"/>
            <a:ext cx="4396339"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654495" y="2514600"/>
            <a:ext cx="4396339" cy="3741738"/>
          </a:xfrm>
        </p:spPr>
        <p:txBody>
          <a:bodyPr>
            <a:normAutofit/>
          </a:bodyPr>
          <a:lstStyle>
            <a:lvl1pPr>
              <a:defRPr sz="1800"/>
            </a:lvl1pPr>
            <a:lvl2pPr>
              <a:defRPr sz="1600"/>
            </a:lvl2pPr>
            <a:lvl3pPr>
              <a:defRPr sz="140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9796027F-7875-4030-9381-8BD8C4F21935}" type="datetimeFigureOut">
              <a:rPr lang="en-US" dirty="0"/>
              <a:pPr/>
              <a:t>8/18/2025</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7" name="Date Placeholder 2"/>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5" name="Footer Placeholder 3"/>
          <p:cNvSpPr>
            <a:spLocks noGrp="1"/>
          </p:cNvSpPr>
          <p:nvPr>
            <p:ph type="ftr" sz="quarter" idx="11"/>
          </p:nvPr>
        </p:nvSpPr>
        <p:spPr/>
        <p:txBody>
          <a:bodyPr/>
          <a:lstStyle/>
          <a:p>
            <a:endParaRPr lang="en-US" dirty="0"/>
          </a:p>
        </p:txBody>
      </p:sp>
      <p:sp>
        <p:nvSpPr>
          <p:cNvPr id="6" name="Slide Number Placeholder 4"/>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7" name="Date Placeholder 1"/>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5" name="Footer Placeholder 2"/>
          <p:cNvSpPr>
            <a:spLocks noGrp="1"/>
          </p:cNvSpPr>
          <p:nvPr>
            <p:ph type="ftr" sz="quarter" idx="11"/>
          </p:nvPr>
        </p:nvSpPr>
        <p:spPr/>
        <p:txBody>
          <a:bodyPr/>
          <a:lstStyle/>
          <a:p>
            <a:endParaRPr lang="en-US" dirty="0"/>
          </a:p>
        </p:txBody>
      </p:sp>
      <p:sp>
        <p:nvSpPr>
          <p:cNvPr id="6" name="Slide Number Placeholder 3"/>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3" y="1447800"/>
            <a:ext cx="3401064" cy="1447800"/>
          </a:xfrm>
        </p:spPr>
        <p:txBody>
          <a:bodyPr anchor="b"/>
          <a:lstStyle>
            <a:lvl1pPr algn="l">
              <a:defRPr sz="2400" b="0"/>
            </a:lvl1pPr>
          </a:lstStyle>
          <a:p>
            <a:r>
              <a:rPr lang="en-US"/>
              <a:t>Click to edit Master title style</a:t>
            </a:r>
            <a:endParaRPr lang="en-US" dirty="0"/>
          </a:p>
        </p:txBody>
      </p:sp>
      <p:sp>
        <p:nvSpPr>
          <p:cNvPr id="3" name="Content Placeholder 2"/>
          <p:cNvSpPr>
            <a:spLocks noGrp="1"/>
          </p:cNvSpPr>
          <p:nvPr>
            <p:ph idx="1"/>
          </p:nvPr>
        </p:nvSpPr>
        <p:spPr>
          <a:xfrm>
            <a:off x="4784616" y="1447800"/>
            <a:ext cx="5195997" cy="4572000"/>
          </a:xfrm>
        </p:spPr>
        <p:txBody>
          <a:bodyPr anchor="ctr">
            <a:normAutofit/>
          </a:bodyPr>
          <a:lstStyle>
            <a:lvl1pPr>
              <a:defRPr sz="2000"/>
            </a:lvl1pPr>
            <a:lvl2pPr>
              <a:defRPr sz="1800"/>
            </a:lvl2pPr>
            <a:lvl3pPr>
              <a:defRPr sz="1600"/>
            </a:lvl3pPr>
            <a:lvl4pPr>
              <a:defRPr sz="1400"/>
            </a:lvl4pPr>
            <a:lvl5pPr>
              <a:defRPr sz="1400"/>
            </a:lvl5pPr>
            <a:lvl6pPr>
              <a:defRPr sz="1400"/>
            </a:lvl6pPr>
            <a:lvl7pPr>
              <a:defRPr sz="1400"/>
            </a:lvl7pPr>
            <a:lvl8pPr>
              <a:defRPr sz="1400"/>
            </a:lvl8pPr>
            <a:lvl9pPr>
              <a:defRPr sz="14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54953" y="3129280"/>
            <a:ext cx="3401063" cy="2895599"/>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7" name="Date Placeholder 4"/>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5" name="Footer Placeholder 5"/>
          <p:cNvSpPr>
            <a:spLocks noGrp="1"/>
          </p:cNvSpPr>
          <p:nvPr>
            <p:ph type="ftr" sz="quarter" idx="11"/>
          </p:nvPr>
        </p:nvSpPr>
        <p:spPr/>
        <p:txBody>
          <a:bodyPr/>
          <a:lstStyle/>
          <a:p>
            <a:endParaRPr lang="en-US" dirty="0"/>
          </a:p>
        </p:txBody>
      </p:sp>
      <p:sp>
        <p:nvSpPr>
          <p:cNvPr id="6" name="Slide Number Placeholder 6"/>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3907" y="1854192"/>
            <a:ext cx="5092906" cy="1574808"/>
          </a:xfrm>
        </p:spPr>
        <p:txBody>
          <a:bodyPr anchor="b">
            <a:normAutofit/>
          </a:bodyPr>
          <a:lstStyle>
            <a:lvl1pPr algn="l">
              <a:defRPr sz="36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949546" y="1143000"/>
            <a:ext cx="3200400" cy="4572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4" y="3657600"/>
            <a:ext cx="5084979" cy="1371600"/>
          </a:xfrm>
        </p:spPr>
        <p:txBody>
          <a:bodyPr>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6" y="4800587"/>
            <a:ext cx="882565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1154955" y="685800"/>
            <a:ext cx="8825658" cy="3640666"/>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1154956" y="5367325"/>
            <a:ext cx="8825656"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1154954" y="1447800"/>
            <a:ext cx="8825659" cy="1981200"/>
          </a:xfrm>
        </p:spPr>
        <p:txBody>
          <a:bodyPr/>
          <a:lstStyle>
            <a:lvl1pPr>
              <a:defRPr sz="4800"/>
            </a:lvl1pPr>
          </a:lstStyle>
          <a:p>
            <a:r>
              <a:rPr lang="en-US"/>
              <a:t>Click to edit Master title style</a:t>
            </a:r>
            <a:endParaRPr lang="en-US" dirty="0"/>
          </a:p>
        </p:txBody>
      </p:sp>
      <p:sp>
        <p:nvSpPr>
          <p:cNvPr id="8" name="Text Placeholder 3"/>
          <p:cNvSpPr>
            <a:spLocks noGrp="1"/>
          </p:cNvSpPr>
          <p:nvPr>
            <p:ph type="body" sz="half" idx="2"/>
          </p:nvPr>
        </p:nvSpPr>
        <p:spPr>
          <a:xfrm>
            <a:off x="1154954" y="3657600"/>
            <a:ext cx="8825659" cy="23622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574801" y="1447800"/>
            <a:ext cx="7999315" cy="2323374"/>
          </a:xfrm>
        </p:spPr>
        <p:txBody>
          <a:bodyPr/>
          <a:lstStyle>
            <a:lvl1pPr>
              <a:defRPr sz="4800"/>
            </a:lvl1pPr>
          </a:lstStyle>
          <a:p>
            <a:r>
              <a:rPr lang="en-US"/>
              <a:t>Click to edit Master title style</a:t>
            </a:r>
            <a:endParaRPr lang="en-US" dirty="0"/>
          </a:p>
        </p:txBody>
      </p:sp>
      <p:sp>
        <p:nvSpPr>
          <p:cNvPr id="11" name="Text Placeholder 3"/>
          <p:cNvSpPr>
            <a:spLocks noGrp="1"/>
          </p:cNvSpPr>
          <p:nvPr>
            <p:ph type="body" sz="half" idx="14"/>
          </p:nvPr>
        </p:nvSpPr>
        <p:spPr>
          <a:xfrm>
            <a:off x="1930400" y="3771174"/>
            <a:ext cx="7279649" cy="342174"/>
          </a:xfrm>
        </p:spPr>
        <p:txBody>
          <a:bodyPr vert="horz" lIns="91440" tIns="45720" rIns="91440" bIns="45720" rtlCol="0" anchor="t">
            <a:normAutofit/>
          </a:bodyPr>
          <a:lstStyle>
            <a:lvl1pPr marL="0" indent="0">
              <a:buNone/>
              <a:defRPr lang="en-US" sz="1400" b="0" i="0" kern="1200" cap="small" dirty="0">
                <a:solidFill>
                  <a:schemeClr val="bg2">
                    <a:lumMod val="40000"/>
                    <a:lumOff val="60000"/>
                  </a:schemeClr>
                </a:solidFill>
                <a:latin typeface="+mj-lt"/>
                <a:ea typeface="+mj-ea"/>
                <a:cs typeface="+mj-cs"/>
              </a:defRPr>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marL="0" lvl="0" indent="0">
              <a:buNone/>
            </a:pPr>
            <a:r>
              <a:rPr lang="en-US"/>
              <a:t>Click to edit Master text styles</a:t>
            </a:r>
          </a:p>
        </p:txBody>
      </p:sp>
      <p:sp>
        <p:nvSpPr>
          <p:cNvPr id="10" name="Text Placeholder 3"/>
          <p:cNvSpPr>
            <a:spLocks noGrp="1"/>
          </p:cNvSpPr>
          <p:nvPr>
            <p:ph type="body" sz="half" idx="2"/>
          </p:nvPr>
        </p:nvSpPr>
        <p:spPr>
          <a:xfrm>
            <a:off x="1154954" y="4350657"/>
            <a:ext cx="8825659" cy="1676400"/>
          </a:xfrm>
        </p:spPr>
        <p:txBody>
          <a:bodyPr anchor="ctr">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
        <p:nvSpPr>
          <p:cNvPr id="12" name="TextBox 11"/>
          <p:cNvSpPr txBox="1"/>
          <p:nvPr/>
        </p:nvSpPr>
        <p:spPr>
          <a:xfrm>
            <a:off x="898295" y="971253"/>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
        <p:nvSpPr>
          <p:cNvPr id="15" name="TextBox 14"/>
          <p:cNvSpPr txBox="1"/>
          <p:nvPr/>
        </p:nvSpPr>
        <p:spPr>
          <a:xfrm>
            <a:off x="9330490" y="2613787"/>
            <a:ext cx="801912" cy="1969770"/>
          </a:xfrm>
          <a:prstGeom prst="rect">
            <a:avLst/>
          </a:prstGeom>
          <a:noFill/>
        </p:spPr>
        <p:txBody>
          <a:bodyPr wrap="square" rtlCol="0">
            <a:spAutoFit/>
          </a:bodyPr>
          <a:lstStyle>
            <a:defPPr>
              <a:defRPr lang="en-US"/>
            </a:defPPr>
            <a:lvl1pPr algn="r">
              <a:defRPr sz="12200" b="0" i="0">
                <a:solidFill>
                  <a:schemeClr val="bg2">
                    <a:lumMod val="40000"/>
                    <a:lumOff val="60000"/>
                  </a:schemeClr>
                </a:solidFill>
                <a:latin typeface="Arial"/>
                <a:ea typeface="+mj-ea"/>
                <a:cs typeface="+mj-cs"/>
              </a:defRPr>
            </a:lvl1pPr>
          </a:lstStyle>
          <a:p>
            <a:pPr lvl="0"/>
            <a:r>
              <a:rPr lang="en-US" dirty="0"/>
              <a:t>”</a:t>
            </a:r>
          </a:p>
        </p:txBody>
      </p:sp>
    </p:spTree>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1154954" y="3124201"/>
            <a:ext cx="8825660" cy="1653180"/>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1154954" y="4777381"/>
            <a:ext cx="8825659" cy="860400"/>
          </a:xfrm>
        </p:spPr>
        <p:txBody>
          <a:bodyPr anchor="t"/>
          <a:lstStyle>
            <a:lvl1pPr marL="0" indent="0" algn="l">
              <a:buNone/>
              <a:defRPr sz="2000" cap="none">
                <a:solidFill>
                  <a:schemeClr val="bg2">
                    <a:lumMod val="40000"/>
                    <a:lumOff val="6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3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32947" y="1981200"/>
            <a:ext cx="2946866"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6" name="Text Placeholder 3"/>
          <p:cNvSpPr>
            <a:spLocks noGrp="1"/>
          </p:cNvSpPr>
          <p:nvPr>
            <p:ph type="body" sz="half" idx="15"/>
          </p:nvPr>
        </p:nvSpPr>
        <p:spPr>
          <a:xfrm>
            <a:off x="652463" y="2667000"/>
            <a:ext cx="2927350"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3659" y="1981200"/>
            <a:ext cx="2936241"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9" name="Text Placeholder 3"/>
          <p:cNvSpPr>
            <a:spLocks noGrp="1"/>
          </p:cNvSpPr>
          <p:nvPr>
            <p:ph type="body" sz="half" idx="16"/>
          </p:nvPr>
        </p:nvSpPr>
        <p:spPr>
          <a:xfrm>
            <a:off x="3873106" y="2667000"/>
            <a:ext cx="2946794"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1981200"/>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0" name="Text Placeholder 3"/>
          <p:cNvSpPr>
            <a:spLocks noGrp="1"/>
          </p:cNvSpPr>
          <p:nvPr>
            <p:ph type="body" sz="half" idx="17"/>
          </p:nvPr>
        </p:nvSpPr>
        <p:spPr>
          <a:xfrm>
            <a:off x="7124700" y="2667000"/>
            <a:ext cx="2932113" cy="3589338"/>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7" name="Straight Connector 16"/>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18" name="Straight Connector 17"/>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3 Picture Colum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sz="4200"/>
            </a:lvl1pPr>
          </a:lstStyle>
          <a:p>
            <a:r>
              <a:rPr lang="en-US"/>
              <a:t>Click to edit Master title style</a:t>
            </a:r>
            <a:endParaRPr lang="en-US" dirty="0"/>
          </a:p>
        </p:txBody>
      </p:sp>
      <p:sp>
        <p:nvSpPr>
          <p:cNvPr id="3" name="Text Placeholder 2"/>
          <p:cNvSpPr>
            <a:spLocks noGrp="1"/>
          </p:cNvSpPr>
          <p:nvPr>
            <p:ph type="body" idx="1"/>
          </p:nvPr>
        </p:nvSpPr>
        <p:spPr>
          <a:xfrm>
            <a:off x="652463" y="4250949"/>
            <a:ext cx="2940050"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29" name="Picture Placeholder 2"/>
          <p:cNvSpPr>
            <a:spLocks noGrp="1" noChangeAspect="1"/>
          </p:cNvSpPr>
          <p:nvPr>
            <p:ph type="pic" idx="15"/>
          </p:nvPr>
        </p:nvSpPr>
        <p:spPr>
          <a:xfrm>
            <a:off x="652463" y="2209800"/>
            <a:ext cx="2940050"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2" name="Text Placeholder 3"/>
          <p:cNvSpPr>
            <a:spLocks noGrp="1"/>
          </p:cNvSpPr>
          <p:nvPr>
            <p:ph type="body" sz="half" idx="18"/>
          </p:nvPr>
        </p:nvSpPr>
        <p:spPr>
          <a:xfrm>
            <a:off x="652463" y="4827211"/>
            <a:ext cx="2940050"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Text Placeholder 4"/>
          <p:cNvSpPr>
            <a:spLocks noGrp="1"/>
          </p:cNvSpPr>
          <p:nvPr>
            <p:ph type="body" sz="quarter" idx="3"/>
          </p:nvPr>
        </p:nvSpPr>
        <p:spPr>
          <a:xfrm>
            <a:off x="3889375" y="4250949"/>
            <a:ext cx="2930525"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0" name="Picture Placeholder 2"/>
          <p:cNvSpPr>
            <a:spLocks noGrp="1" noChangeAspect="1"/>
          </p:cNvSpPr>
          <p:nvPr>
            <p:ph type="pic" idx="21"/>
          </p:nvPr>
        </p:nvSpPr>
        <p:spPr>
          <a:xfrm>
            <a:off x="3889374" y="2209800"/>
            <a:ext cx="2930525"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3" name="Text Placeholder 3"/>
          <p:cNvSpPr>
            <a:spLocks noGrp="1"/>
          </p:cNvSpPr>
          <p:nvPr>
            <p:ph type="body" sz="half" idx="19"/>
          </p:nvPr>
        </p:nvSpPr>
        <p:spPr>
          <a:xfrm>
            <a:off x="3888022" y="4827210"/>
            <a:ext cx="2934406"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4" name="Text Placeholder 4"/>
          <p:cNvSpPr>
            <a:spLocks noGrp="1"/>
          </p:cNvSpPr>
          <p:nvPr>
            <p:ph type="body" sz="quarter" idx="13"/>
          </p:nvPr>
        </p:nvSpPr>
        <p:spPr>
          <a:xfrm>
            <a:off x="7124700" y="4250949"/>
            <a:ext cx="2932113" cy="576262"/>
          </a:xfrm>
        </p:spPr>
        <p:txBody>
          <a:bodyPr anchor="b">
            <a:noAutofit/>
          </a:bodyPr>
          <a:lstStyle>
            <a:lvl1pPr marL="0" indent="0">
              <a:buNone/>
              <a:defRPr sz="2400" b="0">
                <a:solidFill>
                  <a:schemeClr val="bg2">
                    <a:lumMod val="40000"/>
                    <a:lumOff val="60000"/>
                  </a:schemeClr>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31" name="Picture Placeholder 2"/>
          <p:cNvSpPr>
            <a:spLocks noGrp="1" noChangeAspect="1"/>
          </p:cNvSpPr>
          <p:nvPr>
            <p:ph type="pic" idx="22"/>
          </p:nvPr>
        </p:nvSpPr>
        <p:spPr>
          <a:xfrm>
            <a:off x="7124699" y="2209800"/>
            <a:ext cx="2932113" cy="1524000"/>
          </a:xfrm>
          <a:prstGeom prst="roundRect">
            <a:avLst>
              <a:gd name="adj" fmla="val 1858"/>
            </a:avLst>
          </a:prstGeom>
          <a:effectLst>
            <a:outerShdw blurRad="50800" dist="50800" dir="5400000" algn="tl" rotWithShape="0">
              <a:srgbClr val="000000">
                <a:alpha val="43000"/>
              </a:srgbClr>
            </a:out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24" name="Text Placeholder 3"/>
          <p:cNvSpPr>
            <a:spLocks noGrp="1"/>
          </p:cNvSpPr>
          <p:nvPr>
            <p:ph type="body" sz="half" idx="20"/>
          </p:nvPr>
        </p:nvSpPr>
        <p:spPr>
          <a:xfrm>
            <a:off x="7124575" y="4827208"/>
            <a:ext cx="2935997" cy="659189"/>
          </a:xfrm>
        </p:spPr>
        <p:txBody>
          <a:bodyPr anchor="t">
            <a:normAutofit/>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cxnSp>
        <p:nvCxnSpPr>
          <p:cNvPr id="19" name="Straight Connector 18"/>
          <p:cNvCxnSpPr/>
          <p:nvPr/>
        </p:nvCxnSpPr>
        <p:spPr>
          <a:xfrm>
            <a:off x="3726142" y="2133600"/>
            <a:ext cx="0" cy="3962400"/>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a:off x="6962227" y="2133600"/>
            <a:ext cx="0" cy="3966882"/>
          </a:xfrm>
          <a:prstGeom prst="line">
            <a:avLst/>
          </a:prstGeom>
          <a:ln w="12700" cmpd="sng">
            <a:solidFill>
              <a:schemeClr val="bg2">
                <a:lumMod val="40000"/>
                <a:lumOff val="60000"/>
                <a:alpha val="40000"/>
              </a:schemeClr>
            </a:solidFill>
          </a:ln>
        </p:spPr>
        <p:style>
          <a:lnRef idx="2">
            <a:schemeClr val="accent1"/>
          </a:lnRef>
          <a:fillRef idx="0">
            <a:schemeClr val="accent1"/>
          </a:fillRef>
          <a:effectRef idx="1">
            <a:schemeClr val="accent1"/>
          </a:effectRef>
          <a:fontRef idx="minor">
            <a:schemeClr val="tx1"/>
          </a:fontRef>
        </p:style>
      </p:cxnSp>
      <p:sp>
        <p:nvSpPr>
          <p:cNvPr id="7" name="Date Placeholder 3"/>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4"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nchor="t" anchorCtr="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304212" y="430213"/>
            <a:ext cx="1752601" cy="5826125"/>
          </a:xfrm>
        </p:spPr>
        <p:txBody>
          <a:bodyPr vert="eaVert" anchor="b" anchorCtr="0"/>
          <a:lstStyle/>
          <a:p>
            <a:r>
              <a:rPr lang="en-US"/>
              <a:t>Click to edit Master title style</a:t>
            </a:r>
            <a:endParaRPr lang="en-US" dirty="0"/>
          </a:p>
        </p:txBody>
      </p:sp>
      <p:sp>
        <p:nvSpPr>
          <p:cNvPr id="3" name="Vertical Text Placeholder 2"/>
          <p:cNvSpPr>
            <a:spLocks noGrp="1"/>
          </p:cNvSpPr>
          <p:nvPr>
            <p:ph type="body" orient="vert" idx="1"/>
          </p:nvPr>
        </p:nvSpPr>
        <p:spPr>
          <a:xfrm>
            <a:off x="652463" y="887414"/>
            <a:ext cx="7423149" cy="536892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4509A250-FF31-4206-8172-F9D3106AACB1}" type="datetimeFigureOut">
              <a:rPr lang="en-US" dirty="0"/>
              <a:pPr/>
              <a:t>8/18/2025</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02111984F565}" type="slidenum">
              <a:rPr lang="en-US" dirty="0"/>
              <a:pPr/>
              <a:t>‹#›</a:t>
            </a:fld>
            <a:endParaRPr lang="en-US" dirty="0"/>
          </a:p>
        </p:txBody>
      </p:sp>
    </p:spTree>
  </p:cSld>
  <p:clrMapOvr>
    <a:masterClrMapping/>
  </p:clrMapOvr>
  <p:transition spd="slow">
    <p:wipe/>
  </p:transition>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21" Type="http://schemas.openxmlformats.org/officeDocument/2006/relationships/image" Target="../media/image4.png"/><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image" Target="../media/image3.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image" Target="../media/image2.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image" Target="../media/image5.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pic>
        <p:nvPicPr>
          <p:cNvPr id="8" name="Picture 7"/>
          <p:cNvPicPr>
            <a:picLocks noChangeAspect="1"/>
          </p:cNvPicPr>
          <p:nvPr/>
        </p:nvPicPr>
        <p:blipFill rotWithShape="1">
          <a:blip r:embed="rId19">
            <a:extLst>
              <a:ext uri="{28A0092B-C50C-407E-A947-70E740481C1C}">
                <a14:useLocalDpi xmlns:a14="http://schemas.microsoft.com/office/drawing/2010/main" val="0"/>
              </a:ext>
            </a:extLst>
          </a:blip>
          <a:srcRect l="3613"/>
          <a:stretch/>
        </p:blipFill>
        <p:spPr>
          <a:xfrm>
            <a:off x="0" y="2669685"/>
            <a:ext cx="4037012" cy="4188315"/>
          </a:xfrm>
          <a:prstGeom prst="rect">
            <a:avLst/>
          </a:prstGeom>
        </p:spPr>
      </p:pic>
      <p:pic>
        <p:nvPicPr>
          <p:cNvPr id="7" name="Picture 6"/>
          <p:cNvPicPr>
            <a:picLocks noChangeAspect="1"/>
          </p:cNvPicPr>
          <p:nvPr/>
        </p:nvPicPr>
        <p:blipFill rotWithShape="1">
          <a:blip r:embed="rId20">
            <a:extLst>
              <a:ext uri="{28A0092B-C50C-407E-A947-70E740481C1C}">
                <a14:useLocalDpi xmlns:a14="http://schemas.microsoft.com/office/drawing/2010/main" val="0"/>
              </a:ext>
            </a:extLst>
          </a:blip>
          <a:srcRect l="35640"/>
          <a:stretch/>
        </p:blipFill>
        <p:spPr>
          <a:xfrm>
            <a:off x="0" y="2892347"/>
            <a:ext cx="1522412" cy="2365453"/>
          </a:xfrm>
          <a:prstGeom prst="rect">
            <a:avLst/>
          </a:prstGeom>
        </p:spPr>
      </p:pic>
      <p:sp>
        <p:nvSpPr>
          <p:cNvPr id="16" name="Oval 15"/>
          <p:cNvSpPr/>
          <p:nvPr/>
        </p:nvSpPr>
        <p:spPr>
          <a:xfrm>
            <a:off x="8609012" y="1676400"/>
            <a:ext cx="2819400" cy="2819400"/>
          </a:xfrm>
          <a:prstGeom prst="ellipse">
            <a:avLst/>
          </a:prstGeom>
          <a:gradFill flip="none" rotWithShape="1">
            <a:gsLst>
              <a:gs pos="0">
                <a:schemeClr val="bg2">
                  <a:lumMod val="60000"/>
                  <a:lumOff val="40000"/>
                  <a:alpha val="7000"/>
                </a:schemeClr>
              </a:gs>
              <a:gs pos="69000">
                <a:schemeClr val="bg2">
                  <a:lumMod val="60000"/>
                  <a:lumOff val="40000"/>
                  <a:alpha val="0"/>
                </a:schemeClr>
              </a:gs>
              <a:gs pos="36000">
                <a:schemeClr val="bg2">
                  <a:lumMod val="60000"/>
                  <a:lumOff val="40000"/>
                  <a:alpha val="6000"/>
                </a:schemeClr>
              </a:gs>
            </a:gsLst>
            <a:path path="circle">
              <a:fillToRect l="50000" t="50000" r="50000" b="50000"/>
            </a:path>
            <a:tileRect/>
          </a:gradFill>
          <a:ln>
            <a:noFill/>
          </a:ln>
          <a:effectLst/>
        </p:spPr>
        <p:style>
          <a:lnRef idx="1">
            <a:schemeClr val="accent1"/>
          </a:lnRef>
          <a:fillRef idx="3">
            <a:schemeClr val="accent1"/>
          </a:fillRef>
          <a:effectRef idx="2">
            <a:schemeClr val="accent1"/>
          </a:effectRef>
          <a:fontRef idx="minor">
            <a:schemeClr val="lt1"/>
          </a:fontRef>
        </p:style>
      </p:sp>
      <p:pic>
        <p:nvPicPr>
          <p:cNvPr id="9" name="Picture 8"/>
          <p:cNvPicPr>
            <a:picLocks noChangeAspect="1"/>
          </p:cNvPicPr>
          <p:nvPr/>
        </p:nvPicPr>
        <p:blipFill rotWithShape="1">
          <a:blip r:embed="rId21">
            <a:extLst>
              <a:ext uri="{28A0092B-C50C-407E-A947-70E740481C1C}">
                <a14:useLocalDpi xmlns:a14="http://schemas.microsoft.com/office/drawing/2010/main" val="0"/>
              </a:ext>
            </a:extLst>
          </a:blip>
          <a:srcRect t="28813"/>
          <a:stretch/>
        </p:blipFill>
        <p:spPr>
          <a:xfrm>
            <a:off x="7999412" y="0"/>
            <a:ext cx="1603387" cy="1141407"/>
          </a:xfrm>
          <a:prstGeom prst="rect">
            <a:avLst/>
          </a:prstGeom>
        </p:spPr>
      </p:pic>
      <p:pic>
        <p:nvPicPr>
          <p:cNvPr id="10" name="Picture 9"/>
          <p:cNvPicPr>
            <a:picLocks noChangeAspect="1"/>
          </p:cNvPicPr>
          <p:nvPr/>
        </p:nvPicPr>
        <p:blipFill rotWithShape="1">
          <a:blip r:embed="rId22">
            <a:extLst>
              <a:ext uri="{28A0092B-C50C-407E-A947-70E740481C1C}">
                <a14:useLocalDpi xmlns:a14="http://schemas.microsoft.com/office/drawing/2010/main" val="0"/>
              </a:ext>
            </a:extLst>
          </a:blip>
          <a:srcRect b="23320"/>
          <a:stretch/>
        </p:blipFill>
        <p:spPr>
          <a:xfrm>
            <a:off x="8605878" y="6096000"/>
            <a:ext cx="993734" cy="762000"/>
          </a:xfrm>
          <a:prstGeom prst="rect">
            <a:avLst/>
          </a:prstGeom>
        </p:spPr>
      </p:pic>
      <p:sp>
        <p:nvSpPr>
          <p:cNvPr id="14" name="Rectangle 13"/>
          <p:cNvSpPr/>
          <p:nvPr/>
        </p:nvSpPr>
        <p:spPr>
          <a:xfrm>
            <a:off x="10437812" y="0"/>
            <a:ext cx="685800" cy="1143000"/>
          </a:xfrm>
          <a:prstGeom prst="rect">
            <a:avLst/>
          </a:prstGeom>
          <a:solidFill>
            <a:schemeClr val="accent1"/>
          </a:solidFill>
          <a:ln>
            <a:noFill/>
          </a:ln>
        </p:spPr>
        <p:style>
          <a:lnRef idx="1">
            <a:schemeClr val="accent1"/>
          </a:lnRef>
          <a:fillRef idx="3">
            <a:schemeClr val="accent1"/>
          </a:fillRef>
          <a:effectRef idx="2">
            <a:schemeClr val="accent1"/>
          </a:effectRef>
          <a:fontRef idx="minor">
            <a:schemeClr val="lt1"/>
          </a:fontRef>
        </p:style>
      </p:sp>
      <p:sp>
        <p:nvSpPr>
          <p:cNvPr id="2" name="Title Placeholder 1"/>
          <p:cNvSpPr>
            <a:spLocks noGrp="1"/>
          </p:cNvSpPr>
          <p:nvPr>
            <p:ph type="title"/>
          </p:nvPr>
        </p:nvSpPr>
        <p:spPr>
          <a:xfrm>
            <a:off x="646111" y="452718"/>
            <a:ext cx="9404723" cy="1400530"/>
          </a:xfrm>
          <a:prstGeom prst="rect">
            <a:avLst/>
          </a:prstGeom>
        </p:spPr>
        <p:txBody>
          <a:bodyPr vert="horz" lIns="91440" tIns="45720" rIns="91440" bIns="45720" rtlCol="0" anchor="t">
            <a:noAutofit/>
          </a:bodyPr>
          <a:lstStyle/>
          <a:p>
            <a:r>
              <a:rPr lang="en-US"/>
              <a:t>Click to edit Master title style</a:t>
            </a:r>
            <a:endParaRPr lang="en-US" dirty="0"/>
          </a:p>
        </p:txBody>
      </p:sp>
      <p:sp>
        <p:nvSpPr>
          <p:cNvPr id="3" name="Text Placeholder 2"/>
          <p:cNvSpPr>
            <a:spLocks noGrp="1"/>
          </p:cNvSpPr>
          <p:nvPr>
            <p:ph type="body" idx="1"/>
          </p:nvPr>
        </p:nvSpPr>
        <p:spPr>
          <a:xfrm>
            <a:off x="1103312" y="2052918"/>
            <a:ext cx="8946541" cy="4195481"/>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rot="5400000">
            <a:off x="10155639" y="1790701"/>
            <a:ext cx="990599" cy="304799"/>
          </a:xfrm>
          <a:prstGeom prst="rect">
            <a:avLst/>
          </a:prstGeom>
        </p:spPr>
        <p:txBody>
          <a:bodyPr vert="horz" lIns="91440" tIns="45720" rIns="91440" bIns="45720" rtlCol="0" anchor="t"/>
          <a:lstStyle>
            <a:lvl1pPr algn="l">
              <a:defRPr sz="1100" b="0" i="0">
                <a:solidFill>
                  <a:schemeClr val="tx1">
                    <a:tint val="75000"/>
                    <a:alpha val="60000"/>
                  </a:schemeClr>
                </a:solidFill>
              </a:defRPr>
            </a:lvl1pPr>
          </a:lstStyle>
          <a:p>
            <a:fld id="{4AAD347D-5ACD-4C99-B74B-A9C85AD731AF}" type="datetimeFigureOut">
              <a:rPr lang="en-US" dirty="0"/>
              <a:pPr/>
              <a:t>8/18/2025</a:t>
            </a:fld>
            <a:endParaRPr lang="en-US" dirty="0"/>
          </a:p>
        </p:txBody>
      </p:sp>
      <p:sp>
        <p:nvSpPr>
          <p:cNvPr id="5" name="Footer Placeholder 4"/>
          <p:cNvSpPr>
            <a:spLocks noGrp="1"/>
          </p:cNvSpPr>
          <p:nvPr>
            <p:ph type="ftr" sz="quarter" idx="3"/>
          </p:nvPr>
        </p:nvSpPr>
        <p:spPr>
          <a:xfrm rot="5400000">
            <a:off x="8951573" y="3225297"/>
            <a:ext cx="3859795" cy="304801"/>
          </a:xfrm>
          <a:prstGeom prst="rect">
            <a:avLst/>
          </a:prstGeom>
        </p:spPr>
        <p:txBody>
          <a:bodyPr vert="horz" lIns="91440" tIns="45720" rIns="91440" bIns="45720" rtlCol="0" anchor="b"/>
          <a:lstStyle>
            <a:lvl1pPr algn="l">
              <a:defRPr sz="1100" b="0" i="0">
                <a:solidFill>
                  <a:schemeClr val="tx1">
                    <a:tint val="75000"/>
                    <a:alpha val="60000"/>
                  </a:schemeClr>
                </a:solidFill>
              </a:defRPr>
            </a:lvl1pPr>
          </a:lstStyle>
          <a:p>
            <a:endParaRPr lang="en-US" dirty="0"/>
          </a:p>
        </p:txBody>
      </p:sp>
      <p:sp>
        <p:nvSpPr>
          <p:cNvPr id="6" name="Slide Number Placeholder 5"/>
          <p:cNvSpPr>
            <a:spLocks noGrp="1"/>
          </p:cNvSpPr>
          <p:nvPr>
            <p:ph type="sldNum" sz="quarter" idx="4"/>
          </p:nvPr>
        </p:nvSpPr>
        <p:spPr bwMode="gray">
          <a:xfrm>
            <a:off x="10352540" y="295729"/>
            <a:ext cx="838199" cy="767687"/>
          </a:xfrm>
          <a:prstGeom prst="rect">
            <a:avLst/>
          </a:prstGeom>
        </p:spPr>
        <p:txBody>
          <a:bodyPr vert="horz" lIns="91440" tIns="45720" rIns="91440" bIns="45720" rtlCol="0" anchor="b"/>
          <a:lstStyle>
            <a:lvl1pPr algn="ctr">
              <a:defRPr sz="2800" b="0" i="0">
                <a:solidFill>
                  <a:schemeClr val="tx1">
                    <a:tint val="75000"/>
                  </a:schemeClr>
                </a:solidFill>
              </a:defRPr>
            </a:lvl1pPr>
          </a:lstStyle>
          <a:p>
            <a:fld id="{D57F1E4F-1CFF-5643-939E-02111984F565}" type="slidenum">
              <a:rPr lang="en-US" dirty="0"/>
              <a:pPr/>
              <a:t>‹#›</a:t>
            </a:fld>
            <a:endParaRPr lang="en-US" dirty="0"/>
          </a:p>
        </p:txBody>
      </p:sp>
    </p:spTree>
  </p:cSld>
  <p:clrMap bg1="dk1" tx1="lt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68" r:id="rId9"/>
    <p:sldLayoutId id="2147483667" r:id="rId10"/>
    <p:sldLayoutId id="2147483661" r:id="rId11"/>
    <p:sldLayoutId id="2147483664" r:id="rId12"/>
    <p:sldLayoutId id="2147483662" r:id="rId13"/>
    <p:sldLayoutId id="2147483669" r:id="rId14"/>
    <p:sldLayoutId id="2147483670" r:id="rId15"/>
    <p:sldLayoutId id="2147483658" r:id="rId16"/>
    <p:sldLayoutId id="2147483659" r:id="rId17"/>
  </p:sldLayoutIdLst>
  <p:transition spd="slow">
    <p:wipe/>
  </p:transition>
  <p:hf sldNum="0" hdr="0" ftr="0" dt="0"/>
  <p:txStyles>
    <p:titleStyle>
      <a:lvl1pPr algn="l" defTabSz="457200" rtl="0" eaLnBrk="1" latinLnBrk="0" hangingPunct="1">
        <a:spcBef>
          <a:spcPct val="0"/>
        </a:spcBef>
        <a:buNone/>
        <a:defRPr sz="4200" b="0" i="0" kern="1200">
          <a:solidFill>
            <a:schemeClr val="tx2"/>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2000" b="0" i="0" kern="1200">
          <a:solidFill>
            <a:schemeClr val="tx1"/>
          </a:solidFill>
          <a:latin typeface="+mj-lt"/>
          <a:ea typeface="+mj-ea"/>
          <a:cs typeface="+mj-cs"/>
        </a:defRPr>
      </a:lvl1pPr>
      <a:lvl2pPr marL="742950" indent="-28575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800" b="0" i="0" kern="1200">
          <a:solidFill>
            <a:schemeClr val="tx1"/>
          </a:solidFill>
          <a:latin typeface="+mj-lt"/>
          <a:ea typeface="+mj-ea"/>
          <a:cs typeface="+mj-cs"/>
        </a:defRPr>
      </a:lvl2pPr>
      <a:lvl3pPr marL="1143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600" b="0" i="0" kern="1200">
          <a:solidFill>
            <a:schemeClr val="tx1"/>
          </a:solidFill>
          <a:latin typeface="+mj-lt"/>
          <a:ea typeface="+mj-ea"/>
          <a:cs typeface="+mj-cs"/>
        </a:defRPr>
      </a:lvl3pPr>
      <a:lvl4pPr marL="1600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4pPr>
      <a:lvl5pPr marL="20574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5pPr>
      <a:lvl6pPr marL="2506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6pPr>
      <a:lvl7pPr marL="29718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7pPr>
      <a:lvl8pPr marL="34290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8pPr>
      <a:lvl9pPr marL="3886200" indent="-228600" algn="l" defTabSz="457200" rtl="0" eaLnBrk="1" latinLnBrk="0" hangingPunct="1">
        <a:spcBef>
          <a:spcPts val="1000"/>
        </a:spcBef>
        <a:spcAft>
          <a:spcPts val="0"/>
        </a:spcAft>
        <a:buClr>
          <a:schemeClr val="bg2">
            <a:lumMod val="40000"/>
            <a:lumOff val="60000"/>
          </a:schemeClr>
        </a:buClr>
        <a:buSzPct val="80000"/>
        <a:buFont typeface="Wingdings 3" charset="2"/>
        <a:buChar char=""/>
        <a:defRPr sz="1400" b="0" i="0" kern="1200">
          <a:solidFill>
            <a:schemeClr val="tx1"/>
          </a:solidFill>
          <a:latin typeface="+mj-lt"/>
          <a:ea typeface="+mj-ea"/>
          <a:cs typeface="+mj-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image" Target="../media/image12.jpe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2" Type="http://schemas.openxmlformats.org/officeDocument/2006/relationships/image" Target="../media/image14.jpeg"/><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2" Type="http://schemas.openxmlformats.org/officeDocument/2006/relationships/image" Target="../media/image15.jpe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image" Target="../media/image16.jpeg"/><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image" Target="../media/image17.jpeg"/><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2" Type="http://schemas.openxmlformats.org/officeDocument/2006/relationships/image" Target="../media/image18.jpeg"/><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2" Type="http://schemas.openxmlformats.org/officeDocument/2006/relationships/image" Target="../media/image19.jpe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7"/>
            <a:ext cx="9404723" cy="3990493"/>
          </a:xfrm>
        </p:spPr>
        <p:txBody>
          <a:bodyPr/>
          <a:lstStyle/>
          <a:p>
            <a:pPr algn="ctr"/>
            <a:r>
              <a:rPr lang="en-US" sz="6000" b="1" dirty="0"/>
              <a:t>        </a:t>
            </a:r>
            <a:br>
              <a:rPr lang="en-US" sz="6000" b="1" dirty="0"/>
            </a:br>
            <a:br>
              <a:rPr lang="en-US" sz="6000" b="1" dirty="0"/>
            </a:br>
            <a:r>
              <a:rPr lang="en-US" sz="6000" b="1" dirty="0"/>
              <a:t>Storage Devices</a:t>
            </a:r>
          </a:p>
        </p:txBody>
      </p:sp>
    </p:spTree>
    <p:extLst>
      <p:ext uri="{BB962C8B-B14F-4D97-AF65-F5344CB8AC3E}">
        <p14:creationId xmlns:p14="http://schemas.microsoft.com/office/powerpoint/2010/main" val="1126825524"/>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10135" y="452718"/>
            <a:ext cx="9404723" cy="6405282"/>
          </a:xfrm>
        </p:spPr>
        <p:txBody>
          <a:bodyPr/>
          <a:lstStyle/>
          <a:p>
            <a:r>
              <a:rPr lang="en-US" dirty="0"/>
              <a:t>            </a:t>
            </a:r>
            <a:r>
              <a:rPr lang="en-US" b="1" dirty="0"/>
              <a:t>Presentation Overview</a:t>
            </a:r>
            <a:br>
              <a:rPr lang="en-US" dirty="0"/>
            </a:br>
            <a:r>
              <a:rPr lang="en-US" sz="2800" b="1" dirty="0"/>
              <a:t>Storage</a:t>
            </a:r>
            <a:br>
              <a:rPr lang="en-US" sz="2800" dirty="0"/>
            </a:br>
            <a:r>
              <a:rPr lang="en-US" sz="2000" dirty="0"/>
              <a:t>‌•Basic Units Of Data Storage </a:t>
            </a:r>
            <a:br>
              <a:rPr lang="en-US" sz="2000" dirty="0"/>
            </a:br>
            <a:r>
              <a:rPr lang="en-US" sz="2000" dirty="0"/>
              <a:t>‌•Data Access Methods</a:t>
            </a:r>
            <a:br>
              <a:rPr lang="en-US" sz="2000" dirty="0"/>
            </a:br>
            <a:r>
              <a:rPr lang="en-US" sz="2800" b="1" dirty="0"/>
              <a:t>Magnetic Disks</a:t>
            </a:r>
            <a:br>
              <a:rPr lang="en-US" sz="2800" dirty="0"/>
            </a:br>
            <a:r>
              <a:rPr lang="en-US" sz="2800" dirty="0"/>
              <a:t>•</a:t>
            </a:r>
            <a:r>
              <a:rPr lang="en-US" sz="2400" dirty="0"/>
              <a:t>Hard Disk</a:t>
            </a:r>
            <a:br>
              <a:rPr lang="en-US" sz="2400" dirty="0"/>
            </a:br>
            <a:r>
              <a:rPr lang="en-US" sz="2400" dirty="0"/>
              <a:t>‌•Floppy Disk or Diskette</a:t>
            </a:r>
            <a:br>
              <a:rPr lang="en-US" sz="2400" dirty="0"/>
            </a:br>
            <a:r>
              <a:rPr lang="en-US" sz="2400" dirty="0"/>
              <a:t>‌•Zip Disk</a:t>
            </a:r>
            <a:br>
              <a:rPr lang="en-US" sz="2400" dirty="0"/>
            </a:br>
            <a:r>
              <a:rPr lang="en-US" sz="2400" dirty="0"/>
              <a:t>‌•Super Disk</a:t>
            </a:r>
            <a:br>
              <a:rPr lang="en-US" sz="2400" dirty="0"/>
            </a:br>
            <a:r>
              <a:rPr lang="en-US" sz="2800" b="1" dirty="0"/>
              <a:t>Optical Disk</a:t>
            </a:r>
            <a:br>
              <a:rPr lang="en-US" sz="2400" dirty="0"/>
            </a:br>
            <a:r>
              <a:rPr lang="en-US" sz="2000" dirty="0"/>
              <a:t>‌•CD</a:t>
            </a:r>
            <a:br>
              <a:rPr lang="en-US" sz="2000" dirty="0"/>
            </a:br>
            <a:r>
              <a:rPr lang="en-US" sz="2000" dirty="0"/>
              <a:t>‌•DVD</a:t>
            </a:r>
            <a:br>
              <a:rPr lang="en-US" sz="2000" dirty="0"/>
            </a:br>
            <a:r>
              <a:rPr lang="en-US" sz="2000" dirty="0"/>
              <a:t>‌•Blu-Ray Disk</a:t>
            </a:r>
            <a:br>
              <a:rPr lang="en-US" sz="2000" dirty="0"/>
            </a:br>
            <a:r>
              <a:rPr lang="en-US" sz="2800" b="1" dirty="0"/>
              <a:t>Flash Memory Storage</a:t>
            </a:r>
            <a:br>
              <a:rPr lang="en-US" sz="2800" dirty="0"/>
            </a:br>
            <a:r>
              <a:rPr lang="en-US" sz="2000" dirty="0"/>
              <a:t>‌•Solid State Drives</a:t>
            </a:r>
            <a:br>
              <a:rPr lang="en-US" sz="2000" dirty="0"/>
            </a:br>
            <a:r>
              <a:rPr lang="en-US" sz="2000" dirty="0"/>
              <a:t>‌•USB Flash Drives</a:t>
            </a:r>
            <a:br>
              <a:rPr lang="en-US" sz="2000" dirty="0"/>
            </a:br>
            <a:r>
              <a:rPr lang="en-US" sz="2000" dirty="0"/>
              <a:t>‌•Memory Cards</a:t>
            </a:r>
            <a:br>
              <a:rPr lang="en-US" sz="2000" dirty="0"/>
            </a:br>
            <a:br>
              <a:rPr lang="en-US" sz="2000" dirty="0"/>
            </a:br>
            <a:endParaRPr lang="en-US" dirty="0"/>
          </a:p>
        </p:txBody>
      </p:sp>
    </p:spTree>
    <p:extLst>
      <p:ext uri="{BB962C8B-B14F-4D97-AF65-F5344CB8AC3E}">
        <p14:creationId xmlns:p14="http://schemas.microsoft.com/office/powerpoint/2010/main" val="2730981035"/>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10697" y="370831"/>
            <a:ext cx="9404723" cy="1400530"/>
          </a:xfrm>
        </p:spPr>
        <p:txBody>
          <a:bodyPr/>
          <a:lstStyle/>
          <a:p>
            <a:r>
              <a:rPr lang="en-US" sz="7200" b="1" dirty="0"/>
              <a:t>          </a:t>
            </a:r>
            <a:r>
              <a:rPr lang="en-US" sz="7200" b="1" dirty="0">
                <a:solidFill>
                  <a:schemeClr val="accent4">
                    <a:lumMod val="20000"/>
                    <a:lumOff val="80000"/>
                  </a:schemeClr>
                </a:solidFill>
              </a:rPr>
              <a:t>Storage</a:t>
            </a:r>
          </a:p>
        </p:txBody>
      </p:sp>
      <p:sp>
        <p:nvSpPr>
          <p:cNvPr id="3" name="Content Placeholder 2"/>
          <p:cNvSpPr>
            <a:spLocks noGrp="1"/>
          </p:cNvSpPr>
          <p:nvPr>
            <p:ph idx="1"/>
          </p:nvPr>
        </p:nvSpPr>
        <p:spPr>
          <a:xfrm>
            <a:off x="1201003" y="1962430"/>
            <a:ext cx="9457898" cy="4749993"/>
          </a:xfrm>
        </p:spPr>
        <p:txBody>
          <a:bodyPr>
            <a:normAutofit/>
          </a:bodyPr>
          <a:lstStyle/>
          <a:p>
            <a:pPr marL="0" indent="0" algn="just">
              <a:buNone/>
            </a:pPr>
            <a:r>
              <a:rPr lang="en-US" dirty="0">
                <a:solidFill>
                  <a:schemeClr val="accent4">
                    <a:lumMod val="20000"/>
                    <a:lumOff val="80000"/>
                  </a:schemeClr>
                </a:solidFill>
              </a:rPr>
              <a:t>Computer data storage, often called </a:t>
            </a:r>
            <a:r>
              <a:rPr lang="en-US" sz="2400" b="1" dirty="0">
                <a:solidFill>
                  <a:schemeClr val="accent4">
                    <a:lumMod val="20000"/>
                    <a:lumOff val="80000"/>
                  </a:schemeClr>
                </a:solidFill>
              </a:rPr>
              <a:t>storage or memory</a:t>
            </a:r>
            <a:r>
              <a:rPr lang="en-US" dirty="0">
                <a:solidFill>
                  <a:schemeClr val="accent4">
                    <a:lumMod val="20000"/>
                    <a:lumOff val="80000"/>
                  </a:schemeClr>
                </a:solidFill>
              </a:rPr>
              <a:t>, is a technology consisting of computer components and recording media used to retain digital data. It is a core function and fundamental component of computers</a:t>
            </a:r>
          </a:p>
          <a:p>
            <a:pPr marL="0" indent="0" algn="just">
              <a:buNone/>
            </a:pPr>
            <a:r>
              <a:rPr lang="en-US" sz="2400" b="1" dirty="0">
                <a:solidFill>
                  <a:schemeClr val="accent4">
                    <a:lumMod val="20000"/>
                    <a:lumOff val="80000"/>
                  </a:schemeClr>
                </a:solidFill>
              </a:rPr>
              <a:t>Storage is required for following reason</a:t>
            </a:r>
            <a:r>
              <a:rPr lang="en-US" b="1" dirty="0">
                <a:solidFill>
                  <a:schemeClr val="accent4">
                    <a:lumMod val="20000"/>
                    <a:lumOff val="80000"/>
                  </a:schemeClr>
                </a:solidFill>
              </a:rPr>
              <a:t>:</a:t>
            </a:r>
          </a:p>
          <a:p>
            <a:pPr algn="just"/>
            <a:r>
              <a:rPr lang="en-US" dirty="0">
                <a:solidFill>
                  <a:schemeClr val="accent4">
                    <a:lumMod val="20000"/>
                    <a:lumOff val="80000"/>
                  </a:schemeClr>
                </a:solidFill>
              </a:rPr>
              <a:t>The main memory is temporary memory. the storage is required to store data and programs permanently.</a:t>
            </a:r>
          </a:p>
          <a:p>
            <a:pPr algn="just"/>
            <a:r>
              <a:rPr lang="en-US" dirty="0">
                <a:solidFill>
                  <a:schemeClr val="accent4">
                    <a:lumMod val="20000"/>
                    <a:lumOff val="80000"/>
                  </a:schemeClr>
                </a:solidFill>
              </a:rPr>
              <a:t>The capacity is limited. The storage is required to store a large amount of data and program</a:t>
            </a:r>
          </a:p>
        </p:txBody>
      </p:sp>
    </p:spTree>
    <p:extLst>
      <p:ext uri="{BB962C8B-B14F-4D97-AF65-F5344CB8AC3E}">
        <p14:creationId xmlns:p14="http://schemas.microsoft.com/office/powerpoint/2010/main" val="2630532284"/>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4525" y="109182"/>
            <a:ext cx="9430603" cy="6537277"/>
          </a:xfrm>
        </p:spPr>
        <p:txBody>
          <a:bodyPr/>
          <a:lstStyle/>
          <a:p>
            <a:pPr rtl="1" fontAlgn="base"/>
            <a:r>
              <a:rPr lang="en-US" b="1" dirty="0"/>
              <a:t>        Basic unit of data storage  </a:t>
            </a:r>
            <a:br>
              <a:rPr lang="en-US" b="1" dirty="0"/>
            </a:br>
            <a:br>
              <a:rPr lang="en-US" dirty="0"/>
            </a:br>
            <a:r>
              <a:rPr lang="en-US" sz="2400" b="1" dirty="0"/>
              <a:t>1. Bit</a:t>
            </a:r>
            <a:br>
              <a:rPr lang="en-US" dirty="0"/>
            </a:br>
            <a:r>
              <a:rPr lang="en-US" sz="2000" dirty="0"/>
              <a:t>Computer works with binary digits. These digits are in the form of 0’s and 1’s. A binary digit is called </a:t>
            </a:r>
            <a:r>
              <a:rPr lang="en-US" sz="2000" b="1" dirty="0"/>
              <a:t>bit. </a:t>
            </a:r>
            <a:r>
              <a:rPr lang="en-US" sz="2000" dirty="0"/>
              <a:t>One bit takes one storage location in memory. It is the smallest unit for data storage.</a:t>
            </a:r>
            <a:br>
              <a:rPr lang="en-US" sz="2000" dirty="0"/>
            </a:br>
            <a:r>
              <a:rPr lang="en-US" sz="2400" b="1" dirty="0"/>
              <a:t>2. Byte</a:t>
            </a:r>
            <a:br>
              <a:rPr lang="en-US" sz="2000" dirty="0"/>
            </a:br>
            <a:r>
              <a:rPr lang="en-US" sz="2000" dirty="0"/>
              <a:t>A collection of eight bits is called </a:t>
            </a:r>
            <a:r>
              <a:rPr lang="en-US" sz="2000" b="1" dirty="0"/>
              <a:t>byte</a:t>
            </a:r>
            <a:r>
              <a:rPr lang="en-US" sz="2000" dirty="0"/>
              <a:t>. It is used to store single character. The capacity of the memory or the storage is expressed in terms of bytes.</a:t>
            </a:r>
            <a:br>
              <a:rPr lang="en-US" sz="2000" dirty="0"/>
            </a:br>
            <a:r>
              <a:rPr lang="en-US" sz="2400" b="1" dirty="0"/>
              <a:t>3. Kilobyte</a:t>
            </a:r>
            <a:br>
              <a:rPr lang="en-US" sz="2000" dirty="0"/>
            </a:br>
            <a:r>
              <a:rPr lang="en-US" sz="2000" dirty="0"/>
              <a:t>A kilobyte consists of 1024 bytes. It is denoted by </a:t>
            </a:r>
            <a:r>
              <a:rPr lang="en-US" sz="2000" b="1" dirty="0"/>
              <a:t>KB.</a:t>
            </a:r>
            <a:br>
              <a:rPr lang="en-US" sz="2000" dirty="0"/>
            </a:br>
            <a:r>
              <a:rPr lang="en-US" sz="2400" b="1" dirty="0"/>
              <a:t>4. Megabyte</a:t>
            </a:r>
            <a:br>
              <a:rPr lang="en-US" sz="2000" dirty="0"/>
            </a:br>
            <a:r>
              <a:rPr lang="en-US" sz="2000" dirty="0"/>
              <a:t>A megabyte consists of 1024 kilobytes. It is denoted by </a:t>
            </a:r>
            <a:r>
              <a:rPr lang="en-US" sz="2000" b="1" dirty="0"/>
              <a:t>MB.</a:t>
            </a:r>
            <a:br>
              <a:rPr lang="en-US" sz="2000" dirty="0"/>
            </a:br>
            <a:r>
              <a:rPr lang="en-US" sz="2400" b="1" dirty="0"/>
              <a:t>5. Gigabyte</a:t>
            </a:r>
            <a:br>
              <a:rPr lang="en-US" sz="2000" dirty="0"/>
            </a:br>
            <a:r>
              <a:rPr lang="en-US" sz="2000" dirty="0"/>
              <a:t>A gigabyte consists of 1024 megabytes. It is denoted by </a:t>
            </a:r>
            <a:r>
              <a:rPr lang="en-US" sz="2000" b="1" dirty="0"/>
              <a:t>GB.</a:t>
            </a:r>
            <a:br>
              <a:rPr lang="en-US" sz="2000" dirty="0"/>
            </a:br>
            <a:r>
              <a:rPr lang="en-US" sz="2400" b="1" dirty="0"/>
              <a:t>6. Terabyte</a:t>
            </a:r>
            <a:br>
              <a:rPr lang="en-US" sz="2000" dirty="0"/>
            </a:br>
            <a:r>
              <a:rPr lang="en-US" sz="2000" dirty="0"/>
              <a:t>A terabyte consists of 1024 gigabytes. It is denoted by </a:t>
            </a:r>
            <a:r>
              <a:rPr lang="en-US" sz="2000" b="1" dirty="0"/>
              <a:t>TB.</a:t>
            </a:r>
            <a:br>
              <a:rPr lang="en-US" sz="2000" dirty="0"/>
            </a:br>
            <a:endParaRPr lang="en-US" sz="2000" dirty="0"/>
          </a:p>
        </p:txBody>
      </p:sp>
    </p:spTree>
    <p:extLst>
      <p:ext uri="{BB962C8B-B14F-4D97-AF65-F5344CB8AC3E}">
        <p14:creationId xmlns:p14="http://schemas.microsoft.com/office/powerpoint/2010/main" val="2000693502"/>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3639" y="163773"/>
            <a:ext cx="9404723" cy="6523630"/>
          </a:xfrm>
        </p:spPr>
        <p:txBody>
          <a:bodyPr/>
          <a:lstStyle/>
          <a:p>
            <a:br>
              <a:rPr lang="en-US" sz="3200" b="1" dirty="0"/>
            </a:br>
            <a:r>
              <a:rPr lang="en-US" sz="4000" b="1" dirty="0"/>
              <a:t>Data Access Methods</a:t>
            </a:r>
            <a:br>
              <a:rPr lang="en-US" sz="2400" b="1" dirty="0"/>
            </a:br>
            <a:br>
              <a:rPr lang="en-US" sz="2800" b="1" dirty="0"/>
            </a:br>
            <a:r>
              <a:rPr lang="en-US" sz="2000" dirty="0"/>
              <a:t>Different methods of accessing data are following:</a:t>
            </a:r>
            <a:br>
              <a:rPr lang="en-US" sz="2400" b="1" dirty="0"/>
            </a:br>
            <a:br>
              <a:rPr lang="en-US" sz="2400" b="1" dirty="0"/>
            </a:br>
            <a:r>
              <a:rPr lang="en-US" sz="2400" b="1" dirty="0"/>
              <a:t>1-Random access memory   2-Sequential access memory</a:t>
            </a:r>
            <a:br>
              <a:rPr lang="en-US" sz="2400" b="1" dirty="0"/>
            </a:br>
            <a:br>
              <a:rPr lang="en-US" sz="2400" b="1" dirty="0"/>
            </a:br>
            <a:r>
              <a:rPr lang="en-US" sz="3600" b="1" dirty="0"/>
              <a:t>1-Random access memory</a:t>
            </a:r>
            <a:r>
              <a:rPr lang="en-US" sz="3600" dirty="0"/>
              <a:t>:</a:t>
            </a:r>
            <a:br>
              <a:rPr lang="en-US" sz="2000" dirty="0"/>
            </a:br>
            <a:br>
              <a:rPr lang="en-US" sz="2000" dirty="0"/>
            </a:br>
            <a:r>
              <a:rPr lang="en-US" sz="2000" dirty="0"/>
              <a:t>Direct (out of sequence or random) access by a computer (CPU) means that data can be retrieved directly from any location on a storage medium in any order. More precisely called </a:t>
            </a:r>
            <a:r>
              <a:rPr lang="en-US" sz="2000" b="1" dirty="0"/>
              <a:t>Direct Access.</a:t>
            </a:r>
            <a:r>
              <a:rPr lang="en-US" sz="2000" dirty="0"/>
              <a:t> A random-access data file enables you to read or write information anywhere in the file.  </a:t>
            </a:r>
            <a:br>
              <a:rPr lang="en-US" sz="2000" dirty="0"/>
            </a:br>
            <a:r>
              <a:rPr lang="en-US" sz="2000"/>
              <a:t>All </a:t>
            </a:r>
            <a:r>
              <a:rPr lang="en-US" sz="2000" dirty="0"/>
              <a:t>storage devices used today are random access devices:</a:t>
            </a:r>
            <a:br>
              <a:rPr lang="en-US" sz="2000" dirty="0"/>
            </a:br>
            <a:r>
              <a:rPr lang="en-US" sz="2000" dirty="0"/>
              <a:t>&gt;CD/DVD Drives</a:t>
            </a:r>
            <a:br>
              <a:rPr lang="en-US" sz="2000" dirty="0"/>
            </a:br>
            <a:r>
              <a:rPr lang="en-US" sz="2000" dirty="0"/>
              <a:t>&gt;USB Flash Drives</a:t>
            </a:r>
            <a:br>
              <a:rPr lang="en-US" sz="2000" dirty="0"/>
            </a:br>
            <a:endParaRPr lang="en-US" sz="2800" b="1" dirty="0"/>
          </a:p>
        </p:txBody>
      </p:sp>
    </p:spTree>
    <p:extLst>
      <p:ext uri="{BB962C8B-B14F-4D97-AF65-F5344CB8AC3E}">
        <p14:creationId xmlns:p14="http://schemas.microsoft.com/office/powerpoint/2010/main" val="3585777413"/>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01003" y="0"/>
            <a:ext cx="9403307" cy="6755642"/>
          </a:xfrm>
        </p:spPr>
        <p:txBody>
          <a:bodyPr/>
          <a:lstStyle/>
          <a:p>
            <a:br>
              <a:rPr lang="en-US" sz="2800" b="1" dirty="0"/>
            </a:br>
            <a:r>
              <a:rPr lang="en-US" sz="3600" b="1" dirty="0"/>
              <a:t>2-Sequential access memory (SAM) </a:t>
            </a:r>
            <a:br>
              <a:rPr lang="en-US" sz="2800" b="1" dirty="0"/>
            </a:br>
            <a:br>
              <a:rPr lang="en-US" sz="2800" b="1" dirty="0"/>
            </a:br>
            <a:r>
              <a:rPr lang="en-US" sz="2000" dirty="0"/>
              <a:t>Sequential access memory (SAM) is a class of data storage devices that read stored data in a sequence. Magnetic sequential access memory is typically used for secondary storage in general-purpose computers due to their higher density at lower cost compared to RAM, as well as resistance to wear and non-volatility.  </a:t>
            </a:r>
            <a:br>
              <a:rPr lang="en-US" sz="2000" dirty="0"/>
            </a:br>
            <a:r>
              <a:rPr lang="en-US" sz="2000" dirty="0"/>
              <a:t>Examples of SAM devices still in use include:  </a:t>
            </a:r>
            <a:br>
              <a:rPr lang="en-US" sz="2000" dirty="0"/>
            </a:br>
            <a:r>
              <a:rPr lang="en-US" sz="2000" dirty="0"/>
              <a:t>&gt; Hard Disks  </a:t>
            </a:r>
            <a:br>
              <a:rPr lang="en-US" sz="2000" dirty="0"/>
            </a:br>
            <a:r>
              <a:rPr lang="en-US" sz="2000" dirty="0"/>
              <a:t>&gt; CD-ROMs </a:t>
            </a:r>
            <a:br>
              <a:rPr lang="en-US" sz="2000" dirty="0"/>
            </a:br>
            <a:r>
              <a:rPr lang="en-US" sz="2000" dirty="0"/>
              <a:t>&gt; Magnetic tapes. </a:t>
            </a:r>
          </a:p>
        </p:txBody>
      </p:sp>
      <p:pic>
        <p:nvPicPr>
          <p:cNvPr id="3" name="Picture 2"/>
          <p:cNvPicPr>
            <a:picLocks noChangeAspect="1"/>
          </p:cNvPicPr>
          <p:nvPr/>
        </p:nvPicPr>
        <p:blipFill>
          <a:blip r:embed="rId2"/>
          <a:stretch>
            <a:fillRect/>
          </a:stretch>
        </p:blipFill>
        <p:spPr>
          <a:xfrm>
            <a:off x="4261218" y="3847021"/>
            <a:ext cx="3746516" cy="2552818"/>
          </a:xfrm>
          <a:prstGeom prst="rect">
            <a:avLst/>
          </a:prstGeom>
          <a:ln>
            <a:noFill/>
          </a:ln>
          <a:effectLst>
            <a:outerShdw blurRad="149987" dist="250190" dir="8460000" algn="ctr">
              <a:srgbClr val="000000">
                <a:alpha val="28000"/>
              </a:srgbClr>
            </a:outerShdw>
          </a:effectLst>
          <a:scene3d>
            <a:camera prst="orthographicFront">
              <a:rot lat="0" lon="0" rev="0"/>
            </a:camera>
            <a:lightRig rig="contrasting" dir="t">
              <a:rot lat="0" lon="0" rev="1500000"/>
            </a:lightRig>
          </a:scene3d>
          <a:sp3d prstMaterial="metal">
            <a:bevelT w="88900" h="88900"/>
          </a:sp3d>
        </p:spPr>
        <p:style>
          <a:lnRef idx="1">
            <a:schemeClr val="accent4"/>
          </a:lnRef>
          <a:fillRef idx="3">
            <a:schemeClr val="accent4"/>
          </a:fillRef>
          <a:effectRef idx="2">
            <a:schemeClr val="accent4"/>
          </a:effectRef>
          <a:fontRef idx="minor">
            <a:schemeClr val="lt1"/>
          </a:fontRef>
        </p:style>
      </p:pic>
    </p:spTree>
    <p:extLst>
      <p:ext uri="{BB962C8B-B14F-4D97-AF65-F5344CB8AC3E}">
        <p14:creationId xmlns:p14="http://schemas.microsoft.com/office/powerpoint/2010/main" val="2047721014"/>
      </p:ext>
    </p:extLst>
  </p:cSld>
  <p:clrMapOvr>
    <a:masterClrMapping/>
  </p:clrMapOvr>
  <mc:AlternateContent xmlns:mc="http://schemas.openxmlformats.org/markup-compatibility/2006" xmlns:p14="http://schemas.microsoft.com/office/powerpoint/2010/main">
    <mc:Choice Requires="p14">
      <p:transition spd="slow" p14:dur="5000">
        <p:wipe/>
      </p:transition>
    </mc:Choice>
    <mc:Fallback xmlns="">
      <p:transition spd="slow">
        <p:wip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38480" y="480853"/>
            <a:ext cx="9595169" cy="6229436"/>
          </a:xfrm>
        </p:spPr>
        <p:txBody>
          <a:bodyPr/>
          <a:lstStyle/>
          <a:p>
            <a:r>
              <a:rPr lang="en-US" sz="4400" b="1" dirty="0"/>
              <a:t>               Magnetic Disks</a:t>
            </a:r>
            <a:br>
              <a:rPr lang="en-US" sz="2000" dirty="0"/>
            </a:br>
            <a:br>
              <a:rPr lang="en-US" sz="2000" dirty="0"/>
            </a:br>
            <a:r>
              <a:rPr lang="en-US" sz="2000" dirty="0"/>
              <a:t>A magnetic disk is a storage device that uses a magnetization process to write, rewrite and access data. It is covered with a magnetic coating and stores data in the form of tracks, spots and sectors.</a:t>
            </a:r>
            <a:r>
              <a:rPr lang="en-US" sz="2000" b="1" dirty="0"/>
              <a:t> Tracks </a:t>
            </a:r>
            <a:r>
              <a:rPr lang="en-US" sz="2000" dirty="0"/>
              <a:t>form circles on the surface of a magnetic disk. Each track on a disc is divided into two sectors. Each sector typically stores up to 512 bytes of data.</a:t>
            </a:r>
            <a:br>
              <a:rPr lang="en-US" sz="2000" dirty="0"/>
            </a:br>
            <a:r>
              <a:rPr lang="en-US" sz="2000" dirty="0"/>
              <a:t> Hard disks, zip disks and floppy disks are common examples of magnetic disks.</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753957" y="3601329"/>
            <a:ext cx="4364214" cy="2933787"/>
          </a:xfrm>
          <a:prstGeom prst="rect">
            <a:avLst/>
          </a:prstGeom>
          <a:effectLst>
            <a:outerShdw blurRad="50800" dist="38100" dir="2700000" algn="tl" rotWithShape="0">
              <a:prstClr val="black">
                <a:alpha val="40000"/>
              </a:prstClr>
            </a:outerShdw>
          </a:effectLst>
          <a:scene3d>
            <a:camera prst="orthographicFront"/>
            <a:lightRig rig="threePt" dir="t"/>
          </a:scene3d>
          <a:sp3d>
            <a:bevelT w="165100" prst="coolSlant"/>
            <a:bevelB/>
          </a:sp3d>
        </p:spPr>
      </p:pic>
    </p:spTree>
    <p:extLst>
      <p:ext uri="{BB962C8B-B14F-4D97-AF65-F5344CB8AC3E}">
        <p14:creationId xmlns:p14="http://schemas.microsoft.com/office/powerpoint/2010/main" val="4165156983"/>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bg>
      <p:bgPr>
        <a:gradFill flip="none" rotWithShape="1">
          <a:gsLst>
            <a:gs pos="20000">
              <a:srgbClr val="1E3146">
                <a:lumMod val="68000"/>
              </a:srgbClr>
            </a:gs>
            <a:gs pos="82000">
              <a:schemeClr val="accent4">
                <a:lumMod val="75000"/>
              </a:schemeClr>
            </a:gs>
          </a:gsLst>
          <a:path path="circle">
            <a:fillToRect r="100000" b="100000"/>
          </a:path>
          <a:tileRect l="-100000" t="-100000"/>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885262" y="523057"/>
            <a:ext cx="9918726" cy="6145030"/>
          </a:xfrm>
        </p:spPr>
        <p:txBody>
          <a:bodyPr/>
          <a:lstStyle/>
          <a:p>
            <a:r>
              <a:rPr lang="en-US" sz="3600" b="1" dirty="0"/>
              <a:t>                            Zip Disk</a:t>
            </a:r>
            <a:br>
              <a:rPr lang="en-US" sz="2000" dirty="0"/>
            </a:br>
            <a:r>
              <a:rPr lang="en-US" sz="2000" dirty="0"/>
              <a:t>The </a:t>
            </a:r>
            <a:r>
              <a:rPr lang="en-US" sz="2000" b="1" dirty="0"/>
              <a:t>Zip drive</a:t>
            </a:r>
            <a:r>
              <a:rPr lang="en-US" sz="2000" dirty="0"/>
              <a:t> is a medium-to-high-capacity removable floppy </a:t>
            </a:r>
            <a:r>
              <a:rPr lang="en-US" sz="2000" b="1" dirty="0"/>
              <a:t>disk</a:t>
            </a:r>
            <a:r>
              <a:rPr lang="en-US" sz="2000" dirty="0"/>
              <a:t> storage system (for its period of contemporary use) that was introduced by </a:t>
            </a:r>
            <a:r>
              <a:rPr lang="en-US" sz="2400" b="1" dirty="0"/>
              <a:t>Iomega</a:t>
            </a:r>
            <a:r>
              <a:rPr lang="en-US" sz="2000" dirty="0"/>
              <a:t> in late 1994. Originally </a:t>
            </a:r>
            <a:r>
              <a:rPr lang="en-US" sz="2000" b="1" dirty="0"/>
              <a:t>Zip disks</a:t>
            </a:r>
            <a:r>
              <a:rPr lang="en-US" sz="2000" dirty="0"/>
              <a:t> launched with capacities of 100 MB, but later versions increased this to first 250 MB and then 750 MB.</a:t>
            </a:r>
            <a:br>
              <a:rPr lang="en-US" sz="2000" dirty="0"/>
            </a:br>
            <a:r>
              <a:rPr lang="en-US" sz="2000" dirty="0"/>
              <a:t>                                                </a:t>
            </a:r>
            <a:r>
              <a:rPr lang="en-US" sz="3600" b="1" dirty="0"/>
              <a:t>Super Disk</a:t>
            </a:r>
            <a:br>
              <a:rPr lang="en-US" sz="2000" dirty="0"/>
            </a:br>
            <a:r>
              <a:rPr lang="en-US" sz="2000" dirty="0"/>
              <a:t>A disk storage technology developed by Imation Corporation that supports very high-density diskettes. Its capacity is 120MB to 250 MB. It can also read the standard 1.44 MB floppy disk.</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805564" y="4224409"/>
            <a:ext cx="4078121" cy="2443678"/>
          </a:xfrm>
          <a:prstGeom prst="rect">
            <a:avLst/>
          </a:prstGeom>
          <a:effectLst>
            <a:outerShdw blurRad="50800" dist="38100" dir="2700000" algn="tl" rotWithShape="0">
              <a:prstClr val="black">
                <a:alpha val="40000"/>
              </a:prstClr>
            </a:outerShdw>
          </a:effectLst>
          <a:scene3d>
            <a:camera prst="orthographicFront"/>
            <a:lightRig rig="threePt" dir="t"/>
          </a:scene3d>
          <a:sp3d>
            <a:bevelT w="165100" prst="coolSlant"/>
            <a:bevelB/>
          </a:sp3d>
        </p:spPr>
      </p:pic>
    </p:spTree>
    <p:extLst>
      <p:ext uri="{BB962C8B-B14F-4D97-AF65-F5344CB8AC3E}">
        <p14:creationId xmlns:p14="http://schemas.microsoft.com/office/powerpoint/2010/main" val="92112797"/>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bg>
      <p:bgPr>
        <a:gradFill flip="none" rotWithShape="1">
          <a:gsLst>
            <a:gs pos="16000">
              <a:srgbClr val="1E3146">
                <a:lumMod val="100000"/>
              </a:srgbClr>
            </a:gs>
            <a:gs pos="100000">
              <a:schemeClr val="accent4">
                <a:lumMod val="95000"/>
                <a:lumOff val="5000"/>
              </a:schemeClr>
            </a:gs>
            <a:gs pos="99000">
              <a:schemeClr val="accent4">
                <a:lumMod val="60000"/>
              </a:schemeClr>
            </a:gs>
          </a:gsLst>
          <a:lin ang="5400000" scaled="1"/>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13398" y="297973"/>
            <a:ext cx="9960928" cy="6405282"/>
          </a:xfrm>
        </p:spPr>
        <p:txBody>
          <a:bodyPr/>
          <a:lstStyle/>
          <a:p>
            <a:r>
              <a:rPr lang="en-US" sz="4400" b="1" dirty="0"/>
              <a:t>                    HARD DISK</a:t>
            </a:r>
            <a:br>
              <a:rPr lang="en-US" sz="4400" b="1" dirty="0"/>
            </a:br>
            <a:br>
              <a:rPr lang="en-US" sz="2000" dirty="0"/>
            </a:br>
            <a:r>
              <a:rPr lang="en-US" sz="2000" dirty="0"/>
              <a:t>A hard disk is part of a unit, often called a </a:t>
            </a:r>
            <a:r>
              <a:rPr lang="en-US" sz="2000" b="1" dirty="0"/>
              <a:t>"disk drive</a:t>
            </a:r>
            <a:r>
              <a:rPr lang="en-US" sz="2000" dirty="0"/>
              <a:t>,</a:t>
            </a:r>
            <a:r>
              <a:rPr lang="en-US" sz="2000" b="1" dirty="0"/>
              <a:t>" "hard drive," </a:t>
            </a:r>
            <a:r>
              <a:rPr lang="en-US" sz="2000" dirty="0"/>
              <a:t>or </a:t>
            </a:r>
            <a:r>
              <a:rPr lang="en-US" sz="2000" b="1" dirty="0"/>
              <a:t>"hard disk drive," </a:t>
            </a:r>
            <a:r>
              <a:rPr lang="en-US" sz="2000" dirty="0"/>
              <a:t>that  stores and provides relatively quick access to large amounts of data on an electromagnetically charged surface or set of surfaces. Today's computers typically come with a hard disk that contains several billion bytes (gigabytes) of storage.                                                                                                                                                                                 A hard disk is really a set of stacked </a:t>
            </a:r>
            <a:r>
              <a:rPr lang="en-US" sz="2000" b="1" dirty="0"/>
              <a:t>"disks," </a:t>
            </a:r>
            <a:r>
              <a:rPr lang="en-US" sz="2000" dirty="0"/>
              <a:t>each of which, like phonograph records, has data recorded electromagnetically in concentric circles or </a:t>
            </a:r>
            <a:r>
              <a:rPr lang="en-US" sz="2000" b="1" dirty="0"/>
              <a:t>"tracks</a:t>
            </a:r>
            <a:r>
              <a:rPr lang="en-US" sz="2000" dirty="0"/>
              <a:t>" on the disk. A </a:t>
            </a:r>
            <a:r>
              <a:rPr lang="en-US" sz="2000" b="1" dirty="0"/>
              <a:t>"head” </a:t>
            </a:r>
            <a:r>
              <a:rPr lang="en-US" sz="2000" dirty="0"/>
              <a:t>records or reads the information on the tracks. Two heads, one on each side of a disk, read or write the data as the disk spins. Each read or write operation requires that data be located, which is an operation called a </a:t>
            </a:r>
            <a:r>
              <a:rPr lang="en-US" sz="2000" b="1" dirty="0"/>
              <a:t>"seek."</a:t>
            </a:r>
            <a:br>
              <a:rPr lang="en-US" sz="2000" dirty="0"/>
            </a:br>
            <a:r>
              <a:rPr lang="en-US" sz="2000" dirty="0"/>
              <a:t> </a:t>
            </a:r>
          </a:p>
        </p:txBody>
      </p:sp>
      <p:pic>
        <p:nvPicPr>
          <p:cNvPr id="3" name="Picture 2"/>
          <p:cNvPicPr>
            <a:picLocks noChangeAspect="1"/>
          </p:cNvPicPr>
          <p:nvPr/>
        </p:nvPicPr>
        <p:blipFill>
          <a:blip r:embed="rId2"/>
          <a:stretch>
            <a:fillRect/>
          </a:stretch>
        </p:blipFill>
        <p:spPr>
          <a:xfrm>
            <a:off x="4417255" y="4442038"/>
            <a:ext cx="2883877" cy="2015033"/>
          </a:xfrm>
          <a:prstGeom prst="roundRect">
            <a:avLst>
              <a:gd name="adj" fmla="val 4167"/>
            </a:avLst>
          </a:prstGeom>
          <a:solidFill>
            <a:srgbClr val="FFFFFF"/>
          </a:solidFill>
          <a:ln w="76200" cap="sq">
            <a:solidFill>
              <a:srgbClr val="EAEAEA"/>
            </a:solidFill>
            <a:miter lim="800000"/>
          </a:ln>
          <a:effectLst>
            <a:innerShdw blurRad="63500" dist="50800" dir="16200000">
              <a:prstClr val="black">
                <a:alpha val="50000"/>
              </a:prstClr>
            </a:innerShdw>
            <a:reflection blurRad="12700" stA="33000" endPos="28000" dist="5000" dir="5400000" sy="-100000" algn="bl" rotWithShape="0"/>
          </a:effectLst>
          <a:scene3d>
            <a:camera prst="orthographicFront"/>
            <a:lightRig rig="threePt" dir="t">
              <a:rot lat="0" lon="0" rev="2700000"/>
            </a:lightRig>
          </a:scene3d>
          <a:sp3d contourW="6350">
            <a:bevelT h="38100" prst="relaxedInset"/>
            <a:bevelB/>
            <a:contourClr>
              <a:srgbClr val="1E3146"/>
            </a:contourClr>
          </a:sp3d>
        </p:spPr>
      </p:pic>
    </p:spTree>
    <p:extLst>
      <p:ext uri="{BB962C8B-B14F-4D97-AF65-F5344CB8AC3E}">
        <p14:creationId xmlns:p14="http://schemas.microsoft.com/office/powerpoint/2010/main" val="2637838269"/>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bg>
      <p:bgPr>
        <a:gradFill flip="none" rotWithShape="1">
          <a:gsLst>
            <a:gs pos="16000">
              <a:srgbClr val="1E3146">
                <a:lumMod val="100000"/>
              </a:srgbClr>
            </a:gs>
            <a:gs pos="100000">
              <a:schemeClr val="accent4">
                <a:lumMod val="95000"/>
                <a:lumOff val="5000"/>
              </a:schemeClr>
            </a:gs>
            <a:gs pos="99000">
              <a:schemeClr val="accent4">
                <a:lumMod val="60000"/>
              </a:schemeClr>
            </a:gs>
          </a:gsLst>
          <a:lin ang="5400000" scaled="1"/>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00332" y="520504"/>
            <a:ext cx="9861453" cy="6063176"/>
          </a:xfrm>
        </p:spPr>
        <p:txBody>
          <a:bodyPr/>
          <a:lstStyle/>
          <a:p>
            <a:r>
              <a:rPr lang="en-US" sz="4000" b="1" dirty="0"/>
              <a:t>              HARD DISK PERFORMNCE</a:t>
            </a:r>
            <a:br>
              <a:rPr lang="en-US" sz="4000" b="1" dirty="0"/>
            </a:br>
            <a:br>
              <a:rPr lang="en-US" sz="2000" dirty="0"/>
            </a:br>
            <a:r>
              <a:rPr lang="en-US" sz="2000" dirty="0"/>
              <a:t>The following factors affect the performance of hard disc</a:t>
            </a:r>
            <a:br>
              <a:rPr lang="en-US" sz="2000" dirty="0"/>
            </a:br>
            <a:r>
              <a:rPr lang="en-US" sz="2000" dirty="0"/>
              <a:t>✔</a:t>
            </a:r>
            <a:r>
              <a:rPr lang="en-US" sz="3200" b="1" dirty="0"/>
              <a:t>SEEK TIME </a:t>
            </a:r>
            <a:br>
              <a:rPr lang="en-US" sz="2000" dirty="0"/>
            </a:br>
            <a:r>
              <a:rPr lang="en-US" sz="2000" dirty="0"/>
              <a:t>It is also called positioning performance. It is time required by read/write head to reach the correct location on the disk. It is measured in milliseconds.</a:t>
            </a:r>
            <a:br>
              <a:rPr lang="en-US" sz="2000" dirty="0"/>
            </a:br>
            <a:r>
              <a:rPr lang="en-US" sz="2000" dirty="0"/>
              <a:t>✔</a:t>
            </a:r>
            <a:r>
              <a:rPr lang="en-US" sz="3200" b="1" dirty="0"/>
              <a:t>SPINDLE SPEED</a:t>
            </a:r>
            <a:br>
              <a:rPr lang="en-US" sz="2000" dirty="0"/>
            </a:br>
            <a:r>
              <a:rPr lang="en-US" sz="2000" dirty="0"/>
              <a:t>It is also called transfer performance. It is the speed at which  the drive transfers data. It is measured in revolutions per minute (RPM).</a:t>
            </a:r>
            <a:br>
              <a:rPr lang="en-US" sz="2000" dirty="0"/>
            </a:br>
            <a:r>
              <a:rPr lang="en-US" sz="2000" dirty="0"/>
              <a:t>✔</a:t>
            </a:r>
            <a:r>
              <a:rPr lang="en-US" sz="3200" b="1" dirty="0"/>
              <a:t>LATENCY</a:t>
            </a:r>
            <a:br>
              <a:rPr lang="en-US" sz="2000" dirty="0"/>
            </a:br>
            <a:r>
              <a:rPr lang="en-US" sz="2000" dirty="0"/>
              <a:t>It is the time required by the spinning platter to bring the desired data to read/write head. It is measured in milliseconds.</a:t>
            </a:r>
            <a:br>
              <a:rPr lang="en-US" sz="2000" dirty="0"/>
            </a:br>
            <a:r>
              <a:rPr lang="en-US" sz="2000" dirty="0"/>
              <a:t>	</a:t>
            </a:r>
            <a:br>
              <a:rPr lang="en-US" sz="2000" dirty="0"/>
            </a:br>
            <a:br>
              <a:rPr lang="en-US" sz="2000" dirty="0"/>
            </a:br>
            <a:r>
              <a:rPr lang="en-US" sz="2000" dirty="0"/>
              <a:t> </a:t>
            </a:r>
            <a:br>
              <a:rPr lang="en-US" sz="2000" dirty="0"/>
            </a:br>
            <a:r>
              <a:rPr lang="en-US" sz="2000" dirty="0"/>
              <a:t> </a:t>
            </a:r>
            <a:br>
              <a:rPr lang="en-US" sz="2000" dirty="0"/>
            </a:br>
            <a:r>
              <a:rPr lang="en-US" sz="2000" dirty="0"/>
              <a:t> </a:t>
            </a:r>
            <a:br>
              <a:rPr lang="en-US" sz="2000" dirty="0"/>
            </a:br>
            <a:r>
              <a:rPr lang="en-US" sz="2000" dirty="0"/>
              <a:t> </a:t>
            </a:r>
            <a:br>
              <a:rPr lang="en-US" sz="2000" dirty="0"/>
            </a:br>
            <a:r>
              <a:rPr lang="en-US" sz="2000" dirty="0"/>
              <a:t> </a:t>
            </a:r>
            <a:br>
              <a:rPr lang="en-US" sz="2000" dirty="0"/>
            </a:br>
            <a:r>
              <a:rPr lang="en-US" sz="2000" dirty="0"/>
              <a:t> </a:t>
            </a:r>
            <a:br>
              <a:rPr lang="en-US" sz="2000" dirty="0"/>
            </a:br>
            <a:r>
              <a:rPr lang="en-US" sz="2000" dirty="0"/>
              <a:t>A removable hard disc is a type of hard disc that can be inserted and removed from a drive. The removable hard disk drive	is used to read and write data on the removable hard disk. The storage capacity of removable hard disk is up to 1TB and more.</a:t>
            </a:r>
            <a:br>
              <a:rPr lang="en-US" sz="2000" dirty="0"/>
            </a:br>
            <a:endParaRPr lang="en-US" sz="2000" dirty="0"/>
          </a:p>
        </p:txBody>
      </p:sp>
    </p:spTree>
    <p:extLst>
      <p:ext uri="{BB962C8B-B14F-4D97-AF65-F5344CB8AC3E}">
        <p14:creationId xmlns:p14="http://schemas.microsoft.com/office/powerpoint/2010/main" val="1334175719"/>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bg>
      <p:bgPr>
        <a:gradFill>
          <a:gsLst>
            <a:gs pos="16000">
              <a:srgbClr val="1E3146">
                <a:lumMod val="100000"/>
              </a:srgbClr>
            </a:gs>
            <a:gs pos="100000">
              <a:schemeClr val="accent4">
                <a:lumMod val="95000"/>
                <a:lumOff val="5000"/>
              </a:schemeClr>
            </a:gs>
            <a:gs pos="99000">
              <a:schemeClr val="accent4">
                <a:lumMod val="6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041009" y="225083"/>
            <a:ext cx="9706708" cy="6330461"/>
          </a:xfrm>
          <a:noFill/>
        </p:spPr>
        <p:txBody>
          <a:bodyPr/>
          <a:lstStyle/>
          <a:p>
            <a:r>
              <a:rPr lang="en-US" sz="4000" b="1" dirty="0"/>
              <a:t>EXTERNAL AND REMOVABLE HARD DISK</a:t>
            </a:r>
            <a:br>
              <a:rPr lang="en-US" sz="4400" dirty="0"/>
            </a:br>
            <a:br>
              <a:rPr lang="en-US" sz="2000" dirty="0"/>
            </a:br>
            <a:r>
              <a:rPr lang="en-US" sz="2000" dirty="0"/>
              <a:t>An external hard disk is a separate hard disk that </a:t>
            </a:r>
            <a:r>
              <a:rPr lang="en-US" sz="2000" b="1" dirty="0"/>
              <a:t>is</a:t>
            </a:r>
            <a:r>
              <a:rPr lang="en-US" sz="2000" dirty="0"/>
              <a:t> connected to USB port or FireWire port on system unit. The advantage of external hard disk is that it can be installed without opening the system unit. The storage capacity of external hard disk is  up to  4TB and more.</a:t>
            </a:r>
            <a:br>
              <a:rPr lang="en-US" sz="2000" dirty="0"/>
            </a:br>
            <a:r>
              <a:rPr lang="en-US" sz="2000" dirty="0"/>
              <a:t> </a:t>
            </a:r>
            <a:r>
              <a:rPr lang="en-US" sz="3200" b="1" dirty="0"/>
              <a:t>ADVANTAGES</a:t>
            </a:r>
            <a:br>
              <a:rPr lang="en-US" sz="2000" dirty="0"/>
            </a:br>
            <a:r>
              <a:rPr lang="en-US" sz="2000" dirty="0"/>
              <a:t> SOME important advantages are as following.</a:t>
            </a:r>
            <a:br>
              <a:rPr lang="en-US" sz="2000" dirty="0"/>
            </a:br>
            <a:r>
              <a:rPr lang="en-US" sz="2000" dirty="0"/>
              <a:t>✔These can be used to transfer large number of files from one place to  another.</a:t>
            </a:r>
            <a:br>
              <a:rPr lang="en-US" sz="2000" dirty="0"/>
            </a:br>
            <a:r>
              <a:rPr lang="en-US" sz="2000" dirty="0"/>
              <a:t>✔These disk can store large number of audio and video files easily.</a:t>
            </a:r>
            <a:br>
              <a:rPr lang="en-US" sz="2000" dirty="0"/>
            </a:br>
            <a:r>
              <a:rPr lang="en-US" sz="2000" dirty="0"/>
              <a:t>✔These  disk can be used to backup important files or entire internal hard disk.</a:t>
            </a:r>
            <a:br>
              <a:rPr lang="en-US" sz="2000" dirty="0"/>
            </a:br>
            <a:endParaRPr lang="en-US" sz="2000" dirty="0"/>
          </a:p>
        </p:txBody>
      </p:sp>
      <p:pic>
        <p:nvPicPr>
          <p:cNvPr id="4" name="Picture 3"/>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910672" y="4484150"/>
            <a:ext cx="3714017" cy="2240207"/>
          </a:xfrm>
          <a:prstGeom prst="rect">
            <a:avLst/>
          </a:prstGeom>
          <a:effectLst/>
          <a:scene3d>
            <a:camera prst="orthographicFront"/>
            <a:lightRig rig="threePt" dir="t"/>
          </a:scene3d>
          <a:sp3d prstMaterial="matte">
            <a:bevelT w="152400" h="50800" prst="softRound"/>
            <a:bevelB prst="convex"/>
          </a:sp3d>
        </p:spPr>
      </p:pic>
    </p:spTree>
    <p:extLst>
      <p:ext uri="{BB962C8B-B14F-4D97-AF65-F5344CB8AC3E}">
        <p14:creationId xmlns:p14="http://schemas.microsoft.com/office/powerpoint/2010/main" val="441018772"/>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bg>
      <p:bgPr>
        <a:gradFill>
          <a:gsLst>
            <a:gs pos="16000">
              <a:srgbClr val="1E3146">
                <a:lumMod val="100000"/>
              </a:srgbClr>
            </a:gs>
            <a:gs pos="100000">
              <a:schemeClr val="accent4">
                <a:lumMod val="95000"/>
                <a:lumOff val="5000"/>
              </a:schemeClr>
            </a:gs>
            <a:gs pos="99000">
              <a:schemeClr val="accent4">
                <a:lumMod val="60000"/>
              </a:schemeClr>
            </a:gs>
          </a:gsLst>
          <a:lin ang="5400000" scaled="1"/>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98806" y="494919"/>
            <a:ext cx="9931792" cy="6194267"/>
          </a:xfrm>
        </p:spPr>
        <p:txBody>
          <a:bodyPr/>
          <a:lstStyle/>
          <a:p>
            <a:r>
              <a:rPr lang="en-US" sz="4000" b="1" dirty="0"/>
              <a:t>          MINIATURE HARD DISKS</a:t>
            </a:r>
            <a:br>
              <a:rPr lang="en-US" sz="2000" dirty="0"/>
            </a:br>
            <a:br>
              <a:rPr lang="en-US" sz="2000" dirty="0"/>
            </a:br>
            <a:r>
              <a:rPr lang="en-US" sz="2000" dirty="0"/>
              <a:t>The miniature hard disc are very small hard disks. These disks are available in different sizes such as 0.85 inch or 1 inch or 1.8 inch. Both internal and external hard disks are available in miniature sizes. </a:t>
            </a:r>
            <a:br>
              <a:rPr lang="en-US" sz="2000" dirty="0"/>
            </a:br>
            <a:r>
              <a:rPr lang="en-US" sz="2000" dirty="0"/>
              <a:t>These devices such as portable media player, digital camera, smartphones usually have internal miniature hard disks. The storage capacity of miniature hard disk is from 1GB to 320GB. </a:t>
            </a:r>
            <a:br>
              <a:rPr lang="en-US" sz="2000" dirty="0"/>
            </a:br>
            <a:endParaRPr lang="en-US" sz="20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353973" y="3840479"/>
            <a:ext cx="5221458" cy="2743199"/>
          </a:xfrm>
          <a:prstGeom prst="rect">
            <a:avLst/>
          </a:prstGeom>
          <a:scene3d>
            <a:camera prst="orthographicFront"/>
            <a:lightRig rig="threePt" dir="t"/>
          </a:scene3d>
          <a:sp3d>
            <a:bevelT w="165100" prst="coolSlant"/>
          </a:sp3d>
        </p:spPr>
      </p:pic>
    </p:spTree>
    <p:extLst>
      <p:ext uri="{BB962C8B-B14F-4D97-AF65-F5344CB8AC3E}">
        <p14:creationId xmlns:p14="http://schemas.microsoft.com/office/powerpoint/2010/main" val="615655996"/>
      </p:ext>
    </p:extLst>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bg>
      <p:bgPr>
        <a:gradFill flip="none" rotWithShape="1">
          <a:gsLst>
            <a:gs pos="17000">
              <a:srgbClr val="1E3146"/>
            </a:gs>
            <a:gs pos="100000">
              <a:schemeClr val="accent4">
                <a:lumMod val="89000"/>
              </a:schemeClr>
            </a:gs>
            <a:gs pos="100000">
              <a:schemeClr val="accent4">
                <a:lumMod val="75000"/>
              </a:schemeClr>
            </a:gs>
            <a:gs pos="97000">
              <a:schemeClr val="accent4">
                <a:lumMod val="70000"/>
              </a:schemeClr>
            </a:gs>
          </a:gsLst>
          <a:lin ang="5400000" scaled="1"/>
          <a:tileRect/>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94752" y="1043560"/>
            <a:ext cx="9404723" cy="5286901"/>
          </a:xfrm>
        </p:spPr>
        <p:txBody>
          <a:bodyPr/>
          <a:lstStyle/>
          <a:p>
            <a:r>
              <a:rPr lang="en-US" sz="3200" b="1" dirty="0"/>
              <a:t>                       </a:t>
            </a:r>
            <a:r>
              <a:rPr lang="en-US" sz="4400" b="1" dirty="0"/>
              <a:t>DISK CACHE</a:t>
            </a:r>
            <a:br>
              <a:rPr lang="en-US" sz="3200" b="1" dirty="0"/>
            </a:br>
            <a:br>
              <a:rPr lang="en-US" sz="2000" dirty="0"/>
            </a:br>
            <a:r>
              <a:rPr lang="en-US" sz="2000" dirty="0"/>
              <a:t>Disk caching is often used to speed up magnetic hard drive performance. Today’s hard drives typically use a disk cache consisting of memory chips that is located on circuit board inside the hard drive case. The computer copies the requested data to the disk cache any time the hard drive is accessed.</a:t>
            </a:r>
            <a:br>
              <a:rPr lang="en-US" sz="2000" dirty="0"/>
            </a:br>
            <a:endParaRPr lang="en-US" sz="2000" dirty="0"/>
          </a:p>
        </p:txBody>
      </p:sp>
    </p:spTree>
    <p:extLst>
      <p:ext uri="{BB962C8B-B14F-4D97-AF65-F5344CB8AC3E}">
        <p14:creationId xmlns:p14="http://schemas.microsoft.com/office/powerpoint/2010/main" val="216465603"/>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95754" y="136195"/>
            <a:ext cx="9664504" cy="6496722"/>
          </a:xfrm>
        </p:spPr>
        <p:txBody>
          <a:bodyPr/>
          <a:lstStyle/>
          <a:p>
            <a:pPr>
              <a:buClr>
                <a:schemeClr val="tx1"/>
              </a:buClr>
            </a:pPr>
            <a:r>
              <a:rPr lang="en-US" sz="2000" dirty="0"/>
              <a:t>                                  </a:t>
            </a:r>
            <a:r>
              <a:rPr lang="en-US" sz="4800" b="1" dirty="0"/>
              <a:t>FLOPPY DISKS</a:t>
            </a:r>
            <a:br>
              <a:rPr lang="en-US" sz="2000" dirty="0"/>
            </a:br>
            <a:br>
              <a:rPr lang="en-US" sz="2000" dirty="0"/>
            </a:br>
            <a:r>
              <a:rPr lang="en-US" sz="2800" b="1" dirty="0"/>
              <a:t>» </a:t>
            </a:r>
            <a:r>
              <a:rPr lang="en-US" sz="2000" dirty="0"/>
              <a:t>Floppy disks are also known as </a:t>
            </a:r>
            <a:r>
              <a:rPr lang="en-US" sz="2000" b="1" dirty="0"/>
              <a:t>Diskette</a:t>
            </a:r>
            <a:r>
              <a:rPr lang="en-US" sz="2000" dirty="0"/>
              <a:t>. </a:t>
            </a:r>
            <a:br>
              <a:rPr lang="en-US" sz="2000" dirty="0"/>
            </a:br>
            <a:r>
              <a:rPr lang="en-US" sz="2400" b="1" dirty="0"/>
              <a:t>» </a:t>
            </a:r>
            <a:r>
              <a:rPr lang="en-US" sz="2000" dirty="0"/>
              <a:t>Floppy disk is a portable magnetic storage device. </a:t>
            </a:r>
            <a:br>
              <a:rPr lang="en-US" sz="2000" dirty="0"/>
            </a:br>
            <a:r>
              <a:rPr lang="en-US" sz="2800" b="1" dirty="0"/>
              <a:t>» </a:t>
            </a:r>
            <a:r>
              <a:rPr lang="en-US" sz="2000" dirty="0"/>
              <a:t>A floppy disk can store up to 1.44 Mb of data which is equivalent to around 300 pages of A4 text.</a:t>
            </a:r>
            <a:br>
              <a:rPr lang="en-US" sz="2000" dirty="0"/>
            </a:br>
            <a:r>
              <a:rPr lang="en-US" sz="2400" b="1" dirty="0"/>
              <a:t>»</a:t>
            </a:r>
            <a:r>
              <a:rPr lang="en-US" sz="2000" b="1" dirty="0"/>
              <a:t> </a:t>
            </a:r>
            <a:r>
              <a:rPr lang="en-US" sz="2000" dirty="0"/>
              <a:t>They used to be the ideal storage device for transferring small files from home to work/school or from one office computer to another. But nowadays, many files contain graphics that are larger than the size of the floppy disk so it is not commonly used now a days.</a:t>
            </a:r>
            <a:br>
              <a:rPr lang="en-US" sz="2000" dirty="0"/>
            </a:br>
            <a:r>
              <a:rPr lang="en-US" sz="2800" b="1" dirty="0"/>
              <a:t>» </a:t>
            </a:r>
            <a:r>
              <a:rPr lang="en-US" sz="2000" dirty="0"/>
              <a:t>All disks must be formatted before data can be written to the disk. Formatting divides the disk up into sections or sectors onto which data files are stored. </a:t>
            </a:r>
            <a:br>
              <a:rPr lang="en-US" sz="2000" dirty="0"/>
            </a:br>
            <a:br>
              <a:rPr lang="en-US" sz="2000" dirty="0"/>
            </a:br>
            <a:r>
              <a:rPr lang="en-US" sz="3200" b="1" dirty="0"/>
              <a:t>Advantages</a:t>
            </a:r>
            <a:br>
              <a:rPr lang="en-US" sz="2000" dirty="0"/>
            </a:br>
            <a:r>
              <a:rPr lang="en-US" sz="2000" dirty="0"/>
              <a:t>✔Portable - small and lightweight ,inexpensive</a:t>
            </a:r>
            <a:br>
              <a:rPr lang="en-US" sz="2000" dirty="0"/>
            </a:br>
            <a:r>
              <a:rPr lang="en-US" sz="2000" dirty="0"/>
              <a:t>✔Useful for transferring small files between home and school </a:t>
            </a:r>
            <a:br>
              <a:rPr lang="en-US" sz="2000" dirty="0"/>
            </a:br>
            <a:r>
              <a:rPr lang="en-US" sz="2000" dirty="0"/>
              <a:t>✔Can be used many times </a:t>
            </a:r>
            <a:br>
              <a:rPr lang="en-US" sz="2000" dirty="0"/>
            </a:br>
            <a:endParaRPr lang="en-US" sz="2000" dirty="0"/>
          </a:p>
        </p:txBody>
      </p:sp>
    </p:spTree>
    <p:extLst>
      <p:ext uri="{BB962C8B-B14F-4D97-AF65-F5344CB8AC3E}">
        <p14:creationId xmlns:p14="http://schemas.microsoft.com/office/powerpoint/2010/main" val="2977314513"/>
      </p:ext>
    </p:ext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65089" y="422031"/>
            <a:ext cx="9404723" cy="6302326"/>
          </a:xfrm>
        </p:spPr>
        <p:txBody>
          <a:bodyPr/>
          <a:lstStyle/>
          <a:p>
            <a:r>
              <a:rPr lang="en-US" sz="4000" b="1" dirty="0"/>
              <a:t>Disadvantages</a:t>
            </a:r>
            <a:br>
              <a:rPr lang="en-US" sz="2000" dirty="0"/>
            </a:br>
            <a:r>
              <a:rPr lang="en-US" sz="2000" dirty="0"/>
              <a:t>✔Not very strong - easy to damage </a:t>
            </a:r>
            <a:br>
              <a:rPr lang="en-US" sz="2000" dirty="0"/>
            </a:br>
            <a:r>
              <a:rPr lang="en-US" sz="2000" dirty="0"/>
              <a:t>✔Data can be erased if the disk comes into contact with a magnetic field </a:t>
            </a:r>
            <a:br>
              <a:rPr lang="en-US" sz="2000" dirty="0"/>
            </a:br>
            <a:r>
              <a:rPr lang="en-US" sz="2000" dirty="0"/>
              <a:t>✔Quite slow to access and retrieve data when compared to a hard disk </a:t>
            </a:r>
            <a:br>
              <a:rPr lang="en-US" sz="2000" dirty="0"/>
            </a:br>
            <a:r>
              <a:rPr lang="en-US" sz="2000" dirty="0"/>
              <a:t>✔Can transport viruses from one machine to another </a:t>
            </a:r>
            <a:br>
              <a:rPr lang="en-US" sz="2000" dirty="0"/>
            </a:br>
            <a:r>
              <a:rPr lang="en-US" sz="2000" dirty="0"/>
              <a:t>✔Small storage capacity </a:t>
            </a:r>
            <a:br>
              <a:rPr lang="en-US" sz="2000" dirty="0"/>
            </a:br>
            <a:endParaRPr lang="en-US" sz="20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12802" y="3066755"/>
            <a:ext cx="5509296" cy="3199003"/>
          </a:xfrm>
          <a:prstGeom prst="rect">
            <a:avLst/>
          </a:prstGeom>
          <a:ln w="127000" cap="rnd">
            <a:solidFill>
              <a:srgbClr val="FFFFFF"/>
            </a:solidFill>
          </a:ln>
          <a:effectLst>
            <a:outerShdw blurRad="76200" dist="95250" dir="10500000" sx="97000" sy="23000" kx="900000" algn="br" rotWithShape="0">
              <a:srgbClr val="000000">
                <a:alpha val="20000"/>
              </a:srgbClr>
            </a:outerShdw>
            <a:reflection stA="25000" endPos="28000" dist="50800" dir="5400000" sy="-100000" algn="bl" rotWithShape="0"/>
          </a:effectLst>
          <a:scene3d>
            <a:camera prst="orthographicFront"/>
            <a:lightRig rig="twoPt" dir="t">
              <a:rot lat="0" lon="0" rev="7800000"/>
            </a:lightRig>
          </a:scene3d>
          <a:sp3d contourW="6350">
            <a:bevelT w="88900" h="16510" prst="coolSlant"/>
            <a:bevelB w="165100" prst="coolSlant"/>
            <a:contourClr>
              <a:srgbClr val="C0C0C0"/>
            </a:contourClr>
          </a:sp3d>
        </p:spPr>
      </p:pic>
    </p:spTree>
    <p:extLst>
      <p:ext uri="{BB962C8B-B14F-4D97-AF65-F5344CB8AC3E}">
        <p14:creationId xmlns:p14="http://schemas.microsoft.com/office/powerpoint/2010/main" val="1510737217"/>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68142" y="480852"/>
            <a:ext cx="9609237" cy="6271639"/>
          </a:xfrm>
        </p:spPr>
        <p:txBody>
          <a:bodyPr/>
          <a:lstStyle/>
          <a:p>
            <a:r>
              <a:rPr lang="en-US" sz="4400" b="1" dirty="0"/>
              <a:t>       Flash memory Storage</a:t>
            </a:r>
            <a:br>
              <a:rPr lang="en-US" sz="4400" b="1" dirty="0"/>
            </a:br>
            <a:br>
              <a:rPr lang="en-US" sz="2000" dirty="0"/>
            </a:br>
            <a:r>
              <a:rPr lang="en-US" sz="2000" b="1" dirty="0"/>
              <a:t>Flash memory </a:t>
            </a:r>
            <a:r>
              <a:rPr lang="en-US" sz="2000" dirty="0"/>
              <a:t>is a solid-state chip that maintains stored data without any external power source. It is commonly used in portable electronics and removable storage devices, and to replace computer hard drive</a:t>
            </a:r>
            <a:br>
              <a:rPr lang="en-US" sz="2000" dirty="0"/>
            </a:br>
            <a:r>
              <a:rPr lang="en-US" sz="2000" dirty="0"/>
              <a:t>Flash memory is widely use in smart phone, digital camera , portable media player</a:t>
            </a:r>
            <a:br>
              <a:rPr lang="en-US" sz="2000" dirty="0"/>
            </a:br>
            <a:br>
              <a:rPr lang="en-US" sz="2000" dirty="0"/>
            </a:br>
            <a:r>
              <a:rPr lang="en-US" sz="2000" dirty="0"/>
              <a:t>Types of flash memory:</a:t>
            </a:r>
            <a:br>
              <a:rPr lang="en-US" sz="2000" dirty="0"/>
            </a:br>
            <a:br>
              <a:rPr lang="en-US" sz="2000" dirty="0"/>
            </a:br>
            <a:r>
              <a:rPr lang="en-US" sz="3200" dirty="0"/>
              <a:t>❒</a:t>
            </a:r>
            <a:r>
              <a:rPr lang="en-US" sz="2000" dirty="0"/>
              <a:t> </a:t>
            </a:r>
            <a:r>
              <a:rPr lang="en-US" sz="3200" b="1" dirty="0"/>
              <a:t>Solid state drives</a:t>
            </a:r>
            <a:br>
              <a:rPr lang="en-US" sz="2000" dirty="0"/>
            </a:br>
            <a:r>
              <a:rPr lang="en-US" sz="2000" dirty="0"/>
              <a:t>The newest flash memory application, SSDs can replace a computer's hard drive. They have no moving parts, so mechanical failure is near zero. Solid-state drives are quieter and smaller than hard drives, and they provide faster response, access and boot-up times but consume much less power and run cooler.</a:t>
            </a:r>
          </a:p>
        </p:txBody>
      </p:sp>
    </p:spTree>
    <p:extLst>
      <p:ext uri="{BB962C8B-B14F-4D97-AF65-F5344CB8AC3E}">
        <p14:creationId xmlns:p14="http://schemas.microsoft.com/office/powerpoint/2010/main" val="2408071738"/>
      </p:ext>
    </p:extLst>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05418" y="452718"/>
            <a:ext cx="9944552" cy="6405282"/>
          </a:xfrm>
        </p:spPr>
        <p:txBody>
          <a:bodyPr/>
          <a:lstStyle/>
          <a:p>
            <a:r>
              <a:rPr lang="en-US" sz="3200" b="1" dirty="0"/>
              <a:t>Advantages:</a:t>
            </a:r>
            <a:br>
              <a:rPr lang="en-US" sz="2000" dirty="0"/>
            </a:br>
            <a:r>
              <a:rPr lang="en-US" sz="2000" dirty="0"/>
              <a:t> </a:t>
            </a:r>
            <a:br>
              <a:rPr lang="en-US" sz="2000" dirty="0"/>
            </a:br>
            <a:r>
              <a:rPr lang="en-US" sz="2000" b="1" dirty="0"/>
              <a:t>✔</a:t>
            </a:r>
            <a:r>
              <a:rPr lang="en-US" sz="2000" dirty="0"/>
              <a:t>Provide faster data access and data transfer.</a:t>
            </a:r>
            <a:br>
              <a:rPr lang="en-US" sz="2000" dirty="0"/>
            </a:br>
            <a:r>
              <a:rPr lang="en-US" sz="2000" b="1" dirty="0"/>
              <a:t>✔</a:t>
            </a:r>
            <a:r>
              <a:rPr lang="en-US" sz="2000" dirty="0"/>
              <a:t>They do not generate noise.</a:t>
            </a:r>
            <a:br>
              <a:rPr lang="en-US" sz="2000" dirty="0"/>
            </a:br>
            <a:r>
              <a:rPr lang="en-US" sz="2000" b="1" dirty="0"/>
              <a:t>✔</a:t>
            </a:r>
            <a:r>
              <a:rPr lang="en-US" sz="2000" dirty="0"/>
              <a:t>Security – allowing a very quick scan of all data stored.</a:t>
            </a:r>
            <a:br>
              <a:rPr lang="en-US" sz="2000" dirty="0"/>
            </a:br>
            <a:r>
              <a:rPr lang="en-US" sz="2000" b="1" dirty="0"/>
              <a:t>✔</a:t>
            </a:r>
            <a:r>
              <a:rPr lang="en-US" sz="2000" dirty="0"/>
              <a:t>Some of the storage devices are waterproof.</a:t>
            </a:r>
            <a:br>
              <a:rPr lang="en-US" sz="2000" dirty="0"/>
            </a:br>
            <a:r>
              <a:rPr lang="en-US" sz="2000" dirty="0"/>
              <a:t> </a:t>
            </a:r>
            <a:br>
              <a:rPr lang="en-US" sz="2000" dirty="0"/>
            </a:br>
            <a:r>
              <a:rPr lang="en-US" sz="3200" b="1" dirty="0"/>
              <a:t>Disadvantages:</a:t>
            </a:r>
            <a:br>
              <a:rPr lang="en-US" sz="2000" dirty="0"/>
            </a:br>
            <a:r>
              <a:rPr lang="en-US" sz="2000" dirty="0"/>
              <a:t> </a:t>
            </a:r>
            <a:br>
              <a:rPr lang="en-US" sz="2000" dirty="0"/>
            </a:br>
            <a:r>
              <a:rPr lang="en-US" sz="2000" b="1" dirty="0"/>
              <a:t>✔</a:t>
            </a:r>
            <a:r>
              <a:rPr lang="en-US" sz="2000" dirty="0"/>
              <a:t>Price – solid state drives are more expensive than magnetic  hard drive.</a:t>
            </a:r>
            <a:br>
              <a:rPr lang="en-US" sz="2000" dirty="0"/>
            </a:br>
            <a:r>
              <a:rPr lang="en-US" sz="2000" b="1" dirty="0"/>
              <a:t>✔</a:t>
            </a:r>
            <a:r>
              <a:rPr lang="en-US" sz="2000" dirty="0"/>
              <a:t>Recovery  of data in case of failure can be more difficult than magnetic  hard drive</a:t>
            </a:r>
            <a:br>
              <a:rPr lang="en-US" sz="2000" dirty="0"/>
            </a:br>
            <a:endParaRPr lang="en-US" sz="20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30864" y="4428084"/>
            <a:ext cx="3293660" cy="2232023"/>
          </a:xfrm>
          <a:prstGeom prst="rect">
            <a:avLst/>
          </a:prstGeom>
          <a:effectLst>
            <a:outerShdw blurRad="50800" dist="38100" dir="2700000" algn="tl" rotWithShape="0">
              <a:prstClr val="black">
                <a:alpha val="40000"/>
              </a:prstClr>
            </a:outerShdw>
          </a:effectLst>
          <a:scene3d>
            <a:camera prst="orthographicFront"/>
            <a:lightRig rig="threePt" dir="t"/>
          </a:scene3d>
          <a:sp3d>
            <a:bevelT w="165100" prst="coolSlant"/>
          </a:sp3d>
        </p:spPr>
      </p:pic>
    </p:spTree>
    <p:extLst>
      <p:ext uri="{BB962C8B-B14F-4D97-AF65-F5344CB8AC3E}">
        <p14:creationId xmlns:p14="http://schemas.microsoft.com/office/powerpoint/2010/main" val="637051118"/>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124412" y="354244"/>
            <a:ext cx="9637372" cy="6405282"/>
          </a:xfrm>
        </p:spPr>
        <p:txBody>
          <a:bodyPr/>
          <a:lstStyle/>
          <a:p>
            <a:r>
              <a:rPr lang="en-US" sz="3600" dirty="0"/>
              <a:t>❒</a:t>
            </a:r>
            <a:r>
              <a:rPr lang="en-US" sz="3600" b="1" dirty="0"/>
              <a:t>USB Flash Drive</a:t>
            </a:r>
            <a:br>
              <a:rPr lang="en-US" sz="4400" b="1" dirty="0"/>
            </a:br>
            <a:br>
              <a:rPr lang="en-US" sz="2000" dirty="0"/>
            </a:br>
            <a:r>
              <a:rPr lang="en-US" sz="2000" dirty="0"/>
              <a:t>USB flash drive is a flash memory storage drive also are called</a:t>
            </a:r>
            <a:r>
              <a:rPr lang="en-US" sz="2000" b="1" dirty="0"/>
              <a:t> thumb drives, jump drives, pen drives, key drives, tokens, or simply USB drives.</a:t>
            </a:r>
            <a:br>
              <a:rPr lang="en-US" sz="2000" b="1" dirty="0"/>
            </a:br>
            <a:r>
              <a:rPr lang="en-US" sz="2000" dirty="0"/>
              <a:t> A small, portable flash memory card that plugs into a computer USB port and functions as a portable hard drive. USB flash drives are touted as being easy-to-use as they are small enough to be carried in a pocket and can plug into any computer with a USB drive. USB flash drives have less storage capacity than an external hard drive, but they are smaller and more durable because they do not contain any internal moving parts.</a:t>
            </a:r>
            <a:br>
              <a:rPr lang="en-US" sz="2000" dirty="0"/>
            </a:br>
            <a:endParaRPr lang="en-US" sz="20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47941" y="4093699"/>
            <a:ext cx="3390313" cy="2391508"/>
          </a:xfrm>
          <a:prstGeom prst="rect">
            <a:avLst/>
          </a:prstGeom>
          <a:effectLst>
            <a:outerShdw blurRad="50800" dist="38100" dir="2700000" algn="tl" rotWithShape="0">
              <a:prstClr val="black">
                <a:alpha val="40000"/>
              </a:prstClr>
            </a:outerShdw>
          </a:effectLst>
          <a:scene3d>
            <a:camera prst="orthographicFront"/>
            <a:lightRig rig="threePt" dir="t"/>
          </a:scene3d>
          <a:sp3d>
            <a:bevelT w="165100" prst="coolSlant"/>
            <a:bevelB/>
          </a:sp3d>
        </p:spPr>
      </p:pic>
    </p:spTree>
    <p:extLst>
      <p:ext uri="{BB962C8B-B14F-4D97-AF65-F5344CB8AC3E}">
        <p14:creationId xmlns:p14="http://schemas.microsoft.com/office/powerpoint/2010/main" val="3900868791"/>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040006" y="480852"/>
            <a:ext cx="9778049" cy="6271639"/>
          </a:xfrm>
        </p:spPr>
        <p:txBody>
          <a:bodyPr/>
          <a:lstStyle/>
          <a:p>
            <a:r>
              <a:rPr lang="en-US" sz="3600" b="1" dirty="0"/>
              <a:t> Wireless flash drive</a:t>
            </a:r>
            <a:br>
              <a:rPr lang="en-US" sz="3600" b="1" dirty="0"/>
            </a:br>
            <a:br>
              <a:rPr lang="en-US" sz="2000" dirty="0"/>
            </a:br>
            <a:r>
              <a:rPr lang="en-US" sz="2000" dirty="0"/>
              <a:t>Wireless flash drive is used to store and share data wirelessly across mobile devices and computers. It is portable and very easy to use It connects wirelessly up to eight drives and stream video at the same time via Wi-Fi. Wireless flash drives are available in 16GB, 32GB and 64GB </a:t>
            </a:r>
            <a:br>
              <a:rPr lang="en-US" sz="2000" dirty="0"/>
            </a:br>
            <a:r>
              <a:rPr lang="en-US" sz="2000" dirty="0"/>
              <a:t>Example: SanDisk Connect.</a:t>
            </a:r>
            <a:br>
              <a:rPr lang="en-US" sz="2000" dirty="0"/>
            </a:br>
            <a:endParaRPr lang="en-US" sz="20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225542" y="3376246"/>
            <a:ext cx="5406976" cy="3151164"/>
          </a:xfrm>
          <a:prstGeom prst="rect">
            <a:avLst/>
          </a:prstGeom>
          <a:effectLst>
            <a:outerShdw blurRad="50800" dist="38100" dir="2700000" algn="tl" rotWithShape="0">
              <a:prstClr val="black">
                <a:alpha val="40000"/>
              </a:prstClr>
            </a:outerShdw>
          </a:effectLst>
          <a:scene3d>
            <a:camera prst="orthographicFront"/>
            <a:lightRig rig="threePt" dir="t"/>
          </a:scene3d>
          <a:sp3d>
            <a:bevelT w="165100" prst="coolSlant"/>
            <a:bevelB prst="relaxedInset"/>
          </a:sp3d>
        </p:spPr>
      </p:pic>
    </p:spTree>
    <p:extLst>
      <p:ext uri="{BB962C8B-B14F-4D97-AF65-F5344CB8AC3E}">
        <p14:creationId xmlns:p14="http://schemas.microsoft.com/office/powerpoint/2010/main" val="1242367753"/>
      </p:ext>
    </p:extLst>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83736" y="354244"/>
            <a:ext cx="10059403" cy="6405282"/>
          </a:xfrm>
        </p:spPr>
        <p:txBody>
          <a:bodyPr/>
          <a:lstStyle/>
          <a:p>
            <a:pPr fontAlgn="base"/>
            <a:r>
              <a:rPr lang="en-US" sz="4000" b="1" dirty="0"/>
              <a:t>                Memory cards</a:t>
            </a:r>
            <a:br>
              <a:rPr lang="en-US" sz="4000" b="1" dirty="0"/>
            </a:br>
            <a:br>
              <a:rPr lang="en-US" sz="2000" dirty="0"/>
            </a:br>
            <a:r>
              <a:rPr lang="en-US" sz="2000" dirty="0"/>
              <a:t>A </a:t>
            </a:r>
            <a:r>
              <a:rPr lang="en-US" sz="2000" b="1" dirty="0"/>
              <a:t>memory card</a:t>
            </a:r>
            <a:r>
              <a:rPr lang="en-US" sz="2000" dirty="0"/>
              <a:t> or </a:t>
            </a:r>
            <a:r>
              <a:rPr lang="en-US" sz="2000" b="1" dirty="0"/>
              <a:t>flash card</a:t>
            </a:r>
            <a:r>
              <a:rPr lang="en-US" sz="2000" dirty="0"/>
              <a:t> is an electronic flash memory data storage used for storing digital information. These are commonly used in portable electronic devices, such as digital cameras, mobile phones, laptop computers, tablets, MP3 players and video game consoles.</a:t>
            </a:r>
            <a:br>
              <a:rPr lang="en-US" sz="2000" dirty="0"/>
            </a:br>
            <a:r>
              <a:rPr lang="en-US" sz="2000" dirty="0"/>
              <a:t>A memory card can be inserted into a slot on computer or mobile device. However a card reader can be attached to a computer if it does not have a slot.</a:t>
            </a:r>
            <a:br>
              <a:rPr lang="en-US" sz="2000" dirty="0"/>
            </a:br>
            <a:r>
              <a:rPr lang="en-US" sz="2000" dirty="0"/>
              <a:t> </a:t>
            </a:r>
            <a:r>
              <a:rPr lang="en-US" sz="2800" b="1" dirty="0"/>
              <a:t>Types:</a:t>
            </a:r>
            <a:br>
              <a:rPr lang="en-US" sz="2800" b="1" dirty="0"/>
            </a:br>
            <a:r>
              <a:rPr lang="en-US" sz="3200" dirty="0"/>
              <a:t>❒ </a:t>
            </a:r>
            <a:r>
              <a:rPr lang="en-US" sz="3200" b="1" dirty="0"/>
              <a:t>Compact Flash (CF)</a:t>
            </a:r>
            <a:br>
              <a:rPr lang="en-US" sz="3200" b="1" dirty="0"/>
            </a:br>
            <a:br>
              <a:rPr lang="en-US" sz="2000" b="1" dirty="0"/>
            </a:br>
            <a:r>
              <a:rPr lang="en-US" sz="2000" dirty="0"/>
              <a:t>Invented by SanDisk Corporation in 1994, CompactFlash cards can support 3.3V and 5V operation and can switch between the two, in contrast to other small-form factor flash memory cards that can operate only at one voltage. The storage capacity of compact flash can be from 8GB to 512GB.</a:t>
            </a:r>
            <a:br>
              <a:rPr lang="en-US" sz="2800" b="1" dirty="0"/>
            </a:br>
            <a:endParaRPr lang="en-US" sz="2000" b="1" dirty="0"/>
          </a:p>
        </p:txBody>
      </p:sp>
    </p:spTree>
    <p:extLst>
      <p:ext uri="{BB962C8B-B14F-4D97-AF65-F5344CB8AC3E}">
        <p14:creationId xmlns:p14="http://schemas.microsoft.com/office/powerpoint/2010/main" val="3923135603"/>
      </p:ext>
    </p:extLst>
  </p:cSld>
  <p:clrMapOvr>
    <a:masterClrMapping/>
  </p:clrMapOvr>
  <p:transition spd="slow">
    <p:wip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a:xfrm>
            <a:off x="1166616" y="565259"/>
            <a:ext cx="9552966" cy="6187233"/>
          </a:xfrm>
        </p:spPr>
        <p:txBody>
          <a:bodyPr/>
          <a:lstStyle/>
          <a:p>
            <a:r>
              <a:rPr lang="en-US" sz="3200" dirty="0"/>
              <a:t>❒</a:t>
            </a:r>
            <a:r>
              <a:rPr lang="en-US" sz="3200" b="1" dirty="0"/>
              <a:t> Secure Digital Card (SD card)</a:t>
            </a:r>
            <a:br>
              <a:rPr lang="en-US" sz="2000" b="1" dirty="0"/>
            </a:br>
            <a:br>
              <a:rPr lang="en-US" sz="2000" b="1" dirty="0"/>
            </a:br>
            <a:r>
              <a:rPr lang="en-US" sz="2000" dirty="0"/>
              <a:t>SD cards are used in many small portable devices such as digital video camcorders, digital cameras, handheld computers, audio players and mobile phones.SD Memory Cards are now available in capacities between 16 Megabytes and 1 Gigabyte, and still growing. It provide a storage capacity up to 32GB.</a:t>
            </a:r>
            <a:br>
              <a:rPr lang="en-US" sz="2000" dirty="0"/>
            </a:br>
            <a:br>
              <a:rPr lang="en-US" sz="2000" dirty="0"/>
            </a:br>
            <a:r>
              <a:rPr lang="en-US" sz="3200" dirty="0"/>
              <a:t>❒ </a:t>
            </a:r>
            <a:r>
              <a:rPr lang="en-US" sz="3200" b="1" dirty="0"/>
              <a:t>Memory stick media</a:t>
            </a:r>
            <a:br>
              <a:rPr lang="en-US" sz="3200" b="1" dirty="0"/>
            </a:br>
            <a:br>
              <a:rPr lang="en-US" sz="2000" b="1" dirty="0"/>
            </a:br>
            <a:r>
              <a:rPr lang="en-US" sz="2000" dirty="0"/>
              <a:t>Memory Stick is a removable flash memory card format, launched by Sony and is also used in general to describe the whole family of </a:t>
            </a:r>
            <a:r>
              <a:rPr lang="en-US" sz="2000" b="1" dirty="0"/>
              <a:t>Memory Sticks.</a:t>
            </a:r>
            <a:r>
              <a:rPr lang="en-US" sz="2000" dirty="0"/>
              <a:t> In addition to the original Memory Stick, this family includes the </a:t>
            </a:r>
            <a:r>
              <a:rPr lang="en-US" sz="2000" b="1" dirty="0"/>
              <a:t>Memory Stick PRO</a:t>
            </a:r>
            <a:r>
              <a:rPr lang="en-US" sz="2000" dirty="0"/>
              <a:t>, a revision that allows greater maximum storage capacity and faster file transfer speeds. Another type of memory stick is called Memory Stick Micro (M2) with storage capacity of 2GB to 4GB.</a:t>
            </a:r>
            <a:br>
              <a:rPr lang="en-US" sz="2000" b="1" dirty="0"/>
            </a:br>
            <a:endParaRPr lang="en-US" sz="2000" dirty="0"/>
          </a:p>
        </p:txBody>
      </p:sp>
    </p:spTree>
    <p:extLst>
      <p:ext uri="{BB962C8B-B14F-4D97-AF65-F5344CB8AC3E}">
        <p14:creationId xmlns:p14="http://schemas.microsoft.com/office/powerpoint/2010/main" val="1821928893"/>
      </p:ext>
    </p:extLst>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46111" y="452717"/>
            <a:ext cx="9848387" cy="6257571"/>
          </a:xfrm>
        </p:spPr>
        <p:txBody>
          <a:bodyPr/>
          <a:lstStyle/>
          <a:p>
            <a:r>
              <a:rPr lang="en-US" sz="3600" dirty="0"/>
              <a:t>❒</a:t>
            </a:r>
            <a:r>
              <a:rPr lang="en-US" sz="3600" b="1" dirty="0"/>
              <a:t> Security digital Memory Cards SDXC</a:t>
            </a:r>
            <a:br>
              <a:rPr lang="en-US" sz="2000" b="1" dirty="0"/>
            </a:br>
            <a:br>
              <a:rPr lang="en-US" sz="2000" b="1" dirty="0"/>
            </a:br>
            <a:r>
              <a:rPr lang="en-US" sz="2000" dirty="0"/>
              <a:t>Security digital extended capacity is commonly used in digital cameras. It provides the storage capacity of 32GB upto2TB</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427179" y="2606113"/>
            <a:ext cx="4286250" cy="3952875"/>
          </a:xfrm>
          <a:prstGeom prst="rect">
            <a:avLst/>
          </a:prstGeom>
          <a:effectLst>
            <a:innerShdw blurRad="63500" dist="50800" dir="16200000">
              <a:prstClr val="black">
                <a:alpha val="50000"/>
              </a:prstClr>
            </a:innerShdw>
          </a:effectLst>
          <a:scene3d>
            <a:camera prst="orthographicFront"/>
            <a:lightRig rig="threePt" dir="t"/>
          </a:scene3d>
          <a:sp3d>
            <a:bevelT w="165100" prst="coolSlant"/>
            <a:bevelB/>
          </a:sp3d>
        </p:spPr>
      </p:pic>
    </p:spTree>
    <p:extLst>
      <p:ext uri="{BB962C8B-B14F-4D97-AF65-F5344CB8AC3E}">
        <p14:creationId xmlns:p14="http://schemas.microsoft.com/office/powerpoint/2010/main" val="3462837134"/>
      </p:ext>
    </p:extLst>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p:cSld>
    <p:bg>
      <p:bgPr>
        <a:gradFill>
          <a:gsLst>
            <a:gs pos="20000">
              <a:srgbClr val="1E3146">
                <a:lumMod val="68000"/>
              </a:srgbClr>
            </a:gs>
            <a:gs pos="82000">
              <a:schemeClr val="accent4">
                <a:lumMod val="75000"/>
              </a:schemeClr>
            </a:gs>
          </a:gsLst>
          <a:path path="circle">
            <a:fillToRect r="100000" b="100000"/>
          </a:path>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05420" y="630138"/>
            <a:ext cx="9903608" cy="6118679"/>
          </a:xfrm>
        </p:spPr>
        <p:txBody>
          <a:bodyPr/>
          <a:lstStyle/>
          <a:p>
            <a:r>
              <a:rPr lang="en-US" sz="4800" b="1" dirty="0"/>
              <a:t>               OPTICAL DISC</a:t>
            </a:r>
            <a:br>
              <a:rPr lang="en-US" sz="2000" dirty="0"/>
            </a:br>
            <a:br>
              <a:rPr lang="en-US" sz="2000" dirty="0"/>
            </a:br>
            <a:r>
              <a:rPr lang="en-US" sz="2000" dirty="0"/>
              <a:t>Optical disc is a form of removable storage. It includes CDs , DVDs and blue ray discs, Optical drives use a laser to read and write data on optical disc</a:t>
            </a:r>
            <a:r>
              <a:rPr lang="en-US" sz="2000" b="1" dirty="0"/>
              <a:t>. The laser</a:t>
            </a:r>
            <a:r>
              <a:rPr lang="en-US" sz="2000" dirty="0"/>
              <a:t> stands for </a:t>
            </a:r>
            <a:r>
              <a:rPr lang="en-US" sz="2000" b="1" dirty="0"/>
              <a:t>Light Amplification through Stimulated Emission of Radiation</a:t>
            </a:r>
            <a:r>
              <a:rPr lang="en-US" sz="2000" dirty="0"/>
              <a:t>. Laser beam writes on the surface by creating small</a:t>
            </a:r>
            <a:r>
              <a:rPr lang="en-US" sz="2400" b="1" dirty="0"/>
              <a:t> pit </a:t>
            </a:r>
            <a:r>
              <a:rPr lang="en-US" sz="2000" dirty="0"/>
              <a:t>(hole) in the disc. Optical disc commonly store data in single track. Optical disc storage capacity is from 700 MB to several </a:t>
            </a:r>
            <a:r>
              <a:rPr lang="en-US" sz="2000" dirty="0" err="1"/>
              <a:t>GB.The</a:t>
            </a:r>
            <a:r>
              <a:rPr lang="en-US" sz="2000" dirty="0"/>
              <a:t> main </a:t>
            </a:r>
            <a:r>
              <a:rPr lang="en-US" sz="2000" dirty="0" err="1"/>
              <a:t>catagories</a:t>
            </a:r>
            <a:r>
              <a:rPr lang="en-US" sz="2000" dirty="0"/>
              <a:t> of optical disc are CD and DVD.</a:t>
            </a:r>
            <a:br>
              <a:rPr lang="en-US" sz="2000" dirty="0"/>
            </a:br>
            <a:br>
              <a:rPr lang="en-US" sz="2000" dirty="0"/>
            </a:br>
            <a:endParaRPr lang="en-US" sz="2000" dirty="0"/>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65746" y="4065563"/>
            <a:ext cx="3582955" cy="2526305"/>
          </a:xfrm>
          <a:prstGeom prst="rect">
            <a:avLst/>
          </a:prstGeom>
          <a:scene3d>
            <a:camera prst="orthographicFront"/>
            <a:lightRig rig="threePt" dir="t"/>
          </a:scene3d>
          <a:sp3d>
            <a:bevelT/>
            <a:bevelB w="165100" prst="coolSlant"/>
          </a:sp3d>
        </p:spPr>
      </p:pic>
    </p:spTree>
    <p:extLst>
      <p:ext uri="{BB962C8B-B14F-4D97-AF65-F5344CB8AC3E}">
        <p14:creationId xmlns:p14="http://schemas.microsoft.com/office/powerpoint/2010/main" val="1085390663"/>
      </p:ext>
    </p:extLst>
  </p:cSld>
  <p:clrMapOvr>
    <a:masterClrMapping/>
  </p:clrMapOvr>
  <p:transition spd="slow">
    <p:wipe/>
  </p:transition>
</p:sld>
</file>

<file path=ppt/slides/slide24.xml><?xml version="1.0" encoding="utf-8"?>
<p:sld xmlns:a="http://schemas.openxmlformats.org/drawingml/2006/main" xmlns:r="http://schemas.openxmlformats.org/officeDocument/2006/relationships" xmlns:p="http://schemas.openxmlformats.org/presentationml/2006/main">
  <p:cSld>
    <p:bg>
      <p:bgPr>
        <a:gradFill>
          <a:gsLst>
            <a:gs pos="20000">
              <a:srgbClr val="1E3146">
                <a:lumMod val="68000"/>
              </a:srgbClr>
            </a:gs>
            <a:gs pos="82000">
              <a:schemeClr val="accent4">
                <a:lumMod val="75000"/>
              </a:schemeClr>
            </a:gs>
          </a:gsLst>
          <a:path path="circle">
            <a:fillToRect r="100000" b="100000"/>
          </a:path>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98805" y="523056"/>
            <a:ext cx="9903655" cy="6215368"/>
          </a:xfrm>
        </p:spPr>
        <p:txBody>
          <a:bodyPr/>
          <a:lstStyle/>
          <a:p>
            <a:pPr lvl="0"/>
            <a:r>
              <a:rPr lang="en-US" sz="4400" b="1" dirty="0"/>
              <a:t>                        CD</a:t>
            </a:r>
            <a:br>
              <a:rPr lang="en-US" sz="2000" dirty="0"/>
            </a:br>
            <a:r>
              <a:rPr lang="en-US" sz="2000" dirty="0" err="1"/>
              <a:t>CD</a:t>
            </a:r>
            <a:r>
              <a:rPr lang="en-US" sz="2000" dirty="0"/>
              <a:t>  stands for </a:t>
            </a:r>
            <a:r>
              <a:rPr lang="en-US" sz="2000" b="1" dirty="0"/>
              <a:t>Compact Disc</a:t>
            </a:r>
            <a:r>
              <a:rPr lang="en-US" sz="2000" dirty="0"/>
              <a:t>. It is mainly used to store photos, audio and computer software. CDs are available in three types which are read only recordable and rewriteable. Different types of CDs are as follows.</a:t>
            </a:r>
            <a:br>
              <a:rPr lang="en-US" sz="2000" dirty="0"/>
            </a:br>
            <a:r>
              <a:rPr lang="en-US" sz="3200" b="1" dirty="0"/>
              <a:t>1-CD-ROM</a:t>
            </a:r>
            <a:br>
              <a:rPr lang="en-US" sz="2000" dirty="0"/>
            </a:br>
            <a:r>
              <a:rPr lang="en-US" sz="2000" dirty="0"/>
              <a:t>CD-ROM stands for Compact DISC Read-Only Memory. The data stored on CD-ROM can only be read. It cannot be deleted or changed. It can store up to 700MB of data.  </a:t>
            </a:r>
            <a:br>
              <a:rPr lang="en-US" sz="2000" dirty="0"/>
            </a:br>
            <a:r>
              <a:rPr lang="en-US" sz="2400" b="1" dirty="0"/>
              <a:t>USES OF CD-ROM</a:t>
            </a:r>
            <a:br>
              <a:rPr lang="en-US" sz="2000" dirty="0"/>
            </a:br>
            <a:r>
              <a:rPr lang="en-US" sz="2000" dirty="0"/>
              <a:t>CR-ROM is mostly used to store photos and audios.</a:t>
            </a:r>
            <a:br>
              <a:rPr lang="en-US" sz="2000" dirty="0"/>
            </a:br>
            <a:r>
              <a:rPr lang="en-US" sz="2000" dirty="0"/>
              <a:t>It is often used to distribute new application software and games.</a:t>
            </a:r>
            <a:br>
              <a:rPr lang="en-US" sz="2000" dirty="0"/>
            </a:br>
            <a:r>
              <a:rPr lang="en-US" sz="2400" b="1" dirty="0"/>
              <a:t>ADVANTGES OF CD-ROM</a:t>
            </a:r>
            <a:br>
              <a:rPr lang="en-US" sz="2000" dirty="0"/>
            </a:br>
            <a:r>
              <a:rPr lang="en-US" sz="2000" b="1" dirty="0"/>
              <a:t>✔</a:t>
            </a:r>
            <a:r>
              <a:rPr lang="en-US" sz="2000" dirty="0"/>
              <a:t>It is the least expensive way to store data and information.</a:t>
            </a:r>
            <a:br>
              <a:rPr lang="en-US" sz="2000" dirty="0"/>
            </a:br>
            <a:r>
              <a:rPr lang="en-US" sz="2000" b="1" dirty="0"/>
              <a:t>✔</a:t>
            </a:r>
            <a:r>
              <a:rPr lang="en-US" sz="2000" dirty="0"/>
              <a:t>CD-ROM discs are durable and easy to handle.</a:t>
            </a:r>
            <a:br>
              <a:rPr lang="en-US" sz="2000" dirty="0"/>
            </a:br>
            <a:r>
              <a:rPr lang="en-US" sz="2800" b="1" dirty="0"/>
              <a:t>DISTAVANTAGES OF CD-ROM</a:t>
            </a:r>
            <a:br>
              <a:rPr lang="en-US" sz="4400" dirty="0"/>
            </a:br>
            <a:r>
              <a:rPr lang="en-US" sz="2000" b="1" dirty="0"/>
              <a:t>✔</a:t>
            </a:r>
            <a:r>
              <a:rPr lang="en-US" sz="2000" dirty="0"/>
              <a:t>The data cannot be edited.</a:t>
            </a:r>
            <a:br>
              <a:rPr lang="en-US" sz="2000" dirty="0"/>
            </a:br>
            <a:r>
              <a:rPr lang="en-US" sz="2000" b="1" dirty="0"/>
              <a:t>✔</a:t>
            </a:r>
            <a:r>
              <a:rPr lang="en-US" sz="2000" dirty="0"/>
              <a:t>It retrieves data and information more slowly than magnetic hard disk.</a:t>
            </a:r>
          </a:p>
        </p:txBody>
      </p:sp>
    </p:spTree>
    <p:extLst>
      <p:ext uri="{BB962C8B-B14F-4D97-AF65-F5344CB8AC3E}">
        <p14:creationId xmlns:p14="http://schemas.microsoft.com/office/powerpoint/2010/main" val="2925571652"/>
      </p:ext>
    </p:extLst>
  </p:cSld>
  <p:clrMapOvr>
    <a:masterClrMapping/>
  </p:clrMapOvr>
  <p:transition spd="slow">
    <p:wipe/>
  </p:transition>
</p:sld>
</file>

<file path=ppt/slides/slide25.xml><?xml version="1.0" encoding="utf-8"?>
<p:sld xmlns:a="http://schemas.openxmlformats.org/drawingml/2006/main" xmlns:r="http://schemas.openxmlformats.org/officeDocument/2006/relationships" xmlns:p="http://schemas.openxmlformats.org/presentationml/2006/main">
  <p:cSld>
    <p:bg>
      <p:bgPr>
        <a:gradFill>
          <a:gsLst>
            <a:gs pos="20000">
              <a:srgbClr val="1E3146">
                <a:lumMod val="68000"/>
              </a:srgbClr>
            </a:gs>
            <a:gs pos="82000">
              <a:schemeClr val="accent4">
                <a:lumMod val="75000"/>
              </a:schemeClr>
            </a:gs>
          </a:gsLst>
          <a:path path="circle">
            <a:fillToRect r="100000" b="100000"/>
          </a:path>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124412" y="466785"/>
            <a:ext cx="9623304" cy="6271639"/>
          </a:xfrm>
        </p:spPr>
        <p:txBody>
          <a:bodyPr/>
          <a:lstStyle/>
          <a:p>
            <a:br>
              <a:rPr lang="en-US" sz="3600" b="1" dirty="0"/>
            </a:br>
            <a:r>
              <a:rPr lang="en-US" sz="3600" b="1" dirty="0"/>
              <a:t>2-CD-R</a:t>
            </a:r>
            <a:br>
              <a:rPr lang="en-US" sz="2000" dirty="0"/>
            </a:br>
            <a:r>
              <a:rPr lang="en-US" sz="2000" dirty="0"/>
              <a:t>CD-R stands for CD Recordable. The user can write data on CD-R only once but can read it many times. The data written on CD-R cannot be erased. CD-R drives are known as CD burners. The process of recording data on CD-R is called burning. CD-R is known as WORM (Write Once Read Many).</a:t>
            </a:r>
            <a:br>
              <a:rPr lang="en-US" sz="2000" dirty="0"/>
            </a:br>
            <a:r>
              <a:rPr lang="en-US" sz="2000" dirty="0"/>
              <a:t> </a:t>
            </a:r>
            <a:r>
              <a:rPr lang="en-US" sz="3200" b="1" dirty="0"/>
              <a:t>3-CD-RW</a:t>
            </a:r>
            <a:br>
              <a:rPr lang="en-US" sz="2000" dirty="0"/>
            </a:br>
            <a:r>
              <a:rPr lang="en-US" sz="2000" dirty="0"/>
              <a:t>CD-RW stands for Compact Disc Rewriteable. It is also known as erasable optical disc. The most common type erasable and rewritable optical disc is magneto-optical disc.</a:t>
            </a:r>
            <a:br>
              <a:rPr lang="en-US" sz="2000" dirty="0"/>
            </a:br>
            <a:br>
              <a:rPr lang="en-US" sz="2000" dirty="0"/>
            </a:br>
            <a:r>
              <a:rPr lang="en-US" sz="2000" dirty="0"/>
              <a:t>                                      </a:t>
            </a:r>
            <a:br>
              <a:rPr lang="en-US" sz="2000" dirty="0"/>
            </a:br>
            <a:br>
              <a:rPr lang="en-US" sz="2000" dirty="0"/>
            </a:br>
            <a:endParaRPr lang="en-US" sz="2000" dirty="0"/>
          </a:p>
        </p:txBody>
      </p:sp>
      <p:pic>
        <p:nvPicPr>
          <p:cNvPr id="5" name="Picture 4"/>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213127" y="4346916"/>
            <a:ext cx="3445873" cy="2264899"/>
          </a:xfrm>
          <a:prstGeom prst="rect">
            <a:avLst/>
          </a:prstGeom>
          <a:scene3d>
            <a:camera prst="orthographicFront"/>
            <a:lightRig rig="threePt" dir="t"/>
          </a:scene3d>
          <a:sp3d>
            <a:bevelT w="165100" prst="coolSlant"/>
            <a:bevelB w="152400" h="50800" prst="softRound"/>
          </a:sp3d>
        </p:spPr>
      </p:pic>
    </p:spTree>
    <p:extLst>
      <p:ext uri="{BB962C8B-B14F-4D97-AF65-F5344CB8AC3E}">
        <p14:creationId xmlns:p14="http://schemas.microsoft.com/office/powerpoint/2010/main" val="886450180"/>
      </p:ext>
    </p:extLst>
  </p:cSld>
  <p:clrMapOvr>
    <a:masterClrMapping/>
  </p:clrMapOvr>
  <p:transition spd="slow">
    <p:wipe/>
  </p:transition>
</p:sld>
</file>

<file path=ppt/slides/slide26.xml><?xml version="1.0" encoding="utf-8"?>
<p:sld xmlns:a="http://schemas.openxmlformats.org/drawingml/2006/main" xmlns:r="http://schemas.openxmlformats.org/officeDocument/2006/relationships" xmlns:p="http://schemas.openxmlformats.org/presentationml/2006/main">
  <p:cSld>
    <p:bg>
      <p:bgPr>
        <a:gradFill>
          <a:gsLst>
            <a:gs pos="20000">
              <a:srgbClr val="1E3146">
                <a:lumMod val="68000"/>
              </a:srgbClr>
            </a:gs>
            <a:gs pos="82000">
              <a:schemeClr val="accent4">
                <a:lumMod val="75000"/>
              </a:schemeClr>
            </a:gs>
          </a:gsLst>
          <a:path path="circle">
            <a:fillToRect r="100000" b="100000"/>
          </a:path>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1222887" y="506436"/>
            <a:ext cx="9404723" cy="6231988"/>
          </a:xfrm>
        </p:spPr>
        <p:txBody>
          <a:bodyPr/>
          <a:lstStyle/>
          <a:p>
            <a:r>
              <a:rPr lang="en-US" sz="4800" b="1" dirty="0"/>
              <a:t>                       DVD</a:t>
            </a:r>
            <a:br>
              <a:rPr lang="en-US" sz="2000" dirty="0"/>
            </a:br>
            <a:r>
              <a:rPr lang="en-US" sz="2000" dirty="0" err="1"/>
              <a:t>DVD</a:t>
            </a:r>
            <a:r>
              <a:rPr lang="en-US" sz="2000" dirty="0"/>
              <a:t> stands for </a:t>
            </a:r>
            <a:r>
              <a:rPr lang="en-US" sz="2000" b="1" dirty="0"/>
              <a:t>Digital Video Disc</a:t>
            </a:r>
            <a:r>
              <a:rPr lang="en-US" sz="2000" dirty="0"/>
              <a:t>. The storage capacity of DVD is much greater than CD. It can store up to 17 GB of data. DVDs are available in three types which are read-only  , recordable and rewritable.</a:t>
            </a:r>
            <a:br>
              <a:rPr lang="en-US" sz="2000" dirty="0"/>
            </a:br>
            <a:br>
              <a:rPr lang="en-US" sz="2000" dirty="0"/>
            </a:br>
            <a:r>
              <a:rPr lang="en-US" sz="3600" b="1" dirty="0"/>
              <a:t>TYPES:</a:t>
            </a:r>
            <a:br>
              <a:rPr lang="en-US" sz="3600" b="1" dirty="0"/>
            </a:br>
            <a:br>
              <a:rPr lang="en-US" sz="2000" dirty="0"/>
            </a:br>
            <a:r>
              <a:rPr lang="en-US" sz="3200" b="1" dirty="0"/>
              <a:t>1-DVD-ROM</a:t>
            </a:r>
            <a:br>
              <a:rPr lang="en-US" sz="2000" dirty="0"/>
            </a:br>
            <a:r>
              <a:rPr lang="en-US" sz="2000" dirty="0"/>
              <a:t>DVD-ROM stands for Digital Video Disc Read Only Memory. It is high capacity optical disc that the users can only read but not write or erase.</a:t>
            </a:r>
            <a:br>
              <a:rPr lang="en-US" sz="2000" dirty="0"/>
            </a:br>
            <a:r>
              <a:rPr lang="en-US" sz="3200" b="1" dirty="0"/>
              <a:t>2-DVD-R</a:t>
            </a:r>
            <a:br>
              <a:rPr lang="en-US" sz="2000" dirty="0"/>
            </a:br>
            <a:r>
              <a:rPr lang="en-US" sz="2000" dirty="0"/>
              <a:t>DVD-R stands for Digital Video Disc Recordable. It is similar to CD-R disc. The written data cannot be erased.</a:t>
            </a:r>
            <a:br>
              <a:rPr lang="en-US" sz="2000" dirty="0"/>
            </a:br>
            <a:br>
              <a:rPr lang="en-US" sz="2000" dirty="0"/>
            </a:br>
            <a:endParaRPr lang="en-US" sz="2000" dirty="0"/>
          </a:p>
        </p:txBody>
      </p:sp>
    </p:spTree>
    <p:extLst>
      <p:ext uri="{BB962C8B-B14F-4D97-AF65-F5344CB8AC3E}">
        <p14:creationId xmlns:p14="http://schemas.microsoft.com/office/powerpoint/2010/main" val="1417255392"/>
      </p:ext>
    </p:extLst>
  </p:cSld>
  <p:clrMapOvr>
    <a:masterClrMapping/>
  </p:clrMapOvr>
  <p:transition spd="slow">
    <p:wipe/>
  </p:transition>
</p:sld>
</file>

<file path=ppt/slides/slide27.xml><?xml version="1.0" encoding="utf-8"?>
<p:sld xmlns:a="http://schemas.openxmlformats.org/drawingml/2006/main" xmlns:r="http://schemas.openxmlformats.org/officeDocument/2006/relationships" xmlns:p="http://schemas.openxmlformats.org/presentationml/2006/main">
  <p:cSld>
    <p:bg>
      <p:bgPr>
        <a:gradFill>
          <a:gsLst>
            <a:gs pos="20000">
              <a:srgbClr val="1E3146">
                <a:lumMod val="68000"/>
              </a:srgbClr>
            </a:gs>
            <a:gs pos="82000">
              <a:schemeClr val="accent4">
                <a:lumMod val="75000"/>
              </a:schemeClr>
            </a:gs>
          </a:gsLst>
          <a:path path="circle">
            <a:fillToRect r="100000" b="100000"/>
          </a:path>
        </a:gra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a:xfrm>
            <a:off x="941533" y="492368"/>
            <a:ext cx="9890591" cy="6267157"/>
          </a:xfrm>
        </p:spPr>
        <p:txBody>
          <a:bodyPr/>
          <a:lstStyle/>
          <a:p>
            <a:r>
              <a:rPr lang="en-US" sz="3200" b="1" dirty="0"/>
              <a:t>3-DVD-RW</a:t>
            </a:r>
            <a:br>
              <a:rPr lang="en-US" sz="3600" dirty="0"/>
            </a:br>
            <a:r>
              <a:rPr lang="en-US" sz="2000" dirty="0"/>
              <a:t>DVD-RW stands for Digital Video Disc Rewritable. The user can write data on CD-RW many times by erasing the existing contents. </a:t>
            </a:r>
            <a:br>
              <a:rPr lang="en-US" sz="2000" dirty="0"/>
            </a:br>
            <a:br>
              <a:rPr lang="en-US" sz="2000" dirty="0"/>
            </a:br>
            <a:br>
              <a:rPr lang="en-US" sz="2000" dirty="0"/>
            </a:br>
            <a:br>
              <a:rPr lang="en-US" sz="2000" dirty="0"/>
            </a:br>
            <a:br>
              <a:rPr lang="en-US" sz="2000" dirty="0"/>
            </a:br>
            <a:br>
              <a:rPr lang="en-US" sz="2000" dirty="0"/>
            </a:br>
            <a:br>
              <a:rPr lang="en-US" sz="2000" dirty="0"/>
            </a:br>
            <a:br>
              <a:rPr lang="en-US" sz="2000" dirty="0"/>
            </a:br>
            <a:br>
              <a:rPr lang="en-US" sz="2000" dirty="0"/>
            </a:br>
            <a:br>
              <a:rPr lang="en-US" sz="2000" dirty="0"/>
            </a:br>
            <a:br>
              <a:rPr lang="en-US" sz="2000" dirty="0"/>
            </a:br>
            <a:r>
              <a:rPr lang="en-US" sz="3600" b="1" dirty="0"/>
              <a:t>BLU-RAY DISC</a:t>
            </a:r>
            <a:br>
              <a:rPr lang="en-US" dirty="0"/>
            </a:br>
            <a:r>
              <a:rPr lang="en-US" sz="2000" dirty="0"/>
              <a:t>Blu-Ray disc is a new and more expensive DVD format. It provides higher capacity and better quality than standards DVDs especially for high-definition video. It can store up to 100 GB of data.</a:t>
            </a:r>
            <a:br>
              <a:rPr lang="en-US" dirty="0"/>
            </a:br>
            <a:r>
              <a:rPr lang="en-US" dirty="0"/>
              <a:t>                                                                                                                                                                                   </a:t>
            </a:r>
          </a:p>
        </p:txBody>
      </p:sp>
      <p:pic>
        <p:nvPicPr>
          <p:cNvPr id="3" name="Picture 2"/>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040052" y="1906464"/>
            <a:ext cx="3693551" cy="2651469"/>
          </a:xfrm>
          <a:prstGeom prst="rect">
            <a:avLst/>
          </a:prstGeom>
          <a:scene3d>
            <a:camera prst="orthographicFront"/>
            <a:lightRig rig="threePt" dir="t"/>
          </a:scene3d>
          <a:sp3d>
            <a:bevelT w="165100" prst="coolSlant"/>
            <a:bevelB w="152400" h="50800" prst="softRound"/>
          </a:sp3d>
        </p:spPr>
      </p:pic>
    </p:spTree>
    <p:extLst>
      <p:ext uri="{BB962C8B-B14F-4D97-AF65-F5344CB8AC3E}">
        <p14:creationId xmlns:p14="http://schemas.microsoft.com/office/powerpoint/2010/main" val="1763563290"/>
      </p:ext>
    </p:extLst>
  </p:cSld>
  <p:clrMapOvr>
    <a:masterClrMapping/>
  </p:clrMapOvr>
  <p:transition spd="slow">
    <p:wipe/>
  </p:transition>
</p:sld>
</file>

<file path=ppt/theme/_rels/theme1.xml.rels><?xml version="1.0" encoding="UTF-8" standalone="yes"?>
<Relationships xmlns="http://schemas.openxmlformats.org/package/2006/relationships"><Relationship Id="rId1" Type="http://schemas.openxmlformats.org/officeDocument/2006/relationships/image" Target="../media/image1.jpeg"/></Relationships>
</file>

<file path=ppt/theme/theme1.xml><?xml version="1.0" encoding="utf-8"?>
<a:theme xmlns:a="http://schemas.openxmlformats.org/drawingml/2006/main" name="Ion">
  <a:themeElements>
    <a:clrScheme name="Ion">
      <a:dk1>
        <a:sysClr val="windowText" lastClr="000000"/>
      </a:dk1>
      <a:lt1>
        <a:sysClr val="window" lastClr="FFFFFF"/>
      </a:lt1>
      <a:dk2>
        <a:srgbClr val="1E5155"/>
      </a:dk2>
      <a:lt2>
        <a:srgbClr val="EBEBEB"/>
      </a:lt2>
      <a:accent1>
        <a:srgbClr val="B01513"/>
      </a:accent1>
      <a:accent2>
        <a:srgbClr val="EA6312"/>
      </a:accent2>
      <a:accent3>
        <a:srgbClr val="E6B729"/>
      </a:accent3>
      <a:accent4>
        <a:srgbClr val="6AAC90"/>
      </a:accent4>
      <a:accent5>
        <a:srgbClr val="54849A"/>
      </a:accent5>
      <a:accent6>
        <a:srgbClr val="9E5E9B"/>
      </a:accent6>
      <a:hlink>
        <a:srgbClr val="58C1BA"/>
      </a:hlink>
      <a:folHlink>
        <a:srgbClr val="9DFFCB"/>
      </a:folHlink>
    </a:clrScheme>
    <a:fontScheme name="Ion">
      <a:majorFont>
        <a:latin typeface="Century Gothic"/>
        <a:ea typeface=""/>
        <a:cs typeface=""/>
        <a:font script="Jpan" typeface="メイリオ"/>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entury Gothic"/>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Ion">
      <a:fillStyleLst>
        <a:solidFill>
          <a:schemeClr val="phClr"/>
        </a:solidFill>
        <a:gradFill rotWithShape="1">
          <a:gsLst>
            <a:gs pos="0">
              <a:schemeClr val="phClr">
                <a:tint val="64000"/>
                <a:lumMod val="118000"/>
              </a:schemeClr>
            </a:gs>
            <a:gs pos="100000">
              <a:schemeClr val="phClr">
                <a:tint val="92000"/>
                <a:alpha val="100000"/>
                <a:lumMod val="110000"/>
              </a:schemeClr>
            </a:gs>
          </a:gsLst>
          <a:lin ang="5400000" scaled="0"/>
        </a:gradFill>
        <a:gradFill rotWithShape="1">
          <a:gsLst>
            <a:gs pos="0">
              <a:schemeClr val="phClr">
                <a:tint val="98000"/>
                <a:lumMod val="114000"/>
              </a:schemeClr>
            </a:gs>
            <a:gs pos="100000">
              <a:schemeClr val="phClr">
                <a:shade val="90000"/>
                <a:lumMod val="84000"/>
              </a:schemeClr>
            </a:gs>
          </a:gsLst>
          <a:lin ang="5400000" scaled="0"/>
        </a:gradFill>
      </a:fillStyleLst>
      <a:lnStyleLst>
        <a:ln w="9525" cap="rnd" cmpd="sng" algn="ctr">
          <a:solidFill>
            <a:schemeClr val="phClr"/>
          </a:solidFill>
          <a:prstDash val="solid"/>
        </a:ln>
        <a:ln w="19050" cap="rnd" cmpd="sng" algn="ctr">
          <a:solidFill>
            <a:schemeClr val="phClr"/>
          </a:solidFill>
          <a:prstDash val="solid"/>
        </a:ln>
        <a:ln w="28575" cap="rnd" cmpd="sng"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63500" dist="38100" dir="5400000" rotWithShape="0">
              <a:srgbClr val="000000">
                <a:alpha val="60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7000"/>
                <a:hueMod val="88000"/>
                <a:satMod val="130000"/>
                <a:lumMod val="124000"/>
              </a:schemeClr>
            </a:gs>
            <a:gs pos="100000">
              <a:schemeClr val="phClr">
                <a:tint val="96000"/>
                <a:shade val="88000"/>
                <a:hueMod val="108000"/>
                <a:satMod val="164000"/>
                <a:lumMod val="76000"/>
              </a:schemeClr>
            </a:gs>
          </a:gsLst>
          <a:path path="circle">
            <a:fillToRect l="45000" t="65000" r="125000" b="100000"/>
          </a:path>
        </a:gradFill>
        <a:blipFill rotWithShape="1">
          <a:blip xmlns:r="http://schemas.openxmlformats.org/officeDocument/2006/relationships" r:embed="rId1">
            <a:duotone>
              <a:schemeClr val="phClr">
                <a:shade val="69000"/>
                <a:hueMod val="108000"/>
                <a:satMod val="164000"/>
                <a:lumMod val="74000"/>
              </a:schemeClr>
              <a:schemeClr val="phClr">
                <a:tint val="96000"/>
                <a:hueMod val="88000"/>
                <a:satMod val="140000"/>
                <a:lumMod val="132000"/>
              </a:schemeClr>
            </a:duotone>
          </a:blip>
          <a:stretch/>
        </a:blipFill>
      </a:bgFillStyleLst>
    </a:fmtScheme>
  </a:themeElements>
  <a:objectDefaults/>
  <a:extraClrSchemeLst/>
  <a:extLst>
    <a:ext uri="{05A4C25C-085E-4340-85A3-A5531E510DB2}">
      <thm15:themeFamily xmlns:thm15="http://schemas.microsoft.com/office/thememl/2012/main" name="Ion" id="{B8441ADB-2E43-4AF7-B97A-BD870242C6A8}" vid="{292E63A9-BB86-4E3D-B92A-7223C6510D2E}"/>
    </a:ext>
  </a:extLst>
</a:theme>
</file>

<file path=docProps/app.xml><?xml version="1.0" encoding="utf-8"?>
<Properties xmlns="http://schemas.openxmlformats.org/officeDocument/2006/extended-properties" xmlns:vt="http://schemas.openxmlformats.org/officeDocument/2006/docPropsVTypes">
  <Template>Ion</Template>
  <TotalTime>508</TotalTime>
  <Words>2836</Words>
  <Application>Microsoft Office PowerPoint</Application>
  <PresentationFormat>Widescreen</PresentationFormat>
  <Paragraphs>31</Paragraphs>
  <Slides>27</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27</vt:i4>
      </vt:variant>
    </vt:vector>
  </HeadingPairs>
  <TitlesOfParts>
    <vt:vector size="30" baseType="lpstr">
      <vt:lpstr>Century Gothic</vt:lpstr>
      <vt:lpstr>Wingdings 3</vt:lpstr>
      <vt:lpstr>Ion</vt:lpstr>
      <vt:lpstr>          Storage Devices</vt:lpstr>
      <vt:lpstr>            Presentation Overview Storage ‌•Basic Units Of Data Storage  ‌•Data Access Methods Magnetic Disks •Hard Disk ‌•Floppy Disk or Diskette ‌•Zip Disk ‌•Super Disk Optical Disk ‌•CD ‌•DVD ‌•Blu-Ray Disk Flash Memory Storage ‌•Solid State Drives ‌•USB Flash Drives ‌•Memory Cards  </vt:lpstr>
      <vt:lpstr>          Storage</vt:lpstr>
      <vt:lpstr>        Basic unit of data storage    1. Bit Computer works with binary digits. These digits are in the form of 0’s and 1’s. A binary digit is called bit. One bit takes one storage location in memory. It is the smallest unit for data storage. 2. Byte A collection of eight bits is called byte. It is used to store single character. The capacity of the memory or the storage is expressed in terms of bytes. 3. Kilobyte A kilobyte consists of 1024 bytes. It is denoted by KB. 4. Megabyte A megabyte consists of 1024 kilobytes. It is denoted by MB. 5. Gigabyte A gigabyte consists of 1024 megabytes. It is denoted by GB. 6. Terabyte A terabyte consists of 1024 gigabytes. It is denoted by TB. </vt:lpstr>
      <vt:lpstr> Data Access Methods  Different methods of accessing data are following:  1-Random access memory   2-Sequential access memory  1-Random access memory:  Direct (out of sequence or random) access by a computer (CPU) means that data can be retrieved directly from any location on a storage medium in any order. More precisely called Direct Access. A random-access data file enables you to read or write information anywhere in the file.   All storage devices used today are random access devices: &gt;CD/DVD Drives &gt;USB Flash Drives </vt:lpstr>
      <vt:lpstr> 2-Sequential access memory (SAM)   Sequential access memory (SAM) is a class of data storage devices that read stored data in a sequence. Magnetic sequential access memory is typically used for secondary storage in general-purpose computers due to their higher density at lower cost compared to RAM, as well as resistance to wear and non-volatility.   Examples of SAM devices still in use include:   &gt; Hard Disks   &gt; CD-ROMs  &gt; Magnetic tapes. </vt:lpstr>
      <vt:lpstr>               Magnetic Disks  A magnetic disk is a storage device that uses a magnetization process to write, rewrite and access data. It is covered with a magnetic coating and stores data in the form of tracks, spots and sectors. Tracks form circles on the surface of a magnetic disk. Each track on a disc is divided into two sectors. Each sector typically stores up to 512 bytes of data.  Hard disks, zip disks and floppy disks are common examples of magnetic disks.</vt:lpstr>
      <vt:lpstr>                            Zip Disk The Zip drive is a medium-to-high-capacity removable floppy disk storage system (for its period of contemporary use) that was introduced by Iomega in late 1994. Originally Zip disks launched with capacities of 100 MB, but later versions increased this to first 250 MB and then 750 MB.                                                 Super Disk A disk storage technology developed by Imation Corporation that supports very high-density diskettes. Its capacity is 120MB to 250 MB. It can also read the standard 1.44 MB floppy disk.</vt:lpstr>
      <vt:lpstr>                    HARD DISK  A hard disk is part of a unit, often called a "disk drive," "hard drive," or "hard disk drive," that  stores and provides relatively quick access to large amounts of data on an electromagnetically charged surface or set of surfaces. Today's computers typically come with a hard disk that contains several billion bytes (gigabytes) of storage.                                                                                                                                                                                 A hard disk is really a set of stacked "disks," each of which, like phonograph records, has data recorded electromagnetically in concentric circles or "tracks" on the disk. A "head” records or reads the information on the tracks. Two heads, one on each side of a disk, read or write the data as the disk spins. Each read or write operation requires that data be located, which is an operation called a "seek."  </vt:lpstr>
      <vt:lpstr>              HARD DISK PERFORMNCE  The following factors affect the performance of hard disc ✔SEEK TIME  It is also called positioning performance. It is time required by read/write head to reach the correct location on the disk. It is measured in milliseconds. ✔SPINDLE SPEED It is also called transfer performance. It is the speed at which  the drive transfers data. It is measured in revolutions per minute (RPM). ✔LATENCY It is the time required by the spinning platter to bring the desired data to read/write head. It is measured in milliseconds.                A removable hard disc is a type of hard disc that can be inserted and removed from a drive. The removable hard disk drive is used to read and write data on the removable hard disk. The storage capacity of removable hard disk is up to 1TB and more. </vt:lpstr>
      <vt:lpstr>EXTERNAL AND REMOVABLE HARD DISK  An external hard disk is a separate hard disk that is connected to USB port or FireWire port on system unit. The advantage of external hard disk is that it can be installed without opening the system unit. The storage capacity of external hard disk is  up to  4TB and more.  ADVANTAGES  SOME important advantages are as following. ✔These can be used to transfer large number of files from one place to  another. ✔These disk can store large number of audio and video files easily. ✔These  disk can be used to backup important files or entire internal hard disk. </vt:lpstr>
      <vt:lpstr>          MINIATURE HARD DISKS  The miniature hard disc are very small hard disks. These disks are available in different sizes such as 0.85 inch or 1 inch or 1.8 inch. Both internal and external hard disks are available in miniature sizes.  These devices such as portable media player, digital camera, smartphones usually have internal miniature hard disks. The storage capacity of miniature hard disk is from 1GB to 320GB.  </vt:lpstr>
      <vt:lpstr>                       DISK CACHE  Disk caching is often used to speed up magnetic hard drive performance. Today’s hard drives typically use a disk cache consisting of memory chips that is located on circuit board inside the hard drive case. The computer copies the requested data to the disk cache any time the hard drive is accessed. </vt:lpstr>
      <vt:lpstr>                                  FLOPPY DISKS  » Floppy disks are also known as Diskette.  » Floppy disk is a portable magnetic storage device.  » A floppy disk can store up to 1.44 Mb of data which is equivalent to around 300 pages of A4 text. » They used to be the ideal storage device for transferring small files from home to work/school or from one office computer to another. But nowadays, many files contain graphics that are larger than the size of the floppy disk so it is not commonly used now a days. » All disks must be formatted before data can be written to the disk. Formatting divides the disk up into sections or sectors onto which data files are stored.   Advantages ✔Portable - small and lightweight ,inexpensive ✔Useful for transferring small files between home and school  ✔Can be used many times  </vt:lpstr>
      <vt:lpstr>Disadvantages ✔Not very strong - easy to damage  ✔Data can be erased if the disk comes into contact with a magnetic field  ✔Quite slow to access and retrieve data when compared to a hard disk  ✔Can transport viruses from one machine to another  ✔Small storage capacity  </vt:lpstr>
      <vt:lpstr>       Flash memory Storage  Flash memory is a solid-state chip that maintains stored data without any external power source. It is commonly used in portable electronics and removable storage devices, and to replace computer hard drive Flash memory is widely use in smart phone, digital camera , portable media player  Types of flash memory:  ❒ Solid state drives The newest flash memory application, SSDs can replace a computer's hard drive. They have no moving parts, so mechanical failure is near zero. Solid-state drives are quieter and smaller than hard drives, and they provide faster response, access and boot-up times but consume much less power and run cooler.</vt:lpstr>
      <vt:lpstr>Advantages:   ✔Provide faster data access and data transfer. ✔They do not generate noise. ✔Security – allowing a very quick scan of all data stored. ✔Some of the storage devices are waterproof.   Disadvantages:   ✔Price – solid state drives are more expensive than magnetic  hard drive. ✔Recovery  of data in case of failure can be more difficult than magnetic  hard drive </vt:lpstr>
      <vt:lpstr>❒USB Flash Drive  USB flash drive is a flash memory storage drive also are called thumb drives, jump drives, pen drives, key drives, tokens, or simply USB drives.  A small, portable flash memory card that plugs into a computer USB port and functions as a portable hard drive. USB flash drives are touted as being easy-to-use as they are small enough to be carried in a pocket and can plug into any computer with a USB drive. USB flash drives have less storage capacity than an external hard drive, but they are smaller and more durable because they do not contain any internal moving parts. </vt:lpstr>
      <vt:lpstr> Wireless flash drive  Wireless flash drive is used to store and share data wirelessly across mobile devices and computers. It is portable and very easy to use It connects wirelessly up to eight drives and stream video at the same time via Wi-Fi. Wireless flash drives are available in 16GB, 32GB and 64GB  Example: SanDisk Connect. </vt:lpstr>
      <vt:lpstr>                Memory cards  A memory card or flash card is an electronic flash memory data storage used for storing digital information. These are commonly used in portable electronic devices, such as digital cameras, mobile phones, laptop computers, tablets, MP3 players and video game consoles. A memory card can be inserted into a slot on computer or mobile device. However a card reader can be attached to a computer if it does not have a slot.  Types: ❒ Compact Flash (CF)  Invented by SanDisk Corporation in 1994, CompactFlash cards can support 3.3V and 5V operation and can switch between the two, in contrast to other small-form factor flash memory cards that can operate only at one voltage. The storage capacity of compact flash can be from 8GB to 512GB. </vt:lpstr>
      <vt:lpstr>❒ Secure Digital Card (SD card)  SD cards are used in many small portable devices such as digital video camcorders, digital cameras, handheld computers, audio players and mobile phones.SD Memory Cards are now available in capacities between 16 Megabytes and 1 Gigabyte, and still growing. It provide a storage capacity up to 32GB.  ❒ Memory stick media  Memory Stick is a removable flash memory card format, launched by Sony and is also used in general to describe the whole family of Memory Sticks. In addition to the original Memory Stick, this family includes the Memory Stick PRO, a revision that allows greater maximum storage capacity and faster file transfer speeds. Another type of memory stick is called Memory Stick Micro (M2) with storage capacity of 2GB to 4GB. </vt:lpstr>
      <vt:lpstr>❒ Security digital Memory Cards SDXC  Security digital extended capacity is commonly used in digital cameras. It provides the storage capacity of 32GB upto2TB</vt:lpstr>
      <vt:lpstr>               OPTICAL DISC  Optical disc is a form of removable storage. It includes CDs , DVDs and blue ray discs, Optical drives use a laser to read and write data on optical disc. The laser stands for Light Amplification through Stimulated Emission of Radiation. Laser beam writes on the surface by creating small pit (hole) in the disc. Optical disc commonly store data in single track. Optical disc storage capacity is from 700 MB to several GB.The main catagories of optical disc are CD and DVD.  </vt:lpstr>
      <vt:lpstr>                        CD CD  stands for Compact Disc. It is mainly used to store photos, audio and computer software. CDs are available in three types which are read only recordable and rewriteable. Different types of CDs are as follows. 1-CD-ROM CD-ROM stands for Compact DISC Read-Only Memory. The data stored on CD-ROM can only be read. It cannot be deleted or changed. It can store up to 700MB of data.   USES OF CD-ROM CR-ROM is mostly used to store photos and audios. It is often used to distribute new application software and games. ADVANTGES OF CD-ROM ✔It is the least expensive way to store data and information. ✔CD-ROM discs are durable and easy to handle. DISTAVANTAGES OF CD-ROM ✔The data cannot be edited. ✔It retrieves data and information more slowly than magnetic hard disk.</vt:lpstr>
      <vt:lpstr> 2-CD-R CD-R stands for CD Recordable. The user can write data on CD-R only once but can read it many times. The data written on CD-R cannot be erased. CD-R drives are known as CD burners. The process of recording data on CD-R is called burning. CD-R is known as WORM (Write Once Read Many).  3-CD-RW CD-RW stands for Compact Disc Rewriteable. It is also known as erasable optical disc. The most common type erasable and rewritable optical disc is magneto-optical disc.                                          </vt:lpstr>
      <vt:lpstr>                       DVD DVD stands for Digital Video Disc. The storage capacity of DVD is much greater than CD. It can store up to 17 GB of data. DVDs are available in three types which are read-only  , recordable and rewritable.  TYPES:  1-DVD-ROM DVD-ROM stands for Digital Video Disc Read Only Memory. It is high capacity optical disc that the users can only read but not write or erase. 2-DVD-R DVD-R stands for Digital Video Disc Recordable. It is similar to CD-R disc. The written data cannot be erased.  </vt:lpstr>
      <vt:lpstr>3-DVD-RW DVD-RW stands for Digital Video Disc Rewritable. The user can write data on CD-RW many times by erasing the existing contents.            BLU-RAY DISC Blu-Ray disc is a new and more expensive DVD format. It provides higher capacity and better quality than standards DVDs especially for high-definition video. It can store up to 100 GB of data.                                                                                                                                                                                    </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Rabail Asghar</dc:creator>
  <cp:lastModifiedBy>Samuel Mafunga</cp:lastModifiedBy>
  <cp:revision>53</cp:revision>
  <dcterms:created xsi:type="dcterms:W3CDTF">2016-01-10T23:24:01Z</dcterms:created>
  <dcterms:modified xsi:type="dcterms:W3CDTF">2025-08-18T10:33:35Z</dcterms:modified>
</cp:coreProperties>
</file>