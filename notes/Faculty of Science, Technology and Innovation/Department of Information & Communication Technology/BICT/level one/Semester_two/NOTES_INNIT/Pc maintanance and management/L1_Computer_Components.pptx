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78" r:id="rId1"/>
  </p:sldMasterIdLst>
  <p:sldIdLst>
    <p:sldId id="256" r:id="rId2"/>
    <p:sldId id="271" r:id="rId3"/>
    <p:sldId id="257" r:id="rId4"/>
    <p:sldId id="259" r:id="rId5"/>
    <p:sldId id="258" r:id="rId6"/>
    <p:sldId id="260" r:id="rId7"/>
    <p:sldId id="262" r:id="rId8"/>
    <p:sldId id="263" r:id="rId9"/>
    <p:sldId id="264" r:id="rId10"/>
    <p:sldId id="265" r:id="rId11"/>
    <p:sldId id="267" r:id="rId12"/>
    <p:sldId id="266" r:id="rId13"/>
    <p:sldId id="268" r:id="rId14"/>
    <p:sldId id="272" r:id="rId15"/>
    <p:sldId id="273" r:id="rId16"/>
    <p:sldId id="269" r:id="rId17"/>
    <p:sldId id="270"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471" autoAdjust="0"/>
    <p:restoredTop sz="94660"/>
  </p:normalViewPr>
  <p:slideViewPr>
    <p:cSldViewPr snapToGrid="0">
      <p:cViewPr varScale="1">
        <p:scale>
          <a:sx n="88" d="100"/>
          <a:sy n="88" d="100"/>
        </p:scale>
        <p:origin x="42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63756580"/>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27968795"/>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10927843"/>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35022512"/>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7733852"/>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98679806"/>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88166923"/>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32336667"/>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extLst mod="1">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2197610"/>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54919755"/>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237689520"/>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9256115"/>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17817365"/>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8868056"/>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30333056"/>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92479244"/>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_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19708228"/>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7/26/2024</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63063378"/>
      </p:ext>
    </p:extLst>
  </p:cSld>
  <p:clrMap bg1="lt1" tx1="dk1" bg2="lt2" tx2="dk2" accent1="accent1" accent2="accent2" accent3="accent3" accent4="accent4" accent5="accent5" accent6="accent6" hlink="hlink" folHlink="folHlink"/>
  <p:sldLayoutIdLst>
    <p:sldLayoutId id="2147483879" r:id="rId1"/>
    <p:sldLayoutId id="2147483880" r:id="rId2"/>
    <p:sldLayoutId id="2147483881" r:id="rId3"/>
    <p:sldLayoutId id="2147483882" r:id="rId4"/>
    <p:sldLayoutId id="2147483883" r:id="rId5"/>
    <p:sldLayoutId id="2147483884" r:id="rId6"/>
    <p:sldLayoutId id="2147483885" r:id="rId7"/>
    <p:sldLayoutId id="2147483886" r:id="rId8"/>
    <p:sldLayoutId id="2147483887" r:id="rId9"/>
    <p:sldLayoutId id="2147483888" r:id="rId10"/>
    <p:sldLayoutId id="2147483889" r:id="rId11"/>
    <p:sldLayoutId id="2147483890" r:id="rId12"/>
    <p:sldLayoutId id="2147483891" r:id="rId13"/>
    <p:sldLayoutId id="2147483892" r:id="rId14"/>
    <p:sldLayoutId id="2147483893" r:id="rId15"/>
    <p:sldLayoutId id="2147483894" r:id="rId16"/>
    <p:sldLayoutId id="2147483895" r:id="rId17"/>
  </p:sldLayoutIdLst>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7BCB9B5-7C7A-4D3F-A212-A93920C3F5E3}"/>
              </a:ext>
            </a:extLst>
          </p:cNvPr>
          <p:cNvSpPr>
            <a:spLocks noGrp="1"/>
          </p:cNvSpPr>
          <p:nvPr>
            <p:ph type="ctrTitle"/>
          </p:nvPr>
        </p:nvSpPr>
        <p:spPr>
          <a:xfrm>
            <a:off x="1755913" y="696048"/>
            <a:ext cx="7328451" cy="4353030"/>
          </a:xfrm>
        </p:spPr>
        <p:txBody>
          <a:bodyPr anchor="ctr">
            <a:normAutofit/>
          </a:bodyPr>
          <a:lstStyle/>
          <a:p>
            <a:pPr marL="685800" indent="-685800" algn="ctr">
              <a:buFont typeface="Wingdings" panose="05000000000000000000" pitchFamily="2" charset="2"/>
              <a:buChar char="Ø"/>
            </a:pPr>
            <a:r>
              <a:rPr lang="en-US" sz="6000" dirty="0">
                <a:latin typeface="Times New Roman" panose="02020603050405020304" pitchFamily="18" charset="0"/>
                <a:cs typeface="Times New Roman" panose="02020603050405020304" pitchFamily="18" charset="0"/>
              </a:rPr>
              <a:t>Computer</a:t>
            </a:r>
            <a:br>
              <a:rPr lang="en-US" sz="6000" dirty="0">
                <a:latin typeface="Times New Roman" panose="02020603050405020304" pitchFamily="18" charset="0"/>
                <a:cs typeface="Times New Roman" panose="02020603050405020304" pitchFamily="18" charset="0"/>
              </a:rPr>
            </a:br>
            <a:r>
              <a:rPr lang="en-US" sz="6000" dirty="0">
                <a:latin typeface="Times New Roman" panose="02020603050405020304" pitchFamily="18" charset="0"/>
                <a:cs typeface="Times New Roman" panose="02020603050405020304" pitchFamily="18" charset="0"/>
              </a:rPr>
              <a:t>&amp;</a:t>
            </a:r>
            <a:br>
              <a:rPr lang="en-US" sz="6000" dirty="0">
                <a:latin typeface="Times New Roman" panose="02020603050405020304" pitchFamily="18" charset="0"/>
                <a:cs typeface="Times New Roman" panose="02020603050405020304" pitchFamily="18" charset="0"/>
              </a:rPr>
            </a:br>
            <a:r>
              <a:rPr lang="en-US" sz="6000" dirty="0" smtClean="0">
                <a:latin typeface="Times New Roman" panose="02020603050405020304" pitchFamily="18" charset="0"/>
                <a:cs typeface="Times New Roman" panose="02020603050405020304" pitchFamily="18" charset="0"/>
              </a:rPr>
              <a:t>It’s</a:t>
            </a:r>
            <a:r>
              <a:rPr lang="en-US" sz="6000" dirty="0" smtClean="0">
                <a:latin typeface="Times New Roman" panose="02020603050405020304" pitchFamily="18" charset="0"/>
                <a:cs typeface="Times New Roman" panose="02020603050405020304" pitchFamily="18" charset="0"/>
              </a:rPr>
              <a:t> </a:t>
            </a:r>
            <a:r>
              <a:rPr lang="en-US" sz="6000" dirty="0" smtClean="0">
                <a:latin typeface="Times New Roman" panose="02020603050405020304" pitchFamily="18" charset="0"/>
                <a:cs typeface="Times New Roman" panose="02020603050405020304" pitchFamily="18" charset="0"/>
              </a:rPr>
              <a:t>Components</a:t>
            </a:r>
            <a:endParaRPr lang="en-US" sz="7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4834506"/>
      </p:ext>
    </p:extLst>
  </p:cSld>
  <p:clrMapOvr>
    <a:masterClrMapping/>
  </p:clrMapOvr>
  <mc:AlternateContent xmlns:mc="http://schemas.openxmlformats.org/markup-compatibility/2006" xmlns:p14="http://schemas.microsoft.com/office/powerpoint/2010/main">
    <mc:Choice Requires="p14">
      <p:transition spd="slow" p14:dur="3000">
        <p14:vortex dir="r"/>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A852C-A551-4826-B090-2E4D635871C4}"/>
              </a:ext>
            </a:extLst>
          </p:cNvPr>
          <p:cNvSpPr>
            <a:spLocks noGrp="1"/>
          </p:cNvSpPr>
          <p:nvPr>
            <p:ph type="ctrTitle"/>
          </p:nvPr>
        </p:nvSpPr>
        <p:spPr>
          <a:xfrm>
            <a:off x="1507067" y="297438"/>
            <a:ext cx="7766936" cy="1646302"/>
          </a:xfrm>
        </p:spPr>
        <p:txBody>
          <a:bodyPr anchor="ctr"/>
          <a:lstStyle/>
          <a:p>
            <a:pPr algn="ctr"/>
            <a:r>
              <a:rPr lang="en-US" dirty="0">
                <a:latin typeface="Times New Roman" panose="02020603050405020304" pitchFamily="18" charset="0"/>
                <a:cs typeface="Times New Roman" panose="02020603050405020304" pitchFamily="18" charset="0"/>
              </a:rPr>
              <a:t>Contents</a:t>
            </a:r>
          </a:p>
        </p:txBody>
      </p:sp>
      <p:sp>
        <p:nvSpPr>
          <p:cNvPr id="3" name="Subtitle 2">
            <a:extLst>
              <a:ext uri="{FF2B5EF4-FFF2-40B4-BE49-F238E27FC236}">
                <a16:creationId xmlns:a16="http://schemas.microsoft.com/office/drawing/2014/main" id="{6CCC4E96-B167-425D-8494-99E3B14505A6}"/>
              </a:ext>
            </a:extLst>
          </p:cNvPr>
          <p:cNvSpPr>
            <a:spLocks noGrp="1"/>
          </p:cNvSpPr>
          <p:nvPr>
            <p:ph type="subTitle" idx="1"/>
          </p:nvPr>
        </p:nvSpPr>
        <p:spPr>
          <a:xfrm>
            <a:off x="2011231" y="2385964"/>
            <a:ext cx="6758608" cy="2086071"/>
          </a:xfrm>
        </p:spPr>
        <p:txBody>
          <a:bodyPr anchor="t">
            <a:normAutofit fontScale="92500" lnSpcReduction="20000"/>
          </a:bodyPr>
          <a:lstStyle/>
          <a:p>
            <a:pPr algn="l">
              <a:buFont typeface="Wingdings" pitchFamily="2" charset="2"/>
              <a:buChar char="q"/>
            </a:pPr>
            <a:r>
              <a:rPr lang="en-US" sz="3200" dirty="0">
                <a:latin typeface="Times New Roman" panose="02020603050405020304" pitchFamily="18" charset="0"/>
                <a:cs typeface="Times New Roman" panose="02020603050405020304" pitchFamily="18" charset="0"/>
              </a:rPr>
              <a:t>Introduction to the Computer</a:t>
            </a:r>
          </a:p>
          <a:p>
            <a:pPr algn="l">
              <a:buFont typeface="Wingdings" pitchFamily="2" charset="2"/>
              <a:buChar char="q"/>
            </a:pPr>
            <a:r>
              <a:rPr lang="en-US" sz="3200" dirty="0">
                <a:latin typeface="Times New Roman" panose="02020603050405020304" pitchFamily="18" charset="0"/>
                <a:cs typeface="Times New Roman" panose="02020603050405020304" pitchFamily="18" charset="0"/>
              </a:rPr>
              <a:t> Hardware &amp; Software</a:t>
            </a:r>
          </a:p>
          <a:p>
            <a:pPr algn="l">
              <a:buFont typeface="Wingdings" pitchFamily="2" charset="2"/>
              <a:buChar char="q"/>
            </a:pPr>
            <a:r>
              <a:rPr lang="en-US" sz="3200" dirty="0">
                <a:latin typeface="Times New Roman" panose="02020603050405020304" pitchFamily="18" charset="0"/>
                <a:cs typeface="Times New Roman" panose="02020603050405020304" pitchFamily="18" charset="0"/>
              </a:rPr>
              <a:t>Components of Computer System</a:t>
            </a:r>
          </a:p>
          <a:p>
            <a:pPr algn="l">
              <a:buFont typeface="Wingdings" pitchFamily="2" charset="2"/>
              <a:buChar char="q"/>
            </a:pPr>
            <a:r>
              <a:rPr lang="en-US" sz="3200" dirty="0">
                <a:latin typeface="Times New Roman" panose="02020603050405020304" pitchFamily="18" charset="0"/>
                <a:cs typeface="Times New Roman" panose="02020603050405020304" pitchFamily="18" charset="0"/>
              </a:rPr>
              <a:t>Conclusion</a:t>
            </a:r>
          </a:p>
          <a:p>
            <a:pPr algn="l">
              <a:buFont typeface="Wingdings" pitchFamily="2" charset="2"/>
              <a:buChar char="q"/>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2806120"/>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70192-1F0E-4A68-8A90-B338658B8A7E}"/>
              </a:ext>
            </a:extLst>
          </p:cNvPr>
          <p:cNvSpPr>
            <a:spLocks noGrp="1"/>
          </p:cNvSpPr>
          <p:nvPr>
            <p:ph type="title"/>
          </p:nvPr>
        </p:nvSpPr>
        <p:spPr>
          <a:xfrm>
            <a:off x="4281315" y="993914"/>
            <a:ext cx="6019800" cy="1143000"/>
          </a:xfrm>
        </p:spPr>
        <p:txBody>
          <a:bodyPr anchor="ctr">
            <a:normAutofit/>
          </a:bodyPr>
          <a:lstStyle/>
          <a:p>
            <a:pPr marL="457200" indent="-457200" algn="ctr">
              <a:buFont typeface="Wingdings" panose="05000000000000000000" pitchFamily="2" charset="2"/>
              <a:buChar char="v"/>
            </a:pPr>
            <a:r>
              <a:rPr lang="en-US" sz="4000" dirty="0">
                <a:latin typeface="Times New Roman" panose="02020603050405020304" pitchFamily="18" charset="0"/>
                <a:cs typeface="Times New Roman" panose="02020603050405020304" pitchFamily="18" charset="0"/>
              </a:rPr>
              <a:t>Computer</a:t>
            </a:r>
          </a:p>
        </p:txBody>
      </p:sp>
      <p:pic>
        <p:nvPicPr>
          <p:cNvPr id="12" name="Picture Placeholder 11">
            <a:extLst>
              <a:ext uri="{FF2B5EF4-FFF2-40B4-BE49-F238E27FC236}">
                <a16:creationId xmlns:a16="http://schemas.microsoft.com/office/drawing/2014/main" id="{5884E469-584E-4649-85BD-D13C2F5FB8C7}"/>
              </a:ext>
            </a:extLst>
          </p:cNvPr>
          <p:cNvPicPr>
            <a:picLocks noGrp="1" noChangeAspect="1"/>
          </p:cNvPicPr>
          <p:nvPr>
            <p:ph type="pic" idx="1"/>
          </p:nvPr>
        </p:nvPicPr>
        <p:blipFill>
          <a:blip r:embed="rId2"/>
          <a:stretch>
            <a:fillRect/>
          </a:stretch>
        </p:blipFill>
        <p:spPr>
          <a:xfrm>
            <a:off x="437322" y="993914"/>
            <a:ext cx="4028660" cy="4585252"/>
          </a:xfrm>
        </p:spPr>
      </p:pic>
      <p:sp>
        <p:nvSpPr>
          <p:cNvPr id="4" name="Text Placeholder 3">
            <a:extLst>
              <a:ext uri="{FF2B5EF4-FFF2-40B4-BE49-F238E27FC236}">
                <a16:creationId xmlns:a16="http://schemas.microsoft.com/office/drawing/2014/main" id="{2ED7C306-4AF4-4B13-91B3-2E42F9D3C620}"/>
              </a:ext>
            </a:extLst>
          </p:cNvPr>
          <p:cNvSpPr>
            <a:spLocks noGrp="1"/>
          </p:cNvSpPr>
          <p:nvPr>
            <p:ph type="body" sz="half" idx="2"/>
          </p:nvPr>
        </p:nvSpPr>
        <p:spPr>
          <a:xfrm>
            <a:off x="4638260" y="2352997"/>
            <a:ext cx="5883966" cy="3226169"/>
          </a:xfrm>
        </p:spPr>
        <p:txBody>
          <a:bodyPr>
            <a:normAutofit fontScale="92500" lnSpcReduction="20000"/>
          </a:bodyPr>
          <a:lstStyle/>
          <a:p>
            <a:r>
              <a:rPr lang="en-US" sz="2800" dirty="0">
                <a:latin typeface="Times New Roman" panose="02020603050405020304" pitchFamily="18" charset="0"/>
                <a:cs typeface="Times New Roman" panose="02020603050405020304" pitchFamily="18" charset="0"/>
              </a:rPr>
              <a:t>A Computer is a machine that can be programmed to accept data, process data into useful information and store it for later use.</a:t>
            </a:r>
          </a:p>
          <a:p>
            <a:r>
              <a:rPr lang="en-US" sz="2800" dirty="0">
                <a:latin typeface="Times New Roman" panose="02020603050405020304" pitchFamily="18" charset="0"/>
                <a:cs typeface="Times New Roman" panose="02020603050405020304" pitchFamily="18" charset="0"/>
              </a:rPr>
              <a:t>A computer consists of Hardware and Software.</a:t>
            </a:r>
          </a:p>
          <a:p>
            <a:r>
              <a:rPr lang="en-US" sz="2800" dirty="0">
                <a:latin typeface="Times New Roman" panose="02020603050405020304" pitchFamily="18" charset="0"/>
                <a:cs typeface="Times New Roman" panose="02020603050405020304" pitchFamily="18" charset="0"/>
              </a:rPr>
              <a:t> The machine is known as Hardware.</a:t>
            </a:r>
          </a:p>
          <a:p>
            <a:r>
              <a:rPr lang="en-US" sz="2800" dirty="0">
                <a:latin typeface="Times New Roman" panose="02020603050405020304" pitchFamily="18" charset="0"/>
                <a:cs typeface="Times New Roman" panose="02020603050405020304" pitchFamily="18" charset="0"/>
              </a:rPr>
              <a:t>The programs are called Software.</a:t>
            </a:r>
          </a:p>
        </p:txBody>
      </p:sp>
    </p:spTree>
    <p:extLst>
      <p:ext uri="{BB962C8B-B14F-4D97-AF65-F5344CB8AC3E}">
        <p14:creationId xmlns:p14="http://schemas.microsoft.com/office/powerpoint/2010/main" val="229558602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BE6485D-BF0C-4393-AD8F-C2BC6BCC7AB8}"/>
              </a:ext>
            </a:extLst>
          </p:cNvPr>
          <p:cNvSpPr>
            <a:spLocks noGrp="1"/>
          </p:cNvSpPr>
          <p:nvPr>
            <p:ph type="title"/>
          </p:nvPr>
        </p:nvSpPr>
        <p:spPr>
          <a:xfrm>
            <a:off x="1106555" y="328727"/>
            <a:ext cx="8441635" cy="1441174"/>
          </a:xfrm>
        </p:spPr>
        <p:txBody>
          <a:bodyPr anchor="ctr">
            <a:normAutofit/>
          </a:bodyPr>
          <a:lstStyle/>
          <a:p>
            <a:pPr marL="457200" indent="-457200" algn="ctr">
              <a:buFont typeface="Wingdings" panose="05000000000000000000" pitchFamily="2" charset="2"/>
              <a:buChar char="§"/>
            </a:pPr>
            <a:r>
              <a:rPr lang="en-US" sz="3600" dirty="0">
                <a:latin typeface="Times New Roman" panose="02020603050405020304" pitchFamily="18" charset="0"/>
                <a:cs typeface="Times New Roman" panose="02020603050405020304" pitchFamily="18" charset="0"/>
              </a:rPr>
              <a:t>Hardware &amp; Software</a:t>
            </a:r>
          </a:p>
        </p:txBody>
      </p:sp>
      <p:sp>
        <p:nvSpPr>
          <p:cNvPr id="7" name="Text Placeholder 6">
            <a:extLst>
              <a:ext uri="{FF2B5EF4-FFF2-40B4-BE49-F238E27FC236}">
                <a16:creationId xmlns:a16="http://schemas.microsoft.com/office/drawing/2014/main" id="{BAC29E29-316C-47BB-897A-0EDF86903FD9}"/>
              </a:ext>
            </a:extLst>
          </p:cNvPr>
          <p:cNvSpPr>
            <a:spLocks noGrp="1"/>
          </p:cNvSpPr>
          <p:nvPr>
            <p:ph type="body" sz="half" idx="2"/>
          </p:nvPr>
        </p:nvSpPr>
        <p:spPr>
          <a:xfrm>
            <a:off x="337928" y="1769901"/>
            <a:ext cx="9978888" cy="4365855"/>
          </a:xfrm>
        </p:spPr>
        <p:txBody>
          <a:bodyPr/>
          <a:lstStyle/>
          <a:p>
            <a:pPr marL="285750" indent="-285750" algn="ctr">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Hardware</a:t>
            </a:r>
            <a:endParaRPr lang="en-US" altLang="en-US" sz="2000" dirty="0">
              <a:latin typeface="Times New Roman" panose="02020603050405020304" pitchFamily="18" charset="0"/>
              <a:cs typeface="Times New Roman" panose="02020603050405020304" pitchFamily="18" charset="0"/>
            </a:endParaRPr>
          </a:p>
          <a:p>
            <a:r>
              <a:rPr lang="en-US" altLang="en-US" sz="2400" dirty="0">
                <a:latin typeface="Times New Roman" panose="02020603050405020304" pitchFamily="18" charset="0"/>
                <a:cs typeface="Times New Roman" panose="02020603050405020304" pitchFamily="18" charset="0"/>
              </a:rPr>
              <a:t>Physical parts of the computer, including processor and memory chips, input/output devices, tapes, disks, modems, cable, etc.</a:t>
            </a:r>
          </a:p>
          <a:p>
            <a:endParaRPr lang="en-US" altLang="en-US" sz="2000" dirty="0">
              <a:latin typeface="Times New Roman" panose="02020603050405020304" pitchFamily="18" charset="0"/>
              <a:cs typeface="Times New Roman" panose="02020603050405020304" pitchFamily="18" charset="0"/>
            </a:endParaRPr>
          </a:p>
          <a:p>
            <a:pPr marL="285750" indent="-285750" algn="ctr">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Software</a:t>
            </a:r>
          </a:p>
          <a:p>
            <a:r>
              <a:rPr lang="en-US" altLang="en-US" sz="2400" dirty="0">
                <a:latin typeface="Times New Roman" panose="02020603050405020304" pitchFamily="18" charset="0"/>
                <a:cs typeface="Times New Roman" panose="02020603050405020304" pitchFamily="18" charset="0"/>
              </a:rPr>
              <a:t>Programs that tell the computer what to do.  It provides instructions that the CPU will need to carry out.</a:t>
            </a:r>
          </a:p>
          <a:p>
            <a:endParaRPr lang="en-US" dirty="0"/>
          </a:p>
        </p:txBody>
      </p:sp>
    </p:spTree>
    <p:extLst>
      <p:ext uri="{BB962C8B-B14F-4D97-AF65-F5344CB8AC3E}">
        <p14:creationId xmlns:p14="http://schemas.microsoft.com/office/powerpoint/2010/main" val="1697668228"/>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0C766-6E0C-4A19-ACEC-93C752A8A85D}"/>
              </a:ext>
            </a:extLst>
          </p:cNvPr>
          <p:cNvSpPr>
            <a:spLocks noGrp="1"/>
          </p:cNvSpPr>
          <p:nvPr>
            <p:ph type="title"/>
          </p:nvPr>
        </p:nvSpPr>
        <p:spPr>
          <a:xfrm>
            <a:off x="1324388" y="559903"/>
            <a:ext cx="7793935" cy="1474305"/>
          </a:xfrm>
        </p:spPr>
        <p:txBody>
          <a:bodyPr>
            <a:normAutofit/>
          </a:bodyPr>
          <a:lstStyle/>
          <a:p>
            <a:pPr marL="457200" indent="-457200" algn="ctr">
              <a:buFont typeface="Wingdings" panose="05000000000000000000" pitchFamily="2" charset="2"/>
              <a:buChar char="v"/>
            </a:pPr>
            <a:r>
              <a:rPr lang="en-US" sz="3600" dirty="0">
                <a:latin typeface="Times New Roman" panose="02020603050405020304" pitchFamily="18" charset="0"/>
                <a:cs typeface="Times New Roman" panose="02020603050405020304" pitchFamily="18" charset="0"/>
              </a:rPr>
              <a:t>Components of a Computer System</a:t>
            </a:r>
          </a:p>
        </p:txBody>
      </p:sp>
      <p:sp>
        <p:nvSpPr>
          <p:cNvPr id="4" name="Text Placeholder 3">
            <a:extLst>
              <a:ext uri="{FF2B5EF4-FFF2-40B4-BE49-F238E27FC236}">
                <a16:creationId xmlns:a16="http://schemas.microsoft.com/office/drawing/2014/main" id="{AEB07419-39D5-4D07-97A2-93C414046087}"/>
              </a:ext>
            </a:extLst>
          </p:cNvPr>
          <p:cNvSpPr>
            <a:spLocks noGrp="1"/>
          </p:cNvSpPr>
          <p:nvPr>
            <p:ph type="body" sz="half" idx="2"/>
          </p:nvPr>
        </p:nvSpPr>
        <p:spPr>
          <a:xfrm>
            <a:off x="1934816" y="1918253"/>
            <a:ext cx="6573078" cy="4379844"/>
          </a:xfrm>
        </p:spPr>
        <p:txBody>
          <a:bodyPr anchor="ctr">
            <a:normAutofit/>
          </a:bodyPr>
          <a:lstStyle/>
          <a:p>
            <a:pPr marL="285750" indent="-285750" algn="ctr">
              <a:buFont typeface="Arial" panose="020B0604020202020204" pitchFamily="34" charset="0"/>
              <a:buChar char="•"/>
            </a:pPr>
            <a:r>
              <a:rPr lang="fr-FR" sz="3600" dirty="0">
                <a:latin typeface="Times New Roman" panose="02020603050405020304" pitchFamily="18" charset="0"/>
                <a:cs typeface="Times New Roman" panose="02020603050405020304" pitchFamily="18" charset="0"/>
              </a:rPr>
              <a:t>Input </a:t>
            </a:r>
            <a:r>
              <a:rPr lang="fr-FR" sz="3600" dirty="0" err="1">
                <a:latin typeface="Times New Roman" panose="02020603050405020304" pitchFamily="18" charset="0"/>
                <a:cs typeface="Times New Roman" panose="02020603050405020304" pitchFamily="18" charset="0"/>
              </a:rPr>
              <a:t>Devices</a:t>
            </a:r>
            <a:r>
              <a:rPr lang="fr-FR" sz="3600" dirty="0">
                <a:latin typeface="Times New Roman" panose="02020603050405020304" pitchFamily="18" charset="0"/>
                <a:cs typeface="Times New Roman" panose="02020603050405020304" pitchFamily="18" charset="0"/>
              </a:rPr>
              <a:t> </a:t>
            </a:r>
          </a:p>
          <a:p>
            <a:pPr marL="285750" indent="-285750" algn="ctr">
              <a:buFont typeface="Arial" panose="020B0604020202020204" pitchFamily="34" charset="0"/>
              <a:buChar char="•"/>
            </a:pPr>
            <a:r>
              <a:rPr lang="fr-FR" sz="3600" dirty="0" err="1">
                <a:latin typeface="Times New Roman" panose="02020603050405020304" pitchFamily="18" charset="0"/>
                <a:cs typeface="Times New Roman" panose="02020603050405020304" pitchFamily="18" charset="0"/>
              </a:rPr>
              <a:t>Processing</a:t>
            </a:r>
            <a:r>
              <a:rPr lang="fr-FR" sz="3600" dirty="0">
                <a:latin typeface="Times New Roman" panose="02020603050405020304" pitchFamily="18" charset="0"/>
                <a:cs typeface="Times New Roman" panose="02020603050405020304" pitchFamily="18" charset="0"/>
              </a:rPr>
              <a:t> </a:t>
            </a:r>
            <a:r>
              <a:rPr lang="fr-FR" sz="3600" dirty="0" err="1">
                <a:latin typeface="Times New Roman" panose="02020603050405020304" pitchFamily="18" charset="0"/>
                <a:cs typeface="Times New Roman" panose="02020603050405020304" pitchFamily="18" charset="0"/>
              </a:rPr>
              <a:t>Device</a:t>
            </a:r>
            <a:r>
              <a:rPr lang="fr-FR" sz="3600" dirty="0">
                <a:latin typeface="Times New Roman" panose="02020603050405020304" pitchFamily="18" charset="0"/>
                <a:cs typeface="Times New Roman" panose="02020603050405020304" pitchFamily="18" charset="0"/>
              </a:rPr>
              <a:t> </a:t>
            </a:r>
          </a:p>
          <a:p>
            <a:pPr marL="285750" indent="-285750" algn="ctr">
              <a:buFont typeface="Arial" panose="020B0604020202020204" pitchFamily="34" charset="0"/>
              <a:buChar char="•"/>
            </a:pPr>
            <a:r>
              <a:rPr lang="fr-FR" sz="3600" dirty="0">
                <a:latin typeface="Times New Roman" panose="02020603050405020304" pitchFamily="18" charset="0"/>
                <a:cs typeface="Times New Roman" panose="02020603050405020304" pitchFamily="18" charset="0"/>
              </a:rPr>
              <a:t>Output </a:t>
            </a:r>
            <a:r>
              <a:rPr lang="fr-FR" sz="3600" dirty="0" err="1">
                <a:latin typeface="Times New Roman" panose="02020603050405020304" pitchFamily="18" charset="0"/>
                <a:cs typeface="Times New Roman" panose="02020603050405020304" pitchFamily="18" charset="0"/>
              </a:rPr>
              <a:t>Devices</a:t>
            </a:r>
            <a:endParaRPr lang="fr-FR" sz="3600" dirty="0">
              <a:latin typeface="Times New Roman" panose="02020603050405020304" pitchFamily="18" charset="0"/>
              <a:cs typeface="Times New Roman" panose="02020603050405020304" pitchFamily="18" charset="0"/>
            </a:endParaRPr>
          </a:p>
          <a:p>
            <a:pPr marL="285750" indent="-285750" algn="ctr">
              <a:buFont typeface="Arial" panose="020B0604020202020204" pitchFamily="34" charset="0"/>
              <a:buChar char="•"/>
            </a:pPr>
            <a:r>
              <a:rPr lang="fr-FR" sz="3600" dirty="0">
                <a:latin typeface="Times New Roman" panose="02020603050405020304" pitchFamily="18" charset="0"/>
                <a:cs typeface="Times New Roman" panose="02020603050405020304" pitchFamily="18" charset="0"/>
              </a:rPr>
              <a:t>Storage </a:t>
            </a:r>
            <a:r>
              <a:rPr lang="fr-FR" sz="3600" dirty="0" err="1">
                <a:latin typeface="Times New Roman" panose="02020603050405020304" pitchFamily="18" charset="0"/>
                <a:cs typeface="Times New Roman" panose="02020603050405020304" pitchFamily="18" charset="0"/>
              </a:rPr>
              <a:t>Devices</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296454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C97E3-CCCD-404B-8A4F-F854C6CF975D}"/>
              </a:ext>
            </a:extLst>
          </p:cNvPr>
          <p:cNvSpPr>
            <a:spLocks noGrp="1"/>
          </p:cNvSpPr>
          <p:nvPr>
            <p:ph type="title"/>
          </p:nvPr>
        </p:nvSpPr>
        <p:spPr>
          <a:xfrm>
            <a:off x="2184951" y="1227668"/>
            <a:ext cx="6019800" cy="1338468"/>
          </a:xfrm>
        </p:spPr>
        <p:txBody>
          <a:bodyPr anchor="ctr">
            <a:normAutofit/>
          </a:bodyPr>
          <a:lstStyle/>
          <a:p>
            <a:pPr marL="457200" indent="-457200" algn="ctr">
              <a:buFont typeface="Arial" panose="020B0604020202020204" pitchFamily="34" charset="0"/>
              <a:buChar char="•"/>
            </a:pPr>
            <a:r>
              <a:rPr lang="fr-FR" sz="4400" dirty="0">
                <a:latin typeface="Times New Roman" panose="02020603050405020304" pitchFamily="18" charset="0"/>
                <a:cs typeface="Times New Roman" panose="02020603050405020304" pitchFamily="18" charset="0"/>
              </a:rPr>
              <a:t>Input </a:t>
            </a:r>
            <a:r>
              <a:rPr lang="fr-FR" sz="4400" dirty="0" err="1">
                <a:latin typeface="Times New Roman" panose="02020603050405020304" pitchFamily="18" charset="0"/>
                <a:cs typeface="Times New Roman" panose="02020603050405020304" pitchFamily="18" charset="0"/>
              </a:rPr>
              <a:t>Devices</a:t>
            </a:r>
            <a:r>
              <a:rPr lang="fr-FR" sz="4400" dirty="0">
                <a:latin typeface="Times New Roman" panose="02020603050405020304" pitchFamily="18" charset="0"/>
                <a:cs typeface="Times New Roman" panose="02020603050405020304" pitchFamily="18" charset="0"/>
              </a:rPr>
              <a:t> </a:t>
            </a:r>
            <a:endParaRPr lang="en-US" sz="3600" dirty="0"/>
          </a:p>
        </p:txBody>
      </p:sp>
      <p:sp>
        <p:nvSpPr>
          <p:cNvPr id="4" name="Text Placeholder 3">
            <a:extLst>
              <a:ext uri="{FF2B5EF4-FFF2-40B4-BE49-F238E27FC236}">
                <a16:creationId xmlns:a16="http://schemas.microsoft.com/office/drawing/2014/main" id="{3B71F5C8-F77F-4F14-8333-E6CBED4397C7}"/>
              </a:ext>
            </a:extLst>
          </p:cNvPr>
          <p:cNvSpPr>
            <a:spLocks noGrp="1"/>
          </p:cNvSpPr>
          <p:nvPr>
            <p:ph type="body" sz="half" idx="2"/>
          </p:nvPr>
        </p:nvSpPr>
        <p:spPr>
          <a:xfrm>
            <a:off x="278295" y="1896902"/>
            <a:ext cx="9833113" cy="4556908"/>
          </a:xfrm>
        </p:spPr>
        <p:txBody>
          <a:bodyPr anchor="ctr">
            <a:normAutofit/>
          </a:bodyPr>
          <a:lstStyle/>
          <a:p>
            <a:pPr algn="ctr"/>
            <a:r>
              <a:rPr lang="en-US" sz="3200" dirty="0">
                <a:latin typeface="Times New Roman" panose="02020603050405020304" pitchFamily="18" charset="0"/>
                <a:cs typeface="Times New Roman" panose="02020603050405020304" pitchFamily="18" charset="0"/>
              </a:rPr>
              <a:t>The data that is given to the computer is called Input. Input devices are used to input data and instructions into the computer. These devices send this data to the Processing Unit.</a:t>
            </a:r>
          </a:p>
        </p:txBody>
      </p:sp>
    </p:spTree>
    <p:extLst>
      <p:ext uri="{BB962C8B-B14F-4D97-AF65-F5344CB8AC3E}">
        <p14:creationId xmlns:p14="http://schemas.microsoft.com/office/powerpoint/2010/main" val="199678912"/>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E3C93-3F28-4EF4-B8C2-643928D5B758}"/>
              </a:ext>
            </a:extLst>
          </p:cNvPr>
          <p:cNvSpPr>
            <a:spLocks noGrp="1"/>
          </p:cNvSpPr>
          <p:nvPr>
            <p:ph type="title"/>
          </p:nvPr>
        </p:nvSpPr>
        <p:spPr>
          <a:xfrm>
            <a:off x="726292" y="301639"/>
            <a:ext cx="7967135" cy="977195"/>
          </a:xfrm>
        </p:spPr>
        <p:txBody>
          <a:bodyPr anchor="ctr">
            <a:normAutofit/>
          </a:bodyPr>
          <a:lstStyle/>
          <a:p>
            <a:pPr algn="ctr"/>
            <a:r>
              <a:rPr lang="en-US" sz="2700" dirty="0">
                <a:latin typeface="Times New Roman" panose="02020603050405020304" pitchFamily="18" charset="0"/>
                <a:cs typeface="Times New Roman" panose="02020603050405020304" pitchFamily="18" charset="0"/>
              </a:rPr>
              <a:t>Following are some examples of Input devices :-</a:t>
            </a:r>
          </a:p>
        </p:txBody>
      </p:sp>
      <p:pic>
        <p:nvPicPr>
          <p:cNvPr id="10" name="Picture Placeholder 9">
            <a:extLst>
              <a:ext uri="{FF2B5EF4-FFF2-40B4-BE49-F238E27FC236}">
                <a16:creationId xmlns:a16="http://schemas.microsoft.com/office/drawing/2014/main" id="{87966BA3-EE4B-46B4-A9F8-EC9E7A93F188}"/>
              </a:ext>
            </a:extLst>
          </p:cNvPr>
          <p:cNvPicPr preferRelativeResize="0">
            <a:picLocks noGrp="1" noChangeAspect="1"/>
          </p:cNvPicPr>
          <p:nvPr>
            <p:ph type="pic" idx="1"/>
          </p:nvPr>
        </p:nvPicPr>
        <p:blipFill>
          <a:blip r:embed="rId2"/>
          <a:srcRect t="10242" b="10242"/>
          <a:stretch>
            <a:fillRect/>
          </a:stretch>
        </p:blipFill>
        <p:spPr>
          <a:xfrm>
            <a:off x="726292" y="1844702"/>
            <a:ext cx="8596668" cy="3845718"/>
          </a:xfrm>
          <a:prstGeom prst="rect">
            <a:avLst/>
          </a:prstGeom>
        </p:spPr>
      </p:pic>
    </p:spTree>
    <p:extLst>
      <p:ext uri="{BB962C8B-B14F-4D97-AF65-F5344CB8AC3E}">
        <p14:creationId xmlns:p14="http://schemas.microsoft.com/office/powerpoint/2010/main" val="3692396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E890-3855-4ACC-8400-4E9256CD74FF}"/>
              </a:ext>
            </a:extLst>
          </p:cNvPr>
          <p:cNvSpPr>
            <a:spLocks noGrp="1"/>
          </p:cNvSpPr>
          <p:nvPr>
            <p:ph type="title"/>
          </p:nvPr>
        </p:nvSpPr>
        <p:spPr>
          <a:xfrm>
            <a:off x="1417983" y="117613"/>
            <a:ext cx="5671930" cy="983974"/>
          </a:xfrm>
        </p:spPr>
        <p:txBody>
          <a:bodyPr/>
          <a:lstStyle/>
          <a:p>
            <a:pPr marL="457200" indent="-457200" algn="ctr">
              <a:buFont typeface="Arial" panose="020B0604020202020204" pitchFamily="34" charset="0"/>
              <a:buChar char="•"/>
            </a:pPr>
            <a:r>
              <a:rPr lang="fr-FR" dirty="0" err="1">
                <a:latin typeface="Times New Roman" panose="02020603050405020304" pitchFamily="18" charset="0"/>
                <a:cs typeface="Times New Roman" panose="02020603050405020304" pitchFamily="18" charset="0"/>
              </a:rPr>
              <a:t>Processing</a:t>
            </a:r>
            <a:r>
              <a:rPr lang="fr-FR" dirty="0">
                <a:latin typeface="Times New Roman" panose="02020603050405020304" pitchFamily="18" charset="0"/>
                <a:cs typeface="Times New Roman" panose="02020603050405020304" pitchFamily="18" charset="0"/>
              </a:rPr>
              <a:t> </a:t>
            </a:r>
            <a:r>
              <a:rPr lang="fr-FR" dirty="0" err="1">
                <a:latin typeface="Times New Roman" panose="02020603050405020304" pitchFamily="18" charset="0"/>
                <a:cs typeface="Times New Roman" panose="02020603050405020304" pitchFamily="18" charset="0"/>
              </a:rPr>
              <a:t>Device</a:t>
            </a:r>
            <a:r>
              <a:rPr lang="fr-FR" dirty="0">
                <a:latin typeface="Times New Roman" panose="02020603050405020304" pitchFamily="18" charset="0"/>
                <a:cs typeface="Times New Roman" panose="02020603050405020304" pitchFamily="18" charset="0"/>
              </a:rPr>
              <a:t> </a:t>
            </a:r>
            <a:endParaRPr lang="en-US" dirty="0"/>
          </a:p>
        </p:txBody>
      </p:sp>
      <p:sp>
        <p:nvSpPr>
          <p:cNvPr id="3" name="Text Placeholder 2">
            <a:extLst>
              <a:ext uri="{FF2B5EF4-FFF2-40B4-BE49-F238E27FC236}">
                <a16:creationId xmlns:a16="http://schemas.microsoft.com/office/drawing/2014/main" id="{4BC429C3-0BC9-4C28-87C4-49964842623E}"/>
              </a:ext>
            </a:extLst>
          </p:cNvPr>
          <p:cNvSpPr>
            <a:spLocks noGrp="1"/>
          </p:cNvSpPr>
          <p:nvPr>
            <p:ph type="body" idx="1"/>
          </p:nvPr>
        </p:nvSpPr>
        <p:spPr>
          <a:xfrm>
            <a:off x="251791" y="1219200"/>
            <a:ext cx="8852452" cy="2209800"/>
          </a:xfrm>
        </p:spPr>
        <p:txBody>
          <a:bodyPr>
            <a:normAutofit fontScale="77500" lnSpcReduction="20000"/>
          </a:bodyPr>
          <a:lstStyle/>
          <a:p>
            <a:r>
              <a:rPr lang="en-US" sz="3200" dirty="0">
                <a:solidFill>
                  <a:schemeClr val="tx1">
                    <a:lumMod val="75000"/>
                    <a:lumOff val="25000"/>
                  </a:schemeClr>
                </a:solidFill>
                <a:latin typeface="Times New Roman" panose="02020603050405020304" pitchFamily="18" charset="0"/>
                <a:cs typeface="Times New Roman" panose="02020603050405020304" pitchFamily="18" charset="0"/>
              </a:rPr>
              <a:t>The </a:t>
            </a:r>
            <a:r>
              <a:rPr lang="en-US" sz="3200" b="1" dirty="0">
                <a:solidFill>
                  <a:schemeClr val="tx1">
                    <a:lumMod val="75000"/>
                    <a:lumOff val="25000"/>
                  </a:schemeClr>
                </a:solidFill>
                <a:latin typeface="Times New Roman" panose="02020603050405020304" pitchFamily="18" charset="0"/>
                <a:cs typeface="Times New Roman" panose="02020603050405020304" pitchFamily="18" charset="0"/>
              </a:rPr>
              <a:t>Processor</a:t>
            </a:r>
            <a:r>
              <a:rPr lang="en-US" sz="3200" dirty="0">
                <a:solidFill>
                  <a:schemeClr val="tx1">
                    <a:lumMod val="75000"/>
                    <a:lumOff val="25000"/>
                  </a:schemeClr>
                </a:solidFill>
                <a:latin typeface="Times New Roman" panose="02020603050405020304" pitchFamily="18" charset="0"/>
                <a:cs typeface="Times New Roman" panose="02020603050405020304" pitchFamily="18" charset="0"/>
              </a:rPr>
              <a:t> is used to process data. It is also called Central Processing Unit (CPU). It is the brain of the computer. It consists of electronics circuit. CPU interprets and executes program instructions. All computers must have a Central Processing Unit.</a:t>
            </a:r>
          </a:p>
          <a:p>
            <a:endParaRPr lang="en-US" sz="3100" dirty="0">
              <a:solidFill>
                <a:schemeClr val="tx1">
                  <a:lumMod val="75000"/>
                  <a:lumOff val="25000"/>
                </a:schemeClr>
              </a:solidFill>
              <a:latin typeface="Times New Roman" panose="02020603050405020304" pitchFamily="18" charset="0"/>
              <a:cs typeface="Times New Roman" panose="02020603050405020304" pitchFamily="18" charset="0"/>
            </a:endParaRPr>
          </a:p>
          <a:p>
            <a:r>
              <a:rPr lang="en-US" sz="3100" dirty="0">
                <a:solidFill>
                  <a:schemeClr val="tx1">
                    <a:lumMod val="75000"/>
                    <a:lumOff val="25000"/>
                  </a:schemeClr>
                </a:solidFill>
                <a:latin typeface="Times New Roman" panose="02020603050405020304" pitchFamily="18" charset="0"/>
                <a:cs typeface="Times New Roman" panose="02020603050405020304" pitchFamily="18" charset="0"/>
              </a:rPr>
              <a:t>Following are some Examples of CPU :-</a:t>
            </a:r>
          </a:p>
        </p:txBody>
      </p:sp>
      <p:pic>
        <p:nvPicPr>
          <p:cNvPr id="4" name="Picture 3">
            <a:extLst>
              <a:ext uri="{FF2B5EF4-FFF2-40B4-BE49-F238E27FC236}">
                <a16:creationId xmlns:a16="http://schemas.microsoft.com/office/drawing/2014/main" id="{093AB430-17B6-424C-82E7-1AE1F07BC79F}"/>
              </a:ext>
            </a:extLst>
          </p:cNvPr>
          <p:cNvPicPr>
            <a:picLocks noChangeAspect="1"/>
          </p:cNvPicPr>
          <p:nvPr/>
        </p:nvPicPr>
        <p:blipFill>
          <a:blip r:embed="rId2"/>
          <a:stretch>
            <a:fillRect/>
          </a:stretch>
        </p:blipFill>
        <p:spPr>
          <a:xfrm>
            <a:off x="4253948" y="3664226"/>
            <a:ext cx="3372264" cy="2523503"/>
          </a:xfrm>
          <a:prstGeom prst="rect">
            <a:avLst/>
          </a:prstGeom>
        </p:spPr>
      </p:pic>
      <p:pic>
        <p:nvPicPr>
          <p:cNvPr id="5" name="Picture 4">
            <a:extLst>
              <a:ext uri="{FF2B5EF4-FFF2-40B4-BE49-F238E27FC236}">
                <a16:creationId xmlns:a16="http://schemas.microsoft.com/office/drawing/2014/main" id="{D52665F6-5ED0-4AEE-BD26-6D5CBDBF37CB}"/>
              </a:ext>
            </a:extLst>
          </p:cNvPr>
          <p:cNvPicPr>
            <a:picLocks noChangeAspect="1"/>
          </p:cNvPicPr>
          <p:nvPr/>
        </p:nvPicPr>
        <p:blipFill>
          <a:blip r:embed="rId3"/>
          <a:stretch>
            <a:fillRect/>
          </a:stretch>
        </p:blipFill>
        <p:spPr>
          <a:xfrm>
            <a:off x="587031" y="3980001"/>
            <a:ext cx="2709653" cy="2037520"/>
          </a:xfrm>
          <a:prstGeom prst="rect">
            <a:avLst/>
          </a:prstGeom>
        </p:spPr>
      </p:pic>
    </p:spTree>
    <p:extLst>
      <p:ext uri="{BB962C8B-B14F-4D97-AF65-F5344CB8AC3E}">
        <p14:creationId xmlns:p14="http://schemas.microsoft.com/office/powerpoint/2010/main" val="2147065318"/>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63277-EA8D-4831-B820-6669B48BF99F}"/>
              </a:ext>
            </a:extLst>
          </p:cNvPr>
          <p:cNvSpPr>
            <a:spLocks noGrp="1"/>
          </p:cNvSpPr>
          <p:nvPr>
            <p:ph type="title"/>
          </p:nvPr>
        </p:nvSpPr>
        <p:spPr>
          <a:xfrm>
            <a:off x="2161761" y="588801"/>
            <a:ext cx="6019800" cy="1359268"/>
          </a:xfrm>
        </p:spPr>
        <p:txBody>
          <a:bodyPr anchor="ctr">
            <a:normAutofit/>
          </a:bodyPr>
          <a:lstStyle/>
          <a:p>
            <a:pPr marL="457200" indent="-457200" algn="ctr">
              <a:buFont typeface="Arial" panose="020B0604020202020204" pitchFamily="34" charset="0"/>
              <a:buChar char="•"/>
            </a:pPr>
            <a:r>
              <a:rPr lang="fr-FR" sz="4400" dirty="0">
                <a:latin typeface="Times New Roman" panose="02020603050405020304" pitchFamily="18" charset="0"/>
                <a:cs typeface="Times New Roman" panose="02020603050405020304" pitchFamily="18" charset="0"/>
              </a:rPr>
              <a:t>Output </a:t>
            </a:r>
            <a:r>
              <a:rPr lang="fr-FR" sz="4400" dirty="0" err="1">
                <a:latin typeface="Times New Roman" panose="02020603050405020304" pitchFamily="18" charset="0"/>
                <a:cs typeface="Times New Roman" panose="02020603050405020304" pitchFamily="18" charset="0"/>
              </a:rPr>
              <a:t>Devices</a:t>
            </a:r>
            <a:endParaRPr lang="en-US" sz="4400" dirty="0"/>
          </a:p>
        </p:txBody>
      </p:sp>
      <p:sp>
        <p:nvSpPr>
          <p:cNvPr id="4" name="Text Placeholder 3">
            <a:extLst>
              <a:ext uri="{FF2B5EF4-FFF2-40B4-BE49-F238E27FC236}">
                <a16:creationId xmlns:a16="http://schemas.microsoft.com/office/drawing/2014/main" id="{59C58F6F-72E8-4BCB-8738-E363EA5D3D15}"/>
              </a:ext>
            </a:extLst>
          </p:cNvPr>
          <p:cNvSpPr>
            <a:spLocks noGrp="1"/>
          </p:cNvSpPr>
          <p:nvPr>
            <p:ph type="body" sz="half" idx="2"/>
          </p:nvPr>
        </p:nvSpPr>
        <p:spPr>
          <a:xfrm>
            <a:off x="1000539" y="1718549"/>
            <a:ext cx="8342244" cy="3420903"/>
          </a:xfrm>
        </p:spPr>
        <p:txBody>
          <a:bodyPr anchor="ctr">
            <a:normAutofit/>
          </a:bodyPr>
          <a:lstStyle/>
          <a:p>
            <a:pPr algn="ctr"/>
            <a:r>
              <a:rPr lang="en-US" sz="3200" dirty="0">
                <a:latin typeface="Times New Roman" panose="02020603050405020304" pitchFamily="18" charset="0"/>
                <a:cs typeface="Times New Roman" panose="02020603050405020304" pitchFamily="18" charset="0"/>
              </a:rPr>
              <a:t>The data processed into useful information is called output. Output devices are used to display the result of processing. </a:t>
            </a:r>
          </a:p>
        </p:txBody>
      </p:sp>
    </p:spTree>
    <p:extLst>
      <p:ext uri="{BB962C8B-B14F-4D97-AF65-F5344CB8AC3E}">
        <p14:creationId xmlns:p14="http://schemas.microsoft.com/office/powerpoint/2010/main" val="150575949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CD580-0D4F-402A-BB69-F1031404649B}"/>
              </a:ext>
            </a:extLst>
          </p:cNvPr>
          <p:cNvSpPr>
            <a:spLocks noGrp="1"/>
          </p:cNvSpPr>
          <p:nvPr>
            <p:ph type="ctrTitle"/>
          </p:nvPr>
        </p:nvSpPr>
        <p:spPr>
          <a:xfrm>
            <a:off x="13253" y="278296"/>
            <a:ext cx="9912626" cy="993913"/>
          </a:xfrm>
        </p:spPr>
        <p:txBody>
          <a:bodyPr anchor="ctr">
            <a:normAutofit/>
          </a:bodyPr>
          <a:lstStyle/>
          <a:p>
            <a:pPr algn="ctr"/>
            <a:r>
              <a:rPr lang="en-US" sz="3200" dirty="0">
                <a:latin typeface="Times New Roman" panose="02020603050405020304" pitchFamily="18" charset="0"/>
                <a:cs typeface="Times New Roman" panose="02020603050405020304" pitchFamily="18" charset="0"/>
              </a:rPr>
              <a:t>Following are some examples of output devices :-</a:t>
            </a:r>
          </a:p>
        </p:txBody>
      </p:sp>
      <p:pic>
        <p:nvPicPr>
          <p:cNvPr id="4" name="Picture 3">
            <a:extLst>
              <a:ext uri="{FF2B5EF4-FFF2-40B4-BE49-F238E27FC236}">
                <a16:creationId xmlns:a16="http://schemas.microsoft.com/office/drawing/2014/main" id="{68DE7245-30C2-488C-86DD-7526B6D47C10}"/>
              </a:ext>
            </a:extLst>
          </p:cNvPr>
          <p:cNvPicPr>
            <a:picLocks noChangeAspect="1"/>
          </p:cNvPicPr>
          <p:nvPr/>
        </p:nvPicPr>
        <p:blipFill>
          <a:blip r:embed="rId2"/>
          <a:stretch>
            <a:fillRect/>
          </a:stretch>
        </p:blipFill>
        <p:spPr>
          <a:xfrm>
            <a:off x="702366" y="1272209"/>
            <a:ext cx="8534400" cy="4949687"/>
          </a:xfrm>
          <a:prstGeom prst="rect">
            <a:avLst/>
          </a:prstGeom>
        </p:spPr>
      </p:pic>
    </p:spTree>
    <p:extLst>
      <p:ext uri="{BB962C8B-B14F-4D97-AF65-F5344CB8AC3E}">
        <p14:creationId xmlns:p14="http://schemas.microsoft.com/office/powerpoint/2010/main" val="339089744"/>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B903D-D043-44A0-A66E-31FDF8E9C6F2}"/>
              </a:ext>
            </a:extLst>
          </p:cNvPr>
          <p:cNvSpPr>
            <a:spLocks noGrp="1"/>
          </p:cNvSpPr>
          <p:nvPr>
            <p:ph type="ctrTitle"/>
          </p:nvPr>
        </p:nvSpPr>
        <p:spPr>
          <a:xfrm>
            <a:off x="2223881" y="612912"/>
            <a:ext cx="6014830" cy="877958"/>
          </a:xfrm>
        </p:spPr>
        <p:txBody>
          <a:bodyPr anchor="ctr">
            <a:normAutofit fontScale="90000"/>
          </a:bodyPr>
          <a:lstStyle/>
          <a:p>
            <a:pPr marL="685800" indent="-685800" algn="ctr">
              <a:buFont typeface="Arial" panose="020B0604020202020204" pitchFamily="34" charset="0"/>
              <a:buChar char="•"/>
            </a:pPr>
            <a:r>
              <a:rPr lang="fr-FR" dirty="0">
                <a:latin typeface="Times New Roman" panose="02020603050405020304" pitchFamily="18" charset="0"/>
                <a:cs typeface="Times New Roman" panose="02020603050405020304" pitchFamily="18" charset="0"/>
              </a:rPr>
              <a:t>Storage </a:t>
            </a:r>
            <a:r>
              <a:rPr lang="fr-FR" dirty="0" err="1">
                <a:latin typeface="Times New Roman" panose="02020603050405020304" pitchFamily="18" charset="0"/>
                <a:cs typeface="Times New Roman" panose="02020603050405020304" pitchFamily="18" charset="0"/>
              </a:rPr>
              <a:t>Devices</a:t>
            </a:r>
            <a:endParaRPr lang="en-US" dirty="0"/>
          </a:p>
        </p:txBody>
      </p:sp>
      <p:sp>
        <p:nvSpPr>
          <p:cNvPr id="3" name="Subtitle 2">
            <a:extLst>
              <a:ext uri="{FF2B5EF4-FFF2-40B4-BE49-F238E27FC236}">
                <a16:creationId xmlns:a16="http://schemas.microsoft.com/office/drawing/2014/main" id="{30897937-8749-4B85-AEDA-95B86E7DE1B7}"/>
              </a:ext>
            </a:extLst>
          </p:cNvPr>
          <p:cNvSpPr>
            <a:spLocks noGrp="1"/>
          </p:cNvSpPr>
          <p:nvPr>
            <p:ph type="subTitle" idx="1"/>
          </p:nvPr>
        </p:nvSpPr>
        <p:spPr>
          <a:xfrm>
            <a:off x="1262270" y="2042491"/>
            <a:ext cx="7938051" cy="3125857"/>
          </a:xfrm>
        </p:spPr>
        <p:txBody>
          <a:bodyPr anchor="ctr">
            <a:normAutofit/>
          </a:bodyPr>
          <a:lstStyle/>
          <a:p>
            <a:pPr algn="ctr"/>
            <a:r>
              <a:rPr lang="en-US" sz="2800" b="1" dirty="0">
                <a:solidFill>
                  <a:schemeClr val="tx1">
                    <a:lumMod val="75000"/>
                    <a:lumOff val="25000"/>
                  </a:schemeClr>
                </a:solidFill>
                <a:latin typeface="Times New Roman" panose="02020603050405020304" pitchFamily="18" charset="0"/>
                <a:cs typeface="Times New Roman" panose="02020603050405020304" pitchFamily="18" charset="0"/>
              </a:rPr>
              <a:t>Storage</a:t>
            </a: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 usually refers to the </a:t>
            </a:r>
            <a:r>
              <a:rPr lang="en-US" sz="2800" b="1" dirty="0">
                <a:solidFill>
                  <a:schemeClr val="tx1">
                    <a:lumMod val="75000"/>
                    <a:lumOff val="25000"/>
                  </a:schemeClr>
                </a:solidFill>
                <a:latin typeface="Times New Roman" panose="02020603050405020304" pitchFamily="18" charset="0"/>
                <a:cs typeface="Times New Roman" panose="02020603050405020304" pitchFamily="18" charset="0"/>
              </a:rPr>
              <a:t>Secondary storage</a:t>
            </a: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 The main memory stores data and programs temporary &amp; is called </a:t>
            </a:r>
            <a:r>
              <a:rPr lang="en-US" sz="2800" b="1" dirty="0">
                <a:solidFill>
                  <a:schemeClr val="tx1">
                    <a:lumMod val="75000"/>
                    <a:lumOff val="25000"/>
                  </a:schemeClr>
                </a:solidFill>
                <a:latin typeface="Times New Roman" panose="02020603050405020304" pitchFamily="18" charset="0"/>
                <a:cs typeface="Times New Roman" panose="02020603050405020304" pitchFamily="18" charset="0"/>
              </a:rPr>
              <a:t>Primary Storage</a:t>
            </a: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 The </a:t>
            </a:r>
            <a:r>
              <a:rPr lang="en-US" sz="2800" b="1" dirty="0">
                <a:solidFill>
                  <a:schemeClr val="tx1">
                    <a:lumMod val="75000"/>
                    <a:lumOff val="25000"/>
                  </a:schemeClr>
                </a:solidFill>
                <a:latin typeface="Times New Roman" panose="02020603050405020304" pitchFamily="18" charset="0"/>
                <a:cs typeface="Times New Roman" panose="02020603050405020304" pitchFamily="18" charset="0"/>
              </a:rPr>
              <a:t>Secondary storage</a:t>
            </a: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 is required to store Data , Information and Programs permanently.</a:t>
            </a:r>
          </a:p>
        </p:txBody>
      </p:sp>
    </p:spTree>
    <p:extLst>
      <p:ext uri="{BB962C8B-B14F-4D97-AF65-F5344CB8AC3E}">
        <p14:creationId xmlns:p14="http://schemas.microsoft.com/office/powerpoint/2010/main" val="175003102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9B32C-A65A-431E-A6DB-C24197CC8D03}"/>
              </a:ext>
            </a:extLst>
          </p:cNvPr>
          <p:cNvSpPr>
            <a:spLocks noGrp="1"/>
          </p:cNvSpPr>
          <p:nvPr>
            <p:ph type="title"/>
          </p:nvPr>
        </p:nvSpPr>
        <p:spPr>
          <a:xfrm>
            <a:off x="442133" y="496996"/>
            <a:ext cx="8534400" cy="685800"/>
          </a:xfrm>
        </p:spPr>
        <p:txBody>
          <a:bodyPr anchor="ctr">
            <a:noAutofit/>
          </a:bodyPr>
          <a:lstStyle/>
          <a:p>
            <a:pPr algn="ctr"/>
            <a:r>
              <a:rPr lang="en-US" sz="3200" dirty="0">
                <a:latin typeface="Times New Roman" panose="02020603050405020304" pitchFamily="18" charset="0"/>
                <a:cs typeface="Times New Roman" panose="02020603050405020304" pitchFamily="18" charset="0"/>
              </a:rPr>
              <a:t>Following are some examples of storage devices :-</a:t>
            </a:r>
          </a:p>
        </p:txBody>
      </p:sp>
      <p:sp>
        <p:nvSpPr>
          <p:cNvPr id="4" name="Text Placeholder 3">
            <a:extLst>
              <a:ext uri="{FF2B5EF4-FFF2-40B4-BE49-F238E27FC236}">
                <a16:creationId xmlns:a16="http://schemas.microsoft.com/office/drawing/2014/main" id="{E0730DBF-BC3B-46D0-9AA0-0EA755C5CA89}"/>
              </a:ext>
            </a:extLst>
          </p:cNvPr>
          <p:cNvSpPr>
            <a:spLocks noGrp="1"/>
          </p:cNvSpPr>
          <p:nvPr>
            <p:ph type="body" idx="1"/>
          </p:nvPr>
        </p:nvSpPr>
        <p:spPr>
          <a:xfrm>
            <a:off x="2367918" y="1411304"/>
            <a:ext cx="4649787" cy="576262"/>
          </a:xfrm>
        </p:spPr>
        <p:txBody>
          <a:bodyPr/>
          <a:lstStyle/>
          <a:p>
            <a:pPr marL="342900" indent="-342900" algn="ct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Primary Storage Devices</a:t>
            </a:r>
          </a:p>
        </p:txBody>
      </p:sp>
      <p:pic>
        <p:nvPicPr>
          <p:cNvPr id="10" name="Content Placeholder 9">
            <a:extLst>
              <a:ext uri="{FF2B5EF4-FFF2-40B4-BE49-F238E27FC236}">
                <a16:creationId xmlns:a16="http://schemas.microsoft.com/office/drawing/2014/main" id="{72D41ECF-ABCF-4CD2-92C6-FA002A370923}"/>
              </a:ext>
            </a:extLst>
          </p:cNvPr>
          <p:cNvPicPr>
            <a:picLocks noGrp="1" noChangeAspect="1"/>
          </p:cNvPicPr>
          <p:nvPr>
            <p:ph sz="half" idx="2"/>
          </p:nvPr>
        </p:nvPicPr>
        <p:blipFill>
          <a:blip r:embed="rId2"/>
          <a:stretch>
            <a:fillRect/>
          </a:stretch>
        </p:blipFill>
        <p:spPr>
          <a:xfrm>
            <a:off x="442133" y="2444583"/>
            <a:ext cx="3851571" cy="2272047"/>
          </a:xfrm>
        </p:spPr>
      </p:pic>
      <p:pic>
        <p:nvPicPr>
          <p:cNvPr id="11" name="Picture 10">
            <a:extLst>
              <a:ext uri="{FF2B5EF4-FFF2-40B4-BE49-F238E27FC236}">
                <a16:creationId xmlns:a16="http://schemas.microsoft.com/office/drawing/2014/main" id="{DD3E368D-1829-4003-928B-18B35256897E}"/>
              </a:ext>
            </a:extLst>
          </p:cNvPr>
          <p:cNvPicPr>
            <a:picLocks noChangeAspect="1"/>
          </p:cNvPicPr>
          <p:nvPr/>
        </p:nvPicPr>
        <p:blipFill>
          <a:blip r:embed="rId3"/>
          <a:stretch>
            <a:fillRect/>
          </a:stretch>
        </p:blipFill>
        <p:spPr>
          <a:xfrm>
            <a:off x="5128592" y="2444583"/>
            <a:ext cx="4267199" cy="2272047"/>
          </a:xfrm>
          <a:prstGeom prst="rect">
            <a:avLst/>
          </a:prstGeom>
        </p:spPr>
      </p:pic>
      <p:sp>
        <p:nvSpPr>
          <p:cNvPr id="13" name="TextBox 12">
            <a:extLst>
              <a:ext uri="{FF2B5EF4-FFF2-40B4-BE49-F238E27FC236}">
                <a16:creationId xmlns:a16="http://schemas.microsoft.com/office/drawing/2014/main" id="{5BC37EE0-E9D8-45FC-81E7-BAAC1A72F16B}"/>
              </a:ext>
            </a:extLst>
          </p:cNvPr>
          <p:cNvSpPr txBox="1"/>
          <p:nvPr/>
        </p:nvSpPr>
        <p:spPr>
          <a:xfrm>
            <a:off x="870422" y="4969492"/>
            <a:ext cx="2994991" cy="1384995"/>
          </a:xfrm>
          <a:prstGeom prst="rect">
            <a:avLst/>
          </a:prstGeom>
          <a:noFill/>
        </p:spPr>
        <p:txBody>
          <a:bodyPr wrap="square" rtlCol="0">
            <a:spAutoFit/>
          </a:bodyPr>
          <a:lstStyle/>
          <a:p>
            <a:pPr algn="ct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RAM</a:t>
            </a:r>
          </a:p>
          <a:p>
            <a:pPr algn="ct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(Random Access Memory)</a:t>
            </a:r>
          </a:p>
        </p:txBody>
      </p:sp>
      <p:sp>
        <p:nvSpPr>
          <p:cNvPr id="14" name="TextBox 13">
            <a:extLst>
              <a:ext uri="{FF2B5EF4-FFF2-40B4-BE49-F238E27FC236}">
                <a16:creationId xmlns:a16="http://schemas.microsoft.com/office/drawing/2014/main" id="{B044A0AC-8798-47D6-B43F-B6C65CF45341}"/>
              </a:ext>
            </a:extLst>
          </p:cNvPr>
          <p:cNvSpPr txBox="1"/>
          <p:nvPr/>
        </p:nvSpPr>
        <p:spPr>
          <a:xfrm>
            <a:off x="6132011" y="4969492"/>
            <a:ext cx="2260359" cy="1384995"/>
          </a:xfrm>
          <a:prstGeom prst="rect">
            <a:avLst/>
          </a:prstGeom>
          <a:noFill/>
        </p:spPr>
        <p:txBody>
          <a:bodyPr wrap="square" rtlCol="0">
            <a:spAutoFit/>
          </a:bodyPr>
          <a:lstStyle/>
          <a:p>
            <a:pPr algn="ct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ROM</a:t>
            </a:r>
          </a:p>
          <a:p>
            <a:pPr algn="ct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(Read Only Memory)</a:t>
            </a:r>
          </a:p>
        </p:txBody>
      </p:sp>
    </p:spTree>
    <p:extLst>
      <p:ext uri="{BB962C8B-B14F-4D97-AF65-F5344CB8AC3E}">
        <p14:creationId xmlns:p14="http://schemas.microsoft.com/office/powerpoint/2010/main" val="4040325903"/>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17FA65E-CF7D-4174-BE3E-DA8E244E3617}"/>
              </a:ext>
            </a:extLst>
          </p:cNvPr>
          <p:cNvSpPr>
            <a:spLocks noGrp="1"/>
          </p:cNvSpPr>
          <p:nvPr>
            <p:ph type="subTitle" idx="1"/>
          </p:nvPr>
        </p:nvSpPr>
        <p:spPr>
          <a:xfrm>
            <a:off x="1338469" y="357718"/>
            <a:ext cx="6400800" cy="1042458"/>
          </a:xfrm>
        </p:spPr>
        <p:txBody>
          <a:bodyPr anchor="ctr">
            <a:normAutofit/>
          </a:bodyPr>
          <a:lstStyle/>
          <a:p>
            <a:pPr marL="342900" indent="-342900" algn="ctr">
              <a:buFont typeface="Arial" panose="020B0604020202020204" pitchFamily="34" charset="0"/>
              <a:buChar char="•"/>
            </a:pPr>
            <a:r>
              <a:rPr lang="en-US" sz="3200" dirty="0">
                <a:solidFill>
                  <a:schemeClr val="tx1">
                    <a:lumMod val="75000"/>
                    <a:lumOff val="25000"/>
                  </a:schemeClr>
                </a:solidFill>
                <a:latin typeface="Times New Roman" panose="02020603050405020304" pitchFamily="18" charset="0"/>
                <a:cs typeface="Times New Roman" panose="02020603050405020304" pitchFamily="18" charset="0"/>
              </a:rPr>
              <a:t>Secondary Storage Devices</a:t>
            </a:r>
          </a:p>
        </p:txBody>
      </p:sp>
      <p:pic>
        <p:nvPicPr>
          <p:cNvPr id="4" name="Picture 3">
            <a:extLst>
              <a:ext uri="{FF2B5EF4-FFF2-40B4-BE49-F238E27FC236}">
                <a16:creationId xmlns:a16="http://schemas.microsoft.com/office/drawing/2014/main" id="{C4072B3D-363F-4C82-89B8-4EDFAD455F55}"/>
              </a:ext>
            </a:extLst>
          </p:cNvPr>
          <p:cNvPicPr>
            <a:picLocks noChangeAspect="1"/>
          </p:cNvPicPr>
          <p:nvPr/>
        </p:nvPicPr>
        <p:blipFill>
          <a:blip r:embed="rId2"/>
          <a:stretch>
            <a:fillRect/>
          </a:stretch>
        </p:blipFill>
        <p:spPr>
          <a:xfrm>
            <a:off x="874643" y="1518708"/>
            <a:ext cx="7328453" cy="4683310"/>
          </a:xfrm>
          <a:prstGeom prst="rect">
            <a:avLst/>
          </a:prstGeom>
        </p:spPr>
      </p:pic>
    </p:spTree>
    <p:extLst>
      <p:ext uri="{BB962C8B-B14F-4D97-AF65-F5344CB8AC3E}">
        <p14:creationId xmlns:p14="http://schemas.microsoft.com/office/powerpoint/2010/main" val="8428324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D92F9-ADDB-438B-B259-DDF9D2C4F096}"/>
              </a:ext>
            </a:extLst>
          </p:cNvPr>
          <p:cNvSpPr>
            <a:spLocks noGrp="1"/>
          </p:cNvSpPr>
          <p:nvPr>
            <p:ph type="ctrTitle"/>
          </p:nvPr>
        </p:nvSpPr>
        <p:spPr>
          <a:xfrm>
            <a:off x="3602749" y="228600"/>
            <a:ext cx="4178116" cy="725557"/>
          </a:xfrm>
        </p:spPr>
        <p:txBody>
          <a:bodyPr anchor="ctr"/>
          <a:lstStyle/>
          <a:p>
            <a:pPr algn="ctr"/>
            <a:r>
              <a:rPr lang="en-US" dirty="0"/>
              <a:t>Motherboard</a:t>
            </a:r>
          </a:p>
        </p:txBody>
      </p:sp>
      <p:pic>
        <p:nvPicPr>
          <p:cNvPr id="4" name="Picture 3" descr="50255246_379381412817694_1889632589145178112_n.png">
            <a:extLst>
              <a:ext uri="{FF2B5EF4-FFF2-40B4-BE49-F238E27FC236}">
                <a16:creationId xmlns:a16="http://schemas.microsoft.com/office/drawing/2014/main" id="{E57F2DA4-639A-4BB8-A010-4E50317573B2}"/>
              </a:ext>
            </a:extLst>
          </p:cNvPr>
          <p:cNvPicPr>
            <a:picLocks noChangeAspect="1"/>
          </p:cNvPicPr>
          <p:nvPr/>
        </p:nvPicPr>
        <p:blipFill rotWithShape="1">
          <a:blip r:embed="rId2" cstate="print"/>
          <a:srcRect l="12060" r="12784"/>
          <a:stretch/>
        </p:blipFill>
        <p:spPr>
          <a:xfrm>
            <a:off x="1954698" y="1777448"/>
            <a:ext cx="6851374" cy="3303104"/>
          </a:xfrm>
          <a:prstGeom prst="rect">
            <a:avLst/>
          </a:prstGeom>
        </p:spPr>
      </p:pic>
    </p:spTree>
    <p:extLst>
      <p:ext uri="{BB962C8B-B14F-4D97-AF65-F5344CB8AC3E}">
        <p14:creationId xmlns:p14="http://schemas.microsoft.com/office/powerpoint/2010/main" val="214651683"/>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3D0078F-7B3B-46C2-B64E-9C1ACE06F1D1}"/>
              </a:ext>
            </a:extLst>
          </p:cNvPr>
          <p:cNvSpPr>
            <a:spLocks noGrp="1"/>
          </p:cNvSpPr>
          <p:nvPr>
            <p:ph type="subTitle" idx="1"/>
          </p:nvPr>
        </p:nvSpPr>
        <p:spPr>
          <a:xfrm>
            <a:off x="914399" y="732367"/>
            <a:ext cx="8613913" cy="5867216"/>
          </a:xfrm>
        </p:spPr>
        <p:txBody>
          <a:bodyPr anchor="t">
            <a:normAutofit/>
          </a:bodyPr>
          <a:lstStyle/>
          <a:p>
            <a:pPr algn="l"/>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A </a:t>
            </a: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Motherboard</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is one of the most essential </a:t>
            </a: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parts</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of a </a:t>
            </a: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computer system</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It holds together many of the crucial </a:t>
            </a: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components</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of a </a:t>
            </a: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computer</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including the central processing unit (CPU), memory and connectors for input and output devices.</a:t>
            </a:r>
          </a:p>
          <a:p>
            <a:pPr algn="l"/>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It is a large board with integrated circuits that connect the various parts of computer </a:t>
            </a:r>
            <a:r>
              <a:rPr lang="en-US" sz="2000" dirty="0" err="1">
                <a:solidFill>
                  <a:schemeClr val="tx1">
                    <a:lumMod val="75000"/>
                    <a:lumOff val="25000"/>
                  </a:schemeClr>
                </a:solidFill>
                <a:latin typeface="Times New Roman" panose="02020603050405020304" pitchFamily="18" charset="0"/>
                <a:cs typeface="Times New Roman" panose="02020603050405020304" pitchFamily="18" charset="0"/>
              </a:rPr>
              <a:t>e.g</a:t>
            </a: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 CPU, RAM, Disk Drives (CD, DVD, Hard disk) etc.</a:t>
            </a:r>
          </a:p>
          <a:p>
            <a:pPr algn="l"/>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The Main Components which are directly attached to the Motherboard include :-</a:t>
            </a:r>
          </a:p>
          <a:p>
            <a:pPr marL="342900" indent="-342900" algn="l">
              <a:buFont typeface="Arial" panose="020B0604020202020204" pitchFamily="34" charset="0"/>
              <a:buChar char="•"/>
            </a:pP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CPU</a:t>
            </a:r>
          </a:p>
          <a:p>
            <a:pPr marL="342900" indent="-342900" algn="l">
              <a:buFont typeface="Arial" panose="020B0604020202020204" pitchFamily="34" charset="0"/>
              <a:buChar char="•"/>
            </a:pP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RAM</a:t>
            </a:r>
          </a:p>
          <a:p>
            <a:pPr marL="342900" indent="-342900" algn="l">
              <a:buFont typeface="Arial" panose="020B0604020202020204" pitchFamily="34" charset="0"/>
              <a:buChar char="•"/>
            </a:pP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ROM</a:t>
            </a:r>
          </a:p>
          <a:p>
            <a:pPr marL="342900" indent="-342900" algn="l">
              <a:buFont typeface="Arial" panose="020B0604020202020204" pitchFamily="34" charset="0"/>
              <a:buChar char="•"/>
            </a:pP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Connectors for Peripherals</a:t>
            </a:r>
          </a:p>
          <a:p>
            <a:pPr marL="342900" indent="-342900" algn="l">
              <a:buFont typeface="Arial" panose="020B0604020202020204" pitchFamily="34" charset="0"/>
              <a:buChar char="•"/>
            </a:pP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Internal bus</a:t>
            </a:r>
          </a:p>
          <a:p>
            <a:pPr marL="342900" indent="-342900" algn="ctr">
              <a:buFont typeface="Wingdings" panose="05000000000000000000" pitchFamily="2" charset="2"/>
              <a:buChar char="q"/>
            </a:pPr>
            <a:r>
              <a:rPr lang="en-US" sz="2000" b="1" dirty="0">
                <a:solidFill>
                  <a:schemeClr val="tx1">
                    <a:lumMod val="75000"/>
                    <a:lumOff val="25000"/>
                  </a:schemeClr>
                </a:solidFill>
                <a:latin typeface="Times New Roman" panose="02020603050405020304" pitchFamily="18" charset="0"/>
                <a:cs typeface="Times New Roman" panose="02020603050405020304" pitchFamily="18" charset="0"/>
              </a:rPr>
              <a:t>Note</a:t>
            </a:r>
          </a:p>
          <a:p>
            <a:pPr algn="ctr"/>
            <a:r>
              <a:rPr lang="en-US" sz="2000" dirty="0">
                <a:solidFill>
                  <a:schemeClr val="tx1">
                    <a:lumMod val="75000"/>
                    <a:lumOff val="25000"/>
                  </a:schemeClr>
                </a:solidFill>
                <a:latin typeface="Times New Roman" panose="02020603050405020304" pitchFamily="18" charset="0"/>
                <a:cs typeface="Times New Roman" panose="02020603050405020304" pitchFamily="18" charset="0"/>
              </a:rPr>
              <a:t>It is to be noted that all Components of Computer System are Linked with each other on a Motherboard . The Motherboard acts as a base for the communication or Interaction of Computer’s different Components.</a:t>
            </a:r>
          </a:p>
        </p:txBody>
      </p:sp>
    </p:spTree>
    <p:extLst>
      <p:ext uri="{BB962C8B-B14F-4D97-AF65-F5344CB8AC3E}">
        <p14:creationId xmlns:p14="http://schemas.microsoft.com/office/powerpoint/2010/main" val="1916749595"/>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74F408C-D454-48F9-AFB7-E4A2B0C374EF}"/>
              </a:ext>
            </a:extLst>
          </p:cNvPr>
          <p:cNvSpPr>
            <a:spLocks noGrp="1"/>
          </p:cNvSpPr>
          <p:nvPr>
            <p:ph type="subTitle" idx="1"/>
          </p:nvPr>
        </p:nvSpPr>
        <p:spPr>
          <a:xfrm>
            <a:off x="1033671" y="1332464"/>
            <a:ext cx="8136835" cy="3159402"/>
          </a:xfrm>
        </p:spPr>
        <p:txBody>
          <a:bodyPr anchor="ctr">
            <a:normAutofit/>
          </a:bodyPr>
          <a:lstStyle/>
          <a:p>
            <a:pPr marL="457200" indent="-457200" algn="ctr">
              <a:buFont typeface="Wingdings" panose="05000000000000000000" pitchFamily="2" charset="2"/>
              <a:buChar char="v"/>
            </a:pP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Conclusion</a:t>
            </a:r>
          </a:p>
          <a:p>
            <a:pPr algn="ctr"/>
            <a:r>
              <a:rPr lang="en-US" sz="2800" dirty="0">
                <a:solidFill>
                  <a:schemeClr val="tx1">
                    <a:lumMod val="75000"/>
                    <a:lumOff val="25000"/>
                  </a:schemeClr>
                </a:solidFill>
                <a:latin typeface="Times New Roman" panose="02020603050405020304" pitchFamily="18" charset="0"/>
                <a:cs typeface="Times New Roman" panose="02020603050405020304" pitchFamily="18" charset="0"/>
              </a:rPr>
              <a:t>A computer system requires different components to perform the functions of Input, Processing, Output and Storage and these four components are necessary for a computer to work.</a:t>
            </a:r>
          </a:p>
        </p:txBody>
      </p:sp>
    </p:spTree>
    <p:extLst>
      <p:ext uri="{BB962C8B-B14F-4D97-AF65-F5344CB8AC3E}">
        <p14:creationId xmlns:p14="http://schemas.microsoft.com/office/powerpoint/2010/main" val="178507757"/>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657D-363A-4A38-9C5B-F6D3D83E9D85}"/>
              </a:ext>
            </a:extLst>
          </p:cNvPr>
          <p:cNvSpPr>
            <a:spLocks noGrp="1"/>
          </p:cNvSpPr>
          <p:nvPr>
            <p:ph type="ctrTitle"/>
          </p:nvPr>
        </p:nvSpPr>
        <p:spPr>
          <a:xfrm>
            <a:off x="1353377" y="2390775"/>
            <a:ext cx="8001000" cy="2076450"/>
          </a:xfrm>
        </p:spPr>
        <p:txBody>
          <a:bodyPr anchor="ctr">
            <a:normAutofit fontScale="90000"/>
          </a:bodyPr>
          <a:lstStyle/>
          <a:p>
            <a:pPr algn="ctr"/>
            <a:r>
              <a:rPr lang="en-US" sz="13800" b="1" dirty="0">
                <a:latin typeface="Edwardian Script ITC" panose="030303020407070D0804" pitchFamily="66" charset="0"/>
              </a:rPr>
              <a:t>Thank You</a:t>
            </a:r>
          </a:p>
        </p:txBody>
      </p:sp>
    </p:spTree>
    <p:extLst>
      <p:ext uri="{BB962C8B-B14F-4D97-AF65-F5344CB8AC3E}">
        <p14:creationId xmlns:p14="http://schemas.microsoft.com/office/powerpoint/2010/main" val="2670039863"/>
      </p:ext>
    </p:extLst>
  </p:cSld>
  <p:clrMapOvr>
    <a:masterClrMapping/>
  </p:clrMapOvr>
  <mc:AlternateContent xmlns:mc="http://schemas.openxmlformats.org/markup-compatibility/2006" xmlns:p14="http://schemas.microsoft.com/office/powerpoint/2010/main">
    <mc:Choice Requires="p14">
      <p:transition spd="slow" p14:dur="2000">
        <p14:vortex dir="r"/>
      </p:transition>
    </mc:Choice>
    <mc:Fallback xmlns="">
      <p:transition spd="slow">
        <p:fade/>
      </p:transition>
    </mc:Fallback>
  </mc:AlternateContent>
</p:sld>
</file>

<file path=ppt/theme/theme1.xml><?xml version="1.0" encoding="utf-8"?>
<a:theme xmlns:a="http://schemas.openxmlformats.org/drawingml/2006/main" name="Facet">
  <a:themeElements>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667</TotalTime>
  <Words>495</Words>
  <Application>Microsoft Office PowerPoint</Application>
  <PresentationFormat>Widescreen</PresentationFormat>
  <Paragraphs>55</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Edwardian Script ITC</vt:lpstr>
      <vt:lpstr>Times New Roman</vt:lpstr>
      <vt:lpstr>Trebuchet MS</vt:lpstr>
      <vt:lpstr>Wingdings</vt:lpstr>
      <vt:lpstr>Wingdings 3</vt:lpstr>
      <vt:lpstr>Facet</vt:lpstr>
      <vt:lpstr>Computer &amp; It’s Components</vt:lpstr>
      <vt:lpstr>Contents</vt:lpstr>
      <vt:lpstr>Computer</vt:lpstr>
      <vt:lpstr>Hardware &amp; Software</vt:lpstr>
      <vt:lpstr>Components of a Computer System</vt:lpstr>
      <vt:lpstr>Input Devices </vt:lpstr>
      <vt:lpstr>Following are some examples of Input devices :-</vt:lpstr>
      <vt:lpstr>Processing Device </vt:lpstr>
      <vt:lpstr>Output Devices</vt:lpstr>
      <vt:lpstr>Following are some examples of output devices :-</vt:lpstr>
      <vt:lpstr>Storage Devices</vt:lpstr>
      <vt:lpstr>Following are some examples of storage devices :-</vt:lpstr>
      <vt:lpstr>PowerPoint Presentation</vt:lpstr>
      <vt:lpstr>Motherboard</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and  Components of a Computer System</dc:title>
  <dc:creator>fizza</dc:creator>
  <cp:lastModifiedBy>JAMIE</cp:lastModifiedBy>
  <cp:revision>42</cp:revision>
  <dcterms:created xsi:type="dcterms:W3CDTF">2019-01-16T03:38:33Z</dcterms:created>
  <dcterms:modified xsi:type="dcterms:W3CDTF">2024-07-26T08:42:07Z</dcterms:modified>
</cp:coreProperties>
</file>