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7"/>
  </p:notesMasterIdLst>
  <p:sldIdLst>
    <p:sldId id="272" r:id="rId2"/>
    <p:sldId id="274" r:id="rId3"/>
    <p:sldId id="291" r:id="rId4"/>
    <p:sldId id="275" r:id="rId5"/>
    <p:sldId id="276" r:id="rId6"/>
    <p:sldId id="292" r:id="rId7"/>
    <p:sldId id="293" r:id="rId8"/>
    <p:sldId id="277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68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64" autoAdjust="0"/>
    <p:restoredTop sz="87101" autoAdjust="0"/>
  </p:normalViewPr>
  <p:slideViewPr>
    <p:cSldViewPr>
      <p:cViewPr varScale="1">
        <p:scale>
          <a:sx n="76" d="100"/>
          <a:sy n="76" d="100"/>
        </p:scale>
        <p:origin x="18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2662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26628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62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663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2663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3239792-2F04-4166-92B9-F43DBAA48EB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239792-2F04-4166-92B9-F43DBAA48EB8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1745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239792-2F04-4166-92B9-F43DBAA48EB8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7311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239792-2F04-4166-92B9-F43DBAA48EB8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21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239792-2F04-4166-92B9-F43DBAA48EB8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2291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4099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4100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01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102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4103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04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105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7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4110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4111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E6BB5AD-5F7E-4257-867A-0AE16FD817A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/>
            </a:lvl1pPr>
            <a:lvl2pPr>
              <a:defRPr sz="2600"/>
            </a:lvl2pPr>
            <a:lvl3pPr>
              <a:defRPr sz="2600"/>
            </a:lvl3pPr>
            <a:lvl4pPr>
              <a:defRPr sz="2600"/>
            </a:lvl4pPr>
            <a:lvl5pPr>
              <a:defRPr sz="2600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94CF56-B700-400D-82C2-97A986DD68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2572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53F582-7FD7-4210-AA27-4FA9D3BC64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0901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0C44F0-7E62-4494-B37E-CD941414CF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0199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EB57A0-9E85-498B-9EB0-80109F50C6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4237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26497C-7B8C-4F66-BE31-3ACB07F24E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5061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EAC01A-0C9B-4598-9141-193246A128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1624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7B4374-195F-4005-A772-03AFB195B9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318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C67FE-20A2-4151-A333-B59FE1771A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8386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D33753-446D-4DA4-9B37-ED9DC198D3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5939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0A8046-BAA0-45BD-9E66-4C6FBF0947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6340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Online Image Placeholder 2"/>
          <p:cNvSpPr>
            <a:spLocks noGrp="1"/>
          </p:cNvSpPr>
          <p:nvPr>
            <p:ph type="clipArt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723E1BD0-E12F-4ADE-95EE-816CC21244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7262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/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/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/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/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title style</a:t>
            </a:r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text styles</a:t>
            </a:r>
          </a:p>
          <a:p>
            <a:pPr lvl="1"/>
            <a:r>
              <a:rPr lang="en-US" altLang="en-US" dirty="0" smtClean="0"/>
              <a:t>Second level</a:t>
            </a:r>
          </a:p>
          <a:p>
            <a:pPr lvl="2"/>
            <a:r>
              <a:rPr lang="en-US" altLang="en-US" dirty="0" smtClean="0"/>
              <a:t>Third level</a:t>
            </a:r>
          </a:p>
          <a:p>
            <a:pPr lvl="3"/>
            <a:r>
              <a:rPr lang="en-US" altLang="en-US" dirty="0" smtClean="0"/>
              <a:t>Fourth level</a:t>
            </a:r>
          </a:p>
          <a:p>
            <a:pPr lvl="4"/>
            <a:r>
              <a:rPr lang="en-US" altLang="en-US" dirty="0" smtClean="0"/>
              <a:t>Fifth level</a:t>
            </a: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308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5456DE9-938F-45F0-A6D8-554A2063835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lnSpc>
          <a:spcPct val="150000"/>
        </a:lnSpc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fontAlgn="base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742950" indent="-285750" algn="l" rtl="0" fontAlgn="base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rtl="0" fontAlgn="base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rtl="0" fontAlgn="base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rtl="0" fontAlgn="base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DBE20-757E-474C-AB7B-A056FD71B5C0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Connecting to and Setting</a:t>
            </a:r>
            <a:br>
              <a:rPr lang="en-US" b="1" dirty="0"/>
            </a:br>
            <a:r>
              <a:rPr lang="en-US" b="1" dirty="0"/>
              <a:t>Up a Network</a:t>
            </a:r>
            <a:endParaRPr lang="en-US" altLang="en-US" dirty="0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About </a:t>
            </a:r>
            <a:r>
              <a:rPr lang="en-US" dirty="0"/>
              <a:t>the </a:t>
            </a:r>
            <a:r>
              <a:rPr lang="en-US" dirty="0" smtClean="0"/>
              <a:t>TCP/ IP protocols and standards Windows </a:t>
            </a:r>
            <a:r>
              <a:rPr lang="en-US" dirty="0"/>
              <a:t>uses </a:t>
            </a:r>
            <a:r>
              <a:rPr lang="en-US" dirty="0" smtClean="0"/>
              <a:t>for networking</a:t>
            </a:r>
            <a:endParaRPr lang="en-US" dirty="0"/>
          </a:p>
          <a:p>
            <a:r>
              <a:rPr lang="en-US" dirty="0" smtClean="0"/>
              <a:t>How </a:t>
            </a:r>
            <a:r>
              <a:rPr lang="en-US" dirty="0"/>
              <a:t>to </a:t>
            </a:r>
            <a:r>
              <a:rPr lang="en-US" dirty="0" smtClean="0"/>
              <a:t>connect a </a:t>
            </a:r>
            <a:r>
              <a:rPr lang="en-US" dirty="0"/>
              <a:t>computer to </a:t>
            </a:r>
            <a:r>
              <a:rPr lang="en-US" dirty="0" smtClean="0"/>
              <a:t>a network</a:t>
            </a:r>
            <a:endParaRPr lang="en-US" dirty="0"/>
          </a:p>
          <a:p>
            <a:r>
              <a:rPr lang="en-US" dirty="0" smtClean="0"/>
              <a:t>How </a:t>
            </a:r>
            <a:r>
              <a:rPr lang="en-US" dirty="0"/>
              <a:t>to </a:t>
            </a:r>
            <a:r>
              <a:rPr lang="en-US" dirty="0" smtClean="0"/>
              <a:t>configure  and secure a multifunction router </a:t>
            </a:r>
            <a:r>
              <a:rPr lang="en-US" dirty="0"/>
              <a:t>on a </a:t>
            </a:r>
            <a:r>
              <a:rPr lang="en-US" dirty="0" smtClean="0"/>
              <a:t>local network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TCP/IP AND WINDOWS NETWORKING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two computers communicate using a local network or the Internet, </a:t>
            </a:r>
            <a:r>
              <a:rPr lang="en-US" dirty="0" smtClean="0"/>
              <a:t>communication happens </a:t>
            </a:r>
            <a:r>
              <a:rPr lang="en-US" dirty="0"/>
              <a:t>at three levels (hardware, operating system, and application</a:t>
            </a:r>
            <a:r>
              <a:rPr lang="en-US" dirty="0" smtClean="0"/>
              <a:t>).</a:t>
            </a:r>
          </a:p>
          <a:p>
            <a:r>
              <a:rPr lang="en-US" dirty="0"/>
              <a:t>The </a:t>
            </a:r>
            <a:r>
              <a:rPr lang="en-US" dirty="0" smtClean="0"/>
              <a:t>first </a:t>
            </a:r>
            <a:r>
              <a:rPr lang="en-US" dirty="0"/>
              <a:t>step </a:t>
            </a:r>
            <a:r>
              <a:rPr lang="en-US" dirty="0" smtClean="0"/>
              <a:t>in communication </a:t>
            </a:r>
            <a:r>
              <a:rPr lang="en-US" dirty="0"/>
              <a:t>is one computer must </a:t>
            </a:r>
            <a:r>
              <a:rPr lang="en-US" dirty="0" smtClean="0"/>
              <a:t>find </a:t>
            </a:r>
            <a:r>
              <a:rPr lang="en-US" dirty="0"/>
              <a:t>the other computer</a:t>
            </a:r>
            <a:r>
              <a:rPr lang="en-US" dirty="0" smtClean="0"/>
              <a:t>.</a:t>
            </a:r>
          </a:p>
          <a:p>
            <a:r>
              <a:rPr lang="en-US" dirty="0"/>
              <a:t>The second step is </a:t>
            </a:r>
            <a:r>
              <a:rPr lang="en-US" dirty="0" smtClean="0"/>
              <a:t>both computers </a:t>
            </a:r>
            <a:r>
              <a:rPr lang="en-US" dirty="0"/>
              <a:t>must agree on the methods and rules for communication (called </a:t>
            </a:r>
            <a:r>
              <a:rPr lang="en-US" b="1" dirty="0"/>
              <a:t>protocols</a:t>
            </a:r>
            <a:r>
              <a:rPr lang="en-US" dirty="0"/>
              <a:t>).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TCP/IP AND WINDOWS </a:t>
            </a:r>
            <a:r>
              <a:rPr lang="en-US" dirty="0" smtClean="0"/>
              <a:t>NETWORKING…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Then one </a:t>
            </a:r>
            <a:r>
              <a:rPr lang="en-US" dirty="0"/>
              <a:t>computer takes on the role of making requests from the other computer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A </a:t>
            </a:r>
            <a:r>
              <a:rPr lang="en-US" dirty="0" smtClean="0"/>
              <a:t>computer making </a:t>
            </a:r>
            <a:r>
              <a:rPr lang="en-US" dirty="0"/>
              <a:t>a request from another is called the </a:t>
            </a:r>
            <a:r>
              <a:rPr lang="en-US" b="1" dirty="0"/>
              <a:t>client</a:t>
            </a:r>
            <a:r>
              <a:rPr lang="en-US" dirty="0"/>
              <a:t> and the one answering the request </a:t>
            </a:r>
            <a:r>
              <a:rPr lang="en-US" dirty="0" smtClean="0"/>
              <a:t>is called </a:t>
            </a:r>
            <a:r>
              <a:rPr lang="en-US" dirty="0"/>
              <a:t>the </a:t>
            </a:r>
            <a:r>
              <a:rPr lang="en-US" b="1" dirty="0"/>
              <a:t>server</a:t>
            </a:r>
            <a:r>
              <a:rPr lang="en-US" dirty="0"/>
              <a:t>. Most communication between computers on a network or the </a:t>
            </a:r>
            <a:r>
              <a:rPr lang="en-US" dirty="0" smtClean="0"/>
              <a:t>Internet uses </a:t>
            </a:r>
            <a:r>
              <a:rPr lang="en-US" dirty="0"/>
              <a:t>this </a:t>
            </a:r>
            <a:r>
              <a:rPr lang="en-US" b="1" dirty="0"/>
              <a:t>client/server </a:t>
            </a:r>
            <a:r>
              <a:rPr lang="en-US" dirty="0"/>
              <a:t>model.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79983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Client/Server model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 smtClean="0"/>
              <a:t> </a:t>
            </a: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54486"/>
            <a:ext cx="9022234" cy="305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619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617538"/>
            <a:ext cx="8712968" cy="1143000"/>
          </a:xfrm>
        </p:spPr>
        <p:txBody>
          <a:bodyPr/>
          <a:lstStyle/>
          <a:p>
            <a:r>
              <a:rPr lang="en-US" dirty="0"/>
              <a:t>LAYERS OF NETWORK COMMUNICATION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17712"/>
            <a:ext cx="9144000" cy="5011687"/>
          </a:xfrm>
        </p:spPr>
        <p:txBody>
          <a:bodyPr/>
          <a:lstStyle/>
          <a:p>
            <a:r>
              <a:rPr lang="en-US" dirty="0"/>
              <a:t>When your computer at home is connected to your Internet Service Provider (ISP) </a:t>
            </a:r>
            <a:r>
              <a:rPr lang="en-US" dirty="0" smtClean="0"/>
              <a:t>off somewhere </a:t>
            </a:r>
            <a:r>
              <a:rPr lang="en-US" dirty="0"/>
              <a:t>in the distance, your computer and a computer on the Internet must be able </a:t>
            </a:r>
            <a:r>
              <a:rPr lang="en-US" dirty="0" smtClean="0"/>
              <a:t>to communicate.</a:t>
            </a:r>
          </a:p>
          <a:p>
            <a:r>
              <a:rPr lang="en-US" dirty="0" smtClean="0"/>
              <a:t>When </a:t>
            </a:r>
            <a:r>
              <a:rPr lang="en-US" dirty="0"/>
              <a:t>two devices communicate, they must use the same protocols so </a:t>
            </a:r>
            <a:r>
              <a:rPr lang="en-US" dirty="0" smtClean="0"/>
              <a:t>that the </a:t>
            </a:r>
            <a:r>
              <a:rPr lang="en-US" dirty="0"/>
              <a:t>communication makes sense.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almost all networks today, including the Internet, </a:t>
            </a:r>
            <a:r>
              <a:rPr lang="en-US" dirty="0" smtClean="0"/>
              <a:t>the group </a:t>
            </a:r>
            <a:r>
              <a:rPr lang="en-US" dirty="0"/>
              <a:t>or suite of protocols used is called </a:t>
            </a:r>
            <a:r>
              <a:rPr lang="en-US" b="1" dirty="0" smtClean="0"/>
              <a:t>TCP/IP.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41427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617538"/>
            <a:ext cx="8712968" cy="1143000"/>
          </a:xfrm>
        </p:spPr>
        <p:txBody>
          <a:bodyPr/>
          <a:lstStyle/>
          <a:p>
            <a:r>
              <a:rPr lang="en-US" dirty="0"/>
              <a:t>LAYERS OF NETWORK </a:t>
            </a:r>
            <a:r>
              <a:rPr lang="en-US" dirty="0" smtClean="0"/>
              <a:t>COMMUNICATION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17712"/>
            <a:ext cx="9144000" cy="5011687"/>
          </a:xfrm>
        </p:spPr>
        <p:txBody>
          <a:bodyPr/>
          <a:lstStyle/>
          <a:p>
            <a:r>
              <a:rPr lang="en-US" dirty="0"/>
              <a:t>Before data is transmitted on a network, it is </a:t>
            </a:r>
            <a:r>
              <a:rPr lang="en-US" dirty="0" smtClean="0"/>
              <a:t>first </a:t>
            </a:r>
            <a:r>
              <a:rPr lang="en-US" dirty="0"/>
              <a:t>broken up into segments. Each data </a:t>
            </a:r>
            <a:r>
              <a:rPr lang="en-US" dirty="0" smtClean="0"/>
              <a:t>segment is </a:t>
            </a:r>
            <a:r>
              <a:rPr lang="en-US" dirty="0"/>
              <a:t>put into a </a:t>
            </a:r>
            <a:r>
              <a:rPr lang="en-US" b="1" dirty="0"/>
              <a:t>packet</a:t>
            </a:r>
            <a:r>
              <a:rPr lang="en-US" dirty="0" smtClean="0"/>
              <a:t>.</a:t>
            </a:r>
          </a:p>
          <a:p>
            <a:r>
              <a:rPr lang="en-US" dirty="0"/>
              <a:t>Part of the information included in a packet header is the address information </a:t>
            </a:r>
            <a:r>
              <a:rPr lang="en-US" dirty="0" smtClean="0"/>
              <a:t>needed to find </a:t>
            </a:r>
            <a:r>
              <a:rPr lang="en-US" dirty="0"/>
              <a:t>the computer that is to receive the packet. The address information includes </a:t>
            </a:r>
            <a:r>
              <a:rPr lang="en-US" dirty="0" smtClean="0"/>
              <a:t>three levels</a:t>
            </a:r>
            <a:r>
              <a:rPr lang="en-US" dirty="0"/>
              <a:t>: the address at the hardware level (called a MAC address), the address at the OS </a:t>
            </a:r>
            <a:r>
              <a:rPr lang="en-US" dirty="0" smtClean="0"/>
              <a:t>level (called </a:t>
            </a:r>
            <a:r>
              <a:rPr lang="en-US" dirty="0"/>
              <a:t>an IP address), and the address at the application level (called a port address).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92393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617538"/>
            <a:ext cx="8712968" cy="1143000"/>
          </a:xfrm>
        </p:spPr>
        <p:txBody>
          <a:bodyPr/>
          <a:lstStyle/>
          <a:p>
            <a:r>
              <a:rPr lang="en-US" dirty="0"/>
              <a:t>LAYERS OF NETWORK </a:t>
            </a:r>
            <a:r>
              <a:rPr lang="en-US" dirty="0" smtClean="0"/>
              <a:t>COMMUNICATION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17712"/>
            <a:ext cx="9144000" cy="5011687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smtClean="0"/>
              <a:t> </a:t>
            </a: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973163"/>
            <a:ext cx="6218459" cy="480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434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1: Hardware level.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17713"/>
            <a:ext cx="8955088" cy="4114800"/>
          </a:xfrm>
        </p:spPr>
        <p:txBody>
          <a:bodyPr/>
          <a:lstStyle/>
          <a:p>
            <a:r>
              <a:rPr lang="en-US" dirty="0" smtClean="0"/>
              <a:t>This is </a:t>
            </a:r>
            <a:r>
              <a:rPr lang="en-US" dirty="0"/>
              <a:t>the root level of </a:t>
            </a:r>
            <a:r>
              <a:rPr lang="en-US" dirty="0" smtClean="0"/>
              <a:t>communication. </a:t>
            </a:r>
            <a:r>
              <a:rPr lang="en-US" dirty="0"/>
              <a:t>The </a:t>
            </a:r>
            <a:r>
              <a:rPr lang="en-US" dirty="0" smtClean="0"/>
              <a:t>hardware or </a:t>
            </a:r>
            <a:r>
              <a:rPr lang="en-US" dirty="0"/>
              <a:t>physical connection might be wireless or might use network cables, </a:t>
            </a:r>
            <a:r>
              <a:rPr lang="en-US" dirty="0" smtClean="0"/>
              <a:t>phone lines </a:t>
            </a:r>
            <a:r>
              <a:rPr lang="en-US" dirty="0"/>
              <a:t>(for DSL or dial-up), or TV cable lines (for a cable modem). For local wired </a:t>
            </a:r>
            <a:r>
              <a:rPr lang="en-US" dirty="0" smtClean="0"/>
              <a:t>or wireless </a:t>
            </a:r>
            <a:r>
              <a:rPr lang="en-US" dirty="0"/>
              <a:t>networks, a </a:t>
            </a:r>
            <a:r>
              <a:rPr lang="en-US" b="1" dirty="0"/>
              <a:t>network adapter </a:t>
            </a:r>
            <a:r>
              <a:rPr lang="en-US" dirty="0" smtClean="0"/>
              <a:t>inside </a:t>
            </a:r>
            <a:r>
              <a:rPr lang="en-US" dirty="0"/>
              <a:t>your computer is part of this physical network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52051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1: Hardware </a:t>
            </a:r>
            <a:r>
              <a:rPr lang="en-US" dirty="0" smtClean="0"/>
              <a:t>level…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17713"/>
            <a:ext cx="8955088" cy="4114800"/>
          </a:xfrm>
        </p:spPr>
        <p:txBody>
          <a:bodyPr/>
          <a:lstStyle/>
          <a:p>
            <a:r>
              <a:rPr lang="en-US" dirty="0"/>
              <a:t>Every </a:t>
            </a:r>
            <a:r>
              <a:rPr lang="en-US" dirty="0" smtClean="0"/>
              <a:t>network adapter has </a:t>
            </a:r>
            <a:r>
              <a:rPr lang="en-US" dirty="0"/>
              <a:t>a 48-bit (6-byte) number hard-coded on the card by </a:t>
            </a:r>
            <a:r>
              <a:rPr lang="en-US" dirty="0" smtClean="0"/>
              <a:t>its manufacturer </a:t>
            </a:r>
            <a:r>
              <a:rPr lang="en-US" dirty="0"/>
              <a:t>that is unique for that device (see Figure 15-3). The number is written </a:t>
            </a:r>
            <a:r>
              <a:rPr lang="en-US" dirty="0" smtClean="0"/>
              <a:t>in hex</a:t>
            </a:r>
            <a:r>
              <a:rPr lang="en-US" dirty="0"/>
              <a:t>, and is called the </a:t>
            </a:r>
            <a:r>
              <a:rPr lang="en-US" b="1" dirty="0"/>
              <a:t>MAC (Media Access Control) </a:t>
            </a:r>
            <a:r>
              <a:rPr lang="en-US" b="1" dirty="0" smtClean="0"/>
              <a:t>address</a:t>
            </a:r>
            <a:r>
              <a:rPr lang="en-US" b="1" dirty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36748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2: Operating system level.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17713"/>
            <a:ext cx="8955088" cy="4114800"/>
          </a:xfrm>
        </p:spPr>
        <p:txBody>
          <a:bodyPr/>
          <a:lstStyle/>
          <a:p>
            <a:r>
              <a:rPr lang="en-US" dirty="0"/>
              <a:t>Operating systems use IP addresses to </a:t>
            </a:r>
            <a:r>
              <a:rPr lang="en-US" dirty="0" smtClean="0"/>
              <a:t>find </a:t>
            </a:r>
            <a:r>
              <a:rPr lang="en-US" dirty="0"/>
              <a:t>other </a:t>
            </a:r>
            <a:r>
              <a:rPr lang="en-US" dirty="0" smtClean="0"/>
              <a:t>computers on </a:t>
            </a:r>
            <a:r>
              <a:rPr lang="en-US" dirty="0"/>
              <a:t>a network. </a:t>
            </a:r>
            <a:endParaRPr lang="en-US" dirty="0" smtClean="0"/>
          </a:p>
          <a:p>
            <a:r>
              <a:rPr lang="en-US" dirty="0" smtClean="0"/>
              <a:t>An </a:t>
            </a:r>
            <a:r>
              <a:rPr lang="en-US" b="1" dirty="0"/>
              <a:t>IP address </a:t>
            </a:r>
            <a:r>
              <a:rPr lang="en-US" dirty="0"/>
              <a:t>is a 32-bit or 128-bit string that is assigned to </a:t>
            </a:r>
            <a:r>
              <a:rPr lang="en-US" dirty="0" smtClean="0"/>
              <a:t>a network </a:t>
            </a:r>
            <a:r>
              <a:rPr lang="en-US" dirty="0"/>
              <a:t>connection when the connection is </a:t>
            </a:r>
            <a:r>
              <a:rPr lang="en-US" dirty="0" smtClean="0"/>
              <a:t>first </a:t>
            </a:r>
            <a:r>
              <a:rPr lang="en-US" dirty="0"/>
              <a:t>made. </a:t>
            </a:r>
            <a:endParaRPr lang="en-US" dirty="0" smtClean="0"/>
          </a:p>
          <a:p>
            <a:r>
              <a:rPr lang="en-US" dirty="0" smtClean="0"/>
              <a:t>Whereas </a:t>
            </a:r>
            <a:r>
              <a:rPr lang="en-US" dirty="0"/>
              <a:t>a MAC address </a:t>
            </a:r>
            <a:r>
              <a:rPr lang="en-US" dirty="0" smtClean="0"/>
              <a:t>is only </a:t>
            </a:r>
            <a:r>
              <a:rPr lang="en-US" dirty="0"/>
              <a:t>used to </a:t>
            </a:r>
            <a:r>
              <a:rPr lang="en-US" dirty="0" smtClean="0"/>
              <a:t>find </a:t>
            </a:r>
            <a:r>
              <a:rPr lang="en-US" dirty="0"/>
              <a:t>a computer on a local network, an IP address can be used to </a:t>
            </a:r>
            <a:r>
              <a:rPr lang="en-US" dirty="0" smtClean="0"/>
              <a:t>find a computer </a:t>
            </a:r>
            <a:r>
              <a:rPr lang="en-US" dirty="0"/>
              <a:t>anywhere on the Internet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62042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3: Application level.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17713"/>
            <a:ext cx="8955088" cy="4114800"/>
          </a:xfrm>
        </p:spPr>
        <p:txBody>
          <a:bodyPr/>
          <a:lstStyle/>
          <a:p>
            <a:r>
              <a:rPr lang="en-US" dirty="0"/>
              <a:t>Most applications used on the Internet or a local </a:t>
            </a:r>
            <a:r>
              <a:rPr lang="en-US" dirty="0" smtClean="0"/>
              <a:t>network are </a:t>
            </a:r>
            <a:r>
              <a:rPr lang="en-US" dirty="0"/>
              <a:t>client/server </a:t>
            </a:r>
            <a:r>
              <a:rPr lang="en-US" dirty="0" smtClean="0"/>
              <a:t>applications.</a:t>
            </a:r>
          </a:p>
          <a:p>
            <a:r>
              <a:rPr lang="en-US" dirty="0" smtClean="0"/>
              <a:t>Client </a:t>
            </a:r>
            <a:r>
              <a:rPr lang="en-US" dirty="0"/>
              <a:t>applications, such as Internet Explorer, </a:t>
            </a:r>
            <a:r>
              <a:rPr lang="en-US" dirty="0" smtClean="0"/>
              <a:t>Google Chrome</a:t>
            </a:r>
            <a:r>
              <a:rPr lang="en-US" dirty="0"/>
              <a:t>, or Outlook, communicate with server applications such as a web server </a:t>
            </a:r>
            <a:r>
              <a:rPr lang="en-US" dirty="0" smtClean="0"/>
              <a:t>or email server.</a:t>
            </a:r>
          </a:p>
          <a:p>
            <a:r>
              <a:rPr lang="en-US" dirty="0" smtClean="0"/>
              <a:t>Each </a:t>
            </a:r>
            <a:r>
              <a:rPr lang="en-US" dirty="0"/>
              <a:t>client and server application installed on a computer listens at </a:t>
            </a:r>
            <a:r>
              <a:rPr lang="en-US" dirty="0" smtClean="0"/>
              <a:t>a predetermined address (</a:t>
            </a:r>
            <a:r>
              <a:rPr lang="en-US" b="1" dirty="0"/>
              <a:t>port number</a:t>
            </a:r>
            <a:r>
              <a:rPr lang="en-US" dirty="0"/>
              <a:t>, </a:t>
            </a:r>
            <a:r>
              <a:rPr lang="en-US" b="1" dirty="0"/>
              <a:t>port</a:t>
            </a:r>
            <a:r>
              <a:rPr lang="en-US" dirty="0"/>
              <a:t>, or </a:t>
            </a:r>
            <a:r>
              <a:rPr lang="en-US" b="1" dirty="0"/>
              <a:t>port address</a:t>
            </a:r>
            <a:r>
              <a:rPr lang="en-US" dirty="0" smtClean="0"/>
              <a:t>) </a:t>
            </a:r>
            <a:r>
              <a:rPr lang="en-US" dirty="0"/>
              <a:t>that uniquely </a:t>
            </a:r>
            <a:r>
              <a:rPr lang="en-US" dirty="0" smtClean="0"/>
              <a:t>identifies </a:t>
            </a:r>
            <a:r>
              <a:rPr lang="en-US" dirty="0"/>
              <a:t>the application on the computer.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06078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IP ADDRESSES GET ASSIGNED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17713"/>
            <a:ext cx="8955088" cy="4114800"/>
          </a:xfrm>
        </p:spPr>
        <p:txBody>
          <a:bodyPr/>
          <a:lstStyle/>
          <a:p>
            <a:r>
              <a:rPr lang="en-US" dirty="0"/>
              <a:t>A MAC address is embedded on a network adapter at the factory, but IP addresses </a:t>
            </a:r>
            <a:r>
              <a:rPr lang="en-US" dirty="0" smtClean="0"/>
              <a:t>are assigned </a:t>
            </a:r>
            <a:r>
              <a:rPr lang="en-US" dirty="0"/>
              <a:t>manually or by software. </a:t>
            </a:r>
            <a:endParaRPr lang="en-US" dirty="0" smtClean="0"/>
          </a:p>
          <a:p>
            <a:r>
              <a:rPr lang="en-US" dirty="0" smtClean="0"/>
              <a:t>IP </a:t>
            </a:r>
            <a:r>
              <a:rPr lang="en-US" dirty="0"/>
              <a:t>address can be </a:t>
            </a:r>
            <a:r>
              <a:rPr lang="en-US" dirty="0" smtClean="0"/>
              <a:t>a </a:t>
            </a:r>
            <a:r>
              <a:rPr lang="en-US" b="1" dirty="0" smtClean="0"/>
              <a:t>dynamic </a:t>
            </a:r>
            <a:r>
              <a:rPr lang="en-US" b="1" dirty="0"/>
              <a:t>IP address </a:t>
            </a:r>
            <a:r>
              <a:rPr lang="en-US" dirty="0"/>
              <a:t>(IP address is assigned by a server each time it connects to the </a:t>
            </a:r>
            <a:r>
              <a:rPr lang="en-US" dirty="0" smtClean="0"/>
              <a:t>network) or </a:t>
            </a:r>
            <a:r>
              <a:rPr lang="en-US" dirty="0"/>
              <a:t>a </a:t>
            </a:r>
            <a:r>
              <a:rPr lang="en-US" b="1" dirty="0"/>
              <a:t>static IP address </a:t>
            </a:r>
            <a:r>
              <a:rPr lang="en-US" dirty="0"/>
              <a:t>(IP address is permanently assigned to the computer or device).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7266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IP ADDRESSES GET </a:t>
            </a:r>
            <a:r>
              <a:rPr lang="en-US" b="1" dirty="0" smtClean="0"/>
              <a:t>ASSIGNED…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17713"/>
            <a:ext cx="8955088" cy="4114800"/>
          </a:xfrm>
        </p:spPr>
        <p:txBody>
          <a:bodyPr/>
          <a:lstStyle/>
          <a:p>
            <a:r>
              <a:rPr lang="en-US" dirty="0"/>
              <a:t>For dynamic IP addresses, a </a:t>
            </a:r>
            <a:r>
              <a:rPr lang="en-US" b="1" dirty="0"/>
              <a:t>DHCP (dynamic host </a:t>
            </a:r>
            <a:r>
              <a:rPr lang="en-US" b="1" dirty="0" smtClean="0"/>
              <a:t>configuration </a:t>
            </a:r>
            <a:r>
              <a:rPr lang="en-US" b="1" dirty="0"/>
              <a:t>protocol) </a:t>
            </a:r>
            <a:r>
              <a:rPr lang="en-US" dirty="0"/>
              <a:t>server gives </a:t>
            </a:r>
            <a:r>
              <a:rPr lang="en-US" dirty="0" smtClean="0"/>
              <a:t>an IP </a:t>
            </a:r>
            <a:r>
              <a:rPr lang="en-US" dirty="0"/>
              <a:t>address to a computer when it </a:t>
            </a:r>
            <a:r>
              <a:rPr lang="en-US" dirty="0" smtClean="0"/>
              <a:t>first </a:t>
            </a:r>
            <a:r>
              <a:rPr lang="en-US" dirty="0"/>
              <a:t>attempts to initiate a connection to the network </a:t>
            </a:r>
            <a:r>
              <a:rPr lang="en-US" dirty="0" smtClean="0"/>
              <a:t>and requests </a:t>
            </a:r>
            <a:r>
              <a:rPr lang="en-US" dirty="0"/>
              <a:t>an IP address</a:t>
            </a:r>
            <a:r>
              <a:rPr lang="en-US" dirty="0" smtClean="0"/>
              <a:t>.</a:t>
            </a:r>
          </a:p>
          <a:p>
            <a:r>
              <a:rPr lang="en-US" dirty="0"/>
              <a:t>An IP address has 32 bits or 128 bits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3985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IP ADDRESSES GET </a:t>
            </a:r>
            <a:r>
              <a:rPr lang="en-US" b="1" dirty="0" smtClean="0"/>
              <a:t>ASSIGNED…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17713"/>
            <a:ext cx="8955088" cy="4114800"/>
          </a:xfrm>
        </p:spPr>
        <p:txBody>
          <a:bodyPr/>
          <a:lstStyle/>
          <a:p>
            <a:r>
              <a:rPr lang="en-US" dirty="0"/>
              <a:t>IPv6 addresses are written as eight groups of four hexadecimal digits, separated by colons (e.g., 2001:0db8:0000:0042:0000:8a2e:0370:7334).</a:t>
            </a:r>
          </a:p>
          <a:p>
            <a:r>
              <a:rPr lang="en-US" dirty="0" smtClean="0"/>
              <a:t>Groups </a:t>
            </a:r>
            <a:r>
              <a:rPr lang="en-US" dirty="0"/>
              <a:t>of consecutive zeros can be abbreviated with :: (e.g., 2001:db8::42:0:8a2e:370:7334).</a:t>
            </a:r>
          </a:p>
        </p:txBody>
      </p:sp>
    </p:spTree>
    <p:extLst>
      <p:ext uri="{BB962C8B-B14F-4D97-AF65-F5344CB8AC3E}">
        <p14:creationId xmlns:p14="http://schemas.microsoft.com/office/powerpoint/2010/main" val="117102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IPV4 IP ADDRESSES ARE USED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17713"/>
            <a:ext cx="8955088" cy="4114800"/>
          </a:xfrm>
        </p:spPr>
        <p:txBody>
          <a:bodyPr/>
          <a:lstStyle/>
          <a:p>
            <a:r>
              <a:rPr lang="en-US" dirty="0"/>
              <a:t>A 32-bit IP address is organized into four groups of eight bits each, which are presented </a:t>
            </a:r>
            <a:r>
              <a:rPr lang="en-US" dirty="0" smtClean="0"/>
              <a:t>as four </a:t>
            </a:r>
            <a:r>
              <a:rPr lang="en-US" dirty="0"/>
              <a:t>decimal numbers separated by periods, such </a:t>
            </a:r>
            <a:r>
              <a:rPr lang="en-US" dirty="0" smtClean="0"/>
              <a:t>as 72.56.105.12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largest </a:t>
            </a:r>
            <a:r>
              <a:rPr lang="en-US" dirty="0" smtClean="0"/>
              <a:t>possible 8-bit </a:t>
            </a:r>
            <a:r>
              <a:rPr lang="en-US" dirty="0"/>
              <a:t>number is 11111111, which is equal to 255 in decimal, so the largest possible </a:t>
            </a:r>
            <a:r>
              <a:rPr lang="en-US" dirty="0" smtClean="0"/>
              <a:t>IP address </a:t>
            </a:r>
            <a:r>
              <a:rPr lang="en-US" dirty="0"/>
              <a:t>in decimal is 255.255.255.255, which in binary is </a:t>
            </a:r>
            <a:r>
              <a:rPr lang="en-US" dirty="0" smtClean="0"/>
              <a:t>11111111.11111111.11111111.11111111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27244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IPV4 IP ADDRESSES ARE </a:t>
            </a:r>
            <a:r>
              <a:rPr lang="en-US" b="1" dirty="0" smtClean="0"/>
              <a:t>USED…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17713"/>
            <a:ext cx="8955088" cy="4114800"/>
          </a:xfrm>
        </p:spPr>
        <p:txBody>
          <a:bodyPr/>
          <a:lstStyle/>
          <a:p>
            <a:r>
              <a:rPr lang="en-US" dirty="0"/>
              <a:t>Each of the four numbers separated by periods is called an </a:t>
            </a:r>
            <a:r>
              <a:rPr lang="en-US" b="1" dirty="0"/>
              <a:t>octet </a:t>
            </a:r>
            <a:r>
              <a:rPr lang="en-US" dirty="0"/>
              <a:t>(for 8 bits) </a:t>
            </a:r>
            <a:r>
              <a:rPr lang="en-US" dirty="0" smtClean="0"/>
              <a:t>and can </a:t>
            </a:r>
            <a:r>
              <a:rPr lang="en-US" dirty="0"/>
              <a:t>be any number from 0 to 255, making a total of about 4.3 billion IP addresses (256 </a:t>
            </a:r>
            <a:r>
              <a:rPr lang="en-US" dirty="0" smtClean="0"/>
              <a:t>256  </a:t>
            </a:r>
            <a:r>
              <a:rPr lang="en-US" dirty="0"/>
              <a:t>256  256). </a:t>
            </a:r>
            <a:endParaRPr lang="en-US" dirty="0" smtClean="0"/>
          </a:p>
          <a:p>
            <a:r>
              <a:rPr lang="en-US" dirty="0"/>
              <a:t>Some IP addresses are reserved, so these numbers are </a:t>
            </a:r>
            <a:r>
              <a:rPr lang="en-US" dirty="0" smtClean="0"/>
              <a:t>approximations. E.g. </a:t>
            </a:r>
            <a:r>
              <a:rPr lang="en-US" b="1" dirty="0"/>
              <a:t>Private IP Addresses </a:t>
            </a:r>
            <a:r>
              <a:rPr lang="en-US" dirty="0"/>
              <a:t>(for internal networks</a:t>
            </a:r>
            <a:r>
              <a:rPr lang="en-US" dirty="0" smtClean="0"/>
              <a:t>), </a:t>
            </a:r>
            <a:r>
              <a:rPr lang="en-US" b="1" dirty="0"/>
              <a:t>Loopback </a:t>
            </a:r>
            <a:r>
              <a:rPr lang="en-US" b="1" dirty="0" smtClean="0"/>
              <a:t>Addresses</a:t>
            </a:r>
            <a:r>
              <a:rPr lang="en-US" dirty="0" smtClean="0"/>
              <a:t> </a:t>
            </a:r>
            <a:r>
              <a:rPr lang="en-US" dirty="0"/>
              <a:t>(Used by a host to send network traffic to </a:t>
            </a:r>
            <a:r>
              <a:rPr lang="en-US" dirty="0" smtClean="0"/>
              <a:t>itself), </a:t>
            </a:r>
            <a:r>
              <a:rPr lang="en-US" b="1" dirty="0"/>
              <a:t>Link-Local </a:t>
            </a:r>
            <a:r>
              <a:rPr lang="en-US" b="1" dirty="0" smtClean="0"/>
              <a:t>Addresses </a:t>
            </a:r>
            <a:r>
              <a:rPr lang="en-US" dirty="0"/>
              <a:t>(Used for communication between devices on the same physical link</a:t>
            </a:r>
            <a:r>
              <a:rPr lang="en-US" dirty="0" smtClean="0"/>
              <a:t>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988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IPV4 IP ADDRESSES ARE </a:t>
            </a:r>
            <a:r>
              <a:rPr lang="en-US" b="1" dirty="0" smtClean="0"/>
              <a:t>USED…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17713"/>
            <a:ext cx="9144000" cy="41148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smtClean="0"/>
              <a:t>first </a:t>
            </a:r>
            <a:r>
              <a:rPr lang="en-US" dirty="0"/>
              <a:t>part of an IP address </a:t>
            </a:r>
            <a:r>
              <a:rPr lang="en-US" dirty="0" smtClean="0"/>
              <a:t>identifies </a:t>
            </a:r>
            <a:r>
              <a:rPr lang="en-US" dirty="0"/>
              <a:t>the network, and the last part </a:t>
            </a:r>
            <a:r>
              <a:rPr lang="en-US" dirty="0" smtClean="0"/>
              <a:t>identifies </a:t>
            </a:r>
            <a:r>
              <a:rPr lang="en-US" dirty="0"/>
              <a:t>the host.</a:t>
            </a:r>
          </a:p>
          <a:p>
            <a:r>
              <a:rPr lang="en-US" dirty="0"/>
              <a:t>When data is routed over the Internet, the network portion of the IP address is used </a:t>
            </a:r>
            <a:r>
              <a:rPr lang="en-US" dirty="0" smtClean="0"/>
              <a:t>to locate </a:t>
            </a:r>
            <a:r>
              <a:rPr lang="en-US" dirty="0"/>
              <a:t>the right network. After the data arrives at the local network, the host portion of </a:t>
            </a:r>
            <a:r>
              <a:rPr lang="en-US" dirty="0" smtClean="0"/>
              <a:t>the IP </a:t>
            </a:r>
            <a:r>
              <a:rPr lang="en-US" dirty="0"/>
              <a:t>address is used to identify the one computer on the network that is to receive the data.</a:t>
            </a:r>
          </a:p>
          <a:p>
            <a:r>
              <a:rPr lang="en-US" dirty="0"/>
              <a:t>Finally, the IP address of the host must be used to identify its MAC address so the data </a:t>
            </a:r>
            <a:r>
              <a:rPr lang="en-US" dirty="0" smtClean="0"/>
              <a:t>can travel </a:t>
            </a:r>
            <a:r>
              <a:rPr lang="en-US" dirty="0"/>
              <a:t>on the host’s LAN to that host.</a:t>
            </a:r>
          </a:p>
        </p:txBody>
      </p:sp>
    </p:spTree>
    <p:extLst>
      <p:ext uri="{BB962C8B-B14F-4D97-AF65-F5344CB8AC3E}">
        <p14:creationId xmlns:p14="http://schemas.microsoft.com/office/powerpoint/2010/main" val="1693838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CLASSES OF IP ADDRESSES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17713"/>
            <a:ext cx="9144000" cy="4114800"/>
          </a:xfrm>
        </p:spPr>
        <p:txBody>
          <a:bodyPr/>
          <a:lstStyle/>
          <a:p>
            <a:r>
              <a:rPr lang="en-US" dirty="0"/>
              <a:t>IPv4 IP addresses are divided into three classes: Class A, Class B, and Class C. IP </a:t>
            </a:r>
            <a:r>
              <a:rPr lang="en-US" dirty="0" smtClean="0"/>
              <a:t>addresses belong </a:t>
            </a:r>
            <a:r>
              <a:rPr lang="en-US" dirty="0"/>
              <a:t>in each class according to the scheme outlined in </a:t>
            </a:r>
            <a:r>
              <a:rPr lang="en-US" dirty="0" smtClean="0"/>
              <a:t>Table below:</a:t>
            </a:r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3717032"/>
            <a:ext cx="8708821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521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CLASSES OF IP </a:t>
            </a:r>
            <a:r>
              <a:rPr lang="en-US" b="1" dirty="0" smtClean="0"/>
              <a:t>ADDRESSES…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17713"/>
            <a:ext cx="9144000" cy="4114800"/>
          </a:xfrm>
        </p:spPr>
        <p:txBody>
          <a:bodyPr/>
          <a:lstStyle/>
          <a:p>
            <a:r>
              <a:rPr lang="en-US" b="1" dirty="0"/>
              <a:t>Class A </a:t>
            </a:r>
            <a:r>
              <a:rPr lang="en-US" dirty="0"/>
              <a:t>license is for a single octet, </a:t>
            </a:r>
            <a:r>
              <a:rPr lang="en-US" dirty="0" smtClean="0"/>
              <a:t>which is </a:t>
            </a:r>
            <a:r>
              <a:rPr lang="en-US" dirty="0"/>
              <a:t>the network portion of the IP addresses in that license. The remaining octets can be </a:t>
            </a:r>
            <a:r>
              <a:rPr lang="en-US" dirty="0" smtClean="0"/>
              <a:t>used for </a:t>
            </a:r>
            <a:r>
              <a:rPr lang="en-US" dirty="0"/>
              <a:t>host addresses or to identify subnetworks in the larger network.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example, if a </a:t>
            </a:r>
            <a:r>
              <a:rPr lang="en-US" dirty="0" smtClean="0"/>
              <a:t>company is </a:t>
            </a:r>
            <a:r>
              <a:rPr lang="en-US" dirty="0"/>
              <a:t>assigned 87 as its Class A license, then 87 is the network address and is used </a:t>
            </a:r>
            <a:r>
              <a:rPr lang="en-US" dirty="0" smtClean="0"/>
              <a:t>as the first </a:t>
            </a:r>
            <a:r>
              <a:rPr lang="en-US" dirty="0"/>
              <a:t>octet for every host using this license (87.0.0.1, 87.0.0.2, 87.0.0.3, and so forth).</a:t>
            </a:r>
          </a:p>
        </p:txBody>
      </p:sp>
    </p:spTree>
    <p:extLst>
      <p:ext uri="{BB962C8B-B14F-4D97-AF65-F5344CB8AC3E}">
        <p14:creationId xmlns:p14="http://schemas.microsoft.com/office/powerpoint/2010/main" val="1841866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CLASSES OF IP </a:t>
            </a:r>
            <a:r>
              <a:rPr lang="en-US" b="1" dirty="0" smtClean="0"/>
              <a:t>ADDRESSES…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17713"/>
            <a:ext cx="9144000" cy="4114800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Class B </a:t>
            </a:r>
            <a:r>
              <a:rPr lang="en-US" dirty="0"/>
              <a:t>license leases the </a:t>
            </a:r>
            <a:r>
              <a:rPr lang="en-US" dirty="0" smtClean="0"/>
              <a:t>first </a:t>
            </a:r>
            <a:r>
              <a:rPr lang="en-US" dirty="0"/>
              <a:t>two octets, and these </a:t>
            </a:r>
            <a:r>
              <a:rPr lang="en-US" dirty="0" smtClean="0"/>
              <a:t>first </a:t>
            </a:r>
            <a:r>
              <a:rPr lang="en-US" dirty="0"/>
              <a:t>two octets are used for </a:t>
            </a:r>
            <a:r>
              <a:rPr lang="en-US" dirty="0" smtClean="0"/>
              <a:t>the network </a:t>
            </a:r>
            <a:r>
              <a:rPr lang="en-US" dirty="0"/>
              <a:t>portion and the last two can be used for the host address or for </a:t>
            </a:r>
            <a:r>
              <a:rPr lang="en-US" dirty="0" err="1"/>
              <a:t>subnetting</a:t>
            </a:r>
            <a:r>
              <a:rPr lang="en-US" dirty="0"/>
              <a:t> </a:t>
            </a:r>
            <a:r>
              <a:rPr lang="en-US" dirty="0" smtClean="0"/>
              <a:t>the network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/>
              <a:t>example of a Class B license is 150.35, and examples of IP addresses </a:t>
            </a:r>
            <a:r>
              <a:rPr lang="en-US" dirty="0" smtClean="0"/>
              <a:t>in this </a:t>
            </a:r>
            <a:r>
              <a:rPr lang="en-US" dirty="0"/>
              <a:t>network are 150.35.0.1, 150.35.0.2, and 150.35.0.3.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number of possible values for two octets is about </a:t>
            </a:r>
            <a:r>
              <a:rPr lang="en-US" dirty="0" smtClean="0"/>
              <a:t>256 X 254</a:t>
            </a:r>
            <a:r>
              <a:rPr lang="en-US" dirty="0"/>
              <a:t>, or about 65,000 host addresses in a single Class B license.</a:t>
            </a:r>
          </a:p>
        </p:txBody>
      </p:sp>
    </p:spTree>
    <p:extLst>
      <p:ext uri="{BB962C8B-B14F-4D97-AF65-F5344CB8AC3E}">
        <p14:creationId xmlns:p14="http://schemas.microsoft.com/office/powerpoint/2010/main" val="3257396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CLASSES OF IP </a:t>
            </a:r>
            <a:r>
              <a:rPr lang="en-US" b="1" dirty="0" smtClean="0"/>
              <a:t>ADDRESSES…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17713"/>
            <a:ext cx="9144000" cy="4114800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Class C </a:t>
            </a:r>
            <a:r>
              <a:rPr lang="en-US" dirty="0"/>
              <a:t>license assigns three octets as the network address. With only one octet </a:t>
            </a:r>
            <a:r>
              <a:rPr lang="en-US" dirty="0" smtClean="0"/>
              <a:t>used for </a:t>
            </a:r>
            <a:r>
              <a:rPr lang="en-US" dirty="0"/>
              <a:t>the host addresses, there can be only 254 host addresses on a Class C network or </a:t>
            </a:r>
            <a:r>
              <a:rPr lang="en-US" dirty="0" smtClean="0"/>
              <a:t>its subnetworks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example, if a company is assigned a Class C license for its network </a:t>
            </a:r>
            <a:r>
              <a:rPr lang="en-US" dirty="0" smtClean="0"/>
              <a:t>with a </a:t>
            </a:r>
            <a:r>
              <a:rPr lang="en-US" dirty="0"/>
              <a:t>network address of 200.80.15, some IP addresses on the network would be </a:t>
            </a:r>
            <a:r>
              <a:rPr lang="en-US" dirty="0" smtClean="0"/>
              <a:t>200.80.15.1, 200.80.15.2</a:t>
            </a:r>
            <a:r>
              <a:rPr lang="en-US" dirty="0"/>
              <a:t>, and 200.80.15.3.</a:t>
            </a:r>
          </a:p>
        </p:txBody>
      </p:sp>
    </p:spTree>
    <p:extLst>
      <p:ext uri="{BB962C8B-B14F-4D97-AF65-F5344CB8AC3E}">
        <p14:creationId xmlns:p14="http://schemas.microsoft.com/office/powerpoint/2010/main" val="1902737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CLASSES OF IP </a:t>
            </a:r>
            <a:r>
              <a:rPr lang="en-US" b="1" dirty="0" smtClean="0"/>
              <a:t>ADDRESSES…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17713"/>
            <a:ext cx="9144000" cy="4114800"/>
          </a:xfrm>
        </p:spPr>
        <p:txBody>
          <a:bodyPr/>
          <a:lstStyle/>
          <a:p>
            <a:r>
              <a:rPr lang="en-US" dirty="0"/>
              <a:t>Class D and Class E IP addresses are not available for general use. Class D </a:t>
            </a:r>
            <a:r>
              <a:rPr lang="en-US" dirty="0" smtClean="0"/>
              <a:t>addresses begin </a:t>
            </a:r>
            <a:r>
              <a:rPr lang="en-US" dirty="0"/>
              <a:t>with octets 224 through 239 and are used for </a:t>
            </a:r>
            <a:r>
              <a:rPr lang="en-US" b="1" dirty="0"/>
              <a:t>multicasting</a:t>
            </a:r>
            <a:r>
              <a:rPr lang="en-US" dirty="0"/>
              <a:t>, in which one host </a:t>
            </a:r>
            <a:r>
              <a:rPr lang="en-US" dirty="0" smtClean="0"/>
              <a:t>sends messages </a:t>
            </a:r>
            <a:r>
              <a:rPr lang="en-US" dirty="0"/>
              <a:t>to multiple hosts, such as when the host transmits a video conference over </a:t>
            </a:r>
            <a:r>
              <a:rPr lang="en-US" dirty="0" smtClean="0"/>
              <a:t>the Internet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Class </a:t>
            </a:r>
            <a:r>
              <a:rPr lang="en-US" dirty="0"/>
              <a:t>E addresses begin with 240 through 254 and are reserved for research.</a:t>
            </a:r>
          </a:p>
        </p:txBody>
      </p:sp>
    </p:spTree>
    <p:extLst>
      <p:ext uri="{BB962C8B-B14F-4D97-AF65-F5344CB8AC3E}">
        <p14:creationId xmlns:p14="http://schemas.microsoft.com/office/powerpoint/2010/main" val="3301441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SUBNETS USING IPV4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17713"/>
            <a:ext cx="9144000" cy="4114800"/>
          </a:xfrm>
        </p:spPr>
        <p:txBody>
          <a:bodyPr/>
          <a:lstStyle/>
          <a:p>
            <a:r>
              <a:rPr lang="en-US" dirty="0"/>
              <a:t>Managing a network with so many hosts is not practical unless you </a:t>
            </a:r>
            <a:r>
              <a:rPr lang="en-US" dirty="0" smtClean="0"/>
              <a:t>divide the </a:t>
            </a:r>
            <a:r>
              <a:rPr lang="en-US" dirty="0"/>
              <a:t>network into subnets. </a:t>
            </a:r>
            <a:endParaRPr lang="en-US" dirty="0" smtClean="0"/>
          </a:p>
          <a:p>
            <a:r>
              <a:rPr lang="en-US" dirty="0" smtClean="0"/>
              <a:t>To </a:t>
            </a:r>
            <a:r>
              <a:rPr lang="en-US" dirty="0"/>
              <a:t>divide a network into subnets, you designate part of the </a:t>
            </a:r>
            <a:r>
              <a:rPr lang="en-US" dirty="0" smtClean="0"/>
              <a:t>host portion </a:t>
            </a:r>
            <a:r>
              <a:rPr lang="en-US" dirty="0"/>
              <a:t>of the IP address as a subnet</a:t>
            </a:r>
            <a:r>
              <a:rPr lang="en-US" dirty="0" smtClean="0"/>
              <a:t>.</a:t>
            </a:r>
          </a:p>
          <a:p>
            <a:r>
              <a:rPr lang="en-US" dirty="0"/>
              <a:t>For example, suppose you have a Class A license </a:t>
            </a:r>
            <a:r>
              <a:rPr lang="en-US" dirty="0" smtClean="0"/>
              <a:t>of 69</a:t>
            </a:r>
            <a:r>
              <a:rPr lang="en-US" dirty="0"/>
              <a:t>. Without using subnets, you have one network: the </a:t>
            </a:r>
            <a:r>
              <a:rPr lang="en-US" dirty="0" smtClean="0"/>
              <a:t>first </a:t>
            </a:r>
            <a:r>
              <a:rPr lang="en-US" dirty="0"/>
              <a:t>octet of all the IP addresses </a:t>
            </a:r>
            <a:r>
              <a:rPr lang="en-US" dirty="0" smtClean="0"/>
              <a:t>in this </a:t>
            </a:r>
            <a:r>
              <a:rPr lang="en-US" dirty="0"/>
              <a:t>network is 69; the last three octets are used for host addresses; and the number of </a:t>
            </a:r>
            <a:r>
              <a:rPr lang="en-US" dirty="0" smtClean="0"/>
              <a:t>hosts in </a:t>
            </a:r>
            <a:r>
              <a:rPr lang="en-US" dirty="0"/>
              <a:t>this one network is about 16 million.</a:t>
            </a:r>
          </a:p>
        </p:txBody>
      </p:sp>
    </p:spTree>
    <p:extLst>
      <p:ext uri="{BB962C8B-B14F-4D97-AF65-F5344CB8AC3E}">
        <p14:creationId xmlns:p14="http://schemas.microsoft.com/office/powerpoint/2010/main" val="1582714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SUBNETS USING </a:t>
            </a:r>
            <a:r>
              <a:rPr lang="en-US" b="1" dirty="0" smtClean="0"/>
              <a:t>IPV4…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17713"/>
            <a:ext cx="9144000" cy="4114800"/>
          </a:xfrm>
        </p:spPr>
        <p:txBody>
          <a:bodyPr/>
          <a:lstStyle/>
          <a:p>
            <a:r>
              <a:rPr lang="en-US" dirty="0"/>
              <a:t>Suppose you divide this one network into </a:t>
            </a:r>
            <a:r>
              <a:rPr lang="en-US" dirty="0" smtClean="0"/>
              <a:t>256 subnets </a:t>
            </a:r>
            <a:r>
              <a:rPr lang="en-US" dirty="0"/>
              <a:t>by using the second octet for the subnet address. (The subnets are 69.0.x.y </a:t>
            </a:r>
            <a:r>
              <a:rPr lang="en-US" dirty="0" smtClean="0"/>
              <a:t>through 69.255.x.y</a:t>
            </a:r>
            <a:r>
              <a:rPr lang="en-US" dirty="0"/>
              <a:t>.) The last two octets are used for host addresses in each subnet with a </a:t>
            </a:r>
            <a:r>
              <a:rPr lang="en-US" dirty="0" smtClean="0"/>
              <a:t>potential of </a:t>
            </a:r>
            <a:r>
              <a:rPr lang="en-US" dirty="0"/>
              <a:t>about 65,000 hosts in each subnet (256 x 254</a:t>
            </a:r>
            <a:r>
              <a:rPr lang="en-US" dirty="0" smtClean="0"/>
              <a:t>).</a:t>
            </a:r>
          </a:p>
          <a:p>
            <a:r>
              <a:rPr lang="en-US" dirty="0"/>
              <a:t>The </a:t>
            </a:r>
            <a:r>
              <a:rPr lang="en-US" b="1" dirty="0"/>
              <a:t>subnet mask </a:t>
            </a:r>
            <a:r>
              <a:rPr lang="en-US" dirty="0"/>
              <a:t>used with IPv4 </a:t>
            </a:r>
            <a:r>
              <a:rPr lang="en-US" dirty="0" smtClean="0"/>
              <a:t>identifies </a:t>
            </a:r>
            <a:r>
              <a:rPr lang="en-US" dirty="0"/>
              <a:t>which part of an IP address is the </a:t>
            </a:r>
            <a:r>
              <a:rPr lang="en-US" dirty="0" smtClean="0"/>
              <a:t>network portion </a:t>
            </a:r>
            <a:r>
              <a:rPr lang="en-US" dirty="0"/>
              <a:t>and which part is the host portion.</a:t>
            </a:r>
          </a:p>
        </p:txBody>
      </p:sp>
    </p:spTree>
    <p:extLst>
      <p:ext uri="{BB962C8B-B14F-4D97-AF65-F5344CB8AC3E}">
        <p14:creationId xmlns:p14="http://schemas.microsoft.com/office/powerpoint/2010/main" val="279216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SUBNETS USING </a:t>
            </a:r>
            <a:r>
              <a:rPr lang="en-US" b="1" dirty="0" smtClean="0"/>
              <a:t>IPV4…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17713"/>
            <a:ext cx="9144000" cy="41148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subnet mask </a:t>
            </a:r>
            <a:r>
              <a:rPr lang="en-US" dirty="0"/>
              <a:t>used with IPv4 </a:t>
            </a:r>
            <a:r>
              <a:rPr lang="en-US" dirty="0" smtClean="0"/>
              <a:t>identifies </a:t>
            </a:r>
            <a:r>
              <a:rPr lang="en-US" dirty="0"/>
              <a:t>which part of an IP address is the </a:t>
            </a:r>
            <a:r>
              <a:rPr lang="en-US" dirty="0" smtClean="0"/>
              <a:t>network portion </a:t>
            </a:r>
            <a:r>
              <a:rPr lang="en-US" dirty="0"/>
              <a:t>and which part is the host portion. </a:t>
            </a:r>
            <a:endParaRPr lang="en-US" dirty="0" smtClean="0"/>
          </a:p>
          <a:p>
            <a:r>
              <a:rPr lang="en-US" dirty="0" smtClean="0"/>
              <a:t>Using </a:t>
            </a:r>
            <a:r>
              <a:rPr lang="en-US" dirty="0"/>
              <a:t>a subnet mask, a computer or </a:t>
            </a:r>
            <a:r>
              <a:rPr lang="en-US" dirty="0" smtClean="0"/>
              <a:t>other device </a:t>
            </a:r>
            <a:r>
              <a:rPr lang="en-US" dirty="0"/>
              <a:t>can know if an IP address of another computer is on its network or another </a:t>
            </a:r>
            <a:r>
              <a:rPr lang="en-US" dirty="0" smtClean="0"/>
              <a:t>network.</a:t>
            </a:r>
          </a:p>
          <a:p>
            <a:r>
              <a:rPr lang="en-US" dirty="0"/>
              <a:t>If you don’t divide a network into subnets, the default subnet mask is used, which </a:t>
            </a:r>
            <a:r>
              <a:rPr lang="en-US" dirty="0" smtClean="0"/>
              <a:t>is called </a:t>
            </a:r>
            <a:r>
              <a:rPr lang="en-US" dirty="0"/>
              <a:t>a </a:t>
            </a:r>
            <a:r>
              <a:rPr lang="en-US" b="1" dirty="0" err="1"/>
              <a:t>classful</a:t>
            </a:r>
            <a:r>
              <a:rPr lang="en-US" b="1" dirty="0"/>
              <a:t> subnet mask </a:t>
            </a:r>
            <a:r>
              <a:rPr lang="en-US" dirty="0"/>
              <a:t>because the network portion of the IP address aligns with </a:t>
            </a:r>
            <a:r>
              <a:rPr lang="en-US" dirty="0" smtClean="0"/>
              <a:t>the class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732956869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1814</TotalTime>
  <Words>1743</Words>
  <Application>Microsoft Office PowerPoint</Application>
  <PresentationFormat>On-screen Show (4:3)</PresentationFormat>
  <Paragraphs>108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Tahoma</vt:lpstr>
      <vt:lpstr>Times New Roman</vt:lpstr>
      <vt:lpstr>Wingdings</vt:lpstr>
      <vt:lpstr>Blends</vt:lpstr>
      <vt:lpstr>Connecting to and Setting Up a Network</vt:lpstr>
      <vt:lpstr>UNDERSTANDING TCP/IP AND WINDOWS NETWORKING</vt:lpstr>
      <vt:lpstr>UNDERSTANDING TCP/IP AND WINDOWS NETWORKING…</vt:lpstr>
      <vt:lpstr>Client/Server model</vt:lpstr>
      <vt:lpstr>LAYERS OF NETWORK COMMUNICATION</vt:lpstr>
      <vt:lpstr>LAYERS OF NETWORK COMMUNICATION</vt:lpstr>
      <vt:lpstr>LAYERS OF NETWORK COMMUNICATION</vt:lpstr>
      <vt:lpstr>Level 1: Hardware level.</vt:lpstr>
      <vt:lpstr>Level 1: Hardware level…</vt:lpstr>
      <vt:lpstr>Level 2: Operating system level.</vt:lpstr>
      <vt:lpstr>Level 3: Application level.</vt:lpstr>
      <vt:lpstr>HOW IP ADDRESSES GET ASSIGNED</vt:lpstr>
      <vt:lpstr>HOW IP ADDRESSES GET ASSIGNED…</vt:lpstr>
      <vt:lpstr>HOW IP ADDRESSES GET ASSIGNED…</vt:lpstr>
      <vt:lpstr>HOW IPV4 IP ADDRESSES ARE USED</vt:lpstr>
      <vt:lpstr>HOW IPV4 IP ADDRESSES ARE USED…</vt:lpstr>
      <vt:lpstr>HOW IPV4 IP ADDRESSES ARE USED…</vt:lpstr>
      <vt:lpstr>CLASSES OF IP ADDRESSES</vt:lpstr>
      <vt:lpstr>CLASSES OF IP ADDRESSES…</vt:lpstr>
      <vt:lpstr>CLASSES OF IP ADDRESSES…</vt:lpstr>
      <vt:lpstr>CLASSES OF IP ADDRESSES…</vt:lpstr>
      <vt:lpstr>CLASSES OF IP ADDRESSES…</vt:lpstr>
      <vt:lpstr>SUBNETS USING IPV4</vt:lpstr>
      <vt:lpstr>SUBNETS USING IPV4…</vt:lpstr>
      <vt:lpstr>SUBNETS USING IPV4…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Recovery Services</dc:title>
  <dc:creator>JAMIE</dc:creator>
  <cp:lastModifiedBy>JAMIE</cp:lastModifiedBy>
  <cp:revision>32</cp:revision>
  <dcterms:modified xsi:type="dcterms:W3CDTF">2024-10-02T09:35:32Z</dcterms:modified>
</cp:coreProperties>
</file>