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20"/>
  </p:notesMasterIdLst>
  <p:sldIdLst>
    <p:sldId id="272" r:id="rId2"/>
    <p:sldId id="274" r:id="rId3"/>
    <p:sldId id="275" r:id="rId4"/>
    <p:sldId id="276" r:id="rId5"/>
    <p:sldId id="277" r:id="rId6"/>
    <p:sldId id="278" r:id="rId7"/>
    <p:sldId id="279" r:id="rId8"/>
    <p:sldId id="280" r:id="rId9"/>
    <p:sldId id="282" r:id="rId10"/>
    <p:sldId id="283" r:id="rId11"/>
    <p:sldId id="281" r:id="rId12"/>
    <p:sldId id="284" r:id="rId13"/>
    <p:sldId id="285" r:id="rId14"/>
    <p:sldId id="286" r:id="rId15"/>
    <p:sldId id="287" r:id="rId16"/>
    <p:sldId id="288" r:id="rId17"/>
    <p:sldId id="289" r:id="rId18"/>
    <p:sldId id="290" r:id="rId1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68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64" autoAdjust="0"/>
    <p:restoredTop sz="90929"/>
  </p:normalViewPr>
  <p:slideViewPr>
    <p:cSldViewPr>
      <p:cViewPr varScale="1">
        <p:scale>
          <a:sx n="80" d="100"/>
          <a:sy n="80" d="100"/>
        </p:scale>
        <p:origin x="1690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86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US"/>
          </a:p>
        </p:txBody>
      </p:sp>
      <p:sp>
        <p:nvSpPr>
          <p:cNvPr id="26627" name="Rectangle 1027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en-US"/>
          </a:p>
        </p:txBody>
      </p:sp>
      <p:sp>
        <p:nvSpPr>
          <p:cNvPr id="26628" name="Rectangle 1028"/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6629" name="Rectangle 1029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26630" name="Rectangle 1030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US"/>
          </a:p>
        </p:txBody>
      </p:sp>
      <p:sp>
        <p:nvSpPr>
          <p:cNvPr id="26631" name="Rectangle 1031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F3239792-2F04-4166-92B9-F43DBAA48EB8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i="1" dirty="0" smtClean="0"/>
              <a:t>RAID</a:t>
            </a:r>
            <a:r>
              <a:rPr lang="en-US" dirty="0" smtClean="0"/>
              <a:t> (redundant array of independent disks) is a way of storing the same data in different places on multiple hard disks or solid-state drives (SSDs)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239792-2F04-4166-92B9-F43DBAA48EB8}" type="slidenum">
              <a:rPr lang="en-US" altLang="en-US" smtClean="0"/>
              <a:pPr/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573113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bit-by-bit copy of the original media</a:t>
            </a:r>
            <a:r>
              <a:rPr lang="en-US" dirty="0" smtClean="0"/>
              <a:t>. It is a copy of all the data on the storage device, including unused portions, deleted files, and anything else that may have been on the device.</a:t>
            </a:r>
          </a:p>
          <a:p>
            <a:r>
              <a:rPr lang="en-US" b="1" dirty="0" smtClean="0"/>
              <a:t>Identifying and recovering files based on analysis of file formats</a:t>
            </a:r>
            <a:r>
              <a:rPr lang="en-US" dirty="0" smtClean="0"/>
              <a:t> is known as file carving. In Cyber Forensics, carving is a helpful technique in finding hidden or deleted files from digital media.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239792-2F04-4166-92B9-F43DBAA48EB8}" type="slidenum">
              <a:rPr lang="en-US" altLang="en-US" smtClean="0"/>
              <a:pPr/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328240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Malwarebytes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239792-2F04-4166-92B9-F43DBAA48EB8}" type="slidenum">
              <a:rPr lang="en-US" altLang="en-US" smtClean="0"/>
              <a:pPr/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133607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4099" name="Group 3"/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4100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101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4102" name="Group 6"/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4103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104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4105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06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07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10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en-US" noProof="0" smtClean="0"/>
              <a:t>Click to edit Master title style</a:t>
            </a:r>
          </a:p>
        </p:txBody>
      </p:sp>
      <p:sp>
        <p:nvSpPr>
          <p:cNvPr id="410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en-US" noProof="0" smtClean="0"/>
              <a:t>Click to edit Master subtitle style</a:t>
            </a:r>
          </a:p>
        </p:txBody>
      </p:sp>
      <p:sp>
        <p:nvSpPr>
          <p:cNvPr id="4110" name="Rectangle 14"/>
          <p:cNvSpPr>
            <a:spLocks noGrp="1" noChangeArrowheads="1"/>
          </p:cNvSpPr>
          <p:nvPr>
            <p:ph type="dt" sz="half" idx="2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 altLang="en-US"/>
          </a:p>
        </p:txBody>
      </p:sp>
      <p:sp>
        <p:nvSpPr>
          <p:cNvPr id="4111" name="Rectangle 15"/>
          <p:cNvSpPr>
            <a:spLocks noGrp="1" noChangeArrowheads="1"/>
          </p:cNvSpPr>
          <p:nvPr>
            <p:ph type="ftr" sz="quarter" idx="3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 altLang="en-US"/>
          </a:p>
        </p:txBody>
      </p:sp>
      <p:sp>
        <p:nvSpPr>
          <p:cNvPr id="4112" name="Rectangle 1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BE6BB5AD-5F7E-4257-867A-0AE16FD817AF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494CF56-B700-400D-82C2-97A986DD682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02572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53F582-7FD7-4210-AA27-4FA9D3BC64C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309018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C0C44F0-7E62-4494-B37E-CD941414CF0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401999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8EB57A0-9E85-498B-9EB0-80109F50C61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242373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326497C-7B8C-4F66-BE31-3ACB07F24EA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850617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4EAC01A-0C9B-4598-9141-193246A128C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916245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77B4374-195F-4005-A772-03AFB195B9E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231883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0C67FE-20A2-4151-A333-B59FE1771AF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583867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D33753-446D-4DA4-9B37-ED9DC198D30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15939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4050" y="617538"/>
            <a:ext cx="1951038" cy="551497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0938" y="617538"/>
            <a:ext cx="5700712" cy="5514975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00A8046-BAA0-45BD-9E66-4C6FBF09470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663402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Title, Clip Ar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38" y="617538"/>
            <a:ext cx="7793037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Online Image Placeholder 2"/>
          <p:cNvSpPr>
            <a:spLocks noGrp="1"/>
          </p:cNvSpPr>
          <p:nvPr>
            <p:ph type="clipArt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914400" y="63246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352800" y="63246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723E1BD0-E12F-4ADE-95EE-816CC212442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57262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en-US" altLang="en-US"/>
          </a:p>
        </p:txBody>
      </p:sp>
      <p:sp>
        <p:nvSpPr>
          <p:cNvPr id="3075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en-US" altLang="en-US"/>
          </a:p>
        </p:txBody>
      </p:sp>
      <p:sp>
        <p:nvSpPr>
          <p:cNvPr id="3076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en-US" altLang="en-US"/>
          </a:p>
        </p:txBody>
      </p:sp>
      <p:sp>
        <p:nvSpPr>
          <p:cNvPr id="3077" name="Rectangle 5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en-US" altLang="en-US"/>
          </a:p>
        </p:txBody>
      </p:sp>
      <p:sp>
        <p:nvSpPr>
          <p:cNvPr id="3078" name="Rectangle 6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en-US" altLang="en-US"/>
          </a:p>
        </p:txBody>
      </p:sp>
      <p:sp>
        <p:nvSpPr>
          <p:cNvPr id="3079" name="Rectangle 7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en-US" altLang="en-US"/>
          </a:p>
        </p:txBody>
      </p:sp>
      <p:sp>
        <p:nvSpPr>
          <p:cNvPr id="3080" name="Rectangle 8"/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en-US" altLang="en-US"/>
          </a:p>
        </p:txBody>
      </p:sp>
      <p:sp>
        <p:nvSpPr>
          <p:cNvPr id="3081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617538"/>
            <a:ext cx="7793037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3082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3083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en-US"/>
          </a:p>
        </p:txBody>
      </p:sp>
      <p:sp>
        <p:nvSpPr>
          <p:cNvPr id="308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3246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en-US"/>
          </a:p>
        </p:txBody>
      </p:sp>
      <p:sp>
        <p:nvSpPr>
          <p:cNvPr id="3085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45456DE9-938F-45F0-A6D8-554A20638354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ahoma" panose="020B0604030504040204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ahoma" panose="020B0604030504040204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ahoma" panose="020B0604030504040204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ahoma" panose="020B060403050404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ahoma" panose="020B060403050404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ahoma" panose="020B060403050404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ahoma" panose="020B060403050404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ahoma" panose="020B060403050404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aspe.hhs.gov/report/health-insurance-portability-and-accountability-act-1996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DBE20-757E-474C-AB7B-A056FD71B5C0}" type="slidenum">
              <a:rPr lang="en-US" altLang="en-US"/>
              <a:pPr/>
              <a:t>1</a:t>
            </a:fld>
            <a:endParaRPr lang="en-US" altLang="en-US"/>
          </a:p>
        </p:txBody>
      </p:sp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Recovery Services</a:t>
            </a:r>
            <a:endParaRPr lang="en-US" altLang="en-US" dirty="0"/>
          </a:p>
        </p:txBody>
      </p:sp>
      <p:sp>
        <p:nvSpPr>
          <p:cNvPr id="952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Understanding the Importance and Process of Data Recovery</a:t>
            </a:r>
            <a:endParaRPr lang="en-US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5FA4D-AB9A-46CA-ACDC-4C7A10F4D05C}" type="slidenum">
              <a:rPr lang="en-US" altLang="en-US"/>
              <a:pPr/>
              <a:t>2</a:t>
            </a:fld>
            <a:endParaRPr lang="en-US" altLang="en-US"/>
          </a:p>
        </p:txBody>
      </p:sp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>
                <a:cs typeface="Times New Roman" panose="02020603050405020304" pitchFamily="18" charset="0"/>
              </a:rPr>
              <a:t>I</a:t>
            </a:r>
            <a:r>
              <a:rPr lang="en-US" dirty="0" smtClean="0"/>
              <a:t>ntroduction to Data Recovery</a:t>
            </a:r>
            <a:endParaRPr lang="en-US" altLang="en-US" dirty="0"/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400" b="1" dirty="0" smtClean="0"/>
              <a:t>What is Data Recovery?</a:t>
            </a:r>
          </a:p>
          <a:p>
            <a:r>
              <a:rPr lang="en-US" sz="2400" i="1" dirty="0" smtClean="0"/>
              <a:t>Definition</a:t>
            </a:r>
            <a:r>
              <a:rPr lang="en-US" sz="2400" dirty="0" smtClean="0"/>
              <a:t>: The process of retrieving inaccessible, lost, corrupted, or formatted data from storage devices.</a:t>
            </a:r>
          </a:p>
          <a:p>
            <a:r>
              <a:rPr lang="en-US" sz="2400" i="1" dirty="0" smtClean="0"/>
              <a:t>Importance</a:t>
            </a:r>
            <a:r>
              <a:rPr lang="en-US" sz="2400" dirty="0" smtClean="0"/>
              <a:t>: Data recovery helps prevent data loss due to accidental deletion, hardware failures, malware attacks, etc.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5FA4D-AB9A-46CA-ACDC-4C7A10F4D05C}" type="slidenum">
              <a:rPr lang="en-US" altLang="en-US"/>
              <a:pPr/>
              <a:t>3</a:t>
            </a:fld>
            <a:endParaRPr lang="en-US" altLang="en-US"/>
          </a:p>
        </p:txBody>
      </p:sp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Types of Data Loss</a:t>
            </a:r>
            <a:endParaRPr lang="en-US" altLang="en-US" dirty="0"/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400" b="1" dirty="0"/>
              <a:t>Physical Damage</a:t>
            </a:r>
            <a:r>
              <a:rPr lang="en-US" sz="2400" dirty="0"/>
              <a:t>: Hard drive crashes, water damage, fire damage.</a:t>
            </a:r>
          </a:p>
          <a:p>
            <a:r>
              <a:rPr lang="en-US" sz="2400" b="1" dirty="0" smtClean="0"/>
              <a:t>Logical </a:t>
            </a:r>
            <a:r>
              <a:rPr lang="en-US" sz="2400" b="1" dirty="0"/>
              <a:t>Damage</a:t>
            </a:r>
            <a:r>
              <a:rPr lang="en-US" sz="2400" dirty="0"/>
              <a:t>: Corruption, accidental deletion, malware.</a:t>
            </a:r>
          </a:p>
          <a:p>
            <a:r>
              <a:rPr lang="en-US" sz="2400" b="1" dirty="0" smtClean="0"/>
              <a:t>Human </a:t>
            </a:r>
            <a:r>
              <a:rPr lang="en-US" sz="2400" b="1" dirty="0"/>
              <a:t>Error</a:t>
            </a:r>
            <a:r>
              <a:rPr lang="en-US" sz="2400" dirty="0"/>
              <a:t>: Accidental deletion, formatting.</a:t>
            </a:r>
          </a:p>
          <a:p>
            <a:r>
              <a:rPr lang="en-US" sz="2400" b="1" dirty="0" smtClean="0"/>
              <a:t>Other </a:t>
            </a:r>
            <a:r>
              <a:rPr lang="en-US" sz="2400" b="1" dirty="0"/>
              <a:t>Causes</a:t>
            </a:r>
            <a:r>
              <a:rPr lang="en-US" sz="2400" dirty="0"/>
              <a:t>: Power outages, natural disasters.</a:t>
            </a:r>
          </a:p>
        </p:txBody>
      </p:sp>
    </p:spTree>
    <p:extLst>
      <p:ext uri="{BB962C8B-B14F-4D97-AF65-F5344CB8AC3E}">
        <p14:creationId xmlns:p14="http://schemas.microsoft.com/office/powerpoint/2010/main" val="12406192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5FA4D-AB9A-46CA-ACDC-4C7A10F4D05C}" type="slidenum">
              <a:rPr lang="en-US" altLang="en-US"/>
              <a:pPr/>
              <a:t>4</a:t>
            </a:fld>
            <a:endParaRPr lang="en-US" altLang="en-US"/>
          </a:p>
        </p:txBody>
      </p:sp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Types of Data Recovery Services</a:t>
            </a:r>
            <a:endParaRPr lang="en-US" altLang="en-US" dirty="0"/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400" b="1" dirty="0"/>
              <a:t>Hard Drive Recovery</a:t>
            </a:r>
            <a:r>
              <a:rPr lang="en-US" sz="2400" dirty="0"/>
              <a:t>: Recovering data from damaged or failing hard drives.</a:t>
            </a:r>
          </a:p>
          <a:p>
            <a:r>
              <a:rPr lang="en-US" sz="2400" b="1" dirty="0"/>
              <a:t>RAID Recovery</a:t>
            </a:r>
            <a:r>
              <a:rPr lang="en-US" sz="2400" dirty="0"/>
              <a:t>: Specialized recovery for RAID-configured drives.</a:t>
            </a:r>
          </a:p>
          <a:p>
            <a:r>
              <a:rPr lang="en-US" sz="2400" b="1" dirty="0"/>
              <a:t>SSD Recovery</a:t>
            </a:r>
            <a:r>
              <a:rPr lang="en-US" sz="2400" dirty="0"/>
              <a:t>: Data retrieval from SSDs with unique architecture.</a:t>
            </a:r>
          </a:p>
          <a:p>
            <a:r>
              <a:rPr lang="en-US" sz="2400" b="1" dirty="0"/>
              <a:t>Mobile Device Recovery</a:t>
            </a:r>
            <a:r>
              <a:rPr lang="en-US" sz="2400" dirty="0"/>
              <a:t>: Data recovery from smartphones and tablets.</a:t>
            </a:r>
          </a:p>
          <a:p>
            <a:r>
              <a:rPr lang="en-US" sz="2400" b="1" dirty="0"/>
              <a:t>Cloud Data Recovery</a:t>
            </a:r>
            <a:r>
              <a:rPr lang="en-US" sz="2400" dirty="0"/>
              <a:t>: Retrieving lost data from cloud storage services.</a:t>
            </a:r>
          </a:p>
        </p:txBody>
      </p:sp>
    </p:spTree>
    <p:extLst>
      <p:ext uri="{BB962C8B-B14F-4D97-AF65-F5344CB8AC3E}">
        <p14:creationId xmlns:p14="http://schemas.microsoft.com/office/powerpoint/2010/main" val="29414279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5FA4D-AB9A-46CA-ACDC-4C7A10F4D05C}" type="slidenum">
              <a:rPr lang="en-US" altLang="en-US"/>
              <a:pPr/>
              <a:t>5</a:t>
            </a:fld>
            <a:endParaRPr lang="en-US" altLang="en-US"/>
          </a:p>
        </p:txBody>
      </p:sp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Recovery Process</a:t>
            </a:r>
            <a:endParaRPr lang="en-US" altLang="en-US" dirty="0"/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400" b="1" dirty="0"/>
              <a:t>Step 1</a:t>
            </a:r>
            <a:r>
              <a:rPr lang="en-US" sz="2400" dirty="0"/>
              <a:t>: Initial Assessment - Determine the type and extent of data loss.</a:t>
            </a:r>
          </a:p>
          <a:p>
            <a:r>
              <a:rPr lang="en-US" sz="2400" b="1" dirty="0"/>
              <a:t>Step 2</a:t>
            </a:r>
            <a:r>
              <a:rPr lang="en-US" sz="2400" dirty="0"/>
              <a:t>: Diagnosis - Use specialized tools to diagnose storage devices.</a:t>
            </a:r>
          </a:p>
          <a:p>
            <a:r>
              <a:rPr lang="en-US" sz="2400" b="1" dirty="0"/>
              <a:t>Step 3</a:t>
            </a:r>
            <a:r>
              <a:rPr lang="en-US" sz="2400" dirty="0"/>
              <a:t>: Data Recovery - Employ techniques like cloning, imaging, or software-based recovery.</a:t>
            </a:r>
          </a:p>
          <a:p>
            <a:r>
              <a:rPr lang="en-US" sz="2400" b="1" dirty="0"/>
              <a:t>Step 4</a:t>
            </a:r>
            <a:r>
              <a:rPr lang="en-US" sz="2400" dirty="0"/>
              <a:t>: Data Restoration - Validate and restore recovered data to a safe location.</a:t>
            </a:r>
          </a:p>
          <a:p>
            <a:r>
              <a:rPr lang="en-US" sz="2400" b="1" dirty="0"/>
              <a:t>Step 5</a:t>
            </a:r>
            <a:r>
              <a:rPr lang="en-US" sz="2400" dirty="0"/>
              <a:t>: Post-Recovery Support - Offer solutions for future data protection.</a:t>
            </a:r>
          </a:p>
        </p:txBody>
      </p:sp>
    </p:spTree>
    <p:extLst>
      <p:ext uri="{BB962C8B-B14F-4D97-AF65-F5344CB8AC3E}">
        <p14:creationId xmlns:p14="http://schemas.microsoft.com/office/powerpoint/2010/main" val="23520515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5FA4D-AB9A-46CA-ACDC-4C7A10F4D05C}" type="slidenum">
              <a:rPr lang="en-US" altLang="en-US"/>
              <a:pPr/>
              <a:t>6</a:t>
            </a:fld>
            <a:endParaRPr lang="en-US" altLang="en-US"/>
          </a:p>
        </p:txBody>
      </p:sp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Tools and Techniques Used in Data Recovery</a:t>
            </a:r>
            <a:endParaRPr lang="en-US" altLang="en-US" dirty="0"/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400" b="1" dirty="0"/>
              <a:t>Software Tools</a:t>
            </a:r>
            <a:r>
              <a:rPr lang="en-US" sz="2400" dirty="0"/>
              <a:t>: Disk Drill, </a:t>
            </a:r>
            <a:r>
              <a:rPr lang="en-US" sz="2400" dirty="0" err="1"/>
              <a:t>Recuva</a:t>
            </a:r>
            <a:r>
              <a:rPr lang="en-US" sz="2400" dirty="0"/>
              <a:t>, </a:t>
            </a:r>
            <a:r>
              <a:rPr lang="en-US" sz="2400" dirty="0" err="1"/>
              <a:t>EaseUS</a:t>
            </a:r>
            <a:r>
              <a:rPr lang="en-US" sz="2400" dirty="0"/>
              <a:t> Data Recovery Wizard.</a:t>
            </a:r>
          </a:p>
          <a:p>
            <a:r>
              <a:rPr lang="en-US" sz="2400" b="1" dirty="0"/>
              <a:t>Hardware Tools</a:t>
            </a:r>
            <a:r>
              <a:rPr lang="en-US" sz="2400" dirty="0"/>
              <a:t>: Disk cloning tools, cleanrooms for physical repairs.</a:t>
            </a:r>
          </a:p>
          <a:p>
            <a:r>
              <a:rPr lang="en-US" sz="2400" b="1" dirty="0"/>
              <a:t>Advanced Techniques</a:t>
            </a:r>
            <a:r>
              <a:rPr lang="en-US" sz="2400" dirty="0"/>
              <a:t>: Bit-by-bit imaging, file carving, firmware repair.</a:t>
            </a:r>
          </a:p>
        </p:txBody>
      </p:sp>
    </p:spTree>
    <p:extLst>
      <p:ext uri="{BB962C8B-B14F-4D97-AF65-F5344CB8AC3E}">
        <p14:creationId xmlns:p14="http://schemas.microsoft.com/office/powerpoint/2010/main" val="19675593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5FA4D-AB9A-46CA-ACDC-4C7A10F4D05C}" type="slidenum">
              <a:rPr lang="en-US" altLang="en-US"/>
              <a:pPr/>
              <a:t>7</a:t>
            </a:fld>
            <a:endParaRPr lang="en-US" altLang="en-US"/>
          </a:p>
        </p:txBody>
      </p:sp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Challenges in Data Recovery</a:t>
            </a:r>
            <a:endParaRPr lang="en-US" altLang="en-US" dirty="0"/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400" b="1" dirty="0"/>
              <a:t>Data Overwriting</a:t>
            </a:r>
            <a:r>
              <a:rPr lang="en-US" sz="2400" dirty="0"/>
              <a:t>: Permanent data loss due to overwriting.</a:t>
            </a:r>
          </a:p>
          <a:p>
            <a:r>
              <a:rPr lang="en-US" sz="2400" b="1" dirty="0"/>
              <a:t>Encrypted Data</a:t>
            </a:r>
            <a:r>
              <a:rPr lang="en-US" sz="2400" dirty="0"/>
              <a:t>: Difficulty in recovering encrypted files.</a:t>
            </a:r>
          </a:p>
          <a:p>
            <a:r>
              <a:rPr lang="en-US" sz="2400" b="1" dirty="0"/>
              <a:t>Physical Damage Complexity</a:t>
            </a:r>
            <a:r>
              <a:rPr lang="en-US" sz="2400" dirty="0"/>
              <a:t>: Severe damage may limit recovery success.</a:t>
            </a:r>
          </a:p>
          <a:p>
            <a:r>
              <a:rPr lang="en-US" sz="2400" b="1" dirty="0"/>
              <a:t>Cost and Time</a:t>
            </a:r>
            <a:r>
              <a:rPr lang="en-US" sz="2400" dirty="0"/>
              <a:t>: Professional recovery can be expensive and time-consuming.</a:t>
            </a:r>
          </a:p>
        </p:txBody>
      </p:sp>
    </p:spTree>
    <p:extLst>
      <p:ext uri="{BB962C8B-B14F-4D97-AF65-F5344CB8AC3E}">
        <p14:creationId xmlns:p14="http://schemas.microsoft.com/office/powerpoint/2010/main" val="3807732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5FA4D-AB9A-46CA-ACDC-4C7A10F4D05C}" type="slidenum">
              <a:rPr lang="en-US" altLang="en-US"/>
              <a:pPr/>
              <a:t>8</a:t>
            </a:fld>
            <a:endParaRPr lang="en-US" altLang="en-US"/>
          </a:p>
        </p:txBody>
      </p:sp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Recovery Service Providers</a:t>
            </a:r>
            <a:endParaRPr lang="en-US" altLang="en-US" dirty="0"/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Top </a:t>
            </a:r>
            <a:r>
              <a:rPr lang="en-US" b="1" dirty="0"/>
              <a:t>Service Providers</a:t>
            </a:r>
            <a:r>
              <a:rPr lang="en-US" dirty="0"/>
              <a:t>:</a:t>
            </a:r>
          </a:p>
          <a:p>
            <a:r>
              <a:rPr lang="en-US" dirty="0" err="1"/>
              <a:t>Ontrack</a:t>
            </a:r>
            <a:r>
              <a:rPr lang="en-US" dirty="0"/>
              <a:t>, </a:t>
            </a:r>
            <a:r>
              <a:rPr lang="en-US" dirty="0" err="1"/>
              <a:t>Gillware</a:t>
            </a:r>
            <a:r>
              <a:rPr lang="en-US" dirty="0"/>
              <a:t>, Secure Data Recovery, </a:t>
            </a:r>
            <a:r>
              <a:rPr lang="en-US" dirty="0" err="1"/>
              <a:t>DriveSavers</a:t>
            </a:r>
            <a:r>
              <a:rPr lang="en-US" dirty="0"/>
              <a:t>.</a:t>
            </a:r>
          </a:p>
          <a:p>
            <a:r>
              <a:rPr lang="en-US" b="1" dirty="0"/>
              <a:t>Key Features to Look For</a:t>
            </a:r>
            <a:r>
              <a:rPr lang="en-US" dirty="0"/>
              <a:t>: Success rates, certifications, turnaround time, customer support.</a:t>
            </a:r>
          </a:p>
        </p:txBody>
      </p:sp>
    </p:spTree>
    <p:extLst>
      <p:ext uri="{BB962C8B-B14F-4D97-AF65-F5344CB8AC3E}">
        <p14:creationId xmlns:p14="http://schemas.microsoft.com/office/powerpoint/2010/main" val="20386035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5FA4D-AB9A-46CA-ACDC-4C7A10F4D05C}" type="slidenum">
              <a:rPr lang="en-US" altLang="en-US"/>
              <a:pPr/>
              <a:t>9</a:t>
            </a:fld>
            <a:endParaRPr lang="en-US" altLang="en-US"/>
          </a:p>
        </p:txBody>
      </p:sp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Preventing Data Loss</a:t>
            </a:r>
            <a:endParaRPr lang="en-US" altLang="en-US" dirty="0"/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400" b="1" dirty="0"/>
              <a:t>Regular Backups</a:t>
            </a:r>
            <a:r>
              <a:rPr lang="en-US" sz="2400" dirty="0"/>
              <a:t>: Scheduled backups to external drives or cloud storage.</a:t>
            </a:r>
          </a:p>
          <a:p>
            <a:r>
              <a:rPr lang="en-US" sz="2400" b="1" dirty="0"/>
              <a:t>Use of Antivirus Software</a:t>
            </a:r>
            <a:r>
              <a:rPr lang="en-US" sz="2400" dirty="0"/>
              <a:t>: Protection against malware and ransomware.</a:t>
            </a:r>
          </a:p>
          <a:p>
            <a:r>
              <a:rPr lang="en-US" sz="2400" b="1" dirty="0"/>
              <a:t>Power Protection</a:t>
            </a:r>
            <a:r>
              <a:rPr lang="en-US" sz="2400" dirty="0"/>
              <a:t>: Use of UPS and surge protectors to prevent power-related failures.</a:t>
            </a:r>
          </a:p>
          <a:p>
            <a:r>
              <a:rPr lang="en-US" sz="2400" b="1" dirty="0"/>
              <a:t>Training</a:t>
            </a:r>
            <a:r>
              <a:rPr lang="en-US" sz="2400" dirty="0"/>
              <a:t>: Educating employees on data safety and handling.</a:t>
            </a:r>
          </a:p>
        </p:txBody>
      </p:sp>
    </p:spTree>
    <p:extLst>
      <p:ext uri="{BB962C8B-B14F-4D97-AF65-F5344CB8AC3E}">
        <p14:creationId xmlns:p14="http://schemas.microsoft.com/office/powerpoint/2010/main" val="13575988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DATA PROTECTION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E6BB5AD-5F7E-4257-867A-0AE16FD817AF}" type="slidenum">
              <a:rPr lang="en-US" altLang="en-US" smtClean="0"/>
              <a:pPr/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66287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5FA4D-AB9A-46CA-ACDC-4C7A10F4D05C}" type="slidenum">
              <a:rPr lang="en-US" altLang="en-US"/>
              <a:pPr/>
              <a:t>11</a:t>
            </a:fld>
            <a:endParaRPr lang="en-US" altLang="en-US"/>
          </a:p>
        </p:txBody>
      </p:sp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>
          <a:xfrm>
            <a:off x="1190650" y="620688"/>
            <a:ext cx="7793037" cy="1143000"/>
          </a:xfrm>
        </p:spPr>
        <p:txBody>
          <a:bodyPr/>
          <a:lstStyle/>
          <a:p>
            <a:r>
              <a:rPr lang="en-US" altLang="en-US" dirty="0" smtClean="0">
                <a:cs typeface="Times New Roman" panose="02020603050405020304" pitchFamily="18" charset="0"/>
              </a:rPr>
              <a:t>I</a:t>
            </a:r>
            <a:r>
              <a:rPr lang="en-US" dirty="0" smtClean="0"/>
              <a:t>ntroduction</a:t>
            </a:r>
            <a:endParaRPr lang="en-US" altLang="en-US" dirty="0"/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400" b="1" dirty="0" smtClean="0"/>
              <a:t>What is Data Protection?</a:t>
            </a:r>
          </a:p>
          <a:p>
            <a:r>
              <a:rPr lang="en-US" sz="2400" dirty="0" smtClean="0"/>
              <a:t>The </a:t>
            </a:r>
            <a:r>
              <a:rPr lang="en-US" sz="2400" dirty="0"/>
              <a:t>process of safeguarding important information from corruption, compromise, or loss.</a:t>
            </a:r>
          </a:p>
          <a:p>
            <a:r>
              <a:rPr lang="en-US" sz="2400" dirty="0"/>
              <a:t>G</a:t>
            </a:r>
            <a:r>
              <a:rPr lang="en-US" sz="2400" dirty="0" smtClean="0"/>
              <a:t>oal</a:t>
            </a:r>
            <a:r>
              <a:rPr lang="en-US" sz="2400" dirty="0"/>
              <a:t>: to ensure data privacy, integrity, and availability.</a:t>
            </a:r>
          </a:p>
          <a:p>
            <a:r>
              <a:rPr lang="en-US" sz="2400" dirty="0"/>
              <a:t>D</a:t>
            </a:r>
            <a:r>
              <a:rPr lang="en-US" sz="2400" dirty="0" smtClean="0"/>
              <a:t>ata </a:t>
            </a:r>
            <a:r>
              <a:rPr lang="en-US" sz="2400" dirty="0"/>
              <a:t>protection is crucial for businesses, individuals, and organizations to maintain trust and comply with legal requirements.</a:t>
            </a:r>
          </a:p>
          <a:p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869610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5FA4D-AB9A-46CA-ACDC-4C7A10F4D05C}" type="slidenum">
              <a:rPr lang="en-US" altLang="en-US"/>
              <a:pPr/>
              <a:t>12</a:t>
            </a:fld>
            <a:endParaRPr lang="en-US" altLang="en-US"/>
          </a:p>
        </p:txBody>
      </p:sp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>
          <a:xfrm>
            <a:off x="1190650" y="620688"/>
            <a:ext cx="7793037" cy="1143000"/>
          </a:xfrm>
        </p:spPr>
        <p:txBody>
          <a:bodyPr/>
          <a:lstStyle/>
          <a:p>
            <a:r>
              <a:rPr lang="en-US" dirty="0" smtClean="0"/>
              <a:t>Importance of Data Protection</a:t>
            </a:r>
            <a:endParaRPr lang="en-US" altLang="en-US" dirty="0"/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400" b="1" dirty="0"/>
              <a:t>Security</a:t>
            </a:r>
            <a:r>
              <a:rPr lang="en-US" sz="2400" dirty="0"/>
              <a:t>: Prevents unauthorized access and data breaches.</a:t>
            </a:r>
          </a:p>
          <a:p>
            <a:r>
              <a:rPr lang="en-US" sz="2400" b="1" dirty="0"/>
              <a:t>Compliance</a:t>
            </a:r>
            <a:r>
              <a:rPr lang="en-US" sz="2400" dirty="0"/>
              <a:t>: Meets regulatory requirements such as </a:t>
            </a:r>
            <a:r>
              <a:rPr lang="en-US" sz="2400" dirty="0" smtClean="0"/>
              <a:t>GDPR(General Data Protection Regulation), HIPAA (</a:t>
            </a:r>
            <a:r>
              <a:rPr lang="en-US" sz="2400" u="sng" dirty="0" smtClean="0">
                <a:hlinkClick r:id="rId2"/>
              </a:rPr>
              <a:t>Health Insurance Portability and Accountability Act</a:t>
            </a:r>
            <a:r>
              <a:rPr lang="en-US" sz="2400" dirty="0" smtClean="0"/>
              <a:t>), CCPA (California Consumer Privacy Act).</a:t>
            </a:r>
            <a:endParaRPr lang="en-US" sz="2400" dirty="0"/>
          </a:p>
          <a:p>
            <a:r>
              <a:rPr lang="en-US" sz="2400" b="1" dirty="0"/>
              <a:t>Trust</a:t>
            </a:r>
            <a:r>
              <a:rPr lang="en-US" sz="2400" dirty="0"/>
              <a:t>: Maintains customer and stakeholder trust by ensuring their data is secure.</a:t>
            </a:r>
          </a:p>
          <a:p>
            <a:r>
              <a:rPr lang="en-US" sz="2400" b="1" dirty="0"/>
              <a:t>Business Continuity</a:t>
            </a:r>
            <a:r>
              <a:rPr lang="en-US" sz="2400" dirty="0"/>
              <a:t>: Protects against data loss from natural disasters, cyberattacks, or human errors.</a:t>
            </a:r>
          </a:p>
        </p:txBody>
      </p:sp>
    </p:spTree>
    <p:extLst>
      <p:ext uri="{BB962C8B-B14F-4D97-AF65-F5344CB8AC3E}">
        <p14:creationId xmlns:p14="http://schemas.microsoft.com/office/powerpoint/2010/main" val="406486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5FA4D-AB9A-46CA-ACDC-4C7A10F4D05C}" type="slidenum">
              <a:rPr lang="en-US" altLang="en-US"/>
              <a:pPr/>
              <a:t>13</a:t>
            </a:fld>
            <a:endParaRPr lang="en-US" altLang="en-US"/>
          </a:p>
        </p:txBody>
      </p:sp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>
          <a:xfrm>
            <a:off x="1190650" y="620688"/>
            <a:ext cx="7793037" cy="1143000"/>
          </a:xfrm>
        </p:spPr>
        <p:txBody>
          <a:bodyPr/>
          <a:lstStyle/>
          <a:p>
            <a:r>
              <a:rPr lang="en-US" dirty="0" smtClean="0"/>
              <a:t>Key Principles of Data Protection</a:t>
            </a:r>
            <a:endParaRPr lang="en-US" altLang="en-US" dirty="0"/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400" b="1" dirty="0"/>
              <a:t>Confidentiality</a:t>
            </a:r>
            <a:r>
              <a:rPr lang="en-US" sz="2400" dirty="0"/>
              <a:t>: Ensuring only authorized individuals have access to sensitive data.</a:t>
            </a:r>
          </a:p>
          <a:p>
            <a:r>
              <a:rPr lang="en-US" sz="2400" b="1" dirty="0"/>
              <a:t>Integrity</a:t>
            </a:r>
            <a:r>
              <a:rPr lang="en-US" sz="2400" dirty="0"/>
              <a:t>: Maintaining the accuracy and reliability of data.</a:t>
            </a:r>
          </a:p>
          <a:p>
            <a:r>
              <a:rPr lang="en-US" sz="2400" b="1" dirty="0"/>
              <a:t>Availability</a:t>
            </a:r>
            <a:r>
              <a:rPr lang="en-US" sz="2400" dirty="0"/>
              <a:t>: Ensuring data is accessible when needed.</a:t>
            </a:r>
          </a:p>
          <a:p>
            <a:r>
              <a:rPr lang="en-US" sz="2400" b="1" dirty="0"/>
              <a:t>Transparency</a:t>
            </a:r>
            <a:r>
              <a:rPr lang="en-US" sz="2400" dirty="0"/>
              <a:t>: Informing users about how their data is collected, stored, and used.</a:t>
            </a:r>
          </a:p>
        </p:txBody>
      </p:sp>
    </p:spTree>
    <p:extLst>
      <p:ext uri="{BB962C8B-B14F-4D97-AF65-F5344CB8AC3E}">
        <p14:creationId xmlns:p14="http://schemas.microsoft.com/office/powerpoint/2010/main" val="2385638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5FA4D-AB9A-46CA-ACDC-4C7A10F4D05C}" type="slidenum">
              <a:rPr lang="en-US" altLang="en-US"/>
              <a:pPr/>
              <a:t>14</a:t>
            </a:fld>
            <a:endParaRPr lang="en-US" altLang="en-US"/>
          </a:p>
        </p:txBody>
      </p:sp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>
          <a:xfrm>
            <a:off x="1190650" y="620688"/>
            <a:ext cx="7793037" cy="1143000"/>
          </a:xfrm>
        </p:spPr>
        <p:txBody>
          <a:bodyPr/>
          <a:lstStyle/>
          <a:p>
            <a:r>
              <a:rPr lang="en-US" dirty="0" smtClean="0"/>
              <a:t>Types of Data Protection</a:t>
            </a:r>
            <a:endParaRPr lang="en-US" altLang="en-US" dirty="0"/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400" b="1" dirty="0"/>
              <a:t>Data Encryption</a:t>
            </a:r>
            <a:r>
              <a:rPr lang="en-US" sz="2400" dirty="0"/>
              <a:t>: Converting data into a coded form to prevent unauthorized access.</a:t>
            </a:r>
          </a:p>
          <a:p>
            <a:r>
              <a:rPr lang="en-US" sz="2400" b="1" dirty="0"/>
              <a:t>Data Backup</a:t>
            </a:r>
            <a:r>
              <a:rPr lang="en-US" sz="2400" dirty="0"/>
              <a:t>: Regularly copying and storing data to recover it in case of loss or damage.</a:t>
            </a:r>
          </a:p>
          <a:p>
            <a:r>
              <a:rPr lang="en-US" sz="2400" b="1" dirty="0"/>
              <a:t>Data Masking</a:t>
            </a:r>
            <a:r>
              <a:rPr lang="en-US" sz="2400" dirty="0"/>
              <a:t>: Obscuring sensitive data to protect it while maintaining usability.</a:t>
            </a:r>
          </a:p>
          <a:p>
            <a:r>
              <a:rPr lang="en-US" sz="2400" b="1" dirty="0"/>
              <a:t>Access Controls</a:t>
            </a:r>
            <a:r>
              <a:rPr lang="en-US" sz="2400" dirty="0"/>
              <a:t>: Restricting access to data based on roles and responsibilities.</a:t>
            </a:r>
          </a:p>
          <a:p>
            <a:r>
              <a:rPr lang="en-US" sz="2400" b="1" dirty="0"/>
              <a:t>Data Erasure</a:t>
            </a:r>
            <a:r>
              <a:rPr lang="en-US" sz="2400" dirty="0"/>
              <a:t>: Securely deleting data that is no longer needed.</a:t>
            </a:r>
          </a:p>
        </p:txBody>
      </p:sp>
    </p:spTree>
    <p:extLst>
      <p:ext uri="{BB962C8B-B14F-4D97-AF65-F5344CB8AC3E}">
        <p14:creationId xmlns:p14="http://schemas.microsoft.com/office/powerpoint/2010/main" val="167946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5FA4D-AB9A-46CA-ACDC-4C7A10F4D05C}" type="slidenum">
              <a:rPr lang="en-US" altLang="en-US"/>
              <a:pPr/>
              <a:t>15</a:t>
            </a:fld>
            <a:endParaRPr lang="en-US" altLang="en-US"/>
          </a:p>
        </p:txBody>
      </p:sp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>
          <a:xfrm>
            <a:off x="1190650" y="620688"/>
            <a:ext cx="7793037" cy="1143000"/>
          </a:xfrm>
        </p:spPr>
        <p:txBody>
          <a:bodyPr/>
          <a:lstStyle/>
          <a:p>
            <a:r>
              <a:rPr lang="en-US" dirty="0" smtClean="0"/>
              <a:t>Common Threats to Data Protection</a:t>
            </a:r>
            <a:endParaRPr lang="en-US" altLang="en-US" dirty="0"/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400" b="1" dirty="0"/>
              <a:t>Cyberattacks</a:t>
            </a:r>
            <a:r>
              <a:rPr lang="en-US" sz="2400" dirty="0"/>
              <a:t>: Hacking, phishing, ransomware, and malware are common cyber threats.</a:t>
            </a:r>
          </a:p>
          <a:p>
            <a:r>
              <a:rPr lang="en-US" sz="2400" b="1" dirty="0"/>
              <a:t>Insider Threats</a:t>
            </a:r>
            <a:r>
              <a:rPr lang="en-US" sz="2400" dirty="0"/>
              <a:t>: Employees or contractors misusing their access to sensitive data.</a:t>
            </a:r>
          </a:p>
          <a:p>
            <a:r>
              <a:rPr lang="en-US" sz="2400" b="1" dirty="0"/>
              <a:t>Human Error</a:t>
            </a:r>
            <a:r>
              <a:rPr lang="en-US" sz="2400" dirty="0"/>
              <a:t>: Accidental deletion or exposure of data due to negligence or mistakes.</a:t>
            </a:r>
          </a:p>
          <a:p>
            <a:r>
              <a:rPr lang="en-US" sz="2400" b="1" dirty="0"/>
              <a:t>Physical Threats</a:t>
            </a:r>
            <a:r>
              <a:rPr lang="en-US" sz="2400" dirty="0"/>
              <a:t>: Theft, loss, or damage to physical storage devices.</a:t>
            </a:r>
          </a:p>
        </p:txBody>
      </p:sp>
    </p:spTree>
    <p:extLst>
      <p:ext uri="{BB962C8B-B14F-4D97-AF65-F5344CB8AC3E}">
        <p14:creationId xmlns:p14="http://schemas.microsoft.com/office/powerpoint/2010/main" val="127384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5FA4D-AB9A-46CA-ACDC-4C7A10F4D05C}" type="slidenum">
              <a:rPr lang="en-US" altLang="en-US"/>
              <a:pPr/>
              <a:t>16</a:t>
            </a:fld>
            <a:endParaRPr lang="en-US" altLang="en-US"/>
          </a:p>
        </p:txBody>
      </p:sp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>
          <a:xfrm>
            <a:off x="1190650" y="620688"/>
            <a:ext cx="7793037" cy="1143000"/>
          </a:xfrm>
        </p:spPr>
        <p:txBody>
          <a:bodyPr/>
          <a:lstStyle/>
          <a:p>
            <a:r>
              <a:rPr lang="en-US" dirty="0" smtClean="0"/>
              <a:t>Data Protection Strategies</a:t>
            </a:r>
            <a:endParaRPr lang="en-US" altLang="en-US" dirty="0"/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400" b="1" dirty="0"/>
              <a:t>Regular Backups</a:t>
            </a:r>
            <a:r>
              <a:rPr lang="en-US" sz="2400" dirty="0"/>
              <a:t>: Schedule regular backups to both onsite and offsite locations.</a:t>
            </a:r>
          </a:p>
          <a:p>
            <a:r>
              <a:rPr lang="en-US" sz="2400" b="1" dirty="0"/>
              <a:t>Encryption</a:t>
            </a:r>
            <a:r>
              <a:rPr lang="en-US" sz="2400" dirty="0"/>
              <a:t>: Encrypt sensitive data at rest (stored data) and in transit (data being transferred).</a:t>
            </a:r>
          </a:p>
          <a:p>
            <a:r>
              <a:rPr lang="en-US" sz="2400" b="1" dirty="0"/>
              <a:t>Multi-Factor Authentication (MFA)</a:t>
            </a:r>
            <a:r>
              <a:rPr lang="en-US" sz="2400" dirty="0"/>
              <a:t>: Require multiple forms of verification for accessing sensitive data.</a:t>
            </a:r>
          </a:p>
          <a:p>
            <a:r>
              <a:rPr lang="en-US" sz="2400" b="1" dirty="0"/>
              <a:t>Data Loss Prevention (DLP)</a:t>
            </a:r>
            <a:r>
              <a:rPr lang="en-US" sz="2400" dirty="0"/>
              <a:t>: Use DLP software to monitor, detect, and prevent data breaches.</a:t>
            </a:r>
          </a:p>
          <a:p>
            <a:r>
              <a:rPr lang="en-US" sz="2400" b="1" dirty="0"/>
              <a:t>Access Management</a:t>
            </a:r>
            <a:r>
              <a:rPr lang="en-US" sz="2400" dirty="0"/>
              <a:t>: Implement role-based access control (RBAC) and the principle of least privilege (POLP).</a:t>
            </a:r>
          </a:p>
        </p:txBody>
      </p:sp>
    </p:spTree>
    <p:extLst>
      <p:ext uri="{BB962C8B-B14F-4D97-AF65-F5344CB8AC3E}">
        <p14:creationId xmlns:p14="http://schemas.microsoft.com/office/powerpoint/2010/main" val="2800860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5FA4D-AB9A-46CA-ACDC-4C7A10F4D05C}" type="slidenum">
              <a:rPr lang="en-US" altLang="en-US"/>
              <a:pPr/>
              <a:t>17</a:t>
            </a:fld>
            <a:endParaRPr lang="en-US" altLang="en-US"/>
          </a:p>
        </p:txBody>
      </p:sp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>
          <a:xfrm>
            <a:off x="1190650" y="620688"/>
            <a:ext cx="7793037" cy="1143000"/>
          </a:xfrm>
        </p:spPr>
        <p:txBody>
          <a:bodyPr/>
          <a:lstStyle/>
          <a:p>
            <a:r>
              <a:rPr lang="en-US" dirty="0" smtClean="0"/>
              <a:t>Data Protection Best Practices</a:t>
            </a:r>
            <a:endParaRPr lang="en-US" altLang="en-US" dirty="0"/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400" b="1" dirty="0"/>
              <a:t>Regular Audits</a:t>
            </a:r>
            <a:r>
              <a:rPr lang="en-US" sz="2400" dirty="0"/>
              <a:t>: Conduct periodic audits to identify vulnerabilities and ensure compliance.</a:t>
            </a:r>
          </a:p>
          <a:p>
            <a:r>
              <a:rPr lang="en-US" sz="2400" b="1" dirty="0"/>
              <a:t>Employee Training</a:t>
            </a:r>
            <a:r>
              <a:rPr lang="en-US" sz="2400" dirty="0"/>
              <a:t>: Train employees on data protection policies, recognizing phishing attempts, and secure handling of data.</a:t>
            </a:r>
          </a:p>
          <a:p>
            <a:r>
              <a:rPr lang="en-US" sz="2400" b="1" dirty="0"/>
              <a:t>Data Minimization</a:t>
            </a:r>
            <a:r>
              <a:rPr lang="en-US" sz="2400" dirty="0"/>
              <a:t>: Collect only the data necessary for business operations.</a:t>
            </a:r>
          </a:p>
          <a:p>
            <a:r>
              <a:rPr lang="en-US" sz="2400" b="1" dirty="0"/>
              <a:t>Incident Response Plan</a:t>
            </a:r>
            <a:r>
              <a:rPr lang="en-US" sz="2400" dirty="0"/>
              <a:t>: Develop and test a plan to quickly respond to data breaches or loss.</a:t>
            </a:r>
          </a:p>
          <a:p>
            <a:r>
              <a:rPr lang="en-US" sz="2400" b="1" dirty="0"/>
              <a:t>Use Strong Passwords</a:t>
            </a:r>
            <a:r>
              <a:rPr lang="en-US" sz="2400" dirty="0"/>
              <a:t>: Implement password policies to enforce complex and frequently changed passwords.</a:t>
            </a:r>
          </a:p>
        </p:txBody>
      </p:sp>
    </p:spTree>
    <p:extLst>
      <p:ext uri="{BB962C8B-B14F-4D97-AF65-F5344CB8AC3E}">
        <p14:creationId xmlns:p14="http://schemas.microsoft.com/office/powerpoint/2010/main" val="1362622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5FA4D-AB9A-46CA-ACDC-4C7A10F4D05C}" type="slidenum">
              <a:rPr lang="en-US" altLang="en-US"/>
              <a:pPr/>
              <a:t>18</a:t>
            </a:fld>
            <a:endParaRPr lang="en-US" altLang="en-US"/>
          </a:p>
        </p:txBody>
      </p:sp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>
          <a:xfrm>
            <a:off x="1190650" y="620688"/>
            <a:ext cx="7793037" cy="1143000"/>
          </a:xfrm>
        </p:spPr>
        <p:txBody>
          <a:bodyPr/>
          <a:lstStyle/>
          <a:p>
            <a:r>
              <a:rPr lang="en-US" dirty="0" smtClean="0"/>
              <a:t>Benefits of Strong Data Protection</a:t>
            </a:r>
            <a:endParaRPr lang="en-US" altLang="en-US" dirty="0"/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Mitigates Risks</a:t>
            </a:r>
            <a:r>
              <a:rPr lang="en-US" dirty="0"/>
              <a:t>: Reduces the likelihood and impact of data breaches.</a:t>
            </a:r>
          </a:p>
          <a:p>
            <a:r>
              <a:rPr lang="en-US" b="1" dirty="0"/>
              <a:t>Enhances Reputation</a:t>
            </a:r>
            <a:r>
              <a:rPr lang="en-US" dirty="0"/>
              <a:t>: Builds customer trust and brand reputation.</a:t>
            </a:r>
          </a:p>
          <a:p>
            <a:r>
              <a:rPr lang="en-US" b="1" dirty="0"/>
              <a:t>Ensures Compliance</a:t>
            </a:r>
            <a:r>
              <a:rPr lang="en-US" dirty="0"/>
              <a:t>: Meets legal requirements and avoids penalties.</a:t>
            </a:r>
          </a:p>
          <a:p>
            <a:r>
              <a:rPr lang="en-US" b="1" dirty="0"/>
              <a:t>Facilitates Business Growth</a:t>
            </a:r>
            <a:r>
              <a:rPr lang="en-US" dirty="0"/>
              <a:t>: Secure data management can enable innovation and partnerships.</a:t>
            </a:r>
          </a:p>
        </p:txBody>
      </p:sp>
    </p:spTree>
    <p:extLst>
      <p:ext uri="{BB962C8B-B14F-4D97-AF65-F5344CB8AC3E}">
        <p14:creationId xmlns:p14="http://schemas.microsoft.com/office/powerpoint/2010/main" val="2636935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1075</Words>
  <Application>Microsoft Office PowerPoint</Application>
  <PresentationFormat>On-screen Show (4:3)</PresentationFormat>
  <Paragraphs>110</Paragraphs>
  <Slides>18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Times New Roman</vt:lpstr>
      <vt:lpstr>Tahoma</vt:lpstr>
      <vt:lpstr>Wingdings</vt:lpstr>
      <vt:lpstr>Arial Narrow</vt:lpstr>
      <vt:lpstr>Courier New</vt:lpstr>
      <vt:lpstr>Blends</vt:lpstr>
      <vt:lpstr>Data Recovery Services</vt:lpstr>
      <vt:lpstr>Introduction to Data Recovery</vt:lpstr>
      <vt:lpstr>Types of Data Loss</vt:lpstr>
      <vt:lpstr>Types of Data Recovery Services</vt:lpstr>
      <vt:lpstr>Data Recovery Process</vt:lpstr>
      <vt:lpstr>Tools and Techniques Used in Data Recovery</vt:lpstr>
      <vt:lpstr>Challenges in Data Recovery</vt:lpstr>
      <vt:lpstr>Data Recovery Service Providers</vt:lpstr>
      <vt:lpstr>Preventing Data Loss</vt:lpstr>
      <vt:lpstr>DATA PROTECTION</vt:lpstr>
      <vt:lpstr>Introduction</vt:lpstr>
      <vt:lpstr>Importance of Data Protection</vt:lpstr>
      <vt:lpstr>Key Principles of Data Protection</vt:lpstr>
      <vt:lpstr>Types of Data Protection</vt:lpstr>
      <vt:lpstr>Common Threats to Data Protection</vt:lpstr>
      <vt:lpstr>Data Protection Strategies</vt:lpstr>
      <vt:lpstr>Data Protection Best Practices</vt:lpstr>
      <vt:lpstr>Benefits of Strong Data Protection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Recovery Services</dc:title>
  <dc:creator>JAMIE</dc:creator>
  <cp:lastModifiedBy>JAMIE</cp:lastModifiedBy>
  <cp:revision>9</cp:revision>
  <dcterms:modified xsi:type="dcterms:W3CDTF">2024-08-30T06:54:22Z</dcterms:modified>
</cp:coreProperties>
</file>