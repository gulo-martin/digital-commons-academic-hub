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99CC"/>
    <a:srgbClr val="00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3" autoAdjust="0"/>
    <p:restoredTop sz="94660"/>
  </p:normalViewPr>
  <p:slideViewPr>
    <p:cSldViewPr snapToGrid="0">
      <p:cViewPr varScale="1">
        <p:scale>
          <a:sx n="88" d="100"/>
          <a:sy n="88" d="100"/>
        </p:scale>
        <p:origin x="40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dirty="0"/>
              <a:t>8/8/2024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dirty="0"/>
              <a:t>8/8/2024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dirty="0"/>
              <a:t>8/8/2024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dirty="0"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8/8/2024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  <a:lumOff val="1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8/8/2024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65" r:id="rId4"/>
    <p:sldLayoutId id="2147483653" r:id="rId5"/>
    <p:sldLayoutId id="2147483654" r:id="rId6"/>
    <p:sldLayoutId id="2147483655" r:id="rId7"/>
    <p:sldLayoutId id="2147483666" r:id="rId8"/>
    <p:sldLayoutId id="2147483657" r:id="rId9"/>
    <p:sldLayoutId id="2147483660" r:id="rId10"/>
    <p:sldLayoutId id="2147483661" r:id="rId11"/>
    <p:sldLayoutId id="2147483662" r:id="rId12"/>
    <p:sldLayoutId id="2147483663" r:id="rId13"/>
    <p:sldLayoutId id="2147483664" r:id="rId14"/>
    <p:sldLayoutId id="2147483667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3.jp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g"/><Relationship Id="rId5" Type="http://schemas.openxmlformats.org/officeDocument/2006/relationships/image" Target="../media/image6.jpg"/><Relationship Id="rId4" Type="http://schemas.openxmlformats.org/officeDocument/2006/relationships/image" Target="../media/image5.jp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364751" y="2086853"/>
            <a:ext cx="6073177" cy="1646302"/>
          </a:xfrm>
          <a:noFill/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pPr algn="l"/>
            <a:r>
              <a:rPr lang="en-US" b="1" dirty="0" smtClean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PRESENTATION ON</a:t>
            </a:r>
            <a:r>
              <a:rPr lang="en-US" b="1" u="sng" dirty="0" smtClean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br>
              <a:rPr lang="en-US" b="1" u="sng" dirty="0" smtClean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b="1" dirty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	</a:t>
            </a:r>
            <a:r>
              <a:rPr lang="en-US" b="1" dirty="0" smtClean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			</a:t>
            </a:r>
            <a:r>
              <a:rPr lang="en-US" sz="4800" b="1" dirty="0" smtClean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ADOBE</a:t>
            </a:r>
            <a:r>
              <a:rPr lang="en-US" b="1" dirty="0" smtClean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br>
              <a:rPr lang="en-US" b="1" dirty="0" smtClean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</a:br>
            <a:r>
              <a:rPr lang="en-US" sz="4800" b="1" dirty="0" smtClean="0">
                <a:solidFill>
                  <a:srgbClr val="92D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PHOTOSHOP TOOLS</a:t>
            </a:r>
            <a:endParaRPr lang="en-US" sz="4800" b="1" dirty="0">
              <a:solidFill>
                <a:srgbClr val="92D05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391" y="5105400"/>
            <a:ext cx="1752600" cy="175260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04086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73522" y="1324958"/>
            <a:ext cx="6141829" cy="1320800"/>
          </a:xfrm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txBody>
          <a:bodyPr>
            <a:normAutofit fontScale="90000"/>
          </a:bodyPr>
          <a:lstStyle/>
          <a:p>
            <a:r>
              <a:rPr lang="en-US" sz="6000" u="sng" dirty="0" smtClean="0"/>
              <a:t>SELECTION TOOL</a:t>
            </a:r>
            <a:r>
              <a:rPr lang="en-US" sz="8000" u="sng" dirty="0" smtClean="0"/>
              <a:t>s</a:t>
            </a:r>
            <a:endParaRPr lang="en-US" sz="8000" u="sn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373522" y="2964916"/>
            <a:ext cx="4345427" cy="2063680"/>
          </a:xfrm>
        </p:spPr>
        <p:txBody>
          <a:bodyPr>
            <a:normAutofit fontScale="85000" lnSpcReduction="10000"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4700" dirty="0">
                <a:solidFill>
                  <a:srgbClr val="92D050"/>
                </a:solidFill>
              </a:rPr>
              <a:t> Marquee </a:t>
            </a:r>
            <a:r>
              <a:rPr lang="en-US" sz="4700" dirty="0" smtClean="0">
                <a:solidFill>
                  <a:srgbClr val="92D050"/>
                </a:solidFill>
              </a:rPr>
              <a:t>Tools.</a:t>
            </a:r>
            <a:endParaRPr lang="en-US" sz="4700" dirty="0">
              <a:solidFill>
                <a:srgbClr val="92D050"/>
              </a:solidFill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sz="3200" dirty="0" smtClean="0">
                <a:solidFill>
                  <a:srgbClr val="92D050"/>
                </a:solidFill>
              </a:rPr>
              <a:t> </a:t>
            </a:r>
            <a:r>
              <a:rPr lang="en-US" sz="4300" dirty="0" smtClean="0">
                <a:solidFill>
                  <a:srgbClr val="92D050"/>
                </a:solidFill>
              </a:rPr>
              <a:t>Lasso Tools.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4300" dirty="0" smtClean="0">
                <a:solidFill>
                  <a:srgbClr val="92D050"/>
                </a:solidFill>
              </a:rPr>
              <a:t> Magic Wand Tool.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04" y="5633503"/>
            <a:ext cx="1224497" cy="12244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1089" y="2964916"/>
            <a:ext cx="647565" cy="56425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7388" y="3669908"/>
            <a:ext cx="683786" cy="57454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31089" y="4244451"/>
            <a:ext cx="662278" cy="631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78715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48896" y="498476"/>
            <a:ext cx="5351991" cy="919163"/>
          </a:xfrm>
        </p:spPr>
        <p:txBody>
          <a:bodyPr>
            <a:normAutofit fontScale="90000"/>
          </a:bodyPr>
          <a:lstStyle/>
          <a:p>
            <a:r>
              <a:rPr lang="en-US" sz="5400" b="1" dirty="0" smtClean="0">
                <a:solidFill>
                  <a:schemeClr val="accent1">
                    <a:lumMod val="75000"/>
                  </a:schemeClr>
                </a:solidFill>
              </a:rPr>
              <a:t>MARQUEE TOOL</a:t>
            </a:r>
            <a:r>
              <a:rPr lang="en-US" sz="6700" b="1" dirty="0" smtClean="0">
                <a:solidFill>
                  <a:schemeClr val="accent1">
                    <a:lumMod val="75000"/>
                  </a:schemeClr>
                </a:solidFill>
              </a:rPr>
              <a:t>s</a:t>
            </a:r>
            <a:r>
              <a:rPr lang="en-US" sz="5400" b="1" dirty="0" smtClean="0">
                <a:solidFill>
                  <a:schemeClr val="accent1">
                    <a:lumMod val="75000"/>
                  </a:schemeClr>
                </a:solidFill>
              </a:rPr>
              <a:t>.</a:t>
            </a:r>
            <a:r>
              <a:rPr lang="en-US" b="1" dirty="0">
                <a:solidFill>
                  <a:schemeClr val="accent1">
                    <a:lumMod val="75000"/>
                  </a:schemeClr>
                </a:solidFill>
              </a:rPr>
              <a:t/>
            </a:r>
            <a:br>
              <a:rPr lang="en-US" b="1" dirty="0">
                <a:solidFill>
                  <a:schemeClr val="accent1">
                    <a:lumMod val="75000"/>
                  </a:schemeClr>
                </a:solidFill>
              </a:rPr>
            </a:br>
            <a:endParaRPr lang="en-US" b="1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1709" y="1789114"/>
            <a:ext cx="8596668" cy="4697411"/>
          </a:xfrm>
        </p:spPr>
        <p:txBody>
          <a:bodyPr>
            <a:normAutofit/>
          </a:bodyPr>
          <a:lstStyle/>
          <a:p>
            <a:pPr>
              <a:buFont typeface="+mj-lt"/>
              <a:buAutoNum type="arabicPeriod"/>
            </a:pPr>
            <a:r>
              <a:rPr lang="en-US" sz="2400" dirty="0" smtClean="0"/>
              <a:t>Rectangular Marquee Tool</a:t>
            </a:r>
          </a:p>
          <a:p>
            <a:pPr marL="0" indent="0">
              <a:buNone/>
            </a:pPr>
            <a:r>
              <a:rPr lang="en-US" sz="2000" dirty="0" smtClean="0"/>
              <a:t>	</a:t>
            </a:r>
            <a:r>
              <a:rPr lang="en-US" sz="2000" dirty="0" smtClean="0">
                <a:solidFill>
                  <a:srgbClr val="92D050"/>
                </a:solidFill>
              </a:rPr>
              <a:t>This marquee tool is used to select square or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92D050"/>
                </a:solidFill>
              </a:rPr>
              <a:t>	</a:t>
            </a:r>
            <a:r>
              <a:rPr lang="en-US" sz="2000" dirty="0" smtClean="0">
                <a:solidFill>
                  <a:srgbClr val="92D050"/>
                </a:solidFill>
              </a:rPr>
              <a:t>rectangular area of a picture.</a:t>
            </a:r>
          </a:p>
          <a:p>
            <a:pPr marL="0" indent="0">
              <a:buNone/>
            </a:pPr>
            <a:r>
              <a:rPr lang="en-US" sz="2000" dirty="0" smtClean="0">
                <a:solidFill>
                  <a:srgbClr val="92D050"/>
                </a:solidFill>
              </a:rPr>
              <a:t>2. </a:t>
            </a:r>
            <a:r>
              <a:rPr lang="en-US" sz="2400" dirty="0" smtClean="0">
                <a:solidFill>
                  <a:schemeClr val="tx1"/>
                </a:solidFill>
              </a:rPr>
              <a:t>Elliptical Marquee Tool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/>
                </a:solidFill>
              </a:rPr>
              <a:t>	</a:t>
            </a:r>
            <a:r>
              <a:rPr lang="en-US" sz="2400" dirty="0">
                <a:solidFill>
                  <a:srgbClr val="92D050"/>
                </a:solidFill>
              </a:rPr>
              <a:t> </a:t>
            </a:r>
            <a:r>
              <a:rPr lang="en-US" sz="2000" dirty="0">
                <a:solidFill>
                  <a:srgbClr val="92D050"/>
                </a:solidFill>
              </a:rPr>
              <a:t>This marquee tool is used to select </a:t>
            </a:r>
            <a:r>
              <a:rPr lang="en-US" sz="2000" dirty="0" smtClean="0">
                <a:solidFill>
                  <a:srgbClr val="92D050"/>
                </a:solidFill>
              </a:rPr>
              <a:t>circular and</a:t>
            </a:r>
          </a:p>
          <a:p>
            <a:pPr marL="0" indent="0">
              <a:buNone/>
            </a:pPr>
            <a:r>
              <a:rPr lang="en-US" sz="2000" dirty="0" smtClean="0">
                <a:solidFill>
                  <a:srgbClr val="92D050"/>
                </a:solidFill>
              </a:rPr>
              <a:t> 	  oval selection</a:t>
            </a:r>
          </a:p>
          <a:p>
            <a:pPr marL="0" indent="0">
              <a:buNone/>
            </a:pPr>
            <a:r>
              <a:rPr lang="en-US" sz="2000" dirty="0" smtClean="0">
                <a:solidFill>
                  <a:srgbClr val="92D050"/>
                </a:solidFill>
              </a:rPr>
              <a:t>3.</a:t>
            </a:r>
            <a:r>
              <a:rPr lang="en-US" sz="2000" dirty="0">
                <a:solidFill>
                  <a:schemeClr val="tx1"/>
                </a:solidFill>
              </a:rPr>
              <a:t> </a:t>
            </a:r>
            <a:r>
              <a:rPr lang="en-US" sz="2400" dirty="0" smtClean="0">
                <a:solidFill>
                  <a:schemeClr val="tx1"/>
                </a:solidFill>
              </a:rPr>
              <a:t>Single Row </a:t>
            </a:r>
            <a:r>
              <a:rPr lang="en-US" sz="2400" dirty="0">
                <a:solidFill>
                  <a:schemeClr val="tx1"/>
                </a:solidFill>
              </a:rPr>
              <a:t>Marquee </a:t>
            </a:r>
            <a:r>
              <a:rPr lang="en-US" sz="2400" dirty="0" smtClean="0">
                <a:solidFill>
                  <a:schemeClr val="tx1"/>
                </a:solidFill>
              </a:rPr>
              <a:t>Tool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	</a:t>
            </a:r>
            <a:r>
              <a:rPr lang="en-US" sz="2000" dirty="0" smtClean="0">
                <a:solidFill>
                  <a:srgbClr val="92D050"/>
                </a:solidFill>
              </a:rPr>
              <a:t>The single row marquee tool is used to select a single row of pixels</a:t>
            </a:r>
          </a:p>
          <a:p>
            <a:pPr marL="0" indent="0">
              <a:buNone/>
            </a:pPr>
            <a:r>
              <a:rPr lang="en-US" sz="2000" dirty="0" smtClean="0">
                <a:solidFill>
                  <a:srgbClr val="92D050"/>
                </a:solidFill>
              </a:rPr>
              <a:t>4. </a:t>
            </a:r>
            <a:r>
              <a:rPr lang="en-US" sz="2000" dirty="0">
                <a:solidFill>
                  <a:schemeClr val="tx1"/>
                </a:solidFill>
              </a:rPr>
              <a:t>Single </a:t>
            </a:r>
            <a:r>
              <a:rPr lang="en-US" sz="2000" dirty="0" smtClean="0">
                <a:solidFill>
                  <a:schemeClr val="tx1"/>
                </a:solidFill>
              </a:rPr>
              <a:t>Column </a:t>
            </a:r>
            <a:r>
              <a:rPr lang="en-US" sz="2000" dirty="0">
                <a:solidFill>
                  <a:schemeClr val="tx1"/>
                </a:solidFill>
              </a:rPr>
              <a:t>Marquee </a:t>
            </a:r>
            <a:r>
              <a:rPr lang="en-US" sz="2000" dirty="0" smtClean="0">
                <a:solidFill>
                  <a:schemeClr val="tx1"/>
                </a:solidFill>
              </a:rPr>
              <a:t>Tool</a:t>
            </a:r>
          </a:p>
          <a:p>
            <a:pPr marL="0" indent="0">
              <a:buNone/>
            </a:pPr>
            <a:r>
              <a:rPr lang="en-US" sz="2000" dirty="0">
                <a:solidFill>
                  <a:schemeClr val="tx1"/>
                </a:solidFill>
              </a:rPr>
              <a:t>	</a:t>
            </a:r>
            <a:r>
              <a:rPr lang="en-US" sz="2000" dirty="0">
                <a:solidFill>
                  <a:srgbClr val="92D050"/>
                </a:solidFill>
              </a:rPr>
              <a:t>The </a:t>
            </a:r>
            <a:r>
              <a:rPr lang="en-US" sz="2000" dirty="0" smtClean="0">
                <a:solidFill>
                  <a:srgbClr val="92D050"/>
                </a:solidFill>
              </a:rPr>
              <a:t>tool </a:t>
            </a:r>
            <a:r>
              <a:rPr lang="en-US" sz="2000" dirty="0">
                <a:solidFill>
                  <a:srgbClr val="92D050"/>
                </a:solidFill>
              </a:rPr>
              <a:t>is used to select a single </a:t>
            </a:r>
            <a:r>
              <a:rPr lang="en-US" sz="2000" dirty="0" smtClean="0">
                <a:solidFill>
                  <a:srgbClr val="92D050"/>
                </a:solidFill>
              </a:rPr>
              <a:t>column of pixels.</a:t>
            </a:r>
            <a:endParaRPr lang="en-US" sz="2000" dirty="0">
              <a:solidFill>
                <a:srgbClr val="92D050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2000" dirty="0">
              <a:solidFill>
                <a:srgbClr val="92D050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04" y="5633503"/>
            <a:ext cx="1224497" cy="12244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2217" y="1690178"/>
            <a:ext cx="647565" cy="56425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9300" y="3176587"/>
            <a:ext cx="533400" cy="50482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9300" y="4460515"/>
            <a:ext cx="600075" cy="4191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0261" y="5373373"/>
            <a:ext cx="371475" cy="600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2678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752476"/>
            <a:ext cx="3808941" cy="990600"/>
          </a:xfrm>
        </p:spPr>
        <p:txBody>
          <a:bodyPr>
            <a:normAutofit/>
          </a:bodyPr>
          <a:lstStyle/>
          <a:p>
            <a:r>
              <a:rPr lang="en-US" sz="4800" dirty="0" smtClean="0">
                <a:solidFill>
                  <a:schemeClr val="accent1">
                    <a:lumMod val="75000"/>
                  </a:schemeClr>
                </a:solidFill>
              </a:rPr>
              <a:t>LASSO TOOLS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63046" y="1874838"/>
            <a:ext cx="8596668" cy="3880773"/>
          </a:xfrm>
        </p:spPr>
        <p:txBody>
          <a:bodyPr>
            <a:normAutofit lnSpcReduction="10000"/>
          </a:bodyPr>
          <a:lstStyle/>
          <a:p>
            <a:r>
              <a:rPr lang="en-US" sz="2400" dirty="0" smtClean="0">
                <a:solidFill>
                  <a:srgbClr val="92D050"/>
                </a:solidFill>
              </a:rPr>
              <a:t>Lasso Tool</a:t>
            </a:r>
          </a:p>
          <a:p>
            <a:pPr marL="0" indent="0">
              <a:buNone/>
            </a:pPr>
            <a:r>
              <a:rPr lang="en-US" sz="2400" dirty="0"/>
              <a:t>	</a:t>
            </a:r>
            <a:r>
              <a:rPr lang="en-US" sz="2000" dirty="0" smtClean="0"/>
              <a:t>The lasso tool is used to create irregularly shaped selection. It  	includes the lasso for freehand selection</a:t>
            </a:r>
          </a:p>
          <a:p>
            <a:r>
              <a:rPr lang="en-US" sz="2000" dirty="0" smtClean="0"/>
              <a:t>	</a:t>
            </a:r>
            <a:r>
              <a:rPr lang="en-US" sz="2400" dirty="0" smtClean="0">
                <a:solidFill>
                  <a:srgbClr val="92D050"/>
                </a:solidFill>
              </a:rPr>
              <a:t>Polygonal Lasso Tool</a:t>
            </a:r>
          </a:p>
          <a:p>
            <a:pPr marL="0" indent="0">
              <a:buNone/>
            </a:pPr>
            <a:r>
              <a:rPr lang="en-US" sz="2400" dirty="0">
                <a:solidFill>
                  <a:srgbClr val="92D050"/>
                </a:solidFill>
              </a:rPr>
              <a:t>	</a:t>
            </a:r>
            <a:r>
              <a:rPr lang="en-US" sz="2000" dirty="0"/>
              <a:t>The </a:t>
            </a:r>
            <a:r>
              <a:rPr lang="en-US" sz="2000" dirty="0" smtClean="0"/>
              <a:t>polygon lasso </a:t>
            </a:r>
            <a:r>
              <a:rPr lang="en-US" sz="2000" dirty="0"/>
              <a:t>tool is used to </a:t>
            </a:r>
            <a:r>
              <a:rPr lang="en-US" sz="2000" dirty="0" smtClean="0"/>
              <a:t>make selection by drawing a series 	of straight line to make a polygon shape.</a:t>
            </a:r>
          </a:p>
          <a:p>
            <a:r>
              <a:rPr lang="en-US" sz="2400" dirty="0" smtClean="0">
                <a:solidFill>
                  <a:srgbClr val="92D050"/>
                </a:solidFill>
              </a:rPr>
              <a:t>Magnetic Lasso </a:t>
            </a:r>
            <a:r>
              <a:rPr lang="en-US" sz="2400" dirty="0">
                <a:solidFill>
                  <a:srgbClr val="92D050"/>
                </a:solidFill>
              </a:rPr>
              <a:t>Tool</a:t>
            </a:r>
          </a:p>
          <a:p>
            <a:pPr marL="0" indent="0">
              <a:buNone/>
            </a:pPr>
            <a:r>
              <a:rPr lang="en-US" sz="2000" dirty="0" smtClean="0">
                <a:solidFill>
                  <a:srgbClr val="92D050"/>
                </a:solidFill>
              </a:rPr>
              <a:t>	</a:t>
            </a:r>
            <a:r>
              <a:rPr lang="en-US" sz="2000" dirty="0" smtClean="0"/>
              <a:t>In this tool you click within the image to start or begin creating your 	selection and drag the mouse (having released the button) to create 	selection path.</a:t>
            </a:r>
            <a:endParaRPr lang="en-US" sz="2000" dirty="0"/>
          </a:p>
          <a:p>
            <a:pPr marL="0" indent="0">
              <a:buNone/>
            </a:pPr>
            <a:endParaRPr lang="en-US" sz="2000" dirty="0" smtClean="0">
              <a:solidFill>
                <a:srgbClr val="92D050"/>
              </a:solidFill>
            </a:endParaRPr>
          </a:p>
          <a:p>
            <a:pPr marL="0" indent="0">
              <a:buNone/>
            </a:pPr>
            <a:endParaRPr lang="en-US" sz="20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04" y="5633503"/>
            <a:ext cx="1224497" cy="12244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09870" y="1624569"/>
            <a:ext cx="669701" cy="669701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8664" y="2751107"/>
            <a:ext cx="1154269" cy="1154269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44582" y="4184134"/>
            <a:ext cx="672117" cy="672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16101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7952" y="832118"/>
            <a:ext cx="5580591" cy="1090613"/>
          </a:xfrm>
        </p:spPr>
        <p:txBody>
          <a:bodyPr>
            <a:normAutofit/>
          </a:bodyPr>
          <a:lstStyle/>
          <a:p>
            <a:r>
              <a:rPr lang="en-US" sz="4800" dirty="0" smtClean="0">
                <a:solidFill>
                  <a:schemeClr val="accent1">
                    <a:lumMod val="75000"/>
                  </a:schemeClr>
                </a:solidFill>
              </a:rPr>
              <a:t>MAGIC WAND TOOL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0196" y="1922731"/>
            <a:ext cx="8596668" cy="3135044"/>
          </a:xfrm>
        </p:spPr>
        <p:txBody>
          <a:bodyPr>
            <a:noAutofit/>
          </a:bodyPr>
          <a:lstStyle/>
          <a:p>
            <a:pPr>
              <a:buFont typeface="Wingdings" panose="05000000000000000000" pitchFamily="2" charset="2"/>
              <a:buChar char="v"/>
            </a:pPr>
            <a:r>
              <a:rPr lang="en-US" sz="3200" dirty="0" smtClean="0"/>
              <a:t>The magic wand tool lets you to select a consistently colored area (for example , a red flower) without having to trace it’s outline. You specify the color range , or tolerance, for the magic wand tool’s selection</a:t>
            </a:r>
            <a:endParaRPr lang="en-US" sz="3200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04" y="5633503"/>
            <a:ext cx="1224497" cy="12244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803" y="709367"/>
            <a:ext cx="1015372" cy="977765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6008" y="4572000"/>
            <a:ext cx="3393282" cy="2203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1848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095375"/>
            <a:ext cx="8596668" cy="1320800"/>
          </a:xfrm>
        </p:spPr>
        <p:txBody>
          <a:bodyPr>
            <a:normAutofit/>
          </a:bodyPr>
          <a:lstStyle/>
          <a:p>
            <a:r>
              <a:rPr lang="en-US" sz="4800" dirty="0" smtClean="0">
                <a:solidFill>
                  <a:schemeClr val="accent1">
                    <a:lumMod val="75000"/>
                  </a:schemeClr>
                </a:solidFill>
              </a:rPr>
              <a:t>IMAGE EDITING TOOLS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860551"/>
            <a:ext cx="8596668" cy="38807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 smtClean="0">
                <a:solidFill>
                  <a:srgbClr val="92D050"/>
                </a:solidFill>
              </a:rPr>
              <a:t>Some of the widely used Photoshop tools are:-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 smtClean="0">
                <a:solidFill>
                  <a:schemeClr val="tx1"/>
                </a:solidFill>
              </a:rPr>
              <a:t>Clone Stamp Tool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 smtClean="0">
                <a:solidFill>
                  <a:schemeClr val="tx1"/>
                </a:solidFill>
              </a:rPr>
              <a:t>Blur Tool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 smtClean="0">
                <a:solidFill>
                  <a:schemeClr val="tx1"/>
                </a:solidFill>
              </a:rPr>
              <a:t>Sharpen Tool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 smtClean="0">
                <a:solidFill>
                  <a:schemeClr val="tx1"/>
                </a:solidFill>
              </a:rPr>
              <a:t>Smudge Tool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 smtClean="0">
                <a:solidFill>
                  <a:schemeClr val="tx1"/>
                </a:solidFill>
              </a:rPr>
              <a:t>Doge Tool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 smtClean="0">
                <a:solidFill>
                  <a:schemeClr val="tx1"/>
                </a:solidFill>
              </a:rPr>
              <a:t>Burn Tool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US" sz="2000" dirty="0" smtClean="0">
                <a:solidFill>
                  <a:schemeClr val="tx1"/>
                </a:solidFill>
              </a:rPr>
              <a:t>Sponge Tool</a:t>
            </a:r>
            <a:endParaRPr lang="en-US" sz="2000" dirty="0">
              <a:solidFill>
                <a:schemeClr val="tx1"/>
              </a:solidFill>
            </a:endParaRP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04" y="5633503"/>
            <a:ext cx="1224497" cy="12244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21489881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999892"/>
            <a:ext cx="5243964" cy="951571"/>
          </a:xfrm>
        </p:spPr>
        <p:txBody>
          <a:bodyPr>
            <a:noAutofit/>
          </a:bodyPr>
          <a:lstStyle/>
          <a:p>
            <a:r>
              <a:rPr lang="en-US" sz="4800" dirty="0" smtClean="0">
                <a:solidFill>
                  <a:schemeClr val="accent1">
                    <a:lumMod val="75000"/>
                  </a:schemeClr>
                </a:solidFill>
              </a:rPr>
              <a:t>Clone Stamp Tool</a:t>
            </a:r>
            <a:endParaRPr lang="en-US" sz="4800" dirty="0">
              <a:solidFill>
                <a:schemeClr val="accent1">
                  <a:lumMod val="75000"/>
                </a:schemeClr>
              </a:solidFill>
            </a:endParaRP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 </a:t>
            </a:r>
            <a:r>
              <a:rPr lang="en-US" sz="2400" dirty="0" smtClean="0"/>
              <a:t>clone </a:t>
            </a:r>
            <a:r>
              <a:rPr lang="en-US" sz="2400" dirty="0"/>
              <a:t>stamp tool operates like a brush tool except that rather than selecting a color to paint with you  select an area of the image to duplicate or clone by </a:t>
            </a:r>
            <a:r>
              <a:rPr lang="en-US" sz="2400" dirty="0" err="1" smtClean="0"/>
              <a:t>Ait+Clicking</a:t>
            </a:r>
            <a:r>
              <a:rPr lang="en-US" sz="2400" dirty="0" smtClean="0"/>
              <a:t> </a:t>
            </a:r>
            <a:r>
              <a:rPr lang="en-US" sz="2400" dirty="0"/>
              <a:t>the area you wish </a:t>
            </a:r>
            <a:r>
              <a:rPr lang="en-US" sz="2400" dirty="0" smtClean="0"/>
              <a:t>to duplicate.</a:t>
            </a:r>
            <a:endParaRPr lang="en-US" sz="2400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04" y="5633503"/>
            <a:ext cx="1224497" cy="12244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21298" y="422406"/>
            <a:ext cx="1486973" cy="152905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7832" y="3919158"/>
            <a:ext cx="5378539" cy="2683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5668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995966"/>
            <a:ext cx="8596668" cy="922986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</a:rPr>
              <a:t>Blur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2083315"/>
            <a:ext cx="8596668" cy="388077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The Blur Tool is used to blur areas of the images by painting over them. blur tool has </a:t>
            </a:r>
            <a:r>
              <a:rPr lang="en-US" sz="2400" dirty="0" smtClean="0"/>
              <a:t>various </a:t>
            </a:r>
            <a:r>
              <a:rPr lang="en-US" sz="2400" dirty="0"/>
              <a:t>types of the brush being used. The different types of modes are normal, Lighten, </a:t>
            </a:r>
            <a:r>
              <a:rPr lang="en-US" sz="2400" dirty="0" smtClean="0"/>
              <a:t>Darken, Hue </a:t>
            </a:r>
            <a:r>
              <a:rPr lang="en-US" sz="2400" dirty="0"/>
              <a:t>,Saturation, Color and Luminosity. The Blur Tool is normally used to </a:t>
            </a:r>
            <a:r>
              <a:rPr lang="en-US" sz="2400" dirty="0" smtClean="0"/>
              <a:t>create </a:t>
            </a:r>
            <a:r>
              <a:rPr lang="en-US" sz="2400" dirty="0"/>
              <a:t>mirror images and to make a normal image look like HD image.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04" y="5633503"/>
            <a:ext cx="1224497" cy="12244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7477" y="450761"/>
            <a:ext cx="1468191" cy="146819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9630" y="4082603"/>
            <a:ext cx="3631504" cy="2553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7385917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995966"/>
            <a:ext cx="4615883" cy="910107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</a:rPr>
              <a:t>Sharpen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 Sharpen Tool is used to sharpen areas and edges of </a:t>
            </a:r>
          </a:p>
          <a:p>
            <a:pPr marL="0" indent="0">
              <a:buNone/>
            </a:pPr>
            <a:r>
              <a:rPr lang="en-US" sz="2400" dirty="0"/>
              <a:t>the image by painting over them. The sharpen tool is </a:t>
            </a:r>
          </a:p>
          <a:p>
            <a:pPr marL="0" indent="0">
              <a:buNone/>
            </a:pPr>
            <a:r>
              <a:rPr lang="en-US" sz="2400" dirty="0" smtClean="0"/>
              <a:t>useful </a:t>
            </a:r>
            <a:r>
              <a:rPr lang="en-US" sz="2400" dirty="0"/>
              <a:t>primarily for popping out highlight on shiny </a:t>
            </a:r>
          </a:p>
          <a:p>
            <a:pPr marL="0" indent="0">
              <a:buNone/>
            </a:pPr>
            <a:r>
              <a:rPr lang="en-US" sz="2400" dirty="0"/>
              <a:t>objects, or maybe to give an important object a little </a:t>
            </a:r>
          </a:p>
          <a:p>
            <a:pPr marL="0" indent="0">
              <a:buNone/>
            </a:pPr>
            <a:r>
              <a:rPr lang="en-US" sz="2400" dirty="0"/>
              <a:t>extra "pop" after you've though, and always create a </a:t>
            </a:r>
          </a:p>
          <a:p>
            <a:pPr marL="0" indent="0">
              <a:buNone/>
            </a:pPr>
            <a:r>
              <a:rPr lang="en-US" sz="2400" dirty="0"/>
              <a:t>snapshot first because it's so easy to redo it.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04" y="5633503"/>
            <a:ext cx="1224497" cy="12244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75668" y="798489"/>
            <a:ext cx="782296" cy="104748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113" y="4670721"/>
            <a:ext cx="2474350" cy="17475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34106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864116"/>
            <a:ext cx="3946181" cy="1103290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</a:rPr>
              <a:t>Smudge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851496"/>
            <a:ext cx="8596668" cy="388077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400" dirty="0"/>
              <a:t>The Smudge Tool is grouped with the retouching tool, </a:t>
            </a:r>
          </a:p>
          <a:p>
            <a:pPr marL="0" indent="0">
              <a:buNone/>
            </a:pPr>
            <a:r>
              <a:rPr lang="en-US" sz="2400" dirty="0" smtClean="0"/>
              <a:t>but </a:t>
            </a:r>
            <a:r>
              <a:rPr lang="en-US" sz="2400" dirty="0"/>
              <a:t>it's actually used more often in painting. For </a:t>
            </a:r>
          </a:p>
          <a:p>
            <a:pPr marL="0" indent="0">
              <a:buNone/>
            </a:pPr>
            <a:r>
              <a:rPr lang="en-US" sz="2400" dirty="0" smtClean="0"/>
              <a:t>retouching </a:t>
            </a:r>
            <a:r>
              <a:rPr lang="en-US" sz="2400" dirty="0"/>
              <a:t>purposes it can be used to quickly rub out a </a:t>
            </a:r>
          </a:p>
          <a:p>
            <a:pPr marL="0" indent="0">
              <a:buNone/>
            </a:pPr>
            <a:r>
              <a:rPr lang="en-US" sz="2400" dirty="0" smtClean="0"/>
              <a:t>minor </a:t>
            </a:r>
            <a:r>
              <a:rPr lang="en-US" sz="2400" dirty="0"/>
              <a:t>blemish, touch up the shine on someone, and so </a:t>
            </a:r>
          </a:p>
          <a:p>
            <a:pPr marL="0" indent="0">
              <a:buNone/>
            </a:pPr>
            <a:r>
              <a:rPr lang="en-US" sz="2400" dirty="0"/>
              <a:t>on. It can also be useful for blending out the </a:t>
            </a:r>
            <a:r>
              <a:rPr lang="en-US" sz="2400" dirty="0" smtClean="0"/>
              <a:t>jaggiest </a:t>
            </a:r>
            <a:r>
              <a:rPr lang="en-US" sz="2400" dirty="0"/>
              <a:t>that </a:t>
            </a:r>
          </a:p>
          <a:p>
            <a:pPr marL="0" indent="0">
              <a:buNone/>
            </a:pPr>
            <a:r>
              <a:rPr lang="en-US" sz="2400" dirty="0"/>
              <a:t>can sometime occur when sizing up an image. this is </a:t>
            </a:r>
          </a:p>
          <a:p>
            <a:pPr marL="0" indent="0">
              <a:buNone/>
            </a:pPr>
            <a:r>
              <a:rPr lang="en-US" sz="2400" dirty="0"/>
              <a:t>another tool you want to be careful not to overdo and </a:t>
            </a:r>
          </a:p>
          <a:p>
            <a:pPr marL="0" indent="0">
              <a:buNone/>
            </a:pPr>
            <a:r>
              <a:rPr lang="en-US" sz="2400" dirty="0"/>
              <a:t>be sure to keep the pressure setting low.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04" y="5633503"/>
            <a:ext cx="1224497" cy="12244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09235" y="763487"/>
            <a:ext cx="908985" cy="90898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2971" y="5267460"/>
            <a:ext cx="2064511" cy="1517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40108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3173449" cy="871470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</a:rPr>
              <a:t>Dodge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616900"/>
            <a:ext cx="8596668" cy="388077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/>
              <a:t>The dodge Tool work best on grayscale images. On </a:t>
            </a:r>
          </a:p>
          <a:p>
            <a:pPr marL="0" indent="0">
              <a:buNone/>
            </a:pPr>
            <a:r>
              <a:rPr lang="en-US" sz="2000" dirty="0"/>
              <a:t>color image the dodge tool will wash out color and </a:t>
            </a:r>
          </a:p>
          <a:p>
            <a:pPr marL="0" indent="0">
              <a:buNone/>
            </a:pPr>
            <a:r>
              <a:rPr lang="en-US" sz="2000" dirty="0"/>
              <a:t>details In a grayscale image, this tool is used to lighten  </a:t>
            </a:r>
          </a:p>
          <a:p>
            <a:pPr marL="0" indent="0">
              <a:buNone/>
            </a:pPr>
            <a:r>
              <a:rPr lang="en-US" sz="2000" dirty="0"/>
              <a:t>shadows or overexposed area and to darken </a:t>
            </a:r>
          </a:p>
          <a:p>
            <a:pPr marL="0" indent="0">
              <a:buNone/>
            </a:pPr>
            <a:r>
              <a:rPr lang="en-US" sz="2000" dirty="0"/>
              <a:t>underexposed areas. It has </a:t>
            </a:r>
            <a:r>
              <a:rPr lang="en-US" sz="2000" dirty="0" smtClean="0"/>
              <a:t>a unique </a:t>
            </a:r>
            <a:r>
              <a:rPr lang="en-US" sz="2000" dirty="0"/>
              <a:t>option for "range"  </a:t>
            </a:r>
          </a:p>
          <a:p>
            <a:pPr marL="0" indent="0">
              <a:buNone/>
            </a:pPr>
            <a:r>
              <a:rPr lang="en-US" sz="2000" dirty="0"/>
              <a:t>with choices of highlights, </a:t>
            </a:r>
            <a:r>
              <a:rPr lang="en-US" sz="2000" dirty="0" smtClean="0"/>
              <a:t>Mistunes, </a:t>
            </a:r>
            <a:r>
              <a:rPr lang="en-US" sz="2000" dirty="0"/>
              <a:t>and shadows. In </a:t>
            </a:r>
          </a:p>
          <a:p>
            <a:pPr marL="0" indent="0">
              <a:buNone/>
            </a:pPr>
            <a:r>
              <a:rPr lang="en-US" sz="2000" dirty="0"/>
              <a:t>grayscale image, one example where the dodge tool is </a:t>
            </a:r>
          </a:p>
          <a:p>
            <a:pPr marL="0" indent="0">
              <a:buNone/>
            </a:pPr>
            <a:r>
              <a:rPr lang="en-US" sz="2000" dirty="0"/>
              <a:t>useful would be for removing dark shadows from under </a:t>
            </a:r>
          </a:p>
          <a:p>
            <a:pPr marL="0" indent="0">
              <a:buNone/>
            </a:pPr>
            <a:r>
              <a:rPr lang="en-US" sz="2000" dirty="0"/>
              <a:t>a person's eyes.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04" y="5633503"/>
            <a:ext cx="1224497" cy="12244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7051" y="444367"/>
            <a:ext cx="914955" cy="91495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93466" y="1737103"/>
            <a:ext cx="3751754" cy="27705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869916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3237843" cy="1141927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</a:rPr>
              <a:t>Burn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77334" y="1632556"/>
            <a:ext cx="8596668" cy="411142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Burn Tool also works best on grayscale images. the </a:t>
            </a:r>
          </a:p>
          <a:p>
            <a:pPr marL="0" indent="0">
              <a:buNone/>
            </a:pPr>
            <a:r>
              <a:rPr lang="en-US" dirty="0"/>
              <a:t>burn tool will just turn the area black or </a:t>
            </a:r>
            <a:r>
              <a:rPr lang="en-US" dirty="0" smtClean="0"/>
              <a:t>sunburned-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looking. In a grayscale </a:t>
            </a:r>
            <a:r>
              <a:rPr lang="en-US" dirty="0" smtClean="0"/>
              <a:t>image, </a:t>
            </a:r>
            <a:r>
              <a:rPr lang="en-US" dirty="0"/>
              <a:t>these tools are used to </a:t>
            </a:r>
          </a:p>
          <a:p>
            <a:pPr marL="0" indent="0">
              <a:buNone/>
            </a:pPr>
            <a:r>
              <a:rPr lang="en-US" dirty="0"/>
              <a:t>lighten </a:t>
            </a:r>
            <a:r>
              <a:rPr lang="en-US" dirty="0" smtClean="0"/>
              <a:t>shadows </a:t>
            </a:r>
            <a:r>
              <a:rPr lang="en-US" dirty="0"/>
              <a:t>or overexposed areas  and to darken </a:t>
            </a:r>
          </a:p>
          <a:p>
            <a:pPr marL="0" indent="0">
              <a:buNone/>
            </a:pPr>
            <a:r>
              <a:rPr lang="en-US" dirty="0"/>
              <a:t>underexposed areas. When set to highlight, only the </a:t>
            </a:r>
          </a:p>
          <a:p>
            <a:pPr marL="0" indent="0">
              <a:buNone/>
            </a:pPr>
            <a:r>
              <a:rPr lang="en-US" dirty="0"/>
              <a:t>lightest areas are affected. when set to shadow, only </a:t>
            </a:r>
          </a:p>
          <a:p>
            <a:pPr marL="0" indent="0">
              <a:buNone/>
            </a:pPr>
            <a:r>
              <a:rPr lang="en-US" dirty="0" smtClean="0"/>
              <a:t>the darkest areas are affected. When set to Mistunes, </a:t>
            </a:r>
          </a:p>
          <a:p>
            <a:pPr marL="0" indent="0">
              <a:buNone/>
            </a:pPr>
            <a:r>
              <a:rPr lang="en-US" dirty="0" smtClean="0"/>
              <a:t>only </a:t>
            </a:r>
            <a:r>
              <a:rPr lang="en-US" dirty="0"/>
              <a:t>the middle tones are affected. 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04" y="5633503"/>
            <a:ext cx="1224497" cy="12244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482" y="518534"/>
            <a:ext cx="1038225" cy="94297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7758" y="4588949"/>
            <a:ext cx="5512158" cy="2089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78658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018662"/>
            <a:ext cx="4049212" cy="1141927"/>
          </a:xfrm>
        </p:spPr>
        <p:txBody>
          <a:bodyPr>
            <a:normAutofit/>
          </a:bodyPr>
          <a:lstStyle/>
          <a:p>
            <a:r>
              <a:rPr lang="en-US" sz="4800" dirty="0">
                <a:solidFill>
                  <a:schemeClr val="accent1">
                    <a:lumMod val="75000"/>
                  </a:schemeClr>
                </a:solidFill>
              </a:rPr>
              <a:t>Sponge Tool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The Sponge Tool Allows you to adjust the color saturation where you paint. It has two month: </a:t>
            </a:r>
            <a:r>
              <a:rPr lang="en-US" sz="2400" dirty="0" smtClean="0"/>
              <a:t>de-saturate </a:t>
            </a:r>
            <a:r>
              <a:rPr lang="en-US" sz="2400" dirty="0"/>
              <a:t>and saturate. The pressure option control how strong the effect is applied. </a:t>
            </a:r>
            <a:r>
              <a:rPr lang="en-US" sz="2400" dirty="0" smtClean="0"/>
              <a:t>De-saturate </a:t>
            </a:r>
            <a:r>
              <a:rPr lang="en-US" sz="2400" dirty="0"/>
              <a:t>mode dulls the color, making them grey. saturate mode intensifies the color, </a:t>
            </a:r>
            <a:r>
              <a:rPr lang="en-US" sz="2400" dirty="0" smtClean="0"/>
              <a:t>making </a:t>
            </a:r>
            <a:r>
              <a:rPr lang="en-US" sz="2400" dirty="0"/>
              <a:t>them brighter. In </a:t>
            </a:r>
            <a:r>
              <a:rPr lang="en-US" sz="2400" dirty="0" smtClean="0"/>
              <a:t>de-saturate </a:t>
            </a:r>
            <a:r>
              <a:rPr lang="en-US" sz="2400" dirty="0"/>
              <a:t>mode, the sponge tool is also useful for toning down color in the background of an image when you for giving a color photo a vintage, colorized appearance.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04" y="5633503"/>
            <a:ext cx="1224497" cy="12244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96326" y="1018662"/>
            <a:ext cx="1016000" cy="914400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1609" y="5193046"/>
            <a:ext cx="3969197" cy="15876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641461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 rot="20127887">
            <a:off x="1327617" y="2781750"/>
            <a:ext cx="7315147" cy="1320800"/>
          </a:xfrm>
        </p:spPr>
        <p:txBody>
          <a:bodyPr>
            <a:noAutofit/>
          </a:bodyPr>
          <a:lstStyle/>
          <a:p>
            <a:r>
              <a:rPr lang="en-US" sz="9600" dirty="0" smtClean="0">
                <a:latin typeface="Algerian" panose="04020705040A02060702" pitchFamily="82" charset="0"/>
              </a:rPr>
              <a:t>Thank You</a:t>
            </a:r>
            <a:endParaRPr lang="en-US" sz="9600" dirty="0">
              <a:latin typeface="Algerian" panose="04020705040A02060702" pitchFamily="82" charset="0"/>
            </a:endParaRP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5704" y="5633503"/>
            <a:ext cx="1224497" cy="1224497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</p:spTree>
    <p:extLst>
      <p:ext uri="{BB962C8B-B14F-4D97-AF65-F5344CB8AC3E}">
        <p14:creationId xmlns:p14="http://schemas.microsoft.com/office/powerpoint/2010/main" val="6105143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8C59B386-999D-4CB6-B907-9F3997C027C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787</TotalTime>
  <Words>797</Words>
  <Application>Microsoft Office PowerPoint</Application>
  <PresentationFormat>Widescreen</PresentationFormat>
  <Paragraphs>76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Algerian</vt:lpstr>
      <vt:lpstr>Arial</vt:lpstr>
      <vt:lpstr>Trebuchet MS</vt:lpstr>
      <vt:lpstr>Wingdings</vt:lpstr>
      <vt:lpstr>Wingdings 3</vt:lpstr>
      <vt:lpstr>Facet</vt:lpstr>
      <vt:lpstr>PRESENTATION ON     ADOBE PHOTOSHOP TOOLS</vt:lpstr>
      <vt:lpstr>SELECTION TOOLs</vt:lpstr>
      <vt:lpstr>MARQUEE TOOLs. </vt:lpstr>
      <vt:lpstr>LASSO TOOLS</vt:lpstr>
      <vt:lpstr>MAGIC WAND TOOL</vt:lpstr>
      <vt:lpstr>IMAGE EDITING TOOLS</vt:lpstr>
      <vt:lpstr>Clone Stamp Tool</vt:lpstr>
      <vt:lpstr>Blur Tool</vt:lpstr>
      <vt:lpstr>Sharpen Tool</vt:lpstr>
      <vt:lpstr>Smudge Tool</vt:lpstr>
      <vt:lpstr>Dodge Tool</vt:lpstr>
      <vt:lpstr>Burn Tool</vt:lpstr>
      <vt:lpstr>Sponge Tool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PERSENTATION ON    HTML &amp; CSS</dc:title>
  <dc:creator>rahul beniwal</dc:creator>
  <cp:lastModifiedBy>JAMIE</cp:lastModifiedBy>
  <cp:revision>47</cp:revision>
  <dcterms:created xsi:type="dcterms:W3CDTF">2015-10-05T12:23:06Z</dcterms:created>
  <dcterms:modified xsi:type="dcterms:W3CDTF">2024-08-08T11:15:04Z</dcterms:modified>
</cp:coreProperties>
</file>