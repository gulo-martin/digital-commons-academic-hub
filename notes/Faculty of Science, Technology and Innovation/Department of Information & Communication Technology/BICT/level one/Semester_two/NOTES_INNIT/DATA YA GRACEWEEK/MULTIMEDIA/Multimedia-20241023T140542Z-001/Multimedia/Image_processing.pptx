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291" r:id="rId3"/>
    <p:sldId id="294" r:id="rId4"/>
    <p:sldId id="292" r:id="rId5"/>
    <p:sldId id="296" r:id="rId6"/>
    <p:sldId id="297" r:id="rId7"/>
    <p:sldId id="295" r:id="rId8"/>
    <p:sldId id="257" r:id="rId9"/>
    <p:sldId id="299" r:id="rId10"/>
    <p:sldId id="300" r:id="rId11"/>
    <p:sldId id="301" r:id="rId12"/>
    <p:sldId id="302" r:id="rId13"/>
    <p:sldId id="303" r:id="rId14"/>
    <p:sldId id="304" r:id="rId15"/>
    <p:sldId id="305" r:id="rId16"/>
    <p:sldId id="306" r:id="rId17"/>
    <p:sldId id="307" r:id="rId18"/>
    <p:sldId id="308" r:id="rId19"/>
    <p:sldId id="290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  <a:srgbClr val="B98A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4660"/>
  </p:normalViewPr>
  <p:slideViewPr>
    <p:cSldViewPr snapToGrid="0">
      <p:cViewPr varScale="1">
        <p:scale>
          <a:sx n="83" d="100"/>
          <a:sy n="83" d="100"/>
        </p:scale>
        <p:origin x="14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C8FAB-DF08-466D-8AF2-9B090A0E80B2}" type="datetimeFigureOut">
              <a:rPr lang="en-GB" smtClean="0"/>
              <a:t>08/08/2024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73F1A5-0698-409E-8303-28A25C9614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06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B519BD-27E0-4592-B354-4E86253EF4DA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932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932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92521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B519BD-27E0-4592-B354-4E86253EF4DA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932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932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3046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B519BD-27E0-4592-B354-4E86253EF4DA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932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932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46147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B519BD-27E0-4592-B354-4E86253EF4DA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932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932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42419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B519BD-27E0-4592-B354-4E86253EF4DA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932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932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05851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B519BD-27E0-4592-B354-4E86253EF4DA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932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932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41099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B519BD-27E0-4592-B354-4E86253EF4DA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932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932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53559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B519BD-27E0-4592-B354-4E86253EF4DA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932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932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01725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B519BD-27E0-4592-B354-4E86253EF4DA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932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932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95000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B519BD-27E0-4592-B354-4E86253EF4DA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932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932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66275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B519BD-27E0-4592-B354-4E86253EF4DA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932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932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91012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B519BD-27E0-4592-B354-4E86253EF4DA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932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932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75429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B519BD-27E0-4592-B354-4E86253EF4DA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932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932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55476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B519BD-27E0-4592-B354-4E86253EF4DA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932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932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18881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B519BD-27E0-4592-B354-4E86253EF4DA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932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932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43117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B519BD-27E0-4592-B354-4E86253EF4DA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932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932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26065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B519BD-27E0-4592-B354-4E86253EF4DA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932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932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24438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B519BD-27E0-4592-B354-4E86253EF4DA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932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932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3836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C9AF2-9799-4EAD-B0AA-2A2FEA1669A1}" type="datetimeFigureOut">
              <a:rPr lang="en-GB" smtClean="0"/>
              <a:t>08/08/2024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0F0D4-436F-4F01-B9ED-A2214D06AE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8327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C9AF2-9799-4EAD-B0AA-2A2FEA1669A1}" type="datetimeFigureOut">
              <a:rPr lang="en-GB" smtClean="0"/>
              <a:t>08/08/2024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0F0D4-436F-4F01-B9ED-A2214D06AE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0394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C9AF2-9799-4EAD-B0AA-2A2FEA1669A1}" type="datetimeFigureOut">
              <a:rPr lang="en-GB" smtClean="0"/>
              <a:t>08/08/2024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0F0D4-436F-4F01-B9ED-A2214D06AE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2791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C9AF2-9799-4EAD-B0AA-2A2FEA1669A1}" type="datetimeFigureOut">
              <a:rPr lang="en-GB" smtClean="0"/>
              <a:t>08/08/2024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0F0D4-436F-4F01-B9ED-A2214D06AE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4301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C9AF2-9799-4EAD-B0AA-2A2FEA1669A1}" type="datetimeFigureOut">
              <a:rPr lang="en-GB" smtClean="0"/>
              <a:t>08/08/2024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0F0D4-436F-4F01-B9ED-A2214D06AE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8780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C9AF2-9799-4EAD-B0AA-2A2FEA1669A1}" type="datetimeFigureOut">
              <a:rPr lang="en-GB" smtClean="0"/>
              <a:t>08/08/2024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0F0D4-436F-4F01-B9ED-A2214D06AE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3061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C9AF2-9799-4EAD-B0AA-2A2FEA1669A1}" type="datetimeFigureOut">
              <a:rPr lang="en-GB" smtClean="0"/>
              <a:t>08/08/2024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0F0D4-436F-4F01-B9ED-A2214D06AE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9491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C9AF2-9799-4EAD-B0AA-2A2FEA1669A1}" type="datetimeFigureOut">
              <a:rPr lang="en-GB" smtClean="0"/>
              <a:t>08/08/2024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0F0D4-436F-4F01-B9ED-A2214D06AE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6882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C9AF2-9799-4EAD-B0AA-2A2FEA1669A1}" type="datetimeFigureOut">
              <a:rPr lang="en-GB" smtClean="0"/>
              <a:t>08/08/2024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0F0D4-436F-4F01-B9ED-A2214D06AE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2155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C9AF2-9799-4EAD-B0AA-2A2FEA1669A1}" type="datetimeFigureOut">
              <a:rPr lang="en-GB" smtClean="0"/>
              <a:t>08/08/2024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0F0D4-436F-4F01-B9ED-A2214D06AE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3717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C9AF2-9799-4EAD-B0AA-2A2FEA1669A1}" type="datetimeFigureOut">
              <a:rPr lang="en-GB" smtClean="0"/>
              <a:t>08/08/2024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0F0D4-436F-4F01-B9ED-A2214D06AE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6871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7C9AF2-9799-4EAD-B0AA-2A2FEA1669A1}" type="datetimeFigureOut">
              <a:rPr lang="en-GB" smtClean="0"/>
              <a:t>08/08/2024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A0F0D4-436F-4F01-B9ED-A2214D06AE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1500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799" y="1122363"/>
            <a:ext cx="8171873" cy="1426873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>STEPS IN IMAGE PROCESSING</a:t>
            </a:r>
            <a:endParaRPr lang="en-GB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411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4.</a:t>
            </a:r>
            <a:fld id="{BF2F1046-DE2F-40DA-A3F5-D242A312FB74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860162" name="Line 2"/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60163" name="Line 3"/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60165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" name="Rectangle 1"/>
          <p:cNvSpPr/>
          <p:nvPr/>
        </p:nvSpPr>
        <p:spPr>
          <a:xfrm>
            <a:off x="439615" y="567780"/>
            <a:ext cx="4572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4400" b="1" dirty="0">
                <a:latin typeface="Arial" panose="020B0604020202020204" pitchFamily="34" charset="0"/>
              </a:rPr>
              <a:t>What is Image ?</a:t>
            </a:r>
            <a:r>
              <a:rPr lang="en-GB" sz="4400" dirty="0"/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435" y="1507516"/>
            <a:ext cx="798022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rgbClr val="000000"/>
                </a:solidFill>
                <a:latin typeface="Arial" panose="020B0604020202020204" pitchFamily="34" charset="0"/>
              </a:rPr>
              <a:t>An </a:t>
            </a:r>
            <a:r>
              <a:rPr lang="en-GB" sz="2400" dirty="0">
                <a:solidFill>
                  <a:srgbClr val="000000"/>
                </a:solidFill>
                <a:latin typeface="Arial" panose="020B0604020202020204" pitchFamily="34" charset="0"/>
              </a:rPr>
              <a:t>image is a spatial representation of a </a:t>
            </a:r>
            <a:r>
              <a:rPr lang="en-GB" sz="24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two</a:t>
            </a:r>
            <a:r>
              <a:rPr lang="en-GB" sz="24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GB" sz="24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dimensional</a:t>
            </a:r>
            <a:r>
              <a:rPr lang="en-GB" sz="24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GB" sz="2400" dirty="0">
                <a:solidFill>
                  <a:srgbClr val="000000"/>
                </a:solidFill>
                <a:latin typeface="Arial" panose="020B0604020202020204" pitchFamily="34" charset="0"/>
              </a:rPr>
              <a:t>or </a:t>
            </a:r>
            <a:r>
              <a:rPr lang="en-GB" sz="24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three dimensional </a:t>
            </a:r>
            <a:r>
              <a:rPr lang="en-GB" sz="2400" dirty="0" smtClean="0">
                <a:solidFill>
                  <a:srgbClr val="000000"/>
                </a:solidFill>
                <a:latin typeface="Arial" panose="020B0604020202020204" pitchFamily="34" charset="0"/>
              </a:rPr>
              <a:t>scene.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rgbClr val="000000"/>
                </a:solidFill>
                <a:latin typeface="Arial" panose="020B0604020202020204" pitchFamily="34" charset="0"/>
              </a:rPr>
              <a:t>An </a:t>
            </a:r>
            <a:r>
              <a:rPr lang="en-GB" sz="2400" dirty="0">
                <a:solidFill>
                  <a:srgbClr val="000000"/>
                </a:solidFill>
                <a:latin typeface="Arial" panose="020B0604020202020204" pitchFamily="34" charset="0"/>
              </a:rPr>
              <a:t>image is an array, or a matrix pixels (</a:t>
            </a:r>
            <a:r>
              <a:rPr lang="en-GB" sz="2400" dirty="0" smtClean="0">
                <a:solidFill>
                  <a:srgbClr val="000000"/>
                </a:solidFill>
                <a:latin typeface="Arial" panose="020B0604020202020204" pitchFamily="34" charset="0"/>
              </a:rPr>
              <a:t>picture elements</a:t>
            </a:r>
            <a:r>
              <a:rPr lang="en-GB" sz="2400" dirty="0">
                <a:solidFill>
                  <a:srgbClr val="000000"/>
                </a:solidFill>
                <a:latin typeface="Arial" panose="020B0604020202020204" pitchFamily="34" charset="0"/>
              </a:rPr>
              <a:t>) arranged in columns and rows</a:t>
            </a:r>
            <a:r>
              <a:rPr lang="en-GB" sz="2400" dirty="0" smtClean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en-GB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8937" y="3579842"/>
            <a:ext cx="2680555" cy="254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399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4.</a:t>
            </a:r>
            <a:fld id="{BF2F1046-DE2F-40DA-A3F5-D242A312FB74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860162" name="Line 2"/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60163" name="Line 3"/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60165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" name="Rectangle 2"/>
          <p:cNvSpPr/>
          <p:nvPr/>
        </p:nvSpPr>
        <p:spPr>
          <a:xfrm>
            <a:off x="263967" y="652949"/>
            <a:ext cx="1019321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200" b="1" dirty="0">
                <a:latin typeface="Arial" panose="020B0604020202020204" pitchFamily="34" charset="0"/>
              </a:rPr>
              <a:t>WHAT IS DIGITAL IMAGE PROCESSING?</a:t>
            </a:r>
            <a:r>
              <a:rPr lang="en-GB" sz="3200" dirty="0"/>
              <a:t> 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330244" y="1612721"/>
            <a:ext cx="8037901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DIP Definition:</a:t>
            </a:r>
            <a:b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Discipline in Which Both the Input and Output of a</a:t>
            </a:r>
            <a:r>
              <a:rPr kumimoji="0" lang="en-US" altLang="en-US" sz="2400" b="0" i="0" u="none" strike="noStrike" cap="none" normalizeH="0" dirty="0" smtClean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Process are Images.</a:t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 smtClean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37812" y="3673185"/>
            <a:ext cx="2022763" cy="11499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501628"/>
              </p:ext>
            </p:extLst>
          </p:nvPr>
        </p:nvGraphicFramePr>
        <p:xfrm>
          <a:off x="3338324" y="4008407"/>
          <a:ext cx="2022251" cy="579120"/>
        </p:xfrm>
        <a:graphic>
          <a:graphicData uri="http://schemas.openxmlformats.org/drawingml/2006/table">
            <a:tbl>
              <a:tblPr/>
              <a:tblGrid>
                <a:gridCol w="2022251">
                  <a:extLst>
                    <a:ext uri="{9D8B030D-6E8A-4147-A177-3AD203B41FA5}">
                      <a16:colId xmlns:a16="http://schemas.microsoft.com/office/drawing/2014/main" val="5313882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3200" b="1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Process </a:t>
                      </a:r>
                      <a:endParaRPr lang="en-GB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51865075"/>
                  </a:ext>
                </a:extLst>
              </a:tr>
            </a:tbl>
          </a:graphicData>
        </a:graphic>
      </p:graphicFrame>
      <p:sp>
        <p:nvSpPr>
          <p:cNvPr id="9" name="Right Arrow 8"/>
          <p:cNvSpPr/>
          <p:nvPr/>
        </p:nvSpPr>
        <p:spPr>
          <a:xfrm>
            <a:off x="2117478" y="3890614"/>
            <a:ext cx="955963" cy="8147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ight Arrow 12"/>
          <p:cNvSpPr/>
          <p:nvPr/>
        </p:nvSpPr>
        <p:spPr>
          <a:xfrm>
            <a:off x="5624946" y="3772822"/>
            <a:ext cx="955963" cy="8147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0324510"/>
              </p:ext>
            </p:extLst>
          </p:nvPr>
        </p:nvGraphicFramePr>
        <p:xfrm>
          <a:off x="436365" y="3958588"/>
          <a:ext cx="1548927" cy="579120"/>
        </p:xfrm>
        <a:graphic>
          <a:graphicData uri="http://schemas.openxmlformats.org/drawingml/2006/table">
            <a:tbl>
              <a:tblPr/>
              <a:tblGrid>
                <a:gridCol w="1548927">
                  <a:extLst>
                    <a:ext uri="{9D8B030D-6E8A-4147-A177-3AD203B41FA5}">
                      <a16:colId xmlns:a16="http://schemas.microsoft.com/office/drawing/2014/main" val="5313882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3200" b="1" i="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Image </a:t>
                      </a:r>
                      <a:endParaRPr lang="en-GB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1865075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5394094"/>
              </p:ext>
            </p:extLst>
          </p:nvPr>
        </p:nvGraphicFramePr>
        <p:xfrm>
          <a:off x="6725217" y="3958588"/>
          <a:ext cx="1522865" cy="579120"/>
        </p:xfrm>
        <a:graphic>
          <a:graphicData uri="http://schemas.openxmlformats.org/drawingml/2006/table">
            <a:tbl>
              <a:tblPr/>
              <a:tblGrid>
                <a:gridCol w="1522865">
                  <a:extLst>
                    <a:ext uri="{9D8B030D-6E8A-4147-A177-3AD203B41FA5}">
                      <a16:colId xmlns:a16="http://schemas.microsoft.com/office/drawing/2014/main" val="5313882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3200" b="1" i="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Image</a:t>
                      </a:r>
                      <a:endParaRPr lang="en-GB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1865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59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4.</a:t>
            </a:r>
            <a:fld id="{BF2F1046-DE2F-40DA-A3F5-D242A312FB74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860162" name="Line 2"/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60163" name="Line 3"/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60165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" name="Rectangle 1"/>
          <p:cNvSpPr/>
          <p:nvPr/>
        </p:nvSpPr>
        <p:spPr>
          <a:xfrm>
            <a:off x="152400" y="602159"/>
            <a:ext cx="638321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400" b="1" dirty="0">
                <a:solidFill>
                  <a:srgbClr val="660033"/>
                </a:solidFill>
                <a:latin typeface="Arial" panose="020B0604020202020204" pitchFamily="34" charset="0"/>
              </a:rPr>
              <a:t>What Is Digital Image ?</a:t>
            </a:r>
            <a:r>
              <a:rPr lang="en-GB" sz="4400" dirty="0">
                <a:solidFill>
                  <a:srgbClr val="660033"/>
                </a:solidFill>
              </a:rPr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205154" y="1408729"/>
            <a:ext cx="8938846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000000"/>
                </a:solidFill>
                <a:latin typeface="Arial" panose="020B0604020202020204" pitchFamily="34" charset="0"/>
              </a:rPr>
              <a:t>An image may be defined as a </a:t>
            </a:r>
            <a:r>
              <a:rPr lang="en-GB" sz="2000" dirty="0">
                <a:solidFill>
                  <a:srgbClr val="FF0000"/>
                </a:solidFill>
                <a:latin typeface="Arial" panose="020B0604020202020204" pitchFamily="34" charset="0"/>
              </a:rPr>
              <a:t>two-dimensional</a:t>
            </a:r>
            <a:r>
              <a:rPr lang="en-GB" sz="2000" dirty="0">
                <a:solidFill>
                  <a:srgbClr val="000000"/>
                </a:solidFill>
                <a:latin typeface="Arial" panose="020B0604020202020204" pitchFamily="34" charset="0"/>
              </a:rPr>
              <a:t> function, </a:t>
            </a:r>
            <a:r>
              <a:rPr lang="en-GB" sz="2000" b="1" dirty="0">
                <a:solidFill>
                  <a:srgbClr val="000000"/>
                </a:solidFill>
                <a:latin typeface="Arial" panose="020B0604020202020204" pitchFamily="34" charset="0"/>
              </a:rPr>
              <a:t>f(x, y)</a:t>
            </a:r>
            <a:r>
              <a:rPr lang="en-GB" sz="2000" dirty="0">
                <a:solidFill>
                  <a:srgbClr val="000000"/>
                </a:solidFill>
                <a:latin typeface="Arial" panose="020B0604020202020204" pitchFamily="34" charset="0"/>
              </a:rPr>
              <a:t>,</a:t>
            </a:r>
            <a:br>
              <a:rPr lang="en-GB" sz="200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GB" sz="2000" dirty="0">
                <a:solidFill>
                  <a:srgbClr val="000000"/>
                </a:solidFill>
                <a:latin typeface="Arial" panose="020B0604020202020204" pitchFamily="34" charset="0"/>
              </a:rPr>
              <a:t>where </a:t>
            </a:r>
            <a:r>
              <a:rPr lang="en-GB" sz="2000" b="1" dirty="0">
                <a:solidFill>
                  <a:srgbClr val="000000"/>
                </a:solidFill>
                <a:latin typeface="Arial" panose="020B0604020202020204" pitchFamily="34" charset="0"/>
              </a:rPr>
              <a:t>x </a:t>
            </a:r>
            <a:r>
              <a:rPr lang="en-GB" sz="2000" dirty="0">
                <a:solidFill>
                  <a:srgbClr val="000000"/>
                </a:solidFill>
                <a:latin typeface="Arial" panose="020B0604020202020204" pitchFamily="34" charset="0"/>
              </a:rPr>
              <a:t>and </a:t>
            </a:r>
            <a:r>
              <a:rPr lang="en-GB" sz="2000" b="1" dirty="0">
                <a:solidFill>
                  <a:srgbClr val="000000"/>
                </a:solidFill>
                <a:latin typeface="Arial" panose="020B0604020202020204" pitchFamily="34" charset="0"/>
              </a:rPr>
              <a:t>y </a:t>
            </a:r>
            <a:r>
              <a:rPr lang="en-GB" sz="2000" dirty="0">
                <a:solidFill>
                  <a:srgbClr val="000000"/>
                </a:solidFill>
                <a:latin typeface="Arial" panose="020B0604020202020204" pitchFamily="34" charset="0"/>
              </a:rPr>
              <a:t>are spatial (plane) coordinates, and </a:t>
            </a:r>
            <a:r>
              <a:rPr lang="en-GB" sz="2000" dirty="0" smtClean="0">
                <a:solidFill>
                  <a:srgbClr val="000000"/>
                </a:solidFill>
                <a:latin typeface="Arial" panose="020B0604020202020204" pitchFamily="34" charset="0"/>
              </a:rPr>
              <a:t>the amplitude </a:t>
            </a:r>
            <a:r>
              <a:rPr lang="en-GB" sz="2000" dirty="0">
                <a:solidFill>
                  <a:srgbClr val="000000"/>
                </a:solidFill>
                <a:latin typeface="Arial" panose="020B0604020202020204" pitchFamily="34" charset="0"/>
              </a:rPr>
              <a:t>of </a:t>
            </a:r>
            <a:r>
              <a:rPr lang="en-GB" sz="2000" b="1" dirty="0">
                <a:solidFill>
                  <a:srgbClr val="000000"/>
                </a:solidFill>
                <a:latin typeface="Arial" panose="020B0604020202020204" pitchFamily="34" charset="0"/>
              </a:rPr>
              <a:t>f </a:t>
            </a:r>
            <a:r>
              <a:rPr lang="en-GB" sz="2000" dirty="0" smtClean="0">
                <a:solidFill>
                  <a:srgbClr val="000000"/>
                </a:solidFill>
                <a:latin typeface="Arial" panose="020B0604020202020204" pitchFamily="34" charset="0"/>
              </a:rPr>
              <a:t>at any </a:t>
            </a:r>
            <a:r>
              <a:rPr lang="en-GB" sz="2000" dirty="0">
                <a:solidFill>
                  <a:srgbClr val="000000"/>
                </a:solidFill>
                <a:latin typeface="Arial" panose="020B0604020202020204" pitchFamily="34" charset="0"/>
              </a:rPr>
              <a:t>pair of coordinates (</a:t>
            </a:r>
            <a:r>
              <a:rPr lang="en-GB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x,y</a:t>
            </a:r>
            <a:r>
              <a:rPr lang="en-GB" sz="2000" dirty="0">
                <a:solidFill>
                  <a:srgbClr val="000000"/>
                </a:solidFill>
                <a:latin typeface="Arial" panose="020B0604020202020204" pitchFamily="34" charset="0"/>
              </a:rPr>
              <a:t>) is called </a:t>
            </a:r>
            <a:r>
              <a:rPr lang="en-GB" sz="2000" dirty="0" smtClean="0">
                <a:solidFill>
                  <a:srgbClr val="000000"/>
                </a:solidFill>
                <a:latin typeface="Arial" panose="020B0604020202020204" pitchFamily="34" charset="0"/>
              </a:rPr>
              <a:t>the </a:t>
            </a:r>
            <a:r>
              <a:rPr lang="en-GB" sz="20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intensity </a:t>
            </a:r>
            <a:r>
              <a:rPr lang="en-GB" sz="2000" dirty="0">
                <a:solidFill>
                  <a:srgbClr val="000000"/>
                </a:solidFill>
                <a:latin typeface="Arial" panose="020B0604020202020204" pitchFamily="34" charset="0"/>
              </a:rPr>
              <a:t>or </a:t>
            </a:r>
            <a:r>
              <a:rPr lang="en-GB" sz="2000" b="1" dirty="0" err="1">
                <a:solidFill>
                  <a:srgbClr val="000000"/>
                </a:solidFill>
                <a:latin typeface="Arial" panose="020B0604020202020204" pitchFamily="34" charset="0"/>
              </a:rPr>
              <a:t>gray</a:t>
            </a:r>
            <a:r>
              <a:rPr lang="en-GB" sz="2000" b="1" dirty="0">
                <a:solidFill>
                  <a:srgbClr val="000000"/>
                </a:solidFill>
                <a:latin typeface="Arial" panose="020B0604020202020204" pitchFamily="34" charset="0"/>
              </a:rPr>
              <a:t> level </a:t>
            </a:r>
            <a:r>
              <a:rPr lang="en-GB" sz="2000" dirty="0">
                <a:solidFill>
                  <a:srgbClr val="000000"/>
                </a:solidFill>
                <a:latin typeface="Arial" panose="020B0604020202020204" pitchFamily="34" charset="0"/>
              </a:rPr>
              <a:t>of the image at that point.</a:t>
            </a:r>
            <a:r>
              <a:rPr lang="en-GB" sz="2400" dirty="0">
                <a:solidFill>
                  <a:srgbClr val="000000"/>
                </a:solidFill>
                <a:latin typeface="Arial" panose="020B0604020202020204" pitchFamily="34" charset="0"/>
              </a:rPr>
              <a:t/>
            </a:r>
            <a:br>
              <a:rPr lang="en-GB" sz="240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GB" sz="2400" dirty="0">
                <a:solidFill>
                  <a:srgbClr val="D34817"/>
                </a:solidFill>
                <a:latin typeface="Wingdings 2" panose="05020102010507070707" pitchFamily="18" charset="2"/>
              </a:rPr>
              <a:t> </a:t>
            </a:r>
            <a:r>
              <a:rPr lang="en-GB" sz="2400" b="1" dirty="0">
                <a:solidFill>
                  <a:srgbClr val="000000"/>
                </a:solidFill>
                <a:latin typeface="Arial" panose="020B0604020202020204" pitchFamily="34" charset="0"/>
              </a:rPr>
              <a:t>Digital Image:</a:t>
            </a:r>
            <a:br>
              <a:rPr lang="en-GB" sz="2400" b="1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GB" sz="2400" dirty="0">
                <a:solidFill>
                  <a:srgbClr val="000000"/>
                </a:solidFill>
                <a:latin typeface="Arial" panose="020B0604020202020204" pitchFamily="34" charset="0"/>
              </a:rPr>
              <a:t>When x, y and the intensity values of f are all finite, discrete</a:t>
            </a:r>
            <a:br>
              <a:rPr lang="en-GB" sz="240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GB" sz="2400" dirty="0">
                <a:solidFill>
                  <a:srgbClr val="000000"/>
                </a:solidFill>
                <a:latin typeface="Arial" panose="020B0604020202020204" pitchFamily="34" charset="0"/>
              </a:rPr>
              <a:t>quantities, we call the image a digital image.</a:t>
            </a:r>
            <a:br>
              <a:rPr lang="en-GB" sz="240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endParaRPr lang="en-GB" sz="240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sz="2400" dirty="0" smtClean="0">
              <a:solidFill>
                <a:srgbClr val="000000"/>
              </a:solidFill>
              <a:latin typeface="Symbol" panose="05050102010706020507" pitchFamily="18" charset="2"/>
            </a:endParaRPr>
          </a:p>
          <a:p>
            <a:endParaRPr lang="en-GB" sz="2400" dirty="0" smtClean="0">
              <a:solidFill>
                <a:srgbClr val="000000"/>
              </a:solidFill>
              <a:latin typeface="Symbol" panose="05050102010706020507" pitchFamily="18" charset="2"/>
            </a:endParaRPr>
          </a:p>
          <a:p>
            <a:r>
              <a:rPr lang="en-GB" sz="2400" dirty="0">
                <a:solidFill>
                  <a:srgbClr val="000000"/>
                </a:solidFill>
                <a:latin typeface="Symbol" panose="05050102010706020507" pitchFamily="18" charset="2"/>
              </a:rPr>
              <a:t/>
            </a:r>
            <a:br>
              <a:rPr lang="en-GB" sz="2400" dirty="0">
                <a:solidFill>
                  <a:srgbClr val="000000"/>
                </a:solidFill>
                <a:latin typeface="Symbol" panose="05050102010706020507" pitchFamily="18" charset="2"/>
              </a:rPr>
            </a:br>
            <a:r>
              <a:rPr lang="en-GB" sz="2400" dirty="0">
                <a:solidFill>
                  <a:srgbClr val="000000"/>
                </a:solidFill>
                <a:latin typeface="Arial" panose="020B0604020202020204" pitchFamily="34" charset="0"/>
              </a:rPr>
              <a:t>The field of digital image processing refers to processing digital</a:t>
            </a:r>
            <a:br>
              <a:rPr lang="en-GB" sz="240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GB" sz="2400" dirty="0">
                <a:solidFill>
                  <a:srgbClr val="000000"/>
                </a:solidFill>
                <a:latin typeface="Arial" panose="020B0604020202020204" pitchFamily="34" charset="0"/>
              </a:rPr>
              <a:t>images by means of a digital computer</a:t>
            </a:r>
            <a:r>
              <a:rPr lang="en-GB" sz="2400" dirty="0"/>
              <a:t> </a:t>
            </a:r>
            <a:br>
              <a:rPr lang="en-GB" sz="2400" dirty="0"/>
            </a:br>
            <a:endParaRPr lang="en-GB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252" y="4153386"/>
            <a:ext cx="4124325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716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4.</a:t>
            </a:r>
            <a:fld id="{BF2F1046-DE2F-40DA-A3F5-D242A312FB74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860162" name="Line 2"/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60163" name="Line 3"/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60165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" name="Rectangle 1"/>
          <p:cNvSpPr/>
          <p:nvPr/>
        </p:nvSpPr>
        <p:spPr>
          <a:xfrm>
            <a:off x="152400" y="602159"/>
            <a:ext cx="638321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400" b="1" dirty="0">
                <a:solidFill>
                  <a:srgbClr val="660033"/>
                </a:solidFill>
                <a:latin typeface="Arial" panose="020B0604020202020204" pitchFamily="34" charset="0"/>
              </a:rPr>
              <a:t>What Is Digital Image ?</a:t>
            </a:r>
            <a:r>
              <a:rPr lang="en-GB" sz="4400" dirty="0">
                <a:solidFill>
                  <a:srgbClr val="660033"/>
                </a:solidFill>
              </a:rPr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t="2767" r="2007"/>
          <a:stretch/>
        </p:blipFill>
        <p:spPr>
          <a:xfrm>
            <a:off x="1270289" y="1440358"/>
            <a:ext cx="6216361" cy="4399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605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4.</a:t>
            </a:r>
            <a:fld id="{BF2F1046-DE2F-40DA-A3F5-D242A312FB74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860162" name="Line 2"/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60163" name="Line 3"/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60165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" name="Rectangle 1"/>
          <p:cNvSpPr/>
          <p:nvPr/>
        </p:nvSpPr>
        <p:spPr>
          <a:xfrm>
            <a:off x="152400" y="602159"/>
            <a:ext cx="638321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400" b="1" dirty="0">
                <a:solidFill>
                  <a:srgbClr val="660033"/>
                </a:solidFill>
                <a:latin typeface="Arial" panose="020B0604020202020204" pitchFamily="34" charset="0"/>
              </a:rPr>
              <a:t>What Is Digital Image ?</a:t>
            </a:r>
            <a:r>
              <a:rPr lang="en-GB" sz="4400" dirty="0">
                <a:solidFill>
                  <a:srgbClr val="660033"/>
                </a:solidFill>
              </a:rPr>
              <a:t>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747837"/>
            <a:ext cx="6400800" cy="336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659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4.</a:t>
            </a:r>
            <a:fld id="{BF2F1046-DE2F-40DA-A3F5-D242A312FB74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860162" name="Line 2"/>
          <p:cNvSpPr>
            <a:spLocks noChangeShapeType="1"/>
          </p:cNvSpPr>
          <p:nvPr/>
        </p:nvSpPr>
        <p:spPr bwMode="auto">
          <a:xfrm>
            <a:off x="152400" y="322118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60163" name="Line 3"/>
          <p:cNvSpPr>
            <a:spLocks noChangeShapeType="1"/>
          </p:cNvSpPr>
          <p:nvPr/>
        </p:nvSpPr>
        <p:spPr bwMode="auto">
          <a:xfrm>
            <a:off x="152400" y="405938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" name="Rectangle 1"/>
          <p:cNvSpPr/>
          <p:nvPr/>
        </p:nvSpPr>
        <p:spPr>
          <a:xfrm>
            <a:off x="1259032" y="3409448"/>
            <a:ext cx="72563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660033"/>
                </a:solidFill>
                <a:latin typeface="Arial" panose="020B0604020202020204" pitchFamily="34" charset="0"/>
              </a:rPr>
              <a:t>Fundamental Steps in Digital Image Processing</a:t>
            </a:r>
            <a:r>
              <a:rPr lang="en-GB" sz="2400" dirty="0">
                <a:solidFill>
                  <a:srgbClr val="660033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60351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dirty="0"/>
              <a:t>4.</a:t>
            </a:r>
            <a:fld id="{BF2F1046-DE2F-40DA-A3F5-D242A312FB74}" type="slidenum">
              <a:rPr lang="en-US" altLang="en-US"/>
              <a:pPr/>
              <a:t>8</a:t>
            </a:fld>
            <a:endParaRPr lang="en-US" altLang="en-US" dirty="0"/>
          </a:p>
        </p:txBody>
      </p:sp>
      <p:sp>
        <p:nvSpPr>
          <p:cNvPr id="860162" name="Line 2"/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60163" name="Line 3"/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60165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" name="Rectangle 1"/>
          <p:cNvSpPr/>
          <p:nvPr/>
        </p:nvSpPr>
        <p:spPr>
          <a:xfrm>
            <a:off x="152400" y="579006"/>
            <a:ext cx="94704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600" b="1" dirty="0"/>
              <a:t>Fundamental Steps in Digital Image </a:t>
            </a:r>
            <a:r>
              <a:rPr lang="en-GB" sz="3600" b="1" dirty="0" smtClean="0"/>
              <a:t>Processing</a:t>
            </a:r>
            <a:endParaRPr lang="en-GB" sz="3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1585910"/>
            <a:ext cx="8020050" cy="444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232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dirty="0"/>
              <a:t>4.</a:t>
            </a:r>
            <a:fld id="{BF2F1046-DE2F-40DA-A3F5-D242A312FB74}" type="slidenum">
              <a:rPr lang="en-US" altLang="en-US"/>
              <a:pPr/>
              <a:t>9</a:t>
            </a:fld>
            <a:endParaRPr lang="en-US" altLang="en-US" dirty="0"/>
          </a:p>
        </p:txBody>
      </p:sp>
      <p:sp>
        <p:nvSpPr>
          <p:cNvPr id="860162" name="Line 2"/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60163" name="Line 3"/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60165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" name="Rectangle 1"/>
          <p:cNvSpPr/>
          <p:nvPr/>
        </p:nvSpPr>
        <p:spPr>
          <a:xfrm>
            <a:off x="152400" y="579006"/>
            <a:ext cx="94704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600" b="1" dirty="0"/>
              <a:t>Fundamental Steps in Digital Image </a:t>
            </a:r>
            <a:r>
              <a:rPr lang="en-GB" sz="3600" b="1" dirty="0" smtClean="0"/>
              <a:t>Processing</a:t>
            </a:r>
            <a:endParaRPr lang="en-GB" sz="3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6412" y="1671638"/>
            <a:ext cx="5514975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779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dirty="0"/>
              <a:t>4.</a:t>
            </a:r>
            <a:fld id="{BF2F1046-DE2F-40DA-A3F5-D242A312FB74}" type="slidenum">
              <a:rPr lang="en-US" altLang="en-US"/>
              <a:pPr/>
              <a:t>10</a:t>
            </a:fld>
            <a:endParaRPr lang="en-US" altLang="en-US" dirty="0"/>
          </a:p>
        </p:txBody>
      </p:sp>
      <p:sp>
        <p:nvSpPr>
          <p:cNvPr id="860162" name="Line 2"/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60163" name="Line 3"/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60165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" name="Rectangle 1"/>
          <p:cNvSpPr/>
          <p:nvPr/>
        </p:nvSpPr>
        <p:spPr>
          <a:xfrm>
            <a:off x="152400" y="579006"/>
            <a:ext cx="94704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800" b="1" dirty="0"/>
              <a:t>Image Acquisition</a:t>
            </a:r>
            <a:r>
              <a:rPr lang="en-GB" sz="4800" dirty="0"/>
              <a:t>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1655186"/>
            <a:ext cx="7124700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317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dirty="0"/>
              <a:t>4.</a:t>
            </a:r>
            <a:fld id="{BF2F1046-DE2F-40DA-A3F5-D242A312FB74}" type="slidenum">
              <a:rPr lang="en-US" altLang="en-US"/>
              <a:pPr/>
              <a:t>11</a:t>
            </a:fld>
            <a:endParaRPr lang="en-US" altLang="en-US" dirty="0"/>
          </a:p>
        </p:txBody>
      </p:sp>
      <p:sp>
        <p:nvSpPr>
          <p:cNvPr id="860162" name="Line 2"/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60163" name="Line 3"/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60165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" name="Rectangle 1"/>
          <p:cNvSpPr/>
          <p:nvPr/>
        </p:nvSpPr>
        <p:spPr>
          <a:xfrm>
            <a:off x="152400" y="579006"/>
            <a:ext cx="94704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800" b="1" dirty="0"/>
              <a:t>Image Enhancement</a:t>
            </a:r>
            <a:r>
              <a:rPr lang="en-GB" sz="4800" dirty="0"/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916" y="3827659"/>
            <a:ext cx="6549968" cy="201269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8036" y="1545573"/>
            <a:ext cx="794731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b="1" i="1" dirty="0">
                <a:solidFill>
                  <a:srgbClr val="000000"/>
                </a:solidFill>
                <a:latin typeface="Arial" panose="020B0604020202020204" pitchFamily="34" charset="0"/>
              </a:rPr>
              <a:t>Image enhancement </a:t>
            </a:r>
            <a:r>
              <a:rPr lang="en-GB" sz="2000" dirty="0">
                <a:solidFill>
                  <a:srgbClr val="000000"/>
                </a:solidFill>
                <a:latin typeface="Arial" panose="020B0604020202020204" pitchFamily="34" charset="0"/>
              </a:rPr>
              <a:t>is the process of manipulating an </a:t>
            </a:r>
            <a:r>
              <a:rPr lang="en-GB" sz="2000" dirty="0" smtClean="0">
                <a:solidFill>
                  <a:srgbClr val="000000"/>
                </a:solidFill>
                <a:latin typeface="Arial" panose="020B0604020202020204" pitchFamily="34" charset="0"/>
              </a:rPr>
              <a:t>image so </a:t>
            </a:r>
            <a:r>
              <a:rPr lang="en-GB" sz="2000" dirty="0">
                <a:solidFill>
                  <a:srgbClr val="000000"/>
                </a:solidFill>
                <a:latin typeface="Arial" panose="020B0604020202020204" pitchFamily="34" charset="0"/>
              </a:rPr>
              <a:t>that the result is more suitable than the original for a </a:t>
            </a:r>
            <a:r>
              <a:rPr lang="en-GB" sz="2000" dirty="0" smtClean="0">
                <a:solidFill>
                  <a:srgbClr val="000000"/>
                </a:solidFill>
                <a:latin typeface="Arial" panose="020B0604020202020204" pitchFamily="34" charset="0"/>
              </a:rPr>
              <a:t>specific application</a:t>
            </a:r>
            <a:r>
              <a:rPr lang="en-GB" sz="2000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br>
              <a:rPr lang="en-GB" sz="200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GB" sz="2000" dirty="0">
                <a:solidFill>
                  <a:srgbClr val="000000"/>
                </a:solidFill>
                <a:latin typeface="Arial" panose="020B0604020202020204" pitchFamily="34" charset="0"/>
              </a:rPr>
              <a:t>There is no general “theory” of image </a:t>
            </a:r>
            <a:r>
              <a:rPr lang="en-GB" sz="2000" dirty="0" smtClean="0">
                <a:solidFill>
                  <a:srgbClr val="000000"/>
                </a:solidFill>
                <a:latin typeface="Arial" panose="020B0604020202020204" pitchFamily="34" charset="0"/>
              </a:rPr>
              <a:t>enhancement. When </a:t>
            </a:r>
            <a:r>
              <a:rPr lang="en-GB" sz="2000" dirty="0">
                <a:solidFill>
                  <a:srgbClr val="000000"/>
                </a:solidFill>
                <a:latin typeface="Arial" panose="020B0604020202020204" pitchFamily="34" charset="0"/>
              </a:rPr>
              <a:t>an image is processed for visual interpretation, </a:t>
            </a:r>
            <a:r>
              <a:rPr lang="en-GB" sz="2000" dirty="0" smtClean="0">
                <a:solidFill>
                  <a:srgbClr val="000000"/>
                </a:solidFill>
                <a:latin typeface="Arial" panose="020B0604020202020204" pitchFamily="34" charset="0"/>
              </a:rPr>
              <a:t>the viewer </a:t>
            </a:r>
            <a:r>
              <a:rPr lang="en-GB" sz="2000" dirty="0">
                <a:solidFill>
                  <a:srgbClr val="000000"/>
                </a:solidFill>
                <a:latin typeface="Arial" panose="020B0604020202020204" pitchFamily="34" charset="0"/>
              </a:rPr>
              <a:t>is the ultimate judge of how well a particular </a:t>
            </a:r>
            <a:r>
              <a:rPr lang="en-GB" sz="2000" dirty="0" smtClean="0">
                <a:solidFill>
                  <a:srgbClr val="000000"/>
                </a:solidFill>
                <a:latin typeface="Arial" panose="020B0604020202020204" pitchFamily="34" charset="0"/>
              </a:rPr>
              <a:t>method works</a:t>
            </a:r>
            <a:r>
              <a:rPr lang="en-GB" sz="2000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r>
              <a:rPr lang="en-GB" sz="2000" dirty="0"/>
              <a:t> </a:t>
            </a:r>
            <a:br>
              <a:rPr lang="en-GB" sz="2000" dirty="0"/>
            </a:b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989132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dirty="0"/>
              <a:t>4.</a:t>
            </a:r>
            <a:fld id="{BF2F1046-DE2F-40DA-A3F5-D242A312FB74}" type="slidenum">
              <a:rPr lang="en-US" altLang="en-US"/>
              <a:pPr/>
              <a:t>12</a:t>
            </a:fld>
            <a:endParaRPr lang="en-US" altLang="en-US" dirty="0"/>
          </a:p>
        </p:txBody>
      </p:sp>
      <p:sp>
        <p:nvSpPr>
          <p:cNvPr id="860162" name="Line 2"/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60163" name="Line 3"/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60165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" name="Rectangle 1"/>
          <p:cNvSpPr/>
          <p:nvPr/>
        </p:nvSpPr>
        <p:spPr>
          <a:xfrm>
            <a:off x="152400" y="579006"/>
            <a:ext cx="947044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400" b="1" dirty="0"/>
              <a:t>What is Image Restoration?</a:t>
            </a:r>
            <a:r>
              <a:rPr lang="en-GB" sz="4400" dirty="0"/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501794" y="1456397"/>
            <a:ext cx="806421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/>
              <a:t>Image restoration attempts to restore images that have </a:t>
            </a:r>
            <a:r>
              <a:rPr lang="en-GB" sz="2400" dirty="0" smtClean="0"/>
              <a:t>been degraded</a:t>
            </a:r>
            <a:endParaRPr lang="en-GB" sz="2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2400" dirty="0" smtClean="0"/>
              <a:t>Identify </a:t>
            </a:r>
            <a:r>
              <a:rPr lang="en-GB" sz="2400" dirty="0"/>
              <a:t>the degradation process and attempt to reverse </a:t>
            </a:r>
            <a:r>
              <a:rPr lang="en-GB" sz="2400" dirty="0" smtClean="0"/>
              <a:t>it.</a:t>
            </a:r>
            <a:endParaRPr lang="en-GB" sz="2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2400" dirty="0" smtClean="0"/>
              <a:t>Almost </a:t>
            </a:r>
            <a:r>
              <a:rPr lang="en-GB" sz="2400" dirty="0"/>
              <a:t>Similar to image enhancement, but more objective. </a:t>
            </a:r>
            <a:br>
              <a:rPr lang="en-GB" sz="2400" dirty="0"/>
            </a:br>
            <a:r>
              <a:rPr lang="en-GB" sz="2400" dirty="0"/>
              <a:t/>
            </a:r>
            <a:br>
              <a:rPr lang="en-GB" sz="2400" dirty="0"/>
            </a:br>
            <a:endParaRPr lang="en-GB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849" y="3401240"/>
            <a:ext cx="6810375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884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dirty="0"/>
              <a:t>4.</a:t>
            </a:r>
            <a:fld id="{BF2F1046-DE2F-40DA-A3F5-D242A312FB74}" type="slidenum">
              <a:rPr lang="en-US" altLang="en-US"/>
              <a:pPr/>
              <a:t>13</a:t>
            </a:fld>
            <a:endParaRPr lang="en-US" altLang="en-US" dirty="0"/>
          </a:p>
        </p:txBody>
      </p:sp>
      <p:sp>
        <p:nvSpPr>
          <p:cNvPr id="860162" name="Line 2"/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60163" name="Line 3"/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60165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" name="Rectangle 1"/>
          <p:cNvSpPr/>
          <p:nvPr/>
        </p:nvSpPr>
        <p:spPr>
          <a:xfrm>
            <a:off x="152400" y="579006"/>
            <a:ext cx="947044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400" b="1" dirty="0" err="1"/>
              <a:t>Color</a:t>
            </a:r>
            <a:r>
              <a:rPr lang="en-GB" sz="4400" b="1" dirty="0"/>
              <a:t> Issue of an Image</a:t>
            </a:r>
            <a:r>
              <a:rPr lang="en-GB" sz="4400" dirty="0"/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663" y="1479551"/>
            <a:ext cx="738447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i="1" dirty="0" err="1"/>
              <a:t>Color</a:t>
            </a:r>
            <a:r>
              <a:rPr lang="en-GB" sz="2400" b="1" i="1" dirty="0"/>
              <a:t> Image Processing </a:t>
            </a:r>
            <a:r>
              <a:rPr lang="en-GB" sz="2400" dirty="0"/>
              <a:t>is an area that has </a:t>
            </a:r>
            <a:r>
              <a:rPr lang="en-GB" sz="2400" dirty="0" smtClean="0"/>
              <a:t>been gaining </a:t>
            </a:r>
            <a:r>
              <a:rPr lang="en-GB" sz="2400" dirty="0"/>
              <a:t>in importance because of the </a:t>
            </a:r>
            <a:r>
              <a:rPr lang="en-GB" sz="2400" dirty="0" smtClean="0"/>
              <a:t>significant increase </a:t>
            </a:r>
            <a:r>
              <a:rPr lang="en-GB" sz="2400" dirty="0"/>
              <a:t>in the use of digital images over the Internet</a:t>
            </a:r>
            <a:r>
              <a:rPr lang="en-GB" sz="2400" dirty="0" smtClean="0"/>
              <a:t>.</a:t>
            </a:r>
            <a:r>
              <a:rPr lang="en-GB" sz="2400" dirty="0"/>
              <a:t/>
            </a:r>
            <a:br>
              <a:rPr lang="en-GB" sz="2400" dirty="0"/>
            </a:br>
            <a:endParaRPr lang="en-GB" sz="2400" dirty="0"/>
          </a:p>
        </p:txBody>
      </p:sp>
      <p:sp>
        <p:nvSpPr>
          <p:cNvPr id="4" name="Rectangle 3"/>
          <p:cNvSpPr/>
          <p:nvPr/>
        </p:nvSpPr>
        <p:spPr>
          <a:xfrm>
            <a:off x="2466111" y="2828882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>
                <a:solidFill>
                  <a:srgbClr val="FF0000"/>
                </a:solidFill>
                <a:latin typeface="ArialMT"/>
              </a:rPr>
              <a:t>• </a:t>
            </a:r>
            <a:r>
              <a:rPr lang="en-GB" dirty="0">
                <a:solidFill>
                  <a:srgbClr val="FF0000"/>
                </a:solidFill>
                <a:latin typeface="ComicSansMS"/>
              </a:rPr>
              <a:t>Red</a:t>
            </a:r>
            <a:r>
              <a:rPr lang="en-GB" dirty="0">
                <a:solidFill>
                  <a:srgbClr val="000000"/>
                </a:solidFill>
                <a:latin typeface="ComicSansMS"/>
              </a:rPr>
              <a:t>, </a:t>
            </a:r>
            <a:r>
              <a:rPr lang="en-GB" dirty="0">
                <a:solidFill>
                  <a:srgbClr val="00B050"/>
                </a:solidFill>
                <a:latin typeface="ComicSansMS"/>
              </a:rPr>
              <a:t>Green </a:t>
            </a:r>
            <a:r>
              <a:rPr lang="en-GB" dirty="0">
                <a:solidFill>
                  <a:srgbClr val="000000"/>
                </a:solidFill>
                <a:latin typeface="ComicSansMS"/>
              </a:rPr>
              <a:t>and </a:t>
            </a:r>
            <a:r>
              <a:rPr lang="en-GB" dirty="0">
                <a:solidFill>
                  <a:srgbClr val="0070C0"/>
                </a:solidFill>
                <a:latin typeface="ComicSansMS"/>
              </a:rPr>
              <a:t>Blue </a:t>
            </a:r>
            <a:r>
              <a:rPr lang="en-GB" dirty="0" err="1">
                <a:solidFill>
                  <a:srgbClr val="000000"/>
                </a:solidFill>
                <a:latin typeface="ComicSansMS"/>
              </a:rPr>
              <a:t>Color</a:t>
            </a:r>
            <a:r>
              <a:rPr lang="en-GB" dirty="0">
                <a:solidFill>
                  <a:srgbClr val="000000"/>
                </a:solidFill>
                <a:latin typeface="ComicSansMS"/>
              </a:rPr>
              <a:t> cube</a:t>
            </a:r>
            <a:br>
              <a:rPr lang="en-GB" dirty="0">
                <a:solidFill>
                  <a:srgbClr val="000000"/>
                </a:solidFill>
                <a:latin typeface="ComicSansMS"/>
              </a:rPr>
            </a:br>
            <a:r>
              <a:rPr lang="en-GB" dirty="0">
                <a:solidFill>
                  <a:srgbClr val="000000"/>
                </a:solidFill>
                <a:latin typeface="ArialMT"/>
              </a:rPr>
              <a:t>• </a:t>
            </a:r>
            <a:r>
              <a:rPr lang="en-GB" dirty="0">
                <a:solidFill>
                  <a:srgbClr val="000000"/>
                </a:solidFill>
                <a:latin typeface="ComicSansMS"/>
              </a:rPr>
              <a:t>Consider Each element=8 bit</a:t>
            </a:r>
            <a:br>
              <a:rPr lang="en-GB" dirty="0">
                <a:solidFill>
                  <a:srgbClr val="000000"/>
                </a:solidFill>
                <a:latin typeface="ComicSansMS"/>
              </a:rPr>
            </a:br>
            <a:r>
              <a:rPr lang="en-GB" dirty="0">
                <a:solidFill>
                  <a:srgbClr val="000000"/>
                </a:solidFill>
                <a:latin typeface="ArialMT"/>
              </a:rPr>
              <a:t>• </a:t>
            </a:r>
            <a:r>
              <a:rPr lang="en-GB" dirty="0">
                <a:solidFill>
                  <a:srgbClr val="000000"/>
                </a:solidFill>
                <a:latin typeface="ComicSansMS"/>
              </a:rPr>
              <a:t>R,G,B ~0 to 255</a:t>
            </a:r>
            <a:br>
              <a:rPr lang="en-GB" dirty="0">
                <a:solidFill>
                  <a:srgbClr val="000000"/>
                </a:solidFill>
                <a:latin typeface="ComicSansMS"/>
              </a:rPr>
            </a:br>
            <a:r>
              <a:rPr lang="en-GB" dirty="0">
                <a:solidFill>
                  <a:srgbClr val="000000"/>
                </a:solidFill>
                <a:latin typeface="ArialMT"/>
              </a:rPr>
              <a:t>• </a:t>
            </a:r>
            <a:r>
              <a:rPr lang="en-GB" dirty="0">
                <a:solidFill>
                  <a:srgbClr val="000000"/>
                </a:solidFill>
                <a:latin typeface="ComicSansMS"/>
              </a:rPr>
              <a:t>Grey scale f(x , y , L)</a:t>
            </a:r>
            <a:r>
              <a:rPr lang="en-GB" dirty="0"/>
              <a:t> </a:t>
            </a:r>
            <a:br>
              <a:rPr lang="en-GB" dirty="0"/>
            </a:b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0170" y="4088723"/>
            <a:ext cx="1724025" cy="1809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466111" y="4353975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ArialMT"/>
              </a:rPr>
              <a:t>• </a:t>
            </a:r>
            <a:r>
              <a:rPr lang="en-GB" dirty="0">
                <a:solidFill>
                  <a:srgbClr val="000000"/>
                </a:solidFill>
                <a:latin typeface="ComicSansMS"/>
              </a:rPr>
              <a:t>256 Grey shades</a:t>
            </a:r>
            <a:br>
              <a:rPr lang="en-GB" dirty="0">
                <a:solidFill>
                  <a:srgbClr val="000000"/>
                </a:solidFill>
                <a:latin typeface="ComicSansMS"/>
              </a:rPr>
            </a:br>
            <a:r>
              <a:rPr lang="en-GB" dirty="0">
                <a:solidFill>
                  <a:srgbClr val="000000"/>
                </a:solidFill>
                <a:latin typeface="ArialMT"/>
              </a:rPr>
              <a:t>• </a:t>
            </a:r>
            <a:r>
              <a:rPr lang="en-GB" dirty="0" err="1">
                <a:solidFill>
                  <a:srgbClr val="000000"/>
                </a:solidFill>
                <a:latin typeface="ComicSansMS"/>
              </a:rPr>
              <a:t>Color</a:t>
            </a:r>
            <a:r>
              <a:rPr lang="en-GB" dirty="0">
                <a:solidFill>
                  <a:srgbClr val="000000"/>
                </a:solidFill>
                <a:latin typeface="ComicSansMS"/>
              </a:rPr>
              <a:t> Scale f(x , y, r , g , b)-24 bit</a:t>
            </a:r>
            <a:r>
              <a:rPr lang="en-GB" dirty="0"/>
              <a:t> </a:t>
            </a:r>
            <a:br>
              <a:rPr lang="en-GB" dirty="0"/>
            </a:br>
            <a:endParaRPr lang="en-GB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0170" y="5097169"/>
            <a:ext cx="1724025" cy="1524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601192" y="5240793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>
                <a:solidFill>
                  <a:srgbClr val="FF0000"/>
                </a:solidFill>
                <a:latin typeface="ComicSansMS"/>
              </a:rPr>
              <a:t>255</a:t>
            </a:r>
            <a:r>
              <a:rPr lang="en-GB" dirty="0">
                <a:solidFill>
                  <a:srgbClr val="000000"/>
                </a:solidFill>
                <a:latin typeface="ComicSansMS"/>
              </a:rPr>
              <a:t>x</a:t>
            </a:r>
            <a:r>
              <a:rPr lang="en-GB" dirty="0">
                <a:solidFill>
                  <a:srgbClr val="00B050"/>
                </a:solidFill>
                <a:latin typeface="ComicSansMS"/>
              </a:rPr>
              <a:t>255</a:t>
            </a:r>
            <a:r>
              <a:rPr lang="en-GB" dirty="0">
                <a:solidFill>
                  <a:srgbClr val="000000"/>
                </a:solidFill>
                <a:latin typeface="ComicSansMS"/>
              </a:rPr>
              <a:t>x</a:t>
            </a:r>
            <a:r>
              <a:rPr lang="en-GB" dirty="0">
                <a:solidFill>
                  <a:srgbClr val="0070C0"/>
                </a:solidFill>
                <a:latin typeface="ComicSansMS"/>
              </a:rPr>
              <a:t>255</a:t>
            </a:r>
            <a:r>
              <a:rPr lang="en-GB" dirty="0">
                <a:solidFill>
                  <a:srgbClr val="000000"/>
                </a:solidFill>
                <a:latin typeface="ComicSansMS"/>
              </a:rPr>
              <a:t>=16777216 </a:t>
            </a:r>
            <a:r>
              <a:rPr lang="en-GB" dirty="0" err="1">
                <a:solidFill>
                  <a:srgbClr val="000000"/>
                </a:solidFill>
                <a:latin typeface="ComicSansMS"/>
              </a:rPr>
              <a:t>colors</a:t>
            </a:r>
            <a:r>
              <a:rPr lang="en-GB" dirty="0"/>
              <a:t> </a:t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0259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dirty="0"/>
              <a:t>4.</a:t>
            </a:r>
            <a:fld id="{BF2F1046-DE2F-40DA-A3F5-D242A312FB74}" type="slidenum">
              <a:rPr lang="en-US" altLang="en-US"/>
              <a:pPr/>
              <a:t>14</a:t>
            </a:fld>
            <a:endParaRPr lang="en-US" altLang="en-US" dirty="0"/>
          </a:p>
        </p:txBody>
      </p:sp>
      <p:sp>
        <p:nvSpPr>
          <p:cNvPr id="860162" name="Line 2"/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60163" name="Line 3"/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60165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" name="Rectangle 1"/>
          <p:cNvSpPr/>
          <p:nvPr/>
        </p:nvSpPr>
        <p:spPr>
          <a:xfrm>
            <a:off x="152400" y="579006"/>
            <a:ext cx="947044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400" b="1" dirty="0"/>
              <a:t>Image Compression?</a:t>
            </a:r>
            <a:r>
              <a:rPr lang="en-GB" sz="4400" dirty="0"/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498763" y="1479551"/>
            <a:ext cx="864523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/>
              <a:t>• How we stored the image: </a:t>
            </a:r>
            <a:r>
              <a:rPr lang="en-GB" sz="2400" b="1" dirty="0"/>
              <a:t>Reduce the size for storage </a:t>
            </a:r>
            <a:r>
              <a:rPr lang="en-GB" sz="2400" dirty="0" smtClean="0"/>
              <a:t>.</a:t>
            </a:r>
            <a:r>
              <a:rPr lang="en-GB" sz="2400" dirty="0"/>
              <a:t/>
            </a:r>
            <a:br>
              <a:rPr lang="en-GB" sz="2400" dirty="0"/>
            </a:br>
            <a:r>
              <a:rPr lang="en-GB" sz="2400" dirty="0"/>
              <a:t>• Compression-</a:t>
            </a:r>
            <a:r>
              <a:rPr lang="en-GB" sz="2400" b="1" dirty="0"/>
              <a:t>Remove redundancies</a:t>
            </a:r>
            <a:r>
              <a:rPr lang="en-GB" sz="2400" dirty="0"/>
              <a:t>.</a:t>
            </a:r>
            <a:br>
              <a:rPr lang="en-GB" sz="2400" dirty="0"/>
            </a:br>
            <a:r>
              <a:rPr lang="en-GB" sz="2400" dirty="0"/>
              <a:t>• Transmission with </a:t>
            </a:r>
            <a:r>
              <a:rPr lang="en-GB" sz="2400" b="1" dirty="0"/>
              <a:t>minimum bandwidth</a:t>
            </a:r>
            <a:r>
              <a:rPr lang="en-GB" sz="2400" dirty="0"/>
              <a:t>.</a:t>
            </a:r>
            <a:br>
              <a:rPr lang="en-GB" sz="2400" dirty="0"/>
            </a:br>
            <a:r>
              <a:rPr lang="en-GB" sz="2400" dirty="0"/>
              <a:t>• </a:t>
            </a:r>
            <a:r>
              <a:rPr lang="en-GB" sz="2400" dirty="0" err="1"/>
              <a:t>Lossy</a:t>
            </a:r>
            <a:r>
              <a:rPr lang="en-GB" sz="2400" dirty="0"/>
              <a:t> Compression=redundancy +some information, but still acceptable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63" y="3841436"/>
            <a:ext cx="8077200" cy="22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112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dirty="0"/>
              <a:t>4.</a:t>
            </a:r>
            <a:fld id="{BF2F1046-DE2F-40DA-A3F5-D242A312FB74}" type="slidenum">
              <a:rPr lang="en-US" altLang="en-US"/>
              <a:pPr/>
              <a:t>15</a:t>
            </a:fld>
            <a:endParaRPr lang="en-US" altLang="en-US" dirty="0"/>
          </a:p>
        </p:txBody>
      </p:sp>
      <p:sp>
        <p:nvSpPr>
          <p:cNvPr id="860162" name="Line 2"/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60163" name="Line 3"/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60165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" name="Rectangle 1"/>
          <p:cNvSpPr/>
          <p:nvPr/>
        </p:nvSpPr>
        <p:spPr>
          <a:xfrm>
            <a:off x="152400" y="579006"/>
            <a:ext cx="947044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400" b="1" dirty="0"/>
              <a:t>Morphological Image Processing</a:t>
            </a:r>
            <a:r>
              <a:rPr lang="en-GB" sz="4400" dirty="0"/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734" y="1479551"/>
            <a:ext cx="785033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/>
              <a:t>Extract image components that are useful in </a:t>
            </a:r>
            <a:r>
              <a:rPr lang="en-GB" sz="2400" dirty="0" smtClean="0"/>
              <a:t>the representation and description </a:t>
            </a:r>
            <a:r>
              <a:rPr lang="en-GB" sz="2400" dirty="0"/>
              <a:t>of region shape, such as-</a:t>
            </a:r>
            <a:br>
              <a:rPr lang="en-GB" sz="2400" dirty="0"/>
            </a:br>
            <a:endParaRPr lang="en-GB" sz="2400" dirty="0" smtClean="0"/>
          </a:p>
          <a:p>
            <a:r>
              <a:rPr lang="en-GB" sz="2400" dirty="0" smtClean="0"/>
              <a:t>•</a:t>
            </a:r>
            <a:r>
              <a:rPr lang="en-GB" sz="2400" dirty="0"/>
              <a:t>Boundaries extraction</a:t>
            </a:r>
            <a:br>
              <a:rPr lang="en-GB" sz="2400" dirty="0"/>
            </a:br>
            <a:r>
              <a:rPr lang="en-GB" sz="2400" dirty="0"/>
              <a:t>•Skeletons</a:t>
            </a:r>
            <a:br>
              <a:rPr lang="en-GB" sz="2400" dirty="0"/>
            </a:br>
            <a:r>
              <a:rPr lang="en-GB" sz="2400" dirty="0"/>
              <a:t>•Convex hull</a:t>
            </a:r>
            <a:br>
              <a:rPr lang="en-GB" sz="2400" dirty="0"/>
            </a:br>
            <a:r>
              <a:rPr lang="en-GB" sz="2400" dirty="0"/>
              <a:t>•Morphological filtering</a:t>
            </a:r>
            <a:br>
              <a:rPr lang="en-GB" sz="2400" dirty="0"/>
            </a:br>
            <a:r>
              <a:rPr lang="en-GB" sz="2400" dirty="0"/>
              <a:t>•Thinning</a:t>
            </a:r>
            <a:br>
              <a:rPr lang="en-GB" sz="2400" dirty="0"/>
            </a:br>
            <a:r>
              <a:rPr lang="en-GB" sz="2400" dirty="0"/>
              <a:t>•Pruning…many More </a:t>
            </a:r>
            <a:br>
              <a:rPr lang="en-GB" sz="2400" dirty="0"/>
            </a:br>
            <a:r>
              <a:rPr lang="en-GB" sz="2400" dirty="0"/>
              <a:t/>
            </a:r>
            <a:br>
              <a:rPr lang="en-GB" sz="2400" dirty="0"/>
            </a:br>
            <a:r>
              <a:rPr lang="en-GB" sz="2400" dirty="0"/>
              <a:t/>
            </a:r>
            <a:br>
              <a:rPr lang="en-GB" sz="2400" dirty="0"/>
            </a:br>
            <a:endParaRPr lang="en-GB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6675" y="2499706"/>
            <a:ext cx="5038725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771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dirty="0"/>
              <a:t>4.</a:t>
            </a:r>
            <a:fld id="{BF2F1046-DE2F-40DA-A3F5-D242A312FB74}" type="slidenum">
              <a:rPr lang="en-US" altLang="en-US"/>
              <a:pPr/>
              <a:t>16</a:t>
            </a:fld>
            <a:endParaRPr lang="en-US" altLang="en-US" dirty="0"/>
          </a:p>
        </p:txBody>
      </p:sp>
      <p:sp>
        <p:nvSpPr>
          <p:cNvPr id="860162" name="Line 2"/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60163" name="Line 3"/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60165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" name="Rectangle 1"/>
          <p:cNvSpPr/>
          <p:nvPr/>
        </p:nvSpPr>
        <p:spPr>
          <a:xfrm>
            <a:off x="152400" y="579006"/>
            <a:ext cx="947044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400" b="1" dirty="0"/>
              <a:t>Image Segmentation</a:t>
            </a:r>
            <a:r>
              <a:rPr lang="en-GB" sz="4400" dirty="0"/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514349" y="1501676"/>
            <a:ext cx="800100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>
                <a:solidFill>
                  <a:srgbClr val="000000"/>
                </a:solidFill>
                <a:latin typeface="Calibri-Bold"/>
              </a:rPr>
              <a:t>Image </a:t>
            </a:r>
            <a:r>
              <a:rPr lang="en-GB" sz="2400" b="1" dirty="0">
                <a:solidFill>
                  <a:srgbClr val="000000"/>
                </a:solidFill>
                <a:latin typeface="Calibri-Bold"/>
              </a:rPr>
              <a:t>Segmentation </a:t>
            </a:r>
            <a:r>
              <a:rPr lang="en-GB" sz="2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is the </a:t>
            </a:r>
            <a: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</a:rPr>
              <a:t>process of </a:t>
            </a:r>
            <a:r>
              <a:rPr lang="en-GB" sz="2400" b="1" dirty="0">
                <a:solidFill>
                  <a:srgbClr val="000000"/>
                </a:solidFill>
                <a:latin typeface="Calibri" panose="020F0502020204030204" pitchFamily="34" charset="0"/>
              </a:rPr>
              <a:t>partitioning</a:t>
            </a:r>
            <a: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</a:rPr>
              <a:t> a </a:t>
            </a:r>
            <a:r>
              <a:rPr lang="en-GB" sz="2400" dirty="0" smtClean="0">
                <a:solidFill>
                  <a:srgbClr val="0000FF"/>
                </a:solidFill>
                <a:latin typeface="Calibri" panose="020F0502020204030204" pitchFamily="34" charset="0"/>
              </a:rPr>
              <a:t>digital image </a:t>
            </a:r>
            <a: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</a:rPr>
              <a:t>into multiple segments. The goal </a:t>
            </a:r>
            <a:r>
              <a:rPr lang="en-GB" sz="2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of segmentation </a:t>
            </a:r>
            <a: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</a:rPr>
              <a:t>is to simplify and/or </a:t>
            </a:r>
            <a:r>
              <a:rPr lang="en-GB" sz="2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change the </a:t>
            </a:r>
            <a: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</a:rPr>
              <a:t>representation of an image </a:t>
            </a:r>
            <a:r>
              <a:rPr lang="en-GB" sz="2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into something </a:t>
            </a:r>
            <a: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</a:rPr>
              <a:t>that is more meaningful </a:t>
            </a:r>
            <a:r>
              <a:rPr lang="en-GB" sz="2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and easier </a:t>
            </a:r>
            <a: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</a:rPr>
              <a:t>to </a:t>
            </a:r>
            <a:r>
              <a:rPr lang="en-GB" sz="2400" dirty="0" err="1">
                <a:solidFill>
                  <a:srgbClr val="000000"/>
                </a:solidFill>
                <a:latin typeface="Calibri" panose="020F0502020204030204" pitchFamily="34" charset="0"/>
              </a:rPr>
              <a:t>analyze</a:t>
            </a:r>
            <a:r>
              <a:rPr lang="en-GB" sz="2400" dirty="0"/>
              <a:t> </a:t>
            </a:r>
            <a:br>
              <a:rPr lang="en-GB" sz="2400" dirty="0"/>
            </a:br>
            <a:endParaRPr lang="en-GB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b="36348"/>
          <a:stretch/>
        </p:blipFill>
        <p:spPr>
          <a:xfrm>
            <a:off x="857249" y="3548618"/>
            <a:ext cx="7315200" cy="2334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303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dirty="0"/>
              <a:t>4.</a:t>
            </a:r>
            <a:fld id="{BF2F1046-DE2F-40DA-A3F5-D242A312FB74}" type="slidenum">
              <a:rPr lang="en-US" altLang="en-US"/>
              <a:pPr/>
              <a:t>17</a:t>
            </a:fld>
            <a:endParaRPr lang="en-US" altLang="en-US" dirty="0"/>
          </a:p>
        </p:txBody>
      </p:sp>
      <p:sp>
        <p:nvSpPr>
          <p:cNvPr id="860162" name="Line 2"/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60163" name="Line 3"/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60165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" name="Rectangle 1"/>
          <p:cNvSpPr/>
          <p:nvPr/>
        </p:nvSpPr>
        <p:spPr>
          <a:xfrm>
            <a:off x="152400" y="579006"/>
            <a:ext cx="947044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400" b="1" dirty="0"/>
              <a:t>Image Representation &amp; Description</a:t>
            </a:r>
            <a:r>
              <a:rPr lang="en-GB" sz="4400" dirty="0"/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699221" y="1547843"/>
            <a:ext cx="733684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0000"/>
                </a:solidFill>
                <a:latin typeface="ArialMT"/>
              </a:rPr>
              <a:t>• </a:t>
            </a:r>
            <a:r>
              <a:rPr lang="en-GB" sz="2400" b="1" dirty="0">
                <a:solidFill>
                  <a:srgbClr val="000000"/>
                </a:solidFill>
                <a:latin typeface="Calibri" panose="020F0502020204030204" pitchFamily="34" charset="0"/>
              </a:rPr>
              <a:t>Image representation &amp; description: </a:t>
            </a:r>
            <a: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</a:rPr>
              <a:t>After an image </a:t>
            </a:r>
            <a:r>
              <a:rPr lang="en-GB" sz="2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is segmented into regions</a:t>
            </a:r>
            <a: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</a:rPr>
              <a:t>; the resulting aggregate of </a:t>
            </a:r>
            <a:r>
              <a:rPr lang="en-GB" sz="2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segmented pixels </a:t>
            </a:r>
            <a: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</a:rPr>
              <a:t>is represented &amp; described for further </a:t>
            </a:r>
            <a:r>
              <a:rPr lang="en-GB" sz="2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computer processing</a:t>
            </a:r>
            <a: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</a:rPr>
              <a:t>.</a:t>
            </a:r>
            <a:b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en-GB" sz="2400" dirty="0">
                <a:solidFill>
                  <a:srgbClr val="C00000"/>
                </a:solidFill>
                <a:latin typeface="ArialMT"/>
              </a:rPr>
              <a:t>• </a:t>
            </a:r>
            <a:r>
              <a:rPr lang="en-GB" sz="2400" dirty="0">
                <a:solidFill>
                  <a:srgbClr val="C00000"/>
                </a:solidFill>
                <a:latin typeface="Calibri" panose="020F0502020204030204" pitchFamily="34" charset="0"/>
              </a:rPr>
              <a:t>Representation and Description</a:t>
            </a:r>
            <a:br>
              <a:rPr lang="en-GB" sz="2400" dirty="0">
                <a:solidFill>
                  <a:srgbClr val="C00000"/>
                </a:solidFill>
                <a:latin typeface="Calibri" panose="020F0502020204030204" pitchFamily="34" charset="0"/>
              </a:rPr>
            </a:br>
            <a: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</a:rPr>
              <a:t>– Representing regions in 2 </a:t>
            </a:r>
            <a:r>
              <a:rPr lang="en-GB" sz="2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ways:</a:t>
            </a:r>
            <a:endParaRPr lang="en-GB" sz="24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Based </a:t>
            </a:r>
            <a: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</a:rPr>
              <a:t>on their external characteristics (its boundary):</a:t>
            </a:r>
            <a:b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</a:rPr>
              <a:t>– Shape </a:t>
            </a:r>
            <a:r>
              <a:rPr lang="en-GB" sz="2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characteristics</a:t>
            </a:r>
            <a:endParaRPr lang="en-GB" sz="24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Based </a:t>
            </a:r>
            <a: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</a:rPr>
              <a:t>on their internal characteristics (its region):</a:t>
            </a:r>
            <a:b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</a:rPr>
              <a:t>– Regional properties: </a:t>
            </a:r>
            <a:r>
              <a:rPr lang="en-GB" sz="2400" dirty="0" err="1">
                <a:solidFill>
                  <a:srgbClr val="000000"/>
                </a:solidFill>
                <a:latin typeface="Calibri" panose="020F0502020204030204" pitchFamily="34" charset="0"/>
              </a:rPr>
              <a:t>color</a:t>
            </a:r>
            <a: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</a:rPr>
              <a:t>, texture, and </a:t>
            </a:r>
            <a:r>
              <a:rPr lang="en-GB" sz="2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…</a:t>
            </a:r>
            <a:endParaRPr lang="en-GB" sz="24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Both</a:t>
            </a:r>
            <a:r>
              <a:rPr lang="en-GB" sz="2400" dirty="0" smtClean="0"/>
              <a:t> </a:t>
            </a:r>
            <a:r>
              <a:rPr lang="en-GB" sz="2400" dirty="0"/>
              <a:t/>
            </a:r>
            <a:br>
              <a:rPr lang="en-GB" sz="2400" dirty="0"/>
            </a:b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42368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dirty="0"/>
              <a:t>4.</a:t>
            </a:r>
            <a:fld id="{BF2F1046-DE2F-40DA-A3F5-D242A312FB74}" type="slidenum">
              <a:rPr lang="en-US" altLang="en-US"/>
              <a:pPr/>
              <a:t>18</a:t>
            </a:fld>
            <a:endParaRPr lang="en-US" altLang="en-US" dirty="0"/>
          </a:p>
        </p:txBody>
      </p:sp>
      <p:sp>
        <p:nvSpPr>
          <p:cNvPr id="860162" name="Line 2"/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60163" name="Line 3"/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60165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" name="Rectangle 1"/>
          <p:cNvSpPr/>
          <p:nvPr/>
        </p:nvSpPr>
        <p:spPr>
          <a:xfrm>
            <a:off x="152400" y="579006"/>
            <a:ext cx="947044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400" b="1" dirty="0"/>
              <a:t>Image Representation &amp; Description</a:t>
            </a:r>
            <a:r>
              <a:rPr lang="en-GB" sz="4400" dirty="0"/>
              <a:t>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828800"/>
            <a:ext cx="4114800" cy="39624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/>
          <a:srcRect l="10814" r="8695" b="16427"/>
          <a:stretch/>
        </p:blipFill>
        <p:spPr>
          <a:xfrm>
            <a:off x="3891828" y="1876362"/>
            <a:ext cx="5132243" cy="3820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407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4.</a:t>
            </a:r>
            <a:fld id="{BF2F1046-DE2F-40DA-A3F5-D242A312FB74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860162" name="Line 2"/>
          <p:cNvSpPr>
            <a:spLocks noChangeShapeType="1"/>
          </p:cNvSpPr>
          <p:nvPr/>
        </p:nvSpPr>
        <p:spPr bwMode="auto">
          <a:xfrm>
            <a:off x="152400" y="505691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60163" name="Line 3"/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60165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" name="Rectangle 2"/>
          <p:cNvSpPr/>
          <p:nvPr/>
        </p:nvSpPr>
        <p:spPr>
          <a:xfrm>
            <a:off x="3156407" y="3456057"/>
            <a:ext cx="275498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 smtClean="0">
                <a:solidFill>
                  <a:srgbClr val="660033"/>
                </a:solidFill>
                <a:latin typeface="Verdana-Bold"/>
              </a:rPr>
              <a:t>Thank You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928715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380</TotalTime>
  <Words>650</Words>
  <Application>Microsoft Office PowerPoint</Application>
  <PresentationFormat>On-screen Show (4:3)</PresentationFormat>
  <Paragraphs>81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Arial</vt:lpstr>
      <vt:lpstr>ArialMT</vt:lpstr>
      <vt:lpstr>Calibri</vt:lpstr>
      <vt:lpstr>Calibri Light</vt:lpstr>
      <vt:lpstr>Calibri-Bold</vt:lpstr>
      <vt:lpstr>ComicSansMS</vt:lpstr>
      <vt:lpstr>Symbol</vt:lpstr>
      <vt:lpstr>Verdana-Bold</vt:lpstr>
      <vt:lpstr>Wingdings</vt:lpstr>
      <vt:lpstr>Wingdings 2</vt:lpstr>
      <vt:lpstr>Office Theme</vt:lpstr>
      <vt:lpstr>STEPS IN IMAGE PROCESSING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and signals </dc:title>
  <dc:creator>srabbijan</dc:creator>
  <cp:lastModifiedBy>JAMIE</cp:lastModifiedBy>
  <cp:revision>44</cp:revision>
  <dcterms:created xsi:type="dcterms:W3CDTF">2021-07-06T15:29:35Z</dcterms:created>
  <dcterms:modified xsi:type="dcterms:W3CDTF">2024-08-08T07:35:29Z</dcterms:modified>
</cp:coreProperties>
</file>