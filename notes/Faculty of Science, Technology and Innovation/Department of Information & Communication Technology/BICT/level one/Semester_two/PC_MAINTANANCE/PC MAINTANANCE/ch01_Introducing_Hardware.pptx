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319" r:id="rId2"/>
    <p:sldId id="257" r:id="rId3"/>
    <p:sldId id="392" r:id="rId4"/>
    <p:sldId id="393" r:id="rId5"/>
    <p:sldId id="394" r:id="rId6"/>
    <p:sldId id="395" r:id="rId7"/>
    <p:sldId id="396" r:id="rId8"/>
    <p:sldId id="397" r:id="rId9"/>
    <p:sldId id="398" r:id="rId10"/>
    <p:sldId id="399" r:id="rId11"/>
    <p:sldId id="400" r:id="rId12"/>
    <p:sldId id="401" r:id="rId13"/>
    <p:sldId id="402" r:id="rId14"/>
    <p:sldId id="403" r:id="rId15"/>
    <p:sldId id="404" r:id="rId16"/>
    <p:sldId id="405" r:id="rId17"/>
    <p:sldId id="406" r:id="rId18"/>
    <p:sldId id="407" r:id="rId19"/>
    <p:sldId id="408" r:id="rId20"/>
    <p:sldId id="410" r:id="rId21"/>
    <p:sldId id="412" r:id="rId22"/>
    <p:sldId id="413" r:id="rId23"/>
    <p:sldId id="411" r:id="rId24"/>
    <p:sldId id="414" r:id="rId25"/>
    <p:sldId id="415" r:id="rId26"/>
    <p:sldId id="417" r:id="rId27"/>
    <p:sldId id="416" r:id="rId28"/>
    <p:sldId id="418" r:id="rId29"/>
    <p:sldId id="419" r:id="rId30"/>
    <p:sldId id="420" r:id="rId31"/>
    <p:sldId id="421" r:id="rId32"/>
    <p:sldId id="422" r:id="rId33"/>
    <p:sldId id="423" r:id="rId34"/>
    <p:sldId id="424" r:id="rId35"/>
    <p:sldId id="425" r:id="rId36"/>
    <p:sldId id="426" r:id="rId37"/>
    <p:sldId id="391" r:id="rId38"/>
    <p:sldId id="427" r:id="rId3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  <a:srgbClr val="FFFFFF"/>
    <a:srgbClr val="18B2B6"/>
    <a:srgbClr val="0033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4" autoAdjust="0"/>
    <p:restoredTop sz="94595" autoAdjust="0"/>
  </p:normalViewPr>
  <p:slideViewPr>
    <p:cSldViewPr>
      <p:cViewPr varScale="1">
        <p:scale>
          <a:sx n="69" d="100"/>
          <a:sy n="69" d="100"/>
        </p:scale>
        <p:origin x="-135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22"/>
    </p:cViewPr>
  </p:sorterViewPr>
  <p:notesViewPr>
    <p:cSldViewPr>
      <p:cViewPr varScale="1">
        <p:scale>
          <a:sx n="70" d="100"/>
          <a:sy n="70" d="100"/>
        </p:scale>
        <p:origin x="-1422" y="-108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8DD978D-82F5-428E-AFFD-A3DCE95D192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451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5B68625-EBC4-416C-852F-0F2021B4CD6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7149C9-0A94-41DA-B89E-1E725D3BF0F0}" type="slidenum">
              <a:rPr lang="en-US"/>
              <a:pPr/>
              <a:t>1</a:t>
            </a:fld>
            <a:endParaRPr lang="en-US"/>
          </a:p>
        </p:txBody>
      </p:sp>
      <p:sp>
        <p:nvSpPr>
          <p:cNvPr id="20173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BB640F-9E20-4D4B-9A88-07739420EC6B}" type="slidenum">
              <a:rPr lang="en-US"/>
              <a:pPr/>
              <a:t>2</a:t>
            </a:fld>
            <a:endParaRPr lang="en-US"/>
          </a:p>
        </p:txBody>
      </p:sp>
      <p:sp>
        <p:nvSpPr>
          <p:cNvPr id="6553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36B92C-A503-4BBF-B29E-31535783FA06}" type="slidenum">
              <a:rPr lang="en-US"/>
              <a:pPr/>
              <a:t>3</a:t>
            </a:fld>
            <a:endParaRPr lang="en-US"/>
          </a:p>
        </p:txBody>
      </p:sp>
      <p:sp>
        <p:nvSpPr>
          <p:cNvPr id="61645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6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5B2B4E-8B8A-431D-A444-6C53FAAD6B0E}" type="slidenum">
              <a:rPr lang="en-US"/>
              <a:pPr/>
              <a:t>4</a:t>
            </a:fld>
            <a:endParaRPr lang="en-US"/>
          </a:p>
        </p:txBody>
      </p:sp>
      <p:sp>
        <p:nvSpPr>
          <p:cNvPr id="61747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7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EA6437-00B5-4AA2-A0D5-1C94ED45A060}" type="slidenum">
              <a:rPr lang="en-US"/>
              <a:pPr/>
              <a:t>5</a:t>
            </a:fld>
            <a:endParaRPr lang="en-US"/>
          </a:p>
        </p:txBody>
      </p:sp>
      <p:sp>
        <p:nvSpPr>
          <p:cNvPr id="61849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8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AABC64-7F54-409A-B573-D7830486A787}" type="slidenum">
              <a:rPr lang="en-US"/>
              <a:pPr/>
              <a:t>6</a:t>
            </a:fld>
            <a:endParaRPr lang="en-US"/>
          </a:p>
        </p:txBody>
      </p:sp>
      <p:sp>
        <p:nvSpPr>
          <p:cNvPr id="61952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9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C8F4F4-B2D6-4E06-AA0E-398D52D4CCEC}" type="slidenum">
              <a:rPr lang="en-US"/>
              <a:pPr/>
              <a:t>7</a:t>
            </a:fld>
            <a:endParaRPr lang="en-US"/>
          </a:p>
        </p:txBody>
      </p:sp>
      <p:sp>
        <p:nvSpPr>
          <p:cNvPr id="62054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0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73D502-3C2F-44C4-AF36-48F44B47FFAA}" type="slidenum">
              <a:rPr lang="en-US"/>
              <a:pPr/>
              <a:t>8</a:t>
            </a:fld>
            <a:endParaRPr lang="en-US"/>
          </a:p>
        </p:txBody>
      </p:sp>
      <p:sp>
        <p:nvSpPr>
          <p:cNvPr id="62157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1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09AE02-B370-4BDD-9448-7E6C509989EC}" type="slidenum">
              <a:rPr lang="en-US"/>
              <a:pPr/>
              <a:t>9</a:t>
            </a:fld>
            <a:endParaRPr lang="en-US"/>
          </a:p>
        </p:txBody>
      </p:sp>
      <p:sp>
        <p:nvSpPr>
          <p:cNvPr id="62259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2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320DBE-0777-45FF-9C6F-257D950DF773}" type="slidenum">
              <a:rPr lang="en-US"/>
              <a:pPr/>
              <a:t>10</a:t>
            </a:fld>
            <a:endParaRPr lang="en-US"/>
          </a:p>
        </p:txBody>
      </p:sp>
      <p:sp>
        <p:nvSpPr>
          <p:cNvPr id="62361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3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B4E645-E837-49B4-89FF-71AEE0BB2C3A}" type="slidenum">
              <a:rPr lang="en-US"/>
              <a:pPr/>
              <a:t>11</a:t>
            </a:fld>
            <a:endParaRPr lang="en-US"/>
          </a:p>
        </p:txBody>
      </p:sp>
      <p:sp>
        <p:nvSpPr>
          <p:cNvPr id="62464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125C38-023E-478E-83F0-2F40A0CBF79F}" type="slidenum">
              <a:rPr lang="en-US"/>
              <a:pPr/>
              <a:t>12</a:t>
            </a:fld>
            <a:endParaRPr lang="en-US"/>
          </a:p>
        </p:txBody>
      </p:sp>
      <p:sp>
        <p:nvSpPr>
          <p:cNvPr id="62566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5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31E1D7-06D7-404A-ACC8-0E7339A25673}" type="slidenum">
              <a:rPr lang="en-US"/>
              <a:pPr/>
              <a:t>13</a:t>
            </a:fld>
            <a:endParaRPr lang="en-US"/>
          </a:p>
        </p:txBody>
      </p:sp>
      <p:sp>
        <p:nvSpPr>
          <p:cNvPr id="62669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6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D77B10-A3D6-4117-A634-30EAB70B12AB}" type="slidenum">
              <a:rPr lang="en-US"/>
              <a:pPr/>
              <a:t>14</a:t>
            </a:fld>
            <a:endParaRPr lang="en-US"/>
          </a:p>
        </p:txBody>
      </p:sp>
      <p:sp>
        <p:nvSpPr>
          <p:cNvPr id="62771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7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D2925C-CCD5-4E82-8EF6-D766EBBCC276}" type="slidenum">
              <a:rPr lang="en-US"/>
              <a:pPr/>
              <a:t>15</a:t>
            </a:fld>
            <a:endParaRPr lang="en-US"/>
          </a:p>
        </p:txBody>
      </p:sp>
      <p:sp>
        <p:nvSpPr>
          <p:cNvPr id="62873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8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C3C469-7BA9-496C-904E-E5E25F31C73B}" type="slidenum">
              <a:rPr lang="en-US"/>
              <a:pPr/>
              <a:t>16</a:t>
            </a:fld>
            <a:endParaRPr lang="en-US"/>
          </a:p>
        </p:txBody>
      </p:sp>
      <p:sp>
        <p:nvSpPr>
          <p:cNvPr id="62976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9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63ABD0-8807-4154-8352-7C8E777DDE6A}" type="slidenum">
              <a:rPr lang="en-US"/>
              <a:pPr/>
              <a:t>17</a:t>
            </a:fld>
            <a:endParaRPr lang="en-US"/>
          </a:p>
        </p:txBody>
      </p:sp>
      <p:sp>
        <p:nvSpPr>
          <p:cNvPr id="63078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0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2298BF-03AA-41C9-B2EF-DBED5269A34B}" type="slidenum">
              <a:rPr lang="en-US"/>
              <a:pPr/>
              <a:t>18</a:t>
            </a:fld>
            <a:endParaRPr lang="en-US"/>
          </a:p>
        </p:txBody>
      </p:sp>
      <p:sp>
        <p:nvSpPr>
          <p:cNvPr id="63181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1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DB7DE8-FD35-4D37-A913-0D0E903C0E14}" type="slidenum">
              <a:rPr lang="en-US"/>
              <a:pPr/>
              <a:t>19</a:t>
            </a:fld>
            <a:endParaRPr lang="en-US"/>
          </a:p>
        </p:txBody>
      </p:sp>
      <p:sp>
        <p:nvSpPr>
          <p:cNvPr id="63283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2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D47AA8-EB78-4C40-934C-7D0408F275BE}" type="slidenum">
              <a:rPr lang="en-US"/>
              <a:pPr/>
              <a:t>20</a:t>
            </a:fld>
            <a:endParaRPr lang="en-US"/>
          </a:p>
        </p:txBody>
      </p:sp>
      <p:sp>
        <p:nvSpPr>
          <p:cNvPr id="63385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3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067763-07B0-4E00-B79B-3BAE5213C206}" type="slidenum">
              <a:rPr lang="en-US"/>
              <a:pPr/>
              <a:t>21</a:t>
            </a:fld>
            <a:endParaRPr lang="en-US"/>
          </a:p>
        </p:txBody>
      </p:sp>
      <p:sp>
        <p:nvSpPr>
          <p:cNvPr id="63488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3B8A3A-06B6-41C7-9EC4-348A27DF7EB0}" type="slidenum">
              <a:rPr lang="en-US"/>
              <a:pPr/>
              <a:t>22</a:t>
            </a:fld>
            <a:endParaRPr lang="en-US"/>
          </a:p>
        </p:txBody>
      </p:sp>
      <p:sp>
        <p:nvSpPr>
          <p:cNvPr id="63590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5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736CA1-E37F-4B63-AB94-4FC3A39A305E}" type="slidenum">
              <a:rPr lang="en-US"/>
              <a:pPr/>
              <a:t>23</a:t>
            </a:fld>
            <a:endParaRPr lang="en-US"/>
          </a:p>
        </p:txBody>
      </p:sp>
      <p:sp>
        <p:nvSpPr>
          <p:cNvPr id="63693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6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D7524F-FE50-4436-A63A-9FEE54F379A6}" type="slidenum">
              <a:rPr lang="en-US"/>
              <a:pPr/>
              <a:t>24</a:t>
            </a:fld>
            <a:endParaRPr lang="en-US"/>
          </a:p>
        </p:txBody>
      </p:sp>
      <p:sp>
        <p:nvSpPr>
          <p:cNvPr id="63795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7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22D10A-9D7F-4B08-ADF4-609668E439D5}" type="slidenum">
              <a:rPr lang="en-US"/>
              <a:pPr/>
              <a:t>25</a:t>
            </a:fld>
            <a:endParaRPr lang="en-US"/>
          </a:p>
        </p:txBody>
      </p:sp>
      <p:sp>
        <p:nvSpPr>
          <p:cNvPr id="63897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8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906683-467A-4BDF-8E63-2793A8723205}" type="slidenum">
              <a:rPr lang="en-US"/>
              <a:pPr/>
              <a:t>26</a:t>
            </a:fld>
            <a:endParaRPr lang="en-US"/>
          </a:p>
        </p:txBody>
      </p:sp>
      <p:sp>
        <p:nvSpPr>
          <p:cNvPr id="64000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0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501B26-AB81-4A83-BAB5-644EBCAFC933}" type="slidenum">
              <a:rPr lang="en-US"/>
              <a:pPr/>
              <a:t>27</a:t>
            </a:fld>
            <a:endParaRPr lang="en-US"/>
          </a:p>
        </p:txBody>
      </p:sp>
      <p:sp>
        <p:nvSpPr>
          <p:cNvPr id="64102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1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035F2A-0D0C-4A4E-8F67-FBB2EDEF483E}" type="slidenum">
              <a:rPr lang="en-US"/>
              <a:pPr/>
              <a:t>28</a:t>
            </a:fld>
            <a:endParaRPr lang="en-US"/>
          </a:p>
        </p:txBody>
      </p:sp>
      <p:sp>
        <p:nvSpPr>
          <p:cNvPr id="64205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2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7B3814-5C3E-4F2A-A78E-40DD86913296}" type="slidenum">
              <a:rPr lang="en-US"/>
              <a:pPr/>
              <a:t>29</a:t>
            </a:fld>
            <a:endParaRPr lang="en-US"/>
          </a:p>
        </p:txBody>
      </p:sp>
      <p:sp>
        <p:nvSpPr>
          <p:cNvPr id="64307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DBB140-9469-4991-8136-5F949D923962}" type="slidenum">
              <a:rPr lang="en-US"/>
              <a:pPr/>
              <a:t>30</a:t>
            </a:fld>
            <a:endParaRPr lang="en-US"/>
          </a:p>
        </p:txBody>
      </p:sp>
      <p:sp>
        <p:nvSpPr>
          <p:cNvPr id="64409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782AD1-FE27-43B7-B750-EFAF5D34A682}" type="slidenum">
              <a:rPr lang="en-US"/>
              <a:pPr/>
              <a:t>31</a:t>
            </a:fld>
            <a:endParaRPr lang="en-US"/>
          </a:p>
        </p:txBody>
      </p:sp>
      <p:sp>
        <p:nvSpPr>
          <p:cNvPr id="64512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037EFB-BD49-4206-B28E-6A9BDB29E2AD}" type="slidenum">
              <a:rPr lang="en-US"/>
              <a:pPr/>
              <a:t>32</a:t>
            </a:fld>
            <a:endParaRPr lang="en-US"/>
          </a:p>
        </p:txBody>
      </p:sp>
      <p:sp>
        <p:nvSpPr>
          <p:cNvPr id="64614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F2DCD3-4E1E-44BD-8B16-2A6253782E0C}" type="slidenum">
              <a:rPr lang="en-US"/>
              <a:pPr/>
              <a:t>33</a:t>
            </a:fld>
            <a:endParaRPr lang="en-US"/>
          </a:p>
        </p:txBody>
      </p:sp>
      <p:sp>
        <p:nvSpPr>
          <p:cNvPr id="64717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DA3735-B698-424B-9434-FD55E9452F1F}" type="slidenum">
              <a:rPr lang="en-US"/>
              <a:pPr/>
              <a:t>34</a:t>
            </a:fld>
            <a:endParaRPr lang="en-US"/>
          </a:p>
        </p:txBody>
      </p:sp>
      <p:sp>
        <p:nvSpPr>
          <p:cNvPr id="64819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4D2CF8-3649-4DCF-B63B-D0EDFEDB524D}" type="slidenum">
              <a:rPr lang="en-US"/>
              <a:pPr/>
              <a:t>35</a:t>
            </a:fld>
            <a:endParaRPr lang="en-US"/>
          </a:p>
        </p:txBody>
      </p:sp>
      <p:sp>
        <p:nvSpPr>
          <p:cNvPr id="64921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83FC55-7EFA-400B-9806-50BB43C9012C}" type="slidenum">
              <a:rPr lang="en-US"/>
              <a:pPr/>
              <a:t>36</a:t>
            </a:fld>
            <a:endParaRPr lang="en-US"/>
          </a:p>
        </p:txBody>
      </p:sp>
      <p:sp>
        <p:nvSpPr>
          <p:cNvPr id="65024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0F4439-E9D5-4A22-97B2-7491B1AA5345}" type="slidenum">
              <a:rPr lang="en-US"/>
              <a:pPr/>
              <a:t>37</a:t>
            </a:fld>
            <a:endParaRPr lang="en-US"/>
          </a:p>
        </p:txBody>
      </p:sp>
      <p:sp>
        <p:nvSpPr>
          <p:cNvPr id="28160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1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7E7448-D78A-488C-909C-A156A28CBC5B}" type="slidenum">
              <a:rPr lang="en-US"/>
              <a:pPr/>
              <a:t>38</a:t>
            </a:fld>
            <a:endParaRPr lang="en-US"/>
          </a:p>
        </p:txBody>
      </p:sp>
      <p:sp>
        <p:nvSpPr>
          <p:cNvPr id="61542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222222"/>
                </a:solidFill>
              </a:defRPr>
            </a:lvl1pPr>
          </a:lstStyle>
          <a:p>
            <a:r>
              <a:rPr lang="en-US"/>
              <a:t>Linux+ Guide to Linux Certification, Second Edition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z="1400">
                <a:latin typeface="Times New Roman" pitchFamily="18" charset="0"/>
              </a:defRPr>
            </a:lvl1pPr>
          </a:lstStyle>
          <a:p>
            <a:fld id="{3A78141E-EF61-43FA-8FA9-9E5DDD848A3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7B2E978-4DAA-41A9-9079-9AE6D95F17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1F96E74-61FE-4CFE-A02B-1DEE1F44A73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3921E31-1FFD-40E9-BBE6-57DE720BB97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A50488A-E31E-4927-BB97-63C8CBF1E04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D48A049-B774-498C-ADEF-DC89C6609E1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30C8BCE-B197-4414-BF5E-60B2BEDE8A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215B7D2-0A44-43DA-AE5F-CC97824F34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B97925-EB85-4177-B992-C4F44F80740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2A5E53D-8CBE-430A-A1B5-0D3A0A47F8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B2CFF39-DE02-4EA0-B25D-D898E2ADF1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76400"/>
            <a:ext cx="80772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6858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500">
                <a:solidFill>
                  <a:srgbClr val="222222"/>
                </a:solidFill>
                <a:latin typeface="+mn-lt"/>
              </a:defRPr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91400" y="6324600"/>
            <a:ext cx="121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500">
                <a:solidFill>
                  <a:srgbClr val="222222"/>
                </a:solidFill>
                <a:latin typeface="+mn-lt"/>
              </a:defRPr>
            </a:lvl1pPr>
          </a:lstStyle>
          <a:p>
            <a:fld id="{885AF41A-24E2-4991-8B4E-E1F60E7376A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600">
          <a:solidFill>
            <a:srgbClr val="22222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09600" y="1447800"/>
            <a:ext cx="8001000" cy="2209800"/>
          </a:xfrm>
        </p:spPr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92163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609600" y="4419600"/>
            <a:ext cx="8077200" cy="144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3400" b="0" i="1"/>
              <a:t>Chapter 1</a:t>
            </a:r>
          </a:p>
          <a:p>
            <a:pPr>
              <a:lnSpc>
                <a:spcPct val="90000"/>
              </a:lnSpc>
            </a:pPr>
            <a:r>
              <a:rPr lang="en-US" sz="3400" b="0" i="1"/>
              <a:t>Introducing Hardware</a:t>
            </a:r>
          </a:p>
        </p:txBody>
      </p:sp>
      <p:pic>
        <p:nvPicPr>
          <p:cNvPr id="92165" name="Picture 1029" descr="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3124200" cy="1143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E221CC-A185-4A84-A6C0-0EC1704E0CB4}" type="slidenum">
              <a:rPr lang="en-US"/>
              <a:pPr/>
              <a:t>2</a:t>
            </a:fld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r>
              <a:rPr lang="en-US"/>
              <a:t>Learn that a computer requires both hardware and software to work</a:t>
            </a:r>
          </a:p>
          <a:p>
            <a:r>
              <a:rPr lang="en-US"/>
              <a:t>Learn about the many different hardware components inside of and connected to a computer</a:t>
            </a: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A7B5761-B119-4C09-8AC7-809D4F1599E8}" type="slidenum">
              <a:rPr lang="en-US"/>
              <a:pPr/>
              <a:t>3</a:t>
            </a:fld>
            <a:endParaRPr lang="en-US"/>
          </a:p>
        </p:txBody>
      </p:sp>
      <p:sp>
        <p:nvSpPr>
          <p:cNvPr id="577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577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229600" cy="4572000"/>
          </a:xfrm>
        </p:spPr>
        <p:txBody>
          <a:bodyPr/>
          <a:lstStyle/>
          <a:p>
            <a:r>
              <a:rPr lang="en-US"/>
              <a:t>End users need not know how a computer works</a:t>
            </a:r>
          </a:p>
          <a:p>
            <a:r>
              <a:rPr lang="en-US"/>
              <a:t>To add to your end user knowledge, study is needed  </a:t>
            </a:r>
          </a:p>
          <a:p>
            <a:r>
              <a:rPr lang="en-US"/>
              <a:t>Studying this text will help you do the following:</a:t>
            </a:r>
          </a:p>
          <a:p>
            <a:pPr lvl="1"/>
            <a:r>
              <a:rPr lang="en-US"/>
              <a:t>Install new hardware and software </a:t>
            </a:r>
          </a:p>
          <a:p>
            <a:pPr lvl="1"/>
            <a:r>
              <a:rPr lang="en-US"/>
              <a:t>Diagnose hardware and software problems</a:t>
            </a:r>
          </a:p>
          <a:p>
            <a:pPr lvl="1"/>
            <a:r>
              <a:rPr lang="en-US"/>
              <a:t>Solve hardware and software problems</a:t>
            </a:r>
          </a:p>
          <a:p>
            <a:pPr lvl="1"/>
            <a:r>
              <a:rPr lang="en-US"/>
              <a:t>Evaluate new hardware and operating systems</a:t>
            </a:r>
          </a:p>
          <a:p>
            <a:pPr lvl="1"/>
            <a:r>
              <a:rPr lang="en-US"/>
              <a:t>Pass the A+ series of exams</a:t>
            </a:r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91DF0D-B147-4638-B8DF-BF65BF26B382}" type="slidenum">
              <a:rPr lang="en-US"/>
              <a:pPr/>
              <a:t>4</a:t>
            </a:fld>
            <a:endParaRPr lang="en-US"/>
          </a:p>
        </p:txBody>
      </p:sp>
      <p:sp>
        <p:nvSpPr>
          <p:cNvPr id="578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Hardware Needs Software to Work</a:t>
            </a:r>
          </a:p>
        </p:txBody>
      </p:sp>
      <p:sp>
        <p:nvSpPr>
          <p:cNvPr id="578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648200"/>
          </a:xfrm>
        </p:spPr>
        <p:txBody>
          <a:bodyPr/>
          <a:lstStyle/>
          <a:p>
            <a:r>
              <a:rPr lang="en-US"/>
              <a:t>Hardware: physical portion of a computer</a:t>
            </a:r>
          </a:p>
          <a:p>
            <a:pPr lvl="1"/>
            <a:r>
              <a:rPr lang="en-US"/>
              <a:t>Components: monitor, keyboard, memory, hard drive</a:t>
            </a:r>
          </a:p>
          <a:p>
            <a:r>
              <a:rPr lang="en-US"/>
              <a:t>Software: instructions used to manipulate hardware</a:t>
            </a:r>
          </a:p>
          <a:p>
            <a:pPr lvl="1"/>
            <a:r>
              <a:rPr lang="en-US"/>
              <a:t>Requirements: input, processing, storage, output </a:t>
            </a:r>
          </a:p>
          <a:p>
            <a:r>
              <a:rPr lang="en-US"/>
              <a:t>All hardware operations are based on binary values</a:t>
            </a:r>
          </a:p>
          <a:p>
            <a:r>
              <a:rPr lang="en-US"/>
              <a:t>Binary number system consists of two digits: 0 and 1</a:t>
            </a:r>
          </a:p>
          <a:p>
            <a:r>
              <a:rPr lang="en-US"/>
              <a:t>Fundamental groupings of binary numbers:</a:t>
            </a:r>
          </a:p>
          <a:p>
            <a:pPr lvl="1"/>
            <a:r>
              <a:rPr lang="en-US"/>
              <a:t>Bit: binary digit that can take on values of 0 or 1</a:t>
            </a:r>
          </a:p>
          <a:p>
            <a:pPr lvl="1"/>
            <a:r>
              <a:rPr lang="en-US"/>
              <a:t>Nibble: four bits</a:t>
            </a:r>
          </a:p>
          <a:p>
            <a:pPr lvl="1"/>
            <a:r>
              <a:rPr lang="en-US"/>
              <a:t>Byte: four bits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032E-9129-4A67-AEF2-BC696BC313B3}" type="slidenum">
              <a:rPr lang="en-US"/>
              <a:pPr/>
              <a:t>5</a:t>
            </a:fld>
            <a:endParaRPr lang="en-US"/>
          </a:p>
        </p:txBody>
      </p:sp>
      <p:pic>
        <p:nvPicPr>
          <p:cNvPr id="579590" name="Picture 6" descr="C01F002"/>
          <p:cNvPicPr>
            <a:picLocks noChangeAspect="1" noChangeArrowheads="1"/>
          </p:cNvPicPr>
          <p:nvPr/>
        </p:nvPicPr>
        <p:blipFill>
          <a:blip r:embed="rId3" cstate="print">
            <a:lum bright="-6000"/>
          </a:blip>
          <a:srcRect/>
          <a:stretch>
            <a:fillRect/>
          </a:stretch>
        </p:blipFill>
        <p:spPr bwMode="auto">
          <a:xfrm>
            <a:off x="1676400" y="2438400"/>
            <a:ext cx="5649913" cy="2076450"/>
          </a:xfrm>
          <a:prstGeom prst="rect">
            <a:avLst/>
          </a:prstGeom>
          <a:noFill/>
        </p:spPr>
      </p:pic>
      <p:sp>
        <p:nvSpPr>
          <p:cNvPr id="579592" name="Rectangle 8"/>
          <p:cNvSpPr>
            <a:spLocks noChangeArrowheads="1"/>
          </p:cNvSpPr>
          <p:nvPr/>
        </p:nvSpPr>
        <p:spPr bwMode="auto">
          <a:xfrm>
            <a:off x="2209800" y="4800600"/>
            <a:ext cx="45720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1-2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All communication, storage, and processing of data inside a computer are in binary form until presented as output to the user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B8998E-5DE7-4A9E-9443-7C247B559C90}" type="slidenum">
              <a:rPr lang="en-US"/>
              <a:pPr/>
              <a:t>6</a:t>
            </a:fld>
            <a:endParaRPr lang="en-US"/>
          </a:p>
        </p:txBody>
      </p:sp>
      <p:sp>
        <p:nvSpPr>
          <p:cNvPr id="580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 Hardware Components</a:t>
            </a:r>
          </a:p>
        </p:txBody>
      </p:sp>
      <p:sp>
        <p:nvSpPr>
          <p:cNvPr id="580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Most input/output (I/O) devices are external to case </a:t>
            </a:r>
          </a:p>
          <a:p>
            <a:r>
              <a:rPr lang="en-US"/>
              <a:t>Most processing and storage devices are internal</a:t>
            </a:r>
          </a:p>
          <a:p>
            <a:r>
              <a:rPr lang="en-US"/>
              <a:t>Central processing unit (CPU)</a:t>
            </a:r>
          </a:p>
          <a:p>
            <a:pPr lvl="1"/>
            <a:r>
              <a:rPr lang="en-US"/>
              <a:t>Also called the processor or microprocessor</a:t>
            </a:r>
          </a:p>
          <a:p>
            <a:pPr lvl="1"/>
            <a:r>
              <a:rPr lang="en-US"/>
              <a:t>Reads input, processes data, writes data to storage </a:t>
            </a:r>
          </a:p>
          <a:p>
            <a:r>
              <a:rPr lang="en-US"/>
              <a:t>Elements required by I/O and storage devices</a:t>
            </a:r>
          </a:p>
          <a:p>
            <a:pPr lvl="1"/>
            <a:r>
              <a:rPr lang="en-US"/>
              <a:t>A method for CPU to communicate with the device</a:t>
            </a:r>
          </a:p>
          <a:p>
            <a:pPr lvl="1"/>
            <a:r>
              <a:rPr lang="en-US"/>
              <a:t>Software to instruct and control the device</a:t>
            </a:r>
          </a:p>
          <a:p>
            <a:pPr lvl="1"/>
            <a:r>
              <a:rPr lang="en-US"/>
              <a:t>Electricity to power the device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0E8789-5FEE-40B4-B2B9-579CDA23155D}" type="slidenum">
              <a:rPr lang="en-US"/>
              <a:pPr/>
              <a:t>7</a:t>
            </a:fld>
            <a:endParaRPr lang="en-US"/>
          </a:p>
        </p:txBody>
      </p:sp>
      <p:sp>
        <p:nvSpPr>
          <p:cNvPr id="581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Hardware Used for Input and Output</a:t>
            </a:r>
          </a:p>
        </p:txBody>
      </p:sp>
      <p:sp>
        <p:nvSpPr>
          <p:cNvPr id="581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Connections to the case can be cabled or wireless</a:t>
            </a:r>
          </a:p>
          <a:p>
            <a:r>
              <a:rPr lang="en-US"/>
              <a:t>Port: access point located in back or front of case</a:t>
            </a:r>
          </a:p>
          <a:p>
            <a:r>
              <a:rPr lang="en-US"/>
              <a:t>Chief input devices:</a:t>
            </a:r>
          </a:p>
          <a:p>
            <a:pPr lvl="1"/>
            <a:r>
              <a:rPr lang="en-US"/>
              <a:t>Keyboard: enhanced type holds 104 keys</a:t>
            </a:r>
          </a:p>
          <a:p>
            <a:pPr lvl="1"/>
            <a:r>
              <a:rPr lang="en-US"/>
              <a:t>Mouse: pointing device used to select screen items </a:t>
            </a:r>
          </a:p>
          <a:p>
            <a:r>
              <a:rPr lang="en-US"/>
              <a:t>Chief output devices:</a:t>
            </a:r>
          </a:p>
          <a:p>
            <a:pPr lvl="1"/>
            <a:r>
              <a:rPr lang="en-US"/>
              <a:t>Monitor: visually displays primary output of computer</a:t>
            </a:r>
          </a:p>
          <a:p>
            <a:pPr lvl="1"/>
            <a:r>
              <a:rPr lang="en-US"/>
              <a:t>Printer: produces output on paper (hard copy)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D01AF87-C178-46AE-81F7-19295143839C}" type="slidenum">
              <a:rPr lang="en-US"/>
              <a:pPr/>
              <a:t>8</a:t>
            </a:fld>
            <a:endParaRPr lang="en-US"/>
          </a:p>
        </p:txBody>
      </p:sp>
      <p:pic>
        <p:nvPicPr>
          <p:cNvPr id="582661" name="Picture 5" descr="C01F006"/>
          <p:cNvPicPr>
            <a:picLocks noChangeAspect="1" noChangeArrowheads="1"/>
          </p:cNvPicPr>
          <p:nvPr/>
        </p:nvPicPr>
        <p:blipFill>
          <a:blip r:embed="rId3" cstate="print">
            <a:lum bright="-6000"/>
          </a:blip>
          <a:srcRect/>
          <a:stretch>
            <a:fillRect/>
          </a:stretch>
        </p:blipFill>
        <p:spPr bwMode="auto">
          <a:xfrm>
            <a:off x="1752600" y="1839913"/>
            <a:ext cx="5181600" cy="3176587"/>
          </a:xfrm>
          <a:prstGeom prst="rect">
            <a:avLst/>
          </a:prstGeom>
          <a:noFill/>
        </p:spPr>
      </p:pic>
      <p:sp>
        <p:nvSpPr>
          <p:cNvPr id="582662" name="Rectangle 6"/>
          <p:cNvSpPr>
            <a:spLocks noChangeArrowheads="1"/>
          </p:cNvSpPr>
          <p:nvPr/>
        </p:nvSpPr>
        <p:spPr bwMode="auto">
          <a:xfrm>
            <a:off x="1447800" y="5334000"/>
            <a:ext cx="6096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1-6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The two most popular output devices are the monitor and the printer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32A9B8-5168-4FCB-872E-BEF236BD9C90}" type="slidenum">
              <a:rPr lang="en-US"/>
              <a:pPr/>
              <a:t>9</a:t>
            </a:fld>
            <a:endParaRPr lang="en-US"/>
          </a:p>
        </p:txBody>
      </p:sp>
      <p:sp>
        <p:nvSpPr>
          <p:cNvPr id="58368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077200" cy="1143000"/>
          </a:xfrm>
        </p:spPr>
        <p:txBody>
          <a:bodyPr/>
          <a:lstStyle/>
          <a:p>
            <a:r>
              <a:rPr lang="en-US"/>
              <a:t>Hardware Inside the Computer Case</a:t>
            </a:r>
          </a:p>
        </p:txBody>
      </p:sp>
      <p:sp>
        <p:nvSpPr>
          <p:cNvPr id="583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458200" cy="4572000"/>
          </a:xfrm>
        </p:spPr>
        <p:txBody>
          <a:bodyPr/>
          <a:lstStyle/>
          <a:p>
            <a:r>
              <a:rPr lang="en-US"/>
              <a:t>Most storage and processing occurs in the case</a:t>
            </a:r>
          </a:p>
          <a:p>
            <a:r>
              <a:rPr lang="en-US"/>
              <a:t>Internal devices common to most computers:</a:t>
            </a:r>
          </a:p>
          <a:p>
            <a:pPr lvl="1"/>
            <a:r>
              <a:rPr lang="en-US"/>
              <a:t>Motherboard containing CPU, memory, other parts </a:t>
            </a:r>
          </a:p>
          <a:p>
            <a:pPr lvl="1"/>
            <a:r>
              <a:rPr lang="en-US"/>
              <a:t>Floppy drive, hard drive, CD drive for persistent storage</a:t>
            </a:r>
          </a:p>
          <a:p>
            <a:pPr lvl="1"/>
            <a:r>
              <a:rPr lang="en-US"/>
              <a:t>Power supply with power cords supplying electricity</a:t>
            </a:r>
          </a:p>
          <a:p>
            <a:pPr lvl="1"/>
            <a:r>
              <a:rPr lang="en-US"/>
              <a:t>Circuit boards for internal and external communication</a:t>
            </a:r>
          </a:p>
          <a:p>
            <a:pPr lvl="1"/>
            <a:r>
              <a:rPr lang="en-US"/>
              <a:t>Cables to connect devices to all circuit boards </a:t>
            </a:r>
          </a:p>
          <a:p>
            <a:r>
              <a:rPr lang="en-US"/>
              <a:t>Expansion cards are installed in expansion slots</a:t>
            </a:r>
          </a:p>
          <a:p>
            <a:r>
              <a:rPr lang="en-US"/>
              <a:t>Two types of cables: data (communication) and power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2406B8-C097-45A4-8DCD-2D484C381101}" type="slidenum">
              <a:rPr lang="en-US"/>
              <a:pPr/>
              <a:t>10</a:t>
            </a:fld>
            <a:endParaRPr lang="en-US"/>
          </a:p>
        </p:txBody>
      </p:sp>
      <p:pic>
        <p:nvPicPr>
          <p:cNvPr id="584709" name="Picture 5" descr="C01F00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1676400"/>
            <a:ext cx="5867400" cy="3581400"/>
          </a:xfrm>
          <a:prstGeom prst="rect">
            <a:avLst/>
          </a:prstGeom>
          <a:noFill/>
        </p:spPr>
      </p:pic>
      <p:sp>
        <p:nvSpPr>
          <p:cNvPr id="584710" name="Rectangle 6"/>
          <p:cNvSpPr>
            <a:spLocks noChangeArrowheads="1"/>
          </p:cNvSpPr>
          <p:nvPr/>
        </p:nvSpPr>
        <p:spPr bwMode="auto">
          <a:xfrm>
            <a:off x="2357438" y="5592763"/>
            <a:ext cx="3892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1-8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Inside the computer case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59CAE61-82EA-4814-9C7B-DFE6C67032C6}" type="slidenum">
              <a:rPr lang="en-US"/>
              <a:pPr/>
              <a:t>11</a:t>
            </a:fld>
            <a:endParaRPr lang="en-US"/>
          </a:p>
        </p:txBody>
      </p:sp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Motherboard</a:t>
            </a:r>
          </a:p>
        </p:txBody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305800" cy="4572000"/>
          </a:xfrm>
        </p:spPr>
        <p:txBody>
          <a:bodyPr/>
          <a:lstStyle/>
          <a:p>
            <a:r>
              <a:rPr lang="en-US"/>
              <a:t>The largest and most important circuit board</a:t>
            </a:r>
          </a:p>
          <a:p>
            <a:pPr lvl="1"/>
            <a:r>
              <a:rPr lang="en-US"/>
              <a:t>Also known as the main board or system board</a:t>
            </a:r>
          </a:p>
          <a:p>
            <a:pPr lvl="1"/>
            <a:r>
              <a:rPr lang="en-US"/>
              <a:t>Contains the CPU, expansion slots, other devices</a:t>
            </a:r>
          </a:p>
          <a:p>
            <a:r>
              <a:rPr lang="en-US"/>
              <a:t>Categories used to group motherboard components </a:t>
            </a:r>
          </a:p>
          <a:p>
            <a:pPr lvl="1"/>
            <a:r>
              <a:rPr lang="en-US"/>
              <a:t>Processing, temporary storage, communication, power</a:t>
            </a:r>
          </a:p>
          <a:p>
            <a:r>
              <a:rPr lang="en-US"/>
              <a:t>All devices communicate with CPU on motherboard </a:t>
            </a:r>
          </a:p>
          <a:p>
            <a:r>
              <a:rPr lang="en-US"/>
              <a:t>A peripheral device links to motherboard via cable</a:t>
            </a:r>
          </a:p>
          <a:p>
            <a:r>
              <a:rPr lang="en-US"/>
              <a:t>Some motherboard ports outside of the case:</a:t>
            </a:r>
          </a:p>
          <a:p>
            <a:pPr lvl="1"/>
            <a:r>
              <a:rPr lang="en-US"/>
              <a:t>Keyboard, mouse, parallel, USB ports, sound ports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3177E8-0E76-4E51-8451-E6AB599B7D49}" type="slidenum">
              <a:rPr lang="en-US"/>
              <a:pPr/>
              <a:t>12</a:t>
            </a:fld>
            <a:endParaRPr lang="en-US"/>
          </a:p>
        </p:txBody>
      </p:sp>
      <p:pic>
        <p:nvPicPr>
          <p:cNvPr id="586759" name="Picture 7" descr="C01F00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990600"/>
            <a:ext cx="5321300" cy="3857625"/>
          </a:xfrm>
          <a:prstGeom prst="rect">
            <a:avLst/>
          </a:prstGeom>
          <a:noFill/>
        </p:spPr>
      </p:pic>
      <p:sp>
        <p:nvSpPr>
          <p:cNvPr id="586760" name="Rectangle 8"/>
          <p:cNvSpPr>
            <a:spLocks noChangeArrowheads="1"/>
          </p:cNvSpPr>
          <p:nvPr/>
        </p:nvSpPr>
        <p:spPr bwMode="auto">
          <a:xfrm>
            <a:off x="990600" y="5181600"/>
            <a:ext cx="69342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1-9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All hardware components are either located on the motherboard or directly or indirectly connected to it because they must all communicate with the CPU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A9A2B1-48CA-4562-AFDD-90F3ECEB0DAF}" type="slidenum">
              <a:rPr lang="en-US"/>
              <a:pPr/>
              <a:t>13</a:t>
            </a:fld>
            <a:endParaRPr lang="en-US"/>
          </a:p>
        </p:txBody>
      </p:sp>
      <p:pic>
        <p:nvPicPr>
          <p:cNvPr id="587779" name="Picture 3" descr="C01F0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2209800"/>
            <a:ext cx="5735638" cy="2514600"/>
          </a:xfrm>
          <a:prstGeom prst="rect">
            <a:avLst/>
          </a:prstGeom>
          <a:noFill/>
        </p:spPr>
      </p:pic>
      <p:sp>
        <p:nvSpPr>
          <p:cNvPr id="587780" name="Rectangle 4"/>
          <p:cNvSpPr>
            <a:spLocks noChangeArrowheads="1"/>
          </p:cNvSpPr>
          <p:nvPr/>
        </p:nvSpPr>
        <p:spPr bwMode="auto">
          <a:xfrm>
            <a:off x="0" y="5359400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1-10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A motherboard provides ports for common I/O devices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BE0C0E-3FF8-4E6D-94CD-59759E0AB463}" type="slidenum">
              <a:rPr lang="en-US"/>
              <a:pPr/>
              <a:t>14</a:t>
            </a:fld>
            <a:endParaRPr lang="en-US"/>
          </a:p>
        </p:txBody>
      </p:sp>
      <p:sp>
        <p:nvSpPr>
          <p:cNvPr id="588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Processor and the Chipset</a:t>
            </a:r>
          </a:p>
        </p:txBody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CPU: chip that performs most data processing</a:t>
            </a:r>
          </a:p>
          <a:p>
            <a:r>
              <a:rPr lang="en-US"/>
              <a:t>Chipset: group of microchips controlling data flow</a:t>
            </a:r>
          </a:p>
          <a:p>
            <a:r>
              <a:rPr lang="en-US"/>
              <a:t>Personal computer (PC): chief focus of this text</a:t>
            </a:r>
          </a:p>
          <a:p>
            <a:r>
              <a:rPr lang="en-US"/>
              <a:t>Major manufacturers of CPUs and chipsets for PCs</a:t>
            </a:r>
          </a:p>
          <a:p>
            <a:pPr lvl="1"/>
            <a:r>
              <a:rPr lang="en-US"/>
              <a:t>Intel Corporation, AMD, VIA, SiS, and Cyrix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942AAB-759D-4360-A51E-088393271724}" type="slidenum">
              <a:rPr lang="en-US"/>
              <a:pPr/>
              <a:t>15</a:t>
            </a:fld>
            <a:endParaRPr lang="en-US"/>
          </a:p>
        </p:txBody>
      </p:sp>
      <p:pic>
        <p:nvPicPr>
          <p:cNvPr id="589829" name="Picture 5" descr="C01F01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990600"/>
            <a:ext cx="5257800" cy="3852863"/>
          </a:xfrm>
          <a:prstGeom prst="rect">
            <a:avLst/>
          </a:prstGeom>
          <a:noFill/>
        </p:spPr>
      </p:pic>
      <p:sp>
        <p:nvSpPr>
          <p:cNvPr id="589830" name="Rectangle 6"/>
          <p:cNvSpPr>
            <a:spLocks noChangeArrowheads="1"/>
          </p:cNvSpPr>
          <p:nvPr/>
        </p:nvSpPr>
        <p:spPr bwMode="auto">
          <a:xfrm>
            <a:off x="1600200" y="5105400"/>
            <a:ext cx="59436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1-12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This motherboard uses two chips in its chipset (notice the bus lines coming from each chip</a:t>
            </a:r>
          </a:p>
          <a:p>
            <a:r>
              <a:rPr lang="en-US" sz="1800">
                <a:solidFill>
                  <a:srgbClr val="222222"/>
                </a:solidFill>
                <a:latin typeface="Arial" charset="0"/>
              </a:rPr>
              <a:t>used for communication)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894AC0-5010-4C3B-AE57-15ACFCE4EACC}" type="slidenum">
              <a:rPr lang="en-US"/>
              <a:pPr/>
              <a:t>16</a:t>
            </a:fld>
            <a:endParaRPr lang="en-US"/>
          </a:p>
        </p:txBody>
      </p:sp>
      <p:sp>
        <p:nvSpPr>
          <p:cNvPr id="590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Storage Devices</a:t>
            </a:r>
          </a:p>
        </p:txBody>
      </p:sp>
      <p:sp>
        <p:nvSpPr>
          <p:cNvPr id="590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229600" cy="4572000"/>
          </a:xfrm>
        </p:spPr>
        <p:txBody>
          <a:bodyPr/>
          <a:lstStyle/>
          <a:p>
            <a:r>
              <a:rPr lang="en-US"/>
              <a:t>Primary storage (main memory):</a:t>
            </a:r>
          </a:p>
          <a:p>
            <a:pPr lvl="1"/>
            <a:r>
              <a:rPr lang="en-US"/>
              <a:t>Temporary storage used by the processor</a:t>
            </a:r>
          </a:p>
          <a:p>
            <a:pPr lvl="1"/>
            <a:r>
              <a:rPr lang="en-US"/>
              <a:t>Example: RAM (random access memory)</a:t>
            </a:r>
          </a:p>
          <a:p>
            <a:r>
              <a:rPr lang="en-US"/>
              <a:t>Secondary storage (permanent storage):</a:t>
            </a:r>
          </a:p>
          <a:p>
            <a:pPr lvl="1"/>
            <a:r>
              <a:rPr lang="en-US"/>
              <a:t>Enables data to persist after the machine is turned off</a:t>
            </a:r>
          </a:p>
          <a:p>
            <a:pPr lvl="1"/>
            <a:r>
              <a:rPr lang="en-US"/>
              <a:t>Examples: hard drive, CD, floppy disk</a:t>
            </a:r>
          </a:p>
          <a:p>
            <a:r>
              <a:rPr lang="en-US"/>
              <a:t>Analogy to primary-secondary memory relationship</a:t>
            </a:r>
          </a:p>
          <a:p>
            <a:pPr lvl="1"/>
            <a:r>
              <a:rPr lang="en-US"/>
              <a:t>Book stacks in a library are like permanent storage</a:t>
            </a:r>
          </a:p>
          <a:p>
            <a:pPr lvl="1"/>
            <a:r>
              <a:rPr lang="en-US"/>
              <a:t>Books can be moved to a desk (temporary storage)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CBE0C8-61D8-4D3F-ACD0-A8EEC8A09712}" type="slidenum">
              <a:rPr lang="en-US"/>
              <a:pPr/>
              <a:t>17</a:t>
            </a:fld>
            <a:endParaRPr lang="en-US"/>
          </a:p>
        </p:txBody>
      </p:sp>
      <p:pic>
        <p:nvPicPr>
          <p:cNvPr id="591877" name="Picture 5" descr="C01F0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1371600"/>
            <a:ext cx="5181600" cy="2773363"/>
          </a:xfrm>
          <a:prstGeom prst="rect">
            <a:avLst/>
          </a:prstGeom>
          <a:noFill/>
        </p:spPr>
      </p:pic>
      <p:sp>
        <p:nvSpPr>
          <p:cNvPr id="591878" name="Rectangle 6"/>
          <p:cNvSpPr>
            <a:spLocks noChangeArrowheads="1"/>
          </p:cNvSpPr>
          <p:nvPr/>
        </p:nvSpPr>
        <p:spPr bwMode="auto">
          <a:xfrm>
            <a:off x="1752600" y="4648200"/>
            <a:ext cx="5562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1-13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Memory is a temporary place to hold instructions and data while the CPU processes both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79F7A6-DEED-4620-90EC-2C885A7DBA2E}" type="slidenum">
              <a:rPr lang="en-US"/>
              <a:pPr/>
              <a:t>18</a:t>
            </a:fld>
            <a:endParaRPr lang="en-US"/>
          </a:p>
        </p:txBody>
      </p:sp>
      <p:sp>
        <p:nvSpPr>
          <p:cNvPr id="592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Primary Storage	</a:t>
            </a:r>
          </a:p>
        </p:txBody>
      </p:sp>
      <p:sp>
        <p:nvSpPr>
          <p:cNvPr id="592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RAM (random access memory):</a:t>
            </a:r>
          </a:p>
          <a:p>
            <a:pPr lvl="1"/>
            <a:r>
              <a:rPr lang="en-US"/>
              <a:t>Device providing temporary storage</a:t>
            </a:r>
          </a:p>
          <a:p>
            <a:pPr lvl="1"/>
            <a:r>
              <a:rPr lang="en-US"/>
              <a:t>Located on motherboard and on other circuit boards</a:t>
            </a:r>
          </a:p>
          <a:p>
            <a:r>
              <a:rPr lang="en-US"/>
              <a:t>Three types of RAM boards (memory modules):</a:t>
            </a:r>
          </a:p>
          <a:p>
            <a:pPr lvl="1"/>
            <a:r>
              <a:rPr lang="en-US"/>
              <a:t>DIMM (dual inline memory module)</a:t>
            </a:r>
          </a:p>
          <a:p>
            <a:pPr lvl="1"/>
            <a:r>
              <a:rPr lang="en-US"/>
              <a:t>RIMM (Rambus inline memory module)</a:t>
            </a:r>
          </a:p>
          <a:p>
            <a:pPr lvl="1"/>
            <a:r>
              <a:rPr lang="en-US"/>
              <a:t>SIMM (single inline memory module)</a:t>
            </a:r>
          </a:p>
          <a:p>
            <a:r>
              <a:rPr lang="en-US"/>
              <a:t>RAM is volatile (data does not persist)</a:t>
            </a:r>
          </a:p>
          <a:p>
            <a:r>
              <a:rPr lang="en-US"/>
              <a:t>ROM (read-only memory) is nonvolatile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9D1D9D-D77B-40BD-8731-3E2C42408410}" type="slidenum">
              <a:rPr lang="en-US"/>
              <a:pPr/>
              <a:t>19</a:t>
            </a:fld>
            <a:endParaRPr lang="en-US"/>
          </a:p>
        </p:txBody>
      </p:sp>
      <p:pic>
        <p:nvPicPr>
          <p:cNvPr id="593925" name="Picture 5" descr="C01F0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1600200"/>
            <a:ext cx="5427663" cy="3560763"/>
          </a:xfrm>
          <a:prstGeom prst="rect">
            <a:avLst/>
          </a:prstGeom>
          <a:noFill/>
        </p:spPr>
      </p:pic>
      <p:sp>
        <p:nvSpPr>
          <p:cNvPr id="593926" name="Rectangle 6"/>
          <p:cNvSpPr>
            <a:spLocks noChangeArrowheads="1"/>
          </p:cNvSpPr>
          <p:nvPr/>
        </p:nvSpPr>
        <p:spPr bwMode="auto">
          <a:xfrm>
            <a:off x="1676400" y="5334000"/>
            <a:ext cx="5715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1-14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A SIMM, DIMM, or RIMM holds RAM and is mounted directly on a motherboard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075FF1-8322-4156-A140-7F8B23DAFB3F}" type="slidenum">
              <a:rPr lang="en-US"/>
              <a:pPr/>
              <a:t>20</a:t>
            </a:fld>
            <a:endParaRPr lang="en-US"/>
          </a:p>
        </p:txBody>
      </p:sp>
      <p:sp>
        <p:nvSpPr>
          <p:cNvPr id="595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Secondary Storage</a:t>
            </a:r>
          </a:p>
        </p:txBody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229600" cy="4572000"/>
          </a:xfrm>
        </p:spPr>
        <p:txBody>
          <a:bodyPr/>
          <a:lstStyle/>
          <a:p>
            <a:r>
              <a:rPr lang="en-US"/>
              <a:t>Hard drive</a:t>
            </a:r>
          </a:p>
          <a:p>
            <a:pPr lvl="1"/>
            <a:r>
              <a:rPr lang="en-US"/>
              <a:t>Case containing disks that rotate at high speeds</a:t>
            </a:r>
          </a:p>
          <a:p>
            <a:pPr lvl="1"/>
            <a:r>
              <a:rPr lang="en-US"/>
              <a:t>An arm with a read/write head traverses the platter</a:t>
            </a:r>
          </a:p>
          <a:p>
            <a:r>
              <a:rPr lang="en-US"/>
              <a:t>Integrated Drive Electronics (IDE)</a:t>
            </a:r>
          </a:p>
          <a:p>
            <a:pPr lvl="1"/>
            <a:r>
              <a:rPr lang="en-US"/>
              <a:t>Technology used internally by a hard drive</a:t>
            </a:r>
          </a:p>
          <a:p>
            <a:r>
              <a:rPr lang="en-US"/>
              <a:t>ATA (AT Attachment) standard</a:t>
            </a:r>
          </a:p>
          <a:p>
            <a:pPr lvl="1"/>
            <a:r>
              <a:rPr lang="en-US"/>
              <a:t>Specifies motherboard-hard drive interface </a:t>
            </a:r>
          </a:p>
          <a:p>
            <a:pPr lvl="1"/>
            <a:r>
              <a:rPr lang="en-US"/>
              <a:t>Types: Serial ATA or parallel ATA (Enhanced IDE)</a:t>
            </a:r>
          </a:p>
          <a:p>
            <a:r>
              <a:rPr lang="en-US"/>
              <a:t>Parallel ATA accommodates up to four IDE devices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F223A33-6B42-44CE-A008-7141E0F119E8}" type="slidenum">
              <a:rPr lang="en-US"/>
              <a:pPr/>
              <a:t>21</a:t>
            </a:fld>
            <a:endParaRPr lang="en-US"/>
          </a:p>
        </p:txBody>
      </p:sp>
      <p:pic>
        <p:nvPicPr>
          <p:cNvPr id="598021" name="Picture 5" descr="C01F01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1700213"/>
            <a:ext cx="4811713" cy="3455987"/>
          </a:xfrm>
          <a:prstGeom prst="rect">
            <a:avLst/>
          </a:prstGeom>
          <a:noFill/>
        </p:spPr>
      </p:pic>
      <p:sp>
        <p:nvSpPr>
          <p:cNvPr id="598022" name="Rectangle 6"/>
          <p:cNvSpPr>
            <a:spLocks noChangeArrowheads="1"/>
          </p:cNvSpPr>
          <p:nvPr/>
        </p:nvSpPr>
        <p:spPr bwMode="auto">
          <a:xfrm>
            <a:off x="1676400" y="5359400"/>
            <a:ext cx="5302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1-16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Hard drive with sealed cover removed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6810537-4C53-482B-9936-39E73B517A75}" type="slidenum">
              <a:rPr lang="en-US"/>
              <a:pPr/>
              <a:t>22</a:t>
            </a:fld>
            <a:endParaRPr lang="en-US"/>
          </a:p>
        </p:txBody>
      </p:sp>
      <p:pic>
        <p:nvPicPr>
          <p:cNvPr id="599045" name="Picture 5" descr="C01F01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1676400"/>
            <a:ext cx="5638800" cy="3171825"/>
          </a:xfrm>
          <a:prstGeom prst="rect">
            <a:avLst/>
          </a:prstGeom>
          <a:noFill/>
        </p:spPr>
      </p:pic>
      <p:sp>
        <p:nvSpPr>
          <p:cNvPr id="599046" name="Rectangle 6"/>
          <p:cNvSpPr>
            <a:spLocks noChangeArrowheads="1"/>
          </p:cNvSpPr>
          <p:nvPr/>
        </p:nvSpPr>
        <p:spPr bwMode="auto">
          <a:xfrm>
            <a:off x="1295400" y="5257800"/>
            <a:ext cx="6400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/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1-18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Two IDE devices connected to a motherboard using both IDE connections and two cables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BE2223-AF3B-4E60-8C13-8354D70ACAED}" type="slidenum">
              <a:rPr lang="en-US"/>
              <a:pPr/>
              <a:t>23</a:t>
            </a:fld>
            <a:endParaRPr lang="en-US"/>
          </a:p>
        </p:txBody>
      </p:sp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Secondary Storage (continued)</a:t>
            </a:r>
          </a:p>
        </p:txBody>
      </p:sp>
      <p:sp>
        <p:nvSpPr>
          <p:cNvPr id="596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458200" cy="4572000"/>
          </a:xfrm>
        </p:spPr>
        <p:txBody>
          <a:bodyPr/>
          <a:lstStyle/>
          <a:p>
            <a:r>
              <a:rPr lang="en-US"/>
              <a:t>Serial ATA standard </a:t>
            </a:r>
          </a:p>
          <a:p>
            <a:pPr lvl="1"/>
            <a:r>
              <a:rPr lang="en-US"/>
              <a:t>Allows for more than four drives in a system </a:t>
            </a:r>
          </a:p>
          <a:p>
            <a:pPr lvl="1"/>
            <a:r>
              <a:rPr lang="en-US"/>
              <a:t>Applies only to hard drives and not to other drives</a:t>
            </a:r>
          </a:p>
          <a:p>
            <a:r>
              <a:rPr lang="en-US"/>
              <a:t>Some IDE devices: hard drives, Zip drives, CD drive</a:t>
            </a:r>
          </a:p>
          <a:p>
            <a:r>
              <a:rPr lang="en-US"/>
              <a:t>Floppy drive</a:t>
            </a:r>
          </a:p>
          <a:p>
            <a:pPr lvl="1"/>
            <a:r>
              <a:rPr lang="en-US"/>
              <a:t>3.5-inch disk holding 1.44 MB of data</a:t>
            </a:r>
          </a:p>
          <a:p>
            <a:pPr lvl="1"/>
            <a:r>
              <a:rPr lang="en-US"/>
              <a:t>Floppy drive connector is distinct from IDE connectors</a:t>
            </a:r>
          </a:p>
          <a:p>
            <a:r>
              <a:rPr lang="en-US"/>
              <a:t>CD-ROM (compact disc read-only memory) drive</a:t>
            </a:r>
          </a:p>
          <a:p>
            <a:pPr lvl="1"/>
            <a:r>
              <a:rPr lang="en-US"/>
              <a:t>Standard equipment for reading software distributions     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399166-B5BD-42F1-BC4F-C24FCFACAE2E}" type="slidenum">
              <a:rPr lang="en-US"/>
              <a:pPr/>
              <a:t>24</a:t>
            </a:fld>
            <a:endParaRPr lang="en-US"/>
          </a:p>
        </p:txBody>
      </p:sp>
      <p:pic>
        <p:nvPicPr>
          <p:cNvPr id="600069" name="Picture 5" descr="C01F02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2209800"/>
            <a:ext cx="5791200" cy="2262188"/>
          </a:xfrm>
          <a:prstGeom prst="rect">
            <a:avLst/>
          </a:prstGeom>
          <a:noFill/>
        </p:spPr>
      </p:pic>
      <p:sp>
        <p:nvSpPr>
          <p:cNvPr id="600070" name="Rectangle 6"/>
          <p:cNvSpPr>
            <a:spLocks noChangeArrowheads="1"/>
          </p:cNvSpPr>
          <p:nvPr/>
        </p:nvSpPr>
        <p:spPr bwMode="auto">
          <a:xfrm>
            <a:off x="1600200" y="4800600"/>
            <a:ext cx="6096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1-22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A motherboard usually provides a connection for a floppy drive cable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795A54-B63E-4157-8EB3-A47FB1C911BF}" type="slidenum">
              <a:rPr lang="en-US"/>
              <a:pPr/>
              <a:t>25</a:t>
            </a:fld>
            <a:endParaRPr lang="en-US"/>
          </a:p>
        </p:txBody>
      </p:sp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458200" cy="1524000"/>
          </a:xfrm>
        </p:spPr>
        <p:txBody>
          <a:bodyPr/>
          <a:lstStyle/>
          <a:p>
            <a:r>
              <a:rPr lang="en-US"/>
              <a:t>Motherboard Components Used For Communication Among Devices </a:t>
            </a:r>
          </a:p>
        </p:txBody>
      </p:sp>
      <p:sp>
        <p:nvSpPr>
          <p:cNvPr id="601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52600"/>
            <a:ext cx="8458200" cy="4572000"/>
          </a:xfrm>
        </p:spPr>
        <p:txBody>
          <a:bodyPr/>
          <a:lstStyle/>
          <a:p>
            <a:r>
              <a:rPr lang="en-US"/>
              <a:t>Traces: circuits or paths that move data and power</a:t>
            </a:r>
          </a:p>
          <a:p>
            <a:r>
              <a:rPr lang="en-US"/>
              <a:t>Bus: system of pathways and transmission protocols</a:t>
            </a:r>
          </a:p>
          <a:p>
            <a:r>
              <a:rPr lang="en-US"/>
              <a:t>Data bus</a:t>
            </a:r>
          </a:p>
          <a:p>
            <a:pPr lvl="1"/>
            <a:r>
              <a:rPr lang="en-US"/>
              <a:t>Lines in a bus that carry the data</a:t>
            </a:r>
          </a:p>
          <a:p>
            <a:pPr lvl="1"/>
            <a:r>
              <a:rPr lang="en-US"/>
              <a:t>Binary bits correspond to voltage values of on or off</a:t>
            </a:r>
          </a:p>
          <a:p>
            <a:pPr lvl="1"/>
            <a:r>
              <a:rPr lang="en-US"/>
              <a:t>Data path sizes: 8, 16, 32, 64, or 128 bits wide </a:t>
            </a:r>
          </a:p>
          <a:p>
            <a:r>
              <a:rPr lang="en-US"/>
              <a:t>Main bus on motherboard (system bus, memory bus) </a:t>
            </a:r>
          </a:p>
          <a:p>
            <a:pPr lvl="1"/>
            <a:r>
              <a:rPr lang="en-US"/>
              <a:t>Communicates with CPU, memory, and chipset</a:t>
            </a:r>
          </a:p>
          <a:p>
            <a:r>
              <a:rPr lang="en-US"/>
              <a:t>Pulse of system clock carried by line on motherboard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274BB-70FB-4060-AD4E-F0BF30B6B8E9}" type="slidenum">
              <a:rPr lang="en-US"/>
              <a:pPr/>
              <a:t>26</a:t>
            </a:fld>
            <a:endParaRPr lang="en-US"/>
          </a:p>
        </p:txBody>
      </p:sp>
      <p:pic>
        <p:nvPicPr>
          <p:cNvPr id="603141" name="Picture 5" descr="C01F02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2495550"/>
            <a:ext cx="4708525" cy="2000250"/>
          </a:xfrm>
          <a:prstGeom prst="rect">
            <a:avLst/>
          </a:prstGeom>
          <a:noFill/>
        </p:spPr>
      </p:pic>
      <p:sp>
        <p:nvSpPr>
          <p:cNvPr id="603142" name="Rectangle 6"/>
          <p:cNvSpPr>
            <a:spLocks noChangeArrowheads="1"/>
          </p:cNvSpPr>
          <p:nvPr/>
        </p:nvSpPr>
        <p:spPr bwMode="auto">
          <a:xfrm>
            <a:off x="1676400" y="4724400"/>
            <a:ext cx="5943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1-26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A data bus has traces or lines that carry voltage interpreted by the CPU and other devices as bits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62791D-2B45-4B53-90B9-DB9D02F29645}" type="slidenum">
              <a:rPr lang="en-US"/>
              <a:pPr/>
              <a:t>27</a:t>
            </a:fld>
            <a:endParaRPr lang="en-US"/>
          </a:p>
        </p:txBody>
      </p:sp>
      <p:sp>
        <p:nvSpPr>
          <p:cNvPr id="602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534400" cy="2057400"/>
          </a:xfrm>
        </p:spPr>
        <p:txBody>
          <a:bodyPr/>
          <a:lstStyle/>
          <a:p>
            <a:r>
              <a:rPr lang="en-US"/>
              <a:t>Motherboard Components Used For Communication Among Devices (continued) </a:t>
            </a:r>
          </a:p>
        </p:txBody>
      </p:sp>
      <p:sp>
        <p:nvSpPr>
          <p:cNvPr id="602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2286000"/>
            <a:ext cx="8458200" cy="3962400"/>
          </a:xfrm>
        </p:spPr>
        <p:txBody>
          <a:bodyPr/>
          <a:lstStyle/>
          <a:p>
            <a:r>
              <a:rPr lang="en-US"/>
              <a:t>Devices work according to beats (or cycles)</a:t>
            </a:r>
          </a:p>
          <a:p>
            <a:r>
              <a:rPr lang="en-US"/>
              <a:t>Clock speed is measured in hertz (cycles/second)  </a:t>
            </a:r>
          </a:p>
          <a:p>
            <a:pPr lvl="1"/>
            <a:r>
              <a:rPr lang="en-US"/>
              <a:t>One megahertz (MHz): one million cycles per second</a:t>
            </a:r>
          </a:p>
          <a:p>
            <a:pPr lvl="1"/>
            <a:r>
              <a:rPr lang="en-US"/>
              <a:t>One gigahertz (GHz): one billion cycles per second</a:t>
            </a:r>
          </a:p>
          <a:p>
            <a:r>
              <a:rPr lang="en-US"/>
              <a:t>Common ratings for motherboard buses</a:t>
            </a:r>
          </a:p>
          <a:p>
            <a:pPr lvl="1"/>
            <a:r>
              <a:rPr lang="en-US"/>
              <a:t>1066 MHz, 800 MHz, 533 MHz, or 400 MHz</a:t>
            </a:r>
          </a:p>
          <a:p>
            <a:r>
              <a:rPr lang="en-US"/>
              <a:t>Range of CPU speeds: 166 MHz to 4 GHz</a:t>
            </a:r>
          </a:p>
          <a:p>
            <a:r>
              <a:rPr lang="en-US"/>
              <a:t>Buses for expansion slots: PCI, AGP, ISA  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8DDD2C-1FDA-439F-97F2-652A3B18A015}" type="slidenum">
              <a:rPr lang="en-US"/>
              <a:pPr/>
              <a:t>28</a:t>
            </a:fld>
            <a:endParaRPr lang="en-US"/>
          </a:p>
        </p:txBody>
      </p:sp>
      <p:pic>
        <p:nvPicPr>
          <p:cNvPr id="604165" name="Picture 5" descr="C01F02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1371600"/>
            <a:ext cx="5257800" cy="3187700"/>
          </a:xfrm>
          <a:prstGeom prst="rect">
            <a:avLst/>
          </a:prstGeom>
          <a:noFill/>
        </p:spPr>
      </p:pic>
      <p:sp>
        <p:nvSpPr>
          <p:cNvPr id="604166" name="Rectangle 6"/>
          <p:cNvSpPr>
            <a:spLocks noChangeArrowheads="1"/>
          </p:cNvSpPr>
          <p:nvPr/>
        </p:nvSpPr>
        <p:spPr bwMode="auto">
          <a:xfrm>
            <a:off x="1828800" y="4724400"/>
            <a:ext cx="45720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1-29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PCI bus expansion slots are shorter than ISA slots and offset farther; the one AGP slot is set farther from the edge of the board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B00FB4-4FE8-4703-A7EC-9B7BCDE986B8}" type="slidenum">
              <a:rPr lang="en-US"/>
              <a:pPr/>
              <a:t>29</a:t>
            </a:fld>
            <a:endParaRPr lang="en-US"/>
          </a:p>
        </p:txBody>
      </p:sp>
      <p:sp>
        <p:nvSpPr>
          <p:cNvPr id="605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Interface (Expansion) Cards</a:t>
            </a:r>
          </a:p>
        </p:txBody>
      </p:sp>
      <p:sp>
        <p:nvSpPr>
          <p:cNvPr id="605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r>
              <a:rPr lang="en-US"/>
              <a:t>Some names for circuits mounted in expansion slots:</a:t>
            </a:r>
          </a:p>
          <a:p>
            <a:pPr lvl="1"/>
            <a:r>
              <a:rPr lang="en-US"/>
              <a:t>Circuit cards, adapter boards, expansion cards, cards  </a:t>
            </a:r>
          </a:p>
          <a:p>
            <a:r>
              <a:rPr lang="en-US"/>
              <a:t>Cards that connect the CPU to an external device:</a:t>
            </a:r>
          </a:p>
          <a:p>
            <a:pPr lvl="1"/>
            <a:r>
              <a:rPr lang="en-US"/>
              <a:t>Video: provides a port for the monitor</a:t>
            </a:r>
          </a:p>
          <a:p>
            <a:pPr lvl="1"/>
            <a:r>
              <a:rPr lang="en-US"/>
              <a:t>Sound: provides ports for speakers and microphones</a:t>
            </a:r>
          </a:p>
          <a:p>
            <a:pPr lvl="1"/>
            <a:r>
              <a:rPr lang="en-US"/>
              <a:t>Network: provides a port for a network cable</a:t>
            </a:r>
          </a:p>
          <a:p>
            <a:pPr lvl="1"/>
            <a:r>
              <a:rPr lang="en-US"/>
              <a:t>Modem: provides ports for phone lines</a:t>
            </a:r>
          </a:p>
          <a:p>
            <a:r>
              <a:rPr lang="en-US"/>
              <a:t>Determine a card’s function by identifying its port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26DEB8-577B-4C63-A96E-A8A08453A15B}" type="slidenum">
              <a:rPr lang="en-US"/>
              <a:pPr/>
              <a:t>30</a:t>
            </a:fld>
            <a:endParaRPr lang="en-US"/>
          </a:p>
        </p:txBody>
      </p:sp>
      <p:pic>
        <p:nvPicPr>
          <p:cNvPr id="606213" name="Picture 5" descr="C01F03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1828800"/>
            <a:ext cx="5486400" cy="2840038"/>
          </a:xfrm>
          <a:prstGeom prst="rect">
            <a:avLst/>
          </a:prstGeom>
          <a:noFill/>
        </p:spPr>
      </p:pic>
      <p:sp>
        <p:nvSpPr>
          <p:cNvPr id="606214" name="Rectangle 6"/>
          <p:cNvSpPr>
            <a:spLocks noChangeArrowheads="1"/>
          </p:cNvSpPr>
          <p:nvPr/>
        </p:nvSpPr>
        <p:spPr bwMode="auto">
          <a:xfrm>
            <a:off x="1752600" y="4953000"/>
            <a:ext cx="579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1-31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This circuit board is a modem card and is mounted in a PCI slot on the motherboard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55269D-D2F1-4263-8971-96E5017FD5BB}" type="slidenum">
              <a:rPr lang="en-US"/>
              <a:pPr/>
              <a:t>31</a:t>
            </a:fld>
            <a:endParaRPr lang="en-US"/>
          </a:p>
        </p:txBody>
      </p:sp>
      <p:sp>
        <p:nvSpPr>
          <p:cNvPr id="607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Electrical System</a:t>
            </a:r>
          </a:p>
        </p:txBody>
      </p:sp>
      <p:sp>
        <p:nvSpPr>
          <p:cNvPr id="607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572000"/>
          </a:xfrm>
        </p:spPr>
        <p:txBody>
          <a:bodyPr/>
          <a:lstStyle/>
          <a:p>
            <a:r>
              <a:rPr lang="en-US"/>
              <a:t>Power supply</a:t>
            </a:r>
          </a:p>
          <a:p>
            <a:pPr lvl="1"/>
            <a:r>
              <a:rPr lang="en-US"/>
              <a:t>Most important electrical component</a:t>
            </a:r>
          </a:p>
          <a:p>
            <a:pPr lvl="1"/>
            <a:r>
              <a:rPr lang="en-US"/>
              <a:t>Converts AC voltage external source to DC voltage </a:t>
            </a:r>
          </a:p>
          <a:p>
            <a:pPr lvl="1"/>
            <a:r>
              <a:rPr lang="en-US"/>
              <a:t>Reduces voltage from 110-120 volts to 12 volts or less</a:t>
            </a:r>
          </a:p>
          <a:p>
            <a:pPr lvl="1"/>
            <a:r>
              <a:rPr lang="en-US"/>
              <a:t>Runs a fan to cool the inside of the computer case</a:t>
            </a:r>
          </a:p>
          <a:p>
            <a:r>
              <a:rPr lang="en-US"/>
              <a:t>Temperatures &gt; 185</a:t>
            </a:r>
            <a:r>
              <a:rPr lang="en-US">
                <a:cs typeface="Arial" charset="0"/>
                <a:sym typeface="WP MathA" pitchFamily="2" charset="2"/>
              </a:rPr>
              <a:t>°</a:t>
            </a:r>
            <a:r>
              <a:rPr lang="en-US"/>
              <a:t> F can cause component failure</a:t>
            </a:r>
          </a:p>
          <a:p>
            <a:r>
              <a:rPr lang="en-US"/>
              <a:t>Motherboard has 1 or 2 connections to power supply</a:t>
            </a:r>
          </a:p>
          <a:p>
            <a:endParaRPr lang="en-US"/>
          </a:p>
          <a:p>
            <a:pPr lvl="1"/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2163C1-2973-4E49-B63A-95497503C4CC}" type="slidenum">
              <a:rPr lang="en-US"/>
              <a:pPr/>
              <a:t>32</a:t>
            </a:fld>
            <a:endParaRPr lang="en-US"/>
          </a:p>
        </p:txBody>
      </p:sp>
      <p:pic>
        <p:nvPicPr>
          <p:cNvPr id="608261" name="Picture 5" descr="C01F03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1828800"/>
            <a:ext cx="5562600" cy="2760663"/>
          </a:xfrm>
          <a:prstGeom prst="rect">
            <a:avLst/>
          </a:prstGeom>
          <a:noFill/>
        </p:spPr>
      </p:pic>
      <p:sp>
        <p:nvSpPr>
          <p:cNvPr id="608262" name="Rectangle 6"/>
          <p:cNvSpPr>
            <a:spLocks noChangeArrowheads="1"/>
          </p:cNvSpPr>
          <p:nvPr/>
        </p:nvSpPr>
        <p:spPr bwMode="auto">
          <a:xfrm>
            <a:off x="1828800" y="4648200"/>
            <a:ext cx="54102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1-35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The motherboard receives its power from the power supply by way of one or more connections located near the edge of the board or near the processor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A8D7B3-45C6-430D-B07C-CE9668C2585C}" type="slidenum">
              <a:rPr lang="en-US"/>
              <a:pPr/>
              <a:t>33</a:t>
            </a:fld>
            <a:endParaRPr lang="en-US"/>
          </a:p>
        </p:txBody>
      </p:sp>
      <p:sp>
        <p:nvSpPr>
          <p:cNvPr id="6092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19200"/>
          </a:xfrm>
        </p:spPr>
        <p:txBody>
          <a:bodyPr/>
          <a:lstStyle/>
          <a:p>
            <a:r>
              <a:rPr lang="en-US"/>
              <a:t>Instructions Stored on the Motherboard and Other Boards</a:t>
            </a:r>
          </a:p>
        </p:txBody>
      </p:sp>
      <p:sp>
        <p:nvSpPr>
          <p:cNvPr id="609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229600" cy="4572000"/>
          </a:xfrm>
        </p:spPr>
        <p:txBody>
          <a:bodyPr/>
          <a:lstStyle/>
          <a:p>
            <a:pPr>
              <a:tabLst>
                <a:tab pos="3141663" algn="l"/>
              </a:tabLst>
            </a:pPr>
            <a:r>
              <a:rPr lang="en-US"/>
              <a:t>BIOS (basic input/output system)</a:t>
            </a:r>
          </a:p>
          <a:p>
            <a:pPr lvl="1">
              <a:tabLst>
                <a:tab pos="3141663" algn="l"/>
              </a:tabLst>
            </a:pPr>
            <a:r>
              <a:rPr lang="en-US"/>
              <a:t>Data and instructions stored on ROM chips</a:t>
            </a:r>
          </a:p>
          <a:p>
            <a:pPr lvl="1">
              <a:tabLst>
                <a:tab pos="3141663" algn="l"/>
              </a:tabLst>
            </a:pPr>
            <a:r>
              <a:rPr lang="en-US"/>
              <a:t>ROM BIOS chips are a type of firmware</a:t>
            </a:r>
          </a:p>
          <a:p>
            <a:pPr>
              <a:tabLst>
                <a:tab pos="3141663" algn="l"/>
              </a:tabLst>
            </a:pPr>
            <a:r>
              <a:rPr lang="en-US"/>
              <a:t>Three purposes served by motherboard ROM BIOS:</a:t>
            </a:r>
          </a:p>
          <a:p>
            <a:pPr lvl="1">
              <a:tabLst>
                <a:tab pos="3141663" algn="l"/>
              </a:tabLst>
            </a:pPr>
            <a:r>
              <a:rPr lang="en-US"/>
              <a:t>System BIOS: used to manage simple devices</a:t>
            </a:r>
          </a:p>
          <a:p>
            <a:pPr lvl="1">
              <a:tabLst>
                <a:tab pos="3141663" algn="l"/>
              </a:tabLst>
            </a:pPr>
            <a:r>
              <a:rPr lang="en-US"/>
              <a:t>Startup BIOS: used to start the computer</a:t>
            </a:r>
          </a:p>
          <a:p>
            <a:pPr lvl="1">
              <a:tabLst>
                <a:tab pos="3141663" algn="l"/>
              </a:tabLst>
            </a:pPr>
            <a:r>
              <a:rPr lang="en-US"/>
              <a:t>CMOS setup: used to change motherboard settings</a:t>
            </a:r>
          </a:p>
          <a:p>
            <a:pPr>
              <a:tabLst>
                <a:tab pos="3141663" algn="l"/>
              </a:tabLst>
            </a:pPr>
            <a:r>
              <a:rPr lang="en-US"/>
              <a:t>CMOS RAM: includes date, time, port configurations</a:t>
            </a:r>
          </a:p>
          <a:p>
            <a:pPr>
              <a:tabLst>
                <a:tab pos="3141663" algn="l"/>
              </a:tabLst>
            </a:pPr>
            <a:r>
              <a:rPr lang="en-US"/>
              <a:t>Flash ROM: ROM chips the can be overwritten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44E325-1C86-4824-9B02-182A3E8912AC}" type="slidenum">
              <a:rPr lang="en-US"/>
              <a:pPr/>
              <a:t>34</a:t>
            </a:fld>
            <a:endParaRPr lang="en-US"/>
          </a:p>
        </p:txBody>
      </p:sp>
      <p:pic>
        <p:nvPicPr>
          <p:cNvPr id="610309" name="Picture 5" descr="C01F03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1752600"/>
            <a:ext cx="5638800" cy="2859088"/>
          </a:xfrm>
          <a:prstGeom prst="rect">
            <a:avLst/>
          </a:prstGeom>
          <a:noFill/>
        </p:spPr>
      </p:pic>
      <p:sp>
        <p:nvSpPr>
          <p:cNvPr id="610310" name="Rectangle 6"/>
          <p:cNvSpPr>
            <a:spLocks noChangeArrowheads="1"/>
          </p:cNvSpPr>
          <p:nvPr/>
        </p:nvSpPr>
        <p:spPr bwMode="auto">
          <a:xfrm>
            <a:off x="1752600" y="4999038"/>
            <a:ext cx="533400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1-36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This firmware chip contains flash ROM and CMOS RAM; CMOS RAM is powered by the coin battery located near the chip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4EBF4F-EAA7-4362-9D45-061889076CB9}" type="slidenum">
              <a:rPr lang="en-US"/>
              <a:pPr/>
              <a:t>35</a:t>
            </a:fld>
            <a:endParaRPr lang="en-US"/>
          </a:p>
        </p:txBody>
      </p:sp>
      <p:sp>
        <p:nvSpPr>
          <p:cNvPr id="6123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19200"/>
          </a:xfrm>
        </p:spPr>
        <p:txBody>
          <a:bodyPr/>
          <a:lstStyle/>
          <a:p>
            <a:r>
              <a:rPr lang="en-US"/>
              <a:t>Advanced Configuration and Power Interface</a:t>
            </a:r>
          </a:p>
        </p:txBody>
      </p:sp>
      <p:sp>
        <p:nvSpPr>
          <p:cNvPr id="612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8077200" cy="4343400"/>
          </a:xfrm>
        </p:spPr>
        <p:txBody>
          <a:bodyPr/>
          <a:lstStyle/>
          <a:p>
            <a:r>
              <a:rPr lang="en-US"/>
              <a:t>Also known as ACPI </a:t>
            </a:r>
          </a:p>
          <a:p>
            <a:r>
              <a:rPr lang="en-US"/>
              <a:t>Standards specifying a power saving feature</a:t>
            </a:r>
          </a:p>
          <a:p>
            <a:r>
              <a:rPr lang="en-US"/>
              <a:t>Enables a system to power up by a keyboard </a:t>
            </a:r>
          </a:p>
          <a:p>
            <a:r>
              <a:rPr lang="en-US"/>
              <a:t>Supported by most systems, such as Windows XP</a:t>
            </a:r>
          </a:p>
          <a:p>
            <a:r>
              <a:rPr lang="en-US"/>
              <a:t>Advanced Power Management (APM)</a:t>
            </a:r>
          </a:p>
          <a:p>
            <a:pPr lvl="1"/>
            <a:r>
              <a:rPr lang="en-US"/>
              <a:t>Older BIOS power management standard</a:t>
            </a:r>
          </a:p>
          <a:p>
            <a:pPr lvl="1"/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AC5286-5456-49E0-B374-21A2B5C957BB}" type="slidenum">
              <a:rPr lang="en-US"/>
              <a:pPr/>
              <a:t>36</a:t>
            </a:fld>
            <a:endParaRPr lang="en-US"/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Plug and Play</a:t>
            </a:r>
          </a:p>
        </p:txBody>
      </p:sp>
      <p:sp>
        <p:nvSpPr>
          <p:cNvPr id="613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r>
              <a:rPr lang="en-US"/>
              <a:t>Also known as PnP</a:t>
            </a:r>
          </a:p>
          <a:p>
            <a:r>
              <a:rPr lang="en-US"/>
              <a:t>Standard simplifying installation of hardware devices</a:t>
            </a:r>
          </a:p>
          <a:p>
            <a:r>
              <a:rPr lang="en-US"/>
              <a:t>PnP BIOS begins process of configuring devices</a:t>
            </a:r>
          </a:p>
          <a:p>
            <a:r>
              <a:rPr lang="en-US"/>
              <a:t>PnP-compliant operating system completes configuration</a:t>
            </a:r>
          </a:p>
          <a:p>
            <a:r>
              <a:rPr lang="en-US"/>
              <a:t>ESCD (extended system configuration data) Plug and Play BIOS</a:t>
            </a:r>
          </a:p>
          <a:p>
            <a:pPr lvl="1"/>
            <a:r>
              <a:rPr lang="en-US"/>
              <a:t>Enhanced version of PnP</a:t>
            </a:r>
          </a:p>
          <a:p>
            <a:pPr lvl="1"/>
            <a:r>
              <a:rPr lang="en-US"/>
              <a:t>Stores manual configuration steps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753D32-66EE-46C5-AEDD-2D14C461685C}" type="slidenum">
              <a:rPr lang="en-US"/>
              <a:pPr/>
              <a:t>37</a:t>
            </a:fld>
            <a:endParaRPr lang="en-US"/>
          </a:p>
        </p:txBody>
      </p:sp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458200" cy="4572000"/>
          </a:xfrm>
        </p:spPr>
        <p:txBody>
          <a:bodyPr/>
          <a:lstStyle/>
          <a:p>
            <a:r>
              <a:rPr lang="en-US"/>
              <a:t>A computer comprises hardware and software</a:t>
            </a:r>
          </a:p>
          <a:p>
            <a:r>
              <a:rPr lang="en-US"/>
              <a:t>Main functions: input, output, processing, storage</a:t>
            </a:r>
          </a:p>
          <a:p>
            <a:r>
              <a:rPr lang="en-US"/>
              <a:t>Data is stored in a binary format (1 or 0, on or off)</a:t>
            </a:r>
          </a:p>
          <a:p>
            <a:r>
              <a:rPr lang="en-US"/>
              <a:t>Input/output devices: keyboard, mouse, printer, monitor</a:t>
            </a:r>
          </a:p>
          <a:p>
            <a:r>
              <a:rPr lang="en-US"/>
              <a:t>Motherboard (system board): contains the CPU, access to other circuit boards and peripherals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92B66A7-4B31-4AF0-88EA-1355148B523B}" type="slidenum">
              <a:rPr lang="en-US"/>
              <a:pPr/>
              <a:t>38</a:t>
            </a:fld>
            <a:endParaRPr lang="en-US"/>
          </a:p>
        </p:txBody>
      </p:sp>
      <p:sp>
        <p:nvSpPr>
          <p:cNvPr id="614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(continued)</a:t>
            </a:r>
          </a:p>
        </p:txBody>
      </p:sp>
      <p:sp>
        <p:nvSpPr>
          <p:cNvPr id="614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458200" cy="4572000"/>
          </a:xfrm>
        </p:spPr>
        <p:txBody>
          <a:bodyPr/>
          <a:lstStyle/>
          <a:p>
            <a:r>
              <a:rPr lang="en-US"/>
              <a:t>Primary storage (RAM) is volatile (temporary)</a:t>
            </a:r>
          </a:p>
          <a:p>
            <a:r>
              <a:rPr lang="en-US"/>
              <a:t>Secondary storage is nonvolatile (permanent)</a:t>
            </a:r>
          </a:p>
          <a:p>
            <a:r>
              <a:rPr lang="en-US"/>
              <a:t>Parallel and serial ATA standards: enable secondary storage devices to interface with the motherboard </a:t>
            </a:r>
          </a:p>
          <a:p>
            <a:r>
              <a:rPr lang="en-US"/>
              <a:t>Computer bus: system of communication pathways and protocols </a:t>
            </a:r>
          </a:p>
          <a:p>
            <a:r>
              <a:rPr lang="en-US"/>
              <a:t>ROM BIOS helps start PCs, manage simple devices, and change some motherboard settings</a:t>
            </a:r>
          </a:p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FFFF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2167</Words>
  <Application>Microsoft Office PowerPoint</Application>
  <PresentationFormat>On-screen Show (4:3)</PresentationFormat>
  <Paragraphs>315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Times New Roman</vt:lpstr>
      <vt:lpstr>Arial</vt:lpstr>
      <vt:lpstr>WP MathA</vt:lpstr>
      <vt:lpstr>Default Design</vt:lpstr>
      <vt:lpstr>A+ Guide to Managing and Maintaining your PC, 6e</vt:lpstr>
      <vt:lpstr>Objectives</vt:lpstr>
      <vt:lpstr>Introduction</vt:lpstr>
      <vt:lpstr>Hardware Needs Software to Work</vt:lpstr>
      <vt:lpstr>Slide 5</vt:lpstr>
      <vt:lpstr>PC Hardware Components</vt:lpstr>
      <vt:lpstr>Hardware Used for Input and Output</vt:lpstr>
      <vt:lpstr>Slide 8</vt:lpstr>
      <vt:lpstr>Hardware Inside the Computer Case</vt:lpstr>
      <vt:lpstr>Slide 10</vt:lpstr>
      <vt:lpstr>The Motherboard</vt:lpstr>
      <vt:lpstr>Slide 12</vt:lpstr>
      <vt:lpstr>Slide 13</vt:lpstr>
      <vt:lpstr>The Processor and the Chipset</vt:lpstr>
      <vt:lpstr>Slide 15</vt:lpstr>
      <vt:lpstr>Storage Devices</vt:lpstr>
      <vt:lpstr>Slide 17</vt:lpstr>
      <vt:lpstr>Primary Storage </vt:lpstr>
      <vt:lpstr>Slide 19</vt:lpstr>
      <vt:lpstr>Secondary Storage</vt:lpstr>
      <vt:lpstr>Slide 21</vt:lpstr>
      <vt:lpstr>Slide 22</vt:lpstr>
      <vt:lpstr>Secondary Storage (continued)</vt:lpstr>
      <vt:lpstr>Slide 24</vt:lpstr>
      <vt:lpstr>Motherboard Components Used For Communication Among Devices </vt:lpstr>
      <vt:lpstr>Slide 26</vt:lpstr>
      <vt:lpstr>Motherboard Components Used For Communication Among Devices (continued) </vt:lpstr>
      <vt:lpstr>Slide 28</vt:lpstr>
      <vt:lpstr>Interface (Expansion) Cards</vt:lpstr>
      <vt:lpstr>Slide 30</vt:lpstr>
      <vt:lpstr>The Electrical System</vt:lpstr>
      <vt:lpstr>Slide 32</vt:lpstr>
      <vt:lpstr>Instructions Stored on the Motherboard and Other Boards</vt:lpstr>
      <vt:lpstr>Slide 34</vt:lpstr>
      <vt:lpstr>Advanced Configuration and Power Interface</vt:lpstr>
      <vt:lpstr>Plug and Play</vt:lpstr>
      <vt:lpstr>Summary </vt:lpstr>
      <vt:lpstr>Summary (continued)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A+ Guide to Hardware, 4e</dc:title>
  <dc:creator/>
  <cp:lastModifiedBy/>
  <cp:revision>333</cp:revision>
  <dcterms:created xsi:type="dcterms:W3CDTF">2002-09-27T23:29:22Z</dcterms:created>
  <dcterms:modified xsi:type="dcterms:W3CDTF">2012-09-14T07:46:21Z</dcterms:modified>
</cp:coreProperties>
</file>