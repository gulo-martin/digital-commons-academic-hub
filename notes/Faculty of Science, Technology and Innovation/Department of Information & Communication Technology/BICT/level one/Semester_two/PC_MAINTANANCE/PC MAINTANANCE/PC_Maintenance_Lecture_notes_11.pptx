
<file path=[Content_Types].xml><?xml version="1.0" encoding="utf-8"?>
<Types xmlns="http://schemas.openxmlformats.org/package/2006/content-types">
  <Override PartName="/ppt/slides/slide6.xml" ContentType="application/vnd.openxmlformats-officedocument.presentationml.slide+xml"/>
  <Override PartName="/ppt/slides/slide29.xml" ContentType="application/vnd.openxmlformats-officedocument.presentationml.slide+xml"/>
  <Override PartName="/ppt/slides/slide38.xml" ContentType="application/vnd.openxmlformats-officedocument.presentationml.slide+xml"/>
  <Override PartName="/ppt/slides/slide47.xml" ContentType="application/vnd.openxmlformats-officedocument.presentationml.slide+xml"/>
  <Override PartName="/ppt/slides/slide56.xml" ContentType="application/vnd.openxmlformats-officedocument.presentationml.slide+xml"/>
  <Override PartName="/ppt/slides/slide58.xml" ContentType="application/vnd.openxmlformats-officedocument.presentationml.slide+xml"/>
  <Override PartName="/ppt/slideLayouts/slideLayout8.xml" ContentType="application/vnd.openxmlformats-officedocument.presentationml.slideLayout+xml"/>
  <Override PartName="/ppt/notesSlides/notesSlide2.xml" ContentType="application/vnd.openxmlformats-officedocument.presentationml.notesSlide+xml"/>
  <Override PartName="/ppt/slideMasters/slideMaster1.xml" ContentType="application/vnd.openxmlformats-officedocument.presentationml.slideMaster+xml"/>
  <Override PartName="/ppt/slides/slide4.xml" ContentType="application/vnd.openxmlformats-officedocument.presentationml.slide+xml"/>
  <Override PartName="/ppt/slides/slide18.xml" ContentType="application/vnd.openxmlformats-officedocument.presentationml.slide+xml"/>
  <Override PartName="/ppt/slides/slide27.xml" ContentType="application/vnd.openxmlformats-officedocument.presentationml.slide+xml"/>
  <Override PartName="/ppt/slides/slide36.xml" ContentType="application/vnd.openxmlformats-officedocument.presentationml.slide+xml"/>
  <Override PartName="/ppt/slides/slide45.xml" ContentType="application/vnd.openxmlformats-officedocument.presentationml.slide+xml"/>
  <Override PartName="/ppt/slides/slide54.xml" ContentType="application/vnd.openxmlformats-officedocument.presentationml.slide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3.xml" ContentType="application/vnd.openxmlformats-officedocument.theme+xml"/>
  <Override PartName="/ppt/slides/slide2.xml" ContentType="application/vnd.openxmlformats-officedocument.presentationml.slide+xml"/>
  <Override PartName="/ppt/slides/slide16.xml" ContentType="application/vnd.openxmlformats-officedocument.presentationml.slide+xml"/>
  <Override PartName="/ppt/slides/slide25.xml" ContentType="application/vnd.openxmlformats-officedocument.presentationml.slide+xml"/>
  <Override PartName="/ppt/slides/slide34.xml" ContentType="application/vnd.openxmlformats-officedocument.presentationml.slide+xml"/>
  <Override PartName="/ppt/slides/slide43.xml" ContentType="application/vnd.openxmlformats-officedocument.presentationml.slide+xml"/>
  <Override PartName="/ppt/slides/slide52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Default Extension="wmf" ContentType="image/x-wmf"/>
  <Default Extension="rels" ContentType="application/vnd.openxmlformats-package.relationships+xml"/>
  <Default Extension="xml" ContentType="application/xml"/>
  <Override PartName="/ppt/slides/slide14.xml" ContentType="application/vnd.openxmlformats-officedocument.presentationml.slide+xml"/>
  <Override PartName="/ppt/slides/slide23.xml" ContentType="application/vnd.openxmlformats-officedocument.presentationml.slide+xml"/>
  <Override PartName="/ppt/slides/slide32.xml" ContentType="application/vnd.openxmlformats-officedocument.presentationml.slide+xml"/>
  <Override PartName="/ppt/slides/slide41.xml" ContentType="application/vnd.openxmlformats-officedocument.presentationml.slide+xml"/>
  <Override PartName="/ppt/slides/slide50.xml" ContentType="application/vnd.openxmlformats-officedocument.presentationml.slide+xml"/>
  <Override PartName="/ppt/notesMasters/notesMaster1.xml" ContentType="application/vnd.openxmlformats-officedocument.presentationml.notesMaster+xml"/>
  <Override PartName="/ppt/slides/slide10.xml" ContentType="application/vnd.openxmlformats-officedocument.presentationml.slide+xml"/>
  <Override PartName="/ppt/slides/slide12.xml" ContentType="application/vnd.openxmlformats-officedocument.presentationml.slide+xml"/>
  <Override PartName="/ppt/slides/slide21.xml" ContentType="application/vnd.openxmlformats-officedocument.presentationml.slide+xml"/>
  <Override PartName="/ppt/slides/slide30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49.xml" ContentType="application/vnd.openxmlformats-officedocument.presentationml.slide+xml"/>
  <Override PartName="/ppt/handoutMasters/handoutMaster1.xml" ContentType="application/vnd.openxmlformats-officedocument.presentationml.handoutMaster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ppt/slides/slide5.xml" ContentType="application/vnd.openxmlformats-officedocument.presentationml.slide+xml"/>
  <Override PartName="/ppt/slides/slide19.xml" ContentType="application/vnd.openxmlformats-officedocument.presentationml.slide+xml"/>
  <Override PartName="/ppt/slides/slide28.xml" ContentType="application/vnd.openxmlformats-officedocument.presentationml.slide+xml"/>
  <Override PartName="/ppt/slides/slide39.xml" ContentType="application/vnd.openxmlformats-officedocument.presentationml.slide+xml"/>
  <Override PartName="/ppt/slides/slide48.xml" ContentType="application/vnd.openxmlformats-officedocument.presentationml.slide+xml"/>
  <Override PartName="/ppt/slides/slide57.xml" ContentType="application/vnd.openxmlformats-officedocument.presentationml.slide+xml"/>
  <Override PartName="/ppt/slideLayouts/slideLayout7.xml" ContentType="application/vnd.openxmlformats-officedocument.presentationml.slideLayout+xml"/>
  <Override PartName="/ppt/notesSlides/notesSlide1.xml" ContentType="application/vnd.openxmlformats-officedocument.presentationml.notesSlide+xml"/>
  <Default Extension="png" ContentType="image/png"/>
  <Override PartName="/ppt/notesSlides/notesSlide3.xml" ContentType="application/vnd.openxmlformats-officedocument.presentationml.notesSlide+xml"/>
  <Override PartName="/ppt/slides/slide3.xml" ContentType="application/vnd.openxmlformats-officedocument.presentationml.slide+xml"/>
  <Override PartName="/ppt/slides/slide17.xml" ContentType="application/vnd.openxmlformats-officedocument.presentationml.slide+xml"/>
  <Override PartName="/ppt/slides/slide26.xml" ContentType="application/vnd.openxmlformats-officedocument.presentationml.slide+xml"/>
  <Override PartName="/ppt/slides/slide37.xml" ContentType="application/vnd.openxmlformats-officedocument.presentationml.slide+xml"/>
  <Override PartName="/ppt/slides/slide46.xml" ContentType="application/vnd.openxmlformats-officedocument.presentationml.slide+xml"/>
  <Override PartName="/ppt/slides/slide55.xml" ContentType="application/vnd.openxmlformats-officedocument.presentationml.slide+xml"/>
  <Override PartName="/ppt/presProps.xml" ContentType="application/vnd.openxmlformats-officedocument.presentationml.presProps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slides/slide1.xml" ContentType="application/vnd.openxmlformats-officedocument.presentationml.slide+xml"/>
  <Override PartName="/ppt/slides/slide15.xml" ContentType="application/vnd.openxmlformats-officedocument.presentationml.slide+xml"/>
  <Override PartName="/ppt/slides/slide24.xml" ContentType="application/vnd.openxmlformats-officedocument.presentationml.slide+xml"/>
  <Override PartName="/ppt/slides/slide33.xml" ContentType="application/vnd.openxmlformats-officedocument.presentationml.slide+xml"/>
  <Override PartName="/ppt/slides/slide35.xml" ContentType="application/vnd.openxmlformats-officedocument.presentationml.slide+xml"/>
  <Override PartName="/ppt/slides/slide44.xml" ContentType="application/vnd.openxmlformats-officedocument.presentationml.slide+xml"/>
  <Override PartName="/ppt/slides/slide53.xml" ContentType="application/vnd.openxmlformats-officedocument.presentationml.slide+xml"/>
  <Override PartName="/ppt/slideLayouts/slideLayout3.xml" ContentType="application/vnd.openxmlformats-officedocument.presentationml.slideLayout+xml"/>
  <Default Extension="jpeg" ContentType="image/jpeg"/>
  <Override PartName="/ppt/presentation.xml" ContentType="application/vnd.openxmlformats-officedocument.presentationml.presentation.main+xml"/>
  <Override PartName="/ppt/slides/slide13.xml" ContentType="application/vnd.openxmlformats-officedocument.presentationml.slide+xml"/>
  <Override PartName="/ppt/slides/slide22.xml" ContentType="application/vnd.openxmlformats-officedocument.presentationml.slide+xml"/>
  <Override PartName="/ppt/slides/slide31.xml" ContentType="application/vnd.openxmlformats-officedocument.presentationml.slide+xml"/>
  <Override PartName="/ppt/slides/slide42.xml" ContentType="application/vnd.openxmlformats-officedocument.presentationml.slide+xml"/>
  <Override PartName="/ppt/slides/slide51.xml" ContentType="application/vnd.openxmlformats-officedocument.presentationml.slide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1.xml" ContentType="application/vnd.openxmlformats-officedocument.presentationml.slide+xml"/>
  <Override PartName="/ppt/slides/slide20.xml" ContentType="application/vnd.openxmlformats-officedocument.presentationml.slide+xml"/>
  <Override PartName="/ppt/slides/slide40.xml" ContentType="application/vnd.openxmlformats-officedocument.presentationml.slide+xml"/>
  <Override PartName="/ppt/slideLayouts/slideLayout10.xml" ContentType="application/vnd.openxmlformats-officedocument.presentationml.slideLayout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removePersonalInfoOnSave="1" saveSubsetFonts="1">
  <p:sldMasterIdLst>
    <p:sldMasterId id="2147483648" r:id="rId1"/>
  </p:sldMasterIdLst>
  <p:notesMasterIdLst>
    <p:notesMasterId r:id="rId60"/>
  </p:notesMasterIdLst>
  <p:handoutMasterIdLst>
    <p:handoutMasterId r:id="rId61"/>
  </p:handoutMasterIdLst>
  <p:sldIdLst>
    <p:sldId id="319" r:id="rId2"/>
    <p:sldId id="257" r:id="rId3"/>
    <p:sldId id="393" r:id="rId4"/>
    <p:sldId id="394" r:id="rId5"/>
    <p:sldId id="395" r:id="rId6"/>
    <p:sldId id="396" r:id="rId7"/>
    <p:sldId id="397" r:id="rId8"/>
    <p:sldId id="398" r:id="rId9"/>
    <p:sldId id="399" r:id="rId10"/>
    <p:sldId id="400" r:id="rId11"/>
    <p:sldId id="402" r:id="rId12"/>
    <p:sldId id="401" r:id="rId13"/>
    <p:sldId id="403" r:id="rId14"/>
    <p:sldId id="404" r:id="rId15"/>
    <p:sldId id="406" r:id="rId16"/>
    <p:sldId id="405" r:id="rId17"/>
    <p:sldId id="407" r:id="rId18"/>
    <p:sldId id="408" r:id="rId19"/>
    <p:sldId id="409" r:id="rId20"/>
    <p:sldId id="410" r:id="rId21"/>
    <p:sldId id="412" r:id="rId22"/>
    <p:sldId id="411" r:id="rId23"/>
    <p:sldId id="413" r:id="rId24"/>
    <p:sldId id="414" r:id="rId25"/>
    <p:sldId id="415" r:id="rId26"/>
    <p:sldId id="416" r:id="rId27"/>
    <p:sldId id="417" r:id="rId28"/>
    <p:sldId id="418" r:id="rId29"/>
    <p:sldId id="419" r:id="rId30"/>
    <p:sldId id="420" r:id="rId31"/>
    <p:sldId id="421" r:id="rId32"/>
    <p:sldId id="422" r:id="rId33"/>
    <p:sldId id="423" r:id="rId34"/>
    <p:sldId id="424" r:id="rId35"/>
    <p:sldId id="425" r:id="rId36"/>
    <p:sldId id="426" r:id="rId37"/>
    <p:sldId id="427" r:id="rId38"/>
    <p:sldId id="428" r:id="rId39"/>
    <p:sldId id="429" r:id="rId40"/>
    <p:sldId id="430" r:id="rId41"/>
    <p:sldId id="431" r:id="rId42"/>
    <p:sldId id="432" r:id="rId43"/>
    <p:sldId id="433" r:id="rId44"/>
    <p:sldId id="434" r:id="rId45"/>
    <p:sldId id="435" r:id="rId46"/>
    <p:sldId id="436" r:id="rId47"/>
    <p:sldId id="437" r:id="rId48"/>
    <p:sldId id="438" r:id="rId49"/>
    <p:sldId id="440" r:id="rId50"/>
    <p:sldId id="441" r:id="rId51"/>
    <p:sldId id="442" r:id="rId52"/>
    <p:sldId id="443" r:id="rId53"/>
    <p:sldId id="444" r:id="rId54"/>
    <p:sldId id="446" r:id="rId55"/>
    <p:sldId id="447" r:id="rId56"/>
    <p:sldId id="445" r:id="rId57"/>
    <p:sldId id="391" r:id="rId58"/>
    <p:sldId id="392" r:id="rId59"/>
  </p:sldIdLst>
  <p:sldSz cx="9144000" cy="6858000" type="screen4x3"/>
  <p:notesSz cx="6858000" cy="91440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sz="2000" kern="1200">
        <a:solidFill>
          <a:srgbClr val="FFFFFF"/>
        </a:solidFill>
        <a:latin typeface="Times New Roman" pitchFamily="18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sz="2000" kern="1200">
        <a:solidFill>
          <a:srgbClr val="FFFFFF"/>
        </a:solidFill>
        <a:latin typeface="Times New Roman" pitchFamily="18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sz="2000" kern="1200">
        <a:solidFill>
          <a:srgbClr val="FFFFFF"/>
        </a:solidFill>
        <a:latin typeface="Times New Roman" pitchFamily="18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sz="2000" kern="1200">
        <a:solidFill>
          <a:srgbClr val="FFFFFF"/>
        </a:solidFill>
        <a:latin typeface="Times New Roman" pitchFamily="18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sz="2000" kern="1200">
        <a:solidFill>
          <a:srgbClr val="FFFFFF"/>
        </a:solidFill>
        <a:latin typeface="Times New Roman" pitchFamily="18" charset="0"/>
        <a:ea typeface="+mn-ea"/>
        <a:cs typeface="+mn-cs"/>
      </a:defRPr>
    </a:lvl5pPr>
    <a:lvl6pPr marL="2286000" algn="l" defTabSz="914400" rtl="0" eaLnBrk="1" latinLnBrk="0" hangingPunct="1">
      <a:defRPr sz="2000" kern="1200">
        <a:solidFill>
          <a:srgbClr val="FFFFFF"/>
        </a:solidFill>
        <a:latin typeface="Times New Roman" pitchFamily="18" charset="0"/>
        <a:ea typeface="+mn-ea"/>
        <a:cs typeface="+mn-cs"/>
      </a:defRPr>
    </a:lvl6pPr>
    <a:lvl7pPr marL="2743200" algn="l" defTabSz="914400" rtl="0" eaLnBrk="1" latinLnBrk="0" hangingPunct="1">
      <a:defRPr sz="2000" kern="1200">
        <a:solidFill>
          <a:srgbClr val="FFFFFF"/>
        </a:solidFill>
        <a:latin typeface="Times New Roman" pitchFamily="18" charset="0"/>
        <a:ea typeface="+mn-ea"/>
        <a:cs typeface="+mn-cs"/>
      </a:defRPr>
    </a:lvl7pPr>
    <a:lvl8pPr marL="3200400" algn="l" defTabSz="914400" rtl="0" eaLnBrk="1" latinLnBrk="0" hangingPunct="1">
      <a:defRPr sz="2000" kern="1200">
        <a:solidFill>
          <a:srgbClr val="FFFFFF"/>
        </a:solidFill>
        <a:latin typeface="Times New Roman" pitchFamily="18" charset="0"/>
        <a:ea typeface="+mn-ea"/>
        <a:cs typeface="+mn-cs"/>
      </a:defRPr>
    </a:lvl8pPr>
    <a:lvl9pPr marL="3657600" algn="l" defTabSz="914400" rtl="0" eaLnBrk="1" latinLnBrk="0" hangingPunct="1">
      <a:defRPr sz="2000" kern="1200">
        <a:solidFill>
          <a:srgbClr val="FFFFFF"/>
        </a:solidFill>
        <a:latin typeface="Times New Roman" pitchFamily="18" charset="0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22222"/>
    <a:srgbClr val="FFFFFF"/>
    <a:srgbClr val="18B2B6"/>
    <a:srgbClr val="0033CC"/>
  </p:clrMru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94" autoAdjust="0"/>
    <p:restoredTop sz="94595" autoAdjust="0"/>
  </p:normalViewPr>
  <p:slideViewPr>
    <p:cSldViewPr>
      <p:cViewPr varScale="1">
        <p:scale>
          <a:sx n="69" d="100"/>
          <a:sy n="69" d="100"/>
        </p:scale>
        <p:origin x="-1356" y="-10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5922"/>
    </p:cViewPr>
  </p:sorterViewPr>
  <p:notesViewPr>
    <p:cSldViewPr>
      <p:cViewPr varScale="1">
        <p:scale>
          <a:sx n="70" d="100"/>
          <a:sy n="70" d="100"/>
        </p:scale>
        <p:origin x="-1422" y="-108"/>
      </p:cViewPr>
      <p:guideLst>
        <p:guide orient="horz" pos="2880"/>
        <p:guide pos="2160"/>
      </p:guideLst>
    </p:cSldViewPr>
  </p:notesViewPr>
  <p:gridSpacing cx="78028800" cy="780288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61" Type="http://schemas.openxmlformats.org/officeDocument/2006/relationships/handoutMaster" Target="handoutMasters/handout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notesMaster" Target="notesMasters/notesMaster1.xml"/><Relationship Id="rId65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88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122883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122884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122885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chemeClr val="tx1"/>
                </a:solidFill>
              </a:defRPr>
            </a:lvl1pPr>
          </a:lstStyle>
          <a:p>
            <a:fld id="{242DF348-B61F-4E7D-8E13-7B583D019D81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64515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64516" name="Rectangle 4"/>
          <p:cNvSpPr>
            <a:spLocks noRot="1" noChangeArrowheads="1" noTextEdit="1"/>
          </p:cNvSpPr>
          <p:nvPr>
            <p:ph type="sldImg" idx="2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</p:spPr>
      </p:sp>
      <p:sp>
        <p:nvSpPr>
          <p:cNvPr id="64517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</a:p>
        </p:txBody>
      </p:sp>
      <p:sp>
        <p:nvSpPr>
          <p:cNvPr id="64518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64519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chemeClr val="tx1"/>
                </a:solidFill>
              </a:defRPr>
            </a:lvl1pPr>
          </a:lstStyle>
          <a:p>
            <a:fld id="{B1487B4D-11B1-47E9-B8C2-C921349D6C71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1pPr>
    <a:lvl2pPr marL="4572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2pPr>
    <a:lvl3pPr marL="9144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3pPr>
    <a:lvl4pPr marL="13716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4pPr>
    <a:lvl5pPr marL="18288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D888CB65-6125-484F-88AB-013B5FCA9F27}" type="slidenum">
              <a:rPr lang="en-US"/>
              <a:pPr/>
              <a:t>1</a:t>
            </a:fld>
            <a:endParaRPr lang="en-US"/>
          </a:p>
        </p:txBody>
      </p:sp>
      <p:sp>
        <p:nvSpPr>
          <p:cNvPr id="201730" name="Rectangle 2"/>
          <p:cNvSpPr>
            <a:spLocks noRo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0173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1E088D18-3124-4902-A5E7-2253EA6F93EC}" type="slidenum">
              <a:rPr lang="en-US"/>
              <a:pPr/>
              <a:t>2</a:t>
            </a:fld>
            <a:endParaRPr lang="en-US"/>
          </a:p>
        </p:txBody>
      </p:sp>
      <p:sp>
        <p:nvSpPr>
          <p:cNvPr id="65538" name="Rectangle 2"/>
          <p:cNvSpPr>
            <a:spLocks noRo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553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CA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F23BF745-F06C-4E47-B05B-AB1441DFA677}" type="slidenum">
              <a:rPr lang="en-US"/>
              <a:pPr/>
              <a:t>57</a:t>
            </a:fld>
            <a:endParaRPr lang="en-US"/>
          </a:p>
        </p:txBody>
      </p:sp>
      <p:sp>
        <p:nvSpPr>
          <p:cNvPr id="281602" name="Rectangle 2"/>
          <p:cNvSpPr>
            <a:spLocks noRo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8160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7F84B7D3-884B-4BCD-9552-48D744451F1A}" type="slidenum">
              <a:rPr lang="en-US"/>
              <a:pPr/>
              <a:t>58</a:t>
            </a:fld>
            <a:endParaRPr lang="en-US"/>
          </a:p>
        </p:txBody>
      </p:sp>
      <p:sp>
        <p:nvSpPr>
          <p:cNvPr id="578562" name="Rectangle 2"/>
          <p:cNvSpPr>
            <a:spLocks noRo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7856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blipFill dpi="0" rotWithShape="0">
          <a:blip r:embed="rId2" cstate="print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type="ctrTitle"/>
          </p:nvPr>
        </p:nvSpPr>
        <p:spPr>
          <a:xfrm>
            <a:off x="685800" y="3124200"/>
            <a:ext cx="7772400" cy="838200"/>
          </a:xfrm>
        </p:spPr>
        <p:txBody>
          <a:bodyPr/>
          <a:lstStyle>
            <a:lvl1pPr>
              <a:defRPr sz="4400"/>
            </a:lvl1pPr>
          </a:lstStyle>
          <a:p>
            <a:r>
              <a:rPr lang="en-US"/>
              <a:t>Click to edit Master title</a:t>
            </a:r>
          </a:p>
        </p:txBody>
      </p:sp>
      <p:sp>
        <p:nvSpPr>
          <p:cNvPr id="4099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1371600" y="4191000"/>
            <a:ext cx="6248400" cy="990600"/>
          </a:xfrm>
        </p:spPr>
        <p:txBody>
          <a:bodyPr/>
          <a:lstStyle>
            <a:lvl1pPr marL="0" indent="0" algn="ctr">
              <a:buFontTx/>
              <a:buNone/>
              <a:defRPr sz="4300" b="1"/>
            </a:lvl1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100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85800" y="6248400"/>
            <a:ext cx="1905000" cy="457200"/>
          </a:xfrm>
          <a:prstGeom prst="rect">
            <a:avLst/>
          </a:prstGeom>
          <a:noFill/>
          <a:ln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400">
                <a:solidFill>
                  <a:srgbClr val="222222"/>
                </a:solidFill>
              </a:defRPr>
            </a:lvl1pPr>
          </a:lstStyle>
          <a:p>
            <a:r>
              <a:rPr lang="en-US"/>
              <a:t>Linux+ Guide to Linux Certification, Second Edition</a:t>
            </a:r>
          </a:p>
        </p:txBody>
      </p:sp>
      <p:sp>
        <p:nvSpPr>
          <p:cNvPr id="4101" name="Rectangle 5"/>
          <p:cNvSpPr>
            <a:spLocks noGrp="1" noChangeArrowheads="1"/>
          </p:cNvSpPr>
          <p:nvPr>
            <p:ph type="ftr" sz="quarter" idx="3"/>
          </p:nvPr>
        </p:nvSpPr>
        <p:spPr>
          <a:xfrm>
            <a:off x="3124200" y="6248400"/>
            <a:ext cx="2895600" cy="457200"/>
          </a:xfrm>
        </p:spPr>
        <p:txBody>
          <a:bodyPr/>
          <a:lstStyle>
            <a:lvl1pPr algn="ctr">
              <a:defRPr sz="1400">
                <a:latin typeface="Times New Roman" pitchFamily="18" charset="0"/>
              </a:defRPr>
            </a:lvl1pPr>
          </a:lstStyle>
          <a:p>
            <a:r>
              <a:rPr lang="en-US"/>
              <a:t>A+ Guide to Managing and Maintaining your PC, 6e</a:t>
            </a:r>
          </a:p>
        </p:txBody>
      </p:sp>
      <p:sp>
        <p:nvSpPr>
          <p:cNvPr id="4102" name="Rectangle 6"/>
          <p:cNvSpPr>
            <a:spLocks noGrp="1" noChangeArrowheads="1"/>
          </p:cNvSpPr>
          <p:nvPr>
            <p:ph type="sldNum" sz="quarter" idx="4"/>
          </p:nvPr>
        </p:nvSpPr>
        <p:spPr>
          <a:xfrm>
            <a:off x="6553200" y="6248400"/>
            <a:ext cx="1905000" cy="457200"/>
          </a:xfrm>
        </p:spPr>
        <p:txBody>
          <a:bodyPr/>
          <a:lstStyle>
            <a:lvl1pPr>
              <a:defRPr sz="1400">
                <a:latin typeface="Times New Roman" pitchFamily="18" charset="0"/>
              </a:defRPr>
            </a:lvl1pPr>
          </a:lstStyle>
          <a:p>
            <a:fld id="{870CFCD7-3633-4C5C-B3F8-4559E266BADE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A+ Guide to Managing and Maintaining your PC, 6e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9038B5BD-17C9-451D-B191-657DFF6D4D5C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A+ Guide to Managing and Maintaining your PC, 6e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03C1C64D-5545-48DA-BB77-A00C42582D81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33400" y="1676400"/>
            <a:ext cx="3962400" cy="45720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76400"/>
            <a:ext cx="3962400" cy="45720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A+ Guide to Managing and Maintaining your PC, 6e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7E61F247-67F5-416D-BBE7-559E7950CE9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A+ Guide to Managing and Maintaining your PC, 6e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A68758F2-0477-49F7-A1AD-789CDEF2890B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A+ Guide to Managing and Maintaining your PC, 6e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213708D0-0C30-4AB1-9494-5327EFE8C9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A+ Guide to Managing and Maintaining your PC, 6e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8D704127-B5A4-40EE-B032-182F1B7E6AB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A+ Guide to Managing and Maintaining your PC, 6e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20FC23A1-9659-4F41-B015-612E5A4D19EB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A+ Guide to Managing and Maintaining your PC, 6e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3BE6E2B8-B1EA-4D22-9591-BEEF3EED287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A+ Guide to Managing and Maintaining your PC, 6e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4F4766C9-6710-4BB4-95AD-B1CB7CEEB53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91300" y="381000"/>
            <a:ext cx="2019300" cy="5867400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33400" y="381000"/>
            <a:ext cx="5905500" cy="586740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A+ Guide to Managing and Maintaining your PC, 6e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F1A8061C-6D46-49DB-8836-7190A17D233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533400" y="381000"/>
            <a:ext cx="80772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smtClean="0"/>
              <a:t>Click to edit Master title style</a:t>
            </a:r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533400" y="1676400"/>
            <a:ext cx="8077200" cy="4572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533400" y="6324600"/>
            <a:ext cx="6858000" cy="381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500">
                <a:solidFill>
                  <a:srgbClr val="222222"/>
                </a:solidFill>
                <a:latin typeface="+mn-lt"/>
              </a:defRPr>
            </a:lvl1pPr>
          </a:lstStyle>
          <a:p>
            <a:r>
              <a:rPr lang="en-US"/>
              <a:t>A+ Guide to Managing and Maintaining your PC, 6e</a:t>
            </a:r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7391400" y="6324600"/>
            <a:ext cx="1219200" cy="381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500">
                <a:solidFill>
                  <a:srgbClr val="222222"/>
                </a:solidFill>
                <a:latin typeface="+mn-lt"/>
              </a:defRPr>
            </a:lvl1pPr>
          </a:lstStyle>
          <a:p>
            <a:fld id="{23B7ABA6-6E0A-4A30-B1FA-6DB5B1832F09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rtl="0" fontAlgn="base">
        <a:spcBef>
          <a:spcPct val="0"/>
        </a:spcBef>
        <a:spcAft>
          <a:spcPct val="0"/>
        </a:spcAft>
        <a:defRPr sz="3600">
          <a:solidFill>
            <a:srgbClr val="222222"/>
          </a:solidFill>
          <a:latin typeface="+mj-lt"/>
          <a:ea typeface="+mj-ea"/>
          <a:cs typeface="+mj-cs"/>
        </a:defRPr>
      </a:lvl1pPr>
      <a:lvl2pPr algn="ctr" rtl="0" fontAlgn="base">
        <a:spcBef>
          <a:spcPct val="0"/>
        </a:spcBef>
        <a:spcAft>
          <a:spcPct val="0"/>
        </a:spcAft>
        <a:defRPr sz="3600">
          <a:solidFill>
            <a:srgbClr val="222222"/>
          </a:solidFill>
          <a:latin typeface="Arial" charset="0"/>
        </a:defRPr>
      </a:lvl2pPr>
      <a:lvl3pPr algn="ctr" rtl="0" fontAlgn="base">
        <a:spcBef>
          <a:spcPct val="0"/>
        </a:spcBef>
        <a:spcAft>
          <a:spcPct val="0"/>
        </a:spcAft>
        <a:defRPr sz="3600">
          <a:solidFill>
            <a:srgbClr val="222222"/>
          </a:solidFill>
          <a:latin typeface="Arial" charset="0"/>
        </a:defRPr>
      </a:lvl3pPr>
      <a:lvl4pPr algn="ctr" rtl="0" fontAlgn="base">
        <a:spcBef>
          <a:spcPct val="0"/>
        </a:spcBef>
        <a:spcAft>
          <a:spcPct val="0"/>
        </a:spcAft>
        <a:defRPr sz="3600">
          <a:solidFill>
            <a:srgbClr val="222222"/>
          </a:solidFill>
          <a:latin typeface="Arial" charset="0"/>
        </a:defRPr>
      </a:lvl4pPr>
      <a:lvl5pPr algn="ctr" rtl="0" fontAlgn="base">
        <a:spcBef>
          <a:spcPct val="0"/>
        </a:spcBef>
        <a:spcAft>
          <a:spcPct val="0"/>
        </a:spcAft>
        <a:defRPr sz="3600">
          <a:solidFill>
            <a:srgbClr val="222222"/>
          </a:solidFill>
          <a:latin typeface="Arial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3600">
          <a:solidFill>
            <a:srgbClr val="222222"/>
          </a:solidFill>
          <a:latin typeface="Arial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3600">
          <a:solidFill>
            <a:srgbClr val="222222"/>
          </a:solidFill>
          <a:latin typeface="Arial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3600">
          <a:solidFill>
            <a:srgbClr val="222222"/>
          </a:solidFill>
          <a:latin typeface="Arial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3600">
          <a:solidFill>
            <a:srgbClr val="222222"/>
          </a:solidFill>
          <a:latin typeface="Arial" charset="0"/>
        </a:defRPr>
      </a:lvl9pPr>
    </p:titleStyle>
    <p:bodyStyle>
      <a:lvl1pPr marL="342900" indent="-342900" algn="l" rtl="0" fontAlgn="base">
        <a:spcBef>
          <a:spcPct val="20000"/>
        </a:spcBef>
        <a:spcAft>
          <a:spcPct val="0"/>
        </a:spcAft>
        <a:buChar char="•"/>
        <a:defRPr sz="2600">
          <a:solidFill>
            <a:srgbClr val="222222"/>
          </a:solidFill>
          <a:latin typeface="+mn-lt"/>
          <a:ea typeface="+mn-ea"/>
          <a:cs typeface="+mn-cs"/>
        </a:defRPr>
      </a:lvl1pPr>
      <a:lvl2pPr marL="742950" indent="-285750" algn="l" rtl="0" fontAlgn="base">
        <a:spcBef>
          <a:spcPct val="20000"/>
        </a:spcBef>
        <a:spcAft>
          <a:spcPct val="0"/>
        </a:spcAft>
        <a:buChar char="–"/>
        <a:defRPr sz="2400">
          <a:solidFill>
            <a:srgbClr val="222222"/>
          </a:solidFill>
          <a:latin typeface="+mn-lt"/>
        </a:defRPr>
      </a:lvl2pPr>
      <a:lvl3pPr marL="1143000" indent="-228600" algn="l" rtl="0" fontAlgn="base">
        <a:spcBef>
          <a:spcPct val="20000"/>
        </a:spcBef>
        <a:spcAft>
          <a:spcPct val="0"/>
        </a:spcAft>
        <a:buChar char="•"/>
        <a:defRPr sz="2200">
          <a:solidFill>
            <a:srgbClr val="222222"/>
          </a:solidFill>
          <a:latin typeface="+mn-lt"/>
        </a:defRPr>
      </a:lvl3pPr>
      <a:lvl4pPr marL="1600200" indent="-228600" algn="l" rtl="0" fontAlgn="base">
        <a:spcBef>
          <a:spcPct val="20000"/>
        </a:spcBef>
        <a:spcAft>
          <a:spcPct val="0"/>
        </a:spcAft>
        <a:buChar char="–"/>
        <a:defRPr sz="2200">
          <a:solidFill>
            <a:srgbClr val="222222"/>
          </a:solidFill>
          <a:latin typeface="+mn-lt"/>
        </a:defRPr>
      </a:lvl4pPr>
      <a:lvl5pPr marL="20574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Times New Roman" pitchFamily="18" charset="0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Times New Roman" pitchFamily="18" charset="0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Times New Roman" pitchFamily="18" charset="0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Times New Roman" pitchFamily="18" charset="0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Times New Roman" pitchFamily="18" charset="0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wmf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wmf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wmf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wmf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eg"/><Relationship Id="rId1" Type="http://schemas.openxmlformats.org/officeDocument/2006/relationships/slideLayout" Target="../slideLayouts/slideLayout7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jpeg"/><Relationship Id="rId1" Type="http://schemas.openxmlformats.org/officeDocument/2006/relationships/slideLayout" Target="../slideLayouts/slideLayout7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62" name="Rectangle 1026"/>
          <p:cNvSpPr>
            <a:spLocks noGrp="1" noChangeArrowheads="1"/>
          </p:cNvSpPr>
          <p:nvPr>
            <p:ph type="ctrTitle"/>
          </p:nvPr>
        </p:nvSpPr>
        <p:spPr>
          <a:xfrm>
            <a:off x="609600" y="1447800"/>
            <a:ext cx="8001000" cy="2209800"/>
          </a:xfrm>
        </p:spPr>
        <p:txBody>
          <a:bodyPr/>
          <a:lstStyle/>
          <a:p>
            <a:r>
              <a:rPr lang="en-US"/>
              <a:t>A+ Guide to Managing and Maintaining your PC, 6e</a:t>
            </a:r>
          </a:p>
        </p:txBody>
      </p:sp>
      <p:sp>
        <p:nvSpPr>
          <p:cNvPr id="92163" name="Rectangle 1027"/>
          <p:cNvSpPr>
            <a:spLocks noGrp="1" noChangeArrowheads="1"/>
          </p:cNvSpPr>
          <p:nvPr>
            <p:ph type="subTitle" idx="1"/>
          </p:nvPr>
        </p:nvSpPr>
        <p:spPr>
          <a:xfrm>
            <a:off x="609600" y="4419600"/>
            <a:ext cx="8077200" cy="1447800"/>
          </a:xfrm>
        </p:spPr>
        <p:txBody>
          <a:bodyPr/>
          <a:lstStyle/>
          <a:p>
            <a:pPr>
              <a:lnSpc>
                <a:spcPct val="90000"/>
              </a:lnSpc>
            </a:pPr>
            <a:r>
              <a:rPr lang="en-US" sz="3400" b="0" i="1"/>
              <a:t>Chapter 11</a:t>
            </a:r>
          </a:p>
          <a:p>
            <a:pPr>
              <a:lnSpc>
                <a:spcPct val="90000"/>
              </a:lnSpc>
            </a:pPr>
            <a:r>
              <a:rPr lang="en-US" sz="3400" b="0" i="1"/>
              <a:t>Installing Windows 2000/XP</a:t>
            </a:r>
          </a:p>
        </p:txBody>
      </p:sp>
      <p:pic>
        <p:nvPicPr>
          <p:cNvPr id="92165" name="Picture 1029" descr="newlogo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0" y="0"/>
            <a:ext cx="3124200" cy="11430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A+ Guide to Managing and Maintaining your PC, 6e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3B96697D-0A35-42A1-B4EE-C3D509FC3D36}" type="slidenum">
              <a:rPr lang="en-US"/>
              <a:pPr/>
              <a:t>2</a:t>
            </a:fld>
            <a:endParaRPr lang="en-US"/>
          </a:p>
        </p:txBody>
      </p:sp>
      <p:sp>
        <p:nvSpPr>
          <p:cNvPr id="307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Objectives</a:t>
            </a:r>
          </a:p>
        </p:txBody>
      </p:sp>
      <p:sp>
        <p:nvSpPr>
          <p:cNvPr id="3075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457200" y="1676400"/>
            <a:ext cx="8305800" cy="4572000"/>
          </a:xfrm>
        </p:spPr>
        <p:txBody>
          <a:bodyPr/>
          <a:lstStyle/>
          <a:p>
            <a:r>
              <a:rPr lang="en-US"/>
              <a:t>Learn about Windows 2000/XP features and architecture</a:t>
            </a:r>
          </a:p>
          <a:p>
            <a:r>
              <a:rPr lang="en-US"/>
              <a:t>Learn how to plan a Windows 2000/XP installation</a:t>
            </a:r>
          </a:p>
          <a:p>
            <a:r>
              <a:rPr lang="en-US"/>
              <a:t>Learn the steps to install Windows XP </a:t>
            </a:r>
          </a:p>
          <a:p>
            <a:r>
              <a:rPr lang="en-US"/>
              <a:t>Learn what to do after Windows XP is installed</a:t>
            </a:r>
          </a:p>
          <a:p>
            <a:r>
              <a:rPr lang="en-US"/>
              <a:t>Learn how to install Windows 2000 Professional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A+ Guide to Managing and Maintaining your PC, 6e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AA0B4845-39EF-47F2-B7C4-5F0F5F25AD29}" type="slidenum">
              <a:rPr lang="en-US"/>
              <a:pPr/>
              <a:t>3</a:t>
            </a:fld>
            <a:endParaRPr lang="en-US"/>
          </a:p>
        </p:txBody>
      </p:sp>
      <p:sp>
        <p:nvSpPr>
          <p:cNvPr id="57958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Introduction</a:t>
            </a:r>
          </a:p>
        </p:txBody>
      </p:sp>
      <p:sp>
        <p:nvSpPr>
          <p:cNvPr id="579587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533400" y="1600200"/>
            <a:ext cx="8077200" cy="4572000"/>
          </a:xfrm>
        </p:spPr>
        <p:txBody>
          <a:bodyPr/>
          <a:lstStyle/>
          <a:p>
            <a:r>
              <a:rPr lang="en-US"/>
              <a:t>Windows 2000 and Windows XP are similar</a:t>
            </a:r>
          </a:p>
          <a:p>
            <a:r>
              <a:rPr lang="en-US"/>
              <a:t>Windows 2000 </a:t>
            </a:r>
          </a:p>
          <a:p>
            <a:pPr lvl="1"/>
            <a:r>
              <a:rPr lang="en-US"/>
              <a:t>True 32-bit, module-oriented operating system</a:t>
            </a:r>
          </a:p>
          <a:p>
            <a:pPr lvl="1"/>
            <a:r>
              <a:rPr lang="en-US"/>
              <a:t>Improved security</a:t>
            </a:r>
          </a:p>
          <a:p>
            <a:pPr lvl="1"/>
            <a:r>
              <a:rPr lang="en-US"/>
              <a:t>User-friendly Plug and Play installations</a:t>
            </a:r>
          </a:p>
          <a:p>
            <a:r>
              <a:rPr lang="en-US"/>
              <a:t>Windows XP </a:t>
            </a:r>
          </a:p>
          <a:p>
            <a:pPr lvl="1"/>
            <a:r>
              <a:rPr lang="en-US"/>
              <a:t>Extra support for multimedia, PnP, legacy software</a:t>
            </a:r>
          </a:p>
          <a:p>
            <a:pPr lvl="1"/>
            <a:r>
              <a:rPr lang="en-US"/>
              <a:t>Merges Windows 9x/Me and Windows NT </a:t>
            </a:r>
          </a:p>
          <a:p>
            <a:pPr lvl="1"/>
            <a:r>
              <a:rPr lang="en-US"/>
              <a:t>Current choice as Windows OS for a PC</a:t>
            </a:r>
          </a:p>
          <a:p>
            <a:pPr lvl="1"/>
            <a:r>
              <a:rPr lang="en-US"/>
              <a:t>Only Windows OS for which you can buy a license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A+ Guide to Managing and Maintaining your PC, 6e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317AAC9-DE37-45D9-8B35-8AC44D36D299}" type="slidenum">
              <a:rPr lang="en-US"/>
              <a:pPr/>
              <a:t>4</a:t>
            </a:fld>
            <a:endParaRPr lang="en-US"/>
          </a:p>
        </p:txBody>
      </p:sp>
      <p:sp>
        <p:nvSpPr>
          <p:cNvPr id="580610" name="Rectangle 2"/>
          <p:cNvSpPr>
            <a:spLocks noGrp="1" noChangeArrowheads="1"/>
          </p:cNvSpPr>
          <p:nvPr>
            <p:ph type="title"/>
          </p:nvPr>
        </p:nvSpPr>
        <p:spPr>
          <a:xfrm>
            <a:off x="533400" y="304800"/>
            <a:ext cx="8077200" cy="1371600"/>
          </a:xfrm>
        </p:spPr>
        <p:txBody>
          <a:bodyPr/>
          <a:lstStyle/>
          <a:p>
            <a:r>
              <a:rPr lang="en-US"/>
              <a:t>Features and Architecture of Windows XP</a:t>
            </a:r>
          </a:p>
        </p:txBody>
      </p:sp>
      <p:sp>
        <p:nvSpPr>
          <p:cNvPr id="580611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304800" y="1752600"/>
            <a:ext cx="8382000" cy="4419600"/>
          </a:xfrm>
        </p:spPr>
        <p:txBody>
          <a:bodyPr/>
          <a:lstStyle/>
          <a:p>
            <a:r>
              <a:rPr lang="en-US"/>
              <a:t>Topics to cover in this section</a:t>
            </a:r>
          </a:p>
          <a:p>
            <a:pPr lvl="1"/>
            <a:r>
              <a:rPr lang="en-US"/>
              <a:t>Various versions of Windows 2000/XP</a:t>
            </a:r>
          </a:p>
          <a:p>
            <a:pPr lvl="1"/>
            <a:r>
              <a:rPr lang="en-US"/>
              <a:t>Operating modes used by Windows</a:t>
            </a:r>
          </a:p>
          <a:p>
            <a:pPr lvl="1"/>
            <a:r>
              <a:rPr lang="en-US"/>
              <a:t>Networking features in Windows </a:t>
            </a:r>
          </a:p>
          <a:p>
            <a:pPr lvl="1"/>
            <a:r>
              <a:rPr lang="en-US"/>
              <a:t>How Windows manages hard drives and file systems </a:t>
            </a:r>
          </a:p>
          <a:p>
            <a:pPr lvl="1"/>
            <a:r>
              <a:rPr lang="en-US"/>
              <a:t>Appropriate uses of Windows XP or Windows 2000</a:t>
            </a:r>
          </a:p>
          <a:p>
            <a:pPr lvl="1"/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A+ Guide to Managing and Maintaining your PC, 6e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0758B89-B5F6-4D41-8F9C-BF7D2224B486}" type="slidenum">
              <a:rPr lang="en-US"/>
              <a:pPr/>
              <a:t>5</a:t>
            </a:fld>
            <a:endParaRPr lang="en-US"/>
          </a:p>
        </p:txBody>
      </p:sp>
      <p:sp>
        <p:nvSpPr>
          <p:cNvPr id="581634" name="Rectangle 2"/>
          <p:cNvSpPr>
            <a:spLocks noGrp="1" noChangeArrowheads="1"/>
          </p:cNvSpPr>
          <p:nvPr>
            <p:ph type="title"/>
          </p:nvPr>
        </p:nvSpPr>
        <p:spPr>
          <a:xfrm>
            <a:off x="533400" y="381000"/>
            <a:ext cx="8077200" cy="1295400"/>
          </a:xfrm>
        </p:spPr>
        <p:txBody>
          <a:bodyPr/>
          <a:lstStyle/>
          <a:p>
            <a:r>
              <a:rPr lang="en-US"/>
              <a:t>Versions and Features of Windows XP and 2000</a:t>
            </a:r>
          </a:p>
        </p:txBody>
      </p:sp>
      <p:sp>
        <p:nvSpPr>
          <p:cNvPr id="581635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533400" y="1828800"/>
            <a:ext cx="8077200" cy="4419600"/>
          </a:xfrm>
        </p:spPr>
        <p:txBody>
          <a:bodyPr/>
          <a:lstStyle/>
          <a:p>
            <a:r>
              <a:rPr lang="en-US"/>
              <a:t>Windows XP (Home Edition and Professional)</a:t>
            </a:r>
          </a:p>
          <a:p>
            <a:pPr lvl="1"/>
            <a:r>
              <a:rPr lang="en-US"/>
              <a:t>New user interface with new look and feel</a:t>
            </a:r>
          </a:p>
          <a:p>
            <a:pPr lvl="1"/>
            <a:r>
              <a:rPr lang="en-US"/>
              <a:t>Ability to simultaneously log on two or more users</a:t>
            </a:r>
          </a:p>
          <a:p>
            <a:pPr lvl="1"/>
            <a:r>
              <a:rPr lang="en-US"/>
              <a:t>Windows Media Player and Windows Messenger</a:t>
            </a:r>
          </a:p>
          <a:p>
            <a:pPr lvl="1"/>
            <a:r>
              <a:rPr lang="en-US"/>
              <a:t>Windows Security Center (with Service Pack 2)</a:t>
            </a:r>
          </a:p>
          <a:p>
            <a:pPr lvl="1"/>
            <a:r>
              <a:rPr lang="en-US"/>
              <a:t>User-friendly CD burning process</a:t>
            </a:r>
          </a:p>
          <a:p>
            <a:pPr lvl="1"/>
            <a:r>
              <a:rPr lang="en-US"/>
              <a:t>Remote Assistance and expanded Help </a:t>
            </a:r>
          </a:p>
          <a:p>
            <a:r>
              <a:rPr lang="en-US"/>
              <a:t>Windows XP Professional offers additional features</a:t>
            </a:r>
          </a:p>
          <a:p>
            <a:pPr lvl="1"/>
            <a:r>
              <a:rPr lang="en-US"/>
              <a:t>Example: support for new higher-performance CPUs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1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A+ Guide to Managing and Maintaining your PC, 6e</a:t>
            </a:r>
          </a:p>
        </p:txBody>
      </p:sp>
      <p:sp>
        <p:nvSpPr>
          <p:cNvPr id="5" name="Slide Number Placeholder 2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9C3F9237-62A3-42E8-A2B6-7DDE86A42153}" type="slidenum">
              <a:rPr lang="en-US"/>
              <a:pPr/>
              <a:t>6</a:t>
            </a:fld>
            <a:endParaRPr lang="en-US"/>
          </a:p>
        </p:txBody>
      </p:sp>
      <p:pic>
        <p:nvPicPr>
          <p:cNvPr id="582661" name="Picture 5" descr="C11F001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676400" y="1617663"/>
            <a:ext cx="5791200" cy="3621087"/>
          </a:xfrm>
          <a:prstGeom prst="rect">
            <a:avLst/>
          </a:prstGeom>
          <a:noFill/>
        </p:spPr>
      </p:pic>
      <p:sp>
        <p:nvSpPr>
          <p:cNvPr id="582662" name="Rectangle 6"/>
          <p:cNvSpPr>
            <a:spLocks noChangeArrowheads="1"/>
          </p:cNvSpPr>
          <p:nvPr/>
        </p:nvSpPr>
        <p:spPr bwMode="auto">
          <a:xfrm>
            <a:off x="0" y="5483225"/>
            <a:ext cx="9144000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 algn="ctr"/>
            <a:r>
              <a:rPr lang="en-US" sz="1800" b="1">
                <a:solidFill>
                  <a:srgbClr val="222222"/>
                </a:solidFill>
                <a:latin typeface="Arial" charset="0"/>
              </a:rPr>
              <a:t>Figure 11-1 </a:t>
            </a:r>
            <a:r>
              <a:rPr lang="en-US" sz="1800">
                <a:solidFill>
                  <a:srgbClr val="222222"/>
                </a:solidFill>
                <a:latin typeface="Arial" charset="0"/>
              </a:rPr>
              <a:t>New user interface and sample windows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A+ Guide to Managing and Maintaining your PC, 6e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32DB239-8A5E-4412-9127-9BD13527559C}" type="slidenum">
              <a:rPr lang="en-US"/>
              <a:pPr/>
              <a:t>7</a:t>
            </a:fld>
            <a:endParaRPr lang="en-US"/>
          </a:p>
        </p:txBody>
      </p:sp>
      <p:sp>
        <p:nvSpPr>
          <p:cNvPr id="583682" name="Rectangle 2"/>
          <p:cNvSpPr>
            <a:spLocks noGrp="1" noChangeArrowheads="1"/>
          </p:cNvSpPr>
          <p:nvPr>
            <p:ph type="title"/>
          </p:nvPr>
        </p:nvSpPr>
        <p:spPr>
          <a:xfrm>
            <a:off x="457200" y="304800"/>
            <a:ext cx="8077200" cy="1295400"/>
          </a:xfrm>
        </p:spPr>
        <p:txBody>
          <a:bodyPr/>
          <a:lstStyle/>
          <a:p>
            <a:r>
              <a:rPr lang="en-US"/>
              <a:t>Versions and Features of Windows XP and 2000 (continued)</a:t>
            </a:r>
          </a:p>
        </p:txBody>
      </p:sp>
      <p:sp>
        <p:nvSpPr>
          <p:cNvPr id="583683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533400" y="1676400"/>
            <a:ext cx="8077200" cy="4648200"/>
          </a:xfrm>
        </p:spPr>
        <p:txBody>
          <a:bodyPr/>
          <a:lstStyle/>
          <a:p>
            <a:r>
              <a:rPr lang="en-US"/>
              <a:t>Two systems built on Windows XP Professional</a:t>
            </a:r>
          </a:p>
          <a:p>
            <a:pPr lvl="1"/>
            <a:r>
              <a:rPr lang="en-US"/>
              <a:t>Windows XP Media Center Edition</a:t>
            </a:r>
          </a:p>
          <a:p>
            <a:pPr lvl="1"/>
            <a:r>
              <a:rPr lang="en-US"/>
              <a:t>Windows XP Tablet PC Edition</a:t>
            </a:r>
          </a:p>
          <a:p>
            <a:r>
              <a:rPr lang="en-US"/>
              <a:t>Windows XP Professional x64 Edition</a:t>
            </a:r>
          </a:p>
          <a:p>
            <a:pPr lvl="1"/>
            <a:r>
              <a:rPr lang="en-US"/>
              <a:t>Used with 64-bit processors such as Intel Itanium</a:t>
            </a:r>
          </a:p>
          <a:p>
            <a:r>
              <a:rPr lang="en-US"/>
              <a:t>Windows 2000 includes four operating systems:</a:t>
            </a:r>
          </a:p>
          <a:p>
            <a:pPr lvl="1"/>
            <a:r>
              <a:rPr lang="en-US"/>
              <a:t>Windows 2000 Professional</a:t>
            </a:r>
          </a:p>
          <a:p>
            <a:pPr lvl="1"/>
            <a:r>
              <a:rPr lang="en-US"/>
              <a:t>Windows 2000 Server </a:t>
            </a:r>
          </a:p>
          <a:p>
            <a:pPr lvl="1"/>
            <a:r>
              <a:rPr lang="en-US"/>
              <a:t>Windows 2000 Advanced Server </a:t>
            </a:r>
          </a:p>
          <a:p>
            <a:pPr lvl="1"/>
            <a:r>
              <a:rPr lang="en-US"/>
              <a:t>Windows 2000 Datacenter Server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1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A+ Guide to Managing and Maintaining your PC, 6e</a:t>
            </a:r>
          </a:p>
        </p:txBody>
      </p:sp>
      <p:sp>
        <p:nvSpPr>
          <p:cNvPr id="5" name="Slide Number Placeholder 2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A2CD47B2-3DE6-4E25-9895-C2D83EEA3685}" type="slidenum">
              <a:rPr lang="en-US"/>
              <a:pPr/>
              <a:t>8</a:t>
            </a:fld>
            <a:endParaRPr lang="en-US"/>
          </a:p>
        </p:txBody>
      </p:sp>
      <p:pic>
        <p:nvPicPr>
          <p:cNvPr id="584709" name="Picture 5" descr="C11F00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209800" y="1992313"/>
            <a:ext cx="4648200" cy="2871787"/>
          </a:xfrm>
          <a:prstGeom prst="rect">
            <a:avLst/>
          </a:prstGeom>
          <a:noFill/>
        </p:spPr>
      </p:pic>
      <p:sp>
        <p:nvSpPr>
          <p:cNvPr id="584710" name="Rectangle 6"/>
          <p:cNvSpPr>
            <a:spLocks noChangeArrowheads="1"/>
          </p:cNvSpPr>
          <p:nvPr/>
        </p:nvSpPr>
        <p:spPr bwMode="auto">
          <a:xfrm>
            <a:off x="1676400" y="5029200"/>
            <a:ext cx="5943600" cy="6413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anchor="b" anchorCtr="1">
            <a:spAutoFit/>
          </a:bodyPr>
          <a:lstStyle/>
          <a:p>
            <a:r>
              <a:rPr lang="en-US" sz="1800" b="1">
                <a:solidFill>
                  <a:srgbClr val="222222"/>
                </a:solidFill>
                <a:latin typeface="Arial" charset="0"/>
              </a:rPr>
              <a:t>Figure 11-4 </a:t>
            </a:r>
            <a:r>
              <a:rPr lang="en-US" sz="1800">
                <a:solidFill>
                  <a:srgbClr val="222222"/>
                </a:solidFill>
                <a:latin typeface="Arial" charset="0"/>
              </a:rPr>
              <a:t>Media Center is set to watch live TV, record TV, search your online TV guide, and play movies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A+ Guide to Managing and Maintaining your PC, 6e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7754C52-736F-4330-B838-0CD74AE2C3F3}" type="slidenum">
              <a:rPr lang="en-US"/>
              <a:pPr/>
              <a:t>9</a:t>
            </a:fld>
            <a:endParaRPr lang="en-US"/>
          </a:p>
        </p:txBody>
      </p:sp>
      <p:sp>
        <p:nvSpPr>
          <p:cNvPr id="585730" name="Rectangle 2"/>
          <p:cNvSpPr>
            <a:spLocks noGrp="1" noChangeArrowheads="1"/>
          </p:cNvSpPr>
          <p:nvPr>
            <p:ph type="title"/>
          </p:nvPr>
        </p:nvSpPr>
        <p:spPr>
          <a:xfrm>
            <a:off x="533400" y="381000"/>
            <a:ext cx="8077200" cy="1219200"/>
          </a:xfrm>
        </p:spPr>
        <p:txBody>
          <a:bodyPr/>
          <a:lstStyle/>
          <a:p>
            <a:r>
              <a:rPr lang="en-US"/>
              <a:t>Windows 2000/XP Architecture and Operating Modes</a:t>
            </a:r>
          </a:p>
        </p:txBody>
      </p:sp>
      <p:sp>
        <p:nvSpPr>
          <p:cNvPr id="585731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533400" y="1828800"/>
            <a:ext cx="8229600" cy="4419600"/>
          </a:xfrm>
        </p:spPr>
        <p:txBody>
          <a:bodyPr/>
          <a:lstStyle/>
          <a:p>
            <a:r>
              <a:rPr lang="en-US"/>
              <a:t>Two operating modes used: kernel and user</a:t>
            </a:r>
          </a:p>
          <a:p>
            <a:r>
              <a:rPr lang="en-US"/>
              <a:t>User mode</a:t>
            </a:r>
          </a:p>
          <a:p>
            <a:pPr lvl="1"/>
            <a:r>
              <a:rPr lang="en-US"/>
              <a:t>Several subsystems that interact with users/programs</a:t>
            </a:r>
          </a:p>
          <a:p>
            <a:pPr lvl="1"/>
            <a:r>
              <a:rPr lang="en-US"/>
              <a:t>All applications relate to the OS via Win32 subsystem</a:t>
            </a:r>
          </a:p>
          <a:p>
            <a:pPr lvl="2"/>
            <a:r>
              <a:rPr lang="en-US"/>
              <a:t>Each DOS application runs on its own NTVDM</a:t>
            </a:r>
          </a:p>
          <a:p>
            <a:pPr lvl="2"/>
            <a:r>
              <a:rPr lang="en-US"/>
              <a:t>16-bit Windows 3.x apps run in a WOW environment</a:t>
            </a:r>
          </a:p>
          <a:p>
            <a:pPr lvl="2"/>
            <a:r>
              <a:rPr lang="en-US"/>
              <a:t>32-bit applications interact directly with OS (protected)</a:t>
            </a:r>
          </a:p>
          <a:p>
            <a:pPr lvl="1"/>
            <a:r>
              <a:rPr lang="en-US"/>
              <a:t>Process: running program or group of programs</a:t>
            </a:r>
          </a:p>
          <a:p>
            <a:pPr lvl="1"/>
            <a:r>
              <a:rPr lang="en-US"/>
              <a:t>Thread: single task that process requests from kernel </a:t>
            </a:r>
          </a:p>
          <a:p>
            <a:pPr lvl="1"/>
            <a:r>
              <a:rPr lang="en-US"/>
              <a:t>A process can spawn multiple threads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1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A+ Guide to Managing and Maintaining your PC, 6e</a:t>
            </a:r>
          </a:p>
        </p:txBody>
      </p:sp>
      <p:sp>
        <p:nvSpPr>
          <p:cNvPr id="5" name="Slide Number Placeholder 2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72D425C-2940-400F-9735-004ED6E900E2}" type="slidenum">
              <a:rPr lang="en-US"/>
              <a:pPr/>
              <a:t>10</a:t>
            </a:fld>
            <a:endParaRPr lang="en-US"/>
          </a:p>
        </p:txBody>
      </p:sp>
      <p:pic>
        <p:nvPicPr>
          <p:cNvPr id="586757" name="Picture 5" descr="C11F006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286000" y="2057400"/>
            <a:ext cx="4419600" cy="2541588"/>
          </a:xfrm>
          <a:prstGeom prst="rect">
            <a:avLst/>
          </a:prstGeom>
          <a:noFill/>
        </p:spPr>
      </p:pic>
      <p:sp>
        <p:nvSpPr>
          <p:cNvPr id="586758" name="Rectangle 6"/>
          <p:cNvSpPr>
            <a:spLocks noChangeArrowheads="1"/>
          </p:cNvSpPr>
          <p:nvPr/>
        </p:nvSpPr>
        <p:spPr bwMode="auto">
          <a:xfrm>
            <a:off x="2057400" y="4648200"/>
            <a:ext cx="5105400" cy="9159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anchor="b" anchorCtr="1">
            <a:spAutoFit/>
          </a:bodyPr>
          <a:lstStyle/>
          <a:p>
            <a:r>
              <a:rPr lang="en-US" sz="1800" b="1">
                <a:solidFill>
                  <a:srgbClr val="222222"/>
                </a:solidFill>
                <a:latin typeface="Arial" charset="0"/>
              </a:rPr>
              <a:t>Figure 11-6 </a:t>
            </a:r>
            <a:r>
              <a:rPr lang="en-US" sz="1800">
                <a:solidFill>
                  <a:srgbClr val="222222"/>
                </a:solidFill>
                <a:latin typeface="Arial" charset="0"/>
              </a:rPr>
              <a:t>User mode and kernel mode in Windows 2000/XP and how they relate to users, application software, and hardware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1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A+ Guide to Managing and Maintaining your PC, 6e</a:t>
            </a:r>
          </a:p>
        </p:txBody>
      </p:sp>
      <p:sp>
        <p:nvSpPr>
          <p:cNvPr id="5" name="Slide Number Placeholder 2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9BC347D-2051-4F39-A07E-A14750F56A49}" type="slidenum">
              <a:rPr lang="en-US"/>
              <a:pPr/>
              <a:t>11</a:t>
            </a:fld>
            <a:endParaRPr lang="en-US"/>
          </a:p>
        </p:txBody>
      </p:sp>
      <p:pic>
        <p:nvPicPr>
          <p:cNvPr id="589828" name="Picture 4" descr="C11F007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057400" y="1143000"/>
            <a:ext cx="4800600" cy="3005138"/>
          </a:xfrm>
          <a:prstGeom prst="rect">
            <a:avLst/>
          </a:prstGeom>
          <a:noFill/>
        </p:spPr>
      </p:pic>
      <p:sp>
        <p:nvSpPr>
          <p:cNvPr id="589829" name="Rectangle 5"/>
          <p:cNvSpPr>
            <a:spLocks noChangeArrowheads="1"/>
          </p:cNvSpPr>
          <p:nvPr/>
        </p:nvSpPr>
        <p:spPr bwMode="auto">
          <a:xfrm>
            <a:off x="1752600" y="4419600"/>
            <a:ext cx="5638800" cy="11906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r>
              <a:rPr lang="en-US" sz="1800" b="1">
                <a:solidFill>
                  <a:srgbClr val="222222"/>
                </a:solidFill>
                <a:latin typeface="Arial" charset="0"/>
              </a:rPr>
              <a:t>Figure 11-7 </a:t>
            </a:r>
            <a:r>
              <a:rPr lang="en-US" sz="1800">
                <a:solidFill>
                  <a:srgbClr val="222222"/>
                </a:solidFill>
                <a:latin typeface="Arial" charset="0"/>
              </a:rPr>
              <a:t>Environment subsystems in Windows 2000/XP user mode include NTVDMs for DOS and Windows 3.x applications and optional multithreading for 32-bit applications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A+ Guide to Managing and Maintaining your PC, 6e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3EC7CC88-EC61-4D65-99B7-8A9A5ABA4834}" type="slidenum">
              <a:rPr lang="en-US"/>
              <a:pPr/>
              <a:t>12</a:t>
            </a:fld>
            <a:endParaRPr lang="en-US"/>
          </a:p>
        </p:txBody>
      </p:sp>
      <p:sp>
        <p:nvSpPr>
          <p:cNvPr id="588802" name="Rectangle 2"/>
          <p:cNvSpPr>
            <a:spLocks noGrp="1" noChangeArrowheads="1"/>
          </p:cNvSpPr>
          <p:nvPr>
            <p:ph type="title"/>
          </p:nvPr>
        </p:nvSpPr>
        <p:spPr>
          <a:xfrm>
            <a:off x="533400" y="381000"/>
            <a:ext cx="8077200" cy="1219200"/>
          </a:xfrm>
        </p:spPr>
        <p:txBody>
          <a:bodyPr/>
          <a:lstStyle/>
          <a:p>
            <a:r>
              <a:rPr lang="en-US"/>
              <a:t>Windows 2000/XP Architecture and Operating Modes (continued)</a:t>
            </a:r>
          </a:p>
        </p:txBody>
      </p:sp>
      <p:sp>
        <p:nvSpPr>
          <p:cNvPr id="588803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533400" y="1828800"/>
            <a:ext cx="8229600" cy="4419600"/>
          </a:xfrm>
        </p:spPr>
        <p:txBody>
          <a:bodyPr/>
          <a:lstStyle/>
          <a:p>
            <a:r>
              <a:rPr lang="en-US"/>
              <a:t>Kernel mode</a:t>
            </a:r>
          </a:p>
          <a:p>
            <a:pPr lvl="1"/>
            <a:r>
              <a:rPr lang="en-US"/>
              <a:t>Comprises HAL and Executive services</a:t>
            </a:r>
          </a:p>
          <a:p>
            <a:pPr lvl="1"/>
            <a:r>
              <a:rPr lang="en-US"/>
              <a:t>HAL (hardware abstraction layer) interacts with CPU</a:t>
            </a:r>
          </a:p>
          <a:p>
            <a:pPr lvl="1"/>
            <a:r>
              <a:rPr lang="en-US"/>
              <a:t>Executive services manage hardware resources</a:t>
            </a:r>
          </a:p>
          <a:p>
            <a:pPr lvl="1"/>
            <a:r>
              <a:rPr lang="en-US"/>
              <a:t>Applications in user mode cannot access hardware</a:t>
            </a:r>
          </a:p>
          <a:p>
            <a:r>
              <a:rPr lang="en-US"/>
              <a:t>Benefits of dividing OS into user and kernel modes</a:t>
            </a:r>
          </a:p>
          <a:p>
            <a:pPr lvl="1"/>
            <a:r>
              <a:rPr lang="en-US"/>
              <a:t>HAL and Executive services operate more efficiently</a:t>
            </a:r>
          </a:p>
          <a:p>
            <a:pPr lvl="1"/>
            <a:r>
              <a:rPr lang="en-US"/>
              <a:t>Application address space is protected</a:t>
            </a:r>
          </a:p>
          <a:p>
            <a:pPr lvl="1"/>
            <a:r>
              <a:rPr lang="en-US"/>
              <a:t>System is protected from illegal demands</a:t>
            </a:r>
          </a:p>
          <a:p>
            <a:pPr lvl="1"/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A+ Guide to Managing and Maintaining your PC, 6e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F930AF01-C8A9-4022-A6CA-7447228752BF}" type="slidenum">
              <a:rPr lang="en-US"/>
              <a:pPr/>
              <a:t>13</a:t>
            </a:fld>
            <a:endParaRPr lang="en-US"/>
          </a:p>
        </p:txBody>
      </p:sp>
      <p:sp>
        <p:nvSpPr>
          <p:cNvPr id="59085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Networking Features</a:t>
            </a:r>
          </a:p>
        </p:txBody>
      </p:sp>
      <p:sp>
        <p:nvSpPr>
          <p:cNvPr id="59085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Workgroup: logical group of computers and users</a:t>
            </a:r>
          </a:p>
          <a:p>
            <a:pPr lvl="1"/>
            <a:r>
              <a:rPr lang="en-US"/>
              <a:t>Resources are shared within a workgroup</a:t>
            </a:r>
          </a:p>
          <a:p>
            <a:pPr lvl="1"/>
            <a:r>
              <a:rPr lang="en-US"/>
              <a:t>Administration is decentralized </a:t>
            </a:r>
          </a:p>
          <a:p>
            <a:r>
              <a:rPr lang="en-US"/>
              <a:t>Workgroup uses a peer-to-peer networking model</a:t>
            </a:r>
          </a:p>
          <a:p>
            <a:r>
              <a:rPr lang="en-US"/>
              <a:t>Domain: group of networked computers </a:t>
            </a:r>
          </a:p>
          <a:p>
            <a:pPr lvl="1"/>
            <a:r>
              <a:rPr lang="en-US"/>
              <a:t>Resources are controlled via a centralized directory</a:t>
            </a:r>
          </a:p>
          <a:p>
            <a:r>
              <a:rPr lang="en-US"/>
              <a:t>A domain uses a client/server</a:t>
            </a:r>
            <a:r>
              <a:rPr lang="en-US" b="1"/>
              <a:t> </a:t>
            </a:r>
            <a:r>
              <a:rPr lang="en-US"/>
              <a:t>networking model</a:t>
            </a:r>
          </a:p>
          <a:p>
            <a:pPr lvl="1"/>
            <a:r>
              <a:rPr lang="en-US"/>
              <a:t>Network operating system (NOS) controls directory</a:t>
            </a:r>
          </a:p>
          <a:p>
            <a:pPr lvl="1"/>
            <a:r>
              <a:rPr lang="en-US"/>
              <a:t>Some NOSs: Windows Server 2003, Novel NetWare </a:t>
            </a:r>
          </a:p>
          <a:p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1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A+ Guide to Managing and Maintaining your PC, 6e</a:t>
            </a:r>
          </a:p>
        </p:txBody>
      </p:sp>
      <p:sp>
        <p:nvSpPr>
          <p:cNvPr id="5" name="Slide Number Placeholder 2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F87590DC-3B32-4172-88AD-9E9C7CEB4991}" type="slidenum">
              <a:rPr lang="en-US"/>
              <a:pPr/>
              <a:t>14</a:t>
            </a:fld>
            <a:endParaRPr lang="en-US"/>
          </a:p>
        </p:txBody>
      </p:sp>
      <p:pic>
        <p:nvPicPr>
          <p:cNvPr id="591877" name="Picture 5" descr="C11F009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286000" y="1143000"/>
            <a:ext cx="4552950" cy="3011488"/>
          </a:xfrm>
          <a:prstGeom prst="rect">
            <a:avLst/>
          </a:prstGeom>
          <a:noFill/>
        </p:spPr>
      </p:pic>
      <p:sp>
        <p:nvSpPr>
          <p:cNvPr id="591878" name="Rectangle 6"/>
          <p:cNvSpPr>
            <a:spLocks noChangeArrowheads="1"/>
          </p:cNvSpPr>
          <p:nvPr/>
        </p:nvSpPr>
        <p:spPr bwMode="auto">
          <a:xfrm>
            <a:off x="1828800" y="4495800"/>
            <a:ext cx="6019800" cy="9159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anchor="b" anchorCtr="1">
            <a:spAutoFit/>
          </a:bodyPr>
          <a:lstStyle/>
          <a:p>
            <a:r>
              <a:rPr lang="en-US" sz="1800" b="1">
                <a:solidFill>
                  <a:srgbClr val="222222"/>
                </a:solidFill>
                <a:latin typeface="Arial" charset="0"/>
              </a:rPr>
              <a:t>Figure 11-9 </a:t>
            </a:r>
            <a:r>
              <a:rPr lang="en-US" sz="1800">
                <a:solidFill>
                  <a:srgbClr val="222222"/>
                </a:solidFill>
                <a:latin typeface="Arial" charset="0"/>
              </a:rPr>
              <a:t>A Windows workgroup is a peer-to-peer network where no single computer controls the network and each computer controls its own resources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1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A+ Guide to Managing and Maintaining your PC, 6e</a:t>
            </a:r>
          </a:p>
        </p:txBody>
      </p:sp>
      <p:sp>
        <p:nvSpPr>
          <p:cNvPr id="5" name="Slide Number Placeholder 2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62A5469-E4E2-474C-BA1C-C55D5730BC72}" type="slidenum">
              <a:rPr lang="en-US"/>
              <a:pPr/>
              <a:t>15</a:t>
            </a:fld>
            <a:endParaRPr lang="en-US"/>
          </a:p>
        </p:txBody>
      </p:sp>
      <p:pic>
        <p:nvPicPr>
          <p:cNvPr id="593925" name="Picture 5" descr="C11F010"/>
          <p:cNvPicPr>
            <a:picLocks noChangeAspect="1" noChangeArrowheads="1"/>
          </p:cNvPicPr>
          <p:nvPr/>
        </p:nvPicPr>
        <p:blipFill>
          <a:blip r:embed="rId2" cstate="print">
            <a:lum bright="-6000"/>
          </a:blip>
          <a:srcRect/>
          <a:stretch>
            <a:fillRect/>
          </a:stretch>
        </p:blipFill>
        <p:spPr bwMode="auto">
          <a:xfrm>
            <a:off x="2209800" y="990600"/>
            <a:ext cx="4687888" cy="3121025"/>
          </a:xfrm>
          <a:prstGeom prst="rect">
            <a:avLst/>
          </a:prstGeom>
          <a:noFill/>
        </p:spPr>
      </p:pic>
      <p:sp>
        <p:nvSpPr>
          <p:cNvPr id="593926" name="Rectangle 6"/>
          <p:cNvSpPr>
            <a:spLocks noChangeArrowheads="1"/>
          </p:cNvSpPr>
          <p:nvPr/>
        </p:nvSpPr>
        <p:spPr bwMode="auto">
          <a:xfrm>
            <a:off x="1905000" y="4495800"/>
            <a:ext cx="5334000" cy="11906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anchor="b" anchorCtr="1">
            <a:spAutoFit/>
          </a:bodyPr>
          <a:lstStyle/>
          <a:p>
            <a:r>
              <a:rPr lang="en-US" sz="1800" b="1">
                <a:solidFill>
                  <a:srgbClr val="222222"/>
                </a:solidFill>
                <a:latin typeface="Arial" charset="0"/>
              </a:rPr>
              <a:t>Figure 11-10 </a:t>
            </a:r>
            <a:r>
              <a:rPr lang="en-US" sz="1800">
                <a:solidFill>
                  <a:srgbClr val="222222"/>
                </a:solidFill>
                <a:latin typeface="Arial" charset="0"/>
              </a:rPr>
              <a:t>A Windows domain is a client/server network where security on each PC or other device is controlled by a centralized database on a domain controller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A+ Guide to Managing and Maintaining your PC, 6e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34D070BD-F6AB-4384-87E3-AC9723CF4C09}" type="slidenum">
              <a:rPr lang="en-US"/>
              <a:pPr/>
              <a:t>16</a:t>
            </a:fld>
            <a:endParaRPr lang="en-US"/>
          </a:p>
        </p:txBody>
      </p:sp>
      <p:sp>
        <p:nvSpPr>
          <p:cNvPr id="59289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Networking Features (continued)</a:t>
            </a:r>
          </a:p>
        </p:txBody>
      </p:sp>
      <p:sp>
        <p:nvSpPr>
          <p:cNvPr id="592899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381000" y="1676400"/>
            <a:ext cx="8382000" cy="4572000"/>
          </a:xfrm>
        </p:spPr>
        <p:txBody>
          <a:bodyPr/>
          <a:lstStyle/>
          <a:p>
            <a:r>
              <a:rPr lang="en-US"/>
              <a:t>Windows domains</a:t>
            </a:r>
          </a:p>
          <a:p>
            <a:pPr lvl="1"/>
            <a:r>
              <a:rPr lang="en-US"/>
              <a:t>Security accounts manager (SAM) database contents</a:t>
            </a:r>
          </a:p>
          <a:p>
            <a:pPr lvl="2"/>
            <a:r>
              <a:rPr lang="en-US"/>
              <a:t> User accounts, group accounts, computer accounts</a:t>
            </a:r>
          </a:p>
          <a:p>
            <a:pPr lvl="1"/>
            <a:r>
              <a:rPr lang="en-US"/>
              <a:t>Domain controller stores and controls SAM </a:t>
            </a:r>
          </a:p>
          <a:p>
            <a:pPr lvl="2"/>
            <a:r>
              <a:rPr lang="en-US"/>
              <a:t>Primary domain controller (PDC)</a:t>
            </a:r>
            <a:r>
              <a:rPr lang="en-US" b="1"/>
              <a:t> </a:t>
            </a:r>
            <a:r>
              <a:rPr lang="en-US"/>
              <a:t>holds original directory</a:t>
            </a:r>
          </a:p>
          <a:p>
            <a:pPr lvl="2"/>
            <a:r>
              <a:rPr lang="en-US"/>
              <a:t>Backup domain controller (BDC) holds read-only copy</a:t>
            </a:r>
          </a:p>
          <a:p>
            <a:pPr lvl="1"/>
            <a:r>
              <a:rPr lang="en-US"/>
              <a:t>Native mode: only Windows 2000 PDCs in the system</a:t>
            </a:r>
          </a:p>
          <a:p>
            <a:pPr lvl="1"/>
            <a:r>
              <a:rPr lang="en-US"/>
              <a:t>Mixed mode: at least one Windows NT PDC in system</a:t>
            </a:r>
          </a:p>
          <a:p>
            <a:pPr lvl="1"/>
            <a:r>
              <a:rPr lang="en-US"/>
              <a:t>Active directory: single point of control over network</a:t>
            </a:r>
          </a:p>
          <a:p>
            <a:pPr lvl="2"/>
            <a:r>
              <a:rPr lang="en-US"/>
              <a:t>Active Directory includes the SAM database 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A+ Guide to Managing and Maintaining your PC, 6e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5535283-2B1E-41B7-8887-294D20D06ED9}" type="slidenum">
              <a:rPr lang="en-US"/>
              <a:pPr/>
              <a:t>17</a:t>
            </a:fld>
            <a:endParaRPr lang="en-US"/>
          </a:p>
        </p:txBody>
      </p:sp>
      <p:sp>
        <p:nvSpPr>
          <p:cNvPr id="59494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Networking Features (continued)</a:t>
            </a:r>
          </a:p>
        </p:txBody>
      </p:sp>
      <p:sp>
        <p:nvSpPr>
          <p:cNvPr id="594947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304800" y="1600200"/>
            <a:ext cx="8534400" cy="4572000"/>
          </a:xfrm>
        </p:spPr>
        <p:txBody>
          <a:bodyPr/>
          <a:lstStyle/>
          <a:p>
            <a:r>
              <a:rPr lang="en-US"/>
              <a:t>Windows 2000/XP Logon</a:t>
            </a:r>
            <a:r>
              <a:rPr lang="en-US" b="1"/>
              <a:t>  </a:t>
            </a:r>
          </a:p>
          <a:p>
            <a:pPr lvl="1"/>
            <a:r>
              <a:rPr lang="en-US"/>
              <a:t>Administrator account</a:t>
            </a:r>
          </a:p>
          <a:p>
            <a:pPr lvl="2"/>
            <a:r>
              <a:rPr lang="en-US"/>
              <a:t>Has rights and permissions to all computer resources</a:t>
            </a:r>
          </a:p>
          <a:p>
            <a:pPr lvl="2"/>
            <a:r>
              <a:rPr lang="en-US"/>
              <a:t>Used to set up other user accounts and assign privileges</a:t>
            </a:r>
          </a:p>
          <a:p>
            <a:pPr lvl="1"/>
            <a:r>
              <a:rPr lang="en-US"/>
              <a:t>Logon is required before OS can be used</a:t>
            </a:r>
          </a:p>
          <a:p>
            <a:pPr lvl="1"/>
            <a:r>
              <a:rPr lang="en-US"/>
              <a:t>Rights and permissions granted according to user group</a:t>
            </a:r>
          </a:p>
          <a:p>
            <a:pPr lvl="1"/>
            <a:r>
              <a:rPr lang="en-US"/>
              <a:t>Windows XP allows multiple users to be logged on</a:t>
            </a:r>
          </a:p>
          <a:p>
            <a:pPr lvl="1"/>
            <a:r>
              <a:rPr lang="en-US"/>
              <a:t>To logoff or switch to another user, press Ctrl-Alt-Del </a:t>
            </a:r>
          </a:p>
          <a:p>
            <a:pPr lvl="2"/>
            <a:r>
              <a:rPr lang="en-US"/>
              <a:t>Log Off Windows dialog box appears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1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A+ Guide to Managing and Maintaining your PC, 6e</a:t>
            </a:r>
          </a:p>
        </p:txBody>
      </p:sp>
      <p:sp>
        <p:nvSpPr>
          <p:cNvPr id="5" name="Slide Number Placeholder 2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069846CA-498A-436B-B64F-5F98DAE57A80}" type="slidenum">
              <a:rPr lang="en-US"/>
              <a:pPr/>
              <a:t>18</a:t>
            </a:fld>
            <a:endParaRPr lang="en-US"/>
          </a:p>
        </p:txBody>
      </p:sp>
      <p:pic>
        <p:nvPicPr>
          <p:cNvPr id="595973" name="Picture 5" descr="C11F011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438400" y="2478088"/>
            <a:ext cx="4038600" cy="2322512"/>
          </a:xfrm>
          <a:prstGeom prst="rect">
            <a:avLst/>
          </a:prstGeom>
          <a:noFill/>
        </p:spPr>
      </p:pic>
      <p:sp>
        <p:nvSpPr>
          <p:cNvPr id="595974" name="Rectangle 6"/>
          <p:cNvSpPr>
            <a:spLocks noChangeArrowheads="1"/>
          </p:cNvSpPr>
          <p:nvPr/>
        </p:nvSpPr>
        <p:spPr bwMode="auto">
          <a:xfrm>
            <a:off x="0" y="5026025"/>
            <a:ext cx="9144000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 algn="ctr"/>
            <a:r>
              <a:rPr lang="en-US" sz="1800" b="1">
                <a:solidFill>
                  <a:srgbClr val="222222"/>
                </a:solidFill>
                <a:latin typeface="Arial" charset="0"/>
              </a:rPr>
              <a:t>Figure 11-11 </a:t>
            </a:r>
            <a:r>
              <a:rPr lang="en-US" sz="1800">
                <a:solidFill>
                  <a:srgbClr val="222222"/>
                </a:solidFill>
                <a:latin typeface="Arial" charset="0"/>
              </a:rPr>
              <a:t>Switch users or log off in Windows XP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A+ Guide to Managing and Maintaining your PC, 6e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05C514B5-741D-4914-8349-EF483AD0C75C}" type="slidenum">
              <a:rPr lang="en-US"/>
              <a:pPr/>
              <a:t>19</a:t>
            </a:fld>
            <a:endParaRPr lang="en-US"/>
          </a:p>
        </p:txBody>
      </p:sp>
      <p:sp>
        <p:nvSpPr>
          <p:cNvPr id="596994" name="Rectangle 2"/>
          <p:cNvSpPr>
            <a:spLocks noGrp="1" noChangeArrowheads="1"/>
          </p:cNvSpPr>
          <p:nvPr>
            <p:ph type="title"/>
          </p:nvPr>
        </p:nvSpPr>
        <p:spPr>
          <a:xfrm>
            <a:off x="533400" y="381000"/>
            <a:ext cx="8077200" cy="1219200"/>
          </a:xfrm>
        </p:spPr>
        <p:txBody>
          <a:bodyPr/>
          <a:lstStyle/>
          <a:p>
            <a:r>
              <a:rPr lang="en-US"/>
              <a:t>How Windows 2000/XP Manages Hard Drives</a:t>
            </a:r>
          </a:p>
        </p:txBody>
      </p:sp>
      <p:sp>
        <p:nvSpPr>
          <p:cNvPr id="596995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457200" y="1676400"/>
            <a:ext cx="8382000" cy="4572000"/>
          </a:xfrm>
        </p:spPr>
        <p:txBody>
          <a:bodyPr/>
          <a:lstStyle/>
          <a:p>
            <a:r>
              <a:rPr lang="en-US"/>
              <a:t>Hard drive organization: partition, logical drive, sector </a:t>
            </a:r>
          </a:p>
          <a:p>
            <a:r>
              <a:rPr lang="en-US"/>
              <a:t>Steps involved in logically organizing a drive:</a:t>
            </a:r>
          </a:p>
          <a:p>
            <a:pPr lvl="1"/>
            <a:r>
              <a:rPr lang="en-US"/>
              <a:t>Cylinders on the drive are divided into partitions</a:t>
            </a:r>
          </a:p>
          <a:p>
            <a:pPr lvl="2"/>
            <a:r>
              <a:rPr lang="en-US"/>
              <a:t>Partition table defines where partition begins and ends</a:t>
            </a:r>
          </a:p>
          <a:p>
            <a:pPr lvl="1"/>
            <a:r>
              <a:rPr lang="en-US"/>
              <a:t>Partitions are divided into logical drives; e.g., C, D, E</a:t>
            </a:r>
          </a:p>
          <a:p>
            <a:pPr lvl="2"/>
            <a:r>
              <a:rPr lang="en-US"/>
              <a:t>Creating first two levels is called partitioning the drives</a:t>
            </a:r>
          </a:p>
          <a:p>
            <a:pPr lvl="1"/>
            <a:r>
              <a:rPr lang="en-US"/>
              <a:t>Each logical drive is formatted with a file system</a:t>
            </a:r>
          </a:p>
          <a:p>
            <a:pPr lvl="2"/>
            <a:r>
              <a:rPr lang="en-US"/>
              <a:t>Some file systems used: FAT16, FAT32, or NTFS</a:t>
            </a:r>
          </a:p>
          <a:p>
            <a:r>
              <a:rPr lang="en-US"/>
              <a:t>Master Boot Record (MBR) or master boot sector</a:t>
            </a:r>
          </a:p>
          <a:p>
            <a:pPr lvl="1"/>
            <a:r>
              <a:rPr lang="en-US"/>
              <a:t>Contains master boot program and the partition table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1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A+ Guide to Managing and Maintaining your PC, 6e</a:t>
            </a:r>
          </a:p>
        </p:txBody>
      </p:sp>
      <p:sp>
        <p:nvSpPr>
          <p:cNvPr id="5" name="Slide Number Placeholder 2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47B0F44-600D-465D-B5BE-F078FD2E3B8E}" type="slidenum">
              <a:rPr lang="en-US"/>
              <a:pPr/>
              <a:t>20</a:t>
            </a:fld>
            <a:endParaRPr lang="en-US"/>
          </a:p>
        </p:txBody>
      </p:sp>
      <p:pic>
        <p:nvPicPr>
          <p:cNvPr id="598021" name="Picture 5" descr="C11F012"/>
          <p:cNvPicPr>
            <a:picLocks noChangeAspect="1" noChangeArrowheads="1"/>
          </p:cNvPicPr>
          <p:nvPr/>
        </p:nvPicPr>
        <p:blipFill>
          <a:blip r:embed="rId2" cstate="print">
            <a:lum bright="-6000"/>
          </a:blip>
          <a:srcRect/>
          <a:stretch>
            <a:fillRect/>
          </a:stretch>
        </p:blipFill>
        <p:spPr bwMode="auto">
          <a:xfrm>
            <a:off x="2743200" y="1066800"/>
            <a:ext cx="3633788" cy="3919538"/>
          </a:xfrm>
          <a:prstGeom prst="rect">
            <a:avLst/>
          </a:prstGeom>
          <a:noFill/>
        </p:spPr>
      </p:pic>
      <p:sp>
        <p:nvSpPr>
          <p:cNvPr id="598022" name="Rectangle 6"/>
          <p:cNvSpPr>
            <a:spLocks noChangeArrowheads="1"/>
          </p:cNvSpPr>
          <p:nvPr/>
        </p:nvSpPr>
        <p:spPr bwMode="auto">
          <a:xfrm>
            <a:off x="2057400" y="5257800"/>
            <a:ext cx="5410200" cy="6413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anchor="b" anchorCtr="1">
            <a:spAutoFit/>
          </a:bodyPr>
          <a:lstStyle/>
          <a:p>
            <a:r>
              <a:rPr lang="en-US" sz="1800" b="1">
                <a:solidFill>
                  <a:srgbClr val="222222"/>
                </a:solidFill>
                <a:latin typeface="Arial" charset="0"/>
              </a:rPr>
              <a:t>Figure 11-12 </a:t>
            </a:r>
            <a:r>
              <a:rPr lang="en-US" sz="1800">
                <a:solidFill>
                  <a:srgbClr val="222222"/>
                </a:solidFill>
                <a:latin typeface="Arial" charset="0"/>
              </a:rPr>
              <a:t>A hard drive is divided into one or more partitions that contain logical drives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1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A+ Guide to Managing and Maintaining your PC, 6e</a:t>
            </a:r>
          </a:p>
        </p:txBody>
      </p:sp>
      <p:sp>
        <p:nvSpPr>
          <p:cNvPr id="5" name="Slide Number Placeholder 2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C58C051-F92F-4C62-AA31-D5700E2E575D}" type="slidenum">
              <a:rPr lang="en-US"/>
              <a:pPr/>
              <a:t>21</a:t>
            </a:fld>
            <a:endParaRPr lang="en-US"/>
          </a:p>
        </p:txBody>
      </p:sp>
      <p:pic>
        <p:nvPicPr>
          <p:cNvPr id="600068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676400" y="457200"/>
            <a:ext cx="5726113" cy="5118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600069" name="Rectangle 5"/>
          <p:cNvSpPr>
            <a:spLocks noChangeArrowheads="1"/>
          </p:cNvSpPr>
          <p:nvPr/>
        </p:nvSpPr>
        <p:spPr bwMode="auto">
          <a:xfrm>
            <a:off x="1524000" y="5638800"/>
            <a:ext cx="6096000" cy="6413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anchor="b" anchorCtr="1">
            <a:spAutoFit/>
          </a:bodyPr>
          <a:lstStyle/>
          <a:p>
            <a:r>
              <a:rPr lang="en-US" sz="1800" b="1">
                <a:solidFill>
                  <a:srgbClr val="222222"/>
                </a:solidFill>
                <a:latin typeface="Arial" charset="0"/>
              </a:rPr>
              <a:t>Table 11-1 </a:t>
            </a:r>
            <a:r>
              <a:rPr lang="en-US" sz="1800">
                <a:solidFill>
                  <a:srgbClr val="222222"/>
                </a:solidFill>
                <a:latin typeface="Arial" charset="0"/>
              </a:rPr>
              <a:t>Hard drive MBR containing the master boot program and the partition table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A+ Guide to Managing and Maintaining your PC, 6e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935DCF2F-150E-4969-8820-A9E3E180E34D}" type="slidenum">
              <a:rPr lang="en-US"/>
              <a:pPr/>
              <a:t>22</a:t>
            </a:fld>
            <a:endParaRPr lang="en-US"/>
          </a:p>
        </p:txBody>
      </p:sp>
      <p:sp>
        <p:nvSpPr>
          <p:cNvPr id="599042" name="Rectangle 2"/>
          <p:cNvSpPr>
            <a:spLocks noGrp="1" noChangeArrowheads="1"/>
          </p:cNvSpPr>
          <p:nvPr>
            <p:ph type="title"/>
          </p:nvPr>
        </p:nvSpPr>
        <p:spPr>
          <a:xfrm>
            <a:off x="533400" y="381000"/>
            <a:ext cx="8077200" cy="1219200"/>
          </a:xfrm>
        </p:spPr>
        <p:txBody>
          <a:bodyPr/>
          <a:lstStyle/>
          <a:p>
            <a:r>
              <a:rPr lang="en-US"/>
              <a:t>How Windows 2000/XP Manages Hard Drives (continued)</a:t>
            </a:r>
          </a:p>
        </p:txBody>
      </p:sp>
      <p:sp>
        <p:nvSpPr>
          <p:cNvPr id="599043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457200" y="1676400"/>
            <a:ext cx="8382000" cy="4572000"/>
          </a:xfrm>
        </p:spPr>
        <p:txBody>
          <a:bodyPr/>
          <a:lstStyle/>
          <a:p>
            <a:r>
              <a:rPr lang="en-US"/>
              <a:t>Actions performed by master boot program at POST:</a:t>
            </a:r>
          </a:p>
          <a:p>
            <a:pPr lvl="1"/>
            <a:r>
              <a:rPr lang="en-US"/>
              <a:t>Integrity of partition table is checked</a:t>
            </a:r>
          </a:p>
          <a:p>
            <a:pPr lvl="1"/>
            <a:r>
              <a:rPr lang="en-US"/>
              <a:t>Active (system) partition is located</a:t>
            </a:r>
          </a:p>
          <a:p>
            <a:pPr lvl="1"/>
            <a:r>
              <a:rPr lang="en-US"/>
              <a:t>OS boot program in active partition is executed</a:t>
            </a:r>
          </a:p>
          <a:p>
            <a:r>
              <a:rPr lang="en-US"/>
              <a:t>Types of partitions in Windows 2000/XP </a:t>
            </a:r>
          </a:p>
          <a:p>
            <a:pPr lvl="1"/>
            <a:r>
              <a:rPr lang="en-US"/>
              <a:t>Primary: has only one logical drive, such as drive C</a:t>
            </a:r>
          </a:p>
          <a:p>
            <a:pPr lvl="1"/>
            <a:r>
              <a:rPr lang="en-US"/>
              <a:t>Extended: can have multiple logical drives; e.g., D, E</a:t>
            </a:r>
          </a:p>
          <a:p>
            <a:r>
              <a:rPr lang="en-US"/>
              <a:t>Up to four partitions allowed in Windows 2000/XP</a:t>
            </a:r>
          </a:p>
          <a:p>
            <a:pPr lvl="1"/>
            <a:r>
              <a:rPr lang="en-US"/>
              <a:t>The active partition is always a primary partition</a:t>
            </a:r>
          </a:p>
          <a:p>
            <a:pPr lvl="1"/>
            <a:r>
              <a:rPr lang="en-US"/>
              <a:t>There can only be one extended partition 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A+ Guide to Managing and Maintaining your PC, 6e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867EB36C-A928-46D4-8294-B5C811C422D9}" type="slidenum">
              <a:rPr lang="en-US"/>
              <a:pPr/>
              <a:t>23</a:t>
            </a:fld>
            <a:endParaRPr lang="en-US"/>
          </a:p>
        </p:txBody>
      </p:sp>
      <p:sp>
        <p:nvSpPr>
          <p:cNvPr id="601090" name="Rectangle 2"/>
          <p:cNvSpPr>
            <a:spLocks noGrp="1" noChangeArrowheads="1"/>
          </p:cNvSpPr>
          <p:nvPr>
            <p:ph type="title"/>
          </p:nvPr>
        </p:nvSpPr>
        <p:spPr>
          <a:xfrm>
            <a:off x="533400" y="381000"/>
            <a:ext cx="8077200" cy="1219200"/>
          </a:xfrm>
        </p:spPr>
        <p:txBody>
          <a:bodyPr/>
          <a:lstStyle/>
          <a:p>
            <a:r>
              <a:rPr lang="en-US"/>
              <a:t>How Windows 2000/XP Manages Hard Drives (continued)</a:t>
            </a:r>
          </a:p>
        </p:txBody>
      </p:sp>
      <p:sp>
        <p:nvSpPr>
          <p:cNvPr id="601091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381000" y="1828800"/>
            <a:ext cx="8458200" cy="4191000"/>
          </a:xfrm>
        </p:spPr>
        <p:txBody>
          <a:bodyPr/>
          <a:lstStyle/>
          <a:p>
            <a:r>
              <a:rPr lang="en-US"/>
              <a:t>System partition: active partition with OS boot record </a:t>
            </a:r>
          </a:p>
          <a:p>
            <a:r>
              <a:rPr lang="en-US"/>
              <a:t>Boot partition: store Windows 2000/XP OS</a:t>
            </a:r>
          </a:p>
          <a:p>
            <a:r>
              <a:rPr lang="en-US"/>
              <a:t>System and boot partitions are usually the same </a:t>
            </a:r>
          </a:p>
          <a:p>
            <a:r>
              <a:rPr lang="en-US"/>
              <a:t>Each logical drive is formatted with a file system</a:t>
            </a:r>
          </a:p>
          <a:p>
            <a:r>
              <a:rPr lang="en-US"/>
              <a:t>FAT16</a:t>
            </a:r>
          </a:p>
          <a:p>
            <a:pPr lvl="1"/>
            <a:r>
              <a:rPr lang="en-US"/>
              <a:t>16-bit cluster entries</a:t>
            </a:r>
          </a:p>
          <a:p>
            <a:pPr lvl="1"/>
            <a:r>
              <a:rPr lang="en-US"/>
              <a:t>A cluster contains four 512-byte sectors (2,048 bytes)</a:t>
            </a:r>
          </a:p>
          <a:p>
            <a:pPr lvl="1"/>
            <a:r>
              <a:rPr lang="en-US"/>
              <a:t>Minimum of one cluster per file</a:t>
            </a:r>
          </a:p>
          <a:p>
            <a:pPr lvl="1"/>
            <a:r>
              <a:rPr lang="en-US"/>
              <a:t>Slack: wasted space in a cluster (not used by small file)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A+ Guide to Managing and Maintaining your PC, 6e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E9D574F-2033-408A-8250-127B6517F637}" type="slidenum">
              <a:rPr lang="en-US"/>
              <a:pPr/>
              <a:t>24</a:t>
            </a:fld>
            <a:endParaRPr lang="en-US"/>
          </a:p>
        </p:txBody>
      </p:sp>
      <p:sp>
        <p:nvSpPr>
          <p:cNvPr id="602114" name="Rectangle 2"/>
          <p:cNvSpPr>
            <a:spLocks noGrp="1" noChangeArrowheads="1"/>
          </p:cNvSpPr>
          <p:nvPr>
            <p:ph type="title"/>
          </p:nvPr>
        </p:nvSpPr>
        <p:spPr>
          <a:xfrm>
            <a:off x="533400" y="381000"/>
            <a:ext cx="8077200" cy="1219200"/>
          </a:xfrm>
        </p:spPr>
        <p:txBody>
          <a:bodyPr/>
          <a:lstStyle/>
          <a:p>
            <a:r>
              <a:rPr lang="en-US"/>
              <a:t>How Windows 2000/XP Manages Hard Drives (continued)</a:t>
            </a:r>
          </a:p>
        </p:txBody>
      </p:sp>
      <p:sp>
        <p:nvSpPr>
          <p:cNvPr id="602115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457200" y="1828800"/>
            <a:ext cx="8305800" cy="4191000"/>
          </a:xfrm>
        </p:spPr>
        <p:txBody>
          <a:bodyPr/>
          <a:lstStyle/>
          <a:p>
            <a:r>
              <a:rPr lang="en-US"/>
              <a:t>FAT32</a:t>
            </a:r>
          </a:p>
          <a:p>
            <a:pPr lvl="1"/>
            <a:r>
              <a:rPr lang="en-US"/>
              <a:t>Each FAT contains 32 bits per FAT entry</a:t>
            </a:r>
          </a:p>
          <a:p>
            <a:pPr lvl="1"/>
            <a:r>
              <a:rPr lang="en-US"/>
              <a:t>Only 28 bits are used to hold a cluster number </a:t>
            </a:r>
          </a:p>
          <a:p>
            <a:pPr lvl="1"/>
            <a:r>
              <a:rPr lang="en-US"/>
              <a:t>Cluster sizes range between 8KB to 16KB</a:t>
            </a:r>
          </a:p>
          <a:p>
            <a:r>
              <a:rPr lang="en-US"/>
              <a:t>NTFS (New Technology File System)</a:t>
            </a:r>
          </a:p>
          <a:p>
            <a:pPr lvl="1"/>
            <a:r>
              <a:rPr lang="en-US"/>
              <a:t>Master file table (MFT): index for files and directories</a:t>
            </a:r>
          </a:p>
          <a:p>
            <a:pPr lvl="2"/>
            <a:r>
              <a:rPr lang="en-US"/>
              <a:t>Small data files can be contained in the MFT itself</a:t>
            </a:r>
          </a:p>
          <a:p>
            <a:pPr lvl="2"/>
            <a:r>
              <a:rPr lang="en-US"/>
              <a:t>Large data files are pointed to by extended attribute</a:t>
            </a:r>
          </a:p>
          <a:p>
            <a:pPr lvl="1"/>
            <a:r>
              <a:rPr lang="en-US"/>
              <a:t>Range of cluster sizes: 512 bytes to 4KB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1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A+ Guide to Managing and Maintaining your PC, 6e</a:t>
            </a:r>
          </a:p>
        </p:txBody>
      </p:sp>
      <p:sp>
        <p:nvSpPr>
          <p:cNvPr id="5" name="Slide Number Placeholder 2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785A6D2B-4E9F-428B-8492-05E00A655469}" type="slidenum">
              <a:rPr lang="en-US"/>
              <a:pPr/>
              <a:t>25</a:t>
            </a:fld>
            <a:endParaRPr lang="en-US"/>
          </a:p>
        </p:txBody>
      </p:sp>
      <p:pic>
        <p:nvPicPr>
          <p:cNvPr id="603141" name="Picture 5" descr="C11F017"/>
          <p:cNvPicPr>
            <a:picLocks noChangeAspect="1" noChangeArrowheads="1"/>
          </p:cNvPicPr>
          <p:nvPr/>
        </p:nvPicPr>
        <p:blipFill>
          <a:blip r:embed="rId2" cstate="print">
            <a:lum bright="-6000"/>
          </a:blip>
          <a:srcRect/>
          <a:stretch>
            <a:fillRect/>
          </a:stretch>
        </p:blipFill>
        <p:spPr bwMode="auto">
          <a:xfrm>
            <a:off x="2667000" y="1219200"/>
            <a:ext cx="3624263" cy="3322638"/>
          </a:xfrm>
          <a:prstGeom prst="rect">
            <a:avLst/>
          </a:prstGeom>
          <a:noFill/>
        </p:spPr>
      </p:pic>
      <p:sp>
        <p:nvSpPr>
          <p:cNvPr id="603142" name="Rectangle 6"/>
          <p:cNvSpPr>
            <a:spLocks noChangeArrowheads="1"/>
          </p:cNvSpPr>
          <p:nvPr/>
        </p:nvSpPr>
        <p:spPr bwMode="auto">
          <a:xfrm>
            <a:off x="2209800" y="4648200"/>
            <a:ext cx="4876800" cy="9159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anchor="b" anchorCtr="1">
            <a:spAutoFit/>
          </a:bodyPr>
          <a:lstStyle/>
          <a:p>
            <a:r>
              <a:rPr lang="en-US" sz="1800" b="1">
                <a:solidFill>
                  <a:srgbClr val="222222"/>
                </a:solidFill>
                <a:latin typeface="Arial" charset="0"/>
              </a:rPr>
              <a:t>Figure 11-17 </a:t>
            </a:r>
            <a:r>
              <a:rPr lang="en-US" sz="1800">
                <a:solidFill>
                  <a:srgbClr val="222222"/>
                </a:solidFill>
                <a:latin typeface="Arial" charset="0"/>
              </a:rPr>
              <a:t>The NTFS file system uses a master file table to store files using three methods, depending on the file size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A+ Guide to Managing and Maintaining your PC, 6e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0224FA9E-55DD-4A0D-92C8-320993D23861}" type="slidenum">
              <a:rPr lang="en-US"/>
              <a:pPr/>
              <a:t>26</a:t>
            </a:fld>
            <a:endParaRPr lang="en-US"/>
          </a:p>
        </p:txBody>
      </p:sp>
      <p:sp>
        <p:nvSpPr>
          <p:cNvPr id="604162" name="Rectangle 2"/>
          <p:cNvSpPr>
            <a:spLocks noGrp="1" noChangeArrowheads="1"/>
          </p:cNvSpPr>
          <p:nvPr>
            <p:ph type="title"/>
          </p:nvPr>
        </p:nvSpPr>
        <p:spPr>
          <a:xfrm>
            <a:off x="533400" y="381000"/>
            <a:ext cx="8077200" cy="1219200"/>
          </a:xfrm>
        </p:spPr>
        <p:txBody>
          <a:bodyPr/>
          <a:lstStyle/>
          <a:p>
            <a:r>
              <a:rPr lang="en-US"/>
              <a:t>How Windows 2000/XP Manages Hard Drives (continued)</a:t>
            </a:r>
          </a:p>
        </p:txBody>
      </p:sp>
      <p:sp>
        <p:nvSpPr>
          <p:cNvPr id="604163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457200" y="1828800"/>
            <a:ext cx="8305800" cy="4191000"/>
          </a:xfrm>
        </p:spPr>
        <p:txBody>
          <a:bodyPr/>
          <a:lstStyle/>
          <a:p>
            <a:r>
              <a:rPr lang="en-US"/>
              <a:t>Some advantages of NTFS over FAT</a:t>
            </a:r>
          </a:p>
          <a:p>
            <a:pPr lvl="1"/>
            <a:r>
              <a:rPr lang="en-US"/>
              <a:t>NTFS is a recoverable file system</a:t>
            </a:r>
          </a:p>
          <a:p>
            <a:pPr lvl="1"/>
            <a:r>
              <a:rPr lang="en-US"/>
              <a:t>NTFS under supports encryption and disk quotas</a:t>
            </a:r>
          </a:p>
          <a:p>
            <a:r>
              <a:rPr lang="en-US"/>
              <a:t>Advantages of FAT over NTFS</a:t>
            </a:r>
          </a:p>
          <a:p>
            <a:pPr lvl="1"/>
            <a:r>
              <a:rPr lang="en-US"/>
              <a:t>FAT is better for hard drives &lt; 500 MB (low overhead)</a:t>
            </a:r>
          </a:p>
          <a:p>
            <a:pPr lvl="1"/>
            <a:r>
              <a:rPr lang="en-US"/>
              <a:t>FAT is compatible with Windows 9x/Me and DOS</a:t>
            </a:r>
          </a:p>
          <a:p>
            <a:r>
              <a:rPr lang="en-US"/>
              <a:t>Some reasons for more partitions and logical drives</a:t>
            </a:r>
          </a:p>
          <a:p>
            <a:pPr lvl="1"/>
            <a:r>
              <a:rPr lang="en-US"/>
              <a:t>You are creating a dual-boot system (two OSs)</a:t>
            </a:r>
          </a:p>
          <a:p>
            <a:pPr lvl="1"/>
            <a:r>
              <a:rPr lang="en-US"/>
              <a:t>To improve data organization; e.g., a drive for backup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1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A+ Guide to Managing and Maintaining your PC, 6e</a:t>
            </a:r>
          </a:p>
        </p:txBody>
      </p:sp>
      <p:sp>
        <p:nvSpPr>
          <p:cNvPr id="5" name="Slide Number Placeholder 2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01377D11-8BC3-4D9A-A141-E73AA2AA03D6}" type="slidenum">
              <a:rPr lang="en-US"/>
              <a:pPr/>
              <a:t>27</a:t>
            </a:fld>
            <a:endParaRPr lang="en-US"/>
          </a:p>
        </p:txBody>
      </p:sp>
      <p:pic>
        <p:nvPicPr>
          <p:cNvPr id="605189" name="Picture 5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728788" y="1571625"/>
            <a:ext cx="5684837" cy="37131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605190" name="Rectangle 6"/>
          <p:cNvSpPr>
            <a:spLocks noChangeArrowheads="1"/>
          </p:cNvSpPr>
          <p:nvPr/>
        </p:nvSpPr>
        <p:spPr bwMode="auto">
          <a:xfrm>
            <a:off x="1600200" y="5486400"/>
            <a:ext cx="6096000" cy="6413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anchor="b" anchorCtr="1">
            <a:spAutoFit/>
          </a:bodyPr>
          <a:lstStyle/>
          <a:p>
            <a:r>
              <a:rPr lang="en-US" sz="1800" b="1">
                <a:solidFill>
                  <a:srgbClr val="222222"/>
                </a:solidFill>
                <a:latin typeface="Arial" charset="0"/>
              </a:rPr>
              <a:t>Table 11-2 </a:t>
            </a:r>
            <a:r>
              <a:rPr lang="en-US" sz="1800">
                <a:solidFill>
                  <a:srgbClr val="222222"/>
                </a:solidFill>
                <a:latin typeface="Arial" charset="0"/>
              </a:rPr>
              <a:t>Size of some logical drives compared to cluster size for FAT16, FAT32, and NTFS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A+ Guide to Managing and Maintaining your PC, 6e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AD106455-D3A1-469C-9553-8477268202B0}" type="slidenum">
              <a:rPr lang="en-US"/>
              <a:pPr/>
              <a:t>28</a:t>
            </a:fld>
            <a:endParaRPr lang="en-US"/>
          </a:p>
        </p:txBody>
      </p:sp>
      <p:sp>
        <p:nvSpPr>
          <p:cNvPr id="606210" name="Rectangle 2"/>
          <p:cNvSpPr>
            <a:spLocks noGrp="1" noChangeArrowheads="1"/>
          </p:cNvSpPr>
          <p:nvPr>
            <p:ph type="title"/>
          </p:nvPr>
        </p:nvSpPr>
        <p:spPr>
          <a:xfrm>
            <a:off x="533400" y="381000"/>
            <a:ext cx="8077200" cy="1219200"/>
          </a:xfrm>
        </p:spPr>
        <p:txBody>
          <a:bodyPr/>
          <a:lstStyle/>
          <a:p>
            <a:r>
              <a:rPr lang="en-US"/>
              <a:t>When to Use Windows 2000 and Windows XP </a:t>
            </a:r>
          </a:p>
        </p:txBody>
      </p:sp>
      <p:sp>
        <p:nvSpPr>
          <p:cNvPr id="60621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Advantages of Windows XP over Windows 2000</a:t>
            </a:r>
          </a:p>
          <a:p>
            <a:pPr lvl="1"/>
            <a:r>
              <a:rPr lang="en-US"/>
              <a:t>Greater stability </a:t>
            </a:r>
          </a:p>
          <a:p>
            <a:pPr lvl="1"/>
            <a:r>
              <a:rPr lang="en-US"/>
              <a:t>Easier installation</a:t>
            </a:r>
          </a:p>
          <a:p>
            <a:pPr lvl="1"/>
            <a:r>
              <a:rPr lang="en-US"/>
              <a:t>Increased security</a:t>
            </a:r>
          </a:p>
          <a:p>
            <a:pPr lvl="1"/>
            <a:r>
              <a:rPr lang="en-US"/>
              <a:t>Better driver support</a:t>
            </a:r>
          </a:p>
          <a:p>
            <a:r>
              <a:rPr lang="en-US"/>
              <a:t>When to retain Windows 2000</a:t>
            </a:r>
          </a:p>
          <a:p>
            <a:pPr lvl="1"/>
            <a:r>
              <a:rPr lang="en-US"/>
              <a:t>The OS was included with a notebook 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A+ Guide to Managing and Maintaining your PC, 6e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3252076-D3DD-4D6B-B528-C59099640439}" type="slidenum">
              <a:rPr lang="en-US"/>
              <a:pPr/>
              <a:t>29</a:t>
            </a:fld>
            <a:endParaRPr lang="en-US"/>
          </a:p>
        </p:txBody>
      </p:sp>
      <p:sp>
        <p:nvSpPr>
          <p:cNvPr id="60723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Plan the Windows 2000/XP Installation</a:t>
            </a:r>
          </a:p>
        </p:txBody>
      </p:sp>
      <p:sp>
        <p:nvSpPr>
          <p:cNvPr id="607235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457200" y="1676400"/>
            <a:ext cx="8229600" cy="4572000"/>
          </a:xfrm>
        </p:spPr>
        <p:txBody>
          <a:bodyPr/>
          <a:lstStyle/>
          <a:p>
            <a:r>
              <a:rPr lang="en-US"/>
              <a:t>Careful planning will improve the installation process</a:t>
            </a:r>
          </a:p>
          <a:p>
            <a:r>
              <a:rPr lang="en-US"/>
              <a:t>Preparatory steps:</a:t>
            </a:r>
          </a:p>
          <a:p>
            <a:pPr lvl="1"/>
            <a:r>
              <a:rPr lang="en-US"/>
              <a:t>Verify that the system hardware can support the OS</a:t>
            </a:r>
          </a:p>
          <a:p>
            <a:pPr lvl="1"/>
            <a:r>
              <a:rPr lang="en-US"/>
              <a:t>Decide about Windows 2000/XP installation option</a:t>
            </a:r>
          </a:p>
          <a:p>
            <a:pPr lvl="1"/>
            <a:r>
              <a:rPr lang="en-US"/>
              <a:t>Decide how the drive will be partitioned and formatted </a:t>
            </a:r>
          </a:p>
          <a:p>
            <a:pPr lvl="1"/>
            <a:r>
              <a:rPr lang="en-US"/>
              <a:t>Decide how your computer will connect to a network</a:t>
            </a:r>
          </a:p>
          <a:p>
            <a:pPr lvl="1"/>
            <a:r>
              <a:rPr lang="en-US"/>
              <a:t>Decide how the installation process will work</a:t>
            </a:r>
          </a:p>
          <a:p>
            <a:pPr lvl="1"/>
            <a:r>
              <a:rPr lang="en-US"/>
              <a:t>Use a checklist to verify steps have been completed</a:t>
            </a:r>
          </a:p>
          <a:p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1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A+ Guide to Managing and Maintaining your PC, 6e</a:t>
            </a:r>
          </a:p>
        </p:txBody>
      </p:sp>
      <p:sp>
        <p:nvSpPr>
          <p:cNvPr id="5" name="Slide Number Placeholder 2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A89D1C8-2B30-425B-BD65-9697F8024B3F}" type="slidenum">
              <a:rPr lang="en-US"/>
              <a:pPr/>
              <a:t>30</a:t>
            </a:fld>
            <a:endParaRPr lang="en-US"/>
          </a:p>
        </p:txBody>
      </p:sp>
      <p:pic>
        <p:nvPicPr>
          <p:cNvPr id="608263" name="Picture 7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447800" y="1676400"/>
            <a:ext cx="6019800" cy="26209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608264" name="Rectangle 8"/>
          <p:cNvSpPr>
            <a:spLocks noChangeArrowheads="1"/>
          </p:cNvSpPr>
          <p:nvPr/>
        </p:nvSpPr>
        <p:spPr bwMode="auto">
          <a:xfrm>
            <a:off x="1295400" y="4572000"/>
            <a:ext cx="6629400" cy="6413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anchor="b" anchorCtr="1">
            <a:spAutoFit/>
          </a:bodyPr>
          <a:lstStyle/>
          <a:p>
            <a:r>
              <a:rPr lang="en-US" sz="1800" b="1">
                <a:solidFill>
                  <a:srgbClr val="222222"/>
                </a:solidFill>
                <a:latin typeface="Arial" charset="0"/>
              </a:rPr>
              <a:t>Table 11-3 </a:t>
            </a:r>
            <a:r>
              <a:rPr lang="en-US" sz="1800">
                <a:solidFill>
                  <a:srgbClr val="222222"/>
                </a:solidFill>
                <a:latin typeface="Arial" charset="0"/>
              </a:rPr>
              <a:t>Minimum and recommended requirements for Windows XP Professional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A+ Guide to Managing and Maintaining your PC, 6e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85B50C9-62D4-4FE6-BBFC-EC0E2F4A98F7}" type="slidenum">
              <a:rPr lang="en-US"/>
              <a:pPr/>
              <a:t>31</a:t>
            </a:fld>
            <a:endParaRPr lang="en-US"/>
          </a:p>
        </p:txBody>
      </p:sp>
      <p:sp>
        <p:nvSpPr>
          <p:cNvPr id="609282" name="Rectangle 2"/>
          <p:cNvSpPr>
            <a:spLocks noGrp="1" noChangeArrowheads="1"/>
          </p:cNvSpPr>
          <p:nvPr>
            <p:ph type="title"/>
          </p:nvPr>
        </p:nvSpPr>
        <p:spPr>
          <a:xfrm>
            <a:off x="533400" y="381000"/>
            <a:ext cx="8077200" cy="1219200"/>
          </a:xfrm>
        </p:spPr>
        <p:txBody>
          <a:bodyPr/>
          <a:lstStyle/>
          <a:p>
            <a:r>
              <a:rPr lang="en-US"/>
              <a:t>Minimum Requirements and  Hardware Compatibility</a:t>
            </a:r>
          </a:p>
        </p:txBody>
      </p:sp>
      <p:sp>
        <p:nvSpPr>
          <p:cNvPr id="60928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Questions to ask to verify system specifications:</a:t>
            </a:r>
          </a:p>
          <a:p>
            <a:pPr lvl="1"/>
            <a:r>
              <a:rPr lang="en-US"/>
              <a:t>What CPU and how much RAM is installed?</a:t>
            </a:r>
          </a:p>
          <a:p>
            <a:pPr lvl="1"/>
            <a:r>
              <a:rPr lang="en-US"/>
              <a:t>How much hard drive space is available?</a:t>
            </a:r>
          </a:p>
          <a:p>
            <a:pPr lvl="1"/>
            <a:r>
              <a:rPr lang="en-US"/>
              <a:t>Does my motherboard BIOS qualify?</a:t>
            </a:r>
          </a:p>
          <a:p>
            <a:pPr lvl="1"/>
            <a:r>
              <a:rPr lang="en-US"/>
              <a:t>Will my software work under Windows 2000/XP?</a:t>
            </a:r>
          </a:p>
          <a:p>
            <a:pPr lvl="1"/>
            <a:r>
              <a:rPr lang="en-US"/>
              <a:t>Will my hardware work under Windows 2000/XP?</a:t>
            </a:r>
          </a:p>
          <a:p>
            <a:pPr lvl="1"/>
            <a:r>
              <a:rPr lang="en-US"/>
              <a:t>What if I can’t find the drivers?</a:t>
            </a:r>
          </a:p>
          <a:p>
            <a:pPr lvl="1"/>
            <a:endParaRPr lang="en-US"/>
          </a:p>
          <a:p>
            <a:pPr lvl="1"/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1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A+ Guide to Managing and Maintaining your PC, 6e</a:t>
            </a:r>
          </a:p>
        </p:txBody>
      </p:sp>
      <p:sp>
        <p:nvSpPr>
          <p:cNvPr id="5" name="Slide Number Placeholder 2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A66009A5-B0BD-4A75-AA21-284B37A91B6B}" type="slidenum">
              <a:rPr lang="en-US"/>
              <a:pPr/>
              <a:t>32</a:t>
            </a:fld>
            <a:endParaRPr lang="en-US"/>
          </a:p>
        </p:txBody>
      </p:sp>
      <p:pic>
        <p:nvPicPr>
          <p:cNvPr id="610309" name="Picture 5" descr="C11F019"/>
          <p:cNvPicPr>
            <a:picLocks noChangeAspect="1" noChangeArrowheads="1"/>
          </p:cNvPicPr>
          <p:nvPr/>
        </p:nvPicPr>
        <p:blipFill>
          <a:blip r:embed="rId2" cstate="print">
            <a:lum bright="-6000"/>
          </a:blip>
          <a:srcRect/>
          <a:stretch>
            <a:fillRect/>
          </a:stretch>
        </p:blipFill>
        <p:spPr bwMode="auto">
          <a:xfrm>
            <a:off x="2971800" y="1752600"/>
            <a:ext cx="3048000" cy="3048000"/>
          </a:xfrm>
          <a:prstGeom prst="rect">
            <a:avLst/>
          </a:prstGeom>
          <a:noFill/>
        </p:spPr>
      </p:pic>
      <p:sp>
        <p:nvSpPr>
          <p:cNvPr id="610310" name="Rectangle 6"/>
          <p:cNvSpPr>
            <a:spLocks noChangeArrowheads="1"/>
          </p:cNvSpPr>
          <p:nvPr/>
        </p:nvSpPr>
        <p:spPr bwMode="auto">
          <a:xfrm>
            <a:off x="1981200" y="4953000"/>
            <a:ext cx="5562600" cy="6413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anchor="b" anchorCtr="1">
            <a:spAutoFit/>
          </a:bodyPr>
          <a:lstStyle/>
          <a:p>
            <a:r>
              <a:rPr lang="en-US" sz="1800" b="1">
                <a:solidFill>
                  <a:srgbClr val="222222"/>
                </a:solidFill>
                <a:latin typeface="Arial" charset="0"/>
              </a:rPr>
              <a:t>Figure 11-19 </a:t>
            </a:r>
            <a:r>
              <a:rPr lang="en-US" sz="1800">
                <a:solidFill>
                  <a:srgbClr val="222222"/>
                </a:solidFill>
                <a:latin typeface="Arial" charset="0"/>
              </a:rPr>
              <a:t>Make sure you have enough free hard drive space for Windows 2000/XP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A+ Guide to Managing and Maintaining your PC, 6e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898D499-1486-4278-AF46-B910D8865CA5}" type="slidenum">
              <a:rPr lang="en-US"/>
              <a:pPr/>
              <a:t>33</a:t>
            </a:fld>
            <a:endParaRPr lang="en-US"/>
          </a:p>
        </p:txBody>
      </p:sp>
      <p:sp>
        <p:nvSpPr>
          <p:cNvPr id="61133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Upgrade, Clean Install, Or Dual Boot?</a:t>
            </a:r>
          </a:p>
        </p:txBody>
      </p:sp>
      <p:sp>
        <p:nvSpPr>
          <p:cNvPr id="611331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304800" y="1676400"/>
            <a:ext cx="8534400" cy="4572000"/>
          </a:xfrm>
        </p:spPr>
        <p:txBody>
          <a:bodyPr/>
          <a:lstStyle/>
          <a:p>
            <a:r>
              <a:rPr lang="en-US"/>
              <a:t>Clean install: Windows 2000/XP put on a new drive</a:t>
            </a:r>
          </a:p>
          <a:p>
            <a:r>
              <a:rPr lang="en-US"/>
              <a:t>Clean install – erasing existing installations</a:t>
            </a:r>
          </a:p>
          <a:p>
            <a:pPr lvl="1"/>
            <a:r>
              <a:rPr lang="en-US"/>
              <a:t>Advantage: you start with a brand new operating system</a:t>
            </a:r>
          </a:p>
          <a:p>
            <a:pPr lvl="1"/>
            <a:r>
              <a:rPr lang="en-US"/>
              <a:t>Disadvantage: need to restore software and data </a:t>
            </a:r>
          </a:p>
          <a:p>
            <a:r>
              <a:rPr lang="en-US"/>
              <a:t>Decide between an upgrade and a clean install</a:t>
            </a:r>
          </a:p>
          <a:p>
            <a:pPr lvl="1"/>
            <a:r>
              <a:rPr lang="en-US"/>
              <a:t>Upgrades carry software and data into new environment</a:t>
            </a:r>
          </a:p>
          <a:p>
            <a:pPr lvl="1"/>
            <a:r>
              <a:rPr lang="en-US"/>
              <a:t>For certain OSs, an upgrade installation is faster </a:t>
            </a:r>
          </a:p>
          <a:p>
            <a:r>
              <a:rPr lang="en-US"/>
              <a:t>Creating a dual boot</a:t>
            </a:r>
          </a:p>
          <a:p>
            <a:pPr lvl="1"/>
            <a:r>
              <a:rPr lang="en-US"/>
              <a:t>At least two partitions on the hard drive are required</a:t>
            </a:r>
          </a:p>
          <a:p>
            <a:pPr lvl="1"/>
            <a:r>
              <a:rPr lang="en-US"/>
              <a:t>Only perform this operation when two OSs are needed 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A+ Guide to Managing and Maintaining your PC, 6e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E0CE9E1-D9B4-4048-90EB-DD72D4E26D92}" type="slidenum">
              <a:rPr lang="en-US"/>
              <a:pPr/>
              <a:t>34</a:t>
            </a:fld>
            <a:endParaRPr lang="en-US"/>
          </a:p>
        </p:txBody>
      </p:sp>
      <p:sp>
        <p:nvSpPr>
          <p:cNvPr id="61235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Hard Drive Partitions and File Systems</a:t>
            </a:r>
          </a:p>
        </p:txBody>
      </p:sp>
      <p:sp>
        <p:nvSpPr>
          <p:cNvPr id="61235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Minimum space required:</a:t>
            </a:r>
          </a:p>
          <a:p>
            <a:pPr lvl="1"/>
            <a:r>
              <a:rPr lang="en-US"/>
              <a:t>Windows XP: 2 GB for partition and 1.5 GB free </a:t>
            </a:r>
          </a:p>
          <a:p>
            <a:pPr lvl="1"/>
            <a:r>
              <a:rPr lang="en-US"/>
              <a:t>Windows 2000: 650 MB for partition; use &gt; 2 GB</a:t>
            </a:r>
          </a:p>
          <a:p>
            <a:r>
              <a:rPr lang="en-US"/>
              <a:t>You can install OS on partition used by another OS</a:t>
            </a:r>
          </a:p>
          <a:p>
            <a:pPr lvl="1"/>
            <a:r>
              <a:rPr lang="en-US"/>
              <a:t>Consequence: the existing OS will be overwritten</a:t>
            </a:r>
          </a:p>
          <a:p>
            <a:r>
              <a:rPr lang="en-US"/>
              <a:t>Ensure that partitions on hard drive are adequate</a:t>
            </a:r>
          </a:p>
          <a:p>
            <a:pPr lvl="1"/>
            <a:r>
              <a:rPr lang="en-US"/>
              <a:t>Check disk usage with Fdisk or Disk Management</a:t>
            </a:r>
          </a:p>
          <a:p>
            <a:r>
              <a:rPr lang="en-US"/>
              <a:t>Select a file system</a:t>
            </a:r>
          </a:p>
          <a:p>
            <a:pPr lvl="1"/>
            <a:r>
              <a:rPr lang="en-US"/>
              <a:t>Choices: NTFS, FAT32, and FAT16  </a:t>
            </a:r>
          </a:p>
          <a:p>
            <a:pPr lvl="1"/>
            <a:r>
              <a:rPr lang="en-US"/>
              <a:t>Needs, such as dual-booting, drive choice  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A+ Guide to Managing and Maintaining your PC, 6e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5EADB72-F042-4226-823C-68A2538B11E6}" type="slidenum">
              <a:rPr lang="en-US"/>
              <a:pPr/>
              <a:t>35</a:t>
            </a:fld>
            <a:endParaRPr lang="en-US"/>
          </a:p>
        </p:txBody>
      </p:sp>
      <p:sp>
        <p:nvSpPr>
          <p:cNvPr id="613378" name="Rectangle 2"/>
          <p:cNvSpPr>
            <a:spLocks noGrp="1" noChangeArrowheads="1"/>
          </p:cNvSpPr>
          <p:nvPr>
            <p:ph type="title"/>
          </p:nvPr>
        </p:nvSpPr>
        <p:spPr>
          <a:xfrm>
            <a:off x="533400" y="381000"/>
            <a:ext cx="8077200" cy="1295400"/>
          </a:xfrm>
        </p:spPr>
        <p:txBody>
          <a:bodyPr/>
          <a:lstStyle/>
          <a:p>
            <a:r>
              <a:rPr lang="en-US"/>
              <a:t>Will the PC Join a Workgroup or Domain?</a:t>
            </a:r>
          </a:p>
        </p:txBody>
      </p:sp>
      <p:sp>
        <p:nvSpPr>
          <p:cNvPr id="613379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304800" y="1752600"/>
            <a:ext cx="8610600" cy="4572000"/>
          </a:xfrm>
        </p:spPr>
        <p:txBody>
          <a:bodyPr/>
          <a:lstStyle/>
          <a:p>
            <a:r>
              <a:rPr lang="en-US"/>
              <a:t>Use a workgroup for a network with &lt; 10 nodes </a:t>
            </a:r>
          </a:p>
          <a:p>
            <a:pPr lvl="1"/>
            <a:r>
              <a:rPr lang="en-US"/>
              <a:t>Each account is set up on local computer</a:t>
            </a:r>
          </a:p>
          <a:p>
            <a:pPr lvl="1"/>
            <a:r>
              <a:rPr lang="en-US"/>
              <a:t>No centralized control</a:t>
            </a:r>
          </a:p>
          <a:p>
            <a:r>
              <a:rPr lang="en-US"/>
              <a:t>When to use a domain controller running an NOS</a:t>
            </a:r>
          </a:p>
          <a:p>
            <a:pPr lvl="1"/>
            <a:r>
              <a:rPr lang="en-US"/>
              <a:t>The network has more than 10 nodes </a:t>
            </a:r>
          </a:p>
          <a:p>
            <a:pPr lvl="1"/>
            <a:r>
              <a:rPr lang="en-US"/>
              <a:t>Centralized administrative control is needed</a:t>
            </a:r>
          </a:p>
          <a:p>
            <a:r>
              <a:rPr lang="en-US"/>
              <a:t>Things to know before beginning an installation:</a:t>
            </a:r>
          </a:p>
          <a:p>
            <a:pPr lvl="1"/>
            <a:r>
              <a:rPr lang="en-US"/>
              <a:t>Computer workgroup names for peer-to-peer network</a:t>
            </a:r>
          </a:p>
          <a:p>
            <a:pPr lvl="1"/>
            <a:r>
              <a:rPr lang="en-US"/>
              <a:t>Username, user password, computer and domain names</a:t>
            </a:r>
          </a:p>
          <a:p>
            <a:pPr lvl="1"/>
            <a:r>
              <a:rPr lang="en-US"/>
              <a:t>For TCP/IP networks, know how IP address is assigned  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A+ Guide to Managing and Maintaining your PC, 6e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2E8DEAE-65D3-43EA-A6DE-9C098C6DF243}" type="slidenum">
              <a:rPr lang="en-US"/>
              <a:pPr/>
              <a:t>36</a:t>
            </a:fld>
            <a:endParaRPr lang="en-US"/>
          </a:p>
        </p:txBody>
      </p:sp>
      <p:sp>
        <p:nvSpPr>
          <p:cNvPr id="614402" name="Rectangle 2"/>
          <p:cNvSpPr>
            <a:spLocks noGrp="1" noChangeArrowheads="1"/>
          </p:cNvSpPr>
          <p:nvPr>
            <p:ph type="title"/>
          </p:nvPr>
        </p:nvSpPr>
        <p:spPr>
          <a:xfrm>
            <a:off x="533400" y="381000"/>
            <a:ext cx="8077200" cy="1219200"/>
          </a:xfrm>
        </p:spPr>
        <p:txBody>
          <a:bodyPr/>
          <a:lstStyle/>
          <a:p>
            <a:r>
              <a:rPr lang="en-US"/>
              <a:t>How Will the Installation Process Work?</a:t>
            </a:r>
          </a:p>
        </p:txBody>
      </p:sp>
      <p:sp>
        <p:nvSpPr>
          <p:cNvPr id="614403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533400" y="1676400"/>
            <a:ext cx="8305800" cy="4572000"/>
          </a:xfrm>
        </p:spPr>
        <p:txBody>
          <a:bodyPr/>
          <a:lstStyle/>
          <a:p>
            <a:r>
              <a:rPr lang="en-US"/>
              <a:t>If PC is not part of a network, install from setup CD</a:t>
            </a:r>
          </a:p>
          <a:p>
            <a:r>
              <a:rPr lang="en-US"/>
              <a:t>If PC is part of a network, you have two choices:</a:t>
            </a:r>
          </a:p>
          <a:p>
            <a:pPr lvl="1"/>
            <a:r>
              <a:rPr lang="en-US"/>
              <a:t>Install the OS from the Windows 2000/XP setup CD</a:t>
            </a:r>
          </a:p>
          <a:p>
            <a:pPr lvl="1"/>
            <a:r>
              <a:rPr lang="en-US"/>
              <a:t>Install OS from file server (files copied from setup CD)</a:t>
            </a:r>
          </a:p>
          <a:p>
            <a:r>
              <a:rPr lang="en-US"/>
              <a:t>Two options for automated installation:</a:t>
            </a:r>
          </a:p>
          <a:p>
            <a:pPr lvl="1"/>
            <a:r>
              <a:rPr lang="en-US"/>
              <a:t>Unattended installation (based on an answer file)</a:t>
            </a:r>
          </a:p>
          <a:p>
            <a:pPr lvl="1"/>
            <a:r>
              <a:rPr lang="en-US"/>
              <a:t>Drive imaging (or disk cloning)</a:t>
            </a:r>
          </a:p>
          <a:p>
            <a:r>
              <a:rPr lang="en-US"/>
              <a:t>Options for proceeding through the installation:</a:t>
            </a:r>
          </a:p>
          <a:p>
            <a:pPr lvl="1"/>
            <a:r>
              <a:rPr lang="en-US"/>
              <a:t>Custom, Typical, Express, or others  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A+ Guide to Managing and Maintaining your PC, 6e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95B14876-340E-48EA-BA70-4EA982CB5358}" type="slidenum">
              <a:rPr lang="en-US"/>
              <a:pPr/>
              <a:t>37</a:t>
            </a:fld>
            <a:endParaRPr lang="en-US"/>
          </a:p>
        </p:txBody>
      </p:sp>
      <p:sp>
        <p:nvSpPr>
          <p:cNvPr id="61542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Final Checklist</a:t>
            </a:r>
          </a:p>
        </p:txBody>
      </p:sp>
      <p:sp>
        <p:nvSpPr>
          <p:cNvPr id="61542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A checklist summarizes the steps for preparation  </a:t>
            </a:r>
          </a:p>
          <a:p>
            <a:r>
              <a:rPr lang="en-US"/>
              <a:t>Complete the checklist before starting installation 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1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A+ Guide to Managing and Maintaining your PC, 6e</a:t>
            </a:r>
          </a:p>
        </p:txBody>
      </p:sp>
      <p:sp>
        <p:nvSpPr>
          <p:cNvPr id="5" name="Slide Number Placeholder 2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187E9E5-291B-46E4-A8CA-21421B266DDA}" type="slidenum">
              <a:rPr lang="en-US"/>
              <a:pPr/>
              <a:t>38</a:t>
            </a:fld>
            <a:endParaRPr lang="en-US"/>
          </a:p>
        </p:txBody>
      </p:sp>
      <p:pic>
        <p:nvPicPr>
          <p:cNvPr id="616453" name="Picture 5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447800" y="914400"/>
            <a:ext cx="5726113" cy="406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616454" name="Rectangle 6"/>
          <p:cNvSpPr>
            <a:spLocks noChangeArrowheads="1"/>
          </p:cNvSpPr>
          <p:nvPr/>
        </p:nvSpPr>
        <p:spPr bwMode="auto">
          <a:xfrm>
            <a:off x="0" y="5254625"/>
            <a:ext cx="9144000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 algn="ctr"/>
            <a:r>
              <a:rPr lang="en-US" sz="1800" b="1">
                <a:solidFill>
                  <a:srgbClr val="222222"/>
                </a:solidFill>
                <a:latin typeface="Arial" charset="0"/>
              </a:rPr>
              <a:t>Table 11-4 </a:t>
            </a:r>
            <a:r>
              <a:rPr lang="en-US" sz="1800">
                <a:solidFill>
                  <a:srgbClr val="222222"/>
                </a:solidFill>
                <a:latin typeface="Arial" charset="0"/>
              </a:rPr>
              <a:t>Checklist to complete before installing Windows 2000/XP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A+ Guide to Managing and Maintaining your PC, 6e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32AFF623-6DEE-41C9-A0C1-23EB47DBC8F0}" type="slidenum">
              <a:rPr lang="en-US"/>
              <a:pPr/>
              <a:t>39</a:t>
            </a:fld>
            <a:endParaRPr lang="en-US"/>
          </a:p>
        </p:txBody>
      </p:sp>
      <p:sp>
        <p:nvSpPr>
          <p:cNvPr id="61747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Steps to Install Windows XP</a:t>
            </a:r>
          </a:p>
        </p:txBody>
      </p:sp>
      <p:sp>
        <p:nvSpPr>
          <p:cNvPr id="617475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381000" y="1676400"/>
            <a:ext cx="8534400" cy="4572000"/>
          </a:xfrm>
        </p:spPr>
        <p:txBody>
          <a:bodyPr/>
          <a:lstStyle/>
          <a:p>
            <a:r>
              <a:rPr lang="en-US"/>
              <a:t>General tips about installing Windows XP:</a:t>
            </a:r>
          </a:p>
          <a:p>
            <a:pPr lvl="1"/>
            <a:r>
              <a:rPr lang="en-US"/>
              <a:t>If booting from a CD, verify boot sequence </a:t>
            </a:r>
          </a:p>
          <a:p>
            <a:pPr lvl="1"/>
            <a:r>
              <a:rPr lang="en-US"/>
              <a:t>Disable the PnP feature of motherboard BIOS</a:t>
            </a:r>
          </a:p>
          <a:p>
            <a:pPr lvl="1"/>
            <a:r>
              <a:rPr lang="en-US"/>
              <a:t>Disable virus protection preventing boot sector changes</a:t>
            </a:r>
          </a:p>
          <a:p>
            <a:pPr lvl="1"/>
            <a:r>
              <a:rPr lang="en-US"/>
              <a:t>Select an installation program: Winnt.exe, Winnt32.exe</a:t>
            </a:r>
          </a:p>
          <a:p>
            <a:pPr lvl="1"/>
            <a:r>
              <a:rPr lang="en-US"/>
              <a:t>If internal CD drive not present, boot from external drive</a:t>
            </a:r>
          </a:p>
          <a:p>
            <a:pPr lvl="1"/>
            <a:r>
              <a:rPr lang="en-US"/>
              <a:t>If installing on a notebook, plug in the AC adapter </a:t>
            </a:r>
          </a:p>
          <a:p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1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A+ Guide to Managing and Maintaining your PC, 6e</a:t>
            </a:r>
          </a:p>
        </p:txBody>
      </p:sp>
      <p:sp>
        <p:nvSpPr>
          <p:cNvPr id="5" name="Slide Number Placeholder 2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B78AFE2-C7FF-4F89-9519-C7A67AA89EEA}" type="slidenum">
              <a:rPr lang="en-US"/>
              <a:pPr/>
              <a:t>40</a:t>
            </a:fld>
            <a:endParaRPr lang="en-US"/>
          </a:p>
        </p:txBody>
      </p:sp>
      <p:pic>
        <p:nvPicPr>
          <p:cNvPr id="618501" name="Picture 5" descr="C11F024"/>
          <p:cNvPicPr>
            <a:picLocks noChangeAspect="1" noChangeArrowheads="1"/>
          </p:cNvPicPr>
          <p:nvPr/>
        </p:nvPicPr>
        <p:blipFill>
          <a:blip r:embed="rId2" cstate="print">
            <a:lum bright="-6000"/>
          </a:blip>
          <a:srcRect/>
          <a:stretch>
            <a:fillRect/>
          </a:stretch>
        </p:blipFill>
        <p:spPr bwMode="auto">
          <a:xfrm>
            <a:off x="2209800" y="1447800"/>
            <a:ext cx="4267200" cy="3067050"/>
          </a:xfrm>
          <a:prstGeom prst="rect">
            <a:avLst/>
          </a:prstGeom>
          <a:noFill/>
        </p:spPr>
      </p:pic>
      <p:sp>
        <p:nvSpPr>
          <p:cNvPr id="618502" name="Rectangle 6"/>
          <p:cNvSpPr>
            <a:spLocks noChangeArrowheads="1"/>
          </p:cNvSpPr>
          <p:nvPr/>
        </p:nvSpPr>
        <p:spPr bwMode="auto">
          <a:xfrm>
            <a:off x="1828800" y="4572000"/>
            <a:ext cx="5029200" cy="9159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anchor="b" anchorCtr="1">
            <a:spAutoFit/>
          </a:bodyPr>
          <a:lstStyle/>
          <a:p>
            <a:r>
              <a:rPr lang="en-US" sz="1800" b="1">
                <a:solidFill>
                  <a:srgbClr val="222222"/>
                </a:solidFill>
                <a:latin typeface="Arial" charset="0"/>
              </a:rPr>
              <a:t>Figure 11-24 </a:t>
            </a:r>
            <a:r>
              <a:rPr lang="en-US" sz="1800">
                <a:solidFill>
                  <a:srgbClr val="222222"/>
                </a:solidFill>
                <a:latin typeface="Arial" charset="0"/>
              </a:rPr>
              <a:t>Use CMOS setup to verify the boot sequence looks to the optical drive before it checks the hard drive for an operating system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A+ Guide to Managing and Maintaining your PC, 6e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3463ED63-6D20-4C56-8284-11BFAA418DC0}" type="slidenum">
              <a:rPr lang="en-US"/>
              <a:pPr/>
              <a:t>41</a:t>
            </a:fld>
            <a:endParaRPr lang="en-US"/>
          </a:p>
        </p:txBody>
      </p:sp>
      <p:sp>
        <p:nvSpPr>
          <p:cNvPr id="619522" name="Rectangle 2"/>
          <p:cNvSpPr>
            <a:spLocks noGrp="1" noChangeArrowheads="1"/>
          </p:cNvSpPr>
          <p:nvPr>
            <p:ph type="title"/>
          </p:nvPr>
        </p:nvSpPr>
        <p:spPr>
          <a:xfrm>
            <a:off x="533400" y="381000"/>
            <a:ext cx="8077200" cy="1371600"/>
          </a:xfrm>
        </p:spPr>
        <p:txBody>
          <a:bodyPr/>
          <a:lstStyle/>
          <a:p>
            <a:r>
              <a:rPr lang="en-US"/>
              <a:t>Windows XP Clean Install When an OS is Not Already Installed</a:t>
            </a:r>
          </a:p>
        </p:txBody>
      </p:sp>
      <p:sp>
        <p:nvSpPr>
          <p:cNvPr id="619523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533400" y="1828800"/>
            <a:ext cx="8229600" cy="4572000"/>
          </a:xfrm>
        </p:spPr>
        <p:txBody>
          <a:bodyPr/>
          <a:lstStyle/>
          <a:p>
            <a:r>
              <a:rPr lang="en-US"/>
              <a:t>Overview of instructions:</a:t>
            </a:r>
          </a:p>
          <a:p>
            <a:pPr lvl="1"/>
            <a:r>
              <a:rPr lang="en-US"/>
              <a:t>Boot from the Windows XP CD</a:t>
            </a:r>
          </a:p>
          <a:p>
            <a:pPr lvl="1"/>
            <a:r>
              <a:rPr lang="en-US"/>
              <a:t>Create and delete partitions; select OS partition</a:t>
            </a:r>
          </a:p>
          <a:p>
            <a:pPr lvl="1"/>
            <a:r>
              <a:rPr lang="en-US"/>
              <a:t>Format the partition using NTFS or FAT</a:t>
            </a:r>
          </a:p>
          <a:p>
            <a:pPr lvl="1"/>
            <a:r>
              <a:rPr lang="en-US"/>
              <a:t>Select your geographical location </a:t>
            </a:r>
          </a:p>
          <a:p>
            <a:pPr lvl="1"/>
            <a:r>
              <a:rPr lang="en-US"/>
              <a:t>Enter your name, organization name, product key</a:t>
            </a:r>
          </a:p>
          <a:p>
            <a:pPr lvl="1"/>
            <a:r>
              <a:rPr lang="en-US"/>
              <a:t>Enter computer name and Administrator password</a:t>
            </a:r>
          </a:p>
          <a:p>
            <a:pPr lvl="1"/>
            <a:r>
              <a:rPr lang="en-US"/>
              <a:t>Select the date, time, and time zone</a:t>
            </a:r>
          </a:p>
          <a:p>
            <a:pPr lvl="1"/>
            <a:r>
              <a:rPr lang="en-US"/>
              <a:t>Configure network settings (if connected to a network)</a:t>
            </a:r>
          </a:p>
          <a:p>
            <a:pPr lvl="1"/>
            <a:r>
              <a:rPr lang="en-US"/>
              <a:t>Enter a workgroup or domain name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1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A+ Guide to Managing and Maintaining your PC, 6e</a:t>
            </a:r>
          </a:p>
        </p:txBody>
      </p:sp>
      <p:sp>
        <p:nvSpPr>
          <p:cNvPr id="5" name="Slide Number Placeholder 2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08B9555-0BC8-46A7-9624-A1A4BC178E2E}" type="slidenum">
              <a:rPr lang="en-US"/>
              <a:pPr/>
              <a:t>42</a:t>
            </a:fld>
            <a:endParaRPr lang="en-US"/>
          </a:p>
        </p:txBody>
      </p:sp>
      <p:pic>
        <p:nvPicPr>
          <p:cNvPr id="620549" name="Picture 5" descr="C11F026"/>
          <p:cNvPicPr>
            <a:picLocks noChangeAspect="1" noChangeArrowheads="1"/>
          </p:cNvPicPr>
          <p:nvPr/>
        </p:nvPicPr>
        <p:blipFill>
          <a:blip r:embed="rId2" cstate="print">
            <a:lum bright="-6000"/>
          </a:blip>
          <a:srcRect/>
          <a:stretch>
            <a:fillRect/>
          </a:stretch>
        </p:blipFill>
        <p:spPr bwMode="auto">
          <a:xfrm>
            <a:off x="2667000" y="990600"/>
            <a:ext cx="3475038" cy="3779838"/>
          </a:xfrm>
          <a:prstGeom prst="rect">
            <a:avLst/>
          </a:prstGeom>
          <a:noFill/>
        </p:spPr>
      </p:pic>
      <p:sp>
        <p:nvSpPr>
          <p:cNvPr id="620550" name="Rectangle 6"/>
          <p:cNvSpPr>
            <a:spLocks noChangeArrowheads="1"/>
          </p:cNvSpPr>
          <p:nvPr/>
        </p:nvSpPr>
        <p:spPr bwMode="auto">
          <a:xfrm>
            <a:off x="1828800" y="4953000"/>
            <a:ext cx="5334000" cy="9159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anchor="b" anchorCtr="1">
            <a:spAutoFit/>
          </a:bodyPr>
          <a:lstStyle/>
          <a:p>
            <a:r>
              <a:rPr lang="en-US" sz="1800" b="1">
                <a:solidFill>
                  <a:srgbClr val="222222"/>
                </a:solidFill>
                <a:latin typeface="Arial" charset="0"/>
              </a:rPr>
              <a:t>Figure 11-26 </a:t>
            </a:r>
            <a:r>
              <a:rPr lang="en-US" sz="1800">
                <a:solidFill>
                  <a:srgbClr val="222222"/>
                </a:solidFill>
                <a:latin typeface="Arial" charset="0"/>
              </a:rPr>
              <a:t>During Setup, you can create and delete partitions and select a partition on which to install Windows XP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A+ Guide to Managing and Maintaining your PC, 6e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914AE2F8-6BA1-4853-AC16-BFC894D332D3}" type="slidenum">
              <a:rPr lang="en-US"/>
              <a:pPr/>
              <a:t>43</a:t>
            </a:fld>
            <a:endParaRPr lang="en-US"/>
          </a:p>
        </p:txBody>
      </p:sp>
      <p:sp>
        <p:nvSpPr>
          <p:cNvPr id="621570" name="Rectangle 2"/>
          <p:cNvSpPr>
            <a:spLocks noGrp="1" noChangeArrowheads="1"/>
          </p:cNvSpPr>
          <p:nvPr>
            <p:ph type="title"/>
          </p:nvPr>
        </p:nvSpPr>
        <p:spPr>
          <a:xfrm>
            <a:off x="533400" y="381000"/>
            <a:ext cx="8077200" cy="1295400"/>
          </a:xfrm>
        </p:spPr>
        <p:txBody>
          <a:bodyPr/>
          <a:lstStyle/>
          <a:p>
            <a:r>
              <a:rPr lang="en-US"/>
              <a:t>Windows XP When an OS is Already Installed </a:t>
            </a:r>
          </a:p>
        </p:txBody>
      </p:sp>
      <p:sp>
        <p:nvSpPr>
          <p:cNvPr id="621571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533400" y="1676400"/>
            <a:ext cx="8153400" cy="4572000"/>
          </a:xfrm>
        </p:spPr>
        <p:txBody>
          <a:bodyPr/>
          <a:lstStyle/>
          <a:p>
            <a:r>
              <a:rPr lang="en-US"/>
              <a:t>Overview of instructions:</a:t>
            </a:r>
          </a:p>
          <a:p>
            <a:pPr lvl="1"/>
            <a:r>
              <a:rPr lang="en-US"/>
              <a:t>Close any open applications</a:t>
            </a:r>
          </a:p>
          <a:p>
            <a:pPr lvl="1"/>
            <a:r>
              <a:rPr lang="en-US"/>
              <a:t>Insert Windows XP CD to launch the opening window</a:t>
            </a:r>
          </a:p>
          <a:p>
            <a:pPr lvl="1"/>
            <a:r>
              <a:rPr lang="en-US"/>
              <a:t>Select the option to Install Windows XP</a:t>
            </a:r>
          </a:p>
          <a:p>
            <a:pPr lvl="1"/>
            <a:r>
              <a:rPr lang="en-US"/>
              <a:t>Select New installation </a:t>
            </a:r>
          </a:p>
          <a:p>
            <a:pPr lvl="1"/>
            <a:r>
              <a:rPr lang="en-US"/>
              <a:t>Read and accept licensing agreement</a:t>
            </a:r>
          </a:p>
          <a:p>
            <a:pPr lvl="1"/>
            <a:r>
              <a:rPr lang="en-US"/>
              <a:t>Pick up from Step 2 of regular clean installation </a:t>
            </a:r>
          </a:p>
          <a:p>
            <a:pPr lvl="1"/>
            <a:endParaRPr lang="en-US"/>
          </a:p>
          <a:p>
            <a:pPr lvl="1"/>
            <a:endParaRPr lang="en-US"/>
          </a:p>
          <a:p>
            <a:pPr lvl="1"/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1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A+ Guide to Managing and Maintaining your PC, 6e</a:t>
            </a:r>
          </a:p>
        </p:txBody>
      </p:sp>
      <p:sp>
        <p:nvSpPr>
          <p:cNvPr id="5" name="Slide Number Placeholder 2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0962D174-6160-4901-B96B-09C92DCCC6F2}" type="slidenum">
              <a:rPr lang="en-US"/>
              <a:pPr/>
              <a:t>44</a:t>
            </a:fld>
            <a:endParaRPr lang="en-US"/>
          </a:p>
        </p:txBody>
      </p:sp>
      <p:pic>
        <p:nvPicPr>
          <p:cNvPr id="622599" name="Picture 7" descr="C11F027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590800" y="1828800"/>
            <a:ext cx="3697288" cy="3429000"/>
          </a:xfrm>
          <a:prstGeom prst="rect">
            <a:avLst/>
          </a:prstGeom>
          <a:noFill/>
        </p:spPr>
      </p:pic>
      <p:sp>
        <p:nvSpPr>
          <p:cNvPr id="622600" name="Rectangle 8"/>
          <p:cNvSpPr>
            <a:spLocks noChangeArrowheads="1"/>
          </p:cNvSpPr>
          <p:nvPr/>
        </p:nvSpPr>
        <p:spPr bwMode="auto">
          <a:xfrm>
            <a:off x="0" y="5483225"/>
            <a:ext cx="9144000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 algn="ctr"/>
            <a:r>
              <a:rPr lang="en-US" sz="1800" b="1">
                <a:solidFill>
                  <a:srgbClr val="222222"/>
                </a:solidFill>
                <a:latin typeface="Arial" charset="0"/>
              </a:rPr>
              <a:t>Figure 11-27 </a:t>
            </a:r>
            <a:r>
              <a:rPr lang="en-US" sz="1800">
                <a:solidFill>
                  <a:srgbClr val="222222"/>
                </a:solidFill>
                <a:latin typeface="Arial" charset="0"/>
              </a:rPr>
              <a:t>Windows XP Setup menu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A+ Guide to Managing and Maintaining your PC, 6e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FFCFE28-C950-4542-BBC7-AAFCDA3FF40E}" type="slidenum">
              <a:rPr lang="en-US"/>
              <a:pPr/>
              <a:t>45</a:t>
            </a:fld>
            <a:endParaRPr lang="en-US"/>
          </a:p>
        </p:txBody>
      </p:sp>
      <p:sp>
        <p:nvSpPr>
          <p:cNvPr id="62361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Upgrade to Windows XP</a:t>
            </a:r>
          </a:p>
        </p:txBody>
      </p:sp>
      <p:sp>
        <p:nvSpPr>
          <p:cNvPr id="62361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Overview of instructions:</a:t>
            </a:r>
          </a:p>
          <a:p>
            <a:pPr lvl="1"/>
            <a:r>
              <a:rPr lang="en-US"/>
              <a:t>Clean up the hard drive</a:t>
            </a:r>
          </a:p>
          <a:p>
            <a:pPr lvl="1"/>
            <a:r>
              <a:rPr lang="en-US"/>
              <a:t>If necessary upgrade hardware and software</a:t>
            </a:r>
          </a:p>
          <a:p>
            <a:pPr lvl="1"/>
            <a:r>
              <a:rPr lang="en-US"/>
              <a:t>If BIOS is not current, flash your BIOS</a:t>
            </a:r>
          </a:p>
          <a:p>
            <a:pPr lvl="1"/>
            <a:r>
              <a:rPr lang="en-US"/>
              <a:t>Backup files and scan for viruses</a:t>
            </a:r>
          </a:p>
          <a:p>
            <a:pPr lvl="1"/>
            <a:r>
              <a:rPr lang="en-US"/>
              <a:t>If drive is compressed, uncompress the drive</a:t>
            </a:r>
          </a:p>
          <a:p>
            <a:pPr lvl="1"/>
            <a:r>
              <a:rPr lang="en-US"/>
              <a:t>Inset the Windows XP Upgrade CD</a:t>
            </a:r>
          </a:p>
          <a:p>
            <a:pPr lvl="1"/>
            <a:r>
              <a:rPr lang="en-US"/>
              <a:t>Select the upgrade type and </a:t>
            </a:r>
          </a:p>
          <a:p>
            <a:pPr lvl="1"/>
            <a:r>
              <a:rPr lang="en-US"/>
              <a:t>Select the partition to install Windows XP </a:t>
            </a:r>
          </a:p>
          <a:p>
            <a:pPr lvl="1"/>
            <a:r>
              <a:rPr lang="en-US"/>
              <a:t>Stop installation if serious compatibility issues arise 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A+ Guide to Managing and Maintaining your PC, 6e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5D6C52A-DFED-4DE2-AB1D-5786FC61B966}" type="slidenum">
              <a:rPr lang="en-US"/>
              <a:pPr/>
              <a:t>46</a:t>
            </a:fld>
            <a:endParaRPr lang="en-US"/>
          </a:p>
        </p:txBody>
      </p:sp>
      <p:sp>
        <p:nvSpPr>
          <p:cNvPr id="62566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Dual Boot Using Windows XP</a:t>
            </a:r>
          </a:p>
        </p:txBody>
      </p:sp>
      <p:sp>
        <p:nvSpPr>
          <p:cNvPr id="625667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533400" y="1676400"/>
            <a:ext cx="8229600" cy="4572000"/>
          </a:xfrm>
        </p:spPr>
        <p:txBody>
          <a:bodyPr/>
          <a:lstStyle/>
          <a:p>
            <a:r>
              <a:rPr lang="en-US"/>
              <a:t>Begin installation like clean install over another OS</a:t>
            </a:r>
          </a:p>
          <a:p>
            <a:r>
              <a:rPr lang="en-US"/>
              <a:t>Choose to install XP on partition without an OS</a:t>
            </a:r>
          </a:p>
          <a:p>
            <a:r>
              <a:rPr lang="en-US"/>
              <a:t>Boot loader menu asks you to select an OS to start</a:t>
            </a:r>
          </a:p>
          <a:p>
            <a:pPr lvl="1"/>
            <a:r>
              <a:rPr lang="en-US"/>
              <a:t>Install the other OS first</a:t>
            </a:r>
          </a:p>
          <a:p>
            <a:pPr lvl="1"/>
            <a:r>
              <a:rPr lang="en-US"/>
              <a:t>Install Windows XP in a different partition</a:t>
            </a:r>
          </a:p>
          <a:p>
            <a:r>
              <a:rPr lang="en-US"/>
              <a:t>Windows XP is divided into two parts:</a:t>
            </a:r>
          </a:p>
          <a:p>
            <a:pPr lvl="1"/>
            <a:r>
              <a:rPr lang="en-US"/>
              <a:t>Boot initiation files are placed in the system partition</a:t>
            </a:r>
          </a:p>
          <a:p>
            <a:pPr lvl="1"/>
            <a:r>
              <a:rPr lang="en-US"/>
              <a:t>Remainder of OS is placed in the other partition</a:t>
            </a:r>
          </a:p>
          <a:p>
            <a:r>
              <a:rPr lang="en-US"/>
              <a:t>XP is aware of the applications under the other OS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1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A+ Guide to Managing and Maintaining your PC, 6e</a:t>
            </a:r>
          </a:p>
        </p:txBody>
      </p:sp>
      <p:sp>
        <p:nvSpPr>
          <p:cNvPr id="5" name="Slide Number Placeholder 2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A50429AE-338C-44B2-93F8-89BE002C4E81}" type="slidenum">
              <a:rPr lang="en-US"/>
              <a:pPr/>
              <a:t>47</a:t>
            </a:fld>
            <a:endParaRPr lang="en-US"/>
          </a:p>
        </p:txBody>
      </p:sp>
      <p:pic>
        <p:nvPicPr>
          <p:cNvPr id="626693" name="Picture 5" descr="C11F028"/>
          <p:cNvPicPr>
            <a:picLocks noChangeAspect="1" noChangeArrowheads="1"/>
          </p:cNvPicPr>
          <p:nvPr/>
        </p:nvPicPr>
        <p:blipFill>
          <a:blip r:embed="rId2" cstate="print">
            <a:lum bright="-6000"/>
          </a:blip>
          <a:srcRect/>
          <a:stretch>
            <a:fillRect/>
          </a:stretch>
        </p:blipFill>
        <p:spPr bwMode="auto">
          <a:xfrm>
            <a:off x="2833688" y="2133600"/>
            <a:ext cx="3475037" cy="2435225"/>
          </a:xfrm>
          <a:prstGeom prst="rect">
            <a:avLst/>
          </a:prstGeom>
          <a:noFill/>
        </p:spPr>
      </p:pic>
      <p:sp>
        <p:nvSpPr>
          <p:cNvPr id="626694" name="Rectangle 6"/>
          <p:cNvSpPr>
            <a:spLocks noChangeArrowheads="1"/>
          </p:cNvSpPr>
          <p:nvPr/>
        </p:nvSpPr>
        <p:spPr bwMode="auto">
          <a:xfrm>
            <a:off x="0" y="4797425"/>
            <a:ext cx="9144000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 algn="ctr"/>
            <a:r>
              <a:rPr lang="en-US" sz="1800" b="1">
                <a:solidFill>
                  <a:srgbClr val="222222"/>
                </a:solidFill>
                <a:latin typeface="Arial" charset="0"/>
              </a:rPr>
              <a:t>Figure 11-28 </a:t>
            </a:r>
            <a:r>
              <a:rPr lang="en-US" sz="1800">
                <a:solidFill>
                  <a:srgbClr val="222222"/>
                </a:solidFill>
                <a:latin typeface="Arial" charset="0"/>
              </a:rPr>
              <a:t>Menu displayed for a dual boot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A+ Guide to Managing and Maintaining your PC, 6e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83E6765-E4C0-4EAD-8959-303F2EB1D762}" type="slidenum">
              <a:rPr lang="en-US"/>
              <a:pPr/>
              <a:t>48</a:t>
            </a:fld>
            <a:endParaRPr lang="en-US"/>
          </a:p>
        </p:txBody>
      </p:sp>
      <p:sp>
        <p:nvSpPr>
          <p:cNvPr id="62771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After the Windows XP Installation</a:t>
            </a:r>
          </a:p>
        </p:txBody>
      </p:sp>
      <p:sp>
        <p:nvSpPr>
          <p:cNvPr id="627715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381000" y="1676400"/>
            <a:ext cx="8305800" cy="4572000"/>
          </a:xfrm>
        </p:spPr>
        <p:txBody>
          <a:bodyPr/>
          <a:lstStyle/>
          <a:p>
            <a:r>
              <a:rPr lang="en-US"/>
              <a:t>Preparing the system for use:</a:t>
            </a:r>
          </a:p>
          <a:p>
            <a:pPr lvl="1"/>
            <a:r>
              <a:rPr lang="en-US"/>
              <a:t>Activate Windows XP using Product activation</a:t>
            </a:r>
          </a:p>
          <a:p>
            <a:pPr lvl="1"/>
            <a:r>
              <a:rPr lang="en-US"/>
              <a:t>Verify you can access the network and the Internet</a:t>
            </a:r>
          </a:p>
          <a:p>
            <a:pPr lvl="1"/>
            <a:r>
              <a:rPr lang="en-US"/>
              <a:t>Verify all hardware works, install additional devices</a:t>
            </a:r>
          </a:p>
          <a:p>
            <a:pPr lvl="1"/>
            <a:r>
              <a:rPr lang="en-US"/>
              <a:t>Create user accounts for Windows XP</a:t>
            </a:r>
          </a:p>
          <a:p>
            <a:pPr lvl="1"/>
            <a:r>
              <a:rPr lang="en-US"/>
              <a:t>Install additional Windows components</a:t>
            </a:r>
          </a:p>
          <a:p>
            <a:pPr lvl="1"/>
            <a:r>
              <a:rPr lang="en-US"/>
              <a:t>Install applications</a:t>
            </a:r>
          </a:p>
          <a:p>
            <a:pPr lvl="1"/>
            <a:r>
              <a:rPr lang="en-US"/>
              <a:t>Verify system functions and backup system state</a:t>
            </a:r>
          </a:p>
          <a:p>
            <a:pPr lvl="1"/>
            <a:r>
              <a:rPr lang="en-US"/>
              <a:t>Uninstall or curtail functions of unneeded programs</a:t>
            </a:r>
          </a:p>
          <a:p>
            <a:pPr lvl="1"/>
            <a:endParaRPr lang="en-US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A+ Guide to Managing and Maintaining your PC, 6e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33C421D5-13A1-4C40-8F43-9F2D05D922CD}" type="slidenum">
              <a:rPr lang="en-US"/>
              <a:pPr/>
              <a:t>49</a:t>
            </a:fld>
            <a:endParaRPr lang="en-US"/>
          </a:p>
        </p:txBody>
      </p:sp>
      <p:sp>
        <p:nvSpPr>
          <p:cNvPr id="62976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Product Activation</a:t>
            </a:r>
          </a:p>
        </p:txBody>
      </p:sp>
      <p:sp>
        <p:nvSpPr>
          <p:cNvPr id="629763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381000" y="1676400"/>
            <a:ext cx="8305800" cy="4572000"/>
          </a:xfrm>
        </p:spPr>
        <p:txBody>
          <a:bodyPr/>
          <a:lstStyle/>
          <a:p>
            <a:r>
              <a:rPr lang="en-US"/>
              <a:t>Used by Microsoft to prevent software piracy</a:t>
            </a:r>
          </a:p>
          <a:p>
            <a:r>
              <a:rPr lang="en-US"/>
              <a:t>Product activation via the Internet:</a:t>
            </a:r>
          </a:p>
          <a:p>
            <a:pPr lvl="1"/>
            <a:r>
              <a:rPr lang="en-US"/>
              <a:t>Activate Windows dialog box appears after installation</a:t>
            </a:r>
          </a:p>
          <a:p>
            <a:pPr lvl="1"/>
            <a:r>
              <a:rPr lang="en-US"/>
              <a:t>Choose activation over Internet option</a:t>
            </a:r>
          </a:p>
          <a:p>
            <a:pPr lvl="1"/>
            <a:r>
              <a:rPr lang="en-US"/>
              <a:t>Windows XP sends numeric identifier to MS server</a:t>
            </a:r>
          </a:p>
          <a:p>
            <a:pPr lvl="1"/>
            <a:r>
              <a:rPr lang="en-US"/>
              <a:t>MS server sends certificate activating product</a:t>
            </a:r>
          </a:p>
          <a:p>
            <a:r>
              <a:rPr lang="en-US"/>
              <a:t>Activate Windows XP within 30 days of installation  </a:t>
            </a:r>
          </a:p>
          <a:p>
            <a:r>
              <a:rPr lang="en-US"/>
              <a:t>Resolve suspected violations with MS representative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A+ Guide to Managing and Maintaining your PC, 6e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766793E7-D2F5-4B33-A9A7-182A4C101B98}" type="slidenum">
              <a:rPr lang="en-US"/>
              <a:pPr/>
              <a:t>50</a:t>
            </a:fld>
            <a:endParaRPr lang="en-US"/>
          </a:p>
        </p:txBody>
      </p:sp>
      <p:sp>
        <p:nvSpPr>
          <p:cNvPr id="63078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Update Windows</a:t>
            </a:r>
          </a:p>
        </p:txBody>
      </p:sp>
      <p:sp>
        <p:nvSpPr>
          <p:cNvPr id="630787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533400" y="1676400"/>
            <a:ext cx="8305800" cy="4572000"/>
          </a:xfrm>
        </p:spPr>
        <p:txBody>
          <a:bodyPr/>
          <a:lstStyle/>
          <a:p>
            <a:r>
              <a:rPr lang="en-US"/>
              <a:t>MS Web site offers patches, fixes, updates, advice</a:t>
            </a:r>
          </a:p>
          <a:p>
            <a:r>
              <a:rPr lang="en-US"/>
              <a:t>How to install updates</a:t>
            </a:r>
          </a:p>
          <a:p>
            <a:pPr lvl="1"/>
            <a:r>
              <a:rPr lang="en-US"/>
              <a:t>Connect to Internet and start Windows Update</a:t>
            </a:r>
          </a:p>
          <a:p>
            <a:pPr lvl="1"/>
            <a:r>
              <a:rPr lang="en-US"/>
              <a:t>ActiveX controls scan system and report needed items</a:t>
            </a:r>
          </a:p>
          <a:p>
            <a:pPr lvl="1"/>
            <a:r>
              <a:rPr lang="en-US"/>
              <a:t>Respond to installation prompt</a:t>
            </a:r>
          </a:p>
          <a:p>
            <a:pPr lvl="1"/>
            <a:r>
              <a:rPr lang="en-US"/>
              <a:t>Updates will be downloaded and installed</a:t>
            </a:r>
          </a:p>
          <a:p>
            <a:r>
              <a:rPr lang="en-US"/>
              <a:t>Windows XP Service Pack 2 (SP2)</a:t>
            </a:r>
          </a:p>
          <a:p>
            <a:pPr lvl="1"/>
            <a:r>
              <a:rPr lang="en-US"/>
              <a:t>Offers great benefits, including Windows Firewall</a:t>
            </a:r>
          </a:p>
          <a:p>
            <a:r>
              <a:rPr lang="en-US"/>
              <a:t>Where to configure automatic updates</a:t>
            </a:r>
          </a:p>
          <a:p>
            <a:pPr lvl="1"/>
            <a:r>
              <a:rPr lang="en-US"/>
              <a:t>Automatic Updates tab of System Properties dialog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1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A+ Guide to Managing and Maintaining your PC, 6e</a:t>
            </a:r>
          </a:p>
        </p:txBody>
      </p:sp>
      <p:sp>
        <p:nvSpPr>
          <p:cNvPr id="5" name="Slide Number Placeholder 2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A18DECBE-32D3-4EEF-A4E3-82BBF5028078}" type="slidenum">
              <a:rPr lang="en-US"/>
              <a:pPr/>
              <a:t>51</a:t>
            </a:fld>
            <a:endParaRPr lang="en-US"/>
          </a:p>
        </p:txBody>
      </p:sp>
      <p:pic>
        <p:nvPicPr>
          <p:cNvPr id="631813" name="Picture 5" descr="C11F032"/>
          <p:cNvPicPr>
            <a:picLocks noChangeAspect="1" noChangeArrowheads="1"/>
          </p:cNvPicPr>
          <p:nvPr/>
        </p:nvPicPr>
        <p:blipFill>
          <a:blip r:embed="rId2" cstate="print">
            <a:lum bright="-6000"/>
          </a:blip>
          <a:srcRect/>
          <a:stretch>
            <a:fillRect/>
          </a:stretch>
        </p:blipFill>
        <p:spPr bwMode="auto">
          <a:xfrm>
            <a:off x="1981200" y="1560513"/>
            <a:ext cx="5181600" cy="3736975"/>
          </a:xfrm>
          <a:prstGeom prst="rect">
            <a:avLst/>
          </a:prstGeom>
          <a:noFill/>
        </p:spPr>
      </p:pic>
      <p:sp>
        <p:nvSpPr>
          <p:cNvPr id="631814" name="Rectangle 6"/>
          <p:cNvSpPr>
            <a:spLocks noChangeArrowheads="1"/>
          </p:cNvSpPr>
          <p:nvPr/>
        </p:nvSpPr>
        <p:spPr bwMode="auto">
          <a:xfrm>
            <a:off x="0" y="5486400"/>
            <a:ext cx="9144000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 algn="ctr"/>
            <a:r>
              <a:rPr lang="en-US" sz="1800" b="1">
                <a:solidFill>
                  <a:srgbClr val="222222"/>
                </a:solidFill>
                <a:latin typeface="Arial" charset="0"/>
              </a:rPr>
              <a:t>Figure 11-32 </a:t>
            </a:r>
            <a:r>
              <a:rPr lang="en-US" sz="1800">
                <a:solidFill>
                  <a:srgbClr val="222222"/>
                </a:solidFill>
                <a:latin typeface="Arial" charset="0"/>
              </a:rPr>
              <a:t>Installing updates to Windows XP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A+ Guide to Managing and Maintaining your PC, 6e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8B368D9-E4D4-4AF9-A4C4-34FAD915E6CF}" type="slidenum">
              <a:rPr lang="en-US"/>
              <a:pPr/>
              <a:t>52</a:t>
            </a:fld>
            <a:endParaRPr lang="en-US"/>
          </a:p>
        </p:txBody>
      </p:sp>
      <p:sp>
        <p:nvSpPr>
          <p:cNvPr id="63283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Steps to Install Windows 2000</a:t>
            </a:r>
          </a:p>
        </p:txBody>
      </p:sp>
      <p:sp>
        <p:nvSpPr>
          <p:cNvPr id="63283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Procedures: clean install, upgrade, and dual-boot</a:t>
            </a:r>
          </a:p>
          <a:p>
            <a:r>
              <a:rPr lang="en-US"/>
              <a:t>Installation process similar to that for Windows XP</a:t>
            </a:r>
          </a:p>
          <a:p>
            <a:pPr lvl="1"/>
            <a:r>
              <a:rPr lang="en-US"/>
              <a:t>There are some differences</a:t>
            </a:r>
          </a:p>
          <a:p>
            <a:r>
              <a:rPr lang="en-US"/>
              <a:t>Installation programs used by Windows 2000/XP:</a:t>
            </a:r>
          </a:p>
          <a:p>
            <a:pPr lvl="1"/>
            <a:r>
              <a:rPr lang="en-US"/>
              <a:t>16-bit Winnt.exe program, or the 32-bit Winnt32.exe</a:t>
            </a:r>
          </a:p>
          <a:p>
            <a:endParaRPr lang="en-US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A+ Guide to Managing and Maintaining your PC, 6e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04F8CBD-C506-41FC-AD47-6812F00867F7}" type="slidenum">
              <a:rPr lang="en-US"/>
              <a:pPr/>
              <a:t>53</a:t>
            </a:fld>
            <a:endParaRPr lang="en-US"/>
          </a:p>
        </p:txBody>
      </p:sp>
      <p:sp>
        <p:nvSpPr>
          <p:cNvPr id="63385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Clean Installation</a:t>
            </a:r>
          </a:p>
        </p:txBody>
      </p:sp>
      <p:sp>
        <p:nvSpPr>
          <p:cNvPr id="63385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Overview of instructions:</a:t>
            </a:r>
          </a:p>
          <a:p>
            <a:pPr lvl="1"/>
            <a:r>
              <a:rPr lang="en-US"/>
              <a:t>Boot PC from setup CD or four setup disks</a:t>
            </a:r>
          </a:p>
          <a:p>
            <a:pPr lvl="1"/>
            <a:r>
              <a:rPr lang="en-US"/>
              <a:t>Select a partition and a file system</a:t>
            </a:r>
          </a:p>
          <a:p>
            <a:pPr lvl="1"/>
            <a:r>
              <a:rPr lang="en-US"/>
              <a:t>Enter your name, company name, and product key</a:t>
            </a:r>
          </a:p>
          <a:p>
            <a:pPr lvl="1"/>
            <a:r>
              <a:rPr lang="en-US"/>
              <a:t>Enter date and time, and administrator password </a:t>
            </a:r>
          </a:p>
          <a:p>
            <a:pPr lvl="1"/>
            <a:r>
              <a:rPr lang="en-US"/>
              <a:t>If applicable, configure Networking Settings</a:t>
            </a:r>
          </a:p>
          <a:p>
            <a:pPr lvl="1"/>
            <a:r>
              <a:rPr lang="en-US"/>
              <a:t>Remove Windows 2000 CD/disk and reboot</a:t>
            </a:r>
          </a:p>
          <a:p>
            <a:pPr lvl="1"/>
            <a:r>
              <a:rPr lang="en-US"/>
              <a:t>If applicable, complete network configuration</a:t>
            </a:r>
          </a:p>
          <a:p>
            <a:pPr lvl="1"/>
            <a:endParaRPr lang="en-US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A+ Guide to Managing and Maintaining your PC, 6e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DF43D7D-5682-4E22-BFE6-E4B0F157DD2B}" type="slidenum">
              <a:rPr lang="en-US"/>
              <a:pPr/>
              <a:t>54</a:t>
            </a:fld>
            <a:endParaRPr lang="en-US"/>
          </a:p>
        </p:txBody>
      </p:sp>
      <p:sp>
        <p:nvSpPr>
          <p:cNvPr id="635906" name="Rectangle 2"/>
          <p:cNvSpPr>
            <a:spLocks noGrp="1" noChangeArrowheads="1"/>
          </p:cNvSpPr>
          <p:nvPr>
            <p:ph type="title"/>
          </p:nvPr>
        </p:nvSpPr>
        <p:spPr>
          <a:xfrm>
            <a:off x="533400" y="228600"/>
            <a:ext cx="8077200" cy="1524000"/>
          </a:xfrm>
        </p:spPr>
        <p:txBody>
          <a:bodyPr/>
          <a:lstStyle/>
          <a:p>
            <a:r>
              <a:rPr lang="en-US"/>
              <a:t>Clean Install When the Hard Drive has an Operating System Installed</a:t>
            </a:r>
          </a:p>
        </p:txBody>
      </p:sp>
      <p:sp>
        <p:nvSpPr>
          <p:cNvPr id="635907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533400" y="1676400"/>
            <a:ext cx="8153400" cy="4572000"/>
          </a:xfrm>
        </p:spPr>
        <p:txBody>
          <a:bodyPr/>
          <a:lstStyle/>
          <a:p>
            <a:r>
              <a:rPr lang="en-US"/>
              <a:t>Overview of instructions</a:t>
            </a:r>
          </a:p>
          <a:p>
            <a:pPr lvl="1"/>
            <a:r>
              <a:rPr lang="en-US"/>
              <a:t>Insert the Windows 2000 CD in the CD-ROM drive</a:t>
            </a:r>
          </a:p>
          <a:p>
            <a:pPr lvl="1"/>
            <a:r>
              <a:rPr lang="en-US"/>
              <a:t>When prompted to upgrade existing OS, answer “No”</a:t>
            </a:r>
          </a:p>
          <a:p>
            <a:pPr lvl="1"/>
            <a:r>
              <a:rPr lang="en-US"/>
              <a:t>Click Install Windows 2000</a:t>
            </a:r>
          </a:p>
          <a:p>
            <a:pPr lvl="1"/>
            <a:r>
              <a:rPr lang="en-US"/>
              <a:t>Respond to Windows Setup Wizard</a:t>
            </a:r>
          </a:p>
          <a:p>
            <a:pPr lvl="1"/>
            <a:r>
              <a:rPr lang="en-US"/>
              <a:t>After reboot, installation is like a regular clean install </a:t>
            </a:r>
          </a:p>
          <a:p>
            <a:pPr lvl="1"/>
            <a:endParaRPr lang="en-US"/>
          </a:p>
          <a:p>
            <a:pPr lvl="1"/>
            <a:endParaRPr lang="en-US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1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A+ Guide to Managing and Maintaining your PC, 6e</a:t>
            </a:r>
          </a:p>
        </p:txBody>
      </p:sp>
      <p:sp>
        <p:nvSpPr>
          <p:cNvPr id="5" name="Slide Number Placeholder 2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C168228-29A7-44F3-8283-58F608193F8A}" type="slidenum">
              <a:rPr lang="en-US"/>
              <a:pPr/>
              <a:t>55</a:t>
            </a:fld>
            <a:endParaRPr lang="en-US"/>
          </a:p>
        </p:txBody>
      </p:sp>
      <p:pic>
        <p:nvPicPr>
          <p:cNvPr id="636933" name="Picture 5" descr="C11F037"/>
          <p:cNvPicPr>
            <a:picLocks noChangeAspect="1" noChangeArrowheads="1"/>
          </p:cNvPicPr>
          <p:nvPr/>
        </p:nvPicPr>
        <p:blipFill>
          <a:blip r:embed="rId2" cstate="print">
            <a:lum bright="-6000"/>
          </a:blip>
          <a:srcRect/>
          <a:stretch>
            <a:fillRect/>
          </a:stretch>
        </p:blipFill>
        <p:spPr bwMode="auto">
          <a:xfrm>
            <a:off x="2743200" y="1752600"/>
            <a:ext cx="3422650" cy="3352800"/>
          </a:xfrm>
          <a:prstGeom prst="rect">
            <a:avLst/>
          </a:prstGeom>
          <a:noFill/>
        </p:spPr>
      </p:pic>
      <p:sp>
        <p:nvSpPr>
          <p:cNvPr id="636934" name="Rectangle 6"/>
          <p:cNvSpPr>
            <a:spLocks noChangeArrowheads="1"/>
          </p:cNvSpPr>
          <p:nvPr/>
        </p:nvSpPr>
        <p:spPr bwMode="auto">
          <a:xfrm>
            <a:off x="0" y="5334000"/>
            <a:ext cx="9144000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 algn="ctr"/>
            <a:r>
              <a:rPr lang="en-US" sz="1800" b="1">
                <a:solidFill>
                  <a:srgbClr val="222222"/>
                </a:solidFill>
                <a:latin typeface="Arial" charset="0"/>
              </a:rPr>
              <a:t>Figure 11-37 </a:t>
            </a:r>
            <a:r>
              <a:rPr lang="en-US" sz="1800">
                <a:solidFill>
                  <a:srgbClr val="222222"/>
                </a:solidFill>
                <a:latin typeface="Arial" charset="0"/>
              </a:rPr>
              <a:t>Windows 2000 Setup window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A+ Guide to Managing and Maintaining your PC, 6e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9BEA97D-AED7-4086-B36A-4C5A367EA5EB}" type="slidenum">
              <a:rPr lang="en-US"/>
              <a:pPr/>
              <a:t>56</a:t>
            </a:fld>
            <a:endParaRPr lang="en-US"/>
          </a:p>
        </p:txBody>
      </p:sp>
      <p:sp>
        <p:nvSpPr>
          <p:cNvPr id="63488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Upgrade Installation</a:t>
            </a:r>
          </a:p>
        </p:txBody>
      </p:sp>
      <p:sp>
        <p:nvSpPr>
          <p:cNvPr id="634883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381000" y="1676400"/>
            <a:ext cx="8305800" cy="4572000"/>
          </a:xfrm>
        </p:spPr>
        <p:txBody>
          <a:bodyPr/>
          <a:lstStyle/>
          <a:p>
            <a:r>
              <a:rPr lang="en-US"/>
              <a:t>First step: prepare for installation (like Windows XP)</a:t>
            </a:r>
          </a:p>
          <a:p>
            <a:r>
              <a:rPr lang="en-US"/>
              <a:t>Overview of instructions</a:t>
            </a:r>
          </a:p>
          <a:p>
            <a:pPr lvl="1"/>
            <a:r>
              <a:rPr lang="en-US"/>
              <a:t>Insert the Windows 2000 CD in the CD-ROM drive</a:t>
            </a:r>
          </a:p>
          <a:p>
            <a:pPr lvl="1"/>
            <a:r>
              <a:rPr lang="en-US"/>
              <a:t>Respond to issues raised (if any) in Report phase</a:t>
            </a:r>
          </a:p>
          <a:p>
            <a:pPr lvl="1"/>
            <a:r>
              <a:rPr lang="en-US"/>
              <a:t>Allow PC to reboot and enter two-part Setup phase</a:t>
            </a:r>
          </a:p>
          <a:p>
            <a:pPr lvl="2"/>
            <a:r>
              <a:rPr lang="en-US"/>
              <a:t>The first part of setup takes place in Text mode</a:t>
            </a:r>
          </a:p>
          <a:p>
            <a:pPr lvl="2"/>
            <a:r>
              <a:rPr lang="en-US"/>
              <a:t>Windows registry and profile are moved to old OS folder</a:t>
            </a:r>
          </a:p>
          <a:p>
            <a:pPr lvl="1"/>
            <a:r>
              <a:rPr lang="en-US"/>
              <a:t>Allow PC to reboot and continue Setup in GUI mode</a:t>
            </a:r>
          </a:p>
          <a:p>
            <a:pPr lvl="2"/>
            <a:r>
              <a:rPr lang="en-US"/>
              <a:t>Registry is updated and application DLLs migrated</a:t>
            </a:r>
          </a:p>
          <a:p>
            <a:pPr lvl="1"/>
            <a:r>
              <a:rPr lang="en-US"/>
              <a:t>After system reboots again, retrieve updates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A+ Guide to Managing and Maintaining your PC, 6e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0ECB295-D834-4B66-92A9-657050735948}" type="slidenum">
              <a:rPr lang="en-US"/>
              <a:pPr/>
              <a:t>57</a:t>
            </a:fld>
            <a:endParaRPr lang="en-US"/>
          </a:p>
        </p:txBody>
      </p:sp>
      <p:sp>
        <p:nvSpPr>
          <p:cNvPr id="27443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Summary </a:t>
            </a:r>
          </a:p>
        </p:txBody>
      </p:sp>
      <p:sp>
        <p:nvSpPr>
          <p:cNvPr id="274435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381000" y="1676400"/>
            <a:ext cx="8458200" cy="4572000"/>
          </a:xfrm>
        </p:spPr>
        <p:txBody>
          <a:bodyPr/>
          <a:lstStyle/>
          <a:p>
            <a:r>
              <a:rPr lang="en-US"/>
              <a:t>User mode: comprises user, applications, and various subsystems </a:t>
            </a:r>
          </a:p>
          <a:p>
            <a:r>
              <a:rPr lang="en-US"/>
              <a:t>Kernel mode: comprises HAL and Executive services</a:t>
            </a:r>
          </a:p>
          <a:p>
            <a:r>
              <a:rPr lang="en-US"/>
              <a:t>Workgroups use a peer-to-peer networking model</a:t>
            </a:r>
          </a:p>
          <a:p>
            <a:r>
              <a:rPr lang="en-US"/>
              <a:t>Domains use a client-server networking model</a:t>
            </a:r>
          </a:p>
          <a:p>
            <a:r>
              <a:rPr lang="en-US"/>
              <a:t>Two types of partitions: primary and extended</a:t>
            </a:r>
          </a:p>
          <a:p>
            <a:endParaRPr lang="en-US"/>
          </a:p>
          <a:p>
            <a:pPr>
              <a:buFontTx/>
              <a:buNone/>
            </a:pPr>
            <a:endParaRPr lang="en-US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A+ Guide to Managing and Maintaining your PC, 6e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7F0A427-DF99-4B87-83AE-FCB105B38355}" type="slidenum">
              <a:rPr lang="en-US"/>
              <a:pPr/>
              <a:t>58</a:t>
            </a:fld>
            <a:endParaRPr lang="en-US"/>
          </a:p>
        </p:txBody>
      </p:sp>
      <p:sp>
        <p:nvSpPr>
          <p:cNvPr id="57753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Summary (continued)</a:t>
            </a:r>
          </a:p>
        </p:txBody>
      </p:sp>
      <p:sp>
        <p:nvSpPr>
          <p:cNvPr id="577539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381000" y="1676400"/>
            <a:ext cx="8458200" cy="4572000"/>
          </a:xfrm>
        </p:spPr>
        <p:txBody>
          <a:bodyPr/>
          <a:lstStyle/>
          <a:p>
            <a:r>
              <a:rPr lang="en-US"/>
              <a:t>Formatting: process of creating a file system on a disk</a:t>
            </a:r>
          </a:p>
          <a:p>
            <a:r>
              <a:rPr lang="en-US"/>
              <a:t>Two file systems: NTFS and FAT</a:t>
            </a:r>
          </a:p>
          <a:p>
            <a:r>
              <a:rPr lang="en-US"/>
              <a:t>Proper preparation improves the process of installing an OS</a:t>
            </a:r>
          </a:p>
          <a:p>
            <a:r>
              <a:rPr lang="en-US"/>
              <a:t>Major installation procedures: clean install, upgrade, and dual-boot installation</a:t>
            </a:r>
          </a:p>
          <a:p>
            <a:r>
              <a:rPr lang="en-US"/>
              <a:t>Windows XP and Windows 2000 use the same installation programs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efault Design">
  <a:themeElements>
    <a:clrScheme name="Default Design 8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FFFFFF"/>
      </a:accent1>
      <a:accent2>
        <a:srgbClr val="3333CC"/>
      </a:accent2>
      <a:accent3>
        <a:srgbClr val="FFFFFF"/>
      </a:accent3>
      <a:accent4>
        <a:srgbClr val="000000"/>
      </a:accent4>
      <a:accent5>
        <a:srgbClr val="FFFFFF"/>
      </a:accent5>
      <a:accent6>
        <a:srgbClr val="2D2DB9"/>
      </a:accent6>
      <a:hlink>
        <a:srgbClr val="FFFFFF"/>
      </a:hlink>
      <a:folHlink>
        <a:srgbClr val="B2B2B2"/>
      </a:folHlink>
    </a:clrScheme>
    <a:fontScheme name="Default Design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2000" b="0" i="0" u="none" strike="noStrike" cap="none" normalizeH="0" baseline="0" smtClean="0">
            <a:ln>
              <a:noFill/>
            </a:ln>
            <a:solidFill>
              <a:srgbClr val="FFFFFF"/>
            </a:solidFill>
            <a:effectLst/>
            <a:latin typeface="Times New Roman" pitchFamily="18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2000" b="0" i="0" u="none" strike="noStrike" cap="none" normalizeH="0" baseline="0" smtClean="0">
            <a:ln>
              <a:noFill/>
            </a:ln>
            <a:solidFill>
              <a:srgbClr val="FFFFFF"/>
            </a:solidFill>
            <a:effectLst/>
            <a:latin typeface="Times New Roman" pitchFamily="18" charset="0"/>
          </a:defRPr>
        </a:defPPr>
      </a:lstStyle>
    </a:lnDef>
  </a:objectDefaults>
  <a:extraClrSchemeLst>
    <a:extraClrScheme>
      <a:clrScheme name="Default Design 1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2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3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4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8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FFFF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FFFFFF"/>
        </a:accent5>
        <a:accent6>
          <a:srgbClr val="2D2DB9"/>
        </a:accent6>
        <a:hlink>
          <a:srgbClr val="FFFF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3469</Words>
  <Application>Microsoft Office PowerPoint</Application>
  <PresentationFormat>On-screen Show (4:3)</PresentationFormat>
  <Paragraphs>485</Paragraphs>
  <Slides>58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58</vt:i4>
      </vt:variant>
    </vt:vector>
  </HeadingPairs>
  <TitlesOfParts>
    <vt:vector size="61" baseType="lpstr">
      <vt:lpstr>Times New Roman</vt:lpstr>
      <vt:lpstr>Arial</vt:lpstr>
      <vt:lpstr>Default Design</vt:lpstr>
      <vt:lpstr>A+ Guide to Managing and Maintaining your PC, 6e</vt:lpstr>
      <vt:lpstr>Objectives</vt:lpstr>
      <vt:lpstr>Introduction</vt:lpstr>
      <vt:lpstr>Features and Architecture of Windows XP</vt:lpstr>
      <vt:lpstr>Versions and Features of Windows XP and 2000</vt:lpstr>
      <vt:lpstr>Slide 6</vt:lpstr>
      <vt:lpstr>Versions and Features of Windows XP and 2000 (continued)</vt:lpstr>
      <vt:lpstr>Slide 8</vt:lpstr>
      <vt:lpstr>Windows 2000/XP Architecture and Operating Modes</vt:lpstr>
      <vt:lpstr>Slide 10</vt:lpstr>
      <vt:lpstr>Slide 11</vt:lpstr>
      <vt:lpstr>Windows 2000/XP Architecture and Operating Modes (continued)</vt:lpstr>
      <vt:lpstr>Networking Features</vt:lpstr>
      <vt:lpstr>Slide 14</vt:lpstr>
      <vt:lpstr>Slide 15</vt:lpstr>
      <vt:lpstr>Networking Features (continued)</vt:lpstr>
      <vt:lpstr>Networking Features (continued)</vt:lpstr>
      <vt:lpstr>Slide 18</vt:lpstr>
      <vt:lpstr>How Windows 2000/XP Manages Hard Drives</vt:lpstr>
      <vt:lpstr>Slide 20</vt:lpstr>
      <vt:lpstr>Slide 21</vt:lpstr>
      <vt:lpstr>How Windows 2000/XP Manages Hard Drives (continued)</vt:lpstr>
      <vt:lpstr>How Windows 2000/XP Manages Hard Drives (continued)</vt:lpstr>
      <vt:lpstr>How Windows 2000/XP Manages Hard Drives (continued)</vt:lpstr>
      <vt:lpstr>Slide 25</vt:lpstr>
      <vt:lpstr>How Windows 2000/XP Manages Hard Drives (continued)</vt:lpstr>
      <vt:lpstr>Slide 27</vt:lpstr>
      <vt:lpstr>When to Use Windows 2000 and Windows XP </vt:lpstr>
      <vt:lpstr>Plan the Windows 2000/XP Installation</vt:lpstr>
      <vt:lpstr>Slide 30</vt:lpstr>
      <vt:lpstr>Minimum Requirements and  Hardware Compatibility</vt:lpstr>
      <vt:lpstr>Slide 32</vt:lpstr>
      <vt:lpstr>Upgrade, Clean Install, Or Dual Boot?</vt:lpstr>
      <vt:lpstr>Hard Drive Partitions and File Systems</vt:lpstr>
      <vt:lpstr>Will the PC Join a Workgroup or Domain?</vt:lpstr>
      <vt:lpstr>How Will the Installation Process Work?</vt:lpstr>
      <vt:lpstr>Final Checklist</vt:lpstr>
      <vt:lpstr>Slide 38</vt:lpstr>
      <vt:lpstr>Steps to Install Windows XP</vt:lpstr>
      <vt:lpstr>Slide 40</vt:lpstr>
      <vt:lpstr>Windows XP Clean Install When an OS is Not Already Installed</vt:lpstr>
      <vt:lpstr>Slide 42</vt:lpstr>
      <vt:lpstr>Windows XP When an OS is Already Installed </vt:lpstr>
      <vt:lpstr>Slide 44</vt:lpstr>
      <vt:lpstr>Upgrade to Windows XP</vt:lpstr>
      <vt:lpstr>Dual Boot Using Windows XP</vt:lpstr>
      <vt:lpstr>Slide 47</vt:lpstr>
      <vt:lpstr>After the Windows XP Installation</vt:lpstr>
      <vt:lpstr>Product Activation</vt:lpstr>
      <vt:lpstr>Update Windows</vt:lpstr>
      <vt:lpstr>Slide 51</vt:lpstr>
      <vt:lpstr>Steps to Install Windows 2000</vt:lpstr>
      <vt:lpstr>Clean Installation</vt:lpstr>
      <vt:lpstr>Clean Install When the Hard Drive has an Operating System Installed</vt:lpstr>
      <vt:lpstr>Slide 55</vt:lpstr>
      <vt:lpstr>Upgrade Installation</vt:lpstr>
      <vt:lpstr>Summary </vt:lpstr>
      <vt:lpstr>Summary (continued)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A+ Guide to Managing and Maintaining your PC, 6e</dc:title>
  <dc:creator/>
  <cp:lastModifiedBy/>
  <cp:revision>337</cp:revision>
  <dcterms:created xsi:type="dcterms:W3CDTF">2002-09-27T23:29:22Z</dcterms:created>
  <dcterms:modified xsi:type="dcterms:W3CDTF">2012-09-14T07:58:52Z</dcterms:modified>
</cp:coreProperties>
</file>