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19" r:id="rId2"/>
    <p:sldId id="257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7" r:id="rId18"/>
    <p:sldId id="406" r:id="rId19"/>
    <p:sldId id="410" r:id="rId20"/>
    <p:sldId id="409" r:id="rId21"/>
    <p:sldId id="411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2" r:id="rId32"/>
    <p:sldId id="421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33" r:id="rId44"/>
    <p:sldId id="434" r:id="rId45"/>
    <p:sldId id="435" r:id="rId46"/>
    <p:sldId id="436" r:id="rId47"/>
    <p:sldId id="437" r:id="rId48"/>
    <p:sldId id="438" r:id="rId49"/>
    <p:sldId id="408" r:id="rId50"/>
    <p:sldId id="391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222"/>
    <a:srgbClr val="FFFFFF"/>
    <a:srgbClr val="18B2B6"/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595" autoAdjust="0"/>
  </p:normalViewPr>
  <p:slideViewPr>
    <p:cSldViewPr>
      <p:cViewPr varScale="1">
        <p:scale>
          <a:sx n="69" d="100"/>
          <a:sy n="69" d="100"/>
        </p:scale>
        <p:origin x="-144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fld id="{09A15C9D-B593-4538-BC89-16CF98EF151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45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fld id="{22DCB662-DB3B-44C0-813F-AB16520DBA0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0AF64F-B842-4382-960E-A11337573FDA}" type="slidenum">
              <a:rPr lang="en-US"/>
              <a:pPr/>
              <a:t>1</a:t>
            </a:fld>
            <a:endParaRPr lang="en-US"/>
          </a:p>
        </p:txBody>
      </p:sp>
      <p:sp>
        <p:nvSpPr>
          <p:cNvPr id="201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E21F71-4061-4D98-9497-2A2204F53589}" type="slidenum">
              <a:rPr lang="en-US"/>
              <a:pPr/>
              <a:t>2</a:t>
            </a:fld>
            <a:endParaRPr lang="en-US"/>
          </a:p>
        </p:txBody>
      </p:sp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88F3A9-3081-4B0E-A3CC-43F0B2BDB086}" type="slidenum">
              <a:rPr lang="en-US"/>
              <a:pPr/>
              <a:t>50</a:t>
            </a:fld>
            <a:endParaRPr lang="en-US"/>
          </a:p>
        </p:txBody>
      </p:sp>
      <p:sp>
        <p:nvSpPr>
          <p:cNvPr id="2816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1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124200"/>
            <a:ext cx="7772400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r>
              <a:rPr lang="en-US"/>
              <a:t>Linux+ Guide to Linux Certification, Second Edition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fld id="{95BC7A49-E134-41EA-8ACF-1FA01492815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576D4A-F927-404F-B29C-492EBA1C11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9A3DB3-13FD-4FBF-B86D-BE3EB19CC2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607CAC2-9AFA-4197-A67B-97F7C92B46A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08E1527-A19A-4D01-B0BD-5B142E1E54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FA5C22-5AD6-4E03-BA83-167E23A11C8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A83389D-64D7-432F-A44B-072218E5BC4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9A78730-812B-4370-8F48-BA9D895749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D3F2DA-77D3-4959-88B1-239F83F23F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8CF9FB-5599-4BED-8B61-E30C3B5B5A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61B12C-BED8-41C7-826E-9B8D0C63C20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6858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500" b="0">
                <a:solidFill>
                  <a:srgbClr val="222222"/>
                </a:solidFill>
              </a:defRPr>
            </a:lvl1pPr>
          </a:lstStyle>
          <a:p>
            <a:r>
              <a:rPr lang="en-US"/>
              <a:t>A+ Guide to Managing and Maintaining your PC, 6e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1400" y="6324600"/>
            <a:ext cx="1219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500" b="0">
                <a:solidFill>
                  <a:srgbClr val="222222"/>
                </a:solidFill>
              </a:defRPr>
            </a:lvl1pPr>
          </a:lstStyle>
          <a:p>
            <a:fld id="{BF50198F-0AC5-4E46-9418-43EEF0739F5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09600" y="1447800"/>
            <a:ext cx="8001000" cy="2209800"/>
          </a:xfrm>
        </p:spPr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92163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153400" cy="167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400" b="0" i="1"/>
              <a:t>Chapter 13</a:t>
            </a:r>
          </a:p>
          <a:p>
            <a:pPr>
              <a:lnSpc>
                <a:spcPct val="90000"/>
              </a:lnSpc>
            </a:pPr>
            <a:r>
              <a:rPr lang="en-US" sz="3400" b="0" i="1"/>
              <a:t>Supporting Windows 2000/XP Users and Their Data</a:t>
            </a:r>
          </a:p>
        </p:txBody>
      </p:sp>
      <p:pic>
        <p:nvPicPr>
          <p:cNvPr id="92165" name="Picture 1029" descr="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312420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E5655A-1597-4616-9F70-47CFDC05200E}" type="slidenum">
              <a:rPr lang="en-US"/>
              <a:pPr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Objectives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Learn how to set up and support Windows 2000/XP user accounts</a:t>
            </a:r>
          </a:p>
          <a:p>
            <a:r>
              <a:rPr lang="en-US"/>
              <a:t>Learn about some tools useful when supporting users and their data</a:t>
            </a:r>
          </a:p>
          <a:p>
            <a:r>
              <a:rPr lang="en-US"/>
              <a:t>Learn how to maintain a hard drive and keep good backups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0C28F-8989-43DF-9193-0D030B5B7493}" type="slidenum">
              <a:rPr lang="en-US"/>
              <a:pPr/>
              <a:t>3</a:t>
            </a:fld>
            <a:endParaRPr lang="en-US"/>
          </a:p>
        </p:txBody>
      </p:sp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Importance of privileges assigned to user account</a:t>
            </a:r>
          </a:p>
          <a:p>
            <a:pPr lvl="1"/>
            <a:r>
              <a:rPr lang="en-US"/>
              <a:t>Determines what a user is allowed to do</a:t>
            </a:r>
          </a:p>
          <a:p>
            <a:r>
              <a:rPr lang="en-US"/>
              <a:t>Topics to cover:</a:t>
            </a:r>
          </a:p>
          <a:p>
            <a:pPr lvl="1"/>
            <a:r>
              <a:rPr lang="en-US"/>
              <a:t>How to set up and support a user account </a:t>
            </a:r>
          </a:p>
          <a:p>
            <a:pPr lvl="1"/>
            <a:r>
              <a:rPr lang="en-US"/>
              <a:t>Windows user support tools </a:t>
            </a:r>
          </a:p>
          <a:p>
            <a:pPr lvl="1"/>
            <a:r>
              <a:rPr lang="en-US"/>
              <a:t>Supporting the hard drive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27B9F4-F77A-4041-A0FA-9A810D92965E}" type="slidenum">
              <a:rPr lang="en-US"/>
              <a:pPr/>
              <a:t>4</a:t>
            </a:fld>
            <a:endParaRPr lang="en-US"/>
          </a:p>
        </p:txBody>
      </p:sp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Managing User Accounts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user account is required to log onto Windows </a:t>
            </a:r>
          </a:p>
          <a:p>
            <a:r>
              <a:rPr lang="en-US"/>
              <a:t>Skills needed to manage user accounts:</a:t>
            </a:r>
          </a:p>
          <a:p>
            <a:pPr lvl="1"/>
            <a:r>
              <a:rPr lang="en-US"/>
              <a:t>Ability to setup user accounts</a:t>
            </a:r>
          </a:p>
          <a:p>
            <a:pPr lvl="1"/>
            <a:r>
              <a:rPr lang="en-US"/>
              <a:t>Ability to transfer user files and settings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59280C-6977-48A3-88BD-AD07A5CD8B75}" type="slidenum">
              <a:rPr lang="en-US"/>
              <a:pPr/>
              <a:t>5</a:t>
            </a:fld>
            <a:endParaRPr lang="en-US"/>
          </a:p>
        </p:txBody>
      </p:sp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Understanding and Setting Up User Accounts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382000" cy="4419600"/>
          </a:xfrm>
        </p:spPr>
        <p:txBody>
          <a:bodyPr/>
          <a:lstStyle/>
          <a:p>
            <a:r>
              <a:rPr lang="en-US"/>
              <a:t>User account: defines a user to Windows </a:t>
            </a:r>
          </a:p>
          <a:p>
            <a:r>
              <a:rPr lang="en-US"/>
              <a:t>Permissions: specify access for a user account</a:t>
            </a:r>
          </a:p>
          <a:p>
            <a:r>
              <a:rPr lang="en-US"/>
              <a:t>Global user accounts (or domain user accounts):</a:t>
            </a:r>
          </a:p>
          <a:p>
            <a:pPr lvl="1"/>
            <a:r>
              <a:rPr lang="en-US"/>
              <a:t>Created by an administrator </a:t>
            </a:r>
          </a:p>
          <a:p>
            <a:pPr lvl="1"/>
            <a:r>
              <a:rPr lang="en-US"/>
              <a:t>Stored in the SAM database and the domain controller</a:t>
            </a:r>
          </a:p>
          <a:p>
            <a:pPr lvl="1"/>
            <a:r>
              <a:rPr lang="en-US"/>
              <a:t>Enables user to log on to any PC in networked domain</a:t>
            </a:r>
          </a:p>
          <a:p>
            <a:r>
              <a:rPr lang="en-US"/>
              <a:t>Local user account:</a:t>
            </a:r>
          </a:p>
          <a:p>
            <a:pPr lvl="1"/>
            <a:r>
              <a:rPr lang="en-US"/>
              <a:t>Created by an administrator on a local computer</a:t>
            </a:r>
          </a:p>
          <a:p>
            <a:pPr lvl="1"/>
            <a:r>
              <a:rPr lang="en-US"/>
              <a:t>Permissions and rights apply to a local PC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1C7D26-711E-4331-8CF9-48E2C1C27E47}" type="slidenum">
              <a:rPr lang="en-US"/>
              <a:pPr/>
              <a:t>6</a:t>
            </a:fld>
            <a:endParaRPr lang="en-US"/>
          </a:p>
        </p:txBody>
      </p:sp>
      <p:pic>
        <p:nvPicPr>
          <p:cNvPr id="580613" name="Picture 5" descr="C13F001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371600" y="1447800"/>
            <a:ext cx="6151563" cy="3252788"/>
          </a:xfrm>
          <a:prstGeom prst="rect">
            <a:avLst/>
          </a:prstGeom>
          <a:noFill/>
        </p:spPr>
      </p:pic>
      <p:sp>
        <p:nvSpPr>
          <p:cNvPr id="580615" name="Rectangle 7"/>
          <p:cNvSpPr>
            <a:spLocks noChangeArrowheads="1"/>
          </p:cNvSpPr>
          <p:nvPr/>
        </p:nvSpPr>
        <p:spPr bwMode="auto">
          <a:xfrm>
            <a:off x="201613" y="3230563"/>
            <a:ext cx="87423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Times New Roman" pitchFamily="18" charset="0"/>
              </a:rPr>
              <a:t>Figure 13-1 </a:t>
            </a:r>
            <a:r>
              <a:rPr lang="en-US" sz="2000" b="0">
                <a:solidFill>
                  <a:srgbClr val="FFFFFF"/>
                </a:solidFill>
                <a:latin typeface="Times New Roman" pitchFamily="18" charset="0"/>
              </a:rPr>
              <a:t>On a domain, a user account login is managed by the domain controller</a:t>
            </a:r>
          </a:p>
        </p:txBody>
      </p:sp>
      <p:sp>
        <p:nvSpPr>
          <p:cNvPr id="580616" name="Rectangle 8"/>
          <p:cNvSpPr>
            <a:spLocks noChangeArrowheads="1"/>
          </p:cNvSpPr>
          <p:nvPr/>
        </p:nvSpPr>
        <p:spPr bwMode="auto">
          <a:xfrm>
            <a:off x="201613" y="3230563"/>
            <a:ext cx="87423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>
                <a:solidFill>
                  <a:srgbClr val="FFFFFF"/>
                </a:solidFill>
                <a:latin typeface="Times New Roman" pitchFamily="18" charset="0"/>
              </a:rPr>
              <a:t>Figure 13-1 </a:t>
            </a:r>
            <a:r>
              <a:rPr lang="en-US" sz="2000" b="0">
                <a:solidFill>
                  <a:srgbClr val="FFFFFF"/>
                </a:solidFill>
                <a:latin typeface="Times New Roman" pitchFamily="18" charset="0"/>
              </a:rPr>
              <a:t>On a domain, a user account login is managed by the domain controller</a:t>
            </a:r>
          </a:p>
        </p:txBody>
      </p:sp>
      <p:sp>
        <p:nvSpPr>
          <p:cNvPr id="580617" name="Rectangle 9"/>
          <p:cNvSpPr>
            <a:spLocks noChangeArrowheads="1"/>
          </p:cNvSpPr>
          <p:nvPr/>
        </p:nvSpPr>
        <p:spPr bwMode="auto">
          <a:xfrm>
            <a:off x="685800" y="5386388"/>
            <a:ext cx="7848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1">
            <a:spAutoFit/>
          </a:bodyPr>
          <a:lstStyle/>
          <a:p>
            <a:r>
              <a:rPr lang="en-US"/>
              <a:t>Figure 13-1 </a:t>
            </a:r>
            <a:r>
              <a:rPr lang="en-US" b="0"/>
              <a:t>On a domain, a user account login is managed by the domain controller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0B1172-4F48-4694-B8B8-D136CF856872}" type="slidenum">
              <a:rPr lang="en-US"/>
              <a:pPr/>
              <a:t>7</a:t>
            </a:fld>
            <a:endParaRPr lang="en-US"/>
          </a:p>
        </p:txBody>
      </p:sp>
      <p:sp>
        <p:nvSpPr>
          <p:cNvPr id="581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Understanding and Setting Up User Accounts (continued)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458200" cy="4419600"/>
          </a:xfrm>
        </p:spPr>
        <p:txBody>
          <a:bodyPr/>
          <a:lstStyle/>
          <a:p>
            <a:r>
              <a:rPr lang="en-US"/>
              <a:t>Built-in user accounts created when OS is installed:</a:t>
            </a:r>
          </a:p>
          <a:p>
            <a:pPr lvl="1"/>
            <a:r>
              <a:rPr lang="en-US"/>
              <a:t>The built-in administrator account</a:t>
            </a:r>
          </a:p>
          <a:p>
            <a:pPr lvl="1"/>
            <a:r>
              <a:rPr lang="en-US"/>
              <a:t>The built-in guest account</a:t>
            </a:r>
          </a:p>
          <a:p>
            <a:r>
              <a:rPr lang="en-US"/>
              <a:t>User groups:</a:t>
            </a:r>
          </a:p>
          <a:p>
            <a:pPr lvl="1"/>
            <a:r>
              <a:rPr lang="en-US"/>
              <a:t>Administrator: used to perform all administrative tasks</a:t>
            </a:r>
          </a:p>
          <a:p>
            <a:pPr lvl="1"/>
            <a:r>
              <a:rPr lang="en-US"/>
              <a:t>Backup Operator: used to backup and restore files</a:t>
            </a:r>
          </a:p>
          <a:p>
            <a:pPr lvl="1"/>
            <a:r>
              <a:rPr lang="en-US"/>
              <a:t>Power User: used to perform some administrative tasks</a:t>
            </a:r>
          </a:p>
          <a:p>
            <a:pPr lvl="1"/>
            <a:r>
              <a:rPr lang="en-US"/>
              <a:t>Limited User: provides limited read and write access</a:t>
            </a:r>
          </a:p>
          <a:p>
            <a:pPr lvl="1"/>
            <a:r>
              <a:rPr lang="en-US"/>
              <a:t>Guest: provides limited access to files and resources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090C48-A4AB-4A1E-A21A-DBB122C060EE}" type="slidenum">
              <a:rPr lang="en-US"/>
              <a:pPr/>
              <a:t>8</a:t>
            </a:fld>
            <a:endParaRPr lang="en-US"/>
          </a:p>
        </p:txBody>
      </p:sp>
      <p:pic>
        <p:nvPicPr>
          <p:cNvPr id="582660" name="Picture 4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 b="8585"/>
          <a:stretch>
            <a:fillRect/>
          </a:stretch>
        </p:blipFill>
        <p:spPr bwMode="auto">
          <a:xfrm>
            <a:off x="914400" y="1295400"/>
            <a:ext cx="7129463" cy="350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82661" name="Rectangle 5"/>
          <p:cNvSpPr>
            <a:spLocks noChangeArrowheads="1"/>
          </p:cNvSpPr>
          <p:nvPr/>
        </p:nvSpPr>
        <p:spPr bwMode="auto">
          <a:xfrm>
            <a:off x="1524000" y="5334000"/>
            <a:ext cx="551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Table 13-1 </a:t>
            </a:r>
            <a:r>
              <a:rPr lang="en-US" b="0"/>
              <a:t>Actions permitted for three account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A5FC72-CE4A-4E6B-8483-C98051414DF7}" type="slidenum">
              <a:rPr lang="en-US"/>
              <a:pPr/>
              <a:t>9</a:t>
            </a:fld>
            <a:endParaRPr lang="en-US"/>
          </a:p>
        </p:txBody>
      </p:sp>
      <p:sp>
        <p:nvSpPr>
          <p:cNvPr id="5836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Understanding and Setting Up User Accounts (continued)</a:t>
            </a:r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828800"/>
            <a:ext cx="8458200" cy="4419600"/>
          </a:xfrm>
        </p:spPr>
        <p:txBody>
          <a:bodyPr/>
          <a:lstStyle/>
          <a:p>
            <a:r>
              <a:rPr lang="en-US"/>
              <a:t>Access control</a:t>
            </a:r>
          </a:p>
          <a:p>
            <a:pPr lvl="1"/>
            <a:r>
              <a:rPr lang="en-US"/>
              <a:t>To access a networked PC, account on PC is required</a:t>
            </a:r>
          </a:p>
          <a:p>
            <a:pPr lvl="1"/>
            <a:r>
              <a:rPr lang="en-US"/>
              <a:t>Cacls command: used to view/change access control</a:t>
            </a:r>
          </a:p>
          <a:p>
            <a:r>
              <a:rPr lang="en-US"/>
              <a:t>User profile: created after a user logs on the first time</a:t>
            </a:r>
          </a:p>
          <a:p>
            <a:r>
              <a:rPr lang="en-US"/>
              <a:t>Items used by administrator to manage user profiles: </a:t>
            </a:r>
          </a:p>
          <a:p>
            <a:pPr lvl="1"/>
            <a:r>
              <a:rPr lang="en-US"/>
              <a:t>Group profile: a profile that applies to a group of users</a:t>
            </a:r>
          </a:p>
          <a:p>
            <a:pPr lvl="1"/>
            <a:r>
              <a:rPr lang="en-US"/>
              <a:t>Roaming user profile: a profile stored on a server </a:t>
            </a:r>
          </a:p>
          <a:p>
            <a:pPr lvl="1"/>
            <a:r>
              <a:rPr lang="en-US"/>
              <a:t>Mandatory user profile: a type of roaming user profile </a:t>
            </a:r>
          </a:p>
          <a:p>
            <a:r>
              <a:rPr lang="en-US"/>
              <a:t>View user profiles on a PC using System Properties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55F077-EF10-490A-A8C1-B8D939E0CE43}" type="slidenum">
              <a:rPr lang="en-US"/>
              <a:pPr/>
              <a:t>10</a:t>
            </a:fld>
            <a:endParaRPr lang="en-US"/>
          </a:p>
        </p:txBody>
      </p:sp>
      <p:sp>
        <p:nvSpPr>
          <p:cNvPr id="584709" name="Rectangle 5"/>
          <p:cNvSpPr>
            <a:spLocks noChangeArrowheads="1"/>
          </p:cNvSpPr>
          <p:nvPr/>
        </p:nvSpPr>
        <p:spPr bwMode="auto">
          <a:xfrm>
            <a:off x="685800" y="56388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Figure 13-5 </a:t>
            </a:r>
            <a:r>
              <a:rPr lang="en-US" b="0"/>
              <a:t>View all user profiles stored on this PC using the System Properties window</a:t>
            </a:r>
          </a:p>
        </p:txBody>
      </p:sp>
      <p:pic>
        <p:nvPicPr>
          <p:cNvPr id="584710" name="Picture 6" descr="C13F005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990600" y="914400"/>
            <a:ext cx="6937375" cy="43608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765402-F5C7-455A-A7C0-BB52F11CE61A}" type="slidenum">
              <a:rPr lang="en-US"/>
              <a:pPr/>
              <a:t>11</a:t>
            </a:fld>
            <a:endParaRPr lang="en-US"/>
          </a:p>
        </p:txBody>
      </p:sp>
      <p:sp>
        <p:nvSpPr>
          <p:cNvPr id="585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Understanding and Setting Up User Accounts (continued)</a:t>
            </a:r>
          </a:p>
        </p:txBody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458200" cy="4572000"/>
          </a:xfrm>
        </p:spPr>
        <p:txBody>
          <a:bodyPr/>
          <a:lstStyle/>
          <a:p>
            <a:r>
              <a:rPr lang="en-US"/>
              <a:t>Guidelines for setting up user accounts:</a:t>
            </a:r>
          </a:p>
          <a:p>
            <a:pPr lvl="1"/>
            <a:r>
              <a:rPr lang="en-US"/>
              <a:t>User name for logon can consist of up to 15 characters</a:t>
            </a:r>
          </a:p>
          <a:p>
            <a:pPr lvl="1"/>
            <a:r>
              <a:rPr lang="en-US"/>
              <a:t>Passwords can be up to 127 characters</a:t>
            </a:r>
          </a:p>
          <a:p>
            <a:pPr lvl="1"/>
            <a:r>
              <a:rPr lang="en-US"/>
              <a:t>User accounts can be set up with or without passwords</a:t>
            </a:r>
          </a:p>
          <a:p>
            <a:pPr lvl="1"/>
            <a:r>
              <a:rPr lang="en-US"/>
              <a:t>Passwords can be controlled by the administrator</a:t>
            </a:r>
          </a:p>
          <a:p>
            <a:r>
              <a:rPr lang="en-US"/>
              <a:t>Logon options for PCs in a Windows XP workgroup</a:t>
            </a:r>
          </a:p>
          <a:p>
            <a:pPr lvl="1"/>
            <a:r>
              <a:rPr lang="en-US"/>
              <a:t>Welcome screen</a:t>
            </a:r>
          </a:p>
          <a:p>
            <a:pPr lvl="1"/>
            <a:r>
              <a:rPr lang="en-US"/>
              <a:t>Logon window (by pressing Ctrl+Alt+Del)</a:t>
            </a:r>
          </a:p>
          <a:p>
            <a:pPr lvl="1"/>
            <a:r>
              <a:rPr lang="en-US"/>
              <a:t>Fast User Switching Enabled (or Disabled)</a:t>
            </a:r>
          </a:p>
          <a:p>
            <a:pPr lvl="1"/>
            <a:r>
              <a:rPr lang="en-US"/>
              <a:t>Automatic logon (Welcome screen does not appear)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2739B9-37CB-4C24-81C1-79093A5615C7}" type="slidenum">
              <a:rPr lang="en-US"/>
              <a:pPr/>
              <a:t>12</a:t>
            </a:fld>
            <a:endParaRPr lang="en-US"/>
          </a:p>
        </p:txBody>
      </p:sp>
      <p:pic>
        <p:nvPicPr>
          <p:cNvPr id="586757" name="Picture 5" descr="C13F01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838200" y="1371600"/>
            <a:ext cx="7467600" cy="2936875"/>
          </a:xfrm>
          <a:prstGeom prst="rect">
            <a:avLst/>
          </a:prstGeom>
          <a:noFill/>
        </p:spPr>
      </p:pic>
      <p:sp>
        <p:nvSpPr>
          <p:cNvPr id="586758" name="Rectangle 6"/>
          <p:cNvSpPr>
            <a:spLocks noChangeArrowheads="1"/>
          </p:cNvSpPr>
          <p:nvPr/>
        </p:nvSpPr>
        <p:spPr bwMode="auto">
          <a:xfrm>
            <a:off x="1371600" y="5257800"/>
            <a:ext cx="6191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13-10 </a:t>
            </a:r>
            <a:r>
              <a:rPr lang="en-US" b="0"/>
              <a:t>Options to change the way users log on or 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E2523F-5E51-43A9-B606-CD0076A89C0C}" type="slidenum">
              <a:rPr lang="en-US"/>
              <a:pPr/>
              <a:t>13</a:t>
            </a:fld>
            <a:endParaRPr lang="en-US"/>
          </a:p>
        </p:txBody>
      </p:sp>
      <p:sp>
        <p:nvSpPr>
          <p:cNvPr id="5877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Understanding and Setting Up User Accounts (continued)</a:t>
            </a:r>
          </a:p>
        </p:txBody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52600"/>
            <a:ext cx="8458200" cy="4572000"/>
          </a:xfrm>
        </p:spPr>
        <p:txBody>
          <a:bodyPr/>
          <a:lstStyle/>
          <a:p>
            <a:r>
              <a:rPr lang="en-US"/>
              <a:t>Tools used by administrator for changing a password:</a:t>
            </a:r>
          </a:p>
          <a:p>
            <a:pPr lvl="1"/>
            <a:r>
              <a:rPr lang="en-US"/>
              <a:t>Computer Management console </a:t>
            </a:r>
          </a:p>
          <a:p>
            <a:pPr lvl="1"/>
            <a:r>
              <a:rPr lang="en-US"/>
              <a:t>User Accounts applet</a:t>
            </a:r>
          </a:p>
          <a:p>
            <a:r>
              <a:rPr lang="en-US"/>
              <a:t>Problem with resetting a user password</a:t>
            </a:r>
          </a:p>
          <a:p>
            <a:pPr lvl="1"/>
            <a:r>
              <a:rPr lang="en-US"/>
              <a:t>Access to encrypted files and Internet passwords is lost</a:t>
            </a:r>
          </a:p>
          <a:p>
            <a:r>
              <a:rPr lang="en-US"/>
              <a:t>Forgotten password floppy disk</a:t>
            </a:r>
          </a:p>
          <a:p>
            <a:pPr lvl="1"/>
            <a:r>
              <a:rPr lang="en-US"/>
              <a:t>An alternative to resetting a password</a:t>
            </a:r>
          </a:p>
          <a:p>
            <a:pPr lvl="1"/>
            <a:r>
              <a:rPr lang="en-US"/>
              <a:t>Created through User Accounts applet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FAF422-C6F7-41CC-9495-CF0D973E7EB9}" type="slidenum">
              <a:rPr lang="en-US"/>
              <a:pPr/>
              <a:t>14</a:t>
            </a:fld>
            <a:endParaRPr lang="en-US"/>
          </a:p>
        </p:txBody>
      </p:sp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1447800"/>
          </a:xfrm>
        </p:spPr>
        <p:txBody>
          <a:bodyPr/>
          <a:lstStyle/>
          <a:p>
            <a:r>
              <a:rPr lang="en-US"/>
              <a:t>Transferring User Files and Preferences to a New PC</a:t>
            </a:r>
          </a:p>
        </p:txBody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81200"/>
            <a:ext cx="8229600" cy="4267200"/>
          </a:xfrm>
        </p:spPr>
        <p:txBody>
          <a:bodyPr/>
          <a:lstStyle/>
          <a:p>
            <a:r>
              <a:rPr lang="en-US"/>
              <a:t>Avoid process of manually copying files and settings</a:t>
            </a:r>
          </a:p>
          <a:p>
            <a:r>
              <a:rPr lang="en-US"/>
              <a:t>The Files and Settings Transfer Wizard</a:t>
            </a:r>
          </a:p>
          <a:p>
            <a:pPr lvl="1"/>
            <a:r>
              <a:rPr lang="en-US"/>
              <a:t>Designed for the user rather than the administrator</a:t>
            </a:r>
          </a:p>
          <a:p>
            <a:pPr lvl="1"/>
            <a:r>
              <a:rPr lang="en-US"/>
              <a:t>Located on the Windows XP setup CD (Fastwiz.exe)</a:t>
            </a:r>
          </a:p>
          <a:p>
            <a:r>
              <a:rPr lang="en-US"/>
              <a:t>The User State Migration Tool (USMT)</a:t>
            </a:r>
          </a:p>
          <a:p>
            <a:pPr lvl="1"/>
            <a:r>
              <a:rPr lang="en-US"/>
              <a:t>Command-line tool designed for administrators</a:t>
            </a:r>
          </a:p>
          <a:p>
            <a:pPr lvl="1"/>
            <a:r>
              <a:rPr lang="en-US"/>
              <a:t>scanstate: copies data from old PC to server or drive </a:t>
            </a:r>
          </a:p>
          <a:p>
            <a:pPr lvl="1"/>
            <a:r>
              <a:rPr lang="en-US"/>
              <a:t>loadsate: copies data to the new PC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156CCE-D9F5-4412-8F69-0E3782424C7F}" type="slidenum">
              <a:rPr lang="en-US"/>
              <a:pPr/>
              <a:t>15</a:t>
            </a:fld>
            <a:endParaRPr lang="en-US"/>
          </a:p>
        </p:txBody>
      </p:sp>
      <p:pic>
        <p:nvPicPr>
          <p:cNvPr id="589829" name="Picture 5" descr="C13F015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905000" y="990600"/>
            <a:ext cx="5027613" cy="3921125"/>
          </a:xfrm>
          <a:prstGeom prst="rect">
            <a:avLst/>
          </a:prstGeom>
          <a:noFill/>
        </p:spPr>
      </p:pic>
      <p:sp>
        <p:nvSpPr>
          <p:cNvPr id="589830" name="Rectangle 6"/>
          <p:cNvSpPr>
            <a:spLocks noChangeArrowheads="1"/>
          </p:cNvSpPr>
          <p:nvPr/>
        </p:nvSpPr>
        <p:spPr bwMode="auto">
          <a:xfrm>
            <a:off x="762000" y="5410200"/>
            <a:ext cx="7620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/>
              <a:t>Figure 13-15 </a:t>
            </a:r>
            <a:r>
              <a:rPr lang="en-US" b="0"/>
              <a:t>On the new computer, the Files and Settings Transfer Wizard can be used to point to the location of saved files and settings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B7A77E-49AF-4A8E-9CAA-848D66D1528F}" type="slidenum">
              <a:rPr lang="en-US"/>
              <a:pPr/>
              <a:t>16</a:t>
            </a:fld>
            <a:endParaRPr lang="en-US"/>
          </a:p>
        </p:txBody>
      </p:sp>
      <p:sp>
        <p:nvSpPr>
          <p:cNvPr id="5908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Tools for Supporting Users and Their Data</a:t>
            </a:r>
          </a:p>
        </p:txBody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Support tools covered:</a:t>
            </a:r>
          </a:p>
          <a:p>
            <a:pPr lvl="1"/>
            <a:r>
              <a:rPr lang="en-US"/>
              <a:t>Command Prompt window and its commands</a:t>
            </a:r>
          </a:p>
          <a:p>
            <a:pPr lvl="1"/>
            <a:r>
              <a:rPr lang="en-US"/>
              <a:t>Task Scheduler</a:t>
            </a:r>
          </a:p>
          <a:p>
            <a:pPr lvl="1"/>
            <a:r>
              <a:rPr lang="en-US"/>
              <a:t>Group Policy</a:t>
            </a:r>
          </a:p>
          <a:p>
            <a:pPr lvl="1"/>
            <a:r>
              <a:rPr lang="en-US"/>
              <a:t>Start menu</a:t>
            </a:r>
          </a:p>
          <a:p>
            <a:pPr lvl="1"/>
            <a:r>
              <a:rPr lang="en-US"/>
              <a:t>Remote Assistance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1429DF-ED18-4509-AF7B-9D7494CCFE48}" type="slidenum">
              <a:rPr lang="en-US"/>
              <a:pPr/>
              <a:t>17</a:t>
            </a:fld>
            <a:endParaRPr lang="en-US"/>
          </a:p>
        </p:txBody>
      </p:sp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Command Prompt Window</a:t>
            </a:r>
          </a:p>
        </p:txBody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077200" cy="4572000"/>
          </a:xfrm>
        </p:spPr>
        <p:txBody>
          <a:bodyPr/>
          <a:lstStyle/>
          <a:p>
            <a:r>
              <a:rPr lang="en-US"/>
              <a:t>Opening Command Prompt window:</a:t>
            </a:r>
          </a:p>
          <a:p>
            <a:pPr lvl="1"/>
            <a:r>
              <a:rPr lang="en-US"/>
              <a:t>Click Start, click Run, and enter Cmd or Cmd.exe</a:t>
            </a:r>
          </a:p>
          <a:p>
            <a:r>
              <a:rPr lang="en-US"/>
              <a:t>Filename and file extension characters used</a:t>
            </a:r>
          </a:p>
          <a:p>
            <a:pPr lvl="1"/>
            <a:r>
              <a:rPr lang="en-US"/>
              <a:t>Letters a through z</a:t>
            </a:r>
          </a:p>
          <a:p>
            <a:pPr lvl="1"/>
            <a:r>
              <a:rPr lang="en-US"/>
              <a:t>The numbers 0 through 9</a:t>
            </a:r>
          </a:p>
          <a:p>
            <a:pPr lvl="1"/>
            <a:r>
              <a:rPr lang="en-US"/>
              <a:t>Symbols: _ ^ $ ~ ! # % &amp; – { } ( ) @ ' `</a:t>
            </a:r>
          </a:p>
          <a:p>
            <a:r>
              <a:rPr lang="en-US"/>
              <a:t>Wildcard characters</a:t>
            </a:r>
          </a:p>
          <a:p>
            <a:pPr lvl="1"/>
            <a:r>
              <a:rPr lang="en-US"/>
              <a:t>The question mark (?): wildcard for one character</a:t>
            </a:r>
          </a:p>
          <a:p>
            <a:pPr lvl="1"/>
            <a:r>
              <a:rPr lang="en-US"/>
              <a:t>The asterisk (*): wildcard for one or more characters</a:t>
            </a:r>
          </a:p>
          <a:p>
            <a:pPr lvl="1"/>
            <a:r>
              <a:rPr lang="en-US"/>
              <a:t>Example: enter a*.??? in file search box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8DF762-2C64-4493-A50F-1584D22EB9DF}" type="slidenum">
              <a:rPr lang="en-US"/>
              <a:pPr/>
              <a:t>18</a:t>
            </a:fld>
            <a:endParaRPr lang="en-US"/>
          </a:p>
        </p:txBody>
      </p:sp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The Command Prompt Window (continued)</a:t>
            </a:r>
          </a:p>
        </p:txBody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8534400" cy="4267200"/>
          </a:xfrm>
        </p:spPr>
        <p:txBody>
          <a:bodyPr/>
          <a:lstStyle/>
          <a:p>
            <a:r>
              <a:rPr lang="en-US"/>
              <a:t>Help: used to get information about any command</a:t>
            </a:r>
          </a:p>
          <a:p>
            <a:r>
              <a:rPr lang="en-US"/>
              <a:t>Dir: used to list files and directories</a:t>
            </a:r>
          </a:p>
          <a:p>
            <a:r>
              <a:rPr lang="en-US"/>
              <a:t>Del or Erase: used to erase files or groups of files</a:t>
            </a:r>
          </a:p>
          <a:p>
            <a:r>
              <a:rPr lang="en-US"/>
              <a:t>Copy [</a:t>
            </a:r>
            <a:r>
              <a:rPr lang="en-US" i="1"/>
              <a:t>drive:\path\</a:t>
            </a:r>
            <a:r>
              <a:rPr lang="en-US"/>
              <a:t>]</a:t>
            </a:r>
            <a:r>
              <a:rPr lang="en-US" i="1"/>
              <a:t>filename </a:t>
            </a:r>
            <a:r>
              <a:rPr lang="en-US"/>
              <a:t>[</a:t>
            </a:r>
            <a:r>
              <a:rPr lang="en-US" i="1"/>
              <a:t>drive:\path\</a:t>
            </a:r>
            <a:r>
              <a:rPr lang="en-US"/>
              <a:t>]</a:t>
            </a:r>
            <a:r>
              <a:rPr lang="en-US" i="1"/>
              <a:t>filename</a:t>
            </a:r>
          </a:p>
          <a:p>
            <a:pPr lvl="1"/>
            <a:r>
              <a:rPr lang="en-US"/>
              <a:t>Used to copy files from one drive to another</a:t>
            </a:r>
          </a:p>
          <a:p>
            <a:pPr lvl="1"/>
            <a:r>
              <a:rPr lang="en-US"/>
              <a:t>Drive and path parameters are optional</a:t>
            </a:r>
          </a:p>
          <a:p>
            <a:r>
              <a:rPr lang="en-US"/>
              <a:t>Recover: used to recover file when parts are corrupted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61017C-327D-4764-B31F-40C349D0A34C}" type="slidenum">
              <a:rPr lang="en-US"/>
              <a:pPr/>
              <a:t>19</a:t>
            </a:fld>
            <a:endParaRPr lang="en-US"/>
          </a:p>
        </p:txBody>
      </p:sp>
      <p:pic>
        <p:nvPicPr>
          <p:cNvPr id="595972" name="Picture 4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 b="10139"/>
          <a:stretch>
            <a:fillRect/>
          </a:stretch>
        </p:blipFill>
        <p:spPr bwMode="auto">
          <a:xfrm>
            <a:off x="990600" y="2133600"/>
            <a:ext cx="7138988" cy="194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95973" name="Rectangle 5"/>
          <p:cNvSpPr>
            <a:spLocks noChangeArrowheads="1"/>
          </p:cNvSpPr>
          <p:nvPr/>
        </p:nvSpPr>
        <p:spPr bwMode="auto">
          <a:xfrm>
            <a:off x="2286000" y="4572000"/>
            <a:ext cx="3676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Table 13-3 </a:t>
            </a:r>
            <a:r>
              <a:rPr lang="en-US" b="0"/>
              <a:t>Sample Dir commands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DD64E5-60AE-42D1-9255-4166C4C91A4B}" type="slidenum">
              <a:rPr lang="en-US"/>
              <a:pPr/>
              <a:t>20</a:t>
            </a:fld>
            <a:endParaRPr lang="en-US"/>
          </a:p>
        </p:txBody>
      </p:sp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The Command Prompt Window (continued)</a:t>
            </a:r>
          </a:p>
        </p:txBody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458200" cy="4419600"/>
          </a:xfrm>
        </p:spPr>
        <p:txBody>
          <a:bodyPr/>
          <a:lstStyle/>
          <a:p>
            <a:r>
              <a:rPr lang="en-US"/>
              <a:t>Xcopy /C /S /Y /D:  enhanced version of Copy </a:t>
            </a:r>
          </a:p>
          <a:p>
            <a:r>
              <a:rPr lang="en-US"/>
              <a:t>Mkdir [</a:t>
            </a:r>
            <a:r>
              <a:rPr lang="en-US" i="1"/>
              <a:t>drive:</a:t>
            </a:r>
            <a:r>
              <a:rPr lang="en-US"/>
              <a:t>]</a:t>
            </a:r>
            <a:r>
              <a:rPr lang="en-US" i="1"/>
              <a:t>path </a:t>
            </a:r>
            <a:r>
              <a:rPr lang="en-US"/>
              <a:t>or MD [</a:t>
            </a:r>
            <a:r>
              <a:rPr lang="en-US" i="1"/>
              <a:t>drive:</a:t>
            </a:r>
            <a:r>
              <a:rPr lang="en-US"/>
              <a:t>]</a:t>
            </a:r>
            <a:r>
              <a:rPr lang="en-US" i="1"/>
              <a:t>path</a:t>
            </a:r>
            <a:r>
              <a:rPr lang="en-US"/>
              <a:t>:</a:t>
            </a:r>
            <a:r>
              <a:rPr lang="en-US" i="1"/>
              <a:t> </a:t>
            </a:r>
            <a:r>
              <a:rPr lang="en-US"/>
              <a:t>creates directory</a:t>
            </a:r>
          </a:p>
          <a:p>
            <a:r>
              <a:rPr lang="en-US"/>
              <a:t>Chdir [</a:t>
            </a:r>
            <a:r>
              <a:rPr lang="en-US" i="1"/>
              <a:t>drive:</a:t>
            </a:r>
            <a:r>
              <a:rPr lang="en-US"/>
              <a:t>]</a:t>
            </a:r>
            <a:r>
              <a:rPr lang="en-US" i="1"/>
              <a:t>path o</a:t>
            </a:r>
            <a:r>
              <a:rPr lang="en-US"/>
              <a:t>r CD [</a:t>
            </a:r>
            <a:r>
              <a:rPr lang="en-US" i="1"/>
              <a:t>drive:</a:t>
            </a:r>
            <a:r>
              <a:rPr lang="en-US"/>
              <a:t>]</a:t>
            </a:r>
            <a:r>
              <a:rPr lang="en-US" i="1"/>
              <a:t>path </a:t>
            </a:r>
            <a:r>
              <a:rPr lang="en-US"/>
              <a:t>or CD..</a:t>
            </a:r>
          </a:p>
          <a:p>
            <a:pPr lvl="1"/>
            <a:r>
              <a:rPr lang="en-US"/>
              <a:t>Used to changes the current default directory  </a:t>
            </a:r>
          </a:p>
          <a:p>
            <a:r>
              <a:rPr lang="en-US"/>
              <a:t>Rmdir [</a:t>
            </a:r>
            <a:r>
              <a:rPr lang="en-US" i="1"/>
              <a:t>drive:</a:t>
            </a:r>
            <a:r>
              <a:rPr lang="en-US"/>
              <a:t>]</a:t>
            </a:r>
            <a:r>
              <a:rPr lang="en-US" i="1"/>
              <a:t>path</a:t>
            </a:r>
            <a:r>
              <a:rPr lang="en-US"/>
              <a:t> or </a:t>
            </a:r>
            <a:r>
              <a:rPr lang="en-US" i="1"/>
              <a:t>RD</a:t>
            </a:r>
            <a:r>
              <a:rPr lang="en-US"/>
              <a:t> [</a:t>
            </a:r>
            <a:r>
              <a:rPr lang="en-US" i="1"/>
              <a:t>drive:</a:t>
            </a:r>
            <a:r>
              <a:rPr lang="en-US"/>
              <a:t>]</a:t>
            </a:r>
            <a:r>
              <a:rPr lang="en-US" i="1"/>
              <a:t>path</a:t>
            </a:r>
            <a:endParaRPr lang="en-US"/>
          </a:p>
          <a:p>
            <a:pPr lvl="1"/>
            <a:r>
              <a:rPr lang="en-US"/>
              <a:t>Used to remove a subdirectory </a:t>
            </a:r>
          </a:p>
          <a:p>
            <a:r>
              <a:rPr lang="en-US"/>
              <a:t>Attrib: used to display or change file attributes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BAEED4-34D6-454E-9906-8C20590774AD}" type="slidenum">
              <a:rPr lang="en-US"/>
              <a:pPr/>
              <a:t>21</a:t>
            </a:fld>
            <a:endParaRPr lang="en-US"/>
          </a:p>
        </p:txBody>
      </p:sp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The Command Prompt Window (continued)</a:t>
            </a:r>
          </a:p>
        </p:txBody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458200" cy="4572000"/>
          </a:xfrm>
        </p:spPr>
        <p:txBody>
          <a:bodyPr/>
          <a:lstStyle/>
          <a:p>
            <a:r>
              <a:rPr lang="en-US"/>
              <a:t>Chkdsk [</a:t>
            </a:r>
            <a:r>
              <a:rPr lang="en-US" i="1"/>
              <a:t>drive:</a:t>
            </a:r>
            <a:r>
              <a:rPr lang="en-US"/>
              <a:t>]</a:t>
            </a:r>
            <a:r>
              <a:rPr lang="en-US" i="1"/>
              <a:t> </a:t>
            </a:r>
            <a:r>
              <a:rPr lang="en-US"/>
              <a:t>/f /r: </a:t>
            </a:r>
          </a:p>
          <a:p>
            <a:pPr lvl="1"/>
            <a:r>
              <a:rPr lang="en-US"/>
              <a:t>Reports information about a drive</a:t>
            </a:r>
          </a:p>
          <a:p>
            <a:pPr lvl="1"/>
            <a:r>
              <a:rPr lang="en-US"/>
              <a:t>Fixes file system errors and recovers data </a:t>
            </a:r>
          </a:p>
          <a:p>
            <a:r>
              <a:rPr lang="en-US"/>
              <a:t>Defrag [</a:t>
            </a:r>
            <a:r>
              <a:rPr lang="en-US" i="1"/>
              <a:t>drive:</a:t>
            </a:r>
            <a:r>
              <a:rPr lang="en-US"/>
              <a:t>] /S: optimizes hard drive performance</a:t>
            </a:r>
          </a:p>
          <a:p>
            <a:r>
              <a:rPr lang="en-US"/>
              <a:t>Edit [</a:t>
            </a:r>
            <a:r>
              <a:rPr lang="en-US" i="1"/>
              <a:t>drive:path</a:t>
            </a:r>
            <a:r>
              <a:rPr lang="en-US"/>
              <a:t>] </a:t>
            </a:r>
            <a:r>
              <a:rPr lang="en-US" i="1"/>
              <a:t>Filename</a:t>
            </a:r>
          </a:p>
          <a:p>
            <a:pPr lvl="1"/>
            <a:r>
              <a:rPr lang="en-US"/>
              <a:t>Activates the Edit program to create and edit text files</a:t>
            </a:r>
          </a:p>
          <a:p>
            <a:r>
              <a:rPr lang="en-US"/>
              <a:t>Format </a:t>
            </a:r>
            <a:r>
              <a:rPr lang="en-US" i="1"/>
              <a:t>drive:</a:t>
            </a:r>
            <a:r>
              <a:rPr lang="en-US"/>
              <a:t>/v:</a:t>
            </a:r>
            <a:r>
              <a:rPr lang="en-US" i="1"/>
              <a:t>label</a:t>
            </a:r>
            <a:r>
              <a:rPr lang="en-US"/>
              <a:t>/q /fs: </a:t>
            </a:r>
            <a:r>
              <a:rPr lang="en-US" i="1"/>
              <a:t>filesystem</a:t>
            </a:r>
            <a:endParaRPr lang="en-US"/>
          </a:p>
          <a:p>
            <a:pPr lvl="1"/>
            <a:r>
              <a:rPr lang="en-US"/>
              <a:t>Used to format a floppy disk</a:t>
            </a: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133E34-7468-458A-89D0-7FB01C6CA322}" type="slidenum">
              <a:rPr lang="en-US"/>
              <a:pPr/>
              <a:t>22</a:t>
            </a:fld>
            <a:endParaRPr lang="en-US"/>
          </a:p>
        </p:txBody>
      </p:sp>
      <p:pic>
        <p:nvPicPr>
          <p:cNvPr id="598021" name="Picture 5" descr="C13F01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600200"/>
            <a:ext cx="6837363" cy="2787650"/>
          </a:xfrm>
          <a:prstGeom prst="rect">
            <a:avLst/>
          </a:prstGeom>
          <a:noFill/>
        </p:spPr>
      </p:pic>
      <p:sp>
        <p:nvSpPr>
          <p:cNvPr id="598022" name="Rectangle 6"/>
          <p:cNvSpPr>
            <a:spLocks noChangeArrowheads="1"/>
          </p:cNvSpPr>
          <p:nvPr/>
        </p:nvSpPr>
        <p:spPr bwMode="auto">
          <a:xfrm>
            <a:off x="990600" y="5105400"/>
            <a:ext cx="7524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13-18 </a:t>
            </a:r>
            <a:r>
              <a:rPr lang="en-US" b="0"/>
              <a:t>Using the Edit editor to create and edit the Mybatch.bat file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D982B5-D553-4CC3-9FBA-6D50F91ED4BE}" type="slidenum">
              <a:rPr lang="en-US"/>
              <a:pPr/>
              <a:t>23</a:t>
            </a:fld>
            <a:endParaRPr lang="en-US"/>
          </a:p>
        </p:txBody>
      </p:sp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Scheduler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r>
              <a:rPr lang="en-US"/>
              <a:t>Used to schedule a batch routine, script, or program </a:t>
            </a:r>
          </a:p>
          <a:p>
            <a:r>
              <a:rPr lang="en-US"/>
              <a:t>Task frequency: daily, weekly, monthly, at events</a:t>
            </a:r>
          </a:p>
          <a:p>
            <a:r>
              <a:rPr lang="en-US"/>
              <a:t>Scheduled tasks stored in C:\Windows\Tasks folder</a:t>
            </a:r>
          </a:p>
          <a:p>
            <a:r>
              <a:rPr lang="en-US"/>
              <a:t>How to schedule a task:</a:t>
            </a:r>
          </a:p>
          <a:p>
            <a:pPr lvl="1"/>
            <a:r>
              <a:rPr lang="en-US"/>
              <a:t>Open the Scheduled Tasks window </a:t>
            </a:r>
          </a:p>
          <a:p>
            <a:pPr lvl="1"/>
            <a:r>
              <a:rPr lang="en-US"/>
              <a:t>Double-click Add Scheduled Task</a:t>
            </a:r>
          </a:p>
          <a:p>
            <a:pPr lvl="1"/>
            <a:r>
              <a:rPr lang="en-US"/>
              <a:t>Follow instructions in Scheduled Task Wizard</a:t>
            </a:r>
          </a:p>
          <a:p>
            <a:r>
              <a:rPr lang="en-US"/>
              <a:t>How to change settings for a scheduled task:</a:t>
            </a:r>
          </a:p>
          <a:p>
            <a:pPr lvl="1"/>
            <a:r>
              <a:rPr lang="en-US"/>
              <a:t>Right-click the task and select Properties</a:t>
            </a:r>
          </a:p>
          <a:p>
            <a:pPr lvl="1"/>
            <a:r>
              <a:rPr lang="en-US"/>
              <a:t>Change the initial and advanced settings for a task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92E7F6-65E2-4262-857B-B35B232067D5}" type="slidenum">
              <a:rPr lang="en-US"/>
              <a:pPr/>
              <a:t>24</a:t>
            </a:fld>
            <a:endParaRPr lang="en-US"/>
          </a:p>
        </p:txBody>
      </p:sp>
      <p:pic>
        <p:nvPicPr>
          <p:cNvPr id="600069" name="Picture 5" descr="C13F02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219200"/>
            <a:ext cx="5027613" cy="3711575"/>
          </a:xfrm>
          <a:prstGeom prst="rect">
            <a:avLst/>
          </a:prstGeom>
          <a:noFill/>
        </p:spPr>
      </p:pic>
      <p:sp>
        <p:nvSpPr>
          <p:cNvPr id="600070" name="Rectangle 6"/>
          <p:cNvSpPr>
            <a:spLocks noChangeArrowheads="1"/>
          </p:cNvSpPr>
          <p:nvPr/>
        </p:nvSpPr>
        <p:spPr bwMode="auto">
          <a:xfrm>
            <a:off x="1219200" y="5486400"/>
            <a:ext cx="676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13-21 </a:t>
            </a:r>
            <a:r>
              <a:rPr lang="en-US" b="0"/>
              <a:t>Name the task and select when it will be performed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9B8C75-6C35-4F2F-8961-BC4A0EB77E76}" type="slidenum">
              <a:rPr lang="en-US"/>
              <a:pPr/>
              <a:t>25</a:t>
            </a:fld>
            <a:endParaRPr lang="en-US"/>
          </a:p>
        </p:txBody>
      </p:sp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Policy</a:t>
            </a:r>
          </a:p>
        </p:txBody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229600" cy="4572000"/>
          </a:xfrm>
        </p:spPr>
        <p:txBody>
          <a:bodyPr/>
          <a:lstStyle/>
          <a:p>
            <a:r>
              <a:rPr lang="en-US"/>
              <a:t>Applied from the Group Policy console</a:t>
            </a:r>
          </a:p>
          <a:p>
            <a:r>
              <a:rPr lang="en-US"/>
              <a:t>Managed by Active Directory (if used in a domain)</a:t>
            </a:r>
          </a:p>
          <a:p>
            <a:r>
              <a:rPr lang="en-US"/>
              <a:t>Can be applied to a PC or to each user who logs on</a:t>
            </a:r>
          </a:p>
          <a:p>
            <a:r>
              <a:rPr lang="en-US"/>
              <a:t>Adding a Group Policy:</a:t>
            </a:r>
          </a:p>
          <a:p>
            <a:pPr lvl="1"/>
            <a:r>
              <a:rPr lang="en-US"/>
              <a:t>Enter Gpedit.msc in Run dialog box to open console</a:t>
            </a:r>
          </a:p>
          <a:p>
            <a:pPr lvl="1"/>
            <a:r>
              <a:rPr lang="en-US"/>
              <a:t>Go to Computer Configuration or User Configuration</a:t>
            </a:r>
          </a:p>
          <a:p>
            <a:pPr lvl="1"/>
            <a:r>
              <a:rPr lang="en-US"/>
              <a:t>Open Administrative Templates, System, and Logon</a:t>
            </a:r>
          </a:p>
          <a:p>
            <a:pPr lvl="1"/>
            <a:r>
              <a:rPr lang="en-US"/>
              <a:t>Double-click “Run these programs at user logon”</a:t>
            </a:r>
          </a:p>
          <a:p>
            <a:pPr lvl="1"/>
            <a:r>
              <a:rPr lang="en-US"/>
              <a:t>Select Enabled and then click Show</a:t>
            </a:r>
          </a:p>
          <a:p>
            <a:pPr lvl="1"/>
            <a:r>
              <a:rPr lang="en-US"/>
              <a:t>Click Add to include a script or executable program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F18B1E-52E6-4746-B4F7-1261A80983F1}" type="slidenum">
              <a:rPr lang="en-US"/>
              <a:pPr/>
              <a:t>26</a:t>
            </a:fld>
            <a:endParaRPr lang="en-US"/>
          </a:p>
        </p:txBody>
      </p:sp>
      <p:pic>
        <p:nvPicPr>
          <p:cNvPr id="602117" name="Picture 5" descr="C13F026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295400" y="1066800"/>
            <a:ext cx="6591300" cy="3684588"/>
          </a:xfrm>
          <a:prstGeom prst="rect">
            <a:avLst/>
          </a:prstGeom>
          <a:noFill/>
        </p:spPr>
      </p:pic>
      <p:sp>
        <p:nvSpPr>
          <p:cNvPr id="602118" name="Rectangle 6"/>
          <p:cNvSpPr>
            <a:spLocks noChangeArrowheads="1"/>
          </p:cNvSpPr>
          <p:nvPr/>
        </p:nvSpPr>
        <p:spPr bwMode="auto">
          <a:xfrm>
            <a:off x="1905000" y="5410200"/>
            <a:ext cx="5035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13-26 </a:t>
            </a:r>
            <a:r>
              <a:rPr lang="en-US" b="0"/>
              <a:t>Group Policy items to run at logon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8E266C-5F4A-4E26-BEC2-8638530C30CE}" type="slidenum">
              <a:rPr lang="en-US"/>
              <a:pPr/>
              <a:t>27</a:t>
            </a:fld>
            <a:endParaRPr lang="en-US"/>
          </a:p>
        </p:txBody>
      </p:sp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Controlling the Start Menu</a:t>
            </a:r>
          </a:p>
        </p:txBody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r>
              <a:rPr lang="en-US"/>
              <a:t>How to control the Start menu and the Taskbar</a:t>
            </a:r>
          </a:p>
          <a:p>
            <a:pPr lvl="1"/>
            <a:r>
              <a:rPr lang="en-US"/>
              <a:t>Right-click the Start button and select Properties</a:t>
            </a:r>
          </a:p>
          <a:p>
            <a:pPr lvl="2"/>
            <a:r>
              <a:rPr lang="en-US"/>
              <a:t>The Taskbar and Start Menu Properties window opens</a:t>
            </a:r>
          </a:p>
          <a:p>
            <a:pPr lvl="1"/>
            <a:r>
              <a:rPr lang="en-US"/>
              <a:t>Customize to change the items on the Start menu </a:t>
            </a:r>
          </a:p>
          <a:p>
            <a:r>
              <a:rPr lang="en-US"/>
              <a:t>How to control items appearing in program listing</a:t>
            </a:r>
          </a:p>
          <a:p>
            <a:pPr lvl="1"/>
            <a:r>
              <a:rPr lang="en-US"/>
              <a:t>Right-click the Start button </a:t>
            </a:r>
          </a:p>
          <a:p>
            <a:pPr lvl="1"/>
            <a:r>
              <a:rPr lang="en-US"/>
              <a:t>Select Open All Users from the shortcut menu</a:t>
            </a:r>
          </a:p>
          <a:p>
            <a:pPr lvl="2"/>
            <a:r>
              <a:rPr lang="en-US"/>
              <a:t>The Start Menu folder opens as shown </a:t>
            </a:r>
          </a:p>
          <a:p>
            <a:pPr lvl="1"/>
            <a:r>
              <a:rPr lang="en-US"/>
              <a:t>Open the Programs folder to view and change items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501CAD-E900-49CF-AD9C-561BE4355DD6}" type="slidenum">
              <a:rPr lang="en-US"/>
              <a:pPr/>
              <a:t>28</a:t>
            </a:fld>
            <a:endParaRPr lang="en-US"/>
          </a:p>
        </p:txBody>
      </p:sp>
      <p:pic>
        <p:nvPicPr>
          <p:cNvPr id="604165" name="Picture 5" descr="C13F027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295400" y="1143000"/>
            <a:ext cx="6399213" cy="4029075"/>
          </a:xfrm>
          <a:prstGeom prst="rect">
            <a:avLst/>
          </a:prstGeom>
          <a:noFill/>
        </p:spPr>
      </p:pic>
      <p:sp>
        <p:nvSpPr>
          <p:cNvPr id="604166" name="Rectangle 6"/>
          <p:cNvSpPr>
            <a:spLocks noChangeArrowheads="1"/>
          </p:cNvSpPr>
          <p:nvPr/>
        </p:nvSpPr>
        <p:spPr bwMode="auto">
          <a:xfrm>
            <a:off x="1676400" y="5791200"/>
            <a:ext cx="549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13-27 </a:t>
            </a:r>
            <a:r>
              <a:rPr lang="en-US" b="0"/>
              <a:t>Customize the taskbar and Start menu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8E48F9-F406-4AA8-92C7-A15783E22D73}" type="slidenum">
              <a:rPr lang="en-US"/>
              <a:pPr/>
              <a:t>29</a:t>
            </a:fld>
            <a:endParaRPr lang="en-US"/>
          </a:p>
        </p:txBody>
      </p:sp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Windows XP Remote Assistance</a:t>
            </a:r>
          </a:p>
        </p:txBody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72000"/>
          </a:xfrm>
        </p:spPr>
        <p:txBody>
          <a:bodyPr/>
          <a:lstStyle/>
          <a:p>
            <a:r>
              <a:rPr lang="en-US"/>
              <a:t>Remote Desktop</a:t>
            </a:r>
          </a:p>
          <a:p>
            <a:pPr lvl="1"/>
            <a:r>
              <a:rPr lang="en-US"/>
              <a:t>Provides for access to a PC over the Internet</a:t>
            </a:r>
          </a:p>
          <a:p>
            <a:r>
              <a:rPr lang="en-US"/>
              <a:t>Remote Assistance</a:t>
            </a:r>
          </a:p>
          <a:p>
            <a:pPr lvl="1"/>
            <a:r>
              <a:rPr lang="en-US"/>
              <a:t>Allows a PC technician to remotely access a PC</a:t>
            </a:r>
          </a:p>
          <a:p>
            <a:r>
              <a:rPr lang="en-US"/>
              <a:t>How to use Remote Assistance</a:t>
            </a:r>
          </a:p>
          <a:p>
            <a:pPr lvl="1"/>
            <a:r>
              <a:rPr lang="en-US"/>
              <a:t>The user sends you an invitation to help</a:t>
            </a:r>
          </a:p>
          <a:p>
            <a:pPr lvl="1"/>
            <a:r>
              <a:rPr lang="en-US"/>
              <a:t>You accept the invitation and initiate the session</a:t>
            </a:r>
          </a:p>
          <a:p>
            <a:pPr lvl="1"/>
            <a:r>
              <a:rPr lang="en-US"/>
              <a:t>The user then agrees to allow you to connect </a:t>
            </a:r>
          </a:p>
          <a:p>
            <a:pPr lvl="1"/>
            <a:r>
              <a:rPr lang="en-US"/>
              <a:t>The user must agree to give you control of his desktop</a:t>
            </a:r>
          </a:p>
          <a:p>
            <a:r>
              <a:rPr lang="en-US"/>
              <a:t>Set up remote access using Help and Support Center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653B36-41F5-4C27-88F8-8EA41956C4AE}" type="slidenum">
              <a:rPr lang="en-US"/>
              <a:pPr/>
              <a:t>30</a:t>
            </a:fld>
            <a:endParaRPr lang="en-US"/>
          </a:p>
        </p:txBody>
      </p:sp>
      <p:pic>
        <p:nvPicPr>
          <p:cNvPr id="606213" name="Picture 5" descr="C13F03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990600" y="914400"/>
            <a:ext cx="7513638" cy="4149725"/>
          </a:xfrm>
          <a:prstGeom prst="rect">
            <a:avLst/>
          </a:prstGeom>
          <a:noFill/>
        </p:spPr>
      </p:pic>
      <p:sp>
        <p:nvSpPr>
          <p:cNvPr id="606214" name="Rectangle 6"/>
          <p:cNvSpPr>
            <a:spLocks noChangeArrowheads="1"/>
          </p:cNvSpPr>
          <p:nvPr/>
        </p:nvSpPr>
        <p:spPr bwMode="auto">
          <a:xfrm>
            <a:off x="228600" y="5486400"/>
            <a:ext cx="8680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13-30 </a:t>
            </a:r>
            <a:r>
              <a:rPr lang="en-US" b="0"/>
              <a:t>The first step in using Remote Assistance is a user sends an invitation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E7F135-A5A4-40E7-8A66-2A3FDA1A913E}" type="slidenum">
              <a:rPr lang="en-US"/>
              <a:pPr/>
              <a:t>31</a:t>
            </a:fld>
            <a:endParaRPr lang="en-US"/>
          </a:p>
        </p:txBody>
      </p:sp>
      <p:pic>
        <p:nvPicPr>
          <p:cNvPr id="608261" name="Picture 5" descr="C13F0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990600"/>
            <a:ext cx="6032500" cy="4525963"/>
          </a:xfrm>
          <a:prstGeom prst="rect">
            <a:avLst/>
          </a:prstGeom>
          <a:noFill/>
        </p:spPr>
      </p:pic>
      <p:sp>
        <p:nvSpPr>
          <p:cNvPr id="608262" name="Rectangle 6"/>
          <p:cNvSpPr>
            <a:spLocks noChangeArrowheads="1"/>
          </p:cNvSpPr>
          <p:nvPr/>
        </p:nvSpPr>
        <p:spPr bwMode="auto">
          <a:xfrm>
            <a:off x="838200" y="5791200"/>
            <a:ext cx="708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13-35 </a:t>
            </a:r>
            <a:r>
              <a:rPr lang="en-US" b="0"/>
              <a:t>The Remote Assistance window on the user’s desktop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40FA20-40E3-4671-817E-26EC18DE5C4A}" type="slidenum">
              <a:rPr lang="en-US"/>
              <a:pPr/>
              <a:t>32</a:t>
            </a:fld>
            <a:endParaRPr lang="en-US"/>
          </a:p>
        </p:txBody>
      </p:sp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Remote Assistance (continued)</a:t>
            </a:r>
          </a:p>
        </p:txBody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72000"/>
          </a:xfrm>
        </p:spPr>
        <p:txBody>
          <a:bodyPr/>
          <a:lstStyle/>
          <a:p>
            <a:r>
              <a:rPr lang="en-US"/>
              <a:t>Setting up Remote Assistance for first use</a:t>
            </a:r>
          </a:p>
          <a:p>
            <a:pPr lvl="1"/>
            <a:r>
              <a:rPr lang="en-US"/>
              <a:t>Technician’s user accounts on both PCs are the same</a:t>
            </a:r>
          </a:p>
          <a:p>
            <a:pPr lvl="2"/>
            <a:r>
              <a:rPr lang="en-US"/>
              <a:t>Exception: both PCs are on the same domain</a:t>
            </a:r>
          </a:p>
          <a:p>
            <a:pPr lvl="1"/>
            <a:r>
              <a:rPr lang="en-US"/>
              <a:t>Remote Assistance must be enabled on the user’s PC</a:t>
            </a:r>
          </a:p>
          <a:p>
            <a:pPr lvl="2"/>
            <a:r>
              <a:rPr lang="en-US"/>
              <a:t>Check option in Remote tab of System Properties</a:t>
            </a:r>
          </a:p>
          <a:p>
            <a:r>
              <a:rPr lang="en-US"/>
              <a:t>Issues arising with Remote Assistance over the Web</a:t>
            </a:r>
          </a:p>
          <a:p>
            <a:pPr lvl="1"/>
            <a:r>
              <a:rPr lang="en-US"/>
              <a:t>Firewall may have to be configured to allow session</a:t>
            </a:r>
          </a:p>
          <a:p>
            <a:pPr lvl="1"/>
            <a:r>
              <a:rPr lang="en-US"/>
              <a:t>Novice user may not be able to set up a session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FDC37B-0C17-486F-A13E-C403D2228946}" type="slidenum">
              <a:rPr lang="en-US"/>
              <a:pPr/>
              <a:t>33</a:t>
            </a:fld>
            <a:endParaRPr lang="en-US"/>
          </a:p>
        </p:txBody>
      </p:sp>
      <p:pic>
        <p:nvPicPr>
          <p:cNvPr id="609285" name="Picture 5" descr="C13F036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362200" y="609600"/>
            <a:ext cx="4268788" cy="4949825"/>
          </a:xfrm>
          <a:prstGeom prst="rect">
            <a:avLst/>
          </a:prstGeom>
          <a:noFill/>
        </p:spPr>
      </p:pic>
      <p:sp>
        <p:nvSpPr>
          <p:cNvPr id="609286" name="Rectangle 6"/>
          <p:cNvSpPr>
            <a:spLocks noChangeArrowheads="1"/>
          </p:cNvSpPr>
          <p:nvPr/>
        </p:nvSpPr>
        <p:spPr bwMode="auto">
          <a:xfrm>
            <a:off x="381000" y="5791200"/>
            <a:ext cx="8426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13-36 </a:t>
            </a:r>
            <a:r>
              <a:rPr lang="en-US" b="0"/>
              <a:t>Remote Assistance must be enabled on the novice user’s computer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517A60-D71F-4958-AB1F-DA1909674647}" type="slidenum">
              <a:rPr lang="en-US"/>
              <a:pPr/>
              <a:t>34</a:t>
            </a:fld>
            <a:endParaRPr lang="en-US"/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Supporting  Hard Drives</a:t>
            </a:r>
          </a:p>
        </p:txBody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458200" cy="4572000"/>
          </a:xfrm>
        </p:spPr>
        <p:txBody>
          <a:bodyPr/>
          <a:lstStyle/>
          <a:p>
            <a:r>
              <a:rPr lang="en-US"/>
              <a:t>Problems that develop over time:</a:t>
            </a:r>
          </a:p>
          <a:p>
            <a:pPr lvl="1"/>
            <a:r>
              <a:rPr lang="en-US"/>
              <a:t>Outdated software and unneeded data accumulate</a:t>
            </a:r>
          </a:p>
          <a:p>
            <a:pPr lvl="1"/>
            <a:r>
              <a:rPr lang="en-US"/>
              <a:t>Drive errors and failures occur</a:t>
            </a:r>
          </a:p>
          <a:p>
            <a:r>
              <a:rPr lang="en-US"/>
              <a:t>Tasks that will need to be performed:</a:t>
            </a:r>
          </a:p>
          <a:p>
            <a:pPr lvl="1"/>
            <a:r>
              <a:rPr lang="en-US"/>
              <a:t>Routine maintenance on a hard drive </a:t>
            </a:r>
          </a:p>
          <a:p>
            <a:pPr lvl="1"/>
            <a:r>
              <a:rPr lang="en-US"/>
              <a:t>Instructing users how to perform routine maintenance </a:t>
            </a:r>
          </a:p>
          <a:p>
            <a:pPr lvl="1"/>
            <a:r>
              <a:rPr lang="en-US"/>
              <a:t>Configuring a hard drive to conserve space</a:t>
            </a:r>
          </a:p>
          <a:p>
            <a:pPr lvl="1"/>
            <a:r>
              <a:rPr lang="en-US"/>
              <a:t>Keeping good backups of user data</a:t>
            </a:r>
          </a:p>
          <a:p>
            <a:pPr lvl="1"/>
            <a:r>
              <a:rPr lang="en-US"/>
              <a:t>Recovering data when it gets lost or corrupted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336412-9E32-44F7-AEDC-51610677C087}" type="slidenum">
              <a:rPr lang="en-US"/>
              <a:pPr/>
              <a:t>35</a:t>
            </a:fld>
            <a:endParaRPr lang="en-US"/>
          </a:p>
        </p:txBody>
      </p:sp>
      <p:sp>
        <p:nvSpPr>
          <p:cNvPr id="6123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1219200"/>
          </a:xfrm>
        </p:spPr>
        <p:txBody>
          <a:bodyPr/>
          <a:lstStyle/>
          <a:p>
            <a:r>
              <a:rPr lang="en-US"/>
              <a:t>Hard Drive Routine Maintenance Tasks</a:t>
            </a:r>
          </a:p>
        </p:txBody>
      </p:sp>
      <p:sp>
        <p:nvSpPr>
          <p:cNvPr id="612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572000"/>
          </a:xfrm>
        </p:spPr>
        <p:txBody>
          <a:bodyPr/>
          <a:lstStyle/>
          <a:p>
            <a:r>
              <a:rPr lang="en-US"/>
              <a:t>Disk Cleanup: used to delete temporary files </a:t>
            </a:r>
          </a:p>
          <a:p>
            <a:r>
              <a:rPr lang="en-US"/>
              <a:t>Two ways to access Disk Cleanup:</a:t>
            </a:r>
          </a:p>
          <a:p>
            <a:pPr lvl="1"/>
            <a:r>
              <a:rPr lang="en-US"/>
              <a:t>Enter Cleanmgr.exe C: in the Run dialog box </a:t>
            </a:r>
          </a:p>
          <a:p>
            <a:pPr lvl="1"/>
            <a:r>
              <a:rPr lang="en-US"/>
              <a:t>Open Properties of drive and click Disk Cleanup</a:t>
            </a:r>
          </a:p>
          <a:p>
            <a:r>
              <a:rPr lang="en-US"/>
              <a:t>Chain: group of clusters used to hold a file</a:t>
            </a:r>
          </a:p>
          <a:p>
            <a:r>
              <a:rPr lang="en-US"/>
              <a:t>A fragmented file is stored in non-contiguous clusters</a:t>
            </a:r>
          </a:p>
          <a:p>
            <a:r>
              <a:rPr lang="en-US"/>
              <a:t>Issues with fragmentation</a:t>
            </a:r>
          </a:p>
          <a:p>
            <a:pPr lvl="1"/>
            <a:r>
              <a:rPr lang="en-US"/>
              <a:t>File access time is slowed down</a:t>
            </a:r>
          </a:p>
          <a:p>
            <a:pPr lvl="1"/>
            <a:r>
              <a:rPr lang="en-US"/>
              <a:t>Recovery utilities are less likely to reconstruct files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55BEF3-DA05-4245-A85C-469D25EF1CDE}" type="slidenum">
              <a:rPr lang="en-US"/>
              <a:pPr/>
              <a:t>36</a:t>
            </a:fld>
            <a:endParaRPr lang="en-US"/>
          </a:p>
        </p:txBody>
      </p:sp>
      <p:pic>
        <p:nvPicPr>
          <p:cNvPr id="613380" name="Picture 4" descr="C13F038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667000" y="838200"/>
            <a:ext cx="3500438" cy="4159250"/>
          </a:xfrm>
          <a:prstGeom prst="rect">
            <a:avLst/>
          </a:prstGeom>
          <a:noFill/>
        </p:spPr>
      </p:pic>
      <p:sp>
        <p:nvSpPr>
          <p:cNvPr id="613381" name="Rectangle 5"/>
          <p:cNvSpPr>
            <a:spLocks noChangeArrowheads="1"/>
          </p:cNvSpPr>
          <p:nvPr/>
        </p:nvSpPr>
        <p:spPr bwMode="auto">
          <a:xfrm>
            <a:off x="838200" y="5410200"/>
            <a:ext cx="7696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Figure 13-38 </a:t>
            </a:r>
            <a:r>
              <a:rPr lang="en-US" b="0"/>
              <a:t>Disk Cleanup is a quick-and-easy way to delete temporary files on a hard drive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C4EFDF-7735-4149-AC94-7D9AE1F28001}" type="slidenum">
              <a:rPr lang="en-US"/>
              <a:pPr/>
              <a:t>37</a:t>
            </a:fld>
            <a:endParaRPr lang="en-US"/>
          </a:p>
        </p:txBody>
      </p:sp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1219200"/>
          </a:xfrm>
        </p:spPr>
        <p:txBody>
          <a:bodyPr/>
          <a:lstStyle/>
          <a:p>
            <a:r>
              <a:rPr lang="en-US"/>
              <a:t>Hard Drive Routine Maintenance Tasks (continued)</a:t>
            </a:r>
          </a:p>
        </p:txBody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572000"/>
          </a:xfrm>
        </p:spPr>
        <p:txBody>
          <a:bodyPr/>
          <a:lstStyle/>
          <a:p>
            <a:r>
              <a:rPr lang="en-US"/>
              <a:t>Defragmentation: reduces drive fragmentation</a:t>
            </a:r>
          </a:p>
          <a:p>
            <a:r>
              <a:rPr lang="en-US"/>
              <a:t>One way to defrag a hard drive:</a:t>
            </a:r>
          </a:p>
          <a:p>
            <a:pPr lvl="1"/>
            <a:r>
              <a:rPr lang="en-US"/>
              <a:t>Enter Dfrg.msc in the Run dialog box </a:t>
            </a:r>
          </a:p>
          <a:p>
            <a:r>
              <a:rPr lang="en-US"/>
              <a:t>Review of the FAT file system </a:t>
            </a:r>
          </a:p>
          <a:p>
            <a:pPr lvl="1"/>
            <a:r>
              <a:rPr lang="en-US"/>
              <a:t>Directory on a drive contains a list of included files</a:t>
            </a:r>
          </a:p>
          <a:p>
            <a:pPr lvl="1"/>
            <a:r>
              <a:rPr lang="en-US"/>
              <a:t>Each entry points to first cluster in group holding a file</a:t>
            </a:r>
          </a:p>
          <a:p>
            <a:pPr lvl="1"/>
            <a:r>
              <a:rPr lang="en-US"/>
              <a:t>All clusters are linked together using pointers (a chain)</a:t>
            </a:r>
          </a:p>
          <a:p>
            <a:pPr lvl="1"/>
            <a:r>
              <a:rPr lang="en-US"/>
              <a:t>Problems that can occur: lost and cross-linked clusters</a:t>
            </a:r>
          </a:p>
          <a:p>
            <a:pPr lvl="2"/>
            <a:r>
              <a:rPr lang="en-US"/>
              <a:t>The same problems can occur in the NTFS file system</a:t>
            </a:r>
          </a:p>
          <a:p>
            <a:r>
              <a:rPr lang="en-US"/>
              <a:t>Bad sectors: corrupted portion of hard drive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71FD92-66A0-4B44-AA68-6751FA85E57C}" type="slidenum">
              <a:rPr lang="en-US"/>
              <a:pPr/>
              <a:t>38</a:t>
            </a:fld>
            <a:endParaRPr lang="en-US"/>
          </a:p>
        </p:txBody>
      </p:sp>
      <p:pic>
        <p:nvPicPr>
          <p:cNvPr id="615428" name="Picture 4" descr="C13F039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752600" y="1143000"/>
            <a:ext cx="5667375" cy="4156075"/>
          </a:xfrm>
          <a:prstGeom prst="rect">
            <a:avLst/>
          </a:prstGeom>
          <a:noFill/>
        </p:spPr>
      </p:pic>
      <p:sp>
        <p:nvSpPr>
          <p:cNvPr id="615429" name="Rectangle 5"/>
          <p:cNvSpPr>
            <a:spLocks noChangeArrowheads="1"/>
          </p:cNvSpPr>
          <p:nvPr/>
        </p:nvSpPr>
        <p:spPr bwMode="auto">
          <a:xfrm>
            <a:off x="1828800" y="5791200"/>
            <a:ext cx="540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13-39 </a:t>
            </a:r>
            <a:r>
              <a:rPr lang="en-US" b="0"/>
              <a:t>Windows XP defragmenting a volume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B8BCC0-CCE8-4415-BBEA-0C836D96711D}" type="slidenum">
              <a:rPr lang="en-US"/>
              <a:pPr/>
              <a:t>39</a:t>
            </a:fld>
            <a:endParaRPr lang="en-US"/>
          </a:p>
        </p:txBody>
      </p:sp>
      <p:pic>
        <p:nvPicPr>
          <p:cNvPr id="616452" name="Picture 4" descr="C13F040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524000" y="1600200"/>
            <a:ext cx="6105525" cy="2925763"/>
          </a:xfrm>
          <a:prstGeom prst="rect">
            <a:avLst/>
          </a:prstGeom>
          <a:noFill/>
        </p:spPr>
      </p:pic>
      <p:sp>
        <p:nvSpPr>
          <p:cNvPr id="616453" name="Rectangle 5"/>
          <p:cNvSpPr>
            <a:spLocks noChangeArrowheads="1"/>
          </p:cNvSpPr>
          <p:nvPr/>
        </p:nvSpPr>
        <p:spPr bwMode="auto">
          <a:xfrm>
            <a:off x="2209800" y="5334000"/>
            <a:ext cx="4603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13-40 </a:t>
            </a:r>
            <a:r>
              <a:rPr lang="en-US" b="0"/>
              <a:t>Lost and cross-linked clusters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A647B-2F71-4646-9EC2-DC55034E8AF4}" type="slidenum">
              <a:rPr lang="en-US"/>
              <a:pPr/>
              <a:t>40</a:t>
            </a:fld>
            <a:endParaRPr lang="en-US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1219200"/>
          </a:xfrm>
        </p:spPr>
        <p:txBody>
          <a:bodyPr/>
          <a:lstStyle/>
          <a:p>
            <a:r>
              <a:rPr lang="en-US"/>
              <a:t>Hard Drive Routine Maintenance Tasks (continued)</a:t>
            </a: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572000"/>
          </a:xfrm>
        </p:spPr>
        <p:txBody>
          <a:bodyPr/>
          <a:lstStyle/>
          <a:p>
            <a:r>
              <a:rPr lang="en-US"/>
              <a:t>Error checking and repair from the Windows desktop:</a:t>
            </a:r>
          </a:p>
          <a:p>
            <a:pPr lvl="1"/>
            <a:r>
              <a:rPr lang="en-US"/>
              <a:t>Open the Properties dialog box of target drive</a:t>
            </a:r>
          </a:p>
          <a:p>
            <a:pPr lvl="1"/>
            <a:r>
              <a:rPr lang="en-US"/>
              <a:t>Click the Tools tab and then click Check Now</a:t>
            </a:r>
          </a:p>
          <a:p>
            <a:pPr lvl="2"/>
            <a:r>
              <a:rPr lang="en-US"/>
              <a:t>The Check Disk dialog box opens</a:t>
            </a:r>
          </a:p>
          <a:p>
            <a:pPr lvl="1"/>
            <a:r>
              <a:rPr lang="en-US"/>
              <a:t>Check the “Automatically fix file system errors” box</a:t>
            </a:r>
          </a:p>
          <a:p>
            <a:pPr lvl="1"/>
            <a:r>
              <a:rPr lang="en-US"/>
              <a:t>Check “Scan for and attempt recovery of bad sectors” </a:t>
            </a:r>
          </a:p>
          <a:p>
            <a:pPr lvl="1"/>
            <a:r>
              <a:rPr lang="en-US"/>
              <a:t>Click Start</a:t>
            </a:r>
          </a:p>
          <a:p>
            <a:r>
              <a:rPr lang="en-US"/>
              <a:t>The Windows 2000/XP Chkdsk command</a:t>
            </a:r>
          </a:p>
          <a:p>
            <a:pPr lvl="1"/>
            <a:r>
              <a:rPr lang="en-US"/>
              <a:t>Command line tool used to check for disk errors</a:t>
            </a:r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F85385-FC88-4099-88D3-6097BC961E47}" type="slidenum">
              <a:rPr lang="en-US"/>
              <a:pPr/>
              <a:t>41</a:t>
            </a:fld>
            <a:endParaRPr lang="en-US"/>
          </a:p>
        </p:txBody>
      </p:sp>
      <p:pic>
        <p:nvPicPr>
          <p:cNvPr id="618500" name="Picture 4" descr="C13F041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447800" y="685800"/>
            <a:ext cx="6224588" cy="4476750"/>
          </a:xfrm>
          <a:prstGeom prst="rect">
            <a:avLst/>
          </a:prstGeom>
          <a:noFill/>
        </p:spPr>
      </p:pic>
      <p:sp>
        <p:nvSpPr>
          <p:cNvPr id="618501" name="Rectangle 5"/>
          <p:cNvSpPr>
            <a:spLocks noChangeArrowheads="1"/>
          </p:cNvSpPr>
          <p:nvPr/>
        </p:nvSpPr>
        <p:spPr bwMode="auto">
          <a:xfrm>
            <a:off x="609600" y="5562600"/>
            <a:ext cx="7696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Figure 13-41 </a:t>
            </a:r>
            <a:r>
              <a:rPr lang="en-US" b="0"/>
              <a:t>Windows XP repairs hard drive errors under the drive’s Properties window using Windows Explorer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0E72D4-4F10-4950-9733-8477BBDD8532}" type="slidenum">
              <a:rPr lang="en-US"/>
              <a:pPr/>
              <a:t>42</a:t>
            </a:fld>
            <a:endParaRPr lang="en-US"/>
          </a:p>
        </p:txBody>
      </p:sp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Conserving Hard Drive Space</a:t>
            </a:r>
          </a:p>
        </p:txBody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How to meet demand for more files on hard drive</a:t>
            </a:r>
          </a:p>
          <a:p>
            <a:pPr lvl="1"/>
            <a:r>
              <a:rPr lang="en-US"/>
              <a:t>Compress files, folders, or entire volumes</a:t>
            </a:r>
          </a:p>
          <a:p>
            <a:r>
              <a:rPr lang="en-US"/>
              <a:t>Compression options in an NTFS volume</a:t>
            </a:r>
          </a:p>
          <a:p>
            <a:pPr lvl="1"/>
            <a:r>
              <a:rPr lang="en-US"/>
              <a:t>Compress a single file or folder</a:t>
            </a:r>
          </a:p>
          <a:p>
            <a:pPr lvl="1"/>
            <a:r>
              <a:rPr lang="en-US"/>
              <a:t>Compress the entire volume</a:t>
            </a:r>
          </a:p>
          <a:p>
            <a:r>
              <a:rPr lang="en-US"/>
              <a:t>How to compress an NTFS volume</a:t>
            </a:r>
          </a:p>
          <a:p>
            <a:pPr lvl="1"/>
            <a:r>
              <a:rPr lang="en-US"/>
              <a:t>Open the Properties dialog box of the drive</a:t>
            </a:r>
          </a:p>
          <a:p>
            <a:pPr lvl="1"/>
            <a:r>
              <a:rPr lang="en-US"/>
              <a:t>Check the “Compress drive to save disk space” box</a:t>
            </a:r>
          </a:p>
          <a:p>
            <a:pPr lvl="1"/>
            <a:r>
              <a:rPr lang="en-US"/>
              <a:t>Check options in Confirm Attribute Changes dialog </a:t>
            </a:r>
          </a:p>
          <a:p>
            <a:r>
              <a:rPr lang="en-US"/>
              <a:t>Compress single file/folder in Advanced Attributes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66B881-EB6B-4530-B714-D2B9A296CFCC}" type="slidenum">
              <a:rPr lang="en-US"/>
              <a:pPr/>
              <a:t>43</a:t>
            </a:fld>
            <a:endParaRPr lang="en-US"/>
          </a:p>
        </p:txBody>
      </p:sp>
      <p:pic>
        <p:nvPicPr>
          <p:cNvPr id="620548" name="Picture 4" descr="C13F043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2057400" y="1066800"/>
            <a:ext cx="4743450" cy="3906838"/>
          </a:xfrm>
          <a:prstGeom prst="rect">
            <a:avLst/>
          </a:prstGeom>
          <a:noFill/>
        </p:spPr>
      </p:pic>
      <p:sp>
        <p:nvSpPr>
          <p:cNvPr id="620549" name="Rectangle 5"/>
          <p:cNvSpPr>
            <a:spLocks noChangeArrowheads="1"/>
          </p:cNvSpPr>
          <p:nvPr/>
        </p:nvSpPr>
        <p:spPr bwMode="auto">
          <a:xfrm>
            <a:off x="990600" y="5486400"/>
            <a:ext cx="7162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Figure 13-43 </a:t>
            </a:r>
            <a:r>
              <a:rPr lang="en-US" b="0"/>
              <a:t>Compress a folder using the Advanced Attributes dialog box for the folder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B7EBE1-1443-486B-9BEA-1C1B308089AF}" type="slidenum">
              <a:rPr lang="en-US"/>
              <a:pPr/>
              <a:t>44</a:t>
            </a:fld>
            <a:endParaRPr lang="en-US"/>
          </a:p>
        </p:txBody>
      </p:sp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1219200"/>
          </a:xfrm>
        </p:spPr>
        <p:txBody>
          <a:bodyPr/>
          <a:lstStyle/>
          <a:p>
            <a:r>
              <a:rPr lang="en-US"/>
              <a:t>Conserving Hard Drive Space (continued)</a:t>
            </a:r>
          </a:p>
        </p:txBody>
      </p:sp>
      <p:sp>
        <p:nvSpPr>
          <p:cNvPr id="621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458200" cy="4419600"/>
          </a:xfrm>
        </p:spPr>
        <p:txBody>
          <a:bodyPr/>
          <a:lstStyle/>
          <a:p>
            <a:r>
              <a:rPr lang="en-US"/>
              <a:t>Disk quota: limits the disk space a user can access</a:t>
            </a:r>
          </a:p>
          <a:p>
            <a:r>
              <a:rPr lang="en-US"/>
              <a:t>The disk quota set applies to all user accounts</a:t>
            </a:r>
          </a:p>
          <a:p>
            <a:r>
              <a:rPr lang="en-US"/>
              <a:t>You can only set disk quotas if you are using NTFS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28547C-B1A9-4D22-BF2D-759ABFA87D78}" type="slidenum">
              <a:rPr lang="en-US"/>
              <a:pPr/>
              <a:t>45</a:t>
            </a:fld>
            <a:endParaRPr lang="en-US"/>
          </a:p>
        </p:txBody>
      </p:sp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 Backups</a:t>
            </a:r>
          </a:p>
        </p:txBody>
      </p:sp>
      <p:sp>
        <p:nvSpPr>
          <p:cNvPr id="622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724400"/>
          </a:xfrm>
        </p:spPr>
        <p:txBody>
          <a:bodyPr/>
          <a:lstStyle/>
          <a:p>
            <a:r>
              <a:rPr lang="en-US"/>
              <a:t>Backup: extra copy of data or software file</a:t>
            </a:r>
          </a:p>
          <a:p>
            <a:r>
              <a:rPr lang="en-US"/>
              <a:t>A few tips for creating backup and recovery plans</a:t>
            </a:r>
          </a:p>
          <a:p>
            <a:pPr lvl="1"/>
            <a:r>
              <a:rPr lang="en-US"/>
              <a:t>Decide on the backup media; e.g., tape, CD, DVD</a:t>
            </a:r>
          </a:p>
          <a:p>
            <a:pPr lvl="1"/>
            <a:r>
              <a:rPr lang="en-US"/>
              <a:t>Back up data after every four to ten hours of data entry</a:t>
            </a:r>
          </a:p>
          <a:p>
            <a:pPr lvl="1"/>
            <a:r>
              <a:rPr lang="en-US"/>
              <a:t>Always record your regular backups in a log</a:t>
            </a:r>
          </a:p>
          <a:p>
            <a:r>
              <a:rPr lang="en-US"/>
              <a:t>Perform backups using the Backup Utility</a:t>
            </a:r>
          </a:p>
          <a:p>
            <a:r>
              <a:rPr lang="en-US"/>
              <a:t>Options for scheduled backups:</a:t>
            </a:r>
          </a:p>
          <a:p>
            <a:pPr lvl="1"/>
            <a:r>
              <a:rPr lang="en-US"/>
              <a:t>Full, copy, incremental, differential, and daily</a:t>
            </a:r>
          </a:p>
          <a:p>
            <a:r>
              <a:rPr lang="en-US"/>
              <a:t>Restore and Manage Media tab of Backup Utility</a:t>
            </a:r>
          </a:p>
          <a:p>
            <a:pPr lvl="1"/>
            <a:r>
              <a:rPr lang="en-US"/>
              <a:t>Used to recover files, folders, or an entire drive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4629B5-11D4-4F16-BC52-C2BD6311A318}" type="slidenum">
              <a:rPr lang="en-US"/>
              <a:pPr/>
              <a:t>46</a:t>
            </a:fld>
            <a:endParaRPr lang="en-US"/>
          </a:p>
        </p:txBody>
      </p:sp>
      <p:pic>
        <p:nvPicPr>
          <p:cNvPr id="623620" name="Picture 4" descr="C13F048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676400" y="838200"/>
            <a:ext cx="5840413" cy="4359275"/>
          </a:xfrm>
          <a:prstGeom prst="rect">
            <a:avLst/>
          </a:prstGeom>
          <a:noFill/>
        </p:spPr>
      </p:pic>
      <p:sp>
        <p:nvSpPr>
          <p:cNvPr id="623621" name="Rectangle 5"/>
          <p:cNvSpPr>
            <a:spLocks noChangeArrowheads="1"/>
          </p:cNvSpPr>
          <p:nvPr/>
        </p:nvSpPr>
        <p:spPr bwMode="auto">
          <a:xfrm>
            <a:off x="838200" y="5562600"/>
            <a:ext cx="7626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Figure 13-48 </a:t>
            </a:r>
            <a:r>
              <a:rPr lang="en-US" b="0"/>
              <a:t>You can perform an immediate backup from the Backup tab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048B4B-6A0C-4F0E-B8B4-E4CAFBF88453}" type="slidenum">
              <a:rPr lang="en-US"/>
              <a:pPr/>
              <a:t>47</a:t>
            </a:fld>
            <a:endParaRPr lang="en-US"/>
          </a:p>
        </p:txBody>
      </p:sp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Solving Hard Drive Problems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types of problems:</a:t>
            </a:r>
          </a:p>
          <a:p>
            <a:pPr lvl="1"/>
            <a:r>
              <a:rPr lang="en-US"/>
              <a:t>Those that prevent the hard drive from booting </a:t>
            </a:r>
          </a:p>
          <a:p>
            <a:pPr lvl="1"/>
            <a:r>
              <a:rPr lang="en-US"/>
              <a:t>Those that prevent data from being accessed</a:t>
            </a:r>
          </a:p>
          <a:p>
            <a:r>
              <a:rPr lang="en-US"/>
              <a:t>Problem-solving process</a:t>
            </a:r>
          </a:p>
          <a:p>
            <a:pPr lvl="1"/>
            <a:r>
              <a:rPr lang="en-US"/>
              <a:t>Interview the end user</a:t>
            </a:r>
          </a:p>
          <a:p>
            <a:pPr lvl="1"/>
            <a:r>
              <a:rPr lang="en-US"/>
              <a:t>Prioritize what you have learned</a:t>
            </a:r>
          </a:p>
          <a:p>
            <a:pPr lvl="1"/>
            <a:r>
              <a:rPr lang="en-US"/>
              <a:t>Use all available resources; e.g., Task Manager</a:t>
            </a:r>
          </a:p>
          <a:p>
            <a:r>
              <a:rPr lang="en-US"/>
              <a:t>A few ways to recover lost data</a:t>
            </a:r>
          </a:p>
          <a:p>
            <a:pPr lvl="1"/>
            <a:r>
              <a:rPr lang="en-US"/>
              <a:t>Try treating a corrupted file as a text file</a:t>
            </a:r>
          </a:p>
          <a:p>
            <a:pPr lvl="1"/>
            <a:r>
              <a:rPr lang="en-US"/>
              <a:t>Try data recovery software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22A454-0B0F-4518-A7A6-A0C184CBB746}" type="slidenum">
              <a:rPr lang="en-US"/>
              <a:pPr/>
              <a:t>48</a:t>
            </a:fld>
            <a:endParaRPr lang="en-US"/>
          </a:p>
        </p:txBody>
      </p:sp>
      <p:pic>
        <p:nvPicPr>
          <p:cNvPr id="625668" name="Picture 4" descr="C13F052"/>
          <p:cNvPicPr>
            <a:picLocks noChangeAspect="1" noChangeArrowheads="1"/>
          </p:cNvPicPr>
          <p:nvPr/>
        </p:nvPicPr>
        <p:blipFill>
          <a:blip r:embed="rId2" cstate="print">
            <a:lum bright="-6000"/>
          </a:blip>
          <a:srcRect/>
          <a:stretch>
            <a:fillRect/>
          </a:stretch>
        </p:blipFill>
        <p:spPr bwMode="auto">
          <a:xfrm>
            <a:off x="1066800" y="990600"/>
            <a:ext cx="6973888" cy="4160838"/>
          </a:xfrm>
          <a:prstGeom prst="rect">
            <a:avLst/>
          </a:prstGeom>
          <a:noFill/>
        </p:spPr>
      </p:pic>
      <p:sp>
        <p:nvSpPr>
          <p:cNvPr id="625669" name="Rectangle 5"/>
          <p:cNvSpPr>
            <a:spLocks noChangeArrowheads="1"/>
          </p:cNvSpPr>
          <p:nvPr/>
        </p:nvSpPr>
        <p:spPr bwMode="auto">
          <a:xfrm>
            <a:off x="914400" y="5486400"/>
            <a:ext cx="7315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Figure 13-52 </a:t>
            </a:r>
            <a:r>
              <a:rPr lang="en-US" b="0"/>
              <a:t>Look for an application that might be causing slow drive performance by excessive reading and writing to the hard drive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E59037-11CA-4CA3-BDC1-70EB85FAA614}" type="slidenum">
              <a:rPr lang="en-US"/>
              <a:pPr/>
              <a:t>49</a:t>
            </a:fld>
            <a:endParaRPr lang="en-US"/>
          </a:p>
        </p:txBody>
      </p:sp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382000" cy="4572000"/>
          </a:xfrm>
        </p:spPr>
        <p:txBody>
          <a:bodyPr/>
          <a:lstStyle/>
          <a:p>
            <a:r>
              <a:rPr lang="en-US"/>
              <a:t>User account: defines a user to Windows 2000/XP</a:t>
            </a:r>
          </a:p>
          <a:p>
            <a:r>
              <a:rPr lang="en-US"/>
              <a:t>Types of user accounts: global user, local user</a:t>
            </a:r>
          </a:p>
          <a:p>
            <a:r>
              <a:rPr lang="en-US"/>
              <a:t>Main user groups: Administrator, Limited User, Guest</a:t>
            </a:r>
          </a:p>
          <a:p>
            <a:r>
              <a:rPr lang="en-US"/>
              <a:t>Manage user profiles with group profile, roaming user profile, and mandatory user profile</a:t>
            </a:r>
          </a:p>
          <a:p>
            <a:r>
              <a:rPr lang="en-US"/>
              <a:t>Command Prompt window: used to enter text commands 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A+ Guide to Managing and Maintaining your PC, 6e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2652CA-5A47-4A87-A41C-492EEF5AAA20}" type="slidenum">
              <a:rPr lang="en-US"/>
              <a:pPr/>
              <a:t>50</a:t>
            </a:fld>
            <a:endParaRPr lang="en-US"/>
          </a:p>
        </p:txBody>
      </p:sp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(continued)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534400" cy="4572000"/>
          </a:xfrm>
        </p:spPr>
        <p:txBody>
          <a:bodyPr/>
          <a:lstStyle/>
          <a:p>
            <a:r>
              <a:rPr lang="en-US"/>
              <a:t>The Start menu and taskbar can be customized</a:t>
            </a:r>
          </a:p>
          <a:p>
            <a:r>
              <a:rPr lang="en-US"/>
              <a:t>Remote Assistance: gives remote access to technician</a:t>
            </a:r>
          </a:p>
          <a:p>
            <a:r>
              <a:rPr lang="en-US"/>
              <a:t>Disk utilities: Disk Cleanup, Disk Defragmenter, Error-checking </a:t>
            </a:r>
          </a:p>
          <a:p>
            <a:r>
              <a:rPr lang="en-US"/>
              <a:t>Conserve hard drive space using compression and disk quotas</a:t>
            </a:r>
          </a:p>
          <a:p>
            <a:r>
              <a:rPr lang="en-US"/>
              <a:t>Backup types: full, copy, incremental, differential, daily  	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2848</Words>
  <Application>Microsoft Office PowerPoint</Application>
  <PresentationFormat>On-screen Show (4:3)</PresentationFormat>
  <Paragraphs>391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Times New Roman</vt:lpstr>
      <vt:lpstr>Arial</vt:lpstr>
      <vt:lpstr>Default Design</vt:lpstr>
      <vt:lpstr>A+ Guide to Managing and Maintaining your PC, 6e</vt:lpstr>
      <vt:lpstr>Objectives</vt:lpstr>
      <vt:lpstr>Introduction</vt:lpstr>
      <vt:lpstr>Managing User Accounts</vt:lpstr>
      <vt:lpstr>Understanding and Setting Up User Accounts</vt:lpstr>
      <vt:lpstr>Slide 6</vt:lpstr>
      <vt:lpstr>Understanding and Setting Up User Accounts (continued)</vt:lpstr>
      <vt:lpstr>Slide 8</vt:lpstr>
      <vt:lpstr>Understanding and Setting Up User Accounts (continued)</vt:lpstr>
      <vt:lpstr>Slide 10</vt:lpstr>
      <vt:lpstr>Understanding and Setting Up User Accounts (continued)</vt:lpstr>
      <vt:lpstr>Slide 12</vt:lpstr>
      <vt:lpstr>Understanding and Setting Up User Accounts (continued)</vt:lpstr>
      <vt:lpstr>Transferring User Files and Preferences to a New PC</vt:lpstr>
      <vt:lpstr>Slide 15</vt:lpstr>
      <vt:lpstr>Tools for Supporting Users and Their Data</vt:lpstr>
      <vt:lpstr>The Command Prompt Window</vt:lpstr>
      <vt:lpstr>The Command Prompt Window (continued)</vt:lpstr>
      <vt:lpstr>Slide 19</vt:lpstr>
      <vt:lpstr>The Command Prompt Window (continued)</vt:lpstr>
      <vt:lpstr>The Command Prompt Window (continued)</vt:lpstr>
      <vt:lpstr>Slide 22</vt:lpstr>
      <vt:lpstr>Task Scheduler</vt:lpstr>
      <vt:lpstr>Slide 24</vt:lpstr>
      <vt:lpstr>Group Policy</vt:lpstr>
      <vt:lpstr>Slide 26</vt:lpstr>
      <vt:lpstr>Controlling the Start Menu</vt:lpstr>
      <vt:lpstr>Slide 28</vt:lpstr>
      <vt:lpstr>Windows XP Remote Assistance</vt:lpstr>
      <vt:lpstr>Slide 30</vt:lpstr>
      <vt:lpstr>Slide 31</vt:lpstr>
      <vt:lpstr>Remote Assistance (continued)</vt:lpstr>
      <vt:lpstr>Slide 33</vt:lpstr>
      <vt:lpstr>Supporting  Hard Drives</vt:lpstr>
      <vt:lpstr>Hard Drive Routine Maintenance Tasks</vt:lpstr>
      <vt:lpstr>Slide 36</vt:lpstr>
      <vt:lpstr>Hard Drive Routine Maintenance Tasks (continued)</vt:lpstr>
      <vt:lpstr>Slide 38</vt:lpstr>
      <vt:lpstr>Slide 39</vt:lpstr>
      <vt:lpstr>Hard Drive Routine Maintenance Tasks (continued)</vt:lpstr>
      <vt:lpstr>Slide 41</vt:lpstr>
      <vt:lpstr>Conserving Hard Drive Space</vt:lpstr>
      <vt:lpstr>Slide 43</vt:lpstr>
      <vt:lpstr>Conserving Hard Drive Space (continued)</vt:lpstr>
      <vt:lpstr>Making Backups</vt:lpstr>
      <vt:lpstr>Slide 46</vt:lpstr>
      <vt:lpstr>Solving Hard Drive Problems</vt:lpstr>
      <vt:lpstr>Slide 48</vt:lpstr>
      <vt:lpstr>Summary</vt:lpstr>
      <vt:lpstr>Summary (continued)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A+ Guide to Managing and Maintaining your PC, 6e</dc:title>
  <dc:creator/>
  <cp:lastModifiedBy/>
  <cp:revision>322</cp:revision>
  <dcterms:created xsi:type="dcterms:W3CDTF">2002-09-27T23:29:22Z</dcterms:created>
  <dcterms:modified xsi:type="dcterms:W3CDTF">2012-09-14T08:01:20Z</dcterms:modified>
</cp:coreProperties>
</file>