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9"/>
  </p:notesMasterIdLst>
  <p:sldIdLst>
    <p:sldId id="256" r:id="rId2"/>
    <p:sldId id="316" r:id="rId3"/>
    <p:sldId id="257" r:id="rId4"/>
    <p:sldId id="31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1" r:id="rId27"/>
    <p:sldId id="282" r:id="rId28"/>
    <p:sldId id="279" r:id="rId29"/>
    <p:sldId id="280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18" r:id="rId51"/>
    <p:sldId id="319" r:id="rId52"/>
    <p:sldId id="320" r:id="rId53"/>
    <p:sldId id="303" r:id="rId54"/>
    <p:sldId id="304" r:id="rId55"/>
    <p:sldId id="305" r:id="rId56"/>
    <p:sldId id="306" r:id="rId57"/>
    <p:sldId id="322" r:id="rId58"/>
    <p:sldId id="309" r:id="rId59"/>
    <p:sldId id="307" r:id="rId60"/>
    <p:sldId id="310" r:id="rId61"/>
    <p:sldId id="308" r:id="rId62"/>
    <p:sldId id="311" r:id="rId63"/>
    <p:sldId id="312" r:id="rId64"/>
    <p:sldId id="321" r:id="rId65"/>
    <p:sldId id="313" r:id="rId66"/>
    <p:sldId id="314" r:id="rId67"/>
    <p:sldId id="315" r:id="rId6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0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EDEC5-2B95-444A-962A-9861DC962B56}" type="datetimeFigureOut">
              <a:rPr lang="en-US" smtClean="0"/>
              <a:t>4/5/2017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A8036-8074-49AD-8FA5-9B8EF70F49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59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49A7568-64E4-4786-8836-8CE000270501}" type="datetime1">
              <a:rPr lang="en-US" smtClean="0"/>
              <a:t>4/5/2017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B3A4A1-BA10-4C3D-BA1C-8DBCCDD33176}" type="datetime1">
              <a:rPr lang="en-US" smtClean="0"/>
              <a:t>4/5/2017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FB3EE3CB-50D7-4EED-9A7F-1F2045FC830A}" type="datetime1">
              <a:rPr lang="en-US" smtClean="0"/>
              <a:t>4/5/2017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2403C27-7B9C-4530-B27F-9BD92172020B}" type="datetime1">
              <a:rPr lang="en-US" smtClean="0"/>
              <a:t>4/5/2017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A2E202EE-6E15-42AB-909F-EEE0CED906F4}" type="datetime1">
              <a:rPr lang="en-US" smtClean="0"/>
              <a:t>4/5/2017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049CA43-75B8-43A3-B948-14401FB7E741}" type="datetime1">
              <a:rPr lang="en-US" smtClean="0"/>
              <a:t>4/5/2017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6EC4C2E7-2039-4514-A9B9-95B3981DDA06}" type="datetime1">
              <a:rPr lang="en-US" smtClean="0"/>
              <a:t>4/5/2017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24DF74B2-D0A8-4BBD-8E86-F770CD3C371F}" type="datetime1">
              <a:rPr lang="en-US" smtClean="0"/>
              <a:t>4/5/2017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5CDC4BAE-80FE-49A2-ACA1-C6DB2A7D979E}" type="datetime1">
              <a:rPr lang="en-US" smtClean="0"/>
              <a:t>4/5/2017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F4A035ED-2FA4-4950-B7DD-65180349C896}" type="datetime1">
              <a:rPr lang="en-US" smtClean="0"/>
              <a:t>4/5/2017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33051B2A-FC1D-4576-99BB-D801C55E8D6C}" type="datetime1">
              <a:rPr lang="en-US" smtClean="0"/>
              <a:t>4/5/2017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09C4FD7D-035D-47FF-87D4-626CAD79525E}" type="datetime1">
              <a:rPr lang="en-US" smtClean="0"/>
              <a:t>4/5/2017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A7531568-16DA-41F9-A32A-95DEBD00EED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tinyurl.com/62c65w2" TargetMode="External"/><Relationship Id="rId2" Type="http://schemas.openxmlformats.org/officeDocument/2006/relationships/hyperlink" Target="http://tinyurl.com/6528t3c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ray.com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 smtClean="0"/>
              <a:t>Introduction to Computers</a:t>
            </a:r>
            <a:endParaRPr lang="en-US"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Jeremiah Kafakoma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75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When discussing  safety issues with regard to Computers, lets break them into </a:t>
            </a: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three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general areas:</a:t>
            </a:r>
          </a:p>
          <a:p>
            <a:pPr marL="452628" indent="-342900">
              <a:buFont typeface="+mj-lt"/>
              <a:buAutoNum type="arabicPeriod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Computer components </a:t>
            </a:r>
          </a:p>
          <a:p>
            <a:pPr marL="452628" indent="-342900">
              <a:buFont typeface="+mj-lt"/>
              <a:buAutoNum type="arabicPeriod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Natural elements</a:t>
            </a:r>
          </a:p>
          <a:p>
            <a:pPr marL="452628" indent="-342900">
              <a:buFont typeface="+mj-lt"/>
              <a:buAutoNum type="arabicPeriod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Work environment</a:t>
            </a:r>
          </a:p>
          <a:p>
            <a:pPr marL="109728" indent="0">
              <a:buNone/>
            </a:pP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marL="109728" indent="0">
              <a:buNone/>
            </a:pPr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Computer Components</a:t>
            </a: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Computers use electricity and be aware it can hurt or kill you.</a:t>
            </a: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The first rule when working inside a computer is to always make sure its powered off.</a:t>
            </a: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2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Healthy and Safety Issues</a:t>
            </a:r>
          </a:p>
        </p:txBody>
      </p:sp>
    </p:spTree>
    <p:extLst>
      <p:ext uri="{BB962C8B-B14F-4D97-AF65-F5344CB8AC3E}">
        <p14:creationId xmlns:p14="http://schemas.microsoft.com/office/powerpoint/2010/main" val="2829404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908050" lvl="1" indent="-436563">
              <a:lnSpc>
                <a:spcPct val="80000"/>
              </a:lnSpc>
            </a:pPr>
            <a:r>
              <a:rPr lang="en-GB" sz="1800" b="1" i="1" dirty="0" smtClean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Mains electricity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2000" dirty="0" smtClean="0">
                <a:latin typeface="Arial" pitchFamily="34" charset="0"/>
                <a:cs typeface="Arial" pitchFamily="34" charset="0"/>
              </a:rPr>
              <a:t>Can cause anything from unpleasant to fatal shock!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2000" dirty="0" smtClean="0">
                <a:latin typeface="Arial" pitchFamily="34" charset="0"/>
                <a:cs typeface="Arial" pitchFamily="34" charset="0"/>
              </a:rPr>
              <a:t>Usually only occurs inside power supplies</a:t>
            </a:r>
          </a:p>
          <a:p>
            <a:pPr lvl="3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Most computers operate at 12v or less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2000" dirty="0" smtClean="0">
                <a:latin typeface="Arial" pitchFamily="34" charset="0"/>
                <a:cs typeface="Arial" pitchFamily="34" charset="0"/>
              </a:rPr>
              <a:t>Ensure mains is OFF and UNPLUGGED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2000" dirty="0" smtClean="0">
                <a:latin typeface="Arial" pitchFamily="34" charset="0"/>
                <a:cs typeface="Arial" pitchFamily="34" charset="0"/>
              </a:rPr>
              <a:t>Wait for capacitors in power supplies to discharge.</a:t>
            </a:r>
          </a:p>
          <a:p>
            <a:pPr marL="908050" lvl="1" indent="-436563">
              <a:lnSpc>
                <a:spcPct val="80000"/>
              </a:lnSpc>
            </a:pPr>
            <a:r>
              <a:rPr lang="en-GB" sz="1800" b="1" i="1" dirty="0" smtClean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Hot components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2000" dirty="0" smtClean="0">
                <a:latin typeface="Arial" pitchFamily="34" charset="0"/>
                <a:cs typeface="Arial" pitchFamily="34" charset="0"/>
              </a:rPr>
              <a:t>Some components inside a PC are hot enough to cause burns.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2000" dirty="0" smtClean="0">
                <a:latin typeface="Arial" pitchFamily="34" charset="0"/>
                <a:cs typeface="Arial" pitchFamily="34" charset="0"/>
              </a:rPr>
              <a:t>Turn off power and wait for components to cool down before handling.</a:t>
            </a: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82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 smtClean="0"/>
              <a:t>Computers should always be operated in cool environments away from direct sunlight and water sources.</a:t>
            </a:r>
          </a:p>
          <a:p>
            <a:r>
              <a:rPr lang="en-US" sz="1800" dirty="0" smtClean="0"/>
              <a:t>Dirt and dust act as great insulators, trapping heat inside components. When components runs hotter than they should, they have a greater chance of breaking down faster.</a:t>
            </a:r>
          </a:p>
          <a:p>
            <a:endParaRPr lang="en-US" sz="1800" dirty="0"/>
          </a:p>
          <a:p>
            <a:pPr marL="109728" indent="0">
              <a:buNone/>
            </a:pPr>
            <a:r>
              <a:rPr lang="en-US" sz="3600" b="1" dirty="0">
                <a:latin typeface="Arial" pitchFamily="34" charset="0"/>
                <a:cs typeface="Arial" pitchFamily="34" charset="0"/>
              </a:rPr>
              <a:t>Work </a:t>
            </a:r>
            <a:r>
              <a:rPr lang="en-US" sz="3600" b="1" dirty="0" smtClean="0">
                <a:latin typeface="Arial" pitchFamily="34" charset="0"/>
                <a:cs typeface="Arial" pitchFamily="34" charset="0"/>
              </a:rPr>
              <a:t>environment</a:t>
            </a:r>
          </a:p>
          <a:p>
            <a:pPr>
              <a:buFont typeface="Wingdings" pitchFamily="2" charset="2"/>
              <a:buChar char="Ø"/>
            </a:pPr>
            <a:r>
              <a:rPr lang="en-US" sz="1800" smtClean="0">
                <a:latin typeface="Arial" pitchFamily="34" charset="0"/>
                <a:cs typeface="Arial" pitchFamily="34" charset="0"/>
              </a:rPr>
              <a:t>It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is estimated that more than 2.5% of all the lead a poisonous substance today is a result of consumer electronics components.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They contains hazardous substances, many states require that they be disposed of as hazardous waste for example Monitors contain several carcinogens and phosphors as well as mercury and lead.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marL="109728" indent="0">
              <a:buNone/>
            </a:pPr>
            <a:endParaRPr 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>
                <a:latin typeface="Arial" pitchFamily="34" charset="0"/>
                <a:cs typeface="Arial" pitchFamily="34" charset="0"/>
              </a:rPr>
              <a:t>Natural elements</a:t>
            </a:r>
            <a:br>
              <a:rPr lang="en-US" sz="4400" dirty="0">
                <a:latin typeface="Arial" pitchFamily="34" charset="0"/>
                <a:cs typeface="Arial" pitchFamily="34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324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908050" lvl="1" indent="-436563">
              <a:lnSpc>
                <a:spcPct val="80000"/>
              </a:lnSpc>
            </a:pPr>
            <a:r>
              <a:rPr lang="en-GB" sz="1800" b="1" i="1" dirty="0" smtClean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Lifting and carrying</a:t>
            </a:r>
          </a:p>
          <a:p>
            <a:pPr marL="908050" lvl="1" indent="-436563">
              <a:lnSpc>
                <a:spcPct val="80000"/>
              </a:lnSpc>
            </a:pPr>
            <a:endParaRPr lang="en-GB" sz="1800" b="1" i="1" dirty="0" smtClean="0">
              <a:solidFill>
                <a:srgbClr val="8AA551"/>
              </a:solidFill>
              <a:latin typeface="Arial" pitchFamily="34" charset="0"/>
              <a:cs typeface="Arial" pitchFamily="34" charset="0"/>
            </a:endParaRPr>
          </a:p>
          <a:p>
            <a:pPr marL="1304925" lvl="2" indent="-395288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Some computer equipment is heavy.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Get proper manual handling training and get assistance if necessary.</a:t>
            </a:r>
          </a:p>
          <a:p>
            <a:pPr marL="908050" lvl="1" indent="-436563">
              <a:lnSpc>
                <a:spcPct val="80000"/>
              </a:lnSpc>
            </a:pPr>
            <a:r>
              <a:rPr lang="en-GB" sz="1800" b="1" i="1" dirty="0" smtClean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Trip hazard</a:t>
            </a:r>
          </a:p>
          <a:p>
            <a:pPr marL="908050" lvl="1" indent="-436563">
              <a:lnSpc>
                <a:spcPct val="80000"/>
              </a:lnSpc>
            </a:pPr>
            <a:endParaRPr lang="en-GB" sz="1800" b="1" i="1" dirty="0" smtClean="0">
              <a:solidFill>
                <a:srgbClr val="8AA551"/>
              </a:solidFill>
              <a:latin typeface="Arial" pitchFamily="34" charset="0"/>
              <a:cs typeface="Arial" pitchFamily="34" charset="0"/>
            </a:endParaRPr>
          </a:p>
          <a:p>
            <a:pPr marL="1304925" lvl="2" indent="-395288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The biggest cause of accidents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It is very easy to put something on the floor and then forget about it.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Keep work area floors clear and tidy.</a:t>
            </a:r>
          </a:p>
          <a:p>
            <a:pPr marL="1304925" lvl="2" indent="-395288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Move anything that might be a hazard.</a:t>
            </a:r>
            <a:br>
              <a:rPr lang="en-GB" sz="1800" dirty="0" smtClean="0">
                <a:latin typeface="Arial" pitchFamily="34" charset="0"/>
                <a:cs typeface="Arial" pitchFamily="34" charset="0"/>
              </a:rPr>
            </a:br>
            <a:endParaRPr lang="en-GB" sz="1800" dirty="0" smtClean="0">
              <a:latin typeface="Arial" pitchFamily="34" charset="0"/>
              <a:cs typeface="Arial" pitchFamily="34" charset="0"/>
            </a:endParaRPr>
          </a:p>
          <a:p>
            <a:pPr marL="909637" lvl="2" indent="0">
              <a:lnSpc>
                <a:spcPct val="80000"/>
              </a:lnSpc>
              <a:buNone/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103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908050" lvl="1" indent="-436563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Computer components are expensive and delicate.</a:t>
            </a:r>
          </a:p>
          <a:p>
            <a:pPr marL="908050" lvl="1" indent="-436563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Particularly susceptible to electric shocks</a:t>
            </a:r>
          </a:p>
          <a:p>
            <a:pPr marL="908050" lvl="1" indent="-436563">
              <a:lnSpc>
                <a:spcPct val="80000"/>
              </a:lnSpc>
            </a:pPr>
            <a:r>
              <a:rPr lang="en-US" sz="1800" b="1" i="1" dirty="0" smtClean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Electrostatic discharge</a:t>
            </a:r>
          </a:p>
          <a:p>
            <a:pPr marL="1304925" lvl="2" indent="-395288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Discharge electrostatic by touching a suitable earth point</a:t>
            </a:r>
          </a:p>
          <a:p>
            <a:pPr lvl="3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particularly if you are wearing manmade 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fibre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 clothing</a:t>
            </a:r>
          </a:p>
          <a:p>
            <a:pPr marL="1304925" lvl="2" indent="-395288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Wear an electrostatic discharge wrist strap</a:t>
            </a:r>
          </a:p>
          <a:p>
            <a:pPr lvl="3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E.g. </a:t>
            </a:r>
            <a:r>
              <a:rPr lang="en-GB" sz="1800" dirty="0" smtClean="0">
                <a:latin typeface="Arial" pitchFamily="34" charset="0"/>
                <a:cs typeface="Arial" pitchFamily="34" charset="0"/>
                <a:hlinkClick r:id="rId2"/>
              </a:rPr>
              <a:t>http://tinyurl.com/6528t3c</a:t>
            </a:r>
            <a:endParaRPr lang="en-GB" sz="1800" dirty="0" smtClean="0">
              <a:latin typeface="Arial" pitchFamily="34" charset="0"/>
              <a:cs typeface="Arial" pitchFamily="34" charset="0"/>
            </a:endParaRPr>
          </a:p>
          <a:p>
            <a:pPr lvl="3">
              <a:lnSpc>
                <a:spcPct val="80000"/>
              </a:lnSpc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lvl="3">
              <a:lnSpc>
                <a:spcPct val="80000"/>
              </a:lnSpc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1304925" lvl="2" indent="-395288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Or use a full anti-static kit, with wrist strap and mat</a:t>
            </a:r>
          </a:p>
          <a:p>
            <a:pPr lvl="3">
              <a:lnSpc>
                <a:spcPct val="80000"/>
              </a:lnSpc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E.g. </a:t>
            </a:r>
            <a:r>
              <a:rPr lang="en-GB" sz="1800" dirty="0" smtClean="0">
                <a:latin typeface="Arial" pitchFamily="34" charset="0"/>
                <a:cs typeface="Arial" pitchFamily="34" charset="0"/>
                <a:hlinkClick r:id="rId3"/>
              </a:rPr>
              <a:t>http://tinyurl.com/62c65w2</a:t>
            </a:r>
            <a:endParaRPr lang="en-GB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97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908050" lvl="1" indent="-436563">
              <a:lnSpc>
                <a:spcPct val="80000"/>
              </a:lnSpc>
              <a:defRPr/>
            </a:pPr>
            <a:r>
              <a:rPr lang="en-US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Power surge</a:t>
            </a:r>
          </a:p>
          <a:p>
            <a:pPr marL="908050" lvl="1" indent="-436563">
              <a:lnSpc>
                <a:spcPct val="80000"/>
              </a:lnSpc>
              <a:defRPr/>
            </a:pPr>
            <a:endParaRPr lang="en-US" sz="1800" b="1" i="1" dirty="0">
              <a:solidFill>
                <a:srgbClr val="8AA551"/>
              </a:solidFill>
              <a:latin typeface="Arial" pitchFamily="34" charset="0"/>
              <a:cs typeface="Arial" pitchFamily="34" charset="0"/>
            </a:endParaRPr>
          </a:p>
          <a:p>
            <a:pPr marL="1304925" lvl="2" indent="-395288">
              <a:lnSpc>
                <a:spcPct val="80000"/>
              </a:lnSpc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Caused by plugging or unplugging components when power is on</a:t>
            </a:r>
          </a:p>
          <a:p>
            <a:pPr marL="1304925" lvl="2" indent="-395288">
              <a:lnSpc>
                <a:spcPct val="80000"/>
              </a:lnSpc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Turn off power and unplug before working inside a PC</a:t>
            </a:r>
          </a:p>
          <a:p>
            <a:pPr marL="1346200" lvl="2" indent="-444500">
              <a:lnSpc>
                <a:spcPct val="80000"/>
              </a:lnSpc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Note: Powering down a PC from Windows does NOT switch it of completely</a:t>
            </a:r>
          </a:p>
          <a:p>
            <a:pPr marL="1666875" lvl="3" indent="-395288">
              <a:lnSpc>
                <a:spcPct val="80000"/>
              </a:lnSpc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There is still power on the motherboard and inside the PSU</a:t>
            </a:r>
          </a:p>
          <a:p>
            <a:pPr marL="1666875" lvl="3" indent="-395288">
              <a:lnSpc>
                <a:spcPct val="80000"/>
              </a:lnSpc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You may see a light on the back of the PSU or on the motherboard, but if not, do not assume that there is no power.</a:t>
            </a:r>
          </a:p>
          <a:p>
            <a:pPr marL="1666875" lvl="3" indent="-395288">
              <a:lnSpc>
                <a:spcPct val="80000"/>
              </a:lnSpc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Switch off at the wall and unplug.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36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An electronic device, operating under the control of instructions stored in its own memory, that can: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Accept data (input)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Process the data according to specified rules (process)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Produce results (output)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Store the results (storage) for future use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 Computer?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220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There are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six primary components of a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computer:</a:t>
            </a:r>
          </a:p>
          <a:p>
            <a:pPr marL="1117854" lvl="2" indent="-514350">
              <a:buFont typeface="+mj-lt"/>
              <a:buAutoNum type="arabicPeriod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Input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devices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,</a:t>
            </a:r>
          </a:p>
          <a:p>
            <a:pPr marL="1117854" lvl="2" indent="-514350">
              <a:buFont typeface="+mj-lt"/>
              <a:buAutoNum type="arabicPeriod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Processor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(control unit and arithmetic/logic unit),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1117854" lvl="2" indent="-514350">
              <a:buFont typeface="+mj-lt"/>
              <a:buAutoNum type="arabicPeriod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M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emory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,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1117854" lvl="2" indent="-514350">
              <a:buFont typeface="+mj-lt"/>
              <a:buAutoNum type="arabicPeriod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O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utput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devices,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1117854" lvl="2" indent="-514350">
              <a:buFont typeface="+mj-lt"/>
              <a:buAutoNum type="arabicPeriod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S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torage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devices,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1117854" lvl="2" indent="-514350">
              <a:buFont typeface="+mj-lt"/>
              <a:buAutoNum type="arabicPeriod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Communications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devices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The processor, memory, and storage devices are housed in a box-like case called the system unit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peripheral is a device that connects to the system unit and is controlled by the processor in the computer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The Components of a Computer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43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69792" y="685800"/>
            <a:ext cx="6917008" cy="544036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308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personal computer is a computer that can perform all of its input, processing, output, and storage activities by itself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mobile device is a computing device small enough to hold in your hand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Personal Computers </a:t>
            </a:r>
            <a:br>
              <a:rPr lang="en-US" dirty="0" smtClean="0"/>
            </a:br>
            <a:r>
              <a:rPr lang="en-US" dirty="0" smtClean="0"/>
              <a:t>and Mobile Devices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03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An input device is any hardware component that allows you to enter data and instructions into a computer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keyboard is an input device that contains keys users press to enter data and instructions into the computer</a:t>
            </a:r>
          </a:p>
          <a:p>
            <a:pPr lvl="1">
              <a:buFont typeface="Arial" pitchFamily="34" charset="0"/>
              <a:buChar char="–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stylus is a small metal or plastic device that looks like a tiny ink pen, but uses pressure instead of ink</a:t>
            </a:r>
          </a:p>
          <a:p>
            <a:pPr lvl="1">
              <a:buFont typeface="Arial" pitchFamily="34" charset="0"/>
              <a:buChar char="–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mouse is a pointing device that fits comfortably under the palm of your hand</a:t>
            </a:r>
          </a:p>
          <a:p>
            <a:pPr lvl="1">
              <a:buFont typeface="Arial" pitchFamily="34" charset="0"/>
              <a:buChar char="–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Most notebook computers have a touchpad, a small, flat, rectangular pointing device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Devices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98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The system unit is a case that contains electronic components of the computer used to process data</a:t>
            </a:r>
          </a:p>
          <a:p>
            <a:pPr lvl="1">
              <a:buFont typeface="Arial" pitchFamily="34" charset="0"/>
              <a:buChar char="–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The processor (CPU) interprets and carries out the basic instructions that operate a computer</a:t>
            </a:r>
          </a:p>
          <a:p>
            <a:pPr lvl="2"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Arithmetic/logic unit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Memory (RAM) consists of electronic components that store instructions waiting to be executed and data needed by those instructions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22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Output devices are hardware components that convey information to one or more people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printer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is an output device that produces text and graphics on a physical medium such as paper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Ink-jet printer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Photo printer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Laser printer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Multifunction peripheral (all-in-one device)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Devices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61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storage device is the computer hardware that records and/or retrieves items to and from storage media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hard disk is a storage device </a:t>
            </a:r>
            <a:br>
              <a:rPr lang="en-US" sz="1800" dirty="0">
                <a:latin typeface="Arial" pitchFamily="34" charset="0"/>
                <a:cs typeface="Arial" pitchFamily="34" charset="0"/>
              </a:rPr>
            </a:br>
            <a:r>
              <a:rPr lang="en-US" sz="1800" dirty="0">
                <a:latin typeface="Arial" pitchFamily="34" charset="0"/>
                <a:cs typeface="Arial" pitchFamily="34" charset="0"/>
              </a:rPr>
              <a:t>that contains one or more </a:t>
            </a:r>
            <a:br>
              <a:rPr lang="en-US" sz="1800" dirty="0">
                <a:latin typeface="Arial" pitchFamily="34" charset="0"/>
                <a:cs typeface="Arial" pitchFamily="34" charset="0"/>
              </a:rPr>
            </a:br>
            <a:r>
              <a:rPr lang="en-US" sz="1800" dirty="0">
                <a:latin typeface="Arial" pitchFamily="34" charset="0"/>
                <a:cs typeface="Arial" pitchFamily="34" charset="0"/>
              </a:rPr>
              <a:t>inflexible, circular platters that </a:t>
            </a:r>
            <a:br>
              <a:rPr lang="en-US" sz="1800" dirty="0">
                <a:latin typeface="Arial" pitchFamily="34" charset="0"/>
                <a:cs typeface="Arial" pitchFamily="34" charset="0"/>
              </a:rPr>
            </a:br>
            <a:r>
              <a:rPr lang="en-US" sz="1800" dirty="0">
                <a:latin typeface="Arial" pitchFamily="34" charset="0"/>
                <a:cs typeface="Arial" pitchFamily="34" charset="0"/>
              </a:rPr>
              <a:t>use magnetic particles to store </a:t>
            </a:r>
            <a:br>
              <a:rPr lang="en-US" sz="1800" dirty="0">
                <a:latin typeface="Arial" pitchFamily="34" charset="0"/>
                <a:cs typeface="Arial" pitchFamily="34" charset="0"/>
              </a:rPr>
            </a:br>
            <a:r>
              <a:rPr lang="en-US" sz="1800" dirty="0">
                <a:latin typeface="Arial" pitchFamily="34" charset="0"/>
                <a:cs typeface="Arial" pitchFamily="34" charset="0"/>
              </a:rPr>
              <a:t>data, instructions, and </a:t>
            </a:r>
            <a:br>
              <a:rPr lang="en-US" sz="1800" dirty="0">
                <a:latin typeface="Arial" pitchFamily="34" charset="0"/>
                <a:cs typeface="Arial" pitchFamily="34" charset="0"/>
              </a:rPr>
            </a:br>
            <a:r>
              <a:rPr lang="en-US" sz="1800" dirty="0">
                <a:latin typeface="Arial" pitchFamily="34" charset="0"/>
                <a:cs typeface="Arial" pitchFamily="34" charset="0"/>
              </a:rPr>
              <a:t>information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Sectors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Tracks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Devices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756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400363" y="1481138"/>
            <a:ext cx="4343273" cy="4525962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77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An external hard disk is a separate freestanding hard disk that connects with a cable to a port on the system unit or communicates wirelessly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removable hard disk is a hard disk that you insert and remove from a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drive</a:t>
            </a:r>
          </a:p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Flash memory is a type of memory that can be erased electronically and rewritten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Solid state media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solid state drive (SSD) is a storage device that typically uses flash memory to store data, instructions, and information</a:t>
            </a:r>
          </a:p>
          <a:p>
            <a:pPr>
              <a:defRPr/>
            </a:pPr>
            <a:endParaRPr lang="en-US" sz="1800" dirty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41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A communications device is a hardware component that enables a computer to send (transmit) and receive data, instructions, and information to and from one or more computers or mobile devices</a:t>
            </a:r>
          </a:p>
          <a:p>
            <a:pPr lvl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Transmission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media</a:t>
            </a:r>
          </a:p>
          <a:p>
            <a:pPr marL="393192" lvl="1" indent="0">
              <a:buNone/>
              <a:defRPr/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Communications Devices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 smtClean="0"/>
              <a:t>How to Purchase a Desktop Computer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Determine the specific software to use on your computer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Know the system requirements of the operating system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Look for bundled software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Avoid buying the least powerful computer available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Consider upgrades to the mouse, keyboard, monitor, printer, microphone, and speakers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431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 smtClean="0"/>
              <a:t>How to Purchase a Desktop Computer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Determine whether to use a broadband or dial-up connection to access the Internet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Use a worksheet to compare computers, services, and other considerations</a:t>
            </a:r>
          </a:p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If you are buying a new computer, you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have several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purchasing options: buying from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a school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bookstore, a local computer dealer,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a local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large retail store, or ordering by mail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via telephone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or the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Web</a:t>
            </a:r>
          </a:p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If you are buying a used computer,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stay with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name brands such as Dell, Apple,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HP, and Gateway</a:t>
            </a:r>
          </a:p>
          <a:p>
            <a:pPr eaLnBrk="1" hangingPunct="1"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If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you have a computer and are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upgrading to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a new one, then consider selling or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trading in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the old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one</a:t>
            </a:r>
          </a:p>
        </p:txBody>
      </p:sp>
      <p:sp>
        <p:nvSpPr>
          <p:cNvPr id="49156" name="Slide Number Placeholder 4"/>
          <p:cNvSpPr>
            <a:spLocks noGrp="1"/>
          </p:cNvSpPr>
          <p:nvPr>
            <p:ph type="sldNum" sz="quarter" idx="11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22CA8020-455E-4F6B-A4DC-DDE38E6CCE9C}" type="slidenum">
              <a:rPr lang="en-US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20</a:t>
            </a:fld>
            <a:endParaRPr lang="en-US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18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 smtClean="0"/>
              <a:t>How to Purchase a Desktop Computer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Be aware of hidden costs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Consider more than just price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Avoid restocking fees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Use a credit card to purchase a new computer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Consider purchasing an extended warranty or service plan</a:t>
            </a: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0180" name="Slide Number Placeholder 4"/>
          <p:cNvSpPr>
            <a:spLocks noGrp="1"/>
          </p:cNvSpPr>
          <p:nvPr>
            <p:ph type="sldNum" sz="quarter" idx="11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203FC3C-BF28-413E-BE78-557C18480BF1}" type="slidenum">
              <a:rPr lang="en-US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21</a:t>
            </a:fld>
            <a:endParaRPr lang="en-US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440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 smtClean="0"/>
              <a:t>How to Purchase a Notebook Computer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Determine which computer fits your mobile computing needs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Purchase a notebook computer with a sufficiently large screen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Experiment with different keyboards, pointing devices, and digital pens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Make sure the notebook computer you purchase has an optical disc drive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If necessary, upgrade the processor, memory, and disk storage at the time of purchase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The availability of built-in ports and slots and a USB hub on a notebook computer is important</a:t>
            </a: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2228" name="Slide Number Placeholder 4"/>
          <p:cNvSpPr>
            <a:spLocks noGrp="1"/>
          </p:cNvSpPr>
          <p:nvPr>
            <p:ph type="sldNum" sz="quarter" idx="11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736D8922-0422-4160-874C-4409187D4B0E}" type="slidenum">
              <a:rPr lang="en-US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22</a:t>
            </a:fld>
            <a:endParaRPr lang="en-US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384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 smtClean="0"/>
              <a:t>How to Purchase a Notebook Computer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If you plan to use your notebook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computer for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note-taking at school or in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meetings, consider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a convertible Tablet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PC</a:t>
            </a:r>
          </a:p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If you purchase a Tablet PC,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determine whether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you require multi-touch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technology </a:t>
            </a:r>
          </a:p>
          <a:p>
            <a:pPr eaLnBrk="1" hangingPunct="1"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Purchase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a notebook computer with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an integrated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Web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cam</a:t>
            </a:r>
          </a:p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Check with your wireless carrier to see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if it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offers netbooks for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sale</a:t>
            </a:r>
          </a:p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Purchase a notebook computer with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a built-in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wireless network connection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3252" name="Slide Number Placeholder 4"/>
          <p:cNvSpPr>
            <a:spLocks noGrp="1"/>
          </p:cNvSpPr>
          <p:nvPr>
            <p:ph type="sldNum" sz="quarter" idx="11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535213D3-AB14-4989-83C9-001658846232}" type="slidenum">
              <a:rPr lang="en-US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23</a:t>
            </a:fld>
            <a:endParaRPr lang="en-US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99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 smtClean="0"/>
              <a:t>How to Purchase a Notebook Computer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hangingPunct="1">
              <a:defRPr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If you plan to use your notebook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computer for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long periods without access to an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electrical outlet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, purchase a second battery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Purchase a well-padded and well-designed carrying case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If you plan to connect your notebook computer to a video projector, make sure the notebook computer is compatible with the video projector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For improved security and convenience, consider a fingerprint scanner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Review the docking capabilities of the Tablet PC</a:t>
            </a:r>
          </a:p>
        </p:txBody>
      </p:sp>
      <p:sp>
        <p:nvSpPr>
          <p:cNvPr id="54276" name="Slide Number Placeholder 4"/>
          <p:cNvSpPr>
            <a:spLocks noGrp="1"/>
          </p:cNvSpPr>
          <p:nvPr>
            <p:ph type="sldNum" sz="quarter" idx="11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7A63BCC6-185D-47C5-8416-934D142DD5AA}" type="slidenum">
              <a:rPr lang="en-US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24</a:t>
            </a:fld>
            <a:endParaRPr lang="en-US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264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Arial" pitchFamily="34" charset="0"/>
                <a:cs typeface="Arial" pitchFamily="34" charset="0"/>
              </a:rPr>
              <a:t>General purpose computers</a:t>
            </a:r>
          </a:p>
          <a:p>
            <a:pPr lvl="1"/>
            <a:r>
              <a:rPr lang="en-US" sz="1800" dirty="0" smtClean="0">
                <a:latin typeface="Arial" pitchFamily="34" charset="0"/>
                <a:cs typeface="Arial" pitchFamily="34" charset="0"/>
              </a:rPr>
              <a:t>Mainframe</a:t>
            </a:r>
          </a:p>
          <a:p>
            <a:pPr lvl="1"/>
            <a:r>
              <a:rPr lang="en-US" sz="1800" dirty="0" smtClean="0">
                <a:latin typeface="Arial" pitchFamily="34" charset="0"/>
                <a:cs typeface="Arial" pitchFamily="34" charset="0"/>
              </a:rPr>
              <a:t>Supercomputers 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lvl="1"/>
            <a:r>
              <a:rPr lang="en-US" sz="1800" dirty="0">
                <a:latin typeface="Arial" pitchFamily="34" charset="0"/>
                <a:cs typeface="Arial" pitchFamily="34" charset="0"/>
              </a:rPr>
              <a:t>Minicomputer</a:t>
            </a:r>
          </a:p>
          <a:p>
            <a:pPr lvl="1"/>
            <a:r>
              <a:rPr lang="en-US" sz="1800" dirty="0">
                <a:latin typeface="Arial" pitchFamily="34" charset="0"/>
                <a:cs typeface="Arial" pitchFamily="34" charset="0"/>
              </a:rPr>
              <a:t>Microcomputer (Personal Computer)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Types </a:t>
            </a:r>
            <a:r>
              <a:rPr lang="en-US" dirty="0"/>
              <a:t>of Computers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409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4525963"/>
          </a:xfrm>
        </p:spPr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largest type of computer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Leading edge in terms of processing power and speed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Usually one-off designs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Historically: Cray  </a:t>
            </a:r>
            <a:r>
              <a:rPr lang="en-GB" sz="1800" b="1" dirty="0">
                <a:latin typeface="Arial" pitchFamily="34" charset="0"/>
                <a:cs typeface="Arial" pitchFamily="34" charset="0"/>
                <a:hlinkClick r:id="rId2"/>
              </a:rPr>
              <a:t>http://www.cray.com</a:t>
            </a:r>
            <a:r>
              <a:rPr lang="en-GB" sz="1800" b="1" dirty="0">
                <a:latin typeface="Arial" pitchFamily="34" charset="0"/>
                <a:cs typeface="Arial" pitchFamily="34" charset="0"/>
              </a:rPr>
              <a:t/>
            </a:r>
            <a:br>
              <a:rPr lang="en-GB" sz="1800" b="1" dirty="0">
                <a:latin typeface="Arial" pitchFamily="34" charset="0"/>
                <a:cs typeface="Arial" pitchFamily="34" charset="0"/>
              </a:rPr>
            </a:br>
            <a:r>
              <a:rPr lang="en-GB" sz="1800" dirty="0">
                <a:latin typeface="Arial" pitchFamily="34" charset="0"/>
                <a:cs typeface="Arial" pitchFamily="34" charset="0"/>
              </a:rPr>
              <a:t> Now usually massively parallel clusters of off-the-shelf processors in custom packages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Used for highly calculation-bound problems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Weather forecasting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Quantum Physics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Physical simulations</a:t>
            </a:r>
          </a:p>
          <a:p>
            <a:pPr marL="109728" indent="0">
              <a:buNone/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Supercomputers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3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lnSpc>
                <a:spcPct val="90000"/>
              </a:lnSpc>
              <a:defRPr/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Columbia Supercomputer at NASA's Advanced Supercomputing Facility at Ames Research Centre. </a:t>
            </a:r>
            <a:endParaRPr lang="en-GB" sz="1800" dirty="0" smtClean="0">
              <a:latin typeface="Arial" pitchFamily="34" charset="0"/>
              <a:cs typeface="Arial" pitchFamily="34" charset="0"/>
            </a:endParaRPr>
          </a:p>
          <a:p>
            <a:pPr lvl="1">
              <a:lnSpc>
                <a:spcPct val="90000"/>
              </a:lnSpc>
              <a:defRPr/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It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consists of a 10,240-processor SGI </a:t>
            </a:r>
            <a:r>
              <a:rPr lang="en-GB" sz="1800" dirty="0" err="1">
                <a:latin typeface="Arial" pitchFamily="34" charset="0"/>
                <a:cs typeface="Arial" pitchFamily="34" charset="0"/>
              </a:rPr>
              <a:t>Altix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 system comprised of 20 nodes, each with 512 Intel Itanium 2 processors, and running a Linux operating system.</a:t>
            </a:r>
          </a:p>
          <a:p>
            <a:pPr lvl="1" indent="-9525">
              <a:lnSpc>
                <a:spcPct val="90000"/>
              </a:lnSpc>
              <a:buFontTx/>
              <a:buNone/>
              <a:defRPr/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(NASA, 2006)</a:t>
            </a:r>
          </a:p>
          <a:p>
            <a:pPr marL="109728" indent="0">
              <a:buNone/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678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Mainframe Computers</a:t>
            </a:r>
            <a:br>
              <a:rPr lang="en-US" dirty="0" smtClean="0"/>
            </a:b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 noChangeAspect="1"/>
          </p:cNvGraphicFramePr>
          <p:nvPr>
            <p:ph idx="1"/>
          </p:nvPr>
        </p:nvGraphicFramePr>
        <p:xfrm>
          <a:off x="1591507" y="1481138"/>
          <a:ext cx="5960986" cy="4525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" name="Bitmap Image" r:id="rId3" imgW="6296871" imgH="4781325" progId="PBrush">
                  <p:embed/>
                </p:oleObj>
              </mc:Choice>
              <mc:Fallback>
                <p:oleObj name="Bitmap Image" r:id="rId3" imgW="6296871" imgH="4781325" progId="PBrush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1507" y="1481138"/>
                        <a:ext cx="5960986" cy="4525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42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Arial" pitchFamily="34" charset="0"/>
                <a:cs typeface="Arial" pitchFamily="34" charset="0"/>
              </a:rPr>
              <a:t>First computers, introduced in 1950s 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Used by large businesses 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Typically supported 100 to 500 users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Very expensive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Used for very large processing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tasks</a:t>
            </a:r>
          </a:p>
          <a:p>
            <a:r>
              <a:rPr lang="en-GB" sz="1800" dirty="0" smtClean="0">
                <a:latin typeface="Arial" pitchFamily="34" charset="0"/>
                <a:cs typeface="Arial" pitchFamily="34" charset="0"/>
              </a:rPr>
              <a:t>These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days, mainframes are not so much defined by computational speed as by redundant internal engineering and resulting high 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reliability.</a:t>
            </a:r>
          </a:p>
          <a:p>
            <a:r>
              <a:rPr lang="en-GB" sz="1800" dirty="0" smtClean="0">
                <a:latin typeface="Arial" pitchFamily="34" charset="0"/>
                <a:cs typeface="Arial" pitchFamily="34" charset="0"/>
              </a:rPr>
              <a:t>Also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feature security, extensive input-output facilities, strict backward compatibility with older software, and high utilisation rates to support massive throughput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803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Often run for years without interruption</a:t>
            </a: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Repairs and upgrades taking place during normal operation</a:t>
            </a: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Typical application includes:</a:t>
            </a: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Large corporate data processing</a:t>
            </a: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Census processing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13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Mid-range computer systems, traditionally between Mainframes and Micros.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Significant overlap between high end PC, workstation, server and mini computer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Current systems by Sun, IBM, Hewlett-Packard etc.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Most commonly use Unix operating system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DEC PDP-8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First commercially successful mini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Introduced 1965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Last produced 1979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Typically supported 10 to 100 users 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Smaller and less expensive than mainframes</a:t>
            </a:r>
          </a:p>
          <a:p>
            <a:r>
              <a:rPr lang="en-US" sz="1800" dirty="0">
                <a:latin typeface="Arial" pitchFamily="34" charset="0"/>
                <a:cs typeface="Arial" pitchFamily="34" charset="0"/>
              </a:rPr>
              <a:t>The real difference is relative in terms of price, power, marketing.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Computers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227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Small, self-contained computers with their own CPUs</a:t>
            </a:r>
          </a:p>
          <a:p>
            <a:pPr>
              <a:lnSpc>
                <a:spcPct val="90000"/>
              </a:lnSpc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Used by  home and business users</a:t>
            </a:r>
          </a:p>
          <a:p>
            <a:pPr>
              <a:lnSpc>
                <a:spcPct val="90000"/>
              </a:lnSpc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Uses a microprocessor, a 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CPU (Central Processing Unit)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 on a single chip.</a:t>
            </a:r>
          </a:p>
          <a:p>
            <a:pPr marL="365760" lvl="1" indent="-256032">
              <a:spcBef>
                <a:spcPts val="400"/>
              </a:spcBef>
              <a:buSzPct val="68000"/>
              <a:buFont typeface="Wingdings 3"/>
              <a:buChar char=""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Now generally called PCs and using the industry standard Intel x86 compatible architecture and usually Microsoft Windows operating </a:t>
            </a:r>
            <a:r>
              <a:rPr lang="en-GB" sz="1800" kern="0" dirty="0" smtClean="0">
                <a:latin typeface="Arial" pitchFamily="34" charset="0"/>
                <a:cs typeface="Arial" pitchFamily="34" charset="0"/>
              </a:rPr>
              <a:t>system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Launched 1981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Used Intel 8088 micro-processor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16 bit internally but 8 bit externally to keep cost of other components (particularly memory) down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Basis of current x86 architecture</a:t>
            </a:r>
          </a:p>
          <a:p>
            <a:pPr marL="365760" lvl="1" indent="-256032">
              <a:spcBef>
                <a:spcPts val="400"/>
              </a:spcBef>
              <a:buSzPct val="68000"/>
              <a:buFont typeface="Wingdings 3"/>
              <a:buChar char=""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Microcomputer (Personal Computer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093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 full computer system in a single case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Easily portable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Can run off batteries or mains electricity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Screen opens up to reveal keyboard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Vary from light weight, small screen and keyboard (often called Netbook) to large, heavy desktop PC replacements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Usually using Intel x86 and Windows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Laptop Computers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952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Server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Generally PC architecture, often with multiple CPUs, lots of memory and big disks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Deliver service such as file and print sharing, or web servers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Personal Digital Assistant (PDA)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Very small, to fit in a pocket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Often touch screen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An electronic version of a diary and address book</a:t>
            </a:r>
          </a:p>
          <a:p>
            <a:pPr marL="1219200" lvl="2" indent="-3048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Generally being replaced by…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Types of Computer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304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Smart Phone</a:t>
            </a: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An example of digital convergence</a:t>
            </a: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Mobile phone, MP3 player and PDA functionality in one pocket sized device</a:t>
            </a: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May include camera and other facilities as well</a:t>
            </a: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Tablet PC</a:t>
            </a: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  <a:buFontTx/>
              <a:buChar char="•"/>
              <a:tabLst>
                <a:tab pos="447675" algn="l"/>
              </a:tabLst>
              <a:defRPr/>
            </a:pPr>
            <a:endParaRPr lang="en-GB" sz="1800" kern="0" dirty="0">
              <a:latin typeface="Arial" pitchFamily="34" charset="0"/>
              <a:cs typeface="Arial" pitchFamily="34" charset="0"/>
            </a:endParaRPr>
          </a:p>
          <a:p>
            <a:pPr marL="1219200" lvl="2" indent="-304800">
              <a:lnSpc>
                <a:spcPct val="80000"/>
              </a:lnSpc>
              <a:spcAft>
                <a:spcPct val="20000"/>
              </a:spcAft>
              <a:buFont typeface="Gill Sans" pitchFamily="32" charset="0"/>
              <a:buChar char="–"/>
              <a:tabLst>
                <a:tab pos="447675" algn="l"/>
              </a:tabLst>
              <a:defRPr/>
            </a:pPr>
            <a:r>
              <a:rPr lang="en-GB" sz="1800" kern="0" dirty="0">
                <a:latin typeface="Arial" pitchFamily="34" charset="0"/>
                <a:cs typeface="Arial" pitchFamily="34" charset="0"/>
              </a:rPr>
              <a:t>Like a laptop or Netbook but with a touch screen that you can write on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748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Computers are now built into many devices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608013" lvl="1" indent="-342900">
              <a:lnSpc>
                <a:spcPct val="80000"/>
              </a:lnSpc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Embedded computers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 are computers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found in consumer goods in order to enhance their function</a:t>
            </a: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Cars have computer controlled engine management systems.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Digital televisions and personal video recorders are effectively computers.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Factory machinery is computer controlled.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buNone/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		Etc. etc. etc.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Embedded Systems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1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latin typeface="Arial" pitchFamily="34" charset="0"/>
                <a:cs typeface="Arial" pitchFamily="34" charset="0"/>
              </a:rPr>
              <a:t>Special purpose or dedicated computers – A device with a specific purpose such as game system or information kiosk.</a:t>
            </a:r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Purpose Computers</a:t>
            </a:r>
          </a:p>
        </p:txBody>
      </p:sp>
      <p:pic>
        <p:nvPicPr>
          <p:cNvPr id="4" name="Picture 9" descr="shangha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2286000"/>
            <a:ext cx="4419600" cy="331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642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>
                <a:latin typeface="Arial" pitchFamily="34" charset="0"/>
                <a:cs typeface="Arial" pitchFamily="34" charset="0"/>
              </a:rPr>
              <a:t>Hardware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 = The physical components that make up a computer system.</a:t>
            </a:r>
          </a:p>
          <a:p>
            <a:r>
              <a:rPr lang="en-US" sz="1800" b="1" dirty="0">
                <a:latin typeface="Arial" pitchFamily="34" charset="0"/>
                <a:cs typeface="Arial" pitchFamily="34" charset="0"/>
              </a:rPr>
              <a:t>Software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 = The programs (instructions) that tell the computer what to do.</a:t>
            </a:r>
          </a:p>
          <a:p>
            <a:pPr lvl="1"/>
            <a:r>
              <a:rPr lang="en-US" sz="1800" dirty="0">
                <a:latin typeface="Arial" pitchFamily="34" charset="0"/>
                <a:cs typeface="Arial" pitchFamily="34" charset="0"/>
              </a:rPr>
              <a:t>System Software</a:t>
            </a:r>
          </a:p>
          <a:p>
            <a:pPr lvl="1"/>
            <a:r>
              <a:rPr lang="en-US" sz="1800" dirty="0">
                <a:latin typeface="Arial" pitchFamily="34" charset="0"/>
                <a:cs typeface="Arial" pitchFamily="34" charset="0"/>
              </a:rPr>
              <a:t>Application Software</a:t>
            </a:r>
          </a:p>
          <a:p>
            <a:pPr lvl="1"/>
            <a:r>
              <a:rPr lang="en-US" sz="1800" dirty="0">
                <a:latin typeface="Arial" pitchFamily="34" charset="0"/>
                <a:cs typeface="Arial" pitchFamily="34" charset="0"/>
              </a:rPr>
              <a:t>Stored on a storage media such as hard disk, CD-ROM, floppy disk, tape, etc.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versus Software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066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vast majority of computer systems are made up of a standard set of functional devices, connected together in a standard way.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This is generally called the </a:t>
            </a:r>
            <a:r>
              <a:rPr lang="en-GB" sz="1800" b="1" dirty="0">
                <a:latin typeface="Arial" pitchFamily="34" charset="0"/>
                <a:cs typeface="Arial" pitchFamily="34" charset="0"/>
              </a:rPr>
              <a:t>“</a:t>
            </a: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Von Neumann</a:t>
            </a:r>
            <a:r>
              <a:rPr lang="en-GB" sz="1800" b="1" dirty="0">
                <a:latin typeface="Arial" pitchFamily="34" charset="0"/>
                <a:cs typeface="Arial" pitchFamily="34" charset="0"/>
              </a:rPr>
              <a:t>”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architecture after the man who first documented it. </a:t>
            </a:r>
          </a:p>
          <a:p>
            <a:pPr marL="685800" lvl="1" indent="-496888">
              <a:lnSpc>
                <a:spcPct val="80000"/>
              </a:lnSpc>
              <a:defRPr/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However, Von Neumann did not invent it – 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but J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. Presper Eckert and John Mauchly, who were developing the ENIAC at the Moore School of Electrical Engineering, at the University of Pennsylvania, did most of the work.</a:t>
            </a:r>
          </a:p>
          <a:p>
            <a:pPr marL="685800" lvl="1" indent="-496888">
              <a:lnSpc>
                <a:spcPct val="80000"/>
              </a:lnSpc>
              <a:buNone/>
              <a:defRPr/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85800" lvl="1" indent="-496888">
              <a:lnSpc>
                <a:spcPct val="80000"/>
              </a:lnSpc>
              <a:defRPr/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There were other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researchers in other countries also developed most of the concepts independently.</a:t>
            </a:r>
          </a:p>
          <a:p>
            <a:pPr marL="685800" lvl="1" indent="-496888">
              <a:lnSpc>
                <a:spcPct val="80000"/>
              </a:lnSpc>
              <a:defRPr/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Computer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809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2413" y="1481328"/>
            <a:ext cx="8434387" cy="4525963"/>
          </a:xfrm>
        </p:spPr>
        <p:txBody>
          <a:bodyPr/>
          <a:lstStyle/>
          <a:p>
            <a:pPr marL="109728" indent="0">
              <a:buNone/>
            </a:pPr>
            <a:endParaRPr lang="en-US" dirty="0" smtClean="0"/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Von Neumann Architecture</a:t>
            </a:r>
            <a:endParaRPr lang="en-US" dirty="0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2628900" y="4581525"/>
            <a:ext cx="868363" cy="4667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en-GB"/>
              <a:t>Input</a:t>
            </a:r>
          </a:p>
        </p:txBody>
      </p:sp>
      <p:sp>
        <p:nvSpPr>
          <p:cNvPr id="5" name="Text Box 7"/>
          <p:cNvSpPr txBox="1">
            <a:spLocks noChangeArrowheads="1"/>
          </p:cNvSpPr>
          <p:nvPr/>
        </p:nvSpPr>
        <p:spPr bwMode="auto">
          <a:xfrm>
            <a:off x="757238" y="1593850"/>
            <a:ext cx="5326062" cy="4667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ctr"/>
            <a:r>
              <a:rPr lang="en-GB"/>
              <a:t>Memory</a:t>
            </a:r>
          </a:p>
        </p:txBody>
      </p: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5005388" y="4581525"/>
            <a:ext cx="1104900" cy="4667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en-GB"/>
              <a:t>Output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252413" y="2852738"/>
            <a:ext cx="1801812" cy="4667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en-GB"/>
              <a:t>Control Unit</a:t>
            </a:r>
          </a:p>
        </p:txBody>
      </p:sp>
      <p:sp>
        <p:nvSpPr>
          <p:cNvPr id="8" name="Text Box 10"/>
          <p:cNvSpPr txBox="1">
            <a:spLocks noChangeArrowheads="1"/>
          </p:cNvSpPr>
          <p:nvPr/>
        </p:nvSpPr>
        <p:spPr bwMode="auto">
          <a:xfrm>
            <a:off x="2484438" y="2879725"/>
            <a:ext cx="3868737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en-GB" dirty="0"/>
              <a:t>Arithmetic Logic Unit (ALU)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9" name="Text Box 11"/>
          <p:cNvSpPr txBox="1">
            <a:spLocks noChangeArrowheads="1"/>
          </p:cNvSpPr>
          <p:nvPr/>
        </p:nvSpPr>
        <p:spPr bwMode="auto">
          <a:xfrm>
            <a:off x="3348038" y="3500438"/>
            <a:ext cx="1885950" cy="4667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en-GB"/>
              <a:t>Accumulator</a:t>
            </a:r>
          </a:p>
        </p:txBody>
      </p:sp>
      <p:sp>
        <p:nvSpPr>
          <p:cNvPr id="10" name="Line 12"/>
          <p:cNvSpPr>
            <a:spLocks noChangeShapeType="1"/>
          </p:cNvSpPr>
          <p:nvPr/>
        </p:nvSpPr>
        <p:spPr bwMode="auto">
          <a:xfrm flipV="1">
            <a:off x="3132138" y="3933825"/>
            <a:ext cx="865187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1" name="Line 13"/>
          <p:cNvSpPr>
            <a:spLocks noChangeShapeType="1"/>
          </p:cNvSpPr>
          <p:nvPr/>
        </p:nvSpPr>
        <p:spPr bwMode="auto">
          <a:xfrm>
            <a:off x="4787900" y="3933825"/>
            <a:ext cx="576263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2" name="Line 14"/>
          <p:cNvSpPr>
            <a:spLocks noChangeShapeType="1"/>
          </p:cNvSpPr>
          <p:nvPr/>
        </p:nvSpPr>
        <p:spPr bwMode="auto">
          <a:xfrm flipV="1">
            <a:off x="973138" y="2060575"/>
            <a:ext cx="0" cy="792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3" name="Line 15"/>
          <p:cNvSpPr>
            <a:spLocks noChangeShapeType="1"/>
          </p:cNvSpPr>
          <p:nvPr/>
        </p:nvSpPr>
        <p:spPr bwMode="auto">
          <a:xfrm>
            <a:off x="1549400" y="2060575"/>
            <a:ext cx="0" cy="792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4" name="Line 16"/>
          <p:cNvSpPr>
            <a:spLocks noChangeShapeType="1"/>
          </p:cNvSpPr>
          <p:nvPr/>
        </p:nvSpPr>
        <p:spPr bwMode="auto">
          <a:xfrm flipH="1">
            <a:off x="5003800" y="2060575"/>
            <a:ext cx="1588" cy="792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5" name="Line 17"/>
          <p:cNvSpPr>
            <a:spLocks noChangeShapeType="1"/>
          </p:cNvSpPr>
          <p:nvPr/>
        </p:nvSpPr>
        <p:spPr bwMode="auto">
          <a:xfrm flipV="1">
            <a:off x="3708400" y="2060575"/>
            <a:ext cx="0" cy="792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6" name="Text Box 18"/>
          <p:cNvSpPr txBox="1">
            <a:spLocks noChangeArrowheads="1"/>
          </p:cNvSpPr>
          <p:nvPr/>
        </p:nvSpPr>
        <p:spPr bwMode="auto">
          <a:xfrm>
            <a:off x="7356475" y="2708275"/>
            <a:ext cx="1392238" cy="1479550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0000" tIns="46800" rIns="90000" bIns="46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en-GB" sz="1800"/>
              <a:t>Backing </a:t>
            </a:r>
          </a:p>
          <a:p>
            <a:r>
              <a:rPr lang="en-GB" sz="1800"/>
              <a:t>Storage </a:t>
            </a:r>
          </a:p>
          <a:p>
            <a:r>
              <a:rPr lang="en-GB" sz="1800"/>
              <a:t>(not always </a:t>
            </a:r>
          </a:p>
          <a:p>
            <a:r>
              <a:rPr lang="en-GB" sz="1800"/>
              <a:t>included at this level)</a:t>
            </a:r>
          </a:p>
        </p:txBody>
      </p:sp>
      <p:sp>
        <p:nvSpPr>
          <p:cNvPr id="17" name="Line 19"/>
          <p:cNvSpPr>
            <a:spLocks noChangeShapeType="1"/>
          </p:cNvSpPr>
          <p:nvPr/>
        </p:nvSpPr>
        <p:spPr bwMode="auto">
          <a:xfrm>
            <a:off x="6372225" y="3357563"/>
            <a:ext cx="10080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8" name="Line 20"/>
          <p:cNvSpPr>
            <a:spLocks noChangeShapeType="1"/>
          </p:cNvSpPr>
          <p:nvPr/>
        </p:nvSpPr>
        <p:spPr bwMode="auto">
          <a:xfrm flipH="1">
            <a:off x="6300788" y="3573463"/>
            <a:ext cx="10795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0000" tIns="46800" rIns="90000" bIns="46800">
            <a:spAutoFit/>
          </a:bodyPr>
          <a:lstStyle/>
          <a:p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96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There is some discussion over what is included in the CPU.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ALU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 – definitely</a:t>
            </a:r>
          </a:p>
          <a:p>
            <a:pPr marL="1143000" lvl="2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Control Unit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– definitely</a:t>
            </a:r>
          </a:p>
          <a:p>
            <a:pPr marL="1143000" lvl="2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Memory or primary storage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– depends on who you ask and your definition of memory</a:t>
            </a:r>
          </a:p>
          <a:p>
            <a:pPr marL="1143000" lvl="2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term CPU is often used synonymously with “processor” and refers to the microprocessor at the heart of the system, e.g. an Intel i7 processor.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Which has ALU, control unit, and some cache memory on board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But…does not include main memory (RAM)</a:t>
            </a: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Central Processing Unit (CPU)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818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Better to define what a CPU does: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CPU is the part of a computer that carries out programmed instructions.</a:t>
            </a:r>
          </a:p>
          <a:p>
            <a:pPr marL="1143000" lvl="2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CPU controls the rest of the computer system, including main memory (RAM), secondary or backing storage (e.g. hard disk), input and output devices.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280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b="1" i="1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Arithmetic </a:t>
            </a:r>
            <a:r>
              <a:rPr lang="en-GB" sz="1800" b="1" i="1" smtClean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Logic </a:t>
            </a: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Unit</a:t>
            </a:r>
          </a:p>
          <a:p>
            <a:pPr marL="608013" lvl="1" indent="-342900">
              <a:lnSpc>
                <a:spcPct val="80000"/>
              </a:lnSpc>
            </a:pPr>
            <a:endParaRPr lang="en-GB" sz="1800" b="1" i="1" dirty="0">
              <a:solidFill>
                <a:srgbClr val="8AA551"/>
              </a:solidFill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Performs arithmetic and logical operations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Always addition and negation of integers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May include multiplication</a:t>
            </a:r>
          </a:p>
          <a:p>
            <a:pPr marL="1600200" lvl="3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Otherwise does repeated addition</a:t>
            </a:r>
          </a:p>
          <a:p>
            <a:pPr marL="1600200" lvl="3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Does not do subtraction</a:t>
            </a:r>
          </a:p>
          <a:p>
            <a:pPr marL="1600200" lvl="3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Does negation and then addition instead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May do division</a:t>
            </a:r>
          </a:p>
          <a:p>
            <a:pPr marL="1600200" lvl="3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Or repeated subtraction instead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May do floating point numbers as well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Also does AND, OR, NOT and possible XOR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Largely defines the rest of the CPU’s architecture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Parts of the CPU –ALU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102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Handles the instructions contained in the program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In general, the input is the next instruction.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The outputs are control signals to other parts of the CPU or the rest of the computer.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Unit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382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dirty="0"/>
              <a:t>It is necessary to store (or remember) programs and data, both whilst they are in use and over longer periods.</a:t>
            </a:r>
          </a:p>
          <a:p>
            <a:pPr marL="608013" lvl="1" indent="-342900">
              <a:lnSpc>
                <a:spcPct val="80000"/>
              </a:lnSpc>
            </a:pPr>
            <a:endParaRPr lang="en-GB" dirty="0"/>
          </a:p>
          <a:p>
            <a:pPr marL="608013" lvl="1" indent="-342900">
              <a:lnSpc>
                <a:spcPct val="80000"/>
              </a:lnSpc>
            </a:pPr>
            <a:r>
              <a:rPr lang="en-GB" dirty="0"/>
              <a:t>Two broad classifications of memory:</a:t>
            </a:r>
          </a:p>
          <a:p>
            <a:pPr marL="608013" lvl="1" indent="-342900">
              <a:lnSpc>
                <a:spcPct val="80000"/>
              </a:lnSpc>
            </a:pPr>
            <a:endParaRPr lang="en-GB" sz="800" dirty="0"/>
          </a:p>
          <a:p>
            <a:pPr marL="1143000" lvl="2">
              <a:lnSpc>
                <a:spcPct val="80000"/>
              </a:lnSpc>
            </a:pPr>
            <a:r>
              <a:rPr lang="en-GB" sz="2600" dirty="0"/>
              <a:t>Primary Storage</a:t>
            </a:r>
          </a:p>
          <a:p>
            <a:pPr marL="1143000" lvl="2">
              <a:lnSpc>
                <a:spcPct val="80000"/>
              </a:lnSpc>
            </a:pPr>
            <a:r>
              <a:rPr lang="en-GB" sz="2600" dirty="0"/>
              <a:t>Secondary Storage</a:t>
            </a:r>
          </a:p>
          <a:p>
            <a:pPr marL="608013" lvl="1" indent="-342900">
              <a:lnSpc>
                <a:spcPct val="80000"/>
              </a:lnSpc>
            </a:pPr>
            <a:endParaRPr lang="en-GB" sz="1600" dirty="0"/>
          </a:p>
          <a:p>
            <a:pPr marL="608013" lvl="1" indent="-342900">
              <a:lnSpc>
                <a:spcPct val="80000"/>
              </a:lnSpc>
            </a:pPr>
            <a:r>
              <a:rPr lang="en-GB" dirty="0"/>
              <a:t>Historical note: Check on the web for information on previous storage technology, including magnetic drums, floppy disks and core storage.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45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9177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608013" lvl="1" indent="-342900">
              <a:lnSpc>
                <a:spcPct val="80000"/>
              </a:lnSpc>
            </a:pPr>
            <a:r>
              <a:rPr lang="en-GB" dirty="0"/>
              <a:t>Also called main memory</a:t>
            </a:r>
          </a:p>
          <a:p>
            <a:pPr marL="608013" lvl="1" indent="-342900">
              <a:lnSpc>
                <a:spcPct val="80000"/>
              </a:lnSpc>
            </a:pPr>
            <a:endParaRPr lang="en-GB" dirty="0"/>
          </a:p>
          <a:p>
            <a:pPr marL="608013" lvl="1" indent="-342900">
              <a:lnSpc>
                <a:spcPct val="80000"/>
              </a:lnSpc>
            </a:pPr>
            <a:r>
              <a:rPr lang="en-GB" dirty="0"/>
              <a:t>Currently implemented as solid state (i.e. electronic) random access memory (RAM)</a:t>
            </a:r>
          </a:p>
          <a:p>
            <a:pPr marL="608013" lvl="1" indent="-342900">
              <a:lnSpc>
                <a:spcPct val="80000"/>
              </a:lnSpc>
            </a:pPr>
            <a:endParaRPr lang="en-GB" sz="800" dirty="0"/>
          </a:p>
          <a:p>
            <a:pPr marL="1143000" lvl="2">
              <a:lnSpc>
                <a:spcPct val="80000"/>
              </a:lnSpc>
            </a:pPr>
            <a:r>
              <a:rPr lang="en-GB" sz="2600" dirty="0"/>
              <a:t>(Aside: Look up previous types of primary storage, e.g. core store)</a:t>
            </a:r>
          </a:p>
          <a:p>
            <a:pPr marL="1143000" lvl="2">
              <a:lnSpc>
                <a:spcPct val="80000"/>
              </a:lnSpc>
            </a:pPr>
            <a:endParaRPr lang="en-GB" sz="2600" dirty="0"/>
          </a:p>
          <a:p>
            <a:pPr marL="608013" lvl="1" indent="-342900">
              <a:lnSpc>
                <a:spcPct val="80000"/>
              </a:lnSpc>
            </a:pPr>
            <a:r>
              <a:rPr lang="en-GB" dirty="0"/>
              <a:t>RAM is fast, small with low power consumption, but relatively expensive (cost per bit) and volatile (forgets when switched off).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46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400" dirty="0"/>
              <a:t>Primary Storage –RAM Technology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7845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b="1" dirty="0"/>
              <a:t>Two basic technologies:</a:t>
            </a:r>
          </a:p>
          <a:p>
            <a:pPr marL="608013" lvl="1" indent="-342900">
              <a:lnSpc>
                <a:spcPct val="80000"/>
              </a:lnSpc>
            </a:pPr>
            <a:endParaRPr lang="en-GB" sz="800" dirty="0"/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Static RAM – uses a flip flop circuit and remembers as long as it has power but costs more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Dynamic RAM – uses a capacitor to hold charge, which leaks out so needs refreshing but costs less</a:t>
            </a:r>
          </a:p>
          <a:p>
            <a:pPr marL="1143000" lvl="2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Most PC systems (&amp; games consoles </a:t>
            </a:r>
            <a:r>
              <a:rPr lang="en-GB" sz="1800" dirty="0" err="1">
                <a:latin typeface="Arial" pitchFamily="34" charset="0"/>
                <a:cs typeface="Arial" pitchFamily="34" charset="0"/>
              </a:rPr>
              <a:t>etc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) use dynamic RAM because of cost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Modern PCs may have multiple Gigabytes (GB) of RAM in a small number of chips mounted on a circuit board package called a dual in-line memory module (DIMM) which mount in slots on the motherboard.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Variations exist, such as single in-line memory module (SIMM)</a:t>
            </a:r>
          </a:p>
          <a:p>
            <a:pPr marL="265113" lvl="1" indent="0">
              <a:lnSpc>
                <a:spcPct val="80000"/>
              </a:lnSpc>
              <a:buNone/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501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Read Only Memory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 variation on main memory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The data or program is built into the chips when they are made and cannot be changed.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Non-volatile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Used for code that does not change, such as PC 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BIOS</a:t>
            </a: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This kind of memory is called 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volatile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because it is temporary in nature. By contrast, another kind of memory called 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non-volatile memory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, holds its data permanently, even when the power is turned off. Non-volatile memory is used in flash drives, memory cards, and some types of hard drives. </a:t>
            </a: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48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Primary Storage –ROM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4981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PROM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 – programmable ROM – made as a “blank” which can then be programmed once or “burned” (after which it can not be changed).</a:t>
            </a:r>
          </a:p>
          <a:p>
            <a:pPr marL="608013" lvl="1" indent="-342900">
              <a:lnSpc>
                <a:spcPct val="80000"/>
              </a:lnSpc>
              <a:buNone/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EPROM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 – Erasable PROM – made blank, programmed like PROM but can be erased (blanked) usually using UV light.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EEPROM</a:t>
            </a:r>
            <a:r>
              <a:rPr lang="en-GB" sz="18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– Electrically Erasable PROM – usually read only, but can be erased and re-written. This is very slow compared with normal RAM and there is a limit to the number of cycles (changes) that can be made before the unit fails. It is useful for configuration settings which do not change very often.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Flash Memory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– a variation of EEPROM that can be changed more easily and quickly – has a much higher cycle limit (currently about 1 million cycles) – used in cameras, PDAs, MP3 players and USB flash drives (memory sticks) etc.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49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ROM Variations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63534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624078" indent="-514350">
              <a:buFont typeface="+mj-lt"/>
              <a:buAutoNum type="arabicPeriod"/>
            </a:pPr>
            <a:r>
              <a:rPr lang="en-US" dirty="0" smtClean="0"/>
              <a:t>DRAM</a:t>
            </a:r>
          </a:p>
          <a:p>
            <a:pPr marL="624078" indent="-514350">
              <a:buFont typeface="+mj-lt"/>
              <a:buAutoNum type="arabicPeriod"/>
            </a:pPr>
            <a:r>
              <a:rPr lang="en-US" dirty="0" smtClean="0"/>
              <a:t>SRAM</a:t>
            </a:r>
          </a:p>
          <a:p>
            <a:pPr marL="624078" indent="-514350">
              <a:buFont typeface="+mj-lt"/>
              <a:buAutoNum type="arabicPeriod"/>
            </a:pPr>
            <a:r>
              <a:rPr lang="en-US" dirty="0" smtClean="0"/>
              <a:t>ROM</a:t>
            </a:r>
          </a:p>
          <a:p>
            <a:pPr marL="624078" indent="-514350">
              <a:buFont typeface="+mj-lt"/>
              <a:buAutoNum type="arabicPeriod"/>
            </a:pPr>
            <a:r>
              <a:rPr lang="en-US" dirty="0" smtClean="0"/>
              <a:t>COMOS</a:t>
            </a:r>
          </a:p>
          <a:p>
            <a:pPr marL="624078" indent="-514350">
              <a:buFont typeface="+mj-lt"/>
              <a:buAutoNum type="arabicPeriod"/>
            </a:pPr>
            <a:endParaRPr lang="en-US" dirty="0"/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50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Four Major  Types of Computer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244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This is Dynamic random Access Memory and is used to expand the memory in the computer to improve processing speed.</a:t>
            </a:r>
          </a:p>
          <a:p>
            <a:r>
              <a:rPr lang="en-US" dirty="0" smtClean="0"/>
              <a:t>It is cheap compared to other types because they are less complex.</a:t>
            </a:r>
          </a:p>
          <a:p>
            <a:r>
              <a:rPr lang="en-US" dirty="0" smtClean="0"/>
              <a:t>It needs to be refreshed often times.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51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DRAM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0873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52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SDRAM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808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Also called </a:t>
            </a:r>
            <a:r>
              <a:rPr lang="en-GB" sz="1800" b="1" i="1" dirty="0">
                <a:solidFill>
                  <a:srgbClr val="8AA551"/>
                </a:solidFill>
                <a:latin typeface="Arial" pitchFamily="34" charset="0"/>
                <a:cs typeface="Arial" pitchFamily="34" charset="0"/>
              </a:rPr>
              <a:t>backing store</a:t>
            </a:r>
          </a:p>
          <a:p>
            <a:pPr marL="608013" lvl="1" indent="-342900">
              <a:lnSpc>
                <a:spcPct val="80000"/>
              </a:lnSpc>
            </a:pPr>
            <a:endParaRPr lang="en-GB" sz="1800" b="1" i="1" dirty="0">
              <a:solidFill>
                <a:srgbClr val="8AA551"/>
              </a:solidFill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Most commonly implemented as hard disk drive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Other variations on this next slide</a:t>
            </a:r>
          </a:p>
          <a:p>
            <a:pPr marL="1143000" lvl="2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Non-volatile, low cost per bit, high power consumption, many times slower than RAM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53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400" dirty="0"/>
              <a:t>Secondary Storage – Hard Disk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2030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5113" lvl="1" indent="0">
              <a:lnSpc>
                <a:spcPct val="80000"/>
              </a:lnSpc>
              <a:buNone/>
            </a:pPr>
            <a:r>
              <a:rPr lang="en-GB" b="1" i="1" dirty="0">
                <a:solidFill>
                  <a:srgbClr val="8AA551"/>
                </a:solidFill>
              </a:rPr>
              <a:t>Integrated Drive Electronics (IDE)</a:t>
            </a:r>
          </a:p>
          <a:p>
            <a:pPr marL="608013" lvl="1" indent="-342900">
              <a:lnSpc>
                <a:spcPct val="80000"/>
              </a:lnSpc>
            </a:pPr>
            <a:endParaRPr lang="en-GB" sz="800" b="1" i="1" dirty="0">
              <a:solidFill>
                <a:srgbClr val="8AA551"/>
              </a:solidFill>
            </a:endParaRP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This was the original name for this interface</a:t>
            </a: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Later it became known as ATA</a:t>
            </a:r>
          </a:p>
          <a:p>
            <a:pPr marL="1504950" lvl="3">
              <a:lnSpc>
                <a:spcPct val="80000"/>
              </a:lnSpc>
            </a:pPr>
            <a:r>
              <a:rPr lang="en-GB" dirty="0">
                <a:latin typeface="Arial" pitchFamily="34" charset="0"/>
                <a:cs typeface="Arial" pitchFamily="34" charset="0"/>
              </a:rPr>
              <a:t>The first two letters (AT) came from IBM PC/AT and stood for Advanced Technology</a:t>
            </a:r>
          </a:p>
          <a:p>
            <a:pPr marL="1504950" lvl="3">
              <a:lnSpc>
                <a:spcPct val="80000"/>
              </a:lnSpc>
            </a:pPr>
            <a:r>
              <a:rPr lang="en-GB" dirty="0">
                <a:latin typeface="Arial" pitchFamily="34" charset="0"/>
                <a:cs typeface="Arial" pitchFamily="34" charset="0"/>
              </a:rPr>
              <a:t>The other A stands for attachment</a:t>
            </a:r>
          </a:p>
          <a:p>
            <a:pPr marL="1504950" lvl="3">
              <a:lnSpc>
                <a:spcPct val="80000"/>
              </a:lnSpc>
            </a:pPr>
            <a:endParaRPr lang="en-GB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Now called Parallel ATA (PATA) to distinguish from SATA</a:t>
            </a: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Introduced 1986, obsolete through the introduction of SATA in 2003</a:t>
            </a: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Used a 40 (or later 80) wire parallel ribbon </a:t>
            </a:r>
            <a:r>
              <a:rPr lang="en-GB" sz="1900" dirty="0" smtClean="0">
                <a:latin typeface="Arial" pitchFamily="34" charset="0"/>
                <a:cs typeface="Arial" pitchFamily="34" charset="0"/>
              </a:rPr>
              <a:t>cable.</a:t>
            </a:r>
            <a:endParaRPr lang="en-GB" sz="1900" dirty="0">
              <a:latin typeface="Arial" pitchFamily="34" charset="0"/>
              <a:cs typeface="Arial" pitchFamily="34" charset="0"/>
            </a:endParaRP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54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Secondary Storage – Interfaces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1356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608013" lvl="1" indent="-342900">
              <a:lnSpc>
                <a:spcPct val="80000"/>
              </a:lnSpc>
            </a:pPr>
            <a:r>
              <a:rPr lang="en-GB" b="1" i="1" dirty="0">
                <a:solidFill>
                  <a:srgbClr val="8AA551"/>
                </a:solidFill>
              </a:rPr>
              <a:t>Serial ATA (SATA)</a:t>
            </a:r>
          </a:p>
          <a:p>
            <a:pPr marL="608013" lvl="1" indent="-342900">
              <a:lnSpc>
                <a:spcPct val="80000"/>
              </a:lnSpc>
            </a:pPr>
            <a:endParaRPr lang="en-GB" sz="800" b="1" i="1" dirty="0">
              <a:solidFill>
                <a:srgbClr val="8AA551"/>
              </a:solidFill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Launched in 2003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Now the standard in PCs</a:t>
            </a: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reduced cable-bulk and cost (7 conductors versus 40), native hot swapping, faster data transfer through higher signalling rates, more efficient transfer through an (optional) I/O queuing protocol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0720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This is the main circuit board of the PC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Usually mounted on the bottom of the case (desktop cases) or vertically (tower cases)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Has slots for processor, memory and expansion cards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Has connectors for secondary storage (SATA these days), power, USB, case switches and lights etc.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Motherboards are available in a number of “standard” sizes which will fit most PC 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cases</a:t>
            </a: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The motherboard contains a socket to hold the CPU; the CPU is the component in which most processing takes place.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The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motherboard is the most complicated piece of equipment inside the case,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because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all devices must communicate with the CPU installed on the motherboard,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All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devices in a computer are either installed directly on the motherboard, directly linked to it by a cable connected to a port on the motherboard, or indirectly linked to it by expansion cards.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A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device that is not installed directly on the motherboard is called a 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peripheral device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.</a:t>
            </a:r>
          </a:p>
          <a:p>
            <a:pPr marL="608013" lvl="1" indent="-342900">
              <a:lnSpc>
                <a:spcPct val="80000"/>
              </a:lnSpc>
              <a:buFont typeface="Wingdings" pitchFamily="2" charset="2"/>
              <a:buChar char="Ø"/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56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Motherboard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1651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>
                <a:latin typeface="Arial" pitchFamily="34" charset="0"/>
                <a:cs typeface="Arial" pitchFamily="34" charset="0"/>
              </a:rPr>
              <a:t>They 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are the chipset. The </a:t>
            </a:r>
            <a:r>
              <a:rPr lang="en-US" sz="2400" dirty="0" smtClean="0">
                <a:latin typeface="Arial" pitchFamily="34" charset="0"/>
                <a:cs typeface="Arial" pitchFamily="34" charset="0"/>
              </a:rPr>
              <a:t>north bridge 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is the main system bus, the main peripheral bus controller, and often the memory controller and even integrated graphics or AGP controller in some cases</a:t>
            </a:r>
            <a:r>
              <a:rPr lang="en-US" sz="24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r>
              <a:rPr lang="en-US" sz="24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The </a:t>
            </a:r>
            <a:r>
              <a:rPr lang="en-US" sz="2400" dirty="0" smtClean="0">
                <a:latin typeface="Arial" pitchFamily="34" charset="0"/>
                <a:cs typeface="Arial" pitchFamily="34" charset="0"/>
              </a:rPr>
              <a:t>south bridge 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controls peripherals and things closer to the user, ranging from the ROM BIOS, the mouse, the keyboard, disk controller, sound controller, USB and more.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57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North </a:t>
            </a:r>
            <a:r>
              <a:rPr lang="en-US" smtClean="0"/>
              <a:t>Gate vs. </a:t>
            </a:r>
            <a:r>
              <a:rPr lang="en-US" dirty="0" smtClean="0"/>
              <a:t>South Gate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40434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sz="2800" dirty="0">
                <a:latin typeface="Arial" pitchFamily="34" charset="0"/>
                <a:cs typeface="Arial" pitchFamily="34" charset="0"/>
              </a:rPr>
              <a:t>Traces, or wires, on the motherboard used for communication</a:t>
            </a:r>
          </a:p>
          <a:p>
            <a:pPr lvl="0"/>
            <a:r>
              <a:rPr lang="en-US" sz="2800" dirty="0">
                <a:latin typeface="Arial" pitchFamily="34" charset="0"/>
                <a:cs typeface="Arial" pitchFamily="34" charset="0"/>
              </a:rPr>
              <a:t>Expansion slots to connect expansion cards to the motherboard</a:t>
            </a:r>
          </a:p>
          <a:p>
            <a:pPr lvl="0"/>
            <a:r>
              <a:rPr lang="en-US" sz="2800" dirty="0">
                <a:latin typeface="Arial" pitchFamily="34" charset="0"/>
                <a:cs typeface="Arial" pitchFamily="34" charset="0"/>
              </a:rPr>
              <a:t>The system clock that keeps communication in sync</a:t>
            </a:r>
          </a:p>
          <a:p>
            <a:pPr lvl="0"/>
            <a:r>
              <a:rPr lang="en-US" sz="2800" dirty="0">
                <a:latin typeface="Arial" pitchFamily="34" charset="0"/>
                <a:cs typeface="Arial" pitchFamily="34" charset="0"/>
              </a:rPr>
              <a:t>Connections for data cables to devices inside the case</a:t>
            </a:r>
          </a:p>
          <a:p>
            <a:pPr lvl="0"/>
            <a:r>
              <a:rPr lang="en-US" sz="2800" dirty="0">
                <a:latin typeface="Arial" pitchFamily="34" charset="0"/>
                <a:cs typeface="Arial" pitchFamily="34" charset="0"/>
              </a:rPr>
              <a:t>Ports for devices outside the case.</a:t>
            </a:r>
          </a:p>
          <a:p>
            <a:endParaRPr lang="en-US" sz="2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58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>
                <a:effectLst/>
                <a:latin typeface="Arial" pitchFamily="34" charset="0"/>
                <a:cs typeface="Arial" pitchFamily="34" charset="0"/>
              </a:rPr>
              <a:t>Components that allow the processor to communicate with other devices are as follows:</a:t>
            </a:r>
            <a:br>
              <a:rPr lang="en-US" sz="2400" dirty="0">
                <a:effectLst/>
                <a:latin typeface="Arial" pitchFamily="34" charset="0"/>
                <a:cs typeface="Arial" pitchFamily="34" charset="0"/>
              </a:rPr>
            </a:b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872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608013" lvl="1" indent="-342900">
              <a:lnSpc>
                <a:spcPct val="80000"/>
              </a:lnSpc>
            </a:pPr>
            <a:endParaRPr lang="en-GB" sz="1800" dirty="0" smtClean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 smtClean="0">
                <a:latin typeface="Arial" pitchFamily="34" charset="0"/>
                <a:cs typeface="Arial" pitchFamily="34" charset="0"/>
              </a:rPr>
              <a:t>The </a:t>
            </a:r>
            <a:r>
              <a:rPr lang="en-GB" sz="1800" dirty="0">
                <a:latin typeface="Arial" pitchFamily="34" charset="0"/>
                <a:cs typeface="Arial" pitchFamily="34" charset="0"/>
              </a:rPr>
              <a:t>supporting electronics on the motherboard is known as the Chip Set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Northbridge</a:t>
            </a:r>
          </a:p>
          <a:p>
            <a:pPr marL="1600200" lvl="3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Typically handles faster communications between CPU, RAM, and PCI Express (or AGP) video cards, and the </a:t>
            </a:r>
            <a:r>
              <a:rPr lang="en-GB" sz="1800" dirty="0" err="1">
                <a:latin typeface="Arial" pitchFamily="34" charset="0"/>
                <a:cs typeface="Arial" pitchFamily="34" charset="0"/>
              </a:rPr>
              <a:t>southbridge</a:t>
            </a: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600200" lvl="3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Some contain integrated video controllers</a:t>
            </a:r>
          </a:p>
          <a:p>
            <a:pPr marL="1600200" lvl="3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Southbridge</a:t>
            </a:r>
          </a:p>
          <a:p>
            <a:pPr marL="1600200" lvl="3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Typically handles slower communications to SATA, audio, USB, network etc.</a:t>
            </a:r>
          </a:p>
          <a:p>
            <a:pPr marL="1600200" lvl="3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Possibly graphics and sound in separate chips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Exact content of motherboard and chip set depends on the processor(s) it supports</a:t>
            </a:r>
          </a:p>
          <a:p>
            <a:pPr marL="608013" lvl="1" indent="-342900">
              <a:lnSpc>
                <a:spcPct val="80000"/>
              </a:lnSpc>
            </a:pPr>
            <a:endParaRPr lang="en-GB" sz="19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Memory controllers are now usually on the processor</a:t>
            </a:r>
          </a:p>
          <a:p>
            <a:pPr marL="1143000" lvl="2">
              <a:lnSpc>
                <a:spcPct val="80000"/>
              </a:lnSpc>
            </a:pPr>
            <a:r>
              <a:rPr lang="en-GB" sz="1900" dirty="0">
                <a:latin typeface="Arial" pitchFamily="34" charset="0"/>
                <a:cs typeface="Arial" pitchFamily="34" charset="0"/>
              </a:rPr>
              <a:t>Intel launched the “Sandy Bridge” version of its Core processor range in January 2011, which includes on-chip graphics.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59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Chip Set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8788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Arial" pitchFamily="34" charset="0"/>
                <a:cs typeface="Arial" pitchFamily="34" charset="0"/>
              </a:rPr>
              <a:t>The processor could not do its job without the assistance of the 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chipset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, a group of microchips on the motherboard that control the flow of data and instructions to and from the processor.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The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chipset is responsible for the careful timing and coordination of activities.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The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chipset is an integrated component of the motherboard and is contained in two packages embedded on the motherboard.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92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All PCs need power.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Usually comes from mains electricity or battery (laptops etc.)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Most modern power supplies will detect input voltage.</a:t>
            </a: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Better supplies have modular cable systems, allowing you to just use the cables you need</a:t>
            </a:r>
            <a:r>
              <a:rPr lang="en-GB" sz="18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608013" lvl="1" indent="-342900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Make sure that your PSU has the correct connectors for your motherboard and disk drives.</a:t>
            </a:r>
          </a:p>
          <a:p>
            <a:pPr marL="608013" lvl="1" indent="-342900">
              <a:lnSpc>
                <a:spcPct val="80000"/>
              </a:lnSpc>
            </a:pPr>
            <a:endParaRPr lang="en-GB" sz="1800" dirty="0">
              <a:latin typeface="Arial" pitchFamily="34" charset="0"/>
              <a:cs typeface="Arial" pitchFamily="34" charset="0"/>
            </a:endParaRPr>
          </a:p>
          <a:p>
            <a:pPr marL="1143000" lvl="2">
              <a:lnSpc>
                <a:spcPct val="80000"/>
              </a:lnSpc>
            </a:pPr>
            <a:r>
              <a:rPr lang="en-GB" sz="1800" dirty="0">
                <a:latin typeface="Arial" pitchFamily="34" charset="0"/>
                <a:cs typeface="Arial" pitchFamily="34" charset="0"/>
              </a:rPr>
              <a:t>Some graphics cards also need a direct power connection.</a:t>
            </a:r>
          </a:p>
          <a:p>
            <a:pPr marL="608013" lvl="1" indent="-342900">
              <a:lnSpc>
                <a:spcPct val="80000"/>
              </a:lnSpc>
            </a:pP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61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Supply (PSU)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8159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Arial" pitchFamily="34" charset="0"/>
                <a:cs typeface="Arial" pitchFamily="34" charset="0"/>
              </a:rPr>
              <a:t>The most important component of the computer’s electrical system is the </a:t>
            </a:r>
            <a:r>
              <a:rPr lang="en-US" sz="1800" b="1" dirty="0">
                <a:latin typeface="Arial" pitchFamily="34" charset="0"/>
                <a:cs typeface="Arial" pitchFamily="34" charset="0"/>
              </a:rPr>
              <a:t>power supply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, which is usually near the rear of the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case.</a:t>
            </a: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This power supply does not actually generate electricity but converts and reduces it to a voltage that the computer can handle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A power supply receives 110–120 volts of AC power from a wall outlet and converts it to a much lower DC voltage. Older power supplies had power cables that provided either 5 or 12 volts DC.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3700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63</a:t>
            </a:fld>
            <a:endParaRPr lang="en-US"/>
          </a:p>
        </p:txBody>
      </p:sp>
      <p:pic>
        <p:nvPicPr>
          <p:cNvPr id="5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3400" y="304800"/>
            <a:ext cx="8305800" cy="570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4248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Molex: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 for connecting Hard disk or CD-ROMs drives.</a:t>
            </a:r>
          </a:p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Berg Connectors-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for connecting floppy disk drives</a:t>
            </a:r>
          </a:p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P1 connector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for connecting power source to the mother board.</a:t>
            </a:r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64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Standard Power Supply Connectors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01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Arial" pitchFamily="34" charset="0"/>
                <a:cs typeface="Arial" pitchFamily="34" charset="0"/>
              </a:rPr>
              <a:t>When selecting a computer case, motherboard, and power supply, chooses a design that fits its intended use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For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instance, you might find that you need a high-end tower system, a rack-mounted server, or a low-profile desktop.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</a:rPr>
              <a:t>When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you understand the intended use, you then can decide which form factor you will use.</a:t>
            </a:r>
          </a:p>
          <a:p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65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ffectLst/>
              </a:rPr>
              <a:t>TYPES OF FORM FACTORS</a:t>
            </a:r>
            <a:br>
              <a:rPr lang="en-US" dirty="0">
                <a:effectLst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60659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66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52400"/>
            <a:ext cx="8763000" cy="617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98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31568-16DA-41F9-A32A-95DEBD00EEDE}" type="slidenum">
              <a:rPr lang="en-US" smtClean="0"/>
              <a:t>67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3149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1387</TotalTime>
  <Words>3900</Words>
  <Application>Microsoft Office PowerPoint</Application>
  <PresentationFormat>On-screen Show (4:3)</PresentationFormat>
  <Paragraphs>502</Paragraphs>
  <Slides>67</Slides>
  <Notes>0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69" baseType="lpstr">
      <vt:lpstr>Concourse</vt:lpstr>
      <vt:lpstr>Bitmap Image</vt:lpstr>
      <vt:lpstr>Introduction to Computers</vt:lpstr>
      <vt:lpstr>Healthy and Safety Issues</vt:lpstr>
      <vt:lpstr>PowerPoint Presentation</vt:lpstr>
      <vt:lpstr>Natural elements </vt:lpstr>
      <vt:lpstr>PowerPoint Presentation</vt:lpstr>
      <vt:lpstr>PowerPoint Presentation</vt:lpstr>
      <vt:lpstr>PowerPoint Presentation</vt:lpstr>
      <vt:lpstr>What Is a Computer?</vt:lpstr>
      <vt:lpstr>The Components of a Computer</vt:lpstr>
      <vt:lpstr>PowerPoint Presentation</vt:lpstr>
      <vt:lpstr>Personal Computers  and Mobile Devices</vt:lpstr>
      <vt:lpstr>Input Devices</vt:lpstr>
      <vt:lpstr>System Unit</vt:lpstr>
      <vt:lpstr>Output Devices</vt:lpstr>
      <vt:lpstr>Storage Devices</vt:lpstr>
      <vt:lpstr>PowerPoint Presentation</vt:lpstr>
      <vt:lpstr>PowerPoint Presentation</vt:lpstr>
      <vt:lpstr>Communications Devices</vt:lpstr>
      <vt:lpstr>How to Purchase a Desktop Computer</vt:lpstr>
      <vt:lpstr>How to Purchase a Desktop Computer</vt:lpstr>
      <vt:lpstr>How to Purchase a Desktop Computer</vt:lpstr>
      <vt:lpstr>How to Purchase a Notebook Computer</vt:lpstr>
      <vt:lpstr>How to Purchase a Notebook Computer</vt:lpstr>
      <vt:lpstr>How to Purchase a Notebook Computer</vt:lpstr>
      <vt:lpstr>Types of Computers</vt:lpstr>
      <vt:lpstr>Supercomputers </vt:lpstr>
      <vt:lpstr>PowerPoint Presentation</vt:lpstr>
      <vt:lpstr>Mainframe Computers </vt:lpstr>
      <vt:lpstr>PowerPoint Presentation</vt:lpstr>
      <vt:lpstr>PowerPoint Presentation</vt:lpstr>
      <vt:lpstr>Mini Computers</vt:lpstr>
      <vt:lpstr>Microcomputer (Personal Computer</vt:lpstr>
      <vt:lpstr>Laptop Computers</vt:lpstr>
      <vt:lpstr>Other Types of Computer</vt:lpstr>
      <vt:lpstr>PowerPoint Presentation</vt:lpstr>
      <vt:lpstr>Embedded Systems</vt:lpstr>
      <vt:lpstr>Special Purpose Computers</vt:lpstr>
      <vt:lpstr>Hardware versus Software</vt:lpstr>
      <vt:lpstr>Basic Computer Architecture</vt:lpstr>
      <vt:lpstr>Von Neumann Architecture</vt:lpstr>
      <vt:lpstr>Central Processing Unit (CPU)</vt:lpstr>
      <vt:lpstr>PowerPoint Presentation</vt:lpstr>
      <vt:lpstr>Parts of the CPU –ALU</vt:lpstr>
      <vt:lpstr>Control Unit</vt:lpstr>
      <vt:lpstr>Memory</vt:lpstr>
      <vt:lpstr>Primary Storage –RAM Technology</vt:lpstr>
      <vt:lpstr>PowerPoint Presentation</vt:lpstr>
      <vt:lpstr>Primary Storage –ROM</vt:lpstr>
      <vt:lpstr>ROM Variations</vt:lpstr>
      <vt:lpstr>Four Major  Types of Computer Memory</vt:lpstr>
      <vt:lpstr>DRAM</vt:lpstr>
      <vt:lpstr>SDRAM</vt:lpstr>
      <vt:lpstr>Secondary Storage – Hard Disk</vt:lpstr>
      <vt:lpstr>Secondary Storage – Interfaces</vt:lpstr>
      <vt:lpstr>PowerPoint Presentation</vt:lpstr>
      <vt:lpstr>Motherboard</vt:lpstr>
      <vt:lpstr>North Gate vs. South Gate</vt:lpstr>
      <vt:lpstr>Components that allow the processor to communicate with other devices are as follows: </vt:lpstr>
      <vt:lpstr>Chip Set</vt:lpstr>
      <vt:lpstr>PowerPoint Presentation</vt:lpstr>
      <vt:lpstr>Power Supply (PSU)</vt:lpstr>
      <vt:lpstr>PowerPoint Presentation</vt:lpstr>
      <vt:lpstr>PowerPoint Presentation</vt:lpstr>
      <vt:lpstr>Standard Power Supply Connectors</vt:lpstr>
      <vt:lpstr>TYPES OF FORM FACTORS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Computers</dc:title>
  <dc:creator>Jeremiah</dc:creator>
  <cp:lastModifiedBy>Jeremiah Kafakoma</cp:lastModifiedBy>
  <cp:revision>33</cp:revision>
  <dcterms:created xsi:type="dcterms:W3CDTF">2016-09-08T18:08:41Z</dcterms:created>
  <dcterms:modified xsi:type="dcterms:W3CDTF">2017-04-05T10:10:56Z</dcterms:modified>
</cp:coreProperties>
</file>