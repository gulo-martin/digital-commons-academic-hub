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8" r:id="rId1"/>
  </p:sldMasterIdLst>
  <p:notesMasterIdLst>
    <p:notesMasterId r:id="rId69"/>
  </p:notesMasterIdLst>
  <p:handoutMasterIdLst>
    <p:handoutMasterId r:id="rId70"/>
  </p:handoutMasterIdLst>
  <p:sldIdLst>
    <p:sldId id="319" r:id="rId2"/>
    <p:sldId id="257" r:id="rId3"/>
    <p:sldId id="392" r:id="rId4"/>
    <p:sldId id="394" r:id="rId5"/>
    <p:sldId id="395" r:id="rId6"/>
    <p:sldId id="397" r:id="rId7"/>
    <p:sldId id="398" r:id="rId8"/>
    <p:sldId id="399" r:id="rId9"/>
    <p:sldId id="396" r:id="rId10"/>
    <p:sldId id="400" r:id="rId11"/>
    <p:sldId id="401" r:id="rId12"/>
    <p:sldId id="402" r:id="rId13"/>
    <p:sldId id="403" r:id="rId14"/>
    <p:sldId id="404" r:id="rId15"/>
    <p:sldId id="405" r:id="rId16"/>
    <p:sldId id="406" r:id="rId17"/>
    <p:sldId id="407" r:id="rId18"/>
    <p:sldId id="408" r:id="rId19"/>
    <p:sldId id="409" r:id="rId20"/>
    <p:sldId id="410" r:id="rId21"/>
    <p:sldId id="411" r:id="rId22"/>
    <p:sldId id="412" r:id="rId23"/>
    <p:sldId id="413" r:id="rId24"/>
    <p:sldId id="415" r:id="rId25"/>
    <p:sldId id="414" r:id="rId26"/>
    <p:sldId id="416" r:id="rId27"/>
    <p:sldId id="417" r:id="rId28"/>
    <p:sldId id="418" r:id="rId29"/>
    <p:sldId id="419" r:id="rId30"/>
    <p:sldId id="420" r:id="rId31"/>
    <p:sldId id="422" r:id="rId32"/>
    <p:sldId id="421" r:id="rId33"/>
    <p:sldId id="423" r:id="rId34"/>
    <p:sldId id="424" r:id="rId35"/>
    <p:sldId id="425" r:id="rId36"/>
    <p:sldId id="426" r:id="rId37"/>
    <p:sldId id="427" r:id="rId38"/>
    <p:sldId id="428" r:id="rId39"/>
    <p:sldId id="429" r:id="rId40"/>
    <p:sldId id="430" r:id="rId41"/>
    <p:sldId id="431" r:id="rId42"/>
    <p:sldId id="432" r:id="rId43"/>
    <p:sldId id="433" r:id="rId44"/>
    <p:sldId id="434" r:id="rId45"/>
    <p:sldId id="436" r:id="rId46"/>
    <p:sldId id="435" r:id="rId47"/>
    <p:sldId id="438" r:id="rId48"/>
    <p:sldId id="439" r:id="rId49"/>
    <p:sldId id="440" r:id="rId50"/>
    <p:sldId id="441" r:id="rId51"/>
    <p:sldId id="442" r:id="rId52"/>
    <p:sldId id="443" r:id="rId53"/>
    <p:sldId id="444" r:id="rId54"/>
    <p:sldId id="445" r:id="rId55"/>
    <p:sldId id="446" r:id="rId56"/>
    <p:sldId id="447" r:id="rId57"/>
    <p:sldId id="448" r:id="rId58"/>
    <p:sldId id="449" r:id="rId59"/>
    <p:sldId id="450" r:id="rId60"/>
    <p:sldId id="451" r:id="rId61"/>
    <p:sldId id="452" r:id="rId62"/>
    <p:sldId id="453" r:id="rId63"/>
    <p:sldId id="454" r:id="rId64"/>
    <p:sldId id="456" r:id="rId65"/>
    <p:sldId id="455" r:id="rId66"/>
    <p:sldId id="391" r:id="rId67"/>
    <p:sldId id="393" r:id="rId68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222"/>
    <a:srgbClr val="FFFFFF"/>
    <a:srgbClr val="18B2B6"/>
    <a:srgbClr val="0033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87" autoAdjust="0"/>
    <p:restoredTop sz="94595" autoAdjust="0"/>
  </p:normalViewPr>
  <p:slideViewPr>
    <p:cSldViewPr>
      <p:cViewPr varScale="1">
        <p:scale>
          <a:sx n="69" d="100"/>
          <a:sy n="69" d="100"/>
        </p:scale>
        <p:origin x="-134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922"/>
    </p:cViewPr>
  </p:sorterViewPr>
  <p:notesViewPr>
    <p:cSldViewPr>
      <p:cViewPr varScale="1">
        <p:scale>
          <a:sx n="70" d="100"/>
          <a:sy n="70" d="100"/>
        </p:scale>
        <p:origin x="-1422" y="-108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FA198B4C-E187-40C1-9CFB-8C84D31DB33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451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D895328-4B9F-41A4-ACEE-9416B6D4BF09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BF7089-33CE-4CF1-82F6-433852DBEAB5}" type="slidenum">
              <a:rPr lang="en-US"/>
              <a:pPr/>
              <a:t>1</a:t>
            </a:fld>
            <a:endParaRPr lang="en-US"/>
          </a:p>
        </p:txBody>
      </p:sp>
      <p:sp>
        <p:nvSpPr>
          <p:cNvPr id="20173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04AD50-FE71-43BB-96C9-2E37B809A891}" type="slidenum">
              <a:rPr lang="en-US"/>
              <a:pPr/>
              <a:t>2</a:t>
            </a:fld>
            <a:endParaRPr lang="en-US"/>
          </a:p>
        </p:txBody>
      </p:sp>
      <p:sp>
        <p:nvSpPr>
          <p:cNvPr id="6553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2F805CA-5D5D-461E-B0E8-25E8508984B3}" type="slidenum">
              <a:rPr lang="en-US"/>
              <a:pPr/>
              <a:t>3</a:t>
            </a:fld>
            <a:endParaRPr lang="en-US"/>
          </a:p>
        </p:txBody>
      </p:sp>
      <p:sp>
        <p:nvSpPr>
          <p:cNvPr id="57856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8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D1615B4-71BB-4E80-8E80-578B5A547777}" type="slidenum">
              <a:rPr lang="en-US"/>
              <a:pPr/>
              <a:t>66</a:t>
            </a:fld>
            <a:endParaRPr lang="en-US"/>
          </a:p>
        </p:txBody>
      </p:sp>
      <p:sp>
        <p:nvSpPr>
          <p:cNvPr id="28160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1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F2B9F65-8086-4303-909A-61AB98CE6B1C}" type="slidenum">
              <a:rPr lang="en-US"/>
              <a:pPr/>
              <a:t>67</a:t>
            </a:fld>
            <a:endParaRPr lang="en-US"/>
          </a:p>
        </p:txBody>
      </p:sp>
      <p:sp>
        <p:nvSpPr>
          <p:cNvPr id="58061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0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24200"/>
            <a:ext cx="7772400" cy="8382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248400" cy="990600"/>
          </a:xfrm>
        </p:spPr>
        <p:txBody>
          <a:bodyPr/>
          <a:lstStyle>
            <a:lvl1pPr marL="0" indent="0" algn="ctr">
              <a:buFontTx/>
              <a:buNone/>
              <a:defRPr sz="43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rgbClr val="222222"/>
                </a:solidFill>
              </a:defRPr>
            </a:lvl1pPr>
          </a:lstStyle>
          <a:p>
            <a:r>
              <a:rPr lang="en-US"/>
              <a:t>Linux+ Guide to Linux Certification, Second Edition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 sz="1400">
                <a:latin typeface="Times New Roman" pitchFamily="18" charset="0"/>
              </a:defRPr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sz="1400">
                <a:latin typeface="Times New Roman" pitchFamily="18" charset="0"/>
              </a:defRPr>
            </a:lvl1pPr>
          </a:lstStyle>
          <a:p>
            <a:fld id="{F1427571-25B8-4097-8F12-A10095F62C4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065367F-702A-4C8C-9DC3-AD1F1B00131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5A9BE97-6D0B-44C2-9E31-09953B029B4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22D0781-A1F4-439D-826F-10EBE3F4248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F366EFB-9995-4A54-8908-9E99D64BFC8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AC820A7-A743-4086-96FF-16671A670A7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394186F-49A8-4C66-AF9E-007278759E4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E9E64C0-2F88-47A6-A779-89B6ED6B14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132DB27-DB0F-40D9-A14E-9C2A1502C82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5BDFE10-FDA1-454A-BE62-002328AC726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E3C2649-8108-4CC6-A61D-684A2D767CE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76400"/>
            <a:ext cx="80772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0"/>
            <a:ext cx="6858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500">
                <a:solidFill>
                  <a:srgbClr val="222222"/>
                </a:solidFill>
                <a:latin typeface="+mn-lt"/>
              </a:defRPr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391400" y="6324600"/>
            <a:ext cx="1219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500">
                <a:solidFill>
                  <a:srgbClr val="222222"/>
                </a:solidFill>
                <a:latin typeface="+mn-lt"/>
              </a:defRPr>
            </a:lvl1pPr>
          </a:lstStyle>
          <a:p>
            <a:fld id="{1D5D03D6-BA4E-4406-A0DB-5780F74746F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600">
          <a:solidFill>
            <a:srgbClr val="22222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609600" y="1447800"/>
            <a:ext cx="8001000" cy="2209800"/>
          </a:xfrm>
        </p:spPr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92163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609600" y="4419600"/>
            <a:ext cx="8077200" cy="1447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3400" b="0" i="1"/>
              <a:t>Chapter 9</a:t>
            </a:r>
          </a:p>
          <a:p>
            <a:pPr>
              <a:lnSpc>
                <a:spcPct val="90000"/>
              </a:lnSpc>
            </a:pPr>
            <a:r>
              <a:rPr lang="en-US" sz="3400" b="0" i="1"/>
              <a:t>Installing and Supporting I/O Devices</a:t>
            </a:r>
          </a:p>
        </p:txBody>
      </p:sp>
      <p:pic>
        <p:nvPicPr>
          <p:cNvPr id="92165" name="Picture 1029" descr="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3124200" cy="1143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F22C6B-051D-4B0B-9FBA-69F892C68CE8}" type="slidenum">
              <a:rPr lang="en-US"/>
              <a:pPr/>
              <a:t>2</a:t>
            </a:fld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305800" cy="4572000"/>
          </a:xfrm>
        </p:spPr>
        <p:txBody>
          <a:bodyPr/>
          <a:lstStyle/>
          <a:p>
            <a:r>
              <a:rPr lang="en-US"/>
              <a:t>Learn about the general approaches you need to take when installing and supporting I/O devices</a:t>
            </a:r>
          </a:p>
          <a:p>
            <a:r>
              <a:rPr lang="en-US"/>
              <a:t>Learn about keyboards </a:t>
            </a:r>
          </a:p>
          <a:p>
            <a:r>
              <a:rPr lang="en-US"/>
              <a:t>Learn how to work with the mouse and other pointing devices</a:t>
            </a:r>
          </a:p>
          <a:p>
            <a:r>
              <a:rPr lang="en-US"/>
              <a:t>Learn about monitors and video cards and how they relate to the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1270A2-588F-40A8-BBC0-5ED974F1FD19}" type="slidenum">
              <a:rPr lang="en-US"/>
              <a:pPr/>
              <a:t>3</a:t>
            </a:fld>
            <a:endParaRPr lang="en-US"/>
          </a:p>
        </p:txBody>
      </p:sp>
      <p:sp>
        <p:nvSpPr>
          <p:cNvPr id="577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Objectives (continued)</a:t>
            </a:r>
          </a:p>
        </p:txBody>
      </p:sp>
      <p:sp>
        <p:nvSpPr>
          <p:cNvPr id="577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305800" cy="4572000"/>
          </a:xfrm>
        </p:spPr>
        <p:txBody>
          <a:bodyPr/>
          <a:lstStyle/>
          <a:p>
            <a:r>
              <a:rPr lang="en-US"/>
              <a:t>Learn how to use ports and expansion slots for add-on devices</a:t>
            </a:r>
          </a:p>
          <a:p>
            <a:r>
              <a:rPr lang="en-US"/>
              <a:t>Learn how to troubleshoot I/O devices, including keyboards, pointing devices, and video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EAC828C-EF74-43EA-A28A-B6A430A37134}" type="slidenum">
              <a:rPr lang="en-US"/>
              <a:pPr/>
              <a:t>4</a:t>
            </a:fld>
            <a:endParaRPr lang="en-US"/>
          </a:p>
        </p:txBody>
      </p:sp>
      <p:sp>
        <p:nvSpPr>
          <p:cNvPr id="583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583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Range of I/O devices will be presented</a:t>
            </a:r>
          </a:p>
          <a:p>
            <a:r>
              <a:rPr lang="en-US"/>
              <a:t>Basic I/O devices</a:t>
            </a:r>
          </a:p>
          <a:p>
            <a:pPr lvl="1"/>
            <a:r>
              <a:rPr lang="en-US"/>
              <a:t>The keyboard and mouse</a:t>
            </a:r>
          </a:p>
          <a:p>
            <a:r>
              <a:rPr lang="en-US"/>
              <a:t>Advanced I/O devices: </a:t>
            </a:r>
          </a:p>
          <a:p>
            <a:pPr lvl="1"/>
            <a:r>
              <a:rPr lang="en-US"/>
              <a:t>Video, peripheral devices, and expansion cards</a:t>
            </a:r>
          </a:p>
          <a:p>
            <a:r>
              <a:rPr lang="en-US"/>
              <a:t>Skills to acquire:</a:t>
            </a:r>
          </a:p>
          <a:p>
            <a:pPr lvl="1"/>
            <a:r>
              <a:rPr lang="en-US"/>
              <a:t>Installation</a:t>
            </a:r>
          </a:p>
          <a:p>
            <a:pPr lvl="1"/>
            <a:r>
              <a:rPr lang="en-US"/>
              <a:t>Support</a:t>
            </a:r>
          </a:p>
          <a:p>
            <a:pPr lvl="1"/>
            <a:r>
              <a:rPr lang="en-US"/>
              <a:t>Troubleshooting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8060B0-242D-4D74-8765-4306D745C3A0}" type="slidenum">
              <a:rPr lang="en-US"/>
              <a:pPr/>
              <a:t>5</a:t>
            </a:fld>
            <a:endParaRPr lang="en-US"/>
          </a:p>
        </p:txBody>
      </p:sp>
      <p:sp>
        <p:nvSpPr>
          <p:cNvPr id="58470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371600"/>
          </a:xfrm>
        </p:spPr>
        <p:txBody>
          <a:bodyPr/>
          <a:lstStyle/>
          <a:p>
            <a:r>
              <a:rPr lang="en-US"/>
              <a:t>Basic Principles to Support I/O Devices</a:t>
            </a:r>
          </a:p>
        </p:txBody>
      </p:sp>
      <p:sp>
        <p:nvSpPr>
          <p:cNvPr id="584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752600"/>
            <a:ext cx="8610600" cy="4495800"/>
          </a:xfrm>
        </p:spPr>
        <p:txBody>
          <a:bodyPr/>
          <a:lstStyle/>
          <a:p>
            <a:r>
              <a:rPr lang="en-US"/>
              <a:t>Internal devices: hard drives, CD drives, Zip drives</a:t>
            </a:r>
          </a:p>
          <a:p>
            <a:r>
              <a:rPr lang="en-US"/>
              <a:t>External devices: keyboards, monitors, mice </a:t>
            </a:r>
          </a:p>
          <a:p>
            <a:pPr lvl="1"/>
            <a:r>
              <a:rPr lang="en-US"/>
              <a:t>Connected using port off motherboard or expansion card</a:t>
            </a:r>
          </a:p>
          <a:p>
            <a:r>
              <a:rPr lang="en-US"/>
              <a:t>Fundamental principles and concepts:</a:t>
            </a:r>
          </a:p>
          <a:p>
            <a:pPr lvl="1"/>
            <a:r>
              <a:rPr lang="en-US"/>
              <a:t>Every I/O device is controlled by software (device driver)</a:t>
            </a:r>
          </a:p>
          <a:p>
            <a:pPr lvl="1"/>
            <a:r>
              <a:rPr lang="en-US"/>
              <a:t>Manufacturer is best guide for installation and support</a:t>
            </a:r>
          </a:p>
          <a:p>
            <a:pPr lvl="1"/>
            <a:r>
              <a:rPr lang="en-US"/>
              <a:t>Some devices are manipulated with application software</a:t>
            </a:r>
          </a:p>
          <a:p>
            <a:pPr lvl="1"/>
            <a:r>
              <a:rPr lang="en-US"/>
              <a:t>Problems can sometimes be solved with driver updates</a:t>
            </a:r>
          </a:p>
          <a:p>
            <a:pPr lvl="1"/>
            <a:r>
              <a:rPr lang="en-US"/>
              <a:t>Learning about I/O devices is a moving target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132752-A3BA-4F83-8384-B2EF25B186E7}" type="slidenum">
              <a:rPr lang="en-US"/>
              <a:pPr/>
              <a:t>6</a:t>
            </a:fld>
            <a:endParaRPr lang="en-US"/>
          </a:p>
        </p:txBody>
      </p:sp>
      <p:sp>
        <p:nvSpPr>
          <p:cNvPr id="586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Working with Keyboards</a:t>
            </a:r>
          </a:p>
        </p:txBody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72000"/>
          </a:xfrm>
        </p:spPr>
        <p:txBody>
          <a:bodyPr/>
          <a:lstStyle/>
          <a:p>
            <a:r>
              <a:rPr lang="en-US"/>
              <a:t>Types of design: traditional straight and ergonomic</a:t>
            </a:r>
          </a:p>
          <a:p>
            <a:r>
              <a:rPr lang="en-US"/>
              <a:t>Keyboards differ in the feel of the keys as you type</a:t>
            </a:r>
          </a:p>
          <a:p>
            <a:pPr lvl="1"/>
            <a:r>
              <a:rPr lang="en-US"/>
              <a:t>Example 1: Degrees of resistance offered by key</a:t>
            </a:r>
          </a:p>
          <a:p>
            <a:pPr lvl="1"/>
            <a:r>
              <a:rPr lang="en-US"/>
              <a:t>Example 2: Sound made by contact with keys</a:t>
            </a:r>
          </a:p>
          <a:p>
            <a:r>
              <a:rPr lang="en-US"/>
              <a:t>Carpal tunnel syndrome (CTS):</a:t>
            </a:r>
          </a:p>
          <a:p>
            <a:pPr lvl="1"/>
            <a:r>
              <a:rPr lang="en-US"/>
              <a:t>Type of repetitive stress injury (RSI)</a:t>
            </a:r>
          </a:p>
          <a:p>
            <a:pPr lvl="1"/>
            <a:r>
              <a:rPr lang="en-US"/>
              <a:t>Caused by repetitive non-ergonomic data entry</a:t>
            </a:r>
          </a:p>
          <a:p>
            <a:r>
              <a:rPr lang="en-US"/>
              <a:t>Preventing CTS:</a:t>
            </a:r>
          </a:p>
          <a:p>
            <a:pPr lvl="1"/>
            <a:r>
              <a:rPr lang="en-US"/>
              <a:t>Keep your elbows at about keyboard level</a:t>
            </a:r>
          </a:p>
          <a:p>
            <a:pPr lvl="1"/>
            <a:r>
              <a:rPr lang="en-US"/>
              <a:t>Keep your wrists straight and higher than your fingers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8374AA-1CE5-4F54-B061-BD21F419406C}" type="slidenum">
              <a:rPr lang="en-US"/>
              <a:pPr/>
              <a:t>7</a:t>
            </a:fld>
            <a:endParaRPr lang="en-US"/>
          </a:p>
        </p:txBody>
      </p:sp>
      <p:pic>
        <p:nvPicPr>
          <p:cNvPr id="587782" name="Picture 6" descr="C09F0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2224088"/>
            <a:ext cx="4572000" cy="2408237"/>
          </a:xfrm>
          <a:prstGeom prst="rect">
            <a:avLst/>
          </a:prstGeom>
          <a:noFill/>
        </p:spPr>
      </p:pic>
      <p:sp>
        <p:nvSpPr>
          <p:cNvPr id="587783" name="Rectangle 7"/>
          <p:cNvSpPr>
            <a:spLocks noChangeArrowheads="1"/>
          </p:cNvSpPr>
          <p:nvPr/>
        </p:nvSpPr>
        <p:spPr bwMode="auto">
          <a:xfrm>
            <a:off x="1905000" y="4721225"/>
            <a:ext cx="5943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pPr algn="l"/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9-2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Keep wrists level, straight, and supported while at the keyboard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2781DA2-5BE9-4336-8B4B-459C1E14FAFD}" type="slidenum">
              <a:rPr lang="en-US"/>
              <a:pPr/>
              <a:t>8</a:t>
            </a:fld>
            <a:endParaRPr lang="en-US"/>
          </a:p>
        </p:txBody>
      </p:sp>
      <p:sp>
        <p:nvSpPr>
          <p:cNvPr id="589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Keyboard Keys Wok</a:t>
            </a:r>
          </a:p>
        </p:txBody>
      </p:sp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229600" cy="4572000"/>
          </a:xfrm>
        </p:spPr>
        <p:txBody>
          <a:bodyPr/>
          <a:lstStyle/>
          <a:p>
            <a:r>
              <a:rPr lang="en-US"/>
              <a:t>Ways keys make contact: foil contact, metal contact</a:t>
            </a:r>
          </a:p>
          <a:p>
            <a:r>
              <a:rPr lang="en-US"/>
              <a:t>Pressing a key on a foil-contact keyboard</a:t>
            </a:r>
          </a:p>
          <a:p>
            <a:pPr lvl="1"/>
            <a:r>
              <a:rPr lang="en-US"/>
              <a:t>Two layers of foil make contact and close a circuit</a:t>
            </a:r>
          </a:p>
          <a:p>
            <a:pPr lvl="1"/>
            <a:r>
              <a:rPr lang="en-US"/>
              <a:t>Spring under keycap raises the key after it is released</a:t>
            </a:r>
          </a:p>
          <a:p>
            <a:r>
              <a:rPr lang="en-US"/>
              <a:t>Pressing a key on a metal-contact keyboard </a:t>
            </a:r>
          </a:p>
          <a:p>
            <a:pPr lvl="1"/>
            <a:r>
              <a:rPr lang="en-US"/>
              <a:t>Two metal plates make contact</a:t>
            </a:r>
          </a:p>
          <a:p>
            <a:pPr lvl="1"/>
            <a:r>
              <a:rPr lang="en-US"/>
              <a:t>A spring raises the key when it is released</a:t>
            </a:r>
          </a:p>
          <a:p>
            <a:r>
              <a:rPr lang="en-US"/>
              <a:t>Comparing feel of keystrokes</a:t>
            </a:r>
          </a:p>
          <a:p>
            <a:pPr lvl="1"/>
            <a:r>
              <a:rPr lang="en-US"/>
              <a:t>Metal-contact keyboard gives more definitive contact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3F8431-AD74-466D-A980-81DC8E041DA0}" type="slidenum">
              <a:rPr lang="en-US"/>
              <a:pPr/>
              <a:t>9</a:t>
            </a:fld>
            <a:endParaRPr lang="en-US"/>
          </a:p>
        </p:txBody>
      </p:sp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Keyboard Connectors</a:t>
            </a:r>
          </a:p>
        </p:txBody>
      </p:sp>
      <p:sp>
        <p:nvSpPr>
          <p:cNvPr id="585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229600" cy="4572000"/>
          </a:xfrm>
        </p:spPr>
        <p:txBody>
          <a:bodyPr/>
          <a:lstStyle/>
          <a:p>
            <a:r>
              <a:rPr lang="en-US"/>
              <a:t>Four methods keyboards use to connect to a PC </a:t>
            </a:r>
          </a:p>
          <a:p>
            <a:pPr lvl="1"/>
            <a:r>
              <a:rPr lang="en-US"/>
              <a:t>DIN connector (mostly outdated now)</a:t>
            </a:r>
          </a:p>
          <a:p>
            <a:pPr lvl="1"/>
            <a:r>
              <a:rPr lang="en-US"/>
              <a:t>PS/2 connector (sometimes called a mini-DIN)</a:t>
            </a:r>
          </a:p>
          <a:p>
            <a:pPr lvl="1"/>
            <a:r>
              <a:rPr lang="en-US"/>
              <a:t>USB port</a:t>
            </a:r>
          </a:p>
          <a:p>
            <a:pPr lvl="1"/>
            <a:r>
              <a:rPr lang="en-US"/>
              <a:t>Wireless connection</a:t>
            </a:r>
          </a:p>
          <a:p>
            <a:r>
              <a:rPr lang="en-US"/>
              <a:t>Keyboard connector adapter:</a:t>
            </a:r>
          </a:p>
          <a:p>
            <a:pPr lvl="1"/>
            <a:r>
              <a:rPr lang="en-US"/>
              <a:t>Converts DIN to PS/2 or PS/2 to DIN</a:t>
            </a:r>
          </a:p>
          <a:p>
            <a:r>
              <a:rPr lang="en-US"/>
              <a:t>Cordless keyboards </a:t>
            </a:r>
          </a:p>
          <a:p>
            <a:pPr lvl="1"/>
            <a:r>
              <a:rPr lang="en-US"/>
              <a:t>Rely on radio frequency (RF) or infrared technologies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58A5A63-566A-42E7-A049-112B3DE30D7B}" type="slidenum">
              <a:rPr lang="en-US"/>
              <a:pPr/>
              <a:t>10</a:t>
            </a:fld>
            <a:endParaRPr lang="en-US"/>
          </a:p>
        </p:txBody>
      </p:sp>
      <p:pic>
        <p:nvPicPr>
          <p:cNvPr id="590853" name="Picture 5" descr="C09F0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2133600"/>
            <a:ext cx="5192713" cy="2584450"/>
          </a:xfrm>
          <a:prstGeom prst="rect">
            <a:avLst/>
          </a:prstGeom>
          <a:noFill/>
        </p:spPr>
      </p:pic>
      <p:sp>
        <p:nvSpPr>
          <p:cNvPr id="590854" name="Rectangle 6"/>
          <p:cNvSpPr>
            <a:spLocks noChangeArrowheads="1"/>
          </p:cNvSpPr>
          <p:nvPr/>
        </p:nvSpPr>
        <p:spPr bwMode="auto">
          <a:xfrm>
            <a:off x="1371600" y="4876800"/>
            <a:ext cx="6248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pPr algn="l"/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9-3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Two common keyboard connectors are the PS/2 connector and the DIN connector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824579-D321-4113-BC56-6CA158EFABD2}" type="slidenum">
              <a:rPr lang="en-US"/>
              <a:pPr/>
              <a:t>11</a:t>
            </a:fld>
            <a:endParaRPr lang="en-US"/>
          </a:p>
        </p:txBody>
      </p:sp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Installing Keyboards</a:t>
            </a:r>
          </a:p>
        </p:txBody>
      </p:sp>
      <p:sp>
        <p:nvSpPr>
          <p:cNvPr id="591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229600" cy="4572000"/>
          </a:xfrm>
        </p:spPr>
        <p:txBody>
          <a:bodyPr/>
          <a:lstStyle/>
          <a:p>
            <a:r>
              <a:rPr lang="en-US"/>
              <a:t>Typical procedure: plug in keyboard and turn on PC </a:t>
            </a:r>
          </a:p>
          <a:p>
            <a:pPr lvl="1"/>
            <a:r>
              <a:rPr lang="en-US"/>
              <a:t>BIOS manages the keyboard, no drivers are needed</a:t>
            </a:r>
          </a:p>
          <a:p>
            <a:r>
              <a:rPr lang="en-US"/>
              <a:t>Drivers are needed for a wireless keyboard</a:t>
            </a:r>
          </a:p>
          <a:p>
            <a:r>
              <a:rPr lang="en-US"/>
              <a:t>Installation procedure for wireless keyboard</a:t>
            </a:r>
          </a:p>
          <a:p>
            <a:pPr lvl="1"/>
            <a:r>
              <a:rPr lang="en-US"/>
              <a:t>Plug in the receiver</a:t>
            </a:r>
          </a:p>
          <a:p>
            <a:pPr lvl="1"/>
            <a:r>
              <a:rPr lang="en-US"/>
              <a:t>Insert the CD or floppy disk</a:t>
            </a:r>
          </a:p>
          <a:p>
            <a:pPr lvl="1"/>
            <a:r>
              <a:rPr lang="en-US"/>
              <a:t>Run the setup program on the disk</a:t>
            </a:r>
          </a:p>
          <a:p>
            <a:endParaRPr lang="en-US"/>
          </a:p>
          <a:p>
            <a:pPr lvl="1"/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9E02B2-EF7C-4A79-B184-4E617AECF437}" type="slidenum">
              <a:rPr lang="en-US"/>
              <a:pPr/>
              <a:t>12</a:t>
            </a:fld>
            <a:endParaRPr lang="en-US"/>
          </a:p>
        </p:txBody>
      </p:sp>
      <p:sp>
        <p:nvSpPr>
          <p:cNvPr id="592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Cleaning the Keyboard</a:t>
            </a:r>
          </a:p>
        </p:txBody>
      </p:sp>
      <p:sp>
        <p:nvSpPr>
          <p:cNvPr id="592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153400" cy="4572000"/>
          </a:xfrm>
        </p:spPr>
        <p:txBody>
          <a:bodyPr/>
          <a:lstStyle/>
          <a:p>
            <a:r>
              <a:rPr lang="en-US"/>
              <a:t>Particles accumulating under keys impair functions</a:t>
            </a:r>
          </a:p>
          <a:p>
            <a:r>
              <a:rPr lang="en-US"/>
              <a:t>Maintenance to perform </a:t>
            </a:r>
          </a:p>
          <a:p>
            <a:pPr lvl="1"/>
            <a:r>
              <a:rPr lang="en-US"/>
              <a:t>Routinely clean keyboard surface with a damp cloth</a:t>
            </a:r>
          </a:p>
          <a:p>
            <a:pPr lvl="1"/>
            <a:r>
              <a:rPr lang="en-US"/>
              <a:t>Turn keyboard upside down and lightly bump keys</a:t>
            </a:r>
          </a:p>
          <a:p>
            <a:pPr lvl="1"/>
            <a:r>
              <a:rPr lang="en-US"/>
              <a:t>Blow out dust and debris using compressed air</a:t>
            </a:r>
          </a:p>
          <a:p>
            <a:pPr lvl="1"/>
            <a:r>
              <a:rPr lang="en-US"/>
              <a:t>Service the key well</a:t>
            </a:r>
          </a:p>
          <a:p>
            <a:pPr lvl="2"/>
            <a:r>
              <a:rPr lang="en-US"/>
              <a:t>Remove cap on problem key with a chip extractor </a:t>
            </a:r>
          </a:p>
          <a:p>
            <a:pPr lvl="2"/>
            <a:r>
              <a:rPr lang="en-US"/>
              <a:t>Spray contact cleaner into key well of problem key</a:t>
            </a:r>
          </a:p>
          <a:p>
            <a:pPr lvl="2"/>
            <a:r>
              <a:rPr lang="en-US"/>
              <a:t>Repeatedly depress the contact to clean it 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A61F7F2-AE1D-4930-804B-23B16A89DCF3}" type="slidenum">
              <a:rPr lang="en-US"/>
              <a:pPr/>
              <a:t>13</a:t>
            </a:fld>
            <a:endParaRPr lang="en-US"/>
          </a:p>
        </p:txBody>
      </p:sp>
      <p:sp>
        <p:nvSpPr>
          <p:cNvPr id="593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1219200"/>
          </a:xfrm>
        </p:spPr>
        <p:txBody>
          <a:bodyPr/>
          <a:lstStyle/>
          <a:p>
            <a:r>
              <a:rPr lang="en-US"/>
              <a:t>The Mouse and Other Pointing Devices</a:t>
            </a:r>
          </a:p>
        </p:txBody>
      </p:sp>
      <p:sp>
        <p:nvSpPr>
          <p:cNvPr id="593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Pointing device </a:t>
            </a:r>
          </a:p>
          <a:p>
            <a:pPr lvl="1"/>
            <a:r>
              <a:rPr lang="en-US"/>
              <a:t>Allows you to move a pointer on the screen </a:t>
            </a:r>
          </a:p>
          <a:p>
            <a:pPr lvl="1"/>
            <a:r>
              <a:rPr lang="en-US"/>
              <a:t>Enables you to perform tasks; e.g., click a button </a:t>
            </a:r>
          </a:p>
          <a:p>
            <a:r>
              <a:rPr lang="en-US"/>
              <a:t>Common pointing devices</a:t>
            </a:r>
          </a:p>
          <a:p>
            <a:pPr lvl="1"/>
            <a:r>
              <a:rPr lang="en-US"/>
              <a:t>Mouse, trackball, touch pad </a:t>
            </a:r>
          </a:p>
          <a:p>
            <a:r>
              <a:rPr lang="en-US"/>
              <a:t>Some mice are wireless and come with key pads</a:t>
            </a:r>
          </a:p>
          <a:p>
            <a:pPr lvl="1"/>
            <a:r>
              <a:rPr lang="en-US"/>
              <a:t>Wireless connection made through a USB receiver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DEAAE9A-B809-4E2B-84AE-BE0C4C38F34D}" type="slidenum">
              <a:rPr lang="en-US"/>
              <a:pPr/>
              <a:t>14</a:t>
            </a:fld>
            <a:endParaRPr lang="en-US"/>
          </a:p>
        </p:txBody>
      </p:sp>
      <p:pic>
        <p:nvPicPr>
          <p:cNvPr id="594949" name="Picture 5" descr="C09F00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2743200"/>
            <a:ext cx="5668963" cy="1371600"/>
          </a:xfrm>
          <a:prstGeom prst="rect">
            <a:avLst/>
          </a:prstGeom>
          <a:noFill/>
        </p:spPr>
      </p:pic>
      <p:sp>
        <p:nvSpPr>
          <p:cNvPr id="594950" name="Rectangle 6"/>
          <p:cNvSpPr>
            <a:spLocks noChangeArrowheads="1"/>
          </p:cNvSpPr>
          <p:nvPr/>
        </p:nvSpPr>
        <p:spPr bwMode="auto">
          <a:xfrm>
            <a:off x="1676400" y="4419600"/>
            <a:ext cx="6019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pPr algn="l"/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9-6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The most common pointing devices: a mouse, a trackball, and a touch pad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364D94D-F497-4A1C-89CF-1D53023BC3C7}" type="slidenum">
              <a:rPr lang="en-US"/>
              <a:pPr/>
              <a:t>15</a:t>
            </a:fld>
            <a:endParaRPr lang="en-US"/>
          </a:p>
        </p:txBody>
      </p:sp>
      <p:sp>
        <p:nvSpPr>
          <p:cNvPr id="595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Mouse Technologies</a:t>
            </a:r>
          </a:p>
        </p:txBody>
      </p:sp>
      <p:sp>
        <p:nvSpPr>
          <p:cNvPr id="595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153400" cy="4572000"/>
          </a:xfrm>
        </p:spPr>
        <p:txBody>
          <a:bodyPr/>
          <a:lstStyle/>
          <a:p>
            <a:r>
              <a:rPr lang="en-US"/>
              <a:t>How the wheel mouse works</a:t>
            </a:r>
          </a:p>
          <a:p>
            <a:pPr lvl="1"/>
            <a:r>
              <a:rPr lang="en-US"/>
              <a:t>Ball internal to mouse moves as you drag mouse</a:t>
            </a:r>
          </a:p>
          <a:p>
            <a:pPr lvl="1"/>
            <a:r>
              <a:rPr lang="en-US"/>
              <a:t>Two rollers are turned by the movement of the ball</a:t>
            </a:r>
          </a:p>
          <a:p>
            <a:pPr lvl="2"/>
            <a:r>
              <a:rPr lang="en-US"/>
              <a:t>Rollers represent x (horizontal) and y (vertical) position </a:t>
            </a:r>
          </a:p>
          <a:p>
            <a:pPr lvl="1"/>
            <a:r>
              <a:rPr lang="en-US"/>
              <a:t>Each roller turns a wheel, which chops a light beam</a:t>
            </a:r>
          </a:p>
          <a:p>
            <a:pPr lvl="1"/>
            <a:r>
              <a:rPr lang="en-US"/>
              <a:t>Chops encode movement, which is passed to CPU</a:t>
            </a:r>
          </a:p>
          <a:p>
            <a:r>
              <a:rPr lang="en-US"/>
              <a:t>The optical mouse</a:t>
            </a:r>
          </a:p>
          <a:p>
            <a:pPr lvl="1"/>
            <a:r>
              <a:rPr lang="en-US"/>
              <a:t>Ball replaced with microchip, laser light, and camera</a:t>
            </a:r>
          </a:p>
          <a:p>
            <a:pPr lvl="1"/>
            <a:r>
              <a:rPr lang="en-US"/>
              <a:t>Light illumines surface and camera takes snapshots</a:t>
            </a:r>
          </a:p>
          <a:p>
            <a:pPr lvl="1"/>
            <a:r>
              <a:rPr lang="en-US"/>
              <a:t>Microchip reports small changes to the PC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9D576F-9F4F-4BE3-8A12-CF0E9057D04F}" type="slidenum">
              <a:rPr lang="en-US"/>
              <a:pPr/>
              <a:t>16</a:t>
            </a:fld>
            <a:endParaRPr lang="en-US"/>
          </a:p>
        </p:txBody>
      </p:sp>
      <p:pic>
        <p:nvPicPr>
          <p:cNvPr id="596997" name="Picture 5" descr="C09F00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2444750"/>
            <a:ext cx="4489450" cy="1968500"/>
          </a:xfrm>
          <a:prstGeom prst="rect">
            <a:avLst/>
          </a:prstGeom>
          <a:noFill/>
        </p:spPr>
      </p:pic>
      <p:sp>
        <p:nvSpPr>
          <p:cNvPr id="596998" name="Rectangle 6"/>
          <p:cNvSpPr>
            <a:spLocks noChangeArrowheads="1"/>
          </p:cNvSpPr>
          <p:nvPr/>
        </p:nvSpPr>
        <p:spPr bwMode="auto">
          <a:xfrm>
            <a:off x="0" y="4645025"/>
            <a:ext cx="914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9-9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How a wheel mouse works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F66D14-BEAB-4924-8FA7-DA109F583996}" type="slidenum">
              <a:rPr lang="en-US"/>
              <a:pPr/>
              <a:t>17</a:t>
            </a:fld>
            <a:endParaRPr lang="en-US"/>
          </a:p>
        </p:txBody>
      </p:sp>
      <p:sp>
        <p:nvSpPr>
          <p:cNvPr id="598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Mouse Technologies (continued)</a:t>
            </a:r>
          </a:p>
        </p:txBody>
      </p:sp>
      <p:sp>
        <p:nvSpPr>
          <p:cNvPr id="598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229600" cy="4572000"/>
          </a:xfrm>
        </p:spPr>
        <p:txBody>
          <a:bodyPr/>
          <a:lstStyle/>
          <a:p>
            <a:r>
              <a:rPr lang="en-US"/>
              <a:t>Mouse buttons or scroll wheel are programmed</a:t>
            </a:r>
          </a:p>
          <a:p>
            <a:r>
              <a:rPr lang="en-US"/>
              <a:t>Methods used by a mouse to connect to a PC</a:t>
            </a:r>
          </a:p>
          <a:p>
            <a:pPr lvl="1"/>
            <a:r>
              <a:rPr lang="en-US"/>
              <a:t>The round PS/2 mouse port off the motherboard</a:t>
            </a:r>
          </a:p>
          <a:p>
            <a:pPr lvl="1"/>
            <a:r>
              <a:rPr lang="en-US"/>
              <a:t>Bus card</a:t>
            </a:r>
          </a:p>
          <a:p>
            <a:pPr lvl="1"/>
            <a:r>
              <a:rPr lang="en-US"/>
              <a:t>A serial port</a:t>
            </a:r>
          </a:p>
          <a:p>
            <a:pPr lvl="1"/>
            <a:r>
              <a:rPr lang="en-US"/>
              <a:t>A USB port</a:t>
            </a:r>
          </a:p>
          <a:p>
            <a:pPr lvl="1"/>
            <a:r>
              <a:rPr lang="en-US"/>
              <a:t>Y-connection with the keyboard</a:t>
            </a:r>
          </a:p>
          <a:p>
            <a:pPr lvl="1"/>
            <a:r>
              <a:rPr lang="en-US"/>
              <a:t>Cordless technology</a:t>
            </a:r>
          </a:p>
          <a:p>
            <a:r>
              <a:rPr lang="en-US"/>
              <a:t>Connection methods require varying resources</a:t>
            </a:r>
          </a:p>
          <a:p>
            <a:pPr lvl="1"/>
            <a:r>
              <a:rPr lang="en-US"/>
              <a:t>Motherboard mouse is the first choice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102A85-5795-4B79-8B2C-7388948C5BE8}" type="slidenum">
              <a:rPr lang="en-US"/>
              <a:pPr/>
              <a:t>18</a:t>
            </a:fld>
            <a:endParaRPr lang="en-US"/>
          </a:p>
        </p:txBody>
      </p:sp>
      <p:sp>
        <p:nvSpPr>
          <p:cNvPr id="599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Cleaning a Mouse</a:t>
            </a:r>
          </a:p>
        </p:txBody>
      </p:sp>
      <p:sp>
        <p:nvSpPr>
          <p:cNvPr id="599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Cleaning procedure</a:t>
            </a:r>
          </a:p>
          <a:p>
            <a:pPr lvl="1"/>
            <a:r>
              <a:rPr lang="en-US"/>
              <a:t>Remove the cover of the mouse ball </a:t>
            </a:r>
          </a:p>
          <a:p>
            <a:pPr lvl="1"/>
            <a:r>
              <a:rPr lang="en-US"/>
              <a:t>Use compressed air to blow out dust</a:t>
            </a:r>
          </a:p>
          <a:p>
            <a:pPr lvl="1"/>
            <a:r>
              <a:rPr lang="en-US"/>
              <a:t>Use swab dipped in liquid soap to clean the rollers  </a:t>
            </a:r>
          </a:p>
          <a:p>
            <a:pPr lvl="1"/>
            <a:r>
              <a:rPr lang="en-US"/>
              <a:t>Use sticky side of duct tape clean the mouse ball</a:t>
            </a:r>
          </a:p>
          <a:p>
            <a:r>
              <a:rPr lang="en-US"/>
              <a:t>Expensive cleaning kits are usually not needed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E24BA5-FBE7-4E77-85FA-864E569C7A0C}" type="slidenum">
              <a:rPr lang="en-US"/>
              <a:pPr/>
              <a:t>19</a:t>
            </a:fld>
            <a:endParaRPr lang="en-US"/>
          </a:p>
        </p:txBody>
      </p:sp>
      <p:sp>
        <p:nvSpPr>
          <p:cNvPr id="600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Touch Screens</a:t>
            </a:r>
          </a:p>
        </p:txBody>
      </p:sp>
      <p:sp>
        <p:nvSpPr>
          <p:cNvPr id="600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229600" cy="4572000"/>
          </a:xfrm>
        </p:spPr>
        <p:txBody>
          <a:bodyPr/>
          <a:lstStyle/>
          <a:p>
            <a:r>
              <a:rPr lang="en-US"/>
              <a:t>Uses monitor or LCD panel as backdrop for input </a:t>
            </a:r>
          </a:p>
          <a:p>
            <a:pPr lvl="1"/>
            <a:r>
              <a:rPr lang="en-US"/>
              <a:t>Senses click and drag events and sends them to CPU </a:t>
            </a:r>
          </a:p>
          <a:p>
            <a:r>
              <a:rPr lang="en-US"/>
              <a:t>Touch screen processes a touch like a mouse click</a:t>
            </a:r>
          </a:p>
          <a:p>
            <a:r>
              <a:rPr lang="en-US"/>
              <a:t>Modes of installation:</a:t>
            </a:r>
          </a:p>
          <a:p>
            <a:pPr lvl="1"/>
            <a:r>
              <a:rPr lang="en-US"/>
              <a:t>Embedded inside a monitor or LCD panel</a:t>
            </a:r>
          </a:p>
          <a:p>
            <a:pPr lvl="1"/>
            <a:r>
              <a:rPr lang="en-US"/>
              <a:t>Installed on top of a monitor or LCD panel (add-on)  </a:t>
            </a:r>
          </a:p>
          <a:p>
            <a:endParaRPr lang="en-US"/>
          </a:p>
          <a:p>
            <a:pPr lvl="1"/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37A0B24-CBAC-45FA-BA49-FF6537602E40}" type="slidenum">
              <a:rPr lang="en-US"/>
              <a:pPr/>
              <a:t>20</a:t>
            </a:fld>
            <a:endParaRPr lang="en-US"/>
          </a:p>
        </p:txBody>
      </p:sp>
      <p:sp>
        <p:nvSpPr>
          <p:cNvPr id="601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Pointing Devices</a:t>
            </a:r>
          </a:p>
        </p:txBody>
      </p:sp>
      <p:sp>
        <p:nvSpPr>
          <p:cNvPr id="601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382000" cy="4572000"/>
          </a:xfrm>
        </p:spPr>
        <p:txBody>
          <a:bodyPr/>
          <a:lstStyle/>
          <a:p>
            <a:r>
              <a:rPr lang="en-US"/>
              <a:t>Trackball </a:t>
            </a:r>
          </a:p>
          <a:p>
            <a:pPr lvl="1"/>
            <a:r>
              <a:rPr lang="en-US"/>
              <a:t>An upside-down wheel mouse</a:t>
            </a:r>
          </a:p>
          <a:p>
            <a:pPr lvl="1"/>
            <a:r>
              <a:rPr lang="en-US"/>
              <a:t>Move the ball on top to turn rollers </a:t>
            </a:r>
          </a:p>
          <a:p>
            <a:pPr lvl="1"/>
            <a:r>
              <a:rPr lang="en-US"/>
              <a:t>Rollers turn a wheel sensed by a light beam</a:t>
            </a:r>
          </a:p>
          <a:p>
            <a:r>
              <a:rPr lang="en-US"/>
              <a:t>Touch pad </a:t>
            </a:r>
          </a:p>
          <a:p>
            <a:pPr lvl="1"/>
            <a:r>
              <a:rPr lang="en-US"/>
              <a:t>Allows you to duplicate the mouse function</a:t>
            </a:r>
          </a:p>
          <a:p>
            <a:pPr lvl="1"/>
            <a:r>
              <a:rPr lang="en-US"/>
              <a:t>Move pointer by applying light pressure with one finger</a:t>
            </a:r>
          </a:p>
          <a:p>
            <a:pPr lvl="1"/>
            <a:r>
              <a:rPr lang="en-US"/>
              <a:t>Depressed pad senses the x, y movement</a:t>
            </a:r>
          </a:p>
          <a:p>
            <a:pPr lvl="1"/>
            <a:r>
              <a:rPr lang="en-US"/>
              <a:t>Buttons on the touch pad are like mouse buttons</a:t>
            </a:r>
          </a:p>
          <a:p>
            <a:r>
              <a:rPr lang="en-US"/>
              <a:t>Use touch pads or trackballs where space is limited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DD8A30-F183-49E5-BD05-150BE6A37BAD}" type="slidenum">
              <a:rPr lang="en-US"/>
              <a:pPr/>
              <a:t>21</a:t>
            </a:fld>
            <a:endParaRPr lang="en-US"/>
          </a:p>
        </p:txBody>
      </p:sp>
      <p:sp>
        <p:nvSpPr>
          <p:cNvPr id="602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Specialty Input Devices</a:t>
            </a:r>
          </a:p>
        </p:txBody>
      </p:sp>
      <p:sp>
        <p:nvSpPr>
          <p:cNvPr id="602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229600" cy="4572000"/>
          </a:xfrm>
        </p:spPr>
        <p:txBody>
          <a:bodyPr/>
          <a:lstStyle/>
          <a:p>
            <a:pPr marL="495300" indent="-495300"/>
            <a:r>
              <a:rPr lang="en-US"/>
              <a:t>Include barcode readers, fingerprint readers, others</a:t>
            </a:r>
          </a:p>
          <a:p>
            <a:pPr marL="495300" indent="-495300"/>
            <a:r>
              <a:rPr lang="en-US"/>
              <a:t>Not encountered as frequently basic I/O devices</a:t>
            </a:r>
          </a:p>
          <a:p>
            <a:pPr marL="495300" indent="-495300"/>
            <a:r>
              <a:rPr lang="en-US"/>
              <a:t>Developing support skills </a:t>
            </a:r>
          </a:p>
          <a:p>
            <a:pPr marL="914400" lvl="1" indent="-457200"/>
            <a:r>
              <a:rPr lang="en-US"/>
              <a:t>Expand support skill set for basic I/O devices</a:t>
            </a:r>
          </a:p>
          <a:p>
            <a:pPr marL="914400" lvl="1" indent="-457200"/>
            <a:r>
              <a:rPr lang="en-US"/>
              <a:t>Refer to documentation to fill in the gaps</a:t>
            </a:r>
          </a:p>
          <a:p>
            <a:pPr marL="495300" indent="-495300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671F2E-53C5-4F3B-90C0-F2B95101385A}" type="slidenum">
              <a:rPr lang="en-US"/>
              <a:pPr/>
              <a:t>22</a:t>
            </a:fld>
            <a:endParaRPr lang="en-US"/>
          </a:p>
        </p:txBody>
      </p:sp>
      <p:sp>
        <p:nvSpPr>
          <p:cNvPr id="603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Barcode Readers</a:t>
            </a:r>
          </a:p>
        </p:txBody>
      </p:sp>
      <p:sp>
        <p:nvSpPr>
          <p:cNvPr id="603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153400" cy="4572000"/>
          </a:xfrm>
        </p:spPr>
        <p:txBody>
          <a:bodyPr/>
          <a:lstStyle/>
          <a:p>
            <a:r>
              <a:rPr lang="en-US"/>
              <a:t>Scan barcodes on products </a:t>
            </a:r>
          </a:p>
          <a:p>
            <a:pPr lvl="1"/>
            <a:r>
              <a:rPr lang="en-US"/>
              <a:t>Maintains inventory or supports sale transaction</a:t>
            </a:r>
          </a:p>
          <a:p>
            <a:r>
              <a:rPr lang="en-US"/>
              <a:t>Some types of barcode readers </a:t>
            </a:r>
          </a:p>
          <a:p>
            <a:pPr lvl="1"/>
            <a:r>
              <a:rPr lang="en-US"/>
              <a:t>CCD scanner, image scanner, and laser scanner</a:t>
            </a:r>
          </a:p>
          <a:p>
            <a:r>
              <a:rPr lang="en-US"/>
              <a:t>Methods for interfacing with a PC</a:t>
            </a:r>
          </a:p>
          <a:p>
            <a:pPr lvl="1"/>
            <a:r>
              <a:rPr lang="en-US"/>
              <a:t>Wireless link, serial port, USB port, keyboard port</a:t>
            </a:r>
          </a:p>
          <a:p>
            <a:r>
              <a:rPr lang="en-US"/>
              <a:t>How a barcode reader passes information </a:t>
            </a:r>
          </a:p>
          <a:p>
            <a:pPr lvl="1"/>
            <a:r>
              <a:rPr lang="en-US"/>
              <a:t>Scans a barcode for numeric information </a:t>
            </a:r>
          </a:p>
          <a:p>
            <a:pPr lvl="1"/>
            <a:r>
              <a:rPr lang="en-US"/>
              <a:t>Software extracts company and product identification</a:t>
            </a:r>
          </a:p>
          <a:p>
            <a:pPr lvl="1"/>
            <a:r>
              <a:rPr lang="en-US"/>
              <a:t>Price lookup performed based on id input to reader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D68CFED-1EB1-40D1-B6FC-F2D7A7D6AD37}" type="slidenum">
              <a:rPr lang="en-US"/>
              <a:pPr/>
              <a:t>23</a:t>
            </a:fld>
            <a:endParaRPr lang="en-US"/>
          </a:p>
        </p:txBody>
      </p:sp>
      <p:pic>
        <p:nvPicPr>
          <p:cNvPr id="604166" name="Picture 6" descr="C09F01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1905000"/>
            <a:ext cx="4724400" cy="2593975"/>
          </a:xfrm>
          <a:prstGeom prst="rect">
            <a:avLst/>
          </a:prstGeom>
          <a:noFill/>
        </p:spPr>
      </p:pic>
      <p:sp>
        <p:nvSpPr>
          <p:cNvPr id="604167" name="Rectangle 7"/>
          <p:cNvSpPr>
            <a:spLocks noChangeArrowheads="1"/>
          </p:cNvSpPr>
          <p:nvPr/>
        </p:nvSpPr>
        <p:spPr bwMode="auto">
          <a:xfrm>
            <a:off x="0" y="4721225"/>
            <a:ext cx="914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9-11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Handheld or hands-free barcode scanner by Metrologic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C521740-25EC-4A4A-A7E8-1862E33A4738}" type="slidenum">
              <a:rPr lang="en-US"/>
              <a:pPr/>
              <a:t>24</a:t>
            </a:fld>
            <a:endParaRPr lang="en-US"/>
          </a:p>
        </p:txBody>
      </p:sp>
      <p:sp>
        <p:nvSpPr>
          <p:cNvPr id="60621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077200" cy="1295400"/>
          </a:xfrm>
        </p:spPr>
        <p:txBody>
          <a:bodyPr/>
          <a:lstStyle/>
          <a:p>
            <a:r>
              <a:rPr lang="en-US"/>
              <a:t>Fingerprint Readers and Other Biometric Devices</a:t>
            </a:r>
          </a:p>
        </p:txBody>
      </p:sp>
      <p:sp>
        <p:nvSpPr>
          <p:cNvPr id="606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305800" cy="4572000"/>
          </a:xfrm>
        </p:spPr>
        <p:txBody>
          <a:bodyPr/>
          <a:lstStyle/>
          <a:p>
            <a:r>
              <a:rPr lang="en-US"/>
              <a:t>Individual’s data input to a biometric device:</a:t>
            </a:r>
          </a:p>
          <a:p>
            <a:pPr lvl="1"/>
            <a:r>
              <a:rPr lang="en-US"/>
              <a:t>Fingerprints, handprints, face, voice, eye, signatures</a:t>
            </a:r>
          </a:p>
          <a:p>
            <a:r>
              <a:rPr lang="en-US"/>
              <a:t>How a biometric device works:</a:t>
            </a:r>
          </a:p>
          <a:p>
            <a:pPr lvl="1"/>
            <a:r>
              <a:rPr lang="en-US"/>
              <a:t>Data, such as fingerprint or iris, is scanned and stored</a:t>
            </a:r>
          </a:p>
          <a:p>
            <a:pPr lvl="1"/>
            <a:r>
              <a:rPr lang="en-US"/>
              <a:t>Data subsequently scanned compared to stored data</a:t>
            </a:r>
          </a:p>
          <a:p>
            <a:r>
              <a:rPr lang="en-US"/>
              <a:t>Disadvantages: false positives or false negatives</a:t>
            </a:r>
          </a:p>
          <a:p>
            <a:r>
              <a:rPr lang="en-US"/>
              <a:t>Combine device with other authentication techniques</a:t>
            </a:r>
          </a:p>
          <a:p>
            <a:r>
              <a:rPr lang="en-US"/>
              <a:t>Run the setup CD before installing the device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A432B1-D7AA-4AFD-85CC-36C0C727A856}" type="slidenum">
              <a:rPr lang="en-US"/>
              <a:pPr/>
              <a:t>25</a:t>
            </a:fld>
            <a:endParaRPr lang="en-US"/>
          </a:p>
        </p:txBody>
      </p:sp>
      <p:pic>
        <p:nvPicPr>
          <p:cNvPr id="605189" name="Picture 5" descr="C09F01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44688" y="2303463"/>
            <a:ext cx="5254625" cy="2249487"/>
          </a:xfrm>
          <a:prstGeom prst="rect">
            <a:avLst/>
          </a:prstGeom>
          <a:noFill/>
        </p:spPr>
      </p:pic>
      <p:sp>
        <p:nvSpPr>
          <p:cNvPr id="605190" name="Rectangle 6"/>
          <p:cNvSpPr>
            <a:spLocks noChangeArrowheads="1"/>
          </p:cNvSpPr>
          <p:nvPr/>
        </p:nvSpPr>
        <p:spPr bwMode="auto">
          <a:xfrm>
            <a:off x="1219200" y="4724400"/>
            <a:ext cx="6553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pPr algn="l"/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9-13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Fingerprint readers can (a) look like a mouse, but smaller, or (b) be embedded on a keyboard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276457-27EB-43A5-B461-1C0CD42C9AEA}" type="slidenum">
              <a:rPr lang="en-US"/>
              <a:pPr/>
              <a:t>26</a:t>
            </a:fld>
            <a:endParaRPr lang="en-US"/>
          </a:p>
        </p:txBody>
      </p:sp>
      <p:sp>
        <p:nvSpPr>
          <p:cNvPr id="607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Monitors, Projectors, and Video Cards</a:t>
            </a:r>
          </a:p>
        </p:txBody>
      </p:sp>
      <p:sp>
        <p:nvSpPr>
          <p:cNvPr id="607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Monitor: the primary output device of a computer </a:t>
            </a:r>
          </a:p>
          <a:p>
            <a:r>
              <a:rPr lang="en-US"/>
              <a:t>Video card (controller, or adapter)</a:t>
            </a:r>
          </a:p>
          <a:p>
            <a:pPr lvl="1"/>
            <a:r>
              <a:rPr lang="en-US"/>
              <a:t>Interfaces monitor with motherboard components</a:t>
            </a:r>
          </a:p>
          <a:p>
            <a:r>
              <a:rPr lang="en-US"/>
              <a:t>Projector: displays video for large group of users</a:t>
            </a:r>
          </a:p>
          <a:p>
            <a:pPr lvl="1"/>
            <a:r>
              <a:rPr lang="en-US"/>
              <a:t>Projector can connect to a second video port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F67075-0E20-40A3-A8EA-034F2DF6D84C}" type="slidenum">
              <a:rPr lang="en-US"/>
              <a:pPr/>
              <a:t>27</a:t>
            </a:fld>
            <a:endParaRPr lang="en-US"/>
          </a:p>
        </p:txBody>
      </p:sp>
      <p:sp>
        <p:nvSpPr>
          <p:cNvPr id="608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Monitors</a:t>
            </a:r>
          </a:p>
        </p:txBody>
      </p:sp>
      <p:sp>
        <p:nvSpPr>
          <p:cNvPr id="608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Two categories:</a:t>
            </a:r>
          </a:p>
          <a:p>
            <a:pPr lvl="1"/>
            <a:r>
              <a:rPr lang="en-US"/>
              <a:t>CRT (cathode-ray tube)</a:t>
            </a:r>
          </a:p>
          <a:p>
            <a:pPr lvl="1"/>
            <a:r>
              <a:rPr lang="en-US"/>
              <a:t>LCD (liquid crystal display); also called flat panel</a:t>
            </a:r>
          </a:p>
          <a:p>
            <a:r>
              <a:rPr lang="en-US"/>
              <a:t>How a CRT monitor works:</a:t>
            </a:r>
          </a:p>
          <a:p>
            <a:pPr lvl="1"/>
            <a:r>
              <a:rPr lang="en-US"/>
              <a:t>Filaments shoot electron beam to front of tube</a:t>
            </a:r>
          </a:p>
          <a:p>
            <a:pPr lvl="1"/>
            <a:r>
              <a:rPr lang="en-US"/>
              <a:t>Plates direct beam to paint screen from left to right</a:t>
            </a:r>
          </a:p>
          <a:p>
            <a:pPr lvl="1"/>
            <a:r>
              <a:rPr lang="en-US"/>
              <a:t>Control grid specifies coloring of each dot on screen</a:t>
            </a:r>
          </a:p>
          <a:p>
            <a:pPr lvl="2"/>
            <a:r>
              <a:rPr lang="en-US"/>
              <a:t>Controls one of three electron guns (red, green, blue)</a:t>
            </a:r>
          </a:p>
          <a:p>
            <a:pPr lvl="1"/>
            <a:r>
              <a:rPr lang="en-US"/>
              <a:t>Modified beam strikes phosphor to produce color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D795D3-C176-40D5-9A3B-A6BA25B2B019}" type="slidenum">
              <a:rPr lang="en-US"/>
              <a:pPr/>
              <a:t>28</a:t>
            </a:fld>
            <a:endParaRPr lang="en-US"/>
          </a:p>
        </p:txBody>
      </p:sp>
      <p:pic>
        <p:nvPicPr>
          <p:cNvPr id="609285" name="Picture 5" descr="C09F01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2362200"/>
            <a:ext cx="5029200" cy="2114550"/>
          </a:xfrm>
          <a:prstGeom prst="rect">
            <a:avLst/>
          </a:prstGeom>
          <a:noFill/>
        </p:spPr>
      </p:pic>
      <p:sp>
        <p:nvSpPr>
          <p:cNvPr id="609286" name="Rectangle 6"/>
          <p:cNvSpPr>
            <a:spLocks noChangeArrowheads="1"/>
          </p:cNvSpPr>
          <p:nvPr/>
        </p:nvSpPr>
        <p:spPr bwMode="auto">
          <a:xfrm>
            <a:off x="0" y="4873625"/>
            <a:ext cx="914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9-17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How a CRT monitor works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EDCBCF-6C10-41F4-910F-278E14E6884D}" type="slidenum">
              <a:rPr lang="en-US"/>
              <a:pPr/>
              <a:t>29</a:t>
            </a:fld>
            <a:endParaRPr lang="en-US"/>
          </a:p>
        </p:txBody>
      </p:sp>
      <p:sp>
        <p:nvSpPr>
          <p:cNvPr id="61030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r>
              <a:rPr lang="en-US"/>
              <a:t>Monitors (continued)</a:t>
            </a:r>
          </a:p>
        </p:txBody>
      </p:sp>
      <p:sp>
        <p:nvSpPr>
          <p:cNvPr id="610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077200" cy="4724400"/>
          </a:xfrm>
        </p:spPr>
        <p:txBody>
          <a:bodyPr/>
          <a:lstStyle/>
          <a:p>
            <a:r>
              <a:rPr lang="en-US"/>
              <a:t>How an LCD monitor works:</a:t>
            </a:r>
          </a:p>
          <a:p>
            <a:pPr lvl="1"/>
            <a:r>
              <a:rPr lang="en-US"/>
              <a:t>Two grids of electrodes surround center layers</a:t>
            </a:r>
          </a:p>
          <a:p>
            <a:pPr lvl="2"/>
            <a:r>
              <a:rPr lang="en-US"/>
              <a:t>Make up an electrode matrix of rows and columns</a:t>
            </a:r>
          </a:p>
          <a:p>
            <a:pPr lvl="1"/>
            <a:r>
              <a:rPr lang="en-US"/>
              <a:t>Each intersection of row and column forms a pixel</a:t>
            </a:r>
          </a:p>
          <a:p>
            <a:pPr lvl="1"/>
            <a:r>
              <a:rPr lang="en-US"/>
              <a:t>Software manipulates each pixel via electrodes</a:t>
            </a:r>
          </a:p>
          <a:p>
            <a:pPr lvl="1"/>
            <a:r>
              <a:rPr lang="en-US"/>
              <a:t>Image is formed by scanning columns and rows </a:t>
            </a:r>
          </a:p>
          <a:p>
            <a:pPr lvl="1"/>
            <a:r>
              <a:rPr lang="en-US"/>
              <a:t>Polarizer controls flow of light through pixel </a:t>
            </a:r>
          </a:p>
          <a:p>
            <a:r>
              <a:rPr lang="en-US"/>
              <a:t>Two types of LCD technology: </a:t>
            </a:r>
          </a:p>
          <a:p>
            <a:pPr lvl="1"/>
            <a:r>
              <a:rPr lang="en-US"/>
              <a:t>TFT (thin film transistor)</a:t>
            </a:r>
          </a:p>
          <a:p>
            <a:pPr lvl="1"/>
            <a:r>
              <a:rPr lang="en-US"/>
              <a:t>DSTN (dual-scan twisted nematic):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7002B9-EDA3-412C-9394-A0EB3374694C}" type="slidenum">
              <a:rPr lang="en-US"/>
              <a:pPr/>
              <a:t>30</a:t>
            </a:fld>
            <a:endParaRPr lang="en-US"/>
          </a:p>
        </p:txBody>
      </p:sp>
      <p:pic>
        <p:nvPicPr>
          <p:cNvPr id="612357" name="Picture 5" descr="C09F01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43138" y="1889125"/>
            <a:ext cx="4657725" cy="3078163"/>
          </a:xfrm>
          <a:prstGeom prst="rect">
            <a:avLst/>
          </a:prstGeom>
          <a:noFill/>
        </p:spPr>
      </p:pic>
      <p:sp>
        <p:nvSpPr>
          <p:cNvPr id="612358" name="Rectangle 6"/>
          <p:cNvSpPr>
            <a:spLocks noChangeArrowheads="1"/>
          </p:cNvSpPr>
          <p:nvPr/>
        </p:nvSpPr>
        <p:spPr bwMode="auto">
          <a:xfrm>
            <a:off x="0" y="5102225"/>
            <a:ext cx="914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9-18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Layers of an LCD panel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68D08F-D0F3-421A-8C4F-135B8B592471}" type="slidenum">
              <a:rPr lang="en-US"/>
              <a:pPr/>
              <a:t>31</a:t>
            </a:fld>
            <a:endParaRPr lang="en-US"/>
          </a:p>
        </p:txBody>
      </p:sp>
      <p:sp>
        <p:nvSpPr>
          <p:cNvPr id="6144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r>
              <a:rPr lang="en-US"/>
              <a:t>Monitors (continued)</a:t>
            </a:r>
          </a:p>
        </p:txBody>
      </p:sp>
      <p:sp>
        <p:nvSpPr>
          <p:cNvPr id="614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229600" cy="4724400"/>
          </a:xfrm>
        </p:spPr>
        <p:txBody>
          <a:bodyPr/>
          <a:lstStyle/>
          <a:p>
            <a:r>
              <a:rPr lang="en-US"/>
              <a:t>Comparing features of LCD and CRT monitors:</a:t>
            </a:r>
          </a:p>
          <a:p>
            <a:pPr lvl="1"/>
            <a:r>
              <a:rPr lang="en-US"/>
              <a:t>Space: LCD requires less space than CRT monitor</a:t>
            </a:r>
          </a:p>
          <a:p>
            <a:pPr lvl="1"/>
            <a:r>
              <a:rPr lang="en-US"/>
              <a:t>Power: LCD requires less electricity to operate</a:t>
            </a:r>
          </a:p>
          <a:p>
            <a:pPr lvl="1"/>
            <a:r>
              <a:rPr lang="en-US"/>
              <a:t>Expense: LCD monitors are more expensive</a:t>
            </a:r>
          </a:p>
          <a:p>
            <a:pPr lvl="1"/>
            <a:r>
              <a:rPr lang="en-US"/>
              <a:t>Refresh rate: LCD response time &lt; CRT refresh rates</a:t>
            </a:r>
          </a:p>
          <a:p>
            <a:pPr lvl="1"/>
            <a:r>
              <a:rPr lang="en-US"/>
              <a:t>Interlacing CRT monitors draw screen in two passes</a:t>
            </a:r>
          </a:p>
          <a:p>
            <a:pPr lvl="1"/>
            <a:r>
              <a:rPr lang="en-US"/>
              <a:t>Dot pitch: distance between color dots</a:t>
            </a:r>
          </a:p>
          <a:p>
            <a:pPr lvl="1"/>
            <a:r>
              <a:rPr lang="en-US"/>
              <a:t>Resolution: measures number of addressable pixels</a:t>
            </a:r>
          </a:p>
          <a:p>
            <a:pPr lvl="2"/>
            <a:r>
              <a:rPr lang="en-US"/>
              <a:t>Example 1: XGA supports up to 1024 x 768 pixels </a:t>
            </a:r>
          </a:p>
          <a:p>
            <a:pPr lvl="2"/>
            <a:r>
              <a:rPr lang="en-US"/>
              <a:t>Example 2: SVGA supports up to 800 x 600 pixels 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60B9FE-B605-43E7-849F-9FEB5A0704BA}" type="slidenum">
              <a:rPr lang="en-US"/>
              <a:pPr/>
              <a:t>32</a:t>
            </a:fld>
            <a:endParaRPr lang="en-US"/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a Projector</a:t>
            </a:r>
          </a:p>
        </p:txBody>
      </p:sp>
      <p:sp>
        <p:nvSpPr>
          <p:cNvPr id="613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Projectors display images for a large group</a:t>
            </a:r>
          </a:p>
          <a:p>
            <a:r>
              <a:rPr lang="en-US"/>
              <a:t>Example: portable XGA projector by NEC</a:t>
            </a:r>
          </a:p>
          <a:p>
            <a:pPr lvl="1"/>
            <a:r>
              <a:rPr lang="en-US"/>
              <a:t>Native resolution of XGA 1024 x 768</a:t>
            </a:r>
          </a:p>
          <a:p>
            <a:pPr lvl="1"/>
            <a:r>
              <a:rPr lang="en-US"/>
              <a:t>Connects to PC via15-pin video port or S-Video port</a:t>
            </a:r>
          </a:p>
          <a:p>
            <a:r>
              <a:rPr lang="en-US"/>
              <a:t>An extra video port is required </a:t>
            </a:r>
          </a:p>
          <a:p>
            <a:pPr lvl="1"/>
            <a:r>
              <a:rPr lang="en-US"/>
              <a:t>Desktops may need a second video card </a:t>
            </a:r>
          </a:p>
          <a:p>
            <a:pPr lvl="1"/>
            <a:r>
              <a:rPr lang="en-US"/>
              <a:t>Most notebooks provide the 15-pin video port</a:t>
            </a:r>
          </a:p>
          <a:p>
            <a:r>
              <a:rPr lang="en-US"/>
              <a:t>For notebooks, a function key activates projector</a:t>
            </a:r>
          </a:p>
          <a:p>
            <a:pPr lvl="1">
              <a:buFontTx/>
              <a:buNone/>
            </a:pPr>
            <a:r>
              <a:rPr lang="en-US"/>
              <a:t>  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749D28-12C0-414F-ADD3-07C38574D920}" type="slidenum">
              <a:rPr lang="en-US"/>
              <a:pPr/>
              <a:t>33</a:t>
            </a:fld>
            <a:endParaRPr lang="en-US"/>
          </a:p>
        </p:txBody>
      </p:sp>
      <p:pic>
        <p:nvPicPr>
          <p:cNvPr id="615429" name="Picture 5" descr="C09F02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2286000"/>
            <a:ext cx="4876800" cy="2212975"/>
          </a:xfrm>
          <a:prstGeom prst="rect">
            <a:avLst/>
          </a:prstGeom>
          <a:noFill/>
        </p:spPr>
      </p:pic>
      <p:sp>
        <p:nvSpPr>
          <p:cNvPr id="615430" name="Rectangle 6"/>
          <p:cNvSpPr>
            <a:spLocks noChangeArrowheads="1"/>
          </p:cNvSpPr>
          <p:nvPr/>
        </p:nvSpPr>
        <p:spPr bwMode="auto">
          <a:xfrm>
            <a:off x="0" y="4797425"/>
            <a:ext cx="914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9-21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Portable XGA projector by NEC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CA1706-F950-4683-A5D8-E21532018B6E}" type="slidenum">
              <a:rPr lang="en-US"/>
              <a:pPr/>
              <a:t>34</a:t>
            </a:fld>
            <a:endParaRPr lang="en-US"/>
          </a:p>
        </p:txBody>
      </p:sp>
      <p:sp>
        <p:nvSpPr>
          <p:cNvPr id="616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Video Cards</a:t>
            </a:r>
          </a:p>
        </p:txBody>
      </p:sp>
      <p:sp>
        <p:nvSpPr>
          <p:cNvPr id="616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077200" cy="4419600"/>
          </a:xfrm>
        </p:spPr>
        <p:txBody>
          <a:bodyPr/>
          <a:lstStyle/>
          <a:p>
            <a:r>
              <a:rPr lang="en-US"/>
              <a:t>Interface between monitor and computer</a:t>
            </a:r>
          </a:p>
          <a:p>
            <a:r>
              <a:rPr lang="en-US"/>
              <a:t>Also called graphics adapters and video boards</a:t>
            </a:r>
          </a:p>
          <a:p>
            <a:r>
              <a:rPr lang="en-US"/>
              <a:t>Five ports for five methods of data transfer:</a:t>
            </a:r>
          </a:p>
          <a:p>
            <a:pPr lvl="1"/>
            <a:r>
              <a:rPr lang="en-US"/>
              <a:t>RGB (red, green, blue) video using a VGA port</a:t>
            </a:r>
          </a:p>
          <a:p>
            <a:pPr lvl="1"/>
            <a:r>
              <a:rPr lang="en-US"/>
              <a:t>DVI (Digital Visual Interface</a:t>
            </a:r>
            <a:r>
              <a:rPr lang="en-US" i="1"/>
              <a:t>)</a:t>
            </a:r>
            <a:r>
              <a:rPr lang="en-US"/>
              <a:t>:</a:t>
            </a:r>
            <a:r>
              <a:rPr lang="en-US" i="1"/>
              <a:t> </a:t>
            </a:r>
            <a:r>
              <a:rPr lang="en-US"/>
              <a:t>used by LCD monitors</a:t>
            </a:r>
          </a:p>
          <a:p>
            <a:pPr lvl="1"/>
            <a:r>
              <a:rPr lang="en-US"/>
              <a:t>Composite video: RGB mixed in the same signal</a:t>
            </a:r>
          </a:p>
          <a:p>
            <a:pPr lvl="1"/>
            <a:r>
              <a:rPr lang="en-US"/>
              <a:t>S-Video (Super-Video): sends two signals over cable</a:t>
            </a:r>
          </a:p>
          <a:p>
            <a:pPr lvl="1"/>
            <a:r>
              <a:rPr lang="en-US"/>
              <a:t>HDMI (High-Definition Multimedia Interface)</a:t>
            </a:r>
          </a:p>
          <a:p>
            <a:r>
              <a:rPr lang="en-US"/>
              <a:t>Two main features: bus used and RAM supported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4A82F85-CA3B-4A41-B465-3D737F4D4657}" type="slidenum">
              <a:rPr lang="en-US"/>
              <a:pPr/>
              <a:t>35</a:t>
            </a:fld>
            <a:endParaRPr lang="en-US"/>
          </a:p>
        </p:txBody>
      </p:sp>
      <p:pic>
        <p:nvPicPr>
          <p:cNvPr id="617477" name="Picture 5" descr="C09F02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2084388"/>
            <a:ext cx="5562600" cy="2687637"/>
          </a:xfrm>
          <a:prstGeom prst="rect">
            <a:avLst/>
          </a:prstGeom>
          <a:noFill/>
        </p:spPr>
      </p:pic>
      <p:sp>
        <p:nvSpPr>
          <p:cNvPr id="617478" name="Rectangle 6"/>
          <p:cNvSpPr>
            <a:spLocks noChangeArrowheads="1"/>
          </p:cNvSpPr>
          <p:nvPr/>
        </p:nvSpPr>
        <p:spPr bwMode="auto">
          <a:xfrm>
            <a:off x="1371600" y="5029200"/>
            <a:ext cx="6248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pPr algn="l"/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9-22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This ATI Radeon video card has three ports for video out: DVI, S-Video, and the regular VGA port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7A17BA-E45A-40EE-A3EC-950423D35A15}" type="slidenum">
              <a:rPr lang="en-US"/>
              <a:pPr/>
              <a:t>36</a:t>
            </a:fld>
            <a:endParaRPr lang="en-US"/>
          </a:p>
        </p:txBody>
      </p:sp>
      <p:sp>
        <p:nvSpPr>
          <p:cNvPr id="618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Video Cards (continued)</a:t>
            </a:r>
          </a:p>
        </p:txBody>
      </p:sp>
      <p:sp>
        <p:nvSpPr>
          <p:cNvPr id="618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458200" cy="4419600"/>
          </a:xfrm>
        </p:spPr>
        <p:txBody>
          <a:bodyPr/>
          <a:lstStyle/>
          <a:p>
            <a:r>
              <a:rPr lang="en-US"/>
              <a:t>Four buses: VESA, regular PCI, AGP, PCI Express</a:t>
            </a:r>
          </a:p>
          <a:p>
            <a:r>
              <a:rPr lang="en-US"/>
              <a:t>Video cards currently use AGP and PCI Express</a:t>
            </a:r>
          </a:p>
          <a:p>
            <a:r>
              <a:rPr lang="en-US"/>
              <a:t>AGP</a:t>
            </a:r>
          </a:p>
          <a:p>
            <a:pPr lvl="1"/>
            <a:r>
              <a:rPr lang="en-US"/>
              <a:t>Performs DIME (direct memory execution)  </a:t>
            </a:r>
          </a:p>
          <a:p>
            <a:pPr lvl="1"/>
            <a:r>
              <a:rPr lang="en-US"/>
              <a:t>Major AGP releases: AGP 1.0, AGP 2.0, AGP 3.0</a:t>
            </a:r>
          </a:p>
          <a:p>
            <a:r>
              <a:rPr lang="en-US"/>
              <a:t>PCI Express </a:t>
            </a:r>
          </a:p>
          <a:p>
            <a:pPr lvl="1"/>
            <a:r>
              <a:rPr lang="en-US"/>
              <a:t>PCI Express x16 is twice as fast as AGP x8</a:t>
            </a:r>
          </a:p>
          <a:p>
            <a:pPr lvl="1"/>
            <a:r>
              <a:rPr lang="en-US"/>
              <a:t>PCI Express video card has dedicated PC Express bus</a:t>
            </a:r>
          </a:p>
          <a:p>
            <a:r>
              <a:rPr lang="en-US"/>
              <a:t>Graphics accelerator: video card that has a processor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F2927B-5D5B-420B-B9B9-01866398715D}" type="slidenum">
              <a:rPr lang="en-US"/>
              <a:pPr/>
              <a:t>37</a:t>
            </a:fld>
            <a:endParaRPr lang="en-US"/>
          </a:p>
        </p:txBody>
      </p:sp>
      <p:pic>
        <p:nvPicPr>
          <p:cNvPr id="61952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219200"/>
            <a:ext cx="5638800" cy="429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19526" name="Rectangle 6"/>
          <p:cNvSpPr>
            <a:spLocks noChangeArrowheads="1"/>
          </p:cNvSpPr>
          <p:nvPr/>
        </p:nvSpPr>
        <p:spPr bwMode="auto">
          <a:xfrm>
            <a:off x="0" y="5635625"/>
            <a:ext cx="914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Table 9-4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AGP standards summarized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1FB44B-601A-4254-8AB1-FCA5CFF865F7}" type="slidenum">
              <a:rPr lang="en-US"/>
              <a:pPr/>
              <a:t>38</a:t>
            </a:fld>
            <a:endParaRPr lang="en-US"/>
          </a:p>
        </p:txBody>
      </p:sp>
      <p:pic>
        <p:nvPicPr>
          <p:cNvPr id="620549" name="Picture 5" descr="C09F02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981200"/>
            <a:ext cx="5638800" cy="2846388"/>
          </a:xfrm>
          <a:prstGeom prst="rect">
            <a:avLst/>
          </a:prstGeom>
          <a:noFill/>
        </p:spPr>
      </p:pic>
      <p:sp>
        <p:nvSpPr>
          <p:cNvPr id="620550" name="Rectangle 6"/>
          <p:cNvSpPr>
            <a:spLocks noChangeArrowheads="1"/>
          </p:cNvSpPr>
          <p:nvPr/>
        </p:nvSpPr>
        <p:spPr bwMode="auto">
          <a:xfrm>
            <a:off x="1143000" y="5105400"/>
            <a:ext cx="7010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pPr algn="l"/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9-28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This PCX 5750 graphics card by MSI Computer Corporation uses the PCI Express x16 local bus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3FC6FC-730F-4A3B-A182-8A9988FEAF6A}" type="slidenum">
              <a:rPr lang="en-US"/>
              <a:pPr/>
              <a:t>39</a:t>
            </a:fld>
            <a:endParaRPr lang="en-US"/>
          </a:p>
        </p:txBody>
      </p:sp>
      <p:sp>
        <p:nvSpPr>
          <p:cNvPr id="621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Video Cards (continued)</a:t>
            </a:r>
          </a:p>
        </p:txBody>
      </p:sp>
      <p:sp>
        <p:nvSpPr>
          <p:cNvPr id="621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534400" cy="4648200"/>
          </a:xfrm>
        </p:spPr>
        <p:txBody>
          <a:bodyPr/>
          <a:lstStyle/>
          <a:p>
            <a:r>
              <a:rPr lang="en-US"/>
              <a:t>Video memory is stored in chips on video cards </a:t>
            </a:r>
          </a:p>
          <a:p>
            <a:r>
              <a:rPr lang="en-US"/>
              <a:t>Frame buffer: memory that specifies a screen of data</a:t>
            </a:r>
          </a:p>
          <a:p>
            <a:r>
              <a:rPr lang="en-US"/>
              <a:t>Factors affecting volume of data stored in frame buffer </a:t>
            </a:r>
          </a:p>
          <a:p>
            <a:pPr lvl="1"/>
            <a:r>
              <a:rPr lang="en-US"/>
              <a:t>Screen resolution (measured in pixels)</a:t>
            </a:r>
          </a:p>
          <a:p>
            <a:pPr lvl="1"/>
            <a:r>
              <a:rPr lang="en-US"/>
              <a:t>Color depth (number of colors measured in bits)</a:t>
            </a:r>
          </a:p>
          <a:p>
            <a:pPr lvl="1"/>
            <a:r>
              <a:rPr lang="en-US"/>
              <a:t>Alpha blending (enhancements to color information)</a:t>
            </a:r>
          </a:p>
          <a:p>
            <a:r>
              <a:rPr lang="en-US"/>
              <a:t>A few types of video memory:</a:t>
            </a:r>
          </a:p>
          <a:p>
            <a:pPr lvl="1"/>
            <a:r>
              <a:rPr lang="en-US"/>
              <a:t>VRAM (video RAM): a type of dual-ported memory</a:t>
            </a:r>
          </a:p>
          <a:p>
            <a:pPr lvl="1"/>
            <a:r>
              <a:rPr lang="en-US"/>
              <a:t>SGRAM (synchronous graphics RAM): like SDRAM</a:t>
            </a:r>
          </a:p>
          <a:p>
            <a:pPr lvl="1"/>
            <a:r>
              <a:rPr lang="en-US"/>
              <a:t>Direct RDRAM (DRDRAM): works well with streaming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6EB0AC-099C-4A26-8D1F-72597DA7623E}" type="slidenum">
              <a:rPr lang="en-US"/>
              <a:pPr/>
              <a:t>40</a:t>
            </a:fld>
            <a:endParaRPr lang="en-US"/>
          </a:p>
        </p:txBody>
      </p:sp>
      <p:sp>
        <p:nvSpPr>
          <p:cNvPr id="6236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1295400"/>
          </a:xfrm>
        </p:spPr>
        <p:txBody>
          <a:bodyPr/>
          <a:lstStyle/>
          <a:p>
            <a:r>
              <a:rPr lang="en-US"/>
              <a:t>Using Ports and Expansion Slots for Add-on Devices</a:t>
            </a:r>
          </a:p>
        </p:txBody>
      </p:sp>
      <p:sp>
        <p:nvSpPr>
          <p:cNvPr id="623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752600"/>
            <a:ext cx="8077200" cy="4495800"/>
          </a:xfrm>
        </p:spPr>
        <p:txBody>
          <a:bodyPr/>
          <a:lstStyle/>
          <a:p>
            <a:r>
              <a:rPr lang="en-US"/>
              <a:t>Ports provided by a motherboard: </a:t>
            </a:r>
          </a:p>
          <a:p>
            <a:pPr lvl="1"/>
            <a:r>
              <a:rPr lang="en-US"/>
              <a:t>Serial, parallel, USB, FireWire, or network port</a:t>
            </a:r>
          </a:p>
          <a:p>
            <a:r>
              <a:rPr lang="en-US"/>
              <a:t>Ports provided by an expansion card:</a:t>
            </a:r>
          </a:p>
          <a:p>
            <a:pPr lvl="1"/>
            <a:r>
              <a:rPr lang="en-US"/>
              <a:t>Serial ATA, video, or SCSI</a:t>
            </a:r>
          </a:p>
          <a:p>
            <a:r>
              <a:rPr lang="en-US"/>
              <a:t>Critical criterion for evaluating a port: port speed</a:t>
            </a:r>
          </a:p>
          <a:p>
            <a:r>
              <a:rPr lang="en-US"/>
              <a:t>Skills to acquire:</a:t>
            </a:r>
          </a:p>
          <a:p>
            <a:pPr lvl="1"/>
            <a:r>
              <a:rPr lang="en-US"/>
              <a:t>How to use serial, parallel, USB, and FireWire ports</a:t>
            </a:r>
          </a:p>
          <a:p>
            <a:pPr lvl="1"/>
            <a:r>
              <a:rPr lang="en-US"/>
              <a:t>How to install expansion cards in expansion slots </a:t>
            </a:r>
          </a:p>
          <a:p>
            <a:pPr lvl="1"/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663AAC-F262-49E7-BE52-E413C6839804}" type="slidenum">
              <a:rPr lang="en-US"/>
              <a:pPr/>
              <a:t>41</a:t>
            </a:fld>
            <a:endParaRPr lang="en-US"/>
          </a:p>
        </p:txBody>
      </p:sp>
      <p:pic>
        <p:nvPicPr>
          <p:cNvPr id="624645" name="Picture 5" descr="C09F03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831975"/>
            <a:ext cx="5464175" cy="3194050"/>
          </a:xfrm>
          <a:prstGeom prst="rect">
            <a:avLst/>
          </a:prstGeom>
          <a:noFill/>
        </p:spPr>
      </p:pic>
      <p:sp>
        <p:nvSpPr>
          <p:cNvPr id="624646" name="Rectangle 6"/>
          <p:cNvSpPr>
            <a:spLocks noChangeArrowheads="1"/>
          </p:cNvSpPr>
          <p:nvPr/>
        </p:nvSpPr>
        <p:spPr bwMode="auto">
          <a:xfrm>
            <a:off x="1447800" y="5380038"/>
            <a:ext cx="6400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pPr algn="l"/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9-34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Rear of computer case showing ports; only the video ports are not coming directly off the motherboard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1A5B84-B0DA-4FC2-9BDA-863949F4B55E}" type="slidenum">
              <a:rPr lang="en-US"/>
              <a:pPr/>
              <a:t>42</a:t>
            </a:fld>
            <a:endParaRPr lang="en-US"/>
          </a:p>
        </p:txBody>
      </p:sp>
      <p:sp>
        <p:nvSpPr>
          <p:cNvPr id="625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Serial Ports</a:t>
            </a:r>
          </a:p>
        </p:txBody>
      </p:sp>
      <p:sp>
        <p:nvSpPr>
          <p:cNvPr id="625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52600"/>
            <a:ext cx="8305800" cy="4572000"/>
          </a:xfrm>
        </p:spPr>
        <p:txBody>
          <a:bodyPr/>
          <a:lstStyle/>
          <a:p>
            <a:r>
              <a:rPr lang="en-US"/>
              <a:t>Serial ports transmit data in single bits</a:t>
            </a:r>
          </a:p>
          <a:p>
            <a:r>
              <a:rPr lang="en-US"/>
              <a:t>Originally intended for I/O devices such as a modem</a:t>
            </a:r>
          </a:p>
          <a:p>
            <a:r>
              <a:rPr lang="en-US"/>
              <a:t>Serial ports conform to RS-232c interface standard</a:t>
            </a:r>
          </a:p>
          <a:p>
            <a:pPr lvl="1"/>
            <a:r>
              <a:rPr lang="en-US"/>
              <a:t>Maximum cable length of 50 feet </a:t>
            </a:r>
          </a:p>
          <a:p>
            <a:pPr lvl="1"/>
            <a:r>
              <a:rPr lang="en-US"/>
              <a:t>Male port originally designed for 25 pins; modified to 9</a:t>
            </a:r>
          </a:p>
          <a:p>
            <a:r>
              <a:rPr lang="en-US"/>
              <a:t>COM assignments provide IRQ and I/O addresses </a:t>
            </a:r>
          </a:p>
          <a:p>
            <a:pPr lvl="1"/>
            <a:r>
              <a:rPr lang="en-US"/>
              <a:t>COM/LTP assignments now made in CMOS setup</a:t>
            </a:r>
          </a:p>
          <a:p>
            <a:r>
              <a:rPr lang="en-US"/>
              <a:t>Port settings control serial port communication </a:t>
            </a:r>
          </a:p>
          <a:p>
            <a:pPr lvl="1"/>
            <a:r>
              <a:rPr lang="en-US"/>
              <a:t>View port settings using the Device Manager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483858-B0FE-48B1-90E7-78CCA8D913A6}" type="slidenum">
              <a:rPr lang="en-US"/>
              <a:pPr/>
              <a:t>43</a:t>
            </a:fld>
            <a:endParaRPr lang="en-US"/>
          </a:p>
        </p:txBody>
      </p:sp>
      <p:pic>
        <p:nvPicPr>
          <p:cNvPr id="626693" name="Picture 5" descr="C09F035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1524000" y="2057400"/>
            <a:ext cx="5218113" cy="2474913"/>
          </a:xfrm>
          <a:prstGeom prst="rect">
            <a:avLst/>
          </a:prstGeom>
          <a:noFill/>
        </p:spPr>
      </p:pic>
      <p:sp>
        <p:nvSpPr>
          <p:cNvPr id="626694" name="Rectangle 6"/>
          <p:cNvSpPr>
            <a:spLocks noChangeArrowheads="1"/>
          </p:cNvSpPr>
          <p:nvPr/>
        </p:nvSpPr>
        <p:spPr bwMode="auto">
          <a:xfrm>
            <a:off x="0" y="4873625"/>
            <a:ext cx="914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9-35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Serial, parallel, and game ports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D9DC56-8B85-4ECF-984E-EDC0A30122D6}" type="slidenum">
              <a:rPr lang="en-US"/>
              <a:pPr/>
              <a:t>44</a:t>
            </a:fld>
            <a:endParaRPr lang="en-US"/>
          </a:p>
        </p:txBody>
      </p:sp>
      <p:pic>
        <p:nvPicPr>
          <p:cNvPr id="627717" name="Picture 5" descr="C09F03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1733550"/>
            <a:ext cx="5135563" cy="3389313"/>
          </a:xfrm>
          <a:prstGeom prst="rect">
            <a:avLst/>
          </a:prstGeom>
          <a:noFill/>
        </p:spPr>
      </p:pic>
      <p:sp>
        <p:nvSpPr>
          <p:cNvPr id="627718" name="Rectangle 6"/>
          <p:cNvSpPr>
            <a:spLocks noChangeArrowheads="1"/>
          </p:cNvSpPr>
          <p:nvPr/>
        </p:nvSpPr>
        <p:spPr bwMode="auto">
          <a:xfrm>
            <a:off x="0" y="5330825"/>
            <a:ext cx="914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9-37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Properties of the COM1 serial port in Windows XP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0D54A5-AF72-45E4-A439-6E7E7B9A1311}" type="slidenum">
              <a:rPr lang="en-US"/>
              <a:pPr/>
              <a:t>45</a:t>
            </a:fld>
            <a:endParaRPr lang="en-US"/>
          </a:p>
        </p:txBody>
      </p:sp>
      <p:sp>
        <p:nvSpPr>
          <p:cNvPr id="629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Infrared Transceivers</a:t>
            </a:r>
          </a:p>
        </p:txBody>
      </p:sp>
      <p:sp>
        <p:nvSpPr>
          <p:cNvPr id="629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153400" cy="4572000"/>
          </a:xfrm>
        </p:spPr>
        <p:txBody>
          <a:bodyPr/>
          <a:lstStyle/>
          <a:p>
            <a:r>
              <a:rPr lang="en-US"/>
              <a:t>Alternative terminology: </a:t>
            </a:r>
          </a:p>
          <a:p>
            <a:pPr lvl="1"/>
            <a:r>
              <a:rPr lang="en-US"/>
              <a:t>IrDA (Infrared Data Association) or IR transceiver</a:t>
            </a:r>
          </a:p>
          <a:p>
            <a:r>
              <a:rPr lang="en-US"/>
              <a:t>Provide infrared port for wireless communication</a:t>
            </a:r>
          </a:p>
          <a:p>
            <a:r>
              <a:rPr lang="en-US"/>
              <a:t>Used by wireless keyboards, mice, PDAs, printers</a:t>
            </a:r>
          </a:p>
          <a:p>
            <a:r>
              <a:rPr lang="en-US"/>
              <a:t>External type can be plugged into USB or serial port</a:t>
            </a:r>
          </a:p>
          <a:p>
            <a:r>
              <a:rPr lang="en-US"/>
              <a:t>Technology is obsolescent due to line of sight issue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B4DF95-836B-4C31-B1B3-EB94D7983D3A}" type="slidenum">
              <a:rPr lang="en-US"/>
              <a:pPr/>
              <a:t>46</a:t>
            </a:fld>
            <a:endParaRPr lang="en-US"/>
          </a:p>
        </p:txBody>
      </p:sp>
      <p:sp>
        <p:nvSpPr>
          <p:cNvPr id="628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Parallel Ports</a:t>
            </a:r>
          </a:p>
        </p:txBody>
      </p:sp>
      <p:sp>
        <p:nvSpPr>
          <p:cNvPr id="628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Parallel ports simultaneously transmit 8 bits of data</a:t>
            </a:r>
          </a:p>
          <a:p>
            <a:r>
              <a:rPr lang="en-US"/>
              <a:t>Parallel ports are used primarily by printers</a:t>
            </a:r>
          </a:p>
          <a:p>
            <a:r>
              <a:rPr lang="en-US"/>
              <a:t>Types of parallel ports:</a:t>
            </a:r>
          </a:p>
          <a:p>
            <a:pPr lvl="1"/>
            <a:r>
              <a:rPr lang="en-US"/>
              <a:t>Standard parallel port (SPP): single-directional</a:t>
            </a:r>
          </a:p>
          <a:p>
            <a:pPr lvl="1"/>
            <a:r>
              <a:rPr lang="en-US"/>
              <a:t>EPP (Enhanced Parallel Port): bidirectional </a:t>
            </a:r>
          </a:p>
          <a:p>
            <a:pPr lvl="1"/>
            <a:r>
              <a:rPr lang="en-US"/>
              <a:t>ECP (Extended Capabilities Port): EPP plus DMA </a:t>
            </a:r>
          </a:p>
          <a:p>
            <a:r>
              <a:rPr lang="en-US"/>
              <a:t>Parallel port off board is configured in CMOS setup</a:t>
            </a:r>
          </a:p>
          <a:p>
            <a:r>
              <a:rPr lang="en-US"/>
              <a:t>Parallel port technology is being replaced by USB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7EA3ED-56F0-4790-B7B1-DD32C928D3E9}" type="slidenum">
              <a:rPr lang="en-US"/>
              <a:pPr/>
              <a:t>47</a:t>
            </a:fld>
            <a:endParaRPr lang="en-US"/>
          </a:p>
        </p:txBody>
      </p:sp>
      <p:sp>
        <p:nvSpPr>
          <p:cNvPr id="631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USB Ports</a:t>
            </a:r>
          </a:p>
        </p:txBody>
      </p:sp>
      <p:sp>
        <p:nvSpPr>
          <p:cNvPr id="631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534400" cy="4572000"/>
          </a:xfrm>
        </p:spPr>
        <p:txBody>
          <a:bodyPr/>
          <a:lstStyle/>
          <a:p>
            <a:r>
              <a:rPr lang="en-US"/>
              <a:t>Advantages of USB ports over parallel and serial ports</a:t>
            </a:r>
          </a:p>
          <a:p>
            <a:pPr lvl="1"/>
            <a:r>
              <a:rPr lang="en-US"/>
              <a:t>USB is much faster than regular ports </a:t>
            </a:r>
          </a:p>
          <a:p>
            <a:pPr lvl="1"/>
            <a:r>
              <a:rPr lang="en-US"/>
              <a:t>USB uses higher-quality cabling</a:t>
            </a:r>
          </a:p>
          <a:p>
            <a:pPr lvl="1"/>
            <a:r>
              <a:rPr lang="en-US"/>
              <a:t>USB is much easier to manage</a:t>
            </a:r>
          </a:p>
          <a:p>
            <a:pPr lvl="1"/>
            <a:r>
              <a:rPr lang="en-US"/>
              <a:t>USB allows for hot-swapping and hot-pluggable devices</a:t>
            </a:r>
          </a:p>
          <a:p>
            <a:r>
              <a:rPr lang="en-US"/>
              <a:t>Some USB devices: mouse, printer, scanner, modem</a:t>
            </a:r>
          </a:p>
          <a:p>
            <a:pPr lvl="1"/>
            <a:r>
              <a:rPr lang="en-US"/>
              <a:t>Connect device to USB port off board or adapter card</a:t>
            </a:r>
          </a:p>
          <a:p>
            <a:r>
              <a:rPr lang="en-US"/>
              <a:t>USB versions</a:t>
            </a:r>
          </a:p>
          <a:p>
            <a:pPr lvl="1"/>
            <a:r>
              <a:rPr lang="en-US"/>
              <a:t>USB 1.1: allows for speeds of 1.5 Mbps and 12 Mbps</a:t>
            </a:r>
          </a:p>
          <a:p>
            <a:pPr lvl="1"/>
            <a:r>
              <a:rPr lang="en-US"/>
              <a:t>USB 2.0: speeds to 480 Mbps, backward compatibility 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38DE34-16E0-45EA-8830-F2B122B0905D}" type="slidenum">
              <a:rPr lang="en-US"/>
              <a:pPr/>
              <a:t>48</a:t>
            </a:fld>
            <a:endParaRPr lang="en-US"/>
          </a:p>
        </p:txBody>
      </p:sp>
      <p:pic>
        <p:nvPicPr>
          <p:cNvPr id="632837" name="Picture 5" descr="C09F04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2057400"/>
            <a:ext cx="5059363" cy="2090738"/>
          </a:xfrm>
          <a:prstGeom prst="rect">
            <a:avLst/>
          </a:prstGeom>
          <a:noFill/>
        </p:spPr>
      </p:pic>
      <p:sp>
        <p:nvSpPr>
          <p:cNvPr id="632838" name="Rectangle 6"/>
          <p:cNvSpPr>
            <a:spLocks noChangeArrowheads="1"/>
          </p:cNvSpPr>
          <p:nvPr/>
        </p:nvSpPr>
        <p:spPr bwMode="auto">
          <a:xfrm>
            <a:off x="1447800" y="4419600"/>
            <a:ext cx="62484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pPr algn="l"/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9-41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A motherboard with two USB ports and a USB cable; note the rectangular shape of the connection as compared to the nearby serial and parallel D-shaped ports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2F1AC6-12DB-441D-99D1-7280FA125AEF}" type="slidenum">
              <a:rPr lang="en-US"/>
              <a:pPr/>
              <a:t>49</a:t>
            </a:fld>
            <a:endParaRPr lang="en-US"/>
          </a:p>
        </p:txBody>
      </p:sp>
      <p:sp>
        <p:nvSpPr>
          <p:cNvPr id="634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USB Ports (continued)</a:t>
            </a:r>
          </a:p>
        </p:txBody>
      </p:sp>
      <p:sp>
        <p:nvSpPr>
          <p:cNvPr id="634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534400" cy="4572000"/>
          </a:xfrm>
        </p:spPr>
        <p:txBody>
          <a:bodyPr/>
          <a:lstStyle/>
          <a:p>
            <a:r>
              <a:rPr lang="en-US"/>
              <a:t>USB host controller</a:t>
            </a:r>
          </a:p>
          <a:p>
            <a:pPr lvl="1"/>
            <a:r>
              <a:rPr lang="en-US"/>
              <a:t>Usually included in chipset </a:t>
            </a:r>
          </a:p>
          <a:p>
            <a:pPr lvl="1"/>
            <a:r>
              <a:rPr lang="en-US"/>
              <a:t>Manages communication on USB bus</a:t>
            </a:r>
          </a:p>
          <a:p>
            <a:pPr lvl="1"/>
            <a:r>
              <a:rPr lang="en-US"/>
              <a:t>Interfaces with the CPU along a single IRQ line</a:t>
            </a:r>
          </a:p>
          <a:p>
            <a:r>
              <a:rPr lang="en-US"/>
              <a:t>USB cabling</a:t>
            </a:r>
          </a:p>
          <a:p>
            <a:pPr lvl="1"/>
            <a:r>
              <a:rPr lang="en-US"/>
              <a:t>Daisy chain up to 127 USB devices using USB cables</a:t>
            </a:r>
          </a:p>
          <a:p>
            <a:pPr lvl="1"/>
            <a:r>
              <a:rPr lang="en-US"/>
              <a:t>USB cable has two power and two communication wires</a:t>
            </a:r>
          </a:p>
          <a:p>
            <a:pPr lvl="1"/>
            <a:r>
              <a:rPr lang="en-US"/>
              <a:t>Connectors: host end is A-Male, device end is B-male</a:t>
            </a:r>
          </a:p>
          <a:p>
            <a:pPr lvl="1"/>
            <a:r>
              <a:rPr lang="en-US"/>
              <a:t>Cables for Hi-Speed USB 2.0 can be up to 5 meters</a:t>
            </a:r>
          </a:p>
          <a:p>
            <a:pPr lvl="1"/>
            <a:r>
              <a:rPr lang="en-US"/>
              <a:t>Use a hub to increase distance from device to CPU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FD0B720-C272-408C-AD8A-5BC9A7A3D873}" type="slidenum">
              <a:rPr lang="en-US"/>
              <a:pPr/>
              <a:t>50</a:t>
            </a:fld>
            <a:endParaRPr lang="en-US"/>
          </a:p>
        </p:txBody>
      </p:sp>
      <p:pic>
        <p:nvPicPr>
          <p:cNvPr id="635909" name="Picture 5" descr="C09F04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24088" y="2373313"/>
            <a:ext cx="4694237" cy="2109787"/>
          </a:xfrm>
          <a:prstGeom prst="rect">
            <a:avLst/>
          </a:prstGeom>
          <a:noFill/>
        </p:spPr>
      </p:pic>
      <p:sp>
        <p:nvSpPr>
          <p:cNvPr id="635910" name="Rectangle 6"/>
          <p:cNvSpPr>
            <a:spLocks noChangeArrowheads="1"/>
          </p:cNvSpPr>
          <p:nvPr/>
        </p:nvSpPr>
        <p:spPr bwMode="auto">
          <a:xfrm>
            <a:off x="1447800" y="4800600"/>
            <a:ext cx="6781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pPr algn="l"/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9-46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The USB controller has a single IRQ line that it uses when any USB device needs attention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ED8783-5ED7-4D69-9866-CC1CD200DB57}" type="slidenum">
              <a:rPr lang="en-US"/>
              <a:pPr/>
              <a:t>51</a:t>
            </a:fld>
            <a:endParaRPr lang="en-US"/>
          </a:p>
        </p:txBody>
      </p:sp>
      <p:sp>
        <p:nvSpPr>
          <p:cNvPr id="636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USB Ports (continued)</a:t>
            </a:r>
          </a:p>
        </p:txBody>
      </p:sp>
      <p:sp>
        <p:nvSpPr>
          <p:cNvPr id="636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534400" cy="4572000"/>
          </a:xfrm>
        </p:spPr>
        <p:txBody>
          <a:bodyPr/>
          <a:lstStyle/>
          <a:p>
            <a:r>
              <a:rPr lang="en-US"/>
              <a:t>Components needed to install a USB device:</a:t>
            </a:r>
          </a:p>
          <a:p>
            <a:pPr lvl="1"/>
            <a:r>
              <a:rPr lang="en-US"/>
              <a:t>Motherboard or expansion card providing a USB port</a:t>
            </a:r>
          </a:p>
          <a:p>
            <a:pPr lvl="1"/>
            <a:r>
              <a:rPr lang="en-US"/>
              <a:t>An OS that supports USB</a:t>
            </a:r>
          </a:p>
          <a:p>
            <a:pPr lvl="1"/>
            <a:r>
              <a:rPr lang="en-US"/>
              <a:t>A USB device</a:t>
            </a:r>
          </a:p>
          <a:p>
            <a:pPr lvl="1"/>
            <a:r>
              <a:rPr lang="en-US"/>
              <a:t>A USB device driver</a:t>
            </a:r>
          </a:p>
          <a:p>
            <a:r>
              <a:rPr lang="en-US"/>
              <a:t>Read the device documentation prior to installation</a:t>
            </a:r>
          </a:p>
          <a:p>
            <a:r>
              <a:rPr lang="en-US"/>
              <a:t>Installing a USB scanner device</a:t>
            </a:r>
          </a:p>
          <a:p>
            <a:pPr lvl="1"/>
            <a:r>
              <a:rPr lang="en-US"/>
              <a:t>1. Verify USB host controller is installed under Windows</a:t>
            </a:r>
          </a:p>
          <a:p>
            <a:pPr lvl="1"/>
            <a:r>
              <a:rPr lang="en-US"/>
              <a:t>2. Plug in the USB device</a:t>
            </a:r>
          </a:p>
          <a:p>
            <a:pPr lvl="1"/>
            <a:r>
              <a:rPr lang="en-US"/>
              <a:t>3. Install the application software to use the device 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0048399-4F65-4EE1-9C6F-F7092C5E1731}" type="slidenum">
              <a:rPr lang="en-US"/>
              <a:pPr/>
              <a:t>52</a:t>
            </a:fld>
            <a:endParaRPr lang="en-US"/>
          </a:p>
        </p:txBody>
      </p:sp>
      <p:pic>
        <p:nvPicPr>
          <p:cNvPr id="637958" name="Picture 6" descr="C09F04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1066800"/>
            <a:ext cx="5237163" cy="3962400"/>
          </a:xfrm>
          <a:prstGeom prst="rect">
            <a:avLst/>
          </a:prstGeom>
          <a:noFill/>
        </p:spPr>
      </p:pic>
      <p:sp>
        <p:nvSpPr>
          <p:cNvPr id="637959" name="Rectangle 7"/>
          <p:cNvSpPr>
            <a:spLocks noChangeArrowheads="1"/>
          </p:cNvSpPr>
          <p:nvPr/>
        </p:nvSpPr>
        <p:spPr bwMode="auto">
          <a:xfrm>
            <a:off x="1524000" y="5257800"/>
            <a:ext cx="6400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pPr algn="l"/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9-47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Using Device Manager, verify that the USB controller is installed and working properly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596EF3B-5022-4CF9-9096-6D864E722E36}" type="slidenum">
              <a:rPr lang="en-US"/>
              <a:pPr/>
              <a:t>53</a:t>
            </a:fld>
            <a:endParaRPr lang="en-US"/>
          </a:p>
        </p:txBody>
      </p:sp>
      <p:sp>
        <p:nvSpPr>
          <p:cNvPr id="638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IEEE 1394 Ports</a:t>
            </a:r>
          </a:p>
        </p:txBody>
      </p:sp>
      <p:sp>
        <p:nvSpPr>
          <p:cNvPr id="638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229600" cy="4572000"/>
          </a:xfrm>
        </p:spPr>
        <p:txBody>
          <a:bodyPr/>
          <a:lstStyle/>
          <a:p>
            <a:r>
              <a:rPr lang="en-US"/>
              <a:t>Also called FireWire or i.Link</a:t>
            </a:r>
          </a:p>
          <a:p>
            <a:r>
              <a:rPr lang="en-US"/>
              <a:t>Essential features</a:t>
            </a:r>
          </a:p>
          <a:p>
            <a:pPr lvl="1"/>
            <a:r>
              <a:rPr lang="en-US"/>
              <a:t>Uses serial transmission of data like USB (but faster)</a:t>
            </a:r>
          </a:p>
          <a:p>
            <a:pPr lvl="2"/>
            <a:r>
              <a:rPr lang="en-US"/>
              <a:t>Isochronous transmission supports real-time data flow  </a:t>
            </a:r>
          </a:p>
          <a:p>
            <a:pPr lvl="1"/>
            <a:r>
              <a:rPr lang="en-US"/>
              <a:t>Easier to configure than SCSI </a:t>
            </a:r>
          </a:p>
          <a:p>
            <a:pPr lvl="1"/>
            <a:r>
              <a:rPr lang="en-US"/>
              <a:t>Devices are hot-pluggable and can be daisy chained</a:t>
            </a:r>
          </a:p>
          <a:p>
            <a:pPr lvl="1"/>
            <a:r>
              <a:rPr lang="en-US"/>
              <a:t>Host controller uses a single set of system resources</a:t>
            </a:r>
          </a:p>
          <a:p>
            <a:pPr lvl="1"/>
            <a:r>
              <a:rPr lang="en-US"/>
              <a:t>One host controller can support up to 63 devices</a:t>
            </a:r>
          </a:p>
          <a:p>
            <a:r>
              <a:rPr lang="en-US"/>
              <a:t>IEEE 1394 standards: 1394a, 1394b, 1394c(testing)</a:t>
            </a:r>
          </a:p>
          <a:p>
            <a:pPr lvl="1"/>
            <a:r>
              <a:rPr lang="en-US"/>
              <a:t>1394b (FireWire 800) supports speeds up to 3.2 Gbps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766F3B-500D-4F69-817E-29B829920870}" type="slidenum">
              <a:rPr lang="en-US"/>
              <a:pPr/>
              <a:t>54</a:t>
            </a:fld>
            <a:endParaRPr lang="en-US"/>
          </a:p>
        </p:txBody>
      </p:sp>
      <p:pic>
        <p:nvPicPr>
          <p:cNvPr id="640005" name="Picture 5" descr="C09F05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17713" y="2200275"/>
            <a:ext cx="5108575" cy="2457450"/>
          </a:xfrm>
          <a:prstGeom prst="rect">
            <a:avLst/>
          </a:prstGeom>
          <a:noFill/>
        </p:spPr>
      </p:pic>
      <p:sp>
        <p:nvSpPr>
          <p:cNvPr id="640006" name="Rectangle 6"/>
          <p:cNvSpPr>
            <a:spLocks noChangeArrowheads="1"/>
          </p:cNvSpPr>
          <p:nvPr/>
        </p:nvSpPr>
        <p:spPr bwMode="auto">
          <a:xfrm>
            <a:off x="1371600" y="4953000"/>
            <a:ext cx="6400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pPr algn="l"/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9-51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This 1394 adapter card supports both 1394a and 1394b and uses a 64-bit PCI bus connector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91F11F-98C1-47F4-B0C8-AA857965C6FB}" type="slidenum">
              <a:rPr lang="en-US"/>
              <a:pPr/>
              <a:t>55</a:t>
            </a:fld>
            <a:endParaRPr lang="en-US"/>
          </a:p>
        </p:txBody>
      </p:sp>
      <p:sp>
        <p:nvSpPr>
          <p:cNvPr id="64102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219200"/>
          </a:xfrm>
        </p:spPr>
        <p:txBody>
          <a:bodyPr/>
          <a:lstStyle/>
          <a:p>
            <a:r>
              <a:rPr lang="en-US"/>
              <a:t>Installing and Supporting Expansion Cards</a:t>
            </a:r>
          </a:p>
        </p:txBody>
      </p:sp>
      <p:sp>
        <p:nvSpPr>
          <p:cNvPr id="641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Typical slot provision on the motherboard</a:t>
            </a:r>
          </a:p>
          <a:p>
            <a:pPr lvl="1"/>
            <a:r>
              <a:rPr lang="en-US"/>
              <a:t>3 regular PCI slots and one slot for a video card</a:t>
            </a:r>
          </a:p>
          <a:p>
            <a:r>
              <a:rPr lang="en-US"/>
              <a:t>All expansion cards now use Plug and Play (PnP)</a:t>
            </a:r>
          </a:p>
          <a:p>
            <a:r>
              <a:rPr lang="en-US"/>
              <a:t>Selecting PCI cards</a:t>
            </a:r>
          </a:p>
          <a:p>
            <a:pPr lvl="1"/>
            <a:r>
              <a:rPr lang="en-US"/>
              <a:t>Be aware of the various standards</a:t>
            </a:r>
          </a:p>
          <a:p>
            <a:pPr lvl="1"/>
            <a:r>
              <a:rPr lang="en-US"/>
              <a:t>Match voltage requirements of card to slot </a:t>
            </a:r>
          </a:p>
          <a:p>
            <a:pPr lvl="1"/>
            <a:r>
              <a:rPr lang="en-US"/>
              <a:t>A 32-bit PCI card be installed in a 64-bit slot</a:t>
            </a:r>
          </a:p>
          <a:p>
            <a:pPr lvl="1"/>
            <a:r>
              <a:rPr lang="en-US"/>
              <a:t>PCI bus runs at the speed of the slowest PCI card</a:t>
            </a:r>
          </a:p>
          <a:p>
            <a:r>
              <a:rPr lang="en-US"/>
              <a:t>Modem: device interfacing PC to phone line</a:t>
            </a:r>
          </a:p>
          <a:p>
            <a:pPr lvl="1"/>
            <a:r>
              <a:rPr lang="en-US"/>
              <a:t>May be embedded component, PC card, or external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8A5AB0-833F-4F9B-854B-8B8B6A3B6750}" type="slidenum">
              <a:rPr lang="en-US"/>
              <a:pPr/>
              <a:t>56</a:t>
            </a:fld>
            <a:endParaRPr lang="en-US"/>
          </a:p>
        </p:txBody>
      </p:sp>
      <p:pic>
        <p:nvPicPr>
          <p:cNvPr id="642053" name="Picture 5" descr="C09F05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41513" y="1843088"/>
            <a:ext cx="5260975" cy="3170237"/>
          </a:xfrm>
          <a:prstGeom prst="rect">
            <a:avLst/>
          </a:prstGeom>
          <a:noFill/>
        </p:spPr>
      </p:pic>
      <p:sp>
        <p:nvSpPr>
          <p:cNvPr id="642054" name="Rectangle 6"/>
          <p:cNvSpPr>
            <a:spLocks noChangeArrowheads="1"/>
          </p:cNvSpPr>
          <p:nvPr/>
        </p:nvSpPr>
        <p:spPr bwMode="auto">
          <a:xfrm>
            <a:off x="1066800" y="5105400"/>
            <a:ext cx="7162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pPr algn="l"/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9-54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Asus P5AD2 motherboard with the MSI GeForce FX5750 video card installed in a PCI Express x16 slot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9C27C8-C61C-4C55-AD88-313E39FC2827}" type="slidenum">
              <a:rPr lang="en-US"/>
              <a:pPr/>
              <a:t>57</a:t>
            </a:fld>
            <a:endParaRPr lang="en-US"/>
          </a:p>
        </p:txBody>
      </p:sp>
      <p:sp>
        <p:nvSpPr>
          <p:cNvPr id="64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219200"/>
          </a:xfrm>
        </p:spPr>
        <p:txBody>
          <a:bodyPr/>
          <a:lstStyle/>
          <a:p>
            <a:r>
              <a:rPr lang="en-US"/>
              <a:t>Installing and Supporting Expansion Cards (continued)</a:t>
            </a:r>
          </a:p>
        </p:txBody>
      </p:sp>
      <p:sp>
        <p:nvSpPr>
          <p:cNvPr id="64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458200" cy="4572000"/>
          </a:xfrm>
        </p:spPr>
        <p:txBody>
          <a:bodyPr/>
          <a:lstStyle/>
          <a:p>
            <a:r>
              <a:rPr lang="en-US"/>
              <a:t>Overview of procedure for installing a modem card</a:t>
            </a:r>
          </a:p>
          <a:p>
            <a:pPr lvl="1"/>
            <a:r>
              <a:rPr lang="en-US"/>
              <a:t>Insert card into expansion slot </a:t>
            </a:r>
          </a:p>
          <a:p>
            <a:pPr lvl="1"/>
            <a:r>
              <a:rPr lang="en-US"/>
              <a:t>Plug telephone line from house into line jack on modem</a:t>
            </a:r>
          </a:p>
          <a:p>
            <a:pPr lvl="1"/>
            <a:r>
              <a:rPr lang="en-US"/>
              <a:t>Turn on PC to activate Plug and Play process</a:t>
            </a:r>
          </a:p>
          <a:p>
            <a:pPr lvl="1"/>
            <a:r>
              <a:rPr lang="en-US"/>
              <a:t>Follow instructions provided by Windows </a:t>
            </a:r>
          </a:p>
          <a:p>
            <a:pPr lvl="1"/>
            <a:r>
              <a:rPr lang="en-US"/>
              <a:t>Verify modem configuration using Device Manager</a:t>
            </a:r>
          </a:p>
          <a:p>
            <a:pPr lvl="1"/>
            <a:r>
              <a:rPr lang="en-US"/>
              <a:t>Test the modem</a:t>
            </a:r>
          </a:p>
          <a:p>
            <a:r>
              <a:rPr lang="en-US"/>
              <a:t>Supporting multiple PCI cards</a:t>
            </a:r>
          </a:p>
          <a:p>
            <a:pPr lvl="1"/>
            <a:r>
              <a:rPr lang="en-US"/>
              <a:t>PCI controller assigns interrupt levels to PCI cards</a:t>
            </a:r>
          </a:p>
          <a:p>
            <a:pPr lvl="1"/>
            <a:r>
              <a:rPr lang="en-US"/>
              <a:t>One IRQ line can service multiple cards   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4A0B7C-5C71-4D4D-94BE-6FEF0DA85651}" type="slidenum">
              <a:rPr lang="en-US"/>
              <a:pPr/>
              <a:t>58</a:t>
            </a:fld>
            <a:endParaRPr lang="en-US"/>
          </a:p>
        </p:txBody>
      </p:sp>
      <p:pic>
        <p:nvPicPr>
          <p:cNvPr id="644101" name="Picture 5" descr="C09F05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58975" y="1905000"/>
            <a:ext cx="5224463" cy="3048000"/>
          </a:xfrm>
          <a:prstGeom prst="rect">
            <a:avLst/>
          </a:prstGeom>
          <a:noFill/>
        </p:spPr>
      </p:pic>
      <p:sp>
        <p:nvSpPr>
          <p:cNvPr id="644102" name="Rectangle 6"/>
          <p:cNvSpPr>
            <a:spLocks noChangeArrowheads="1"/>
          </p:cNvSpPr>
          <p:nvPr/>
        </p:nvSpPr>
        <p:spPr bwMode="auto">
          <a:xfrm>
            <a:off x="1524000" y="5181600"/>
            <a:ext cx="6629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pPr algn="l"/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9-58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Use the Hardware Update Wizard to install the modem manufacturer drivers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765DC55-F393-47DC-9B8A-C4B380B04953}" type="slidenum">
              <a:rPr lang="en-US"/>
              <a:pPr/>
              <a:t>59</a:t>
            </a:fld>
            <a:endParaRPr lang="en-US"/>
          </a:p>
        </p:txBody>
      </p:sp>
      <p:sp>
        <p:nvSpPr>
          <p:cNvPr id="64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Troubleshooting I/O Devices</a:t>
            </a:r>
          </a:p>
        </p:txBody>
      </p:sp>
      <p:sp>
        <p:nvSpPr>
          <p:cNvPr id="64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General steps to follow:</a:t>
            </a:r>
          </a:p>
          <a:p>
            <a:pPr lvl="1"/>
            <a:r>
              <a:rPr lang="en-US"/>
              <a:t>1. Redo and recheck each step of the installation</a:t>
            </a:r>
          </a:p>
          <a:p>
            <a:pPr lvl="1"/>
            <a:r>
              <a:rPr lang="en-US"/>
              <a:t>2. Ask the user about recent changes in the system</a:t>
            </a:r>
          </a:p>
          <a:p>
            <a:pPr lvl="1"/>
            <a:r>
              <a:rPr lang="en-US"/>
              <a:t>3. Analyze the situation, try to isolate the problem</a:t>
            </a:r>
          </a:p>
          <a:p>
            <a:pPr lvl="1"/>
            <a:r>
              <a:rPr lang="en-US"/>
              <a:t>4. Check the simple things first; e.g., the on switch</a:t>
            </a:r>
          </a:p>
          <a:p>
            <a:pPr lvl="1"/>
            <a:r>
              <a:rPr lang="en-US"/>
              <a:t>5. Uninstall device through Device Manager, reboot</a:t>
            </a:r>
          </a:p>
          <a:p>
            <a:pPr lvl="1"/>
            <a:r>
              <a:rPr lang="en-US"/>
              <a:t>6. Exchange the device for a known working device</a:t>
            </a:r>
          </a:p>
          <a:p>
            <a:pPr lvl="1"/>
            <a:r>
              <a:rPr lang="en-US"/>
              <a:t>7. Document symptoms, source, and solution 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373A83-BDAC-4893-8351-99CAB451802C}" type="slidenum">
              <a:rPr lang="en-US"/>
              <a:pPr/>
              <a:t>60</a:t>
            </a:fld>
            <a:endParaRPr lang="en-US"/>
          </a:p>
        </p:txBody>
      </p:sp>
      <p:sp>
        <p:nvSpPr>
          <p:cNvPr id="64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Troubleshooting Keyboards</a:t>
            </a:r>
          </a:p>
        </p:txBody>
      </p:sp>
      <p:sp>
        <p:nvSpPr>
          <p:cNvPr id="64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648200"/>
          </a:xfrm>
        </p:spPr>
        <p:txBody>
          <a:bodyPr/>
          <a:lstStyle/>
          <a:p>
            <a:r>
              <a:rPr lang="en-US"/>
              <a:t>A few keys don’t work </a:t>
            </a:r>
          </a:p>
          <a:p>
            <a:pPr lvl="1"/>
            <a:r>
              <a:rPr lang="en-US"/>
              <a:t>Check the Num Lock key </a:t>
            </a:r>
          </a:p>
          <a:p>
            <a:r>
              <a:rPr lang="en-US"/>
              <a:t>The keyboard does not work at all</a:t>
            </a:r>
          </a:p>
          <a:p>
            <a:pPr lvl="1"/>
            <a:r>
              <a:rPr lang="en-US"/>
              <a:t>Check the cabling </a:t>
            </a:r>
          </a:p>
          <a:p>
            <a:r>
              <a:rPr lang="en-US"/>
              <a:t>Key continues to repeat after being released </a:t>
            </a:r>
          </a:p>
          <a:p>
            <a:pPr lvl="1"/>
            <a:r>
              <a:rPr lang="en-US"/>
              <a:t>Clean the key switch with contact cleaner</a:t>
            </a:r>
          </a:p>
          <a:p>
            <a:r>
              <a:rPr lang="en-US"/>
              <a:t>Keys produce wrong characters</a:t>
            </a:r>
          </a:p>
          <a:p>
            <a:pPr lvl="1"/>
            <a:r>
              <a:rPr lang="en-US"/>
              <a:t>If problem is due to a bad chip, replace the keyboard </a:t>
            </a:r>
          </a:p>
          <a:p>
            <a:r>
              <a:rPr lang="en-US"/>
              <a:t>Major spills on the keyboard</a:t>
            </a:r>
          </a:p>
          <a:p>
            <a:pPr lvl="1"/>
            <a:r>
              <a:rPr lang="en-US"/>
              <a:t>Try rinsing keyboard in water; reinstall after it dries 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924D653-618C-4669-B010-37999C5CC354}" type="slidenum">
              <a:rPr lang="en-US"/>
              <a:pPr/>
              <a:t>61</a:t>
            </a:fld>
            <a:endParaRPr lang="en-US"/>
          </a:p>
        </p:txBody>
      </p:sp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Troubleshooting a Touch Screen</a:t>
            </a:r>
          </a:p>
        </p:txBody>
      </p:sp>
      <p:sp>
        <p:nvSpPr>
          <p:cNvPr id="64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Check the touch screen cabling</a:t>
            </a:r>
          </a:p>
          <a:p>
            <a:r>
              <a:rPr lang="en-US"/>
              <a:t>Replace a screen with excessive scratches</a:t>
            </a:r>
          </a:p>
          <a:p>
            <a:r>
              <a:rPr lang="en-US"/>
              <a:t>Clean around the edges of a touch screen</a:t>
            </a:r>
          </a:p>
          <a:p>
            <a:r>
              <a:rPr lang="en-US"/>
              <a:t>Recalibrate the touch screen</a:t>
            </a:r>
          </a:p>
          <a:p>
            <a:r>
              <a:rPr lang="en-US"/>
              <a:t>Uninstall and reinstall the touch screen</a:t>
            </a:r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4D2260-E037-4946-9B27-7C9A48BEA390}" type="slidenum">
              <a:rPr lang="en-US"/>
              <a:pPr/>
              <a:t>62</a:t>
            </a:fld>
            <a:endParaRPr lang="en-US"/>
          </a:p>
        </p:txBody>
      </p:sp>
      <p:sp>
        <p:nvSpPr>
          <p:cNvPr id="64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Troubleshooting a Mouse or Touchpad</a:t>
            </a:r>
          </a:p>
        </p:txBody>
      </p:sp>
      <p:sp>
        <p:nvSpPr>
          <p:cNvPr id="64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305800" cy="4572000"/>
          </a:xfrm>
        </p:spPr>
        <p:txBody>
          <a:bodyPr/>
          <a:lstStyle/>
          <a:p>
            <a:r>
              <a:rPr lang="en-US"/>
              <a:t>Check the mouse port connection</a:t>
            </a:r>
          </a:p>
          <a:p>
            <a:r>
              <a:rPr lang="en-US"/>
              <a:t>Check for dust or dirt inside the mouse</a:t>
            </a:r>
          </a:p>
          <a:p>
            <a:r>
              <a:rPr lang="en-US"/>
              <a:t>Open the Control Panel Mouse applet, verify settings</a:t>
            </a:r>
          </a:p>
          <a:p>
            <a:r>
              <a:rPr lang="en-US"/>
              <a:t>Try a new mouse</a:t>
            </a:r>
          </a:p>
          <a:p>
            <a:r>
              <a:rPr lang="en-US"/>
              <a:t>Uninstall and reinstall the mouse driver</a:t>
            </a:r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389F0DD-779B-4BA5-925B-C11DEBB6C8EC}" type="slidenum">
              <a:rPr lang="en-US"/>
              <a:pPr/>
              <a:t>63</a:t>
            </a:fld>
            <a:endParaRPr lang="en-US"/>
          </a:p>
        </p:txBody>
      </p:sp>
      <p:sp>
        <p:nvSpPr>
          <p:cNvPr id="65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295400"/>
          </a:xfrm>
        </p:spPr>
        <p:txBody>
          <a:bodyPr/>
          <a:lstStyle/>
          <a:p>
            <a:r>
              <a:rPr lang="en-US"/>
              <a:t>Troubleshooting Monitors and Video Cards</a:t>
            </a:r>
          </a:p>
        </p:txBody>
      </p:sp>
      <p:sp>
        <p:nvSpPr>
          <p:cNvPr id="65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229600" cy="4648200"/>
          </a:xfrm>
        </p:spPr>
        <p:txBody>
          <a:bodyPr/>
          <a:lstStyle/>
          <a:p>
            <a:r>
              <a:rPr lang="en-US"/>
              <a:t>Power light (LED) does not go on; no picture</a:t>
            </a:r>
          </a:p>
          <a:p>
            <a:pPr lvl="1"/>
            <a:r>
              <a:rPr lang="en-US"/>
              <a:t>Verify that connection is tight and PC is turned on</a:t>
            </a:r>
          </a:p>
          <a:p>
            <a:r>
              <a:rPr lang="en-US"/>
              <a:t>Power light (LED) is on, no picture on power-up</a:t>
            </a:r>
          </a:p>
          <a:p>
            <a:pPr lvl="1"/>
            <a:r>
              <a:rPr lang="en-US"/>
              <a:t>Check contrast, brightness or backlight adjustment</a:t>
            </a:r>
          </a:p>
          <a:p>
            <a:r>
              <a:rPr lang="en-US"/>
              <a:t>Power light (LED) is on, wrong characters displayed</a:t>
            </a:r>
          </a:p>
          <a:p>
            <a:pPr lvl="1"/>
            <a:r>
              <a:rPr lang="en-US"/>
              <a:t>Exchange the video or motherboard</a:t>
            </a:r>
          </a:p>
          <a:p>
            <a:r>
              <a:rPr lang="en-US"/>
              <a:t>Monitor flickers, has wavy lines, or both</a:t>
            </a:r>
          </a:p>
          <a:p>
            <a:pPr lvl="1"/>
            <a:r>
              <a:rPr lang="en-US"/>
              <a:t>Check the cabling and the refresh rate</a:t>
            </a:r>
          </a:p>
          <a:p>
            <a:r>
              <a:rPr lang="en-US"/>
              <a:t>No graphics display or screen goes blank</a:t>
            </a:r>
          </a:p>
          <a:p>
            <a:pPr lvl="1"/>
            <a:r>
              <a:rPr lang="en-US"/>
              <a:t>Replace video card or add video RAM</a:t>
            </a:r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B1950B-BF24-4FE2-A265-692B9147CD6B}" type="slidenum">
              <a:rPr lang="en-US"/>
              <a:pPr/>
              <a:t>64</a:t>
            </a:fld>
            <a:endParaRPr lang="en-US"/>
          </a:p>
        </p:txBody>
      </p:sp>
      <p:pic>
        <p:nvPicPr>
          <p:cNvPr id="652293" name="Picture 5" descr="C09F064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3048000" y="1066800"/>
            <a:ext cx="3048000" cy="3713163"/>
          </a:xfrm>
          <a:prstGeom prst="rect">
            <a:avLst/>
          </a:prstGeom>
          <a:noFill/>
        </p:spPr>
      </p:pic>
      <p:sp>
        <p:nvSpPr>
          <p:cNvPr id="652294" name="Rectangle 6"/>
          <p:cNvSpPr>
            <a:spLocks noChangeArrowheads="1"/>
          </p:cNvSpPr>
          <p:nvPr/>
        </p:nvSpPr>
        <p:spPr bwMode="auto">
          <a:xfrm>
            <a:off x="1752600" y="5181600"/>
            <a:ext cx="6172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pPr algn="l"/>
            <a:r>
              <a:rPr lang="en-US" sz="1800" b="1">
                <a:solidFill>
                  <a:srgbClr val="222222"/>
                </a:solidFill>
                <a:latin typeface="Arial" charset="0"/>
              </a:rPr>
              <a:t>Figure 9-64 </a:t>
            </a:r>
            <a:r>
              <a:rPr lang="en-US" sz="1800">
                <a:solidFill>
                  <a:srgbClr val="222222"/>
                </a:solidFill>
                <a:latin typeface="Arial" charset="0"/>
              </a:rPr>
              <a:t>To reduce monitor flicker, increase the screen refresh rate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510F50-977B-4977-8162-9846F764FAFF}" type="slidenum">
              <a:rPr lang="en-US"/>
              <a:pPr/>
              <a:t>65</a:t>
            </a:fld>
            <a:endParaRPr lang="en-US"/>
          </a:p>
        </p:txBody>
      </p:sp>
      <p:sp>
        <p:nvSpPr>
          <p:cNvPr id="65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295400"/>
          </a:xfrm>
        </p:spPr>
        <p:txBody>
          <a:bodyPr/>
          <a:lstStyle/>
          <a:p>
            <a:r>
              <a:rPr lang="en-US"/>
              <a:t>Troubleshooting Monitors and Video Cards (continued)</a:t>
            </a:r>
          </a:p>
        </p:txBody>
      </p:sp>
      <p:sp>
        <p:nvSpPr>
          <p:cNvPr id="65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229600" cy="4648200"/>
          </a:xfrm>
        </p:spPr>
        <p:txBody>
          <a:bodyPr/>
          <a:lstStyle/>
          <a:p>
            <a:r>
              <a:rPr lang="en-US"/>
              <a:t>Screen goes blank after 30 seconds </a:t>
            </a:r>
          </a:p>
          <a:p>
            <a:pPr lvl="1"/>
            <a:r>
              <a:rPr lang="en-US"/>
              <a:t>Check configuration of power management</a:t>
            </a:r>
          </a:p>
          <a:p>
            <a:r>
              <a:rPr lang="en-US"/>
              <a:t>Poor color display</a:t>
            </a:r>
          </a:p>
          <a:p>
            <a:pPr lvl="1"/>
            <a:r>
              <a:rPr lang="en-US"/>
              <a:t>Exchange video cards or add more video RAM</a:t>
            </a:r>
          </a:p>
          <a:p>
            <a:r>
              <a:rPr lang="en-US"/>
              <a:t>Picture out of focus or out of adjustment</a:t>
            </a:r>
          </a:p>
          <a:p>
            <a:pPr lvl="1"/>
            <a:r>
              <a:rPr lang="en-US"/>
              <a:t>Check adjustment knobs or change refresh rate</a:t>
            </a:r>
          </a:p>
          <a:p>
            <a:r>
              <a:rPr lang="en-US"/>
              <a:t>Cracking sound</a:t>
            </a:r>
          </a:p>
          <a:p>
            <a:pPr lvl="1"/>
            <a:r>
              <a:rPr lang="en-US"/>
              <a:t>Trained technician should vacuum inside monitor</a:t>
            </a:r>
          </a:p>
          <a:p>
            <a:r>
              <a:rPr lang="en-US"/>
              <a:t>Display settings make the screen unreadable</a:t>
            </a:r>
          </a:p>
          <a:p>
            <a:pPr lvl="1"/>
            <a:r>
              <a:rPr lang="en-US"/>
              <a:t> Return to standard VGA settings; e.g., 640 x 480 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00B0D98-5DF0-445F-BC1E-CAC3073B339B}" type="slidenum">
              <a:rPr lang="en-US"/>
              <a:pPr/>
              <a:t>66</a:t>
            </a:fld>
            <a:endParaRPr lang="en-US"/>
          </a:p>
        </p:txBody>
      </p:sp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458200" cy="4572000"/>
          </a:xfrm>
        </p:spPr>
        <p:txBody>
          <a:bodyPr/>
          <a:lstStyle/>
          <a:p>
            <a:r>
              <a:rPr lang="en-US"/>
              <a:t>I/O (input/output) devices can be internal or external</a:t>
            </a:r>
          </a:p>
          <a:p>
            <a:r>
              <a:rPr lang="en-US"/>
              <a:t>Basic input devices: keyboard, mouse, touch screens</a:t>
            </a:r>
          </a:p>
          <a:p>
            <a:r>
              <a:rPr lang="en-US"/>
              <a:t>Specialty input: barcode readers, biometric devices</a:t>
            </a:r>
          </a:p>
          <a:p>
            <a:r>
              <a:rPr lang="en-US"/>
              <a:t>Output devices: CRT monitor, LCD monitor, projector</a:t>
            </a:r>
          </a:p>
          <a:p>
            <a:r>
              <a:rPr lang="en-US"/>
              <a:t>Video card: interfaces output device with PC system  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FFE221-0173-45F6-96DB-96DE3864A1C9}" type="slidenum">
              <a:rPr lang="en-US"/>
              <a:pPr/>
              <a:t>67</a:t>
            </a:fld>
            <a:endParaRPr lang="en-US"/>
          </a:p>
        </p:txBody>
      </p:sp>
      <p:sp>
        <p:nvSpPr>
          <p:cNvPr id="579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(continued)</a:t>
            </a:r>
          </a:p>
        </p:txBody>
      </p:sp>
      <p:sp>
        <p:nvSpPr>
          <p:cNvPr id="579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382000" cy="4572000"/>
          </a:xfrm>
        </p:spPr>
        <p:txBody>
          <a:bodyPr/>
          <a:lstStyle/>
          <a:p>
            <a:r>
              <a:rPr lang="en-US"/>
              <a:t>Graphics accelerators directly render images </a:t>
            </a:r>
          </a:p>
          <a:p>
            <a:r>
              <a:rPr lang="en-US"/>
              <a:t>Port types: serial, parallel, USB, FireWire </a:t>
            </a:r>
          </a:p>
          <a:p>
            <a:r>
              <a:rPr lang="en-US"/>
              <a:t>Serial and parallel ports are obsolescent technologies</a:t>
            </a:r>
          </a:p>
          <a:p>
            <a:r>
              <a:rPr lang="en-US"/>
              <a:t>Current port technologies: USB 2.0 and FireWire </a:t>
            </a:r>
          </a:p>
          <a:p>
            <a:r>
              <a:rPr lang="en-US"/>
              <a:t>All USB/FireWire devices are installed using PnP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FFFFFF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3971</Words>
  <Application>Microsoft Office PowerPoint</Application>
  <PresentationFormat>On-screen Show (4:3)</PresentationFormat>
  <Paragraphs>569</Paragraphs>
  <Slides>67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0" baseType="lpstr">
      <vt:lpstr>Times New Roman</vt:lpstr>
      <vt:lpstr>Arial</vt:lpstr>
      <vt:lpstr>Default Design</vt:lpstr>
      <vt:lpstr>A+ Guide to Managing and Maintaining your PC, 6e</vt:lpstr>
      <vt:lpstr>Objectives</vt:lpstr>
      <vt:lpstr>Objectives (continued)</vt:lpstr>
      <vt:lpstr>Introduction</vt:lpstr>
      <vt:lpstr>Basic Principles to Support I/O Devices</vt:lpstr>
      <vt:lpstr>Working with Keyboards</vt:lpstr>
      <vt:lpstr>Slide 7</vt:lpstr>
      <vt:lpstr>How Keyboard Keys Wok</vt:lpstr>
      <vt:lpstr>Keyboard Connectors</vt:lpstr>
      <vt:lpstr>Slide 10</vt:lpstr>
      <vt:lpstr>Installing Keyboards</vt:lpstr>
      <vt:lpstr>Cleaning the Keyboard</vt:lpstr>
      <vt:lpstr>The Mouse and Other Pointing Devices</vt:lpstr>
      <vt:lpstr>Slide 14</vt:lpstr>
      <vt:lpstr>Mouse Technologies</vt:lpstr>
      <vt:lpstr>Slide 16</vt:lpstr>
      <vt:lpstr>Mouse Technologies (continued)</vt:lpstr>
      <vt:lpstr>Cleaning a Mouse</vt:lpstr>
      <vt:lpstr>Touch Screens</vt:lpstr>
      <vt:lpstr>Other Pointing Devices</vt:lpstr>
      <vt:lpstr>Specialty Input Devices</vt:lpstr>
      <vt:lpstr>Barcode Readers</vt:lpstr>
      <vt:lpstr>Slide 23</vt:lpstr>
      <vt:lpstr>Fingerprint Readers and Other Biometric Devices</vt:lpstr>
      <vt:lpstr>Slide 25</vt:lpstr>
      <vt:lpstr>Monitors, Projectors, and Video Cards</vt:lpstr>
      <vt:lpstr>Monitors</vt:lpstr>
      <vt:lpstr>Slide 28</vt:lpstr>
      <vt:lpstr>Monitors (continued)</vt:lpstr>
      <vt:lpstr>Slide 30</vt:lpstr>
      <vt:lpstr>Monitors (continued)</vt:lpstr>
      <vt:lpstr>Using a Projector</vt:lpstr>
      <vt:lpstr>Slide 33</vt:lpstr>
      <vt:lpstr>Video Cards</vt:lpstr>
      <vt:lpstr>Slide 35</vt:lpstr>
      <vt:lpstr>Video Cards (continued)</vt:lpstr>
      <vt:lpstr>Slide 37</vt:lpstr>
      <vt:lpstr>Slide 38</vt:lpstr>
      <vt:lpstr>Video Cards (continued)</vt:lpstr>
      <vt:lpstr>Using Ports and Expansion Slots for Add-on Devices</vt:lpstr>
      <vt:lpstr>Slide 41</vt:lpstr>
      <vt:lpstr>Using Serial Ports</vt:lpstr>
      <vt:lpstr>Slide 43</vt:lpstr>
      <vt:lpstr>Slide 44</vt:lpstr>
      <vt:lpstr>Infrared Transceivers</vt:lpstr>
      <vt:lpstr>Using Parallel Ports</vt:lpstr>
      <vt:lpstr>Using USB Ports</vt:lpstr>
      <vt:lpstr>Slide 48</vt:lpstr>
      <vt:lpstr>Using USB Ports (continued)</vt:lpstr>
      <vt:lpstr>Slide 50</vt:lpstr>
      <vt:lpstr>Using USB Ports (continued)</vt:lpstr>
      <vt:lpstr>Slide 52</vt:lpstr>
      <vt:lpstr>Using IEEE 1394 Ports</vt:lpstr>
      <vt:lpstr>Slide 54</vt:lpstr>
      <vt:lpstr>Installing and Supporting Expansion Cards</vt:lpstr>
      <vt:lpstr>Slide 56</vt:lpstr>
      <vt:lpstr>Installing and Supporting Expansion Cards (continued)</vt:lpstr>
      <vt:lpstr>Slide 58</vt:lpstr>
      <vt:lpstr>Troubleshooting I/O Devices</vt:lpstr>
      <vt:lpstr>Troubleshooting Keyboards</vt:lpstr>
      <vt:lpstr>Troubleshooting a Touch Screen</vt:lpstr>
      <vt:lpstr>Troubleshooting a Mouse or Touchpad</vt:lpstr>
      <vt:lpstr>Troubleshooting Monitors and Video Cards</vt:lpstr>
      <vt:lpstr>Slide 64</vt:lpstr>
      <vt:lpstr>Troubleshooting Monitors and Video Cards (continued)</vt:lpstr>
      <vt:lpstr>Summary</vt:lpstr>
      <vt:lpstr>Summary (continued)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A+ Guide to Managing and Maintaining your PC, 6e</dc:title>
  <dc:creator/>
  <cp:lastModifiedBy/>
  <cp:revision>329</cp:revision>
  <dcterms:created xsi:type="dcterms:W3CDTF">2002-09-27T23:29:22Z</dcterms:created>
  <dcterms:modified xsi:type="dcterms:W3CDTF">2012-09-14T07:50:06Z</dcterms:modified>
</cp:coreProperties>
</file>