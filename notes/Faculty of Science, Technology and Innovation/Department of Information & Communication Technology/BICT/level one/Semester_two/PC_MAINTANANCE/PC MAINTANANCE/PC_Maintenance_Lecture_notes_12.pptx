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8" r:id="rId1"/>
  </p:sldMasterIdLst>
  <p:notesMasterIdLst>
    <p:notesMasterId r:id="rId67"/>
  </p:notesMasterIdLst>
  <p:handoutMasterIdLst>
    <p:handoutMasterId r:id="rId68"/>
  </p:handoutMasterIdLst>
  <p:sldIdLst>
    <p:sldId id="319" r:id="rId2"/>
    <p:sldId id="257" r:id="rId3"/>
    <p:sldId id="392" r:id="rId4"/>
    <p:sldId id="393" r:id="rId5"/>
    <p:sldId id="394" r:id="rId6"/>
    <p:sldId id="395" r:id="rId7"/>
    <p:sldId id="396" r:id="rId8"/>
    <p:sldId id="397" r:id="rId9"/>
    <p:sldId id="398" r:id="rId10"/>
    <p:sldId id="400" r:id="rId11"/>
    <p:sldId id="401" r:id="rId12"/>
    <p:sldId id="402" r:id="rId13"/>
    <p:sldId id="403" r:id="rId14"/>
    <p:sldId id="404" r:id="rId15"/>
    <p:sldId id="405" r:id="rId16"/>
    <p:sldId id="406" r:id="rId17"/>
    <p:sldId id="407" r:id="rId18"/>
    <p:sldId id="408" r:id="rId19"/>
    <p:sldId id="409" r:id="rId20"/>
    <p:sldId id="410" r:id="rId21"/>
    <p:sldId id="411" r:id="rId22"/>
    <p:sldId id="412" r:id="rId23"/>
    <p:sldId id="413" r:id="rId24"/>
    <p:sldId id="414" r:id="rId25"/>
    <p:sldId id="415" r:id="rId26"/>
    <p:sldId id="416" r:id="rId27"/>
    <p:sldId id="417" r:id="rId28"/>
    <p:sldId id="418" r:id="rId29"/>
    <p:sldId id="419" r:id="rId30"/>
    <p:sldId id="420" r:id="rId31"/>
    <p:sldId id="421" r:id="rId32"/>
    <p:sldId id="422" r:id="rId33"/>
    <p:sldId id="423" r:id="rId34"/>
    <p:sldId id="424" r:id="rId35"/>
    <p:sldId id="425" r:id="rId36"/>
    <p:sldId id="426" r:id="rId37"/>
    <p:sldId id="427" r:id="rId38"/>
    <p:sldId id="428" r:id="rId39"/>
    <p:sldId id="429" r:id="rId40"/>
    <p:sldId id="430" r:id="rId41"/>
    <p:sldId id="431" r:id="rId42"/>
    <p:sldId id="432" r:id="rId43"/>
    <p:sldId id="433" r:id="rId44"/>
    <p:sldId id="434" r:id="rId45"/>
    <p:sldId id="435" r:id="rId46"/>
    <p:sldId id="436" r:id="rId47"/>
    <p:sldId id="437" r:id="rId48"/>
    <p:sldId id="438" r:id="rId49"/>
    <p:sldId id="439" r:id="rId50"/>
    <p:sldId id="440" r:id="rId51"/>
    <p:sldId id="441" r:id="rId52"/>
    <p:sldId id="442" r:id="rId53"/>
    <p:sldId id="450" r:id="rId54"/>
    <p:sldId id="449" r:id="rId55"/>
    <p:sldId id="443" r:id="rId56"/>
    <p:sldId id="447" r:id="rId57"/>
    <p:sldId id="448" r:id="rId58"/>
    <p:sldId id="451" r:id="rId59"/>
    <p:sldId id="452" r:id="rId60"/>
    <p:sldId id="453" r:id="rId61"/>
    <p:sldId id="454" r:id="rId62"/>
    <p:sldId id="455" r:id="rId63"/>
    <p:sldId id="456" r:id="rId64"/>
    <p:sldId id="391" r:id="rId65"/>
    <p:sldId id="399" r:id="rId6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222"/>
    <a:srgbClr val="FFFFFF"/>
    <a:srgbClr val="18B2B6"/>
    <a:srgbClr val="0033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4" autoAdjust="0"/>
    <p:restoredTop sz="94595" autoAdjust="0"/>
  </p:normalViewPr>
  <p:slideViewPr>
    <p:cSldViewPr>
      <p:cViewPr varScale="1">
        <p:scale>
          <a:sx n="69" d="100"/>
          <a:sy n="69" d="100"/>
        </p:scale>
        <p:origin x="-135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922"/>
    </p:cViewPr>
  </p:sorterViewPr>
  <p:notesViewPr>
    <p:cSldViewPr>
      <p:cViewPr varScale="1">
        <p:scale>
          <a:sx n="70" d="100"/>
          <a:sy n="70" d="100"/>
        </p:scale>
        <p:origin x="-1422" y="-108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537FEBB-EBAE-44B0-AE2E-5F296432CE88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451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52095360-615A-4840-AEC7-75CD7F85F6EA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3681BE-4FFC-4912-83F7-B379FF83CBDF}" type="slidenum">
              <a:rPr lang="en-US"/>
              <a:pPr/>
              <a:t>1</a:t>
            </a:fld>
            <a:endParaRPr lang="en-US"/>
          </a:p>
        </p:txBody>
      </p:sp>
      <p:sp>
        <p:nvSpPr>
          <p:cNvPr id="20173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F60F59-F72B-4ACC-8631-367B431B81B7}" type="slidenum">
              <a:rPr lang="en-US"/>
              <a:pPr/>
              <a:t>2</a:t>
            </a:fld>
            <a:endParaRPr lang="en-US"/>
          </a:p>
        </p:txBody>
      </p:sp>
      <p:sp>
        <p:nvSpPr>
          <p:cNvPr id="6553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35337C-0A2D-46D6-8BFE-B0A69C9F11D2}" type="slidenum">
              <a:rPr lang="en-US"/>
              <a:pPr/>
              <a:t>64</a:t>
            </a:fld>
            <a:endParaRPr lang="en-US"/>
          </a:p>
        </p:txBody>
      </p:sp>
      <p:sp>
        <p:nvSpPr>
          <p:cNvPr id="28160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1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AB6248-5C13-4CD8-B97A-9D00FF712D19}" type="slidenum">
              <a:rPr lang="en-US"/>
              <a:pPr/>
              <a:t>65</a:t>
            </a:fld>
            <a:endParaRPr lang="en-US"/>
          </a:p>
        </p:txBody>
      </p:sp>
      <p:sp>
        <p:nvSpPr>
          <p:cNvPr id="58777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7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24200"/>
            <a:ext cx="7772400" cy="8382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248400" cy="990600"/>
          </a:xfrm>
        </p:spPr>
        <p:txBody>
          <a:bodyPr/>
          <a:lstStyle>
            <a:lvl1pPr marL="0" indent="0" algn="ctr">
              <a:buFontTx/>
              <a:buNone/>
              <a:defRPr sz="43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222222"/>
                </a:solidFill>
              </a:defRPr>
            </a:lvl1pPr>
          </a:lstStyle>
          <a:p>
            <a:r>
              <a:rPr lang="en-US"/>
              <a:t>Linux+ Guide to Linux Certification, Second Edition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 sz="1400">
                <a:latin typeface="Times New Roman" pitchFamily="18" charset="0"/>
              </a:defRPr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sz="1400">
                <a:latin typeface="Times New Roman" pitchFamily="18" charset="0"/>
              </a:defRPr>
            </a:lvl1pPr>
          </a:lstStyle>
          <a:p>
            <a:fld id="{189293C9-F857-43C3-AE22-F7AB8682252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BD6CD36-903C-4438-AD87-17C963DAE60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D7E4EBA-C229-476C-A5ED-35E9542DEE0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F794B6A-971E-476F-9B78-768671A5A1D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2812FA1-FD56-4D3B-B2A4-AC747ED85FC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71E6BC0-CA46-4733-9E60-790B8D4CCE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946E97D-1DF8-4A4A-9CFC-C03CDF1873F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C6018CA-D23B-4883-A821-E0D3CD18BC9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1923C3E-8DDE-499F-A306-80214B7069A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1A73C8F-CEF9-4014-AFAD-E4DAA34C8D6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73B9867-74FD-4AC7-A456-937197E3BF8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76400"/>
            <a:ext cx="80772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0"/>
            <a:ext cx="6858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500">
                <a:solidFill>
                  <a:srgbClr val="222222"/>
                </a:solidFill>
                <a:latin typeface="+mn-lt"/>
              </a:defRPr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391400" y="6324600"/>
            <a:ext cx="1219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500">
                <a:solidFill>
                  <a:srgbClr val="222222"/>
                </a:solidFill>
                <a:latin typeface="+mn-lt"/>
              </a:defRPr>
            </a:lvl1pPr>
          </a:lstStyle>
          <a:p>
            <a:fld id="{EE422762-30BA-4A61-B5E7-70A2C00DC572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600">
          <a:solidFill>
            <a:srgbClr val="22222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riverzone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609600" y="1447800"/>
            <a:ext cx="8001000" cy="2209800"/>
          </a:xfrm>
        </p:spPr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92163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609600" y="4419600"/>
            <a:ext cx="8077200" cy="1447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3400" b="0" i="1"/>
              <a:t>Chapter 12</a:t>
            </a:r>
          </a:p>
          <a:p>
            <a:pPr>
              <a:lnSpc>
                <a:spcPct val="90000"/>
              </a:lnSpc>
            </a:pPr>
            <a:r>
              <a:rPr lang="en-US" sz="3400" b="0" i="1"/>
              <a:t>Maintaining Windows 2000/XP</a:t>
            </a:r>
          </a:p>
        </p:txBody>
      </p:sp>
      <p:pic>
        <p:nvPicPr>
          <p:cNvPr id="92165" name="Picture 1029" descr="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3124200" cy="1143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8A47271-6FE8-4B88-898A-92A38D49072C}" type="slidenum">
              <a:rPr lang="en-US"/>
              <a:pPr/>
              <a:t>2</a:t>
            </a:fld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305800" cy="4572000"/>
          </a:xfrm>
        </p:spPr>
        <p:txBody>
          <a:bodyPr/>
          <a:lstStyle/>
          <a:p>
            <a:r>
              <a:rPr lang="en-US"/>
              <a:t>Learn how to install and manage hardware and applications using Windows 2000/XP</a:t>
            </a:r>
          </a:p>
          <a:p>
            <a:r>
              <a:rPr lang="en-US"/>
              <a:t>Learn how to protect and maintain Windows 2000/XP system files</a:t>
            </a:r>
          </a:p>
          <a:p>
            <a:r>
              <a:rPr lang="en-US"/>
              <a:t>Learn about the Windows 2000/XP registry</a:t>
            </a:r>
          </a:p>
          <a:p>
            <a:r>
              <a:rPr lang="en-US"/>
              <a:t>Learn how to optimize the Windows 2000/XP environment for best performance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25A0F7-C365-413B-8B9C-7761B21997FF}" type="slidenum">
              <a:rPr lang="en-US"/>
              <a:pPr/>
              <a:t>3</a:t>
            </a:fld>
            <a:endParaRPr lang="en-US"/>
          </a:p>
        </p:txBody>
      </p:sp>
      <p:sp>
        <p:nvSpPr>
          <p:cNvPr id="577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577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Topics to cover:</a:t>
            </a:r>
          </a:p>
          <a:p>
            <a:pPr lvl="1"/>
            <a:r>
              <a:rPr lang="en-US"/>
              <a:t>Installing and supporting hardware </a:t>
            </a:r>
          </a:p>
          <a:p>
            <a:pPr lvl="1"/>
            <a:r>
              <a:rPr lang="en-US"/>
              <a:t>Installing and supporting applications</a:t>
            </a:r>
          </a:p>
          <a:p>
            <a:pPr lvl="1"/>
            <a:r>
              <a:rPr lang="en-US"/>
              <a:t>Protecting and maintaining Windows system files</a:t>
            </a:r>
          </a:p>
          <a:p>
            <a:pPr lvl="1"/>
            <a:r>
              <a:rPr lang="en-US"/>
              <a:t>Optimizing the OS</a:t>
            </a:r>
          </a:p>
          <a:p>
            <a:pPr lvl="1"/>
            <a:r>
              <a:rPr lang="en-US"/>
              <a:t>Windows registry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A78F71-44A8-4934-88D6-18C371613AE5}" type="slidenum">
              <a:rPr lang="en-US"/>
              <a:pPr/>
              <a:t>4</a:t>
            </a:fld>
            <a:endParaRPr lang="en-US"/>
          </a:p>
        </p:txBody>
      </p:sp>
      <p:sp>
        <p:nvSpPr>
          <p:cNvPr id="578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Supporting Hardware and Applications</a:t>
            </a:r>
          </a:p>
        </p:txBody>
      </p:sp>
      <p:sp>
        <p:nvSpPr>
          <p:cNvPr id="578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305800" cy="4572000"/>
          </a:xfrm>
        </p:spPr>
        <p:txBody>
          <a:bodyPr/>
          <a:lstStyle/>
          <a:p>
            <a:r>
              <a:rPr lang="en-US"/>
              <a:t>Hard drives are installed in a unique way </a:t>
            </a:r>
          </a:p>
          <a:p>
            <a:r>
              <a:rPr lang="en-US"/>
              <a:t>Things to learn:</a:t>
            </a:r>
          </a:p>
          <a:p>
            <a:pPr lvl="1"/>
            <a:r>
              <a:rPr lang="en-US"/>
              <a:t>Special tools and methods used to install hard drives</a:t>
            </a:r>
          </a:p>
          <a:p>
            <a:pPr lvl="1"/>
            <a:r>
              <a:rPr lang="en-US"/>
              <a:t>How to troubleshoot problems with a hardware device</a:t>
            </a:r>
          </a:p>
          <a:p>
            <a:pPr lvl="1"/>
            <a:r>
              <a:rPr lang="en-US"/>
              <a:t>Installing applications, including legacy applications</a:t>
            </a:r>
          </a:p>
          <a:p>
            <a:pPr lvl="1"/>
            <a:r>
              <a:rPr lang="en-US"/>
              <a:t>Monitoring and managing hardware and applications 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29A098-6370-499E-8BD4-B82E31B8EB6F}" type="slidenum">
              <a:rPr lang="en-US"/>
              <a:pPr/>
              <a:t>5</a:t>
            </a:fld>
            <a:endParaRPr lang="en-US"/>
          </a:p>
        </p:txBody>
      </p:sp>
      <p:sp>
        <p:nvSpPr>
          <p:cNvPr id="579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Installing Hardware and Applications</a:t>
            </a:r>
          </a:p>
        </p:txBody>
      </p:sp>
      <p:sp>
        <p:nvSpPr>
          <p:cNvPr id="579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382000" cy="4572000"/>
          </a:xfrm>
        </p:spPr>
        <p:txBody>
          <a:bodyPr/>
          <a:lstStyle/>
          <a:p>
            <a:r>
              <a:rPr lang="en-US"/>
              <a:t>Administrator privileges needed for most installations</a:t>
            </a:r>
          </a:p>
          <a:p>
            <a:r>
              <a:rPr lang="en-US"/>
              <a:t>Any user can install device under certain conditions:</a:t>
            </a:r>
          </a:p>
          <a:p>
            <a:pPr lvl="1"/>
            <a:r>
              <a:rPr lang="en-US"/>
              <a:t>Device drivers can be installed without user input</a:t>
            </a:r>
          </a:p>
          <a:p>
            <a:pPr lvl="1"/>
            <a:r>
              <a:rPr lang="en-US"/>
              <a:t>All files necessary for complete installation are present</a:t>
            </a:r>
          </a:p>
          <a:p>
            <a:pPr lvl="1"/>
            <a:r>
              <a:rPr lang="en-US"/>
              <a:t>The drivers have been digitally signed</a:t>
            </a:r>
          </a:p>
          <a:p>
            <a:pPr lvl="1"/>
            <a:r>
              <a:rPr lang="en-US"/>
              <a:t>There are no errors during installation</a:t>
            </a:r>
          </a:p>
          <a:p>
            <a:r>
              <a:rPr lang="en-US"/>
              <a:t>Recommendation: use drivers written for the OS</a:t>
            </a:r>
          </a:p>
          <a:p>
            <a:pPr lvl="1"/>
            <a:r>
              <a:rPr lang="en-US"/>
              <a:t>Drivers are usually on CDs bundled with the device</a:t>
            </a:r>
          </a:p>
          <a:p>
            <a:pPr lvl="1"/>
            <a:r>
              <a:rPr lang="en-US"/>
              <a:t>Manufacturer’s Web site is a source of drivers</a:t>
            </a:r>
          </a:p>
          <a:p>
            <a:pPr lvl="1"/>
            <a:r>
              <a:rPr lang="en-US"/>
              <a:t>Other sites have drivers; e.g., </a:t>
            </a:r>
            <a:r>
              <a:rPr lang="en-US">
                <a:hlinkClick r:id="rId2"/>
              </a:rPr>
              <a:t>www.driverzone.com</a:t>
            </a:r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8053A1F-1DCF-4EF7-8DAA-A42544407811}" type="slidenum">
              <a:rPr lang="en-US"/>
              <a:pPr/>
              <a:t>6</a:t>
            </a:fld>
            <a:endParaRPr lang="en-US"/>
          </a:p>
        </p:txBody>
      </p:sp>
      <p:sp>
        <p:nvSpPr>
          <p:cNvPr id="5816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304800"/>
            <a:ext cx="8077200" cy="1371600"/>
          </a:xfrm>
        </p:spPr>
        <p:txBody>
          <a:bodyPr/>
          <a:lstStyle/>
          <a:p>
            <a:r>
              <a:rPr lang="en-US"/>
              <a:t>Installing Hardware and Applications (continued)</a:t>
            </a:r>
          </a:p>
        </p:txBody>
      </p:sp>
      <p:sp>
        <p:nvSpPr>
          <p:cNvPr id="5816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905000"/>
            <a:ext cx="8382000" cy="4267200"/>
          </a:xfrm>
        </p:spPr>
        <p:txBody>
          <a:bodyPr/>
          <a:lstStyle/>
          <a:p>
            <a:r>
              <a:rPr lang="en-US"/>
              <a:t>General directions for installing a hardware device</a:t>
            </a:r>
          </a:p>
          <a:p>
            <a:pPr lvl="1"/>
            <a:r>
              <a:rPr lang="en-US"/>
              <a:t>Download driver files to your hard drive (if necessary)</a:t>
            </a:r>
          </a:p>
          <a:p>
            <a:pPr lvl="1"/>
            <a:r>
              <a:rPr lang="en-US"/>
              <a:t>Determine if driver should be installed before device</a:t>
            </a:r>
          </a:p>
          <a:p>
            <a:pPr lvl="1"/>
            <a:r>
              <a:rPr lang="en-US"/>
              <a:t>If driver needs to be installed first, run setup program</a:t>
            </a:r>
          </a:p>
          <a:p>
            <a:r>
              <a:rPr lang="en-US"/>
              <a:t>Steps to install a hardware device using Windows XP</a:t>
            </a:r>
          </a:p>
          <a:p>
            <a:pPr lvl="1"/>
            <a:r>
              <a:rPr lang="en-US"/>
              <a:t>If device installed first, plug in device and turn on PC</a:t>
            </a:r>
          </a:p>
          <a:p>
            <a:pPr lvl="1"/>
            <a:r>
              <a:rPr lang="en-US"/>
              <a:t>After Wizard appears, pick automatic driver installation</a:t>
            </a:r>
          </a:p>
          <a:p>
            <a:pPr lvl="1"/>
            <a:r>
              <a:rPr lang="en-US"/>
              <a:t>Instruct Wizard to locate and install drivers </a:t>
            </a:r>
          </a:p>
          <a:p>
            <a:pPr lvl="1"/>
            <a:r>
              <a:rPr lang="en-US"/>
              <a:t>Check for errors and then test the device 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C8E63C-9096-4004-8138-F54B460645CF}" type="slidenum">
              <a:rPr lang="en-US"/>
              <a:pPr/>
              <a:t>7</a:t>
            </a:fld>
            <a:endParaRPr lang="en-US"/>
          </a:p>
        </p:txBody>
      </p:sp>
      <p:pic>
        <p:nvPicPr>
          <p:cNvPr id="582662" name="Picture 6" descr="C12F005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2763838" y="1676400"/>
            <a:ext cx="3614737" cy="3160713"/>
          </a:xfrm>
          <a:prstGeom prst="rect">
            <a:avLst/>
          </a:prstGeom>
          <a:noFill/>
        </p:spPr>
      </p:pic>
      <p:sp>
        <p:nvSpPr>
          <p:cNvPr id="582663" name="Rectangle 7"/>
          <p:cNvSpPr>
            <a:spLocks noChangeArrowheads="1"/>
          </p:cNvSpPr>
          <p:nvPr/>
        </p:nvSpPr>
        <p:spPr bwMode="auto">
          <a:xfrm>
            <a:off x="0" y="5334000"/>
            <a:ext cx="8858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b" anchorCtr="1"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12-5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The Found New Hardware Wizard asks for directions to locate driver files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E9BE62-07BF-4864-99DF-CF642E2FA3A1}" type="slidenum">
              <a:rPr lang="en-US"/>
              <a:pPr/>
              <a:t>8</a:t>
            </a:fld>
            <a:endParaRPr lang="en-US"/>
          </a:p>
        </p:txBody>
      </p:sp>
      <p:sp>
        <p:nvSpPr>
          <p:cNvPr id="5836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304800"/>
            <a:ext cx="8077200" cy="1371600"/>
          </a:xfrm>
        </p:spPr>
        <p:txBody>
          <a:bodyPr/>
          <a:lstStyle/>
          <a:p>
            <a:r>
              <a:rPr lang="en-US"/>
              <a:t>Installing Hardware and Applications (continued)</a:t>
            </a:r>
          </a:p>
        </p:txBody>
      </p:sp>
      <p:sp>
        <p:nvSpPr>
          <p:cNvPr id="5836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905000"/>
            <a:ext cx="8382000" cy="4267200"/>
          </a:xfrm>
        </p:spPr>
        <p:txBody>
          <a:bodyPr/>
          <a:lstStyle/>
          <a:p>
            <a:r>
              <a:rPr lang="en-US"/>
              <a:t>XP may automatically install a Microsoft driver </a:t>
            </a:r>
          </a:p>
          <a:p>
            <a:pPr lvl="1"/>
            <a:r>
              <a:rPr lang="en-US"/>
              <a:t>Prevent this action by running setup program</a:t>
            </a:r>
          </a:p>
          <a:p>
            <a:pPr lvl="1"/>
            <a:r>
              <a:rPr lang="en-US"/>
              <a:t>After the fact, use Device Manager to update driver</a:t>
            </a:r>
          </a:p>
          <a:p>
            <a:r>
              <a:rPr lang="en-US"/>
              <a:t>Steps to install a device using Windows 2000</a:t>
            </a:r>
          </a:p>
          <a:p>
            <a:pPr lvl="1"/>
            <a:r>
              <a:rPr lang="en-US"/>
              <a:t>Run the setup CD or physically install the device</a:t>
            </a:r>
          </a:p>
          <a:p>
            <a:pPr lvl="1"/>
            <a:r>
              <a:rPr lang="en-US"/>
              <a:t>The Found New Hardware Wizard dialog appears </a:t>
            </a:r>
          </a:p>
          <a:p>
            <a:pPr lvl="1"/>
            <a:r>
              <a:rPr lang="en-US"/>
              <a:t>Choose whether to search for a device or display a list </a:t>
            </a:r>
          </a:p>
          <a:p>
            <a:pPr lvl="1"/>
            <a:r>
              <a:rPr lang="en-US"/>
              <a:t>If necessary, specify a search location </a:t>
            </a:r>
          </a:p>
          <a:p>
            <a:pPr lvl="1"/>
            <a:r>
              <a:rPr lang="en-US"/>
              <a:t>Allow Windows 2000 to complete the installation   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B54F21-0AFA-42CE-8DEE-9A9D60FE9383}" type="slidenum">
              <a:rPr lang="en-US"/>
              <a:pPr/>
              <a:t>9</a:t>
            </a:fld>
            <a:endParaRPr lang="en-US"/>
          </a:p>
        </p:txBody>
      </p:sp>
      <p:pic>
        <p:nvPicPr>
          <p:cNvPr id="584709" name="Picture 5" descr="C12F010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1905000" y="2252663"/>
            <a:ext cx="5334000" cy="2352675"/>
          </a:xfrm>
          <a:prstGeom prst="rect">
            <a:avLst/>
          </a:prstGeom>
          <a:noFill/>
        </p:spPr>
      </p:pic>
      <p:sp>
        <p:nvSpPr>
          <p:cNvPr id="584710" name="Rectangle 6"/>
          <p:cNvSpPr>
            <a:spLocks noChangeArrowheads="1"/>
          </p:cNvSpPr>
          <p:nvPr/>
        </p:nvSpPr>
        <p:spPr bwMode="auto">
          <a:xfrm>
            <a:off x="0" y="5105400"/>
            <a:ext cx="914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12-10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Point to the location of driver files for a new device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3F40B4-4339-4895-B655-CC3EA64C9880}" type="slidenum">
              <a:rPr lang="en-US"/>
              <a:pPr/>
              <a:t>10</a:t>
            </a:fld>
            <a:endParaRPr lang="en-US"/>
          </a:p>
        </p:txBody>
      </p:sp>
      <p:sp>
        <p:nvSpPr>
          <p:cNvPr id="588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Preparing a Hard Drive for First Use</a:t>
            </a:r>
          </a:p>
        </p:txBody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305800" cy="4572000"/>
          </a:xfrm>
        </p:spPr>
        <p:txBody>
          <a:bodyPr/>
          <a:lstStyle/>
          <a:p>
            <a:r>
              <a:rPr lang="en-US"/>
              <a:t>OS tools to partition and format a hard drive:</a:t>
            </a:r>
          </a:p>
          <a:p>
            <a:pPr lvl="1"/>
            <a:r>
              <a:rPr lang="en-US"/>
              <a:t>During installation: use Windows setup program</a:t>
            </a:r>
          </a:p>
          <a:p>
            <a:pPr lvl="1"/>
            <a:r>
              <a:rPr lang="en-US"/>
              <a:t>Programs to use after installation: </a:t>
            </a:r>
          </a:p>
          <a:p>
            <a:pPr lvl="2"/>
            <a:r>
              <a:rPr lang="en-US"/>
              <a:t>Disk Management, Windows Explorer, Diskpart, Format</a:t>
            </a:r>
          </a:p>
          <a:p>
            <a:pPr lvl="1"/>
            <a:r>
              <a:rPr lang="en-US"/>
              <a:t>Third-party software can be used; e.g., PartitionMagic</a:t>
            </a:r>
          </a:p>
          <a:p>
            <a:r>
              <a:rPr lang="en-US"/>
              <a:t>Reasons to partition and format a hard drive:</a:t>
            </a:r>
          </a:p>
          <a:p>
            <a:pPr lvl="1"/>
            <a:r>
              <a:rPr lang="en-US"/>
              <a:t>Preparation for first time use (required)</a:t>
            </a:r>
          </a:p>
          <a:p>
            <a:pPr lvl="1"/>
            <a:r>
              <a:rPr lang="en-US"/>
              <a:t>To overwrite an existing partition that is error-prone</a:t>
            </a:r>
          </a:p>
          <a:p>
            <a:pPr lvl="1"/>
            <a:r>
              <a:rPr lang="en-US"/>
              <a:t>Backup a drive that is infected with a virus</a:t>
            </a:r>
          </a:p>
          <a:p>
            <a:pPr lvl="1"/>
            <a:r>
              <a:rPr lang="en-US"/>
              <a:t>Wipe a hard drive clean and install a new 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B1B983-AD75-4D1A-BFB4-7A52736ADE2D}" type="slidenum">
              <a:rPr lang="en-US"/>
              <a:pPr/>
              <a:t>11</a:t>
            </a:fld>
            <a:endParaRPr lang="en-US"/>
          </a:p>
        </p:txBody>
      </p:sp>
      <p:sp>
        <p:nvSpPr>
          <p:cNvPr id="58982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1295400"/>
          </a:xfrm>
        </p:spPr>
        <p:txBody>
          <a:bodyPr/>
          <a:lstStyle/>
          <a:p>
            <a:r>
              <a:rPr lang="en-US"/>
              <a:t>Preparing a Hard Drive for First Use (continued)</a:t>
            </a: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828800"/>
            <a:ext cx="8305800" cy="4419600"/>
          </a:xfrm>
        </p:spPr>
        <p:txBody>
          <a:bodyPr/>
          <a:lstStyle/>
          <a:p>
            <a:r>
              <a:rPr lang="en-US"/>
              <a:t>Disk Management graphical user interface:</a:t>
            </a:r>
          </a:p>
          <a:p>
            <a:pPr lvl="1"/>
            <a:r>
              <a:rPr lang="en-US"/>
              <a:t>Used to create partitions and format logical drives</a:t>
            </a:r>
          </a:p>
          <a:p>
            <a:pPr lvl="1"/>
            <a:r>
              <a:rPr lang="en-US"/>
              <a:t>Can create volumes on dynamic disks </a:t>
            </a:r>
          </a:p>
          <a:p>
            <a:pPr lvl="1"/>
            <a:r>
              <a:rPr lang="en-US"/>
              <a:t>Can also convert a basic disk to a dynamic disk</a:t>
            </a:r>
          </a:p>
          <a:p>
            <a:r>
              <a:rPr lang="en-US"/>
              <a:t>Two ways to access the Disk Management utility</a:t>
            </a:r>
          </a:p>
          <a:p>
            <a:pPr lvl="1"/>
            <a:r>
              <a:rPr lang="en-US"/>
              <a:t>Control Panel </a:t>
            </a:r>
            <a:r>
              <a:rPr lang="en-US">
                <a:sym typeface="Wingdings" pitchFamily="2" charset="2"/>
              </a:rPr>
              <a:t>Administrative ToolsComputer ManagementDisk Management</a:t>
            </a:r>
            <a:endParaRPr lang="en-US"/>
          </a:p>
          <a:p>
            <a:pPr lvl="1"/>
            <a:r>
              <a:rPr lang="en-US"/>
              <a:t>Enter Diskmgmt.msc in Run dialog box </a:t>
            </a:r>
          </a:p>
          <a:p>
            <a:endParaRPr lang="en-US"/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B52180C-744C-48D3-9FB8-19CD9B1C15CD}" type="slidenum">
              <a:rPr lang="en-US"/>
              <a:pPr/>
              <a:t>12</a:t>
            </a:fld>
            <a:endParaRPr lang="en-US"/>
          </a:p>
        </p:txBody>
      </p:sp>
      <p:pic>
        <p:nvPicPr>
          <p:cNvPr id="590853" name="Picture 5" descr="C12F014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1895475" y="2057400"/>
            <a:ext cx="5353050" cy="2520950"/>
          </a:xfrm>
          <a:prstGeom prst="rect">
            <a:avLst/>
          </a:prstGeom>
          <a:noFill/>
        </p:spPr>
      </p:pic>
      <p:sp>
        <p:nvSpPr>
          <p:cNvPr id="590854" name="Rectangle 6"/>
          <p:cNvSpPr>
            <a:spLocks noChangeArrowheads="1"/>
          </p:cNvSpPr>
          <p:nvPr/>
        </p:nvSpPr>
        <p:spPr bwMode="auto">
          <a:xfrm>
            <a:off x="0" y="5105400"/>
            <a:ext cx="914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12-14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This one hard drive has three partitions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C47020A-0931-44C1-9E49-2F7538A202DA}" type="slidenum">
              <a:rPr lang="en-US"/>
              <a:pPr/>
              <a:t>13</a:t>
            </a:fld>
            <a:endParaRPr lang="en-US"/>
          </a:p>
        </p:txBody>
      </p:sp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1295400"/>
          </a:xfrm>
        </p:spPr>
        <p:txBody>
          <a:bodyPr/>
          <a:lstStyle/>
          <a:p>
            <a:r>
              <a:rPr lang="en-US"/>
              <a:t>Preparing a Hard Drive for First Use (continued)</a:t>
            </a:r>
          </a:p>
        </p:txBody>
      </p:sp>
      <p:sp>
        <p:nvSpPr>
          <p:cNvPr id="591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828800"/>
            <a:ext cx="8305800" cy="4419600"/>
          </a:xfrm>
        </p:spPr>
        <p:txBody>
          <a:bodyPr/>
          <a:lstStyle/>
          <a:p>
            <a:r>
              <a:rPr lang="en-US"/>
              <a:t>Partitioning and formatting with Disk Management </a:t>
            </a:r>
          </a:p>
          <a:p>
            <a:pPr lvl="1"/>
            <a:r>
              <a:rPr lang="en-US"/>
              <a:t>After opening utility, right-click a new drive</a:t>
            </a:r>
          </a:p>
          <a:p>
            <a:pPr lvl="1"/>
            <a:r>
              <a:rPr lang="en-US"/>
              <a:t>Select New Partition to launch New Partition Wizard</a:t>
            </a:r>
          </a:p>
          <a:p>
            <a:pPr lvl="1"/>
            <a:r>
              <a:rPr lang="en-US"/>
              <a:t>Choose Primary partition and then click Next</a:t>
            </a:r>
          </a:p>
          <a:p>
            <a:pPr lvl="1"/>
            <a:r>
              <a:rPr lang="en-US"/>
              <a:t>Allocate space for the partition</a:t>
            </a:r>
          </a:p>
          <a:p>
            <a:pPr lvl="1"/>
            <a:r>
              <a:rPr lang="en-US"/>
              <a:t>Choose drive letter, file system, and volume name</a:t>
            </a:r>
          </a:p>
          <a:p>
            <a:pPr lvl="1"/>
            <a:r>
              <a:rPr lang="en-US"/>
              <a:t>Test the new drive by creating and using a folder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7FC232-400A-4CB9-B077-9A490DE87BB4}" type="slidenum">
              <a:rPr lang="en-US"/>
              <a:pPr/>
              <a:t>14</a:t>
            </a:fld>
            <a:endParaRPr lang="en-US"/>
          </a:p>
        </p:txBody>
      </p:sp>
      <p:pic>
        <p:nvPicPr>
          <p:cNvPr id="592901" name="Picture 5" descr="C12F016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2767013" y="2020888"/>
            <a:ext cx="3608387" cy="2816225"/>
          </a:xfrm>
          <a:prstGeom prst="rect">
            <a:avLst/>
          </a:prstGeom>
          <a:noFill/>
        </p:spPr>
      </p:pic>
      <p:sp>
        <p:nvSpPr>
          <p:cNvPr id="592902" name="Rectangle 6"/>
          <p:cNvSpPr>
            <a:spLocks noChangeArrowheads="1"/>
          </p:cNvSpPr>
          <p:nvPr/>
        </p:nvSpPr>
        <p:spPr bwMode="auto">
          <a:xfrm>
            <a:off x="0" y="5105400"/>
            <a:ext cx="914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12-16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The first partition on a hard drive should be the primary partition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65FF910-88B3-4572-B043-2DCBF1357937}" type="slidenum">
              <a:rPr lang="en-US"/>
              <a:pPr/>
              <a:t>15</a:t>
            </a:fld>
            <a:endParaRPr lang="en-US"/>
          </a:p>
        </p:txBody>
      </p:sp>
      <p:pic>
        <p:nvPicPr>
          <p:cNvPr id="593924" name="Picture 4" descr="C12F017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1905000" y="1682750"/>
            <a:ext cx="5334000" cy="3492500"/>
          </a:xfrm>
          <a:prstGeom prst="rect">
            <a:avLst/>
          </a:prstGeom>
          <a:noFill/>
        </p:spPr>
      </p:pic>
      <p:sp>
        <p:nvSpPr>
          <p:cNvPr id="593925" name="Rectangle 5"/>
          <p:cNvSpPr>
            <a:spLocks noChangeArrowheads="1"/>
          </p:cNvSpPr>
          <p:nvPr/>
        </p:nvSpPr>
        <p:spPr bwMode="auto">
          <a:xfrm>
            <a:off x="0" y="5562600"/>
            <a:ext cx="914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12-17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One partition created and formatted on the new hard drive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44404D-E9D4-43A8-8F5A-11A5A6440591}" type="slidenum">
              <a:rPr lang="en-US"/>
              <a:pPr/>
              <a:t>16</a:t>
            </a:fld>
            <a:endParaRPr lang="en-US"/>
          </a:p>
        </p:txBody>
      </p:sp>
      <p:sp>
        <p:nvSpPr>
          <p:cNvPr id="5949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1219200"/>
          </a:xfrm>
        </p:spPr>
        <p:txBody>
          <a:bodyPr/>
          <a:lstStyle/>
          <a:p>
            <a:r>
              <a:rPr lang="en-US"/>
              <a:t>Solving Hardware Problems Using Windows 2000/XP</a:t>
            </a:r>
          </a:p>
        </p:txBody>
      </p:sp>
      <p:sp>
        <p:nvSpPr>
          <p:cNvPr id="594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752600"/>
            <a:ext cx="8077200" cy="4495800"/>
          </a:xfrm>
        </p:spPr>
        <p:txBody>
          <a:bodyPr/>
          <a:lstStyle/>
          <a:p>
            <a:r>
              <a:rPr lang="en-US"/>
              <a:t>Preparatory steps</a:t>
            </a:r>
          </a:p>
          <a:p>
            <a:pPr lvl="1"/>
            <a:r>
              <a:rPr lang="en-US"/>
              <a:t>Question the user</a:t>
            </a:r>
          </a:p>
          <a:p>
            <a:pPr lvl="1"/>
            <a:r>
              <a:rPr lang="en-US"/>
              <a:t>Identify recent changes to the system</a:t>
            </a:r>
          </a:p>
          <a:p>
            <a:pPr lvl="1"/>
            <a:r>
              <a:rPr lang="en-US"/>
              <a:t>Make an initial determination of the problem</a:t>
            </a:r>
          </a:p>
          <a:p>
            <a:pPr lvl="1"/>
            <a:r>
              <a:rPr lang="en-US"/>
              <a:t>Document symptoms, actions taken, and outcome</a:t>
            </a:r>
          </a:p>
          <a:p>
            <a:r>
              <a:rPr lang="en-US"/>
              <a:t>Some corrective measures </a:t>
            </a:r>
          </a:p>
          <a:p>
            <a:pPr lvl="1"/>
            <a:r>
              <a:rPr lang="en-US"/>
              <a:t>Try a simple reboot</a:t>
            </a:r>
          </a:p>
          <a:p>
            <a:pPr lvl="1"/>
            <a:r>
              <a:rPr lang="en-US"/>
              <a:t>Uninstall the device, reboot and reinstall drivers</a:t>
            </a:r>
          </a:p>
          <a:p>
            <a:pPr lvl="1"/>
            <a:r>
              <a:rPr lang="en-US"/>
              <a:t>Update device drivers</a:t>
            </a:r>
          </a:p>
          <a:p>
            <a:pPr lvl="1"/>
            <a:r>
              <a:rPr lang="en-US"/>
              <a:t>Return to an earlier restore point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70E2B6-AC07-42F9-9C40-B799B6695696}" type="slidenum">
              <a:rPr lang="en-US"/>
              <a:pPr/>
              <a:t>17</a:t>
            </a:fld>
            <a:endParaRPr lang="en-US"/>
          </a:p>
        </p:txBody>
      </p:sp>
      <p:pic>
        <p:nvPicPr>
          <p:cNvPr id="595973" name="Picture 5" descr="C12F018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2057400" y="1633538"/>
            <a:ext cx="5029200" cy="3590925"/>
          </a:xfrm>
          <a:prstGeom prst="rect">
            <a:avLst/>
          </a:prstGeom>
          <a:noFill/>
        </p:spPr>
      </p:pic>
      <p:sp>
        <p:nvSpPr>
          <p:cNvPr id="595974" name="Rectangle 6"/>
          <p:cNvSpPr>
            <a:spLocks noChangeArrowheads="1"/>
          </p:cNvSpPr>
          <p:nvPr/>
        </p:nvSpPr>
        <p:spPr bwMode="auto">
          <a:xfrm>
            <a:off x="0" y="5410200"/>
            <a:ext cx="914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12-18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Use Device Manager to uninstall a device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22F885C-D14A-4C60-B802-A190D3BFC0AB}" type="slidenum">
              <a:rPr lang="en-US"/>
              <a:pPr/>
              <a:t>18</a:t>
            </a:fld>
            <a:endParaRPr lang="en-US"/>
          </a:p>
        </p:txBody>
      </p:sp>
      <p:sp>
        <p:nvSpPr>
          <p:cNvPr id="5969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1219200"/>
          </a:xfrm>
        </p:spPr>
        <p:txBody>
          <a:bodyPr/>
          <a:lstStyle/>
          <a:p>
            <a:r>
              <a:rPr lang="en-US"/>
              <a:t>Solving Hardware Problems Using Windows 2000/XP (continued)</a:t>
            </a:r>
          </a:p>
        </p:txBody>
      </p:sp>
      <p:sp>
        <p:nvSpPr>
          <p:cNvPr id="59699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382000" cy="4572000"/>
          </a:xfrm>
        </p:spPr>
        <p:txBody>
          <a:bodyPr/>
          <a:lstStyle/>
          <a:p>
            <a:r>
              <a:rPr lang="en-US"/>
              <a:t>Updating drivers</a:t>
            </a:r>
          </a:p>
          <a:p>
            <a:pPr lvl="1"/>
            <a:r>
              <a:rPr lang="en-US"/>
              <a:t>Locate the drivers or download them from the Web</a:t>
            </a:r>
          </a:p>
          <a:p>
            <a:pPr lvl="1"/>
            <a:r>
              <a:rPr lang="en-US"/>
              <a:t>Right-click device in Device Manager, select Properties</a:t>
            </a:r>
          </a:p>
          <a:p>
            <a:pPr lvl="1"/>
            <a:r>
              <a:rPr lang="en-US"/>
              <a:t>Select Driver tab and click Update Driver</a:t>
            </a:r>
          </a:p>
          <a:p>
            <a:pPr lvl="1"/>
            <a:r>
              <a:rPr lang="en-US"/>
              <a:t>Respond to queries of Hardware Update Wizard</a:t>
            </a:r>
          </a:p>
          <a:p>
            <a:r>
              <a:rPr lang="en-US"/>
              <a:t>Roll Back Driver</a:t>
            </a:r>
          </a:p>
          <a:p>
            <a:pPr lvl="1"/>
            <a:r>
              <a:rPr lang="en-US"/>
              <a:t>Feature that enables you to revert to a previous driver</a:t>
            </a:r>
          </a:p>
          <a:p>
            <a:pPr lvl="1"/>
            <a:r>
              <a:rPr lang="en-US"/>
              <a:t>Accessed in the Properties window for the device</a:t>
            </a:r>
          </a:p>
          <a:p>
            <a:pPr lvl="1"/>
            <a:r>
              <a:rPr lang="en-US"/>
              <a:t>If driver files are not present, copy them to the PC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6DF687-02D0-4673-8807-1D46B55803F0}" type="slidenum">
              <a:rPr lang="en-US"/>
              <a:pPr/>
              <a:t>19</a:t>
            </a:fld>
            <a:endParaRPr lang="en-US"/>
          </a:p>
        </p:txBody>
      </p:sp>
      <p:pic>
        <p:nvPicPr>
          <p:cNvPr id="598021" name="Picture 5" descr="C12F020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1981200" y="2011363"/>
            <a:ext cx="5181600" cy="2835275"/>
          </a:xfrm>
          <a:prstGeom prst="rect">
            <a:avLst/>
          </a:prstGeom>
          <a:noFill/>
        </p:spPr>
      </p:pic>
      <p:sp>
        <p:nvSpPr>
          <p:cNvPr id="598022" name="Rectangle 6"/>
          <p:cNvSpPr>
            <a:spLocks noChangeArrowheads="1"/>
          </p:cNvSpPr>
          <p:nvPr/>
        </p:nvSpPr>
        <p:spPr bwMode="auto">
          <a:xfrm>
            <a:off x="0" y="5257800"/>
            <a:ext cx="914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12-20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Use Device Manager to update drivers for a device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DE8A300-A82D-4CCE-8DB6-EE2357CD3014}" type="slidenum">
              <a:rPr lang="en-US"/>
              <a:pPr/>
              <a:t>20</a:t>
            </a:fld>
            <a:endParaRPr lang="en-US"/>
          </a:p>
        </p:txBody>
      </p:sp>
      <p:sp>
        <p:nvSpPr>
          <p:cNvPr id="5990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1219200"/>
          </a:xfrm>
        </p:spPr>
        <p:txBody>
          <a:bodyPr/>
          <a:lstStyle/>
          <a:p>
            <a:r>
              <a:rPr lang="en-US"/>
              <a:t>Solving Hardware Problems Using Windows 2000/XP (continued)</a:t>
            </a:r>
          </a:p>
        </p:txBody>
      </p:sp>
      <p:sp>
        <p:nvSpPr>
          <p:cNvPr id="599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382000" cy="4572000"/>
          </a:xfrm>
        </p:spPr>
        <p:txBody>
          <a:bodyPr/>
          <a:lstStyle/>
          <a:p>
            <a:r>
              <a:rPr lang="en-US"/>
              <a:t>Verify that drivers are  certified by Microsoft</a:t>
            </a:r>
          </a:p>
          <a:p>
            <a:pPr lvl="1"/>
            <a:r>
              <a:rPr lang="en-US"/>
              <a:t>Use the File Signature Verification tool (Sigverif.exe)</a:t>
            </a:r>
          </a:p>
          <a:p>
            <a:pPr lvl="1"/>
            <a:r>
              <a:rPr lang="en-US"/>
              <a:t>Use the Driver Query tool (Driverquery/si &gt; myfile.txt)</a:t>
            </a:r>
          </a:p>
          <a:p>
            <a:pPr lvl="1"/>
            <a:r>
              <a:rPr lang="en-US"/>
              <a:t>Use the Device Manager (Driver Details)</a:t>
            </a:r>
          </a:p>
          <a:p>
            <a:r>
              <a:rPr lang="en-US"/>
              <a:t>How to control OS response to an unsigned driver</a:t>
            </a:r>
          </a:p>
          <a:p>
            <a:pPr lvl="1"/>
            <a:r>
              <a:rPr lang="en-US"/>
              <a:t>Open the System Properties window </a:t>
            </a:r>
          </a:p>
          <a:p>
            <a:pPr lvl="1"/>
            <a:r>
              <a:rPr lang="en-US"/>
              <a:t>Click the Hardware</a:t>
            </a:r>
            <a:r>
              <a:rPr lang="en-US" b="1"/>
              <a:t> </a:t>
            </a:r>
            <a:r>
              <a:rPr lang="en-US"/>
              <a:t>tab to open Driver Signing Options</a:t>
            </a:r>
          </a:p>
          <a:p>
            <a:pPr lvl="1"/>
            <a:r>
              <a:rPr lang="en-US"/>
              <a:t>Select how Windows should handle driver installation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505FD7-D65F-4D6C-9E3F-FD5453CDCBAC}" type="slidenum">
              <a:rPr lang="en-US"/>
              <a:pPr/>
              <a:t>21</a:t>
            </a:fld>
            <a:endParaRPr lang="en-US"/>
          </a:p>
        </p:txBody>
      </p:sp>
      <p:pic>
        <p:nvPicPr>
          <p:cNvPr id="600069" name="Picture 5" descr="C12F022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2047875" y="1447800"/>
            <a:ext cx="5048250" cy="3657600"/>
          </a:xfrm>
          <a:prstGeom prst="rect">
            <a:avLst/>
          </a:prstGeom>
          <a:noFill/>
        </p:spPr>
      </p:pic>
      <p:sp>
        <p:nvSpPr>
          <p:cNvPr id="600070" name="Rectangle 6"/>
          <p:cNvSpPr>
            <a:spLocks noChangeArrowheads="1"/>
          </p:cNvSpPr>
          <p:nvPr/>
        </p:nvSpPr>
        <p:spPr bwMode="auto">
          <a:xfrm>
            <a:off x="0" y="5410200"/>
            <a:ext cx="914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12-22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Tell Windows how you want it to handle installing an unsigned driver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B2F6CD-92BE-4929-A69A-4CC848A7B4C5}" type="slidenum">
              <a:rPr lang="en-US"/>
              <a:pPr/>
              <a:t>22</a:t>
            </a:fld>
            <a:endParaRPr lang="en-US"/>
          </a:p>
        </p:txBody>
      </p:sp>
      <p:sp>
        <p:nvSpPr>
          <p:cNvPr id="601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Installing and Supporting Applications</a:t>
            </a:r>
          </a:p>
        </p:txBody>
      </p:sp>
      <p:sp>
        <p:nvSpPr>
          <p:cNvPr id="601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382000" cy="4572000"/>
          </a:xfrm>
        </p:spPr>
        <p:txBody>
          <a:bodyPr/>
          <a:lstStyle/>
          <a:p>
            <a:r>
              <a:rPr lang="en-US"/>
              <a:t>Two methods:</a:t>
            </a:r>
          </a:p>
          <a:p>
            <a:pPr lvl="1"/>
            <a:r>
              <a:rPr lang="en-US"/>
              <a:t>Use the Add or Remove Program applet </a:t>
            </a:r>
          </a:p>
          <a:p>
            <a:pPr lvl="1"/>
            <a:r>
              <a:rPr lang="en-US"/>
              <a:t>Run the application’s setup program</a:t>
            </a:r>
          </a:p>
          <a:p>
            <a:r>
              <a:rPr lang="en-US"/>
              <a:t>How to troubleshoot malfunctioning legacy software</a:t>
            </a:r>
          </a:p>
          <a:p>
            <a:pPr lvl="1"/>
            <a:r>
              <a:rPr lang="en-US"/>
              <a:t>Check the Microsoft Web site for updates</a:t>
            </a:r>
          </a:p>
          <a:p>
            <a:pPr lvl="1"/>
            <a:r>
              <a:rPr lang="en-US"/>
              <a:t>Check the Manufacturer’s Web site for updates/advice</a:t>
            </a:r>
          </a:p>
          <a:p>
            <a:pPr lvl="1"/>
            <a:r>
              <a:rPr lang="en-US"/>
              <a:t>Consider upgrading the software to a later version</a:t>
            </a:r>
          </a:p>
          <a:p>
            <a:pPr lvl="1"/>
            <a:r>
              <a:rPr lang="en-US"/>
              <a:t>Use the Windows XP Compatibility Mode utility  </a:t>
            </a:r>
          </a:p>
          <a:p>
            <a:pPr lvl="2"/>
            <a:r>
              <a:rPr lang="en-US"/>
              <a:t>Compatibility Mode utility emulates native OS of program</a:t>
            </a:r>
          </a:p>
          <a:p>
            <a:pPr lvl="2"/>
            <a:r>
              <a:rPr lang="en-US"/>
              <a:t>Can be set in Properties dialog box of shortcut menu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CCE382-A143-4C04-B476-400D1ED6AEA4}" type="slidenum">
              <a:rPr lang="en-US"/>
              <a:pPr/>
              <a:t>23</a:t>
            </a:fld>
            <a:endParaRPr lang="en-US"/>
          </a:p>
        </p:txBody>
      </p:sp>
      <p:pic>
        <p:nvPicPr>
          <p:cNvPr id="602118" name="Picture 6" descr="C12F025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3376613" y="1905000"/>
            <a:ext cx="2389187" cy="3048000"/>
          </a:xfrm>
          <a:prstGeom prst="rect">
            <a:avLst/>
          </a:prstGeom>
          <a:noFill/>
        </p:spPr>
      </p:pic>
      <p:sp>
        <p:nvSpPr>
          <p:cNvPr id="602119" name="Rectangle 7"/>
          <p:cNvSpPr>
            <a:spLocks noChangeArrowheads="1"/>
          </p:cNvSpPr>
          <p:nvPr/>
        </p:nvSpPr>
        <p:spPr bwMode="auto">
          <a:xfrm>
            <a:off x="0" y="5486400"/>
            <a:ext cx="914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12-25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Setting Windows XP to run a legacy program in compatibility mode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2F4D71-AE7A-427A-830A-D0385F5CFA54}" type="slidenum">
              <a:rPr lang="en-US"/>
              <a:pPr/>
              <a:t>24</a:t>
            </a:fld>
            <a:endParaRPr lang="en-US"/>
          </a:p>
        </p:txBody>
      </p:sp>
      <p:sp>
        <p:nvSpPr>
          <p:cNvPr id="6031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1219200"/>
          </a:xfrm>
        </p:spPr>
        <p:txBody>
          <a:bodyPr/>
          <a:lstStyle/>
          <a:p>
            <a:r>
              <a:rPr lang="en-US"/>
              <a:t>Installing and Supporting Applications (continued)</a:t>
            </a:r>
          </a:p>
        </p:txBody>
      </p:sp>
      <p:sp>
        <p:nvSpPr>
          <p:cNvPr id="603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382000" cy="4572000"/>
          </a:xfrm>
        </p:spPr>
        <p:txBody>
          <a:bodyPr/>
          <a:lstStyle/>
          <a:p>
            <a:r>
              <a:rPr lang="en-US"/>
              <a:t>How to solve problems with applications</a:t>
            </a:r>
          </a:p>
          <a:p>
            <a:pPr lvl="1"/>
            <a:r>
              <a:rPr lang="en-US"/>
              <a:t>Use the Error Reporting service or Dr. Watson</a:t>
            </a:r>
          </a:p>
          <a:p>
            <a:pPr lvl="1"/>
            <a:r>
              <a:rPr lang="en-US"/>
              <a:t>Try a reboot</a:t>
            </a:r>
          </a:p>
          <a:p>
            <a:pPr lvl="1"/>
            <a:r>
              <a:rPr lang="en-US"/>
              <a:t>Scan for viruses </a:t>
            </a:r>
          </a:p>
          <a:p>
            <a:pPr lvl="1"/>
            <a:r>
              <a:rPr lang="en-US"/>
              <a:t>Run Windows Update</a:t>
            </a:r>
          </a:p>
          <a:p>
            <a:pPr lvl="1"/>
            <a:r>
              <a:rPr lang="en-US"/>
              <a:t>Free up system resources </a:t>
            </a:r>
          </a:p>
          <a:p>
            <a:pPr lvl="1"/>
            <a:r>
              <a:rPr lang="en-US"/>
              <a:t>Uninstall and reinstall the application</a:t>
            </a:r>
          </a:p>
          <a:p>
            <a:pPr lvl="1"/>
            <a:r>
              <a:rPr lang="en-US"/>
              <a:t>Run or install application under another user account</a:t>
            </a:r>
          </a:p>
          <a:p>
            <a:pPr lvl="1"/>
            <a:r>
              <a:rPr lang="en-US"/>
              <a:t>Create a new data file</a:t>
            </a:r>
          </a:p>
          <a:p>
            <a:pPr lvl="1"/>
            <a:r>
              <a:rPr lang="en-US"/>
              <a:t>Try restoring default settings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DF78DD-662F-4ECC-929A-FC748EAADECF}" type="slidenum">
              <a:rPr lang="en-US"/>
              <a:pPr/>
              <a:t>25</a:t>
            </a:fld>
            <a:endParaRPr lang="en-US"/>
          </a:p>
        </p:txBody>
      </p:sp>
      <p:sp>
        <p:nvSpPr>
          <p:cNvPr id="60416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1295400"/>
          </a:xfrm>
        </p:spPr>
        <p:txBody>
          <a:bodyPr/>
          <a:lstStyle/>
          <a:p>
            <a:r>
              <a:rPr lang="en-US"/>
              <a:t>Tools Useful to Manage Hardware and Applications</a:t>
            </a:r>
          </a:p>
        </p:txBody>
      </p:sp>
      <p:sp>
        <p:nvSpPr>
          <p:cNvPr id="604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305800" cy="4572000"/>
          </a:xfrm>
        </p:spPr>
        <p:txBody>
          <a:bodyPr/>
          <a:lstStyle/>
          <a:p>
            <a:r>
              <a:rPr lang="en-US">
                <a:sym typeface="Wingdings" pitchFamily="2" charset="2"/>
              </a:rPr>
              <a:t>Console: window to one or more administrative tools</a:t>
            </a:r>
          </a:p>
          <a:p>
            <a:r>
              <a:rPr lang="en-US">
                <a:sym typeface="Wingdings" pitchFamily="2" charset="2"/>
              </a:rPr>
              <a:t>Snap-in: individual tool placed in a console</a:t>
            </a:r>
            <a:endParaRPr lang="en-US"/>
          </a:p>
          <a:p>
            <a:r>
              <a:rPr lang="en-US"/>
              <a:t>Computer Management </a:t>
            </a:r>
          </a:p>
          <a:p>
            <a:pPr lvl="1"/>
            <a:r>
              <a:rPr lang="en-US"/>
              <a:t>Console consolidating several administrative tools</a:t>
            </a:r>
          </a:p>
          <a:p>
            <a:pPr lvl="1"/>
            <a:r>
              <a:rPr lang="en-US"/>
              <a:t>Accessed from A</a:t>
            </a:r>
            <a:r>
              <a:rPr lang="en-US">
                <a:sym typeface="Wingdings" pitchFamily="2" charset="2"/>
              </a:rPr>
              <a:t>dministrative Tools in Control Panel</a:t>
            </a:r>
          </a:p>
          <a:p>
            <a:pPr lvl="1"/>
            <a:r>
              <a:rPr lang="en-US">
                <a:sym typeface="Wingdings" pitchFamily="2" charset="2"/>
              </a:rPr>
              <a:t>Two snap-ins: Disk Management and Device Manager</a:t>
            </a:r>
          </a:p>
          <a:p>
            <a:r>
              <a:rPr lang="en-US">
                <a:sym typeface="Wingdings" pitchFamily="2" charset="2"/>
              </a:rPr>
              <a:t>Microsoft Management Console (MMC)</a:t>
            </a:r>
          </a:p>
          <a:p>
            <a:pPr lvl="1"/>
            <a:r>
              <a:rPr lang="en-US">
                <a:sym typeface="Wingdings" pitchFamily="2" charset="2"/>
              </a:rPr>
              <a:t>Used to build customized console windows </a:t>
            </a:r>
          </a:p>
          <a:p>
            <a:pPr lvl="1"/>
            <a:r>
              <a:rPr lang="en-US">
                <a:sym typeface="Wingdings" pitchFamily="2" charset="2"/>
              </a:rPr>
              <a:t>File saved with .msc extension; e.g. Compmgmt.msc</a:t>
            </a:r>
          </a:p>
          <a:p>
            <a:pPr lvl="1"/>
            <a:r>
              <a:rPr lang="en-US">
                <a:sym typeface="Wingdings" pitchFamily="2" charset="2"/>
              </a:rPr>
              <a:t>Administrator privileges are required to use functions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FFB193-1772-4847-90FA-EBCA2A055580}" type="slidenum">
              <a:rPr lang="en-US"/>
              <a:pPr/>
              <a:t>26</a:t>
            </a:fld>
            <a:endParaRPr lang="en-US"/>
          </a:p>
        </p:txBody>
      </p:sp>
      <p:pic>
        <p:nvPicPr>
          <p:cNvPr id="605189" name="Picture 5" descr="C12F031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2243138" y="1600200"/>
            <a:ext cx="4657725" cy="3352800"/>
          </a:xfrm>
          <a:prstGeom prst="rect">
            <a:avLst/>
          </a:prstGeom>
          <a:noFill/>
        </p:spPr>
      </p:pic>
      <p:sp>
        <p:nvSpPr>
          <p:cNvPr id="605190" name="Rectangle 6"/>
          <p:cNvSpPr>
            <a:spLocks noChangeArrowheads="1"/>
          </p:cNvSpPr>
          <p:nvPr/>
        </p:nvSpPr>
        <p:spPr bwMode="auto">
          <a:xfrm>
            <a:off x="685800" y="5029200"/>
            <a:ext cx="7696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12-31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Windows 2000/XP Computer Management combines several administrative tools into a single easy-to-access window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2BC4CA1-36BF-4659-9F66-29B71F6750D5}" type="slidenum">
              <a:rPr lang="en-US"/>
              <a:pPr/>
              <a:t>27</a:t>
            </a:fld>
            <a:endParaRPr lang="en-US"/>
          </a:p>
        </p:txBody>
      </p:sp>
      <p:pic>
        <p:nvPicPr>
          <p:cNvPr id="606212" name="Picture 4" descr="C12F034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1905000" y="1730375"/>
            <a:ext cx="5334000" cy="3395663"/>
          </a:xfrm>
          <a:prstGeom prst="rect">
            <a:avLst/>
          </a:prstGeom>
          <a:noFill/>
        </p:spPr>
      </p:pic>
      <p:sp>
        <p:nvSpPr>
          <p:cNvPr id="606213" name="Rectangle 5"/>
          <p:cNvSpPr>
            <a:spLocks noChangeArrowheads="1"/>
          </p:cNvSpPr>
          <p:nvPr/>
        </p:nvSpPr>
        <p:spPr bwMode="auto">
          <a:xfrm>
            <a:off x="0" y="5562600"/>
            <a:ext cx="914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12-34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The Add/Remove Snap-in window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F1DE71-7DAD-4D84-AE53-5E140A5F021B}" type="slidenum">
              <a:rPr lang="en-US"/>
              <a:pPr/>
              <a:t>28</a:t>
            </a:fld>
            <a:endParaRPr lang="en-US"/>
          </a:p>
        </p:txBody>
      </p:sp>
      <p:sp>
        <p:nvSpPr>
          <p:cNvPr id="60723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1295400"/>
          </a:xfrm>
        </p:spPr>
        <p:txBody>
          <a:bodyPr/>
          <a:lstStyle/>
          <a:p>
            <a:r>
              <a:rPr lang="en-US"/>
              <a:t>Tools Useful to Manage Hardware and Applications (continued)</a:t>
            </a:r>
          </a:p>
        </p:txBody>
      </p:sp>
      <p:sp>
        <p:nvSpPr>
          <p:cNvPr id="607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752600"/>
            <a:ext cx="8382000" cy="4572000"/>
          </a:xfrm>
        </p:spPr>
        <p:txBody>
          <a:bodyPr/>
          <a:lstStyle/>
          <a:p>
            <a:r>
              <a:rPr lang="en-US">
                <a:sym typeface="Wingdings" pitchFamily="2" charset="2"/>
              </a:rPr>
              <a:t>Event Viewer (Eventvwr.msc)</a:t>
            </a:r>
          </a:p>
          <a:p>
            <a:pPr lvl="1"/>
            <a:r>
              <a:rPr lang="en-US">
                <a:sym typeface="Wingdings" pitchFamily="2" charset="2"/>
              </a:rPr>
              <a:t>Computer Management console snap-in </a:t>
            </a:r>
          </a:p>
          <a:p>
            <a:pPr lvl="1"/>
            <a:r>
              <a:rPr lang="en-US">
                <a:sym typeface="Wingdings" pitchFamily="2" charset="2"/>
              </a:rPr>
              <a:t>Displays logs of significant events; e.g., network failure</a:t>
            </a:r>
          </a:p>
          <a:p>
            <a:pPr lvl="1"/>
            <a:r>
              <a:rPr lang="en-US">
                <a:sym typeface="Wingdings" pitchFamily="2" charset="2"/>
              </a:rPr>
              <a:t>Three standard logs: application, security, and system</a:t>
            </a:r>
          </a:p>
          <a:p>
            <a:pPr lvl="1"/>
            <a:r>
              <a:rPr lang="en-US">
                <a:sym typeface="Wingdings" pitchFamily="2" charset="2"/>
              </a:rPr>
              <a:t>Event types (non-security): Information, Warning, Error</a:t>
            </a:r>
          </a:p>
          <a:p>
            <a:pPr lvl="1"/>
            <a:r>
              <a:rPr lang="en-US">
                <a:sym typeface="Wingdings" pitchFamily="2" charset="2"/>
              </a:rPr>
              <a:t>Events can be filtered via Properties dialog box of log</a:t>
            </a:r>
          </a:p>
          <a:p>
            <a:pPr lvl="1"/>
            <a:r>
              <a:rPr lang="en-US">
                <a:sym typeface="Wingdings" pitchFamily="2" charset="2"/>
              </a:rPr>
              <a:t>Log file size can also be limited via Properties</a:t>
            </a:r>
          </a:p>
          <a:p>
            <a:r>
              <a:rPr lang="en-US">
                <a:sym typeface="Wingdings" pitchFamily="2" charset="2"/>
              </a:rPr>
              <a:t>Windows 2000/XP support tools</a:t>
            </a:r>
          </a:p>
          <a:p>
            <a:pPr lvl="1"/>
            <a:r>
              <a:rPr lang="en-US">
                <a:sym typeface="Wingdings" pitchFamily="2" charset="2"/>
              </a:rPr>
              <a:t>Located in the \Support\Tools folder on the setup CD</a:t>
            </a:r>
          </a:p>
          <a:p>
            <a:pPr lvl="1"/>
            <a:r>
              <a:rPr lang="en-US">
                <a:sym typeface="Wingdings" pitchFamily="2" charset="2"/>
              </a:rPr>
              <a:t>Dependency Walker: list files used by an application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BA2A42-3D79-4DEC-A925-761421B65F37}" type="slidenum">
              <a:rPr lang="en-US"/>
              <a:pPr/>
              <a:t>29</a:t>
            </a:fld>
            <a:endParaRPr lang="en-US"/>
          </a:p>
        </p:txBody>
      </p:sp>
      <p:pic>
        <p:nvPicPr>
          <p:cNvPr id="608261" name="Picture 5" descr="C12F036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1874838" y="1955800"/>
            <a:ext cx="5394325" cy="2944813"/>
          </a:xfrm>
          <a:prstGeom prst="rect">
            <a:avLst/>
          </a:prstGeom>
          <a:noFill/>
        </p:spPr>
      </p:pic>
      <p:sp>
        <p:nvSpPr>
          <p:cNvPr id="608262" name="Rectangle 6"/>
          <p:cNvSpPr>
            <a:spLocks noChangeArrowheads="1"/>
          </p:cNvSpPr>
          <p:nvPr/>
        </p:nvSpPr>
        <p:spPr bwMode="auto">
          <a:xfrm>
            <a:off x="0" y="5105400"/>
            <a:ext cx="9144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12-36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Use Event Viewer to see information about events with applications, security, and the system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B9DE29-4AC8-43B2-A008-C11EF1BF2C95}" type="slidenum">
              <a:rPr lang="en-US"/>
              <a:pPr/>
              <a:t>30</a:t>
            </a:fld>
            <a:endParaRPr lang="en-US"/>
          </a:p>
        </p:txBody>
      </p:sp>
      <p:pic>
        <p:nvPicPr>
          <p:cNvPr id="609286" name="Picture 6" descr="C12F040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1447800" y="1600200"/>
            <a:ext cx="5884863" cy="3260725"/>
          </a:xfrm>
          <a:prstGeom prst="rect">
            <a:avLst/>
          </a:prstGeom>
          <a:noFill/>
        </p:spPr>
      </p:pic>
      <p:sp>
        <p:nvSpPr>
          <p:cNvPr id="609287" name="Rectangle 7"/>
          <p:cNvSpPr>
            <a:spLocks noChangeArrowheads="1"/>
          </p:cNvSpPr>
          <p:nvPr/>
        </p:nvSpPr>
        <p:spPr bwMode="auto">
          <a:xfrm>
            <a:off x="0" y="5181600"/>
            <a:ext cx="914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12-40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Dependency Walker shows files the Notepad.exe program needs to run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2CFFF3-AF94-4860-B509-3062D78BA5D3}" type="slidenum">
              <a:rPr lang="en-US"/>
              <a:pPr/>
              <a:t>31</a:t>
            </a:fld>
            <a:endParaRPr lang="en-US"/>
          </a:p>
        </p:txBody>
      </p:sp>
      <p:sp>
        <p:nvSpPr>
          <p:cNvPr id="61030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1219200"/>
          </a:xfrm>
        </p:spPr>
        <p:txBody>
          <a:bodyPr/>
          <a:lstStyle/>
          <a:p>
            <a:r>
              <a:rPr lang="en-US"/>
              <a:t>Protecting and Maintaining Windows System Files</a:t>
            </a:r>
          </a:p>
        </p:txBody>
      </p:sp>
      <p:sp>
        <p:nvSpPr>
          <p:cNvPr id="610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Tools for protecting and backing up system files:</a:t>
            </a:r>
          </a:p>
          <a:p>
            <a:pPr lvl="1"/>
            <a:r>
              <a:rPr lang="en-US"/>
              <a:t>Windows File Protection</a:t>
            </a:r>
          </a:p>
          <a:p>
            <a:pPr lvl="1"/>
            <a:r>
              <a:rPr lang="en-US"/>
              <a:t>System Restore (Windows XP only)</a:t>
            </a:r>
          </a:p>
          <a:p>
            <a:pPr lvl="1"/>
            <a:r>
              <a:rPr lang="en-US"/>
              <a:t>Backing up the system state </a:t>
            </a:r>
          </a:p>
          <a:p>
            <a:pPr lvl="1"/>
            <a:r>
              <a:rPr lang="en-US"/>
              <a:t>Automated System Recovery (Windows XP only)</a:t>
            </a:r>
          </a:p>
          <a:p>
            <a:r>
              <a:rPr lang="en-US"/>
              <a:t>System state data: critical files for loading an OS</a:t>
            </a:r>
          </a:p>
          <a:p>
            <a:r>
              <a:rPr lang="en-US"/>
              <a:t>Types of system state data:</a:t>
            </a:r>
          </a:p>
          <a:p>
            <a:pPr lvl="1"/>
            <a:r>
              <a:rPr lang="en-US"/>
              <a:t>All files necessary to boot the OS</a:t>
            </a:r>
          </a:p>
          <a:p>
            <a:pPr lvl="1"/>
            <a:r>
              <a:rPr lang="en-US"/>
              <a:t>The Windows 2000/XP registry</a:t>
            </a:r>
          </a:p>
          <a:p>
            <a:pPr lvl="1"/>
            <a:r>
              <a:rPr lang="en-US"/>
              <a:t>All system files in the </a:t>
            </a:r>
            <a:r>
              <a:rPr lang="en-US" i="1"/>
              <a:t>%SystemRoot% </a:t>
            </a:r>
            <a:r>
              <a:rPr lang="en-US"/>
              <a:t>folder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DA6C3E1-EE0E-4A1A-B22D-13CDFEFD9C73}" type="slidenum">
              <a:rPr lang="en-US"/>
              <a:pPr/>
              <a:t>32</a:t>
            </a:fld>
            <a:endParaRPr lang="en-US"/>
          </a:p>
        </p:txBody>
      </p:sp>
      <p:sp>
        <p:nvSpPr>
          <p:cNvPr id="6113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8077200" cy="1143000"/>
          </a:xfrm>
        </p:spPr>
        <p:txBody>
          <a:bodyPr/>
          <a:lstStyle/>
          <a:p>
            <a:r>
              <a:rPr lang="en-US"/>
              <a:t>Windows File Protection</a:t>
            </a:r>
          </a:p>
        </p:txBody>
      </p:sp>
      <p:sp>
        <p:nvSpPr>
          <p:cNvPr id="611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05800" cy="4572000"/>
          </a:xfrm>
        </p:spPr>
        <p:txBody>
          <a:bodyPr/>
          <a:lstStyle/>
          <a:p>
            <a:r>
              <a:rPr lang="en-US"/>
              <a:t>Protects files from being changed or deleted</a:t>
            </a:r>
          </a:p>
          <a:p>
            <a:r>
              <a:rPr lang="en-US"/>
              <a:t>Files protected: .sys, .dll, .ttf, .fon, .ocs, or .exe</a:t>
            </a:r>
          </a:p>
          <a:p>
            <a:r>
              <a:rPr lang="en-US"/>
              <a:t>How Windows Files Protection (WFP) works</a:t>
            </a:r>
          </a:p>
          <a:p>
            <a:pPr lvl="1"/>
            <a:r>
              <a:rPr lang="en-US"/>
              <a:t>Keeps good system files in C:\..\system32\dllcache</a:t>
            </a:r>
          </a:p>
          <a:p>
            <a:pPr lvl="1"/>
            <a:r>
              <a:rPr lang="en-US"/>
              <a:t>System files are tested against copy in dllcache folder</a:t>
            </a:r>
          </a:p>
          <a:p>
            <a:pPr lvl="1"/>
            <a:r>
              <a:rPr lang="en-US"/>
              <a:t>Copy in dllcache folder replaces a questionable file</a:t>
            </a:r>
          </a:p>
          <a:p>
            <a:pPr lvl="1"/>
            <a:r>
              <a:rPr lang="en-US"/>
              <a:t>WFP may request that you insert the setup CD </a:t>
            </a:r>
          </a:p>
          <a:p>
            <a:r>
              <a:rPr lang="en-US"/>
              <a:t>System File Checker (SFC): tool used by WFP</a:t>
            </a:r>
          </a:p>
          <a:p>
            <a:pPr lvl="1"/>
            <a:r>
              <a:rPr lang="en-US"/>
              <a:t>Checks system files after unattended installation</a:t>
            </a:r>
          </a:p>
          <a:p>
            <a:pPr lvl="1"/>
            <a:r>
              <a:rPr lang="en-US"/>
              <a:t>Verifies that the correct system files are being used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A133B7-9CFE-40D8-9453-FB32E012C572}" type="slidenum">
              <a:rPr lang="en-US"/>
              <a:pPr/>
              <a:t>33</a:t>
            </a:fld>
            <a:endParaRPr lang="en-US"/>
          </a:p>
        </p:txBody>
      </p:sp>
      <p:pic>
        <p:nvPicPr>
          <p:cNvPr id="612357" name="Picture 5" descr="C12F042"/>
          <p:cNvPicPr>
            <a:picLocks noChangeAspect="1" noChangeArrowheads="1"/>
          </p:cNvPicPr>
          <p:nvPr/>
        </p:nvPicPr>
        <p:blipFill>
          <a:blip r:embed="rId2" cstate="print">
            <a:lum bright="-12000"/>
          </a:blip>
          <a:srcRect/>
          <a:stretch>
            <a:fillRect/>
          </a:stretch>
        </p:blipFill>
        <p:spPr bwMode="auto">
          <a:xfrm>
            <a:off x="1905000" y="1447800"/>
            <a:ext cx="5334000" cy="3498850"/>
          </a:xfrm>
          <a:prstGeom prst="rect">
            <a:avLst/>
          </a:prstGeom>
          <a:noFill/>
        </p:spPr>
      </p:pic>
      <p:sp>
        <p:nvSpPr>
          <p:cNvPr id="612358" name="Rectangle 6"/>
          <p:cNvSpPr>
            <a:spLocks noChangeArrowheads="1"/>
          </p:cNvSpPr>
          <p:nvPr/>
        </p:nvSpPr>
        <p:spPr bwMode="auto">
          <a:xfrm>
            <a:off x="609600" y="5257800"/>
            <a:ext cx="7848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12-42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Windows File Protection stores good copies of system files in the C:\Windows\system32\dllcache folder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08E73BB-090E-4B90-B7E6-5C75E67508FF}" type="slidenum">
              <a:rPr lang="en-US"/>
              <a:pPr/>
              <a:t>34</a:t>
            </a:fld>
            <a:endParaRPr lang="en-US"/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Windows XP System Restore</a:t>
            </a:r>
          </a:p>
        </p:txBody>
      </p:sp>
      <p:sp>
        <p:nvSpPr>
          <p:cNvPr id="613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Restores system to a prior state (restore point)</a:t>
            </a:r>
          </a:p>
          <a:p>
            <a:r>
              <a:rPr lang="en-US"/>
              <a:t>Restore point: snapshot of the system  </a:t>
            </a:r>
          </a:p>
          <a:p>
            <a:r>
              <a:rPr lang="en-US"/>
              <a:t>Impact of restore process on the system</a:t>
            </a:r>
          </a:p>
          <a:p>
            <a:pPr lvl="1"/>
            <a:r>
              <a:rPr lang="en-US"/>
              <a:t>Does not affect the data on the hard drive</a:t>
            </a:r>
          </a:p>
          <a:p>
            <a:pPr lvl="1"/>
            <a:r>
              <a:rPr lang="en-US"/>
              <a:t>Can affect software, hardware, and various settings</a:t>
            </a:r>
          </a:p>
          <a:p>
            <a:pPr lvl="1"/>
            <a:r>
              <a:rPr lang="en-US"/>
              <a:t>Does not generally help recovery from virus or worm</a:t>
            </a:r>
          </a:p>
          <a:p>
            <a:r>
              <a:rPr lang="en-US"/>
              <a:t>Ways to create a restore point</a:t>
            </a:r>
          </a:p>
          <a:p>
            <a:pPr lvl="1"/>
            <a:r>
              <a:rPr lang="en-US"/>
              <a:t>By system: when you install new devices or software</a:t>
            </a:r>
          </a:p>
          <a:p>
            <a:pPr lvl="1"/>
            <a:r>
              <a:rPr lang="en-US"/>
              <a:t>By PC technician: whenever circumstance require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80C1CB-E630-4786-A372-E3D0FA9084E8}" type="slidenum">
              <a:rPr lang="en-US"/>
              <a:pPr/>
              <a:t>35</a:t>
            </a:fld>
            <a:endParaRPr lang="en-US"/>
          </a:p>
        </p:txBody>
      </p:sp>
      <p:sp>
        <p:nvSpPr>
          <p:cNvPr id="6144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295400"/>
          </a:xfrm>
        </p:spPr>
        <p:txBody>
          <a:bodyPr/>
          <a:lstStyle/>
          <a:p>
            <a:r>
              <a:rPr lang="en-US"/>
              <a:t>Back Up and Restore the System State</a:t>
            </a:r>
          </a:p>
        </p:txBody>
      </p:sp>
      <p:sp>
        <p:nvSpPr>
          <p:cNvPr id="614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Back up the system before making major changes</a:t>
            </a:r>
          </a:p>
          <a:p>
            <a:pPr lvl="1"/>
            <a:r>
              <a:rPr lang="en-US"/>
              <a:t>Enables you to undo changes, if necessary</a:t>
            </a:r>
          </a:p>
          <a:p>
            <a:r>
              <a:rPr lang="en-US"/>
              <a:t>How to back up the system state</a:t>
            </a:r>
          </a:p>
          <a:p>
            <a:pPr lvl="1"/>
            <a:r>
              <a:rPr lang="en-US"/>
              <a:t>Open up the Backup Utility window </a:t>
            </a:r>
          </a:p>
          <a:p>
            <a:pPr lvl="1"/>
            <a:r>
              <a:rPr lang="en-US"/>
              <a:t>Click the Backup tab</a:t>
            </a:r>
          </a:p>
          <a:p>
            <a:pPr lvl="1"/>
            <a:r>
              <a:rPr lang="en-US"/>
              <a:t>Check the System State box in the list of items</a:t>
            </a:r>
          </a:p>
          <a:p>
            <a:pPr lvl="1"/>
            <a:r>
              <a:rPr lang="en-US"/>
              <a:t>Click Browse to point to where backup will be saved</a:t>
            </a:r>
          </a:p>
          <a:p>
            <a:pPr lvl="1"/>
            <a:r>
              <a:rPr lang="en-US"/>
              <a:t>Choose an appropriate location to save backup files</a:t>
            </a:r>
          </a:p>
          <a:p>
            <a:pPr lvl="1"/>
            <a:r>
              <a:rPr lang="en-US"/>
              <a:t>Click Start Backup to begin the process</a:t>
            </a:r>
          </a:p>
          <a:p>
            <a:pPr lvl="1"/>
            <a:r>
              <a:rPr lang="en-US"/>
              <a:t>Click Start Backup again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F8A8A6-857E-4361-B137-638101D47CB5}" type="slidenum">
              <a:rPr lang="en-US"/>
              <a:pPr/>
              <a:t>36</a:t>
            </a:fld>
            <a:endParaRPr lang="en-US"/>
          </a:p>
        </p:txBody>
      </p:sp>
      <p:pic>
        <p:nvPicPr>
          <p:cNvPr id="615429" name="Picture 5" descr="C12F048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2425700" y="1828800"/>
            <a:ext cx="4291013" cy="3200400"/>
          </a:xfrm>
          <a:prstGeom prst="rect">
            <a:avLst/>
          </a:prstGeom>
          <a:noFill/>
        </p:spPr>
      </p:pic>
      <p:sp>
        <p:nvSpPr>
          <p:cNvPr id="615430" name="Rectangle 6"/>
          <p:cNvSpPr>
            <a:spLocks noChangeArrowheads="1"/>
          </p:cNvSpPr>
          <p:nvPr/>
        </p:nvSpPr>
        <p:spPr bwMode="auto">
          <a:xfrm>
            <a:off x="0" y="5334000"/>
            <a:ext cx="914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12-48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Back up the Windows 2000/XP registry and all critical system files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9B77C7F-3DFE-4D77-9275-C7D8857A582B}" type="slidenum">
              <a:rPr lang="en-US"/>
              <a:pPr/>
              <a:t>37</a:t>
            </a:fld>
            <a:endParaRPr lang="en-US"/>
          </a:p>
        </p:txBody>
      </p:sp>
      <p:sp>
        <p:nvSpPr>
          <p:cNvPr id="61645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295400"/>
          </a:xfrm>
        </p:spPr>
        <p:txBody>
          <a:bodyPr/>
          <a:lstStyle/>
          <a:p>
            <a:r>
              <a:rPr lang="en-US"/>
              <a:t>Back Up and Restore the System State (continued)</a:t>
            </a:r>
          </a:p>
        </p:txBody>
      </p:sp>
      <p:sp>
        <p:nvSpPr>
          <p:cNvPr id="616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Restoring the system state restores the registry</a:t>
            </a:r>
          </a:p>
          <a:p>
            <a:r>
              <a:rPr lang="en-US"/>
              <a:t>How to restore the system state</a:t>
            </a:r>
          </a:p>
          <a:p>
            <a:pPr lvl="1"/>
            <a:r>
              <a:rPr lang="en-US"/>
              <a:t>Launch the Windows Backup tool</a:t>
            </a:r>
          </a:p>
          <a:p>
            <a:pPr lvl="1"/>
            <a:r>
              <a:rPr lang="en-US"/>
              <a:t>Click the Restore and Manage Media tab</a:t>
            </a:r>
          </a:p>
          <a:p>
            <a:pPr lvl="1"/>
            <a:r>
              <a:rPr lang="en-US"/>
              <a:t>Select the backup you want to restore</a:t>
            </a:r>
          </a:p>
          <a:p>
            <a:pPr lvl="1"/>
            <a:r>
              <a:rPr lang="en-US"/>
              <a:t>Select the location to which backup is to be restored</a:t>
            </a:r>
          </a:p>
          <a:p>
            <a:pPr lvl="1"/>
            <a:r>
              <a:rPr lang="en-US"/>
              <a:t>Click the Start Restore button to start the process</a:t>
            </a:r>
          </a:p>
          <a:p>
            <a:r>
              <a:rPr lang="en-US"/>
              <a:t>Caveat: Windows desktop is needed to use utility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6F1B28-0EE8-4985-8D98-AF223CF9F7B0}" type="slidenum">
              <a:rPr lang="en-US"/>
              <a:pPr/>
              <a:t>38</a:t>
            </a:fld>
            <a:endParaRPr lang="en-US"/>
          </a:p>
        </p:txBody>
      </p:sp>
      <p:pic>
        <p:nvPicPr>
          <p:cNvPr id="617477" name="Picture 5" descr="C12F049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2425700" y="1828800"/>
            <a:ext cx="4291013" cy="3200400"/>
          </a:xfrm>
          <a:prstGeom prst="rect">
            <a:avLst/>
          </a:prstGeom>
          <a:noFill/>
        </p:spPr>
      </p:pic>
      <p:sp>
        <p:nvSpPr>
          <p:cNvPr id="617478" name="Rectangle 6"/>
          <p:cNvSpPr>
            <a:spLocks noChangeArrowheads="1"/>
          </p:cNvSpPr>
          <p:nvPr/>
        </p:nvSpPr>
        <p:spPr bwMode="auto">
          <a:xfrm>
            <a:off x="762000" y="5257800"/>
            <a:ext cx="7467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12-49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Restore the system state from the Restore and Manage Media tab of the Backup dialog box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32CA9D1-3FA4-46D1-B92B-A02C60E8FCBD}" type="slidenum">
              <a:rPr lang="en-US"/>
              <a:pPr/>
              <a:t>39</a:t>
            </a:fld>
            <a:endParaRPr lang="en-US"/>
          </a:p>
        </p:txBody>
      </p:sp>
      <p:sp>
        <p:nvSpPr>
          <p:cNvPr id="61849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1295400"/>
          </a:xfrm>
        </p:spPr>
        <p:txBody>
          <a:bodyPr/>
          <a:lstStyle/>
          <a:p>
            <a:r>
              <a:rPr lang="en-US"/>
              <a:t>Windows XP Automated System Recovery</a:t>
            </a:r>
          </a:p>
        </p:txBody>
      </p:sp>
      <p:sp>
        <p:nvSpPr>
          <p:cNvPr id="618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153400" cy="4572000"/>
          </a:xfrm>
        </p:spPr>
        <p:txBody>
          <a:bodyPr/>
          <a:lstStyle/>
          <a:p>
            <a:r>
              <a:rPr lang="en-US"/>
              <a:t>Automated System Recovery (ASR)</a:t>
            </a:r>
          </a:p>
          <a:p>
            <a:pPr lvl="1"/>
            <a:r>
              <a:rPr lang="en-US"/>
              <a:t>Backs up entire drive on which Windows is installed</a:t>
            </a:r>
          </a:p>
          <a:p>
            <a:pPr lvl="1"/>
            <a:r>
              <a:rPr lang="en-US"/>
              <a:t>Recovery does not include changes since backup</a:t>
            </a:r>
          </a:p>
          <a:p>
            <a:r>
              <a:rPr lang="en-US"/>
              <a:t>Creating the ASR backup and ASR disk</a:t>
            </a:r>
          </a:p>
          <a:p>
            <a:pPr lvl="1"/>
            <a:r>
              <a:rPr lang="en-US"/>
              <a:t>Open the Backup or Restore Wizard</a:t>
            </a:r>
          </a:p>
          <a:p>
            <a:pPr lvl="1"/>
            <a:r>
              <a:rPr lang="en-US"/>
              <a:t>Click Advanced Mode to open Backup Utility</a:t>
            </a:r>
          </a:p>
          <a:p>
            <a:pPr lvl="1"/>
            <a:r>
              <a:rPr lang="en-US"/>
              <a:t>Click Automated System Recovery Wizard</a:t>
            </a:r>
          </a:p>
          <a:p>
            <a:pPr lvl="1"/>
            <a:r>
              <a:rPr lang="en-US"/>
              <a:t>Click Next to open Backup Destination</a:t>
            </a:r>
          </a:p>
          <a:p>
            <a:pPr lvl="1"/>
            <a:r>
              <a:rPr lang="en-US"/>
              <a:t>Select location to store backup files</a:t>
            </a:r>
          </a:p>
          <a:p>
            <a:pPr lvl="1"/>
            <a:r>
              <a:rPr lang="en-US"/>
              <a:t>Click Finish to create backup and ASR disk  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D3228A-56B1-4895-AE92-D2A968805A0E}" type="slidenum">
              <a:rPr lang="en-US"/>
              <a:pPr/>
              <a:t>40</a:t>
            </a:fld>
            <a:endParaRPr lang="en-US"/>
          </a:p>
        </p:txBody>
      </p:sp>
      <p:pic>
        <p:nvPicPr>
          <p:cNvPr id="619525" name="Picture 5" descr="C12F051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1819275" y="1828800"/>
            <a:ext cx="5505450" cy="3429000"/>
          </a:xfrm>
          <a:prstGeom prst="rect">
            <a:avLst/>
          </a:prstGeom>
          <a:noFill/>
        </p:spPr>
      </p:pic>
      <p:sp>
        <p:nvSpPr>
          <p:cNvPr id="619526" name="Rectangle 6"/>
          <p:cNvSpPr>
            <a:spLocks noChangeArrowheads="1"/>
          </p:cNvSpPr>
          <p:nvPr/>
        </p:nvSpPr>
        <p:spPr bwMode="auto">
          <a:xfrm>
            <a:off x="762000" y="5334000"/>
            <a:ext cx="7620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12-51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The Backup utility can create a backup of drive C and an ASR disk to be used later for the Automated System Recovery utility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722AA0-B465-434E-AE9A-51101CF85391}" type="slidenum">
              <a:rPr lang="en-US"/>
              <a:pPr/>
              <a:t>41</a:t>
            </a:fld>
            <a:endParaRPr lang="en-US"/>
          </a:p>
        </p:txBody>
      </p:sp>
      <p:sp>
        <p:nvSpPr>
          <p:cNvPr id="6205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1295400"/>
          </a:xfrm>
        </p:spPr>
        <p:txBody>
          <a:bodyPr/>
          <a:lstStyle/>
          <a:p>
            <a:r>
              <a:rPr lang="en-US"/>
              <a:t>Windows XP Automated System Recovery (continued)</a:t>
            </a:r>
          </a:p>
        </p:txBody>
      </p:sp>
      <p:sp>
        <p:nvSpPr>
          <p:cNvPr id="620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752600"/>
            <a:ext cx="8534400" cy="4572000"/>
          </a:xfrm>
        </p:spPr>
        <p:txBody>
          <a:bodyPr/>
          <a:lstStyle/>
          <a:p>
            <a:r>
              <a:rPr lang="en-US"/>
              <a:t>Restoring the system using an ASR backup</a:t>
            </a:r>
          </a:p>
          <a:p>
            <a:pPr lvl="1"/>
            <a:r>
              <a:rPr lang="en-US"/>
              <a:t>Boot the system from the Windows XP CD</a:t>
            </a:r>
          </a:p>
          <a:p>
            <a:pPr lvl="1"/>
            <a:r>
              <a:rPr lang="en-US"/>
              <a:t>Press F6 if your system uses RAID or SCSI</a:t>
            </a:r>
          </a:p>
          <a:p>
            <a:pPr lvl="1"/>
            <a:r>
              <a:rPr lang="en-US"/>
              <a:t>Press F2 to start the ASR process</a:t>
            </a:r>
          </a:p>
          <a:p>
            <a:pPr lvl="1"/>
            <a:r>
              <a:rPr lang="en-US"/>
              <a:t>Insert the ASR floppy disk</a:t>
            </a:r>
          </a:p>
          <a:p>
            <a:pPr lvl="1"/>
            <a:r>
              <a:rPr lang="en-US"/>
              <a:t>From this point, Windows XP Setup manages recovery</a:t>
            </a:r>
          </a:p>
          <a:p>
            <a:r>
              <a:rPr lang="en-US"/>
              <a:t>Planning ahead for Automated System Recovery</a:t>
            </a:r>
          </a:p>
          <a:p>
            <a:pPr lvl="1"/>
            <a:r>
              <a:rPr lang="en-US"/>
              <a:t>Create a partition for the OS and software (drive C)</a:t>
            </a:r>
          </a:p>
          <a:p>
            <a:pPr lvl="1"/>
            <a:r>
              <a:rPr lang="en-US"/>
              <a:t>Use a second partition for user data (drive D)</a:t>
            </a:r>
          </a:p>
          <a:p>
            <a:pPr lvl="1"/>
            <a:r>
              <a:rPr lang="en-US"/>
              <a:t>Backup drive C using ASR, backup D using Ntbackup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41086A-8F3F-4D60-866E-663665FBE913}" type="slidenum">
              <a:rPr lang="en-US"/>
              <a:pPr/>
              <a:t>42</a:t>
            </a:fld>
            <a:endParaRPr lang="en-US"/>
          </a:p>
        </p:txBody>
      </p:sp>
      <p:pic>
        <p:nvPicPr>
          <p:cNvPr id="621573" name="Picture 5" descr="C12F053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2743200" y="1828800"/>
            <a:ext cx="3479800" cy="3124200"/>
          </a:xfrm>
          <a:prstGeom prst="rect">
            <a:avLst/>
          </a:prstGeom>
          <a:noFill/>
        </p:spPr>
      </p:pic>
      <p:sp>
        <p:nvSpPr>
          <p:cNvPr id="621574" name="Rectangle 6"/>
          <p:cNvSpPr>
            <a:spLocks noChangeArrowheads="1"/>
          </p:cNvSpPr>
          <p:nvPr/>
        </p:nvSpPr>
        <p:spPr bwMode="auto">
          <a:xfrm>
            <a:off x="990600" y="5105400"/>
            <a:ext cx="72390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12-53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As part of the Automatic System Recovery process, Windows XP Setup repartitions and reformats the volume holding Windows XP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E62170-0340-4269-8F04-A254A4484AC5}" type="slidenum">
              <a:rPr lang="en-US"/>
              <a:pPr/>
              <a:t>43</a:t>
            </a:fld>
            <a:endParaRPr lang="en-US"/>
          </a:p>
        </p:txBody>
      </p:sp>
      <p:sp>
        <p:nvSpPr>
          <p:cNvPr id="622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Windows 2000/XP Registry</a:t>
            </a:r>
          </a:p>
        </p:txBody>
      </p:sp>
      <p:sp>
        <p:nvSpPr>
          <p:cNvPr id="622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572000"/>
          </a:xfrm>
        </p:spPr>
        <p:txBody>
          <a:bodyPr/>
          <a:lstStyle/>
          <a:p>
            <a:r>
              <a:rPr lang="en-US"/>
              <a:t>Hierarchical database containing system information</a:t>
            </a:r>
          </a:p>
          <a:p>
            <a:r>
              <a:rPr lang="en-US"/>
              <a:t>Most system components depend on the Registry</a:t>
            </a:r>
          </a:p>
          <a:p>
            <a:r>
              <a:rPr lang="en-US"/>
              <a:t>PC technicians should be familiar with the Registry</a:t>
            </a:r>
          </a:p>
          <a:p>
            <a:pPr lvl="1"/>
            <a:r>
              <a:rPr lang="en-US"/>
              <a:t>It may be necessary to manually edit the Registry  </a:t>
            </a:r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E41B88-81B7-4291-A65C-F873BB9FB8E2}" type="slidenum">
              <a:rPr lang="en-US"/>
              <a:pPr/>
              <a:t>44</a:t>
            </a:fld>
            <a:endParaRPr lang="en-US"/>
          </a:p>
        </p:txBody>
      </p:sp>
      <p:pic>
        <p:nvPicPr>
          <p:cNvPr id="62362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609600"/>
            <a:ext cx="6084888" cy="5084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23622" name="Rectangle 6"/>
          <p:cNvSpPr>
            <a:spLocks noChangeArrowheads="1"/>
          </p:cNvSpPr>
          <p:nvPr/>
        </p:nvSpPr>
        <p:spPr bwMode="auto">
          <a:xfrm>
            <a:off x="0" y="5791200"/>
            <a:ext cx="914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 b="1">
                <a:solidFill>
                  <a:srgbClr val="222222"/>
                </a:solidFill>
                <a:latin typeface="Arial" charset="0"/>
              </a:rPr>
              <a:t>Table 12-4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Components that use the Windows 2000/XP registry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2AA66-8541-444E-A070-5131C52EDA29}" type="slidenum">
              <a:rPr lang="en-US"/>
              <a:pPr/>
              <a:t>45</a:t>
            </a:fld>
            <a:endParaRPr lang="en-US"/>
          </a:p>
        </p:txBody>
      </p:sp>
      <p:sp>
        <p:nvSpPr>
          <p:cNvPr id="624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the Registry is Organized</a:t>
            </a:r>
          </a:p>
        </p:txBody>
      </p:sp>
      <p:sp>
        <p:nvSpPr>
          <p:cNvPr id="624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Windows Registry Editor: used to view/edit registry</a:t>
            </a:r>
          </a:p>
          <a:p>
            <a:r>
              <a:rPr lang="en-US"/>
              <a:t>Logical organization</a:t>
            </a:r>
          </a:p>
          <a:p>
            <a:pPr lvl="1"/>
            <a:r>
              <a:rPr lang="en-US"/>
              <a:t>Inverted tree with Windows Registry at root</a:t>
            </a:r>
          </a:p>
          <a:p>
            <a:pPr lvl="1"/>
            <a:r>
              <a:rPr lang="en-US"/>
              <a:t>Six branches (keys); e.g., HKEY_LOCAL_MACHINE</a:t>
            </a:r>
          </a:p>
          <a:p>
            <a:pPr lvl="1"/>
            <a:r>
              <a:rPr lang="en-US"/>
              <a:t>Subkeys hold other subkeys or values</a:t>
            </a:r>
          </a:p>
          <a:p>
            <a:r>
              <a:rPr lang="en-US"/>
              <a:t>Physical organization</a:t>
            </a:r>
          </a:p>
          <a:p>
            <a:pPr lvl="1"/>
            <a:r>
              <a:rPr lang="en-US"/>
              <a:t>Differs significantly from the logical organization</a:t>
            </a:r>
          </a:p>
          <a:p>
            <a:pPr lvl="1"/>
            <a:r>
              <a:rPr lang="en-US"/>
              <a:t>Registry is stored in five files called hives</a:t>
            </a:r>
          </a:p>
          <a:p>
            <a:pPr lvl="2"/>
            <a:r>
              <a:rPr lang="en-US"/>
              <a:t>HKEY_PERFORMANCE_DATA does not use a hive</a:t>
            </a:r>
          </a:p>
          <a:p>
            <a:pPr lvl="1"/>
            <a:r>
              <a:rPr lang="en-US"/>
              <a:t>Hives are stored in %SystemRoot%\system32\config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CF4F5F-C6CC-4706-B5A2-0DC53B672A75}" type="slidenum">
              <a:rPr lang="en-US"/>
              <a:pPr/>
              <a:t>46</a:t>
            </a:fld>
            <a:endParaRPr lang="en-US"/>
          </a:p>
        </p:txBody>
      </p:sp>
      <p:pic>
        <p:nvPicPr>
          <p:cNvPr id="625669" name="Picture 5" descr="C12F054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1766888" y="1981200"/>
            <a:ext cx="5608637" cy="2492375"/>
          </a:xfrm>
          <a:prstGeom prst="rect">
            <a:avLst/>
          </a:prstGeom>
          <a:noFill/>
        </p:spPr>
      </p:pic>
      <p:sp>
        <p:nvSpPr>
          <p:cNvPr id="625670" name="Rectangle 6"/>
          <p:cNvSpPr>
            <a:spLocks noChangeArrowheads="1"/>
          </p:cNvSpPr>
          <p:nvPr/>
        </p:nvSpPr>
        <p:spPr bwMode="auto">
          <a:xfrm>
            <a:off x="0" y="4800600"/>
            <a:ext cx="9144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12-54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The Windows 2000/XP registry is logically organized in an upside-down tree structure of keys, subkeys, and values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70BFF94-61D4-4A19-AFBF-0747D3FD90E5}" type="slidenum">
              <a:rPr lang="en-US"/>
              <a:pPr/>
              <a:t>47</a:t>
            </a:fld>
            <a:endParaRPr lang="en-US"/>
          </a:p>
        </p:txBody>
      </p:sp>
      <p:pic>
        <p:nvPicPr>
          <p:cNvPr id="626693" name="Picture 5" descr="C12F056"/>
          <p:cNvPicPr>
            <a:picLocks noChangeAspect="1" noChangeArrowheads="1"/>
          </p:cNvPicPr>
          <p:nvPr/>
        </p:nvPicPr>
        <p:blipFill>
          <a:blip r:embed="rId2" cstate="print">
            <a:lum bright="-12000"/>
          </a:blip>
          <a:srcRect/>
          <a:stretch>
            <a:fillRect/>
          </a:stretch>
        </p:blipFill>
        <p:spPr bwMode="auto">
          <a:xfrm>
            <a:off x="2663825" y="1779588"/>
            <a:ext cx="3816350" cy="3297237"/>
          </a:xfrm>
          <a:prstGeom prst="rect">
            <a:avLst/>
          </a:prstGeom>
          <a:noFill/>
        </p:spPr>
      </p:pic>
      <p:sp>
        <p:nvSpPr>
          <p:cNvPr id="626694" name="Rectangle 6"/>
          <p:cNvSpPr>
            <a:spLocks noChangeArrowheads="1"/>
          </p:cNvSpPr>
          <p:nvPr/>
        </p:nvSpPr>
        <p:spPr bwMode="auto">
          <a:xfrm>
            <a:off x="0" y="5257800"/>
            <a:ext cx="914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12-56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The relationship between registry subtrees (keys) and hives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6466BA3-2D38-4E09-AB6D-3E54ECDDFCD5}" type="slidenum">
              <a:rPr lang="en-US"/>
              <a:pPr/>
              <a:t>48</a:t>
            </a:fld>
            <a:endParaRPr lang="en-US"/>
          </a:p>
        </p:txBody>
      </p:sp>
      <p:sp>
        <p:nvSpPr>
          <p:cNvPr id="62771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077200" cy="1295400"/>
          </a:xfrm>
        </p:spPr>
        <p:txBody>
          <a:bodyPr/>
          <a:lstStyle/>
          <a:p>
            <a:r>
              <a:rPr lang="en-US"/>
              <a:t>Backing Up and Recovering the Registry</a:t>
            </a:r>
          </a:p>
        </p:txBody>
      </p:sp>
      <p:sp>
        <p:nvSpPr>
          <p:cNvPr id="627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752600"/>
            <a:ext cx="8153400" cy="4495800"/>
          </a:xfrm>
        </p:spPr>
        <p:txBody>
          <a:bodyPr/>
          <a:lstStyle/>
          <a:p>
            <a:r>
              <a:rPr lang="en-US"/>
              <a:t>Choices: back up system state or individual keys</a:t>
            </a:r>
          </a:p>
          <a:p>
            <a:r>
              <a:rPr lang="en-US"/>
              <a:t>Back up the registry by backing up the system state</a:t>
            </a:r>
          </a:p>
          <a:p>
            <a:pPr lvl="1"/>
            <a:r>
              <a:rPr lang="en-US"/>
              <a:t>Backup Utility copies files to one of two locations</a:t>
            </a:r>
          </a:p>
          <a:p>
            <a:pPr lvl="1"/>
            <a:r>
              <a:rPr lang="en-US"/>
              <a:t>Restore registry using Ntbackup</a:t>
            </a:r>
          </a:p>
          <a:p>
            <a:pPr lvl="1"/>
            <a:r>
              <a:rPr lang="en-US"/>
              <a:t>Also restore registry by copying files to C:\..\config </a:t>
            </a:r>
          </a:p>
          <a:p>
            <a:r>
              <a:rPr lang="en-US"/>
              <a:t>Backing up individual keys in the registry</a:t>
            </a:r>
          </a:p>
          <a:p>
            <a:pPr lvl="1"/>
            <a:r>
              <a:rPr lang="en-US"/>
              <a:t>Open the registry editor</a:t>
            </a:r>
          </a:p>
          <a:p>
            <a:pPr lvl="1"/>
            <a:r>
              <a:rPr lang="en-US"/>
              <a:t>Select desired key</a:t>
            </a:r>
          </a:p>
          <a:p>
            <a:pPr lvl="1"/>
            <a:r>
              <a:rPr lang="en-US"/>
              <a:t>Export the key to a desired location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E55AB1D-5DC9-46F9-8180-D2282150791B}" type="slidenum">
              <a:rPr lang="en-US"/>
              <a:pPr/>
              <a:t>49</a:t>
            </a:fld>
            <a:endParaRPr lang="en-US"/>
          </a:p>
        </p:txBody>
      </p:sp>
      <p:pic>
        <p:nvPicPr>
          <p:cNvPr id="628741" name="Picture 5" descr="C12F057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1839913" y="1524000"/>
            <a:ext cx="5462587" cy="3276600"/>
          </a:xfrm>
          <a:prstGeom prst="rect">
            <a:avLst/>
          </a:prstGeom>
          <a:noFill/>
        </p:spPr>
      </p:pic>
      <p:sp>
        <p:nvSpPr>
          <p:cNvPr id="628742" name="Rectangle 6"/>
          <p:cNvSpPr>
            <a:spLocks noChangeArrowheads="1"/>
          </p:cNvSpPr>
          <p:nvPr/>
        </p:nvSpPr>
        <p:spPr bwMode="auto">
          <a:xfrm>
            <a:off x="0" y="5029200"/>
            <a:ext cx="9144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12-57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Using the Windows XP registry editor, you can back up a key and its subkeys using the Export command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F7399C-9F92-40E3-BE56-E3CF0F4344E6}" type="slidenum">
              <a:rPr lang="en-US"/>
              <a:pPr/>
              <a:t>50</a:t>
            </a:fld>
            <a:endParaRPr lang="en-US"/>
          </a:p>
        </p:txBody>
      </p:sp>
      <p:sp>
        <p:nvSpPr>
          <p:cNvPr id="629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Editing the Registry</a:t>
            </a:r>
          </a:p>
        </p:txBody>
      </p:sp>
      <p:sp>
        <p:nvSpPr>
          <p:cNvPr id="629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572000"/>
          </a:xfrm>
        </p:spPr>
        <p:txBody>
          <a:bodyPr/>
          <a:lstStyle/>
          <a:p>
            <a:r>
              <a:rPr lang="en-US"/>
              <a:t>One of the reasons for editing the registry</a:t>
            </a:r>
          </a:p>
          <a:p>
            <a:pPr lvl="1"/>
            <a:r>
              <a:rPr lang="en-US"/>
              <a:t>Remove entries remaining after application uninstalled</a:t>
            </a:r>
          </a:p>
          <a:p>
            <a:r>
              <a:rPr lang="en-US"/>
              <a:t>Windows XP has a single registry editor: Regedit.exe</a:t>
            </a:r>
          </a:p>
          <a:p>
            <a:r>
              <a:rPr lang="en-US"/>
              <a:t>Windows 2000 has two registry editors</a:t>
            </a:r>
          </a:p>
          <a:p>
            <a:r>
              <a:rPr lang="en-US"/>
              <a:t>Editing the registry to change name of Recycle Bin</a:t>
            </a:r>
          </a:p>
          <a:p>
            <a:pPr lvl="1"/>
            <a:r>
              <a:rPr lang="en-US"/>
              <a:t>Open the Registry Editor</a:t>
            </a:r>
          </a:p>
          <a:p>
            <a:pPr lvl="1"/>
            <a:r>
              <a:rPr lang="en-US"/>
              <a:t>Locate subkey for Recyle Bin (under HKCU)</a:t>
            </a:r>
          </a:p>
          <a:p>
            <a:pPr lvl="1"/>
            <a:r>
              <a:rPr lang="en-US"/>
              <a:t>Export current key to Desktop for backup purposes</a:t>
            </a:r>
          </a:p>
          <a:p>
            <a:pPr lvl="1"/>
            <a:r>
              <a:rPr lang="en-US"/>
              <a:t>Double-click (Default), the name of the value</a:t>
            </a:r>
          </a:p>
          <a:p>
            <a:pPr lvl="1"/>
            <a:r>
              <a:rPr lang="en-US"/>
              <a:t>Enter a new name, such as “Jean’s Trash Can”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2EB7B-EBA4-4DD4-B70D-C088FB245AE7}" type="slidenum">
              <a:rPr lang="en-US"/>
              <a:pPr/>
              <a:t>51</a:t>
            </a:fld>
            <a:endParaRPr lang="en-US"/>
          </a:p>
        </p:txBody>
      </p:sp>
      <p:pic>
        <p:nvPicPr>
          <p:cNvPr id="630789" name="Picture 5" descr="C12F060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1676400" y="1981200"/>
            <a:ext cx="5467350" cy="2743200"/>
          </a:xfrm>
          <a:prstGeom prst="rect">
            <a:avLst/>
          </a:prstGeom>
          <a:noFill/>
        </p:spPr>
      </p:pic>
      <p:sp>
        <p:nvSpPr>
          <p:cNvPr id="630790" name="Rectangle 6"/>
          <p:cNvSpPr>
            <a:spLocks noChangeArrowheads="1"/>
          </p:cNvSpPr>
          <p:nvPr/>
        </p:nvSpPr>
        <p:spPr bwMode="auto">
          <a:xfrm>
            <a:off x="0" y="5105400"/>
            <a:ext cx="914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12-60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Editing a registry subkey value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FEE3151-06B3-46CE-B97D-8C5DB0173B99}" type="slidenum">
              <a:rPr lang="en-US"/>
              <a:pPr/>
              <a:t>52</a:t>
            </a:fld>
            <a:endParaRPr lang="en-US"/>
          </a:p>
        </p:txBody>
      </p:sp>
      <p:sp>
        <p:nvSpPr>
          <p:cNvPr id="63181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1219200"/>
          </a:xfrm>
        </p:spPr>
        <p:txBody>
          <a:bodyPr/>
          <a:lstStyle/>
          <a:p>
            <a:r>
              <a:rPr lang="en-US"/>
              <a:t>Optimizing the Windows 2000/XP Environment</a:t>
            </a:r>
          </a:p>
        </p:txBody>
      </p:sp>
      <p:sp>
        <p:nvSpPr>
          <p:cNvPr id="631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Create procedures to backup the system and data</a:t>
            </a:r>
          </a:p>
          <a:p>
            <a:r>
              <a:rPr lang="en-US"/>
              <a:t>Provide for scheduled downloads of updates</a:t>
            </a:r>
          </a:p>
          <a:p>
            <a:r>
              <a:rPr lang="en-US"/>
              <a:t>Protect system with firewall and antivirus software</a:t>
            </a:r>
          </a:p>
          <a:p>
            <a:r>
              <a:rPr lang="en-US"/>
              <a:t>Create user accounts with limited set of privileges</a:t>
            </a:r>
          </a:p>
          <a:p>
            <a:r>
              <a:rPr lang="en-US"/>
              <a:t>Run only needed services and optimize memory  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0381D2-01E9-4CEE-89EE-671412CA133D}" type="slidenum">
              <a:rPr lang="en-US"/>
              <a:pPr/>
              <a:t>53</a:t>
            </a:fld>
            <a:endParaRPr lang="en-US"/>
          </a:p>
        </p:txBody>
      </p:sp>
      <p:sp>
        <p:nvSpPr>
          <p:cNvPr id="640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Tools to Manage Software</a:t>
            </a:r>
          </a:p>
        </p:txBody>
      </p:sp>
      <p:sp>
        <p:nvSpPr>
          <p:cNvPr id="640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382000" cy="4724400"/>
          </a:xfrm>
        </p:spPr>
        <p:txBody>
          <a:bodyPr/>
          <a:lstStyle/>
          <a:p>
            <a:r>
              <a:rPr lang="en-US"/>
              <a:t>Task Manager</a:t>
            </a:r>
          </a:p>
          <a:p>
            <a:pPr lvl="1"/>
            <a:r>
              <a:rPr lang="en-US"/>
              <a:t>Used to view running process and performance data</a:t>
            </a:r>
          </a:p>
          <a:p>
            <a:pPr lvl="1"/>
            <a:r>
              <a:rPr lang="en-US"/>
              <a:t>Accessed in three ways; e.g., press Ctrl+Alt+Delete</a:t>
            </a:r>
          </a:p>
          <a:p>
            <a:pPr lvl="1"/>
            <a:r>
              <a:rPr lang="en-US"/>
              <a:t>Five tabs in Windows XP (three tabs in Windows 2000)</a:t>
            </a:r>
          </a:p>
          <a:p>
            <a:pPr lvl="2"/>
            <a:r>
              <a:rPr lang="en-US"/>
              <a:t>Applications: displays running applications</a:t>
            </a:r>
          </a:p>
          <a:p>
            <a:pPr lvl="2"/>
            <a:r>
              <a:rPr lang="en-US"/>
              <a:t>Processes: lists system services and other processes</a:t>
            </a:r>
          </a:p>
          <a:p>
            <a:pPr lvl="2"/>
            <a:r>
              <a:rPr lang="en-US"/>
              <a:t>Performance: provides details about resource usage</a:t>
            </a:r>
          </a:p>
          <a:p>
            <a:pPr lvl="2"/>
            <a:r>
              <a:rPr lang="en-US"/>
              <a:t>Networking: monitors network activity and bandwidth</a:t>
            </a:r>
          </a:p>
          <a:p>
            <a:pPr lvl="2"/>
            <a:r>
              <a:rPr lang="en-US"/>
              <a:t>Users: indicates current users on the system</a:t>
            </a:r>
          </a:p>
          <a:p>
            <a:pPr lvl="1"/>
            <a:r>
              <a:rPr lang="en-US"/>
              <a:t>Use tools to diagnose and solve performance issues</a:t>
            </a:r>
          </a:p>
          <a:p>
            <a:pPr lvl="2"/>
            <a:r>
              <a:rPr lang="en-US"/>
              <a:t>Example: close unneeded services via Processes tab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894393-001D-4A30-9F62-B4B7006B6632}" type="slidenum">
              <a:rPr lang="en-US"/>
              <a:pPr/>
              <a:t>54</a:t>
            </a:fld>
            <a:endParaRPr lang="en-US"/>
          </a:p>
        </p:txBody>
      </p:sp>
      <p:pic>
        <p:nvPicPr>
          <p:cNvPr id="638979" name="Picture 3" descr="C12F062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2895600" y="1524000"/>
            <a:ext cx="3095625" cy="3505200"/>
          </a:xfrm>
          <a:prstGeom prst="rect">
            <a:avLst/>
          </a:prstGeom>
          <a:noFill/>
        </p:spPr>
      </p:pic>
      <p:sp>
        <p:nvSpPr>
          <p:cNvPr id="638980" name="Rectangle 4"/>
          <p:cNvSpPr>
            <a:spLocks noChangeArrowheads="1"/>
          </p:cNvSpPr>
          <p:nvPr/>
        </p:nvSpPr>
        <p:spPr bwMode="auto">
          <a:xfrm>
            <a:off x="0" y="5257800"/>
            <a:ext cx="9144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12-62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This Processes tab of Task Manager shows Windows processes running</a:t>
            </a:r>
          </a:p>
          <a:p>
            <a:r>
              <a:rPr lang="en-US" sz="1800">
                <a:solidFill>
                  <a:srgbClr val="222222"/>
                </a:solidFill>
                <a:latin typeface="Arial" charset="0"/>
              </a:rPr>
              <a:t>in the background of a barebones Windows XP system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FD68443-03B9-4C42-A4A2-36DD4E8C9576}" type="slidenum">
              <a:rPr lang="en-US"/>
              <a:pPr/>
              <a:t>55</a:t>
            </a:fld>
            <a:endParaRPr lang="en-US"/>
          </a:p>
        </p:txBody>
      </p:sp>
      <p:sp>
        <p:nvSpPr>
          <p:cNvPr id="632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Tools to Manage Software (continued)</a:t>
            </a:r>
          </a:p>
        </p:txBody>
      </p:sp>
      <p:sp>
        <p:nvSpPr>
          <p:cNvPr id="632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382000" cy="4724400"/>
          </a:xfrm>
        </p:spPr>
        <p:txBody>
          <a:bodyPr/>
          <a:lstStyle/>
          <a:p>
            <a:r>
              <a:rPr lang="en-US"/>
              <a:t>System Configuration Utility (MSCONFIG)</a:t>
            </a:r>
          </a:p>
          <a:p>
            <a:pPr lvl="1"/>
            <a:r>
              <a:rPr lang="en-US"/>
              <a:t>Identifies processes launched at startup </a:t>
            </a:r>
          </a:p>
          <a:p>
            <a:pPr lvl="1"/>
            <a:r>
              <a:rPr lang="en-US"/>
              <a:t>Used to temporarily disable a process from loading</a:t>
            </a:r>
          </a:p>
          <a:p>
            <a:pPr lvl="1"/>
            <a:r>
              <a:rPr lang="en-US"/>
              <a:t>Not available in Windows 2000 (use third-party utility)</a:t>
            </a:r>
          </a:p>
          <a:p>
            <a:pPr lvl="1"/>
            <a:r>
              <a:rPr lang="en-US"/>
              <a:t>To use Msconfig, enter msconfig.exe</a:t>
            </a:r>
            <a:r>
              <a:rPr lang="en-US" b="1"/>
              <a:t> </a:t>
            </a:r>
            <a:r>
              <a:rPr lang="en-US"/>
              <a:t>in the Run dialog</a:t>
            </a:r>
          </a:p>
          <a:p>
            <a:r>
              <a:rPr lang="en-US"/>
              <a:t>Services Console </a:t>
            </a:r>
          </a:p>
          <a:p>
            <a:pPr lvl="1"/>
            <a:r>
              <a:rPr lang="en-US"/>
              <a:t>Controls installed Windows and third-party services </a:t>
            </a:r>
          </a:p>
          <a:p>
            <a:pPr lvl="1"/>
            <a:r>
              <a:rPr lang="en-US"/>
              <a:t>To launch console, enter Services.msc</a:t>
            </a:r>
            <a:r>
              <a:rPr lang="en-US" b="1"/>
              <a:t> </a:t>
            </a:r>
            <a:r>
              <a:rPr lang="en-US"/>
              <a:t>in Run dialog</a:t>
            </a:r>
          </a:p>
          <a:p>
            <a:pPr lvl="1"/>
            <a:r>
              <a:rPr lang="en-US"/>
              <a:t>Types of services: Automatic, Manual, Disabled </a:t>
            </a:r>
          </a:p>
          <a:p>
            <a:pPr lvl="1"/>
            <a:r>
              <a:rPr lang="en-US"/>
              <a:t>Properties dialog of a service provides more details   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371991-159E-402C-B790-9F027DEFF2E6}" type="slidenum">
              <a:rPr lang="en-US"/>
              <a:pPr/>
              <a:t>56</a:t>
            </a:fld>
            <a:endParaRPr lang="en-US"/>
          </a:p>
        </p:txBody>
      </p:sp>
      <p:pic>
        <p:nvPicPr>
          <p:cNvPr id="636933" name="Picture 5" descr="C12F071"/>
          <p:cNvPicPr>
            <a:picLocks noChangeAspect="1" noChangeArrowheads="1"/>
          </p:cNvPicPr>
          <p:nvPr/>
        </p:nvPicPr>
        <p:blipFill>
          <a:blip r:embed="rId2" cstate="print">
            <a:lum bright="-12000"/>
          </a:blip>
          <a:srcRect/>
          <a:stretch>
            <a:fillRect/>
          </a:stretch>
        </p:blipFill>
        <p:spPr bwMode="auto">
          <a:xfrm>
            <a:off x="2206625" y="1600200"/>
            <a:ext cx="4730750" cy="3733800"/>
          </a:xfrm>
          <a:prstGeom prst="rect">
            <a:avLst/>
          </a:prstGeom>
          <a:noFill/>
        </p:spPr>
      </p:pic>
      <p:sp>
        <p:nvSpPr>
          <p:cNvPr id="636934" name="Rectangle 6"/>
          <p:cNvSpPr>
            <a:spLocks noChangeArrowheads="1"/>
          </p:cNvSpPr>
          <p:nvPr/>
        </p:nvSpPr>
        <p:spPr bwMode="auto">
          <a:xfrm>
            <a:off x="0" y="5486400"/>
            <a:ext cx="914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12-71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Control startup items on the Startup tab of Msconfig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B98539-EB79-4488-B7EF-62985E11B40B}" type="slidenum">
              <a:rPr lang="en-US"/>
              <a:pPr/>
              <a:t>57</a:t>
            </a:fld>
            <a:endParaRPr lang="en-US"/>
          </a:p>
        </p:txBody>
      </p:sp>
      <p:pic>
        <p:nvPicPr>
          <p:cNvPr id="637956" name="Picture 4" descr="C12F072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1905000" y="1673225"/>
            <a:ext cx="5334000" cy="3511550"/>
          </a:xfrm>
          <a:prstGeom prst="rect">
            <a:avLst/>
          </a:prstGeom>
          <a:noFill/>
        </p:spPr>
      </p:pic>
      <p:sp>
        <p:nvSpPr>
          <p:cNvPr id="637957" name="Rectangle 5"/>
          <p:cNvSpPr>
            <a:spLocks noChangeArrowheads="1"/>
          </p:cNvSpPr>
          <p:nvPr/>
        </p:nvSpPr>
        <p:spPr bwMode="auto">
          <a:xfrm>
            <a:off x="0" y="5410200"/>
            <a:ext cx="914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12-72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The Services window is used to manage Windows services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1F40AA-A3F1-4922-9D33-1D51140F6ECA}" type="slidenum">
              <a:rPr lang="en-US"/>
              <a:pPr/>
              <a:t>58</a:t>
            </a:fld>
            <a:endParaRPr lang="en-US"/>
          </a:p>
        </p:txBody>
      </p:sp>
      <p:sp>
        <p:nvSpPr>
          <p:cNvPr id="641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Uninstall Unwanted Software</a:t>
            </a:r>
          </a:p>
        </p:txBody>
      </p:sp>
      <p:sp>
        <p:nvSpPr>
          <p:cNvPr id="641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458200" cy="4572000"/>
          </a:xfrm>
        </p:spPr>
        <p:txBody>
          <a:bodyPr/>
          <a:lstStyle/>
          <a:p>
            <a:r>
              <a:rPr lang="en-US"/>
              <a:t>Using the Add or Remove Programs applet </a:t>
            </a:r>
          </a:p>
          <a:p>
            <a:pPr lvl="1"/>
            <a:r>
              <a:rPr lang="en-US"/>
              <a:t>Access the applet in the Control Panel</a:t>
            </a:r>
          </a:p>
          <a:p>
            <a:pPr lvl="1"/>
            <a:r>
              <a:rPr lang="en-US"/>
              <a:t>Select the hardware device or application </a:t>
            </a:r>
          </a:p>
          <a:p>
            <a:pPr lvl="1"/>
            <a:r>
              <a:rPr lang="en-US"/>
              <a:t>Click Change/Remove</a:t>
            </a:r>
            <a:r>
              <a:rPr lang="en-US" b="1"/>
              <a:t> </a:t>
            </a:r>
            <a:r>
              <a:rPr lang="en-US"/>
              <a:t>and follow directions onscreen</a:t>
            </a:r>
          </a:p>
          <a:p>
            <a:r>
              <a:rPr lang="en-US"/>
              <a:t>Uninstall routine</a:t>
            </a:r>
          </a:p>
          <a:p>
            <a:pPr lvl="1"/>
            <a:r>
              <a:rPr lang="en-US"/>
              <a:t>Second removal choice after Add or Remove Programs </a:t>
            </a:r>
          </a:p>
          <a:p>
            <a:pPr lvl="1"/>
            <a:r>
              <a:rPr lang="en-US"/>
              <a:t>Example: WinPatrol application includes this routine</a:t>
            </a:r>
          </a:p>
          <a:p>
            <a:r>
              <a:rPr lang="en-US"/>
              <a:t>Delete program files </a:t>
            </a:r>
          </a:p>
          <a:p>
            <a:pPr lvl="1"/>
            <a:r>
              <a:rPr lang="en-US"/>
              <a:t>Third removal choice </a:t>
            </a:r>
          </a:p>
          <a:p>
            <a:pPr lvl="1"/>
            <a:r>
              <a:rPr lang="en-US"/>
              <a:t>Files are usually located in C:\Program Files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C27B53-7C2A-4041-A9DF-EDE98A59F24D}" type="slidenum">
              <a:rPr lang="en-US"/>
              <a:pPr/>
              <a:t>59</a:t>
            </a:fld>
            <a:endParaRPr lang="en-US"/>
          </a:p>
        </p:txBody>
      </p:sp>
      <p:pic>
        <p:nvPicPr>
          <p:cNvPr id="642054" name="Picture 6" descr="C12F074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2057400" y="1524000"/>
            <a:ext cx="5145088" cy="3200400"/>
          </a:xfrm>
          <a:prstGeom prst="rect">
            <a:avLst/>
          </a:prstGeom>
          <a:noFill/>
        </p:spPr>
      </p:pic>
      <p:sp>
        <p:nvSpPr>
          <p:cNvPr id="642055" name="Rectangle 7"/>
          <p:cNvSpPr>
            <a:spLocks noChangeArrowheads="1"/>
          </p:cNvSpPr>
          <p:nvPr/>
        </p:nvSpPr>
        <p:spPr bwMode="auto">
          <a:xfrm>
            <a:off x="0" y="4876800"/>
            <a:ext cx="9144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12-74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Use the Add or Remove Programs applet to uninstall a few hardware devices and most applications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BC2671-BC00-4B86-A9C9-FD79AE3F35F8}" type="slidenum">
              <a:rPr lang="en-US"/>
              <a:pPr/>
              <a:t>60</a:t>
            </a:fld>
            <a:endParaRPr lang="en-US"/>
          </a:p>
        </p:txBody>
      </p:sp>
      <p:sp>
        <p:nvSpPr>
          <p:cNvPr id="64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295400"/>
          </a:xfrm>
        </p:spPr>
        <p:txBody>
          <a:bodyPr/>
          <a:lstStyle/>
          <a:p>
            <a:r>
              <a:rPr lang="en-US"/>
              <a:t>Uninstall Unwanted Software (continued)</a:t>
            </a:r>
          </a:p>
        </p:txBody>
      </p:sp>
      <p:sp>
        <p:nvSpPr>
          <p:cNvPr id="64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458200" cy="4572000"/>
          </a:xfrm>
        </p:spPr>
        <p:txBody>
          <a:bodyPr/>
          <a:lstStyle/>
          <a:p>
            <a:r>
              <a:rPr lang="en-US"/>
              <a:t>Delete registry entries</a:t>
            </a:r>
          </a:p>
          <a:p>
            <a:pPr lvl="1"/>
            <a:r>
              <a:rPr lang="en-US"/>
              <a:t>Open the Registry Editor</a:t>
            </a:r>
          </a:p>
          <a:p>
            <a:pPr lvl="1"/>
            <a:r>
              <a:rPr lang="en-US"/>
              <a:t>Locate the Uninstall key to the Windows desktop</a:t>
            </a:r>
          </a:p>
          <a:p>
            <a:pPr lvl="1"/>
            <a:r>
              <a:rPr lang="en-US"/>
              <a:t>Backup the Uninstall key, save it to Desktop</a:t>
            </a:r>
          </a:p>
          <a:p>
            <a:pPr lvl="1"/>
            <a:r>
              <a:rPr lang="en-US"/>
              <a:t>Locate file to delete (dependent on the Uninstall key)</a:t>
            </a:r>
          </a:p>
          <a:p>
            <a:pPr lvl="1"/>
            <a:r>
              <a:rPr lang="en-US"/>
              <a:t>Delete the targeted file</a:t>
            </a:r>
          </a:p>
          <a:p>
            <a:pPr lvl="1"/>
            <a:r>
              <a:rPr lang="en-US"/>
              <a:t>Open Add or Remove Programs to verify deletion</a:t>
            </a:r>
          </a:p>
          <a:p>
            <a:pPr lvl="2"/>
            <a:r>
              <a:rPr lang="en-US"/>
              <a:t>If the program list is not correct, restore the Uninstall key</a:t>
            </a:r>
          </a:p>
          <a:p>
            <a:pPr lvl="2"/>
            <a:r>
              <a:rPr lang="en-US"/>
              <a:t>If program list is correct, delete backup to Uninstall key</a:t>
            </a:r>
          </a:p>
          <a:p>
            <a:pPr lvl="1"/>
            <a:r>
              <a:rPr lang="en-US"/>
              <a:t>Restart the PC and troubleshoot any startup errors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D2CB4C-CC4F-41D8-929D-F1508A544B50}" type="slidenum">
              <a:rPr lang="en-US"/>
              <a:pPr/>
              <a:t>61</a:t>
            </a:fld>
            <a:endParaRPr lang="en-US"/>
          </a:p>
        </p:txBody>
      </p:sp>
      <p:pic>
        <p:nvPicPr>
          <p:cNvPr id="644101" name="Picture 5" descr="C12F078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1752600" y="1676400"/>
            <a:ext cx="5565775" cy="3429000"/>
          </a:xfrm>
          <a:prstGeom prst="rect">
            <a:avLst/>
          </a:prstGeom>
          <a:noFill/>
        </p:spPr>
      </p:pic>
      <p:sp>
        <p:nvSpPr>
          <p:cNvPr id="644102" name="Rectangle 6"/>
          <p:cNvSpPr>
            <a:spLocks noChangeArrowheads="1"/>
          </p:cNvSpPr>
          <p:nvPr/>
        </p:nvSpPr>
        <p:spPr bwMode="auto">
          <a:xfrm>
            <a:off x="1066800" y="5334000"/>
            <a:ext cx="7162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12-78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Select a subkey under the Uninstall key to display its values and data in the right pane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E8C483-7D62-4C5B-8C44-3992EAE3811D}" type="slidenum">
              <a:rPr lang="en-US"/>
              <a:pPr/>
              <a:t>62</a:t>
            </a:fld>
            <a:endParaRPr lang="en-US"/>
          </a:p>
        </p:txBody>
      </p:sp>
      <p:sp>
        <p:nvSpPr>
          <p:cNvPr id="64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Managing Windows 2000/XP Memory</a:t>
            </a:r>
          </a:p>
        </p:txBody>
      </p:sp>
      <p:sp>
        <p:nvSpPr>
          <p:cNvPr id="64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458200" cy="4572000"/>
          </a:xfrm>
        </p:spPr>
        <p:txBody>
          <a:bodyPr/>
          <a:lstStyle/>
          <a:p>
            <a:r>
              <a:rPr lang="en-US"/>
              <a:t>Virtual Memory Manager (VMM)</a:t>
            </a:r>
          </a:p>
          <a:p>
            <a:pPr lvl="1"/>
            <a:r>
              <a:rPr lang="en-US"/>
              <a:t>Interface between software and physical/virtual memory</a:t>
            </a:r>
          </a:p>
          <a:p>
            <a:pPr lvl="1"/>
            <a:r>
              <a:rPr lang="en-US"/>
              <a:t>Provides a set of memory addresses to each program</a:t>
            </a:r>
          </a:p>
          <a:p>
            <a:pPr lvl="1"/>
            <a:r>
              <a:rPr lang="en-US"/>
              <a:t>Memory is allocated in 4KB segments (pages)</a:t>
            </a:r>
          </a:p>
          <a:p>
            <a:pPr lvl="1"/>
            <a:r>
              <a:rPr lang="en-US"/>
              <a:t>Pages are stored in RAM or swap file on hard drive</a:t>
            </a:r>
          </a:p>
          <a:p>
            <a:r>
              <a:rPr lang="en-US"/>
              <a:t>Some guidelines for managing memory</a:t>
            </a:r>
          </a:p>
          <a:p>
            <a:pPr lvl="1"/>
            <a:r>
              <a:rPr lang="en-US"/>
              <a:t>If drive space is limited, limit maximum size of page file</a:t>
            </a:r>
          </a:p>
          <a:p>
            <a:pPr lvl="1"/>
            <a:r>
              <a:rPr lang="en-US"/>
              <a:t>If RAM space is limited, expand page file size to 4 GB</a:t>
            </a:r>
          </a:p>
          <a:p>
            <a:pPr lvl="1"/>
            <a:r>
              <a:rPr lang="en-US"/>
              <a:t>Spread page file over several physical devices </a:t>
            </a:r>
          </a:p>
          <a:p>
            <a:pPr lvl="1"/>
            <a:r>
              <a:rPr lang="en-US"/>
              <a:t>Do not completely eliminate virtual memory 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FF1487-EA79-4A88-AD10-47214FF22BD9}" type="slidenum">
              <a:rPr lang="en-US"/>
              <a:pPr/>
              <a:t>63</a:t>
            </a:fld>
            <a:endParaRPr lang="en-US"/>
          </a:p>
        </p:txBody>
      </p:sp>
      <p:pic>
        <p:nvPicPr>
          <p:cNvPr id="646150" name="Picture 6" descr="C12F080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2224088" y="2176463"/>
            <a:ext cx="4694237" cy="2505075"/>
          </a:xfrm>
          <a:prstGeom prst="rect">
            <a:avLst/>
          </a:prstGeom>
          <a:noFill/>
        </p:spPr>
      </p:pic>
      <p:sp>
        <p:nvSpPr>
          <p:cNvPr id="646151" name="Rectangle 7"/>
          <p:cNvSpPr>
            <a:spLocks noChangeArrowheads="1"/>
          </p:cNvSpPr>
          <p:nvPr/>
        </p:nvSpPr>
        <p:spPr bwMode="auto">
          <a:xfrm>
            <a:off x="0" y="5181600"/>
            <a:ext cx="914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12-80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Windows 2000/XP memory management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4CAC919-83F6-4ED5-AED5-65BE50A154F1}" type="slidenum">
              <a:rPr lang="en-US"/>
              <a:pPr/>
              <a:t>64</a:t>
            </a:fld>
            <a:endParaRPr lang="en-US"/>
          </a:p>
        </p:txBody>
      </p:sp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458200" cy="4572000"/>
          </a:xfrm>
        </p:spPr>
        <p:txBody>
          <a:bodyPr/>
          <a:lstStyle/>
          <a:p>
            <a:r>
              <a:rPr lang="en-US"/>
              <a:t>Administrator privileges are generally required to install hardware and software </a:t>
            </a:r>
          </a:p>
          <a:p>
            <a:r>
              <a:rPr lang="en-US"/>
              <a:t>Disk Management utility: partition/format hard drive</a:t>
            </a:r>
          </a:p>
          <a:p>
            <a:r>
              <a:rPr lang="en-US"/>
              <a:t>Console: window with administrative tools (snap-ins)</a:t>
            </a:r>
          </a:p>
          <a:p>
            <a:r>
              <a:rPr lang="en-US"/>
              <a:t>Microsoft Management Console (MMC): build customized console windows</a:t>
            </a:r>
          </a:p>
          <a:p>
            <a:r>
              <a:rPr lang="en-US"/>
              <a:t>Windows File Protection: protects system files from inadvertent changes or deletions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A4F8D-B38F-44E9-9F4A-E51232AEC8B5}" type="slidenum">
              <a:rPr lang="en-US"/>
              <a:pPr/>
              <a:t>65</a:t>
            </a:fld>
            <a:endParaRPr lang="en-US"/>
          </a:p>
        </p:txBody>
      </p:sp>
      <p:sp>
        <p:nvSpPr>
          <p:cNvPr id="586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(continued)</a:t>
            </a:r>
          </a:p>
        </p:txBody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458200" cy="4572000"/>
          </a:xfrm>
        </p:spPr>
        <p:txBody>
          <a:bodyPr/>
          <a:lstStyle/>
          <a:p>
            <a:r>
              <a:rPr lang="en-US"/>
              <a:t>System Restore utility: returns system to earlier state </a:t>
            </a:r>
          </a:p>
          <a:p>
            <a:r>
              <a:rPr lang="en-US"/>
              <a:t>Two backup tools: Backup Utility and Automated System Recovery (ASR)</a:t>
            </a:r>
          </a:p>
          <a:p>
            <a:r>
              <a:rPr lang="en-US"/>
              <a:t>Windows registry: hierarchical database storing all information about system components</a:t>
            </a:r>
          </a:p>
          <a:p>
            <a:r>
              <a:rPr lang="en-US"/>
              <a:t>Tools to manage software: Task Manager, System Configuration Utility, and the Services console </a:t>
            </a:r>
          </a:p>
          <a:p>
            <a:r>
              <a:rPr lang="en-US"/>
              <a:t>Virtual Memory Manager (VMM): manage physical and virtual memory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9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FF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3645</Words>
  <Application>Microsoft Office PowerPoint</Application>
  <PresentationFormat>On-screen Show (4:3)</PresentationFormat>
  <Paragraphs>501</Paragraphs>
  <Slides>65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9" baseType="lpstr">
      <vt:lpstr>Times New Roman</vt:lpstr>
      <vt:lpstr>Arial</vt:lpstr>
      <vt:lpstr>Wingdings</vt:lpstr>
      <vt:lpstr>Default Design</vt:lpstr>
      <vt:lpstr>A+ Guide to Managing and Maintaining your PC, 6e</vt:lpstr>
      <vt:lpstr>Objectives</vt:lpstr>
      <vt:lpstr>Introduction</vt:lpstr>
      <vt:lpstr>Supporting Hardware and Applications</vt:lpstr>
      <vt:lpstr>Installing Hardware and Applications</vt:lpstr>
      <vt:lpstr>Installing Hardware and Applications (continued)</vt:lpstr>
      <vt:lpstr>Slide 7</vt:lpstr>
      <vt:lpstr>Installing Hardware and Applications (continued)</vt:lpstr>
      <vt:lpstr>Slide 9</vt:lpstr>
      <vt:lpstr>Preparing a Hard Drive for First Use</vt:lpstr>
      <vt:lpstr>Preparing a Hard Drive for First Use (continued)</vt:lpstr>
      <vt:lpstr>Slide 12</vt:lpstr>
      <vt:lpstr>Preparing a Hard Drive for First Use (continued)</vt:lpstr>
      <vt:lpstr>Slide 14</vt:lpstr>
      <vt:lpstr>Slide 15</vt:lpstr>
      <vt:lpstr>Solving Hardware Problems Using Windows 2000/XP</vt:lpstr>
      <vt:lpstr>Slide 17</vt:lpstr>
      <vt:lpstr>Solving Hardware Problems Using Windows 2000/XP (continued)</vt:lpstr>
      <vt:lpstr>Slide 19</vt:lpstr>
      <vt:lpstr>Solving Hardware Problems Using Windows 2000/XP (continued)</vt:lpstr>
      <vt:lpstr>Slide 21</vt:lpstr>
      <vt:lpstr>Installing and Supporting Applications</vt:lpstr>
      <vt:lpstr>Slide 23</vt:lpstr>
      <vt:lpstr>Installing and Supporting Applications (continued)</vt:lpstr>
      <vt:lpstr>Tools Useful to Manage Hardware and Applications</vt:lpstr>
      <vt:lpstr>Slide 26</vt:lpstr>
      <vt:lpstr>Slide 27</vt:lpstr>
      <vt:lpstr>Tools Useful to Manage Hardware and Applications (continued)</vt:lpstr>
      <vt:lpstr>Slide 29</vt:lpstr>
      <vt:lpstr>Slide 30</vt:lpstr>
      <vt:lpstr>Protecting and Maintaining Windows System Files</vt:lpstr>
      <vt:lpstr>Windows File Protection</vt:lpstr>
      <vt:lpstr>Slide 33</vt:lpstr>
      <vt:lpstr>Windows XP System Restore</vt:lpstr>
      <vt:lpstr>Back Up and Restore the System State</vt:lpstr>
      <vt:lpstr>Slide 36</vt:lpstr>
      <vt:lpstr>Back Up and Restore the System State (continued)</vt:lpstr>
      <vt:lpstr>Slide 38</vt:lpstr>
      <vt:lpstr>Windows XP Automated System Recovery</vt:lpstr>
      <vt:lpstr>Slide 40</vt:lpstr>
      <vt:lpstr>Windows XP Automated System Recovery (continued)</vt:lpstr>
      <vt:lpstr>Slide 42</vt:lpstr>
      <vt:lpstr>The Windows 2000/XP Registry</vt:lpstr>
      <vt:lpstr>Slide 44</vt:lpstr>
      <vt:lpstr>How the Registry is Organized</vt:lpstr>
      <vt:lpstr>Slide 46</vt:lpstr>
      <vt:lpstr>Slide 47</vt:lpstr>
      <vt:lpstr>Backing Up and Recovering the Registry</vt:lpstr>
      <vt:lpstr>Slide 49</vt:lpstr>
      <vt:lpstr>Editing the Registry</vt:lpstr>
      <vt:lpstr>Slide 51</vt:lpstr>
      <vt:lpstr>Optimizing the Windows 2000/XP Environment</vt:lpstr>
      <vt:lpstr>Tools to Manage Software</vt:lpstr>
      <vt:lpstr>Slide 54</vt:lpstr>
      <vt:lpstr>Tools to Manage Software (continued)</vt:lpstr>
      <vt:lpstr>Slide 56</vt:lpstr>
      <vt:lpstr>Slide 57</vt:lpstr>
      <vt:lpstr>Uninstall Unwanted Software</vt:lpstr>
      <vt:lpstr>Slide 59</vt:lpstr>
      <vt:lpstr>Uninstall Unwanted Software (continued)</vt:lpstr>
      <vt:lpstr>Slide 61</vt:lpstr>
      <vt:lpstr>Managing Windows 2000/XP Memory</vt:lpstr>
      <vt:lpstr>Slide 63</vt:lpstr>
      <vt:lpstr>Summary</vt:lpstr>
      <vt:lpstr>Summary (continued)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A+ Guide to Managing and Maintaining your PC, 6e</dc:title>
  <dc:creator/>
  <cp:lastModifiedBy/>
  <cp:revision>324</cp:revision>
  <dcterms:created xsi:type="dcterms:W3CDTF">2002-09-27T23:29:22Z</dcterms:created>
  <dcterms:modified xsi:type="dcterms:W3CDTF">2012-09-14T07:59:16Z</dcterms:modified>
</cp:coreProperties>
</file>