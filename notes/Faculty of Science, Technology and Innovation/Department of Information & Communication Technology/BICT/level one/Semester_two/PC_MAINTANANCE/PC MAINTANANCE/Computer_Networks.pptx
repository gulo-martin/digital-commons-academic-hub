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98"/>
  </p:notesMasterIdLst>
  <p:handoutMasterIdLst>
    <p:handoutMasterId r:id="rId99"/>
  </p:handoutMasterIdLst>
  <p:sldIdLst>
    <p:sldId id="256" r:id="rId2"/>
    <p:sldId id="257" r:id="rId3"/>
    <p:sldId id="258" r:id="rId4"/>
    <p:sldId id="259" r:id="rId5"/>
    <p:sldId id="348" r:id="rId6"/>
    <p:sldId id="349" r:id="rId7"/>
    <p:sldId id="350" r:id="rId8"/>
    <p:sldId id="260" r:id="rId9"/>
    <p:sldId id="261" r:id="rId10"/>
    <p:sldId id="262" r:id="rId11"/>
    <p:sldId id="263" r:id="rId12"/>
    <p:sldId id="264" r:id="rId13"/>
    <p:sldId id="265" r:id="rId14"/>
    <p:sldId id="266" r:id="rId15"/>
    <p:sldId id="269" r:id="rId16"/>
    <p:sldId id="270" r:id="rId17"/>
    <p:sldId id="351" r:id="rId18"/>
    <p:sldId id="271" r:id="rId19"/>
    <p:sldId id="273" r:id="rId20"/>
    <p:sldId id="272"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335" r:id="rId46"/>
    <p:sldId id="336" r:id="rId47"/>
    <p:sldId id="337" r:id="rId48"/>
    <p:sldId id="338" r:id="rId49"/>
    <p:sldId id="339" r:id="rId50"/>
    <p:sldId id="340" r:id="rId51"/>
    <p:sldId id="341" r:id="rId52"/>
    <p:sldId id="298" r:id="rId53"/>
    <p:sldId id="267" r:id="rId54"/>
    <p:sldId id="268" r:id="rId55"/>
    <p:sldId id="299" r:id="rId56"/>
    <p:sldId id="300" r:id="rId57"/>
    <p:sldId id="301" r:id="rId58"/>
    <p:sldId id="302" r:id="rId59"/>
    <p:sldId id="303" r:id="rId60"/>
    <p:sldId id="304" r:id="rId61"/>
    <p:sldId id="305" r:id="rId62"/>
    <p:sldId id="306" r:id="rId63"/>
    <p:sldId id="307" r:id="rId64"/>
    <p:sldId id="308" r:id="rId65"/>
    <p:sldId id="309" r:id="rId66"/>
    <p:sldId id="310" r:id="rId67"/>
    <p:sldId id="311" r:id="rId68"/>
    <p:sldId id="312" r:id="rId69"/>
    <p:sldId id="313" r:id="rId70"/>
    <p:sldId id="314" r:id="rId71"/>
    <p:sldId id="315" r:id="rId72"/>
    <p:sldId id="316" r:id="rId73"/>
    <p:sldId id="317" r:id="rId74"/>
    <p:sldId id="318" r:id="rId75"/>
    <p:sldId id="319" r:id="rId76"/>
    <p:sldId id="320" r:id="rId77"/>
    <p:sldId id="321" r:id="rId78"/>
    <p:sldId id="322" r:id="rId79"/>
    <p:sldId id="323" r:id="rId80"/>
    <p:sldId id="327" r:id="rId81"/>
    <p:sldId id="328" r:id="rId82"/>
    <p:sldId id="329" r:id="rId83"/>
    <p:sldId id="330" r:id="rId84"/>
    <p:sldId id="331" r:id="rId85"/>
    <p:sldId id="332" r:id="rId86"/>
    <p:sldId id="333" r:id="rId87"/>
    <p:sldId id="334" r:id="rId88"/>
    <p:sldId id="342" r:id="rId89"/>
    <p:sldId id="343" r:id="rId90"/>
    <p:sldId id="344" r:id="rId91"/>
    <p:sldId id="324" r:id="rId92"/>
    <p:sldId id="345" r:id="rId93"/>
    <p:sldId id="346" r:id="rId94"/>
    <p:sldId id="347" r:id="rId95"/>
    <p:sldId id="325" r:id="rId96"/>
    <p:sldId id="326" r:id="rId97"/>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9" d="100"/>
          <a:sy n="69" d="100"/>
        </p:scale>
        <p:origin x="-1404" y="-90"/>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theme" Target="theme/theme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handoutMaster" Target="handoutMasters/handoutMaster1.xml"/><Relationship Id="rId10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notesMaster" Target="notesMasters/notesMaster1.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70338" y="0"/>
            <a:ext cx="3038475" cy="465138"/>
          </a:xfrm>
          <a:prstGeom prst="rect">
            <a:avLst/>
          </a:prstGeom>
        </p:spPr>
        <p:txBody>
          <a:bodyPr vert="horz" lIns="91440" tIns="45720" rIns="91440" bIns="45720" rtlCol="0"/>
          <a:lstStyle>
            <a:lvl1pPr algn="r">
              <a:defRPr sz="1200"/>
            </a:lvl1pPr>
          </a:lstStyle>
          <a:p>
            <a:fld id="{6AE0400A-8D6B-47D6-BD3A-3375BBD6A043}" type="datetimeFigureOut">
              <a:rPr lang="en-US" smtClean="0"/>
              <a:t>10/24/2016</a:t>
            </a:fld>
            <a:endParaRPr lang="en-US"/>
          </a:p>
        </p:txBody>
      </p:sp>
      <p:sp>
        <p:nvSpPr>
          <p:cNvPr id="4" name="Footer Placeholder 3"/>
          <p:cNvSpPr>
            <a:spLocks noGrp="1"/>
          </p:cNvSpPr>
          <p:nvPr>
            <p:ph type="ftr" sz="quarter" idx="2"/>
          </p:nvPr>
        </p:nvSpPr>
        <p:spPr>
          <a:xfrm>
            <a:off x="0" y="8829675"/>
            <a:ext cx="3038475" cy="465138"/>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70338" y="8829675"/>
            <a:ext cx="3038475" cy="465138"/>
          </a:xfrm>
          <a:prstGeom prst="rect">
            <a:avLst/>
          </a:prstGeom>
        </p:spPr>
        <p:txBody>
          <a:bodyPr vert="horz" lIns="91440" tIns="45720" rIns="91440" bIns="45720" rtlCol="0" anchor="b"/>
          <a:lstStyle>
            <a:lvl1pPr algn="r">
              <a:defRPr sz="1200"/>
            </a:lvl1pPr>
          </a:lstStyle>
          <a:p>
            <a:fld id="{DF852530-8651-4DBC-B9EF-20758289367F}" type="slidenum">
              <a:rPr lang="en-US" smtClean="0"/>
              <a:t>‹#›</a:t>
            </a:fld>
            <a:endParaRPr lang="en-US"/>
          </a:p>
        </p:txBody>
      </p:sp>
    </p:spTree>
    <p:extLst>
      <p:ext uri="{BB962C8B-B14F-4D97-AF65-F5344CB8AC3E}">
        <p14:creationId xmlns:p14="http://schemas.microsoft.com/office/powerpoint/2010/main" val="20917273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90B25D25-2082-4063-BE4E-DAB41CBD58BB}" type="datetimeFigureOut">
              <a:rPr lang="en-US" smtClean="0"/>
              <a:t>10/24/2016</a:t>
            </a:fld>
            <a:endParaRPr lang="en-US"/>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F1FB5FED-EA5A-4627-AF08-804EC1F8B8E3}" type="slidenum">
              <a:rPr lang="en-US" smtClean="0"/>
              <a:t>‹#›</a:t>
            </a:fld>
            <a:endParaRPr lang="en-US"/>
          </a:p>
        </p:txBody>
      </p:sp>
    </p:spTree>
    <p:extLst>
      <p:ext uri="{BB962C8B-B14F-4D97-AF65-F5344CB8AC3E}">
        <p14:creationId xmlns:p14="http://schemas.microsoft.com/office/powerpoint/2010/main" val="42154296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Institute</a:t>
            </a:r>
            <a:r>
              <a:rPr lang="en-US" baseline="0" dirty="0" smtClean="0"/>
              <a:t> of Electrical and Electronics Engineers</a:t>
            </a:r>
            <a:endParaRPr lang="en-US" dirty="0" smtClean="0"/>
          </a:p>
          <a:p>
            <a:r>
              <a:rPr lang="en-US" dirty="0" smtClean="0"/>
              <a:t>It promotes the engineering process of creating, developing,</a:t>
            </a:r>
            <a:r>
              <a:rPr lang="en-US" baseline="0" dirty="0" smtClean="0"/>
              <a:t> integrating, sharing and applying knowledge</a:t>
            </a:r>
          </a:p>
          <a:p>
            <a:endParaRPr lang="en-US" dirty="0"/>
          </a:p>
        </p:txBody>
      </p:sp>
      <p:sp>
        <p:nvSpPr>
          <p:cNvPr id="4" name="Slide Number Placeholder 3"/>
          <p:cNvSpPr>
            <a:spLocks noGrp="1"/>
          </p:cNvSpPr>
          <p:nvPr>
            <p:ph type="sldNum" sz="quarter" idx="10"/>
          </p:nvPr>
        </p:nvSpPr>
        <p:spPr/>
        <p:txBody>
          <a:bodyPr/>
          <a:lstStyle/>
          <a:p>
            <a:fld id="{F1FB5FED-EA5A-4627-AF08-804EC1F8B8E3}" type="slidenum">
              <a:rPr lang="en-US" smtClean="0"/>
              <a:t>21</a:t>
            </a:fld>
            <a:endParaRPr lang="en-US"/>
          </a:p>
        </p:txBody>
      </p:sp>
    </p:spTree>
    <p:extLst>
      <p:ext uri="{BB962C8B-B14F-4D97-AF65-F5344CB8AC3E}">
        <p14:creationId xmlns:p14="http://schemas.microsoft.com/office/powerpoint/2010/main" val="20445141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CCITT/ITU</a:t>
            </a:r>
            <a:r>
              <a:rPr lang="en-US" baseline="0" dirty="0" smtClean="0"/>
              <a:t> stands for Consultative Committee for International Telephony and International telegraph Union they define standards of data communications</a:t>
            </a:r>
          </a:p>
          <a:p>
            <a:endParaRPr lang="en-US" dirty="0"/>
          </a:p>
        </p:txBody>
      </p:sp>
      <p:sp>
        <p:nvSpPr>
          <p:cNvPr id="4" name="Slide Number Placeholder 3"/>
          <p:cNvSpPr>
            <a:spLocks noGrp="1"/>
          </p:cNvSpPr>
          <p:nvPr>
            <p:ph type="sldNum" sz="quarter" idx="10"/>
          </p:nvPr>
        </p:nvSpPr>
        <p:spPr/>
        <p:txBody>
          <a:bodyPr/>
          <a:lstStyle/>
          <a:p>
            <a:fld id="{F1FB5FED-EA5A-4627-AF08-804EC1F8B8E3}" type="slidenum">
              <a:rPr lang="en-US" smtClean="0"/>
              <a:t>54</a:t>
            </a:fld>
            <a:endParaRPr lang="en-US"/>
          </a:p>
        </p:txBody>
      </p:sp>
    </p:spTree>
    <p:extLst>
      <p:ext uri="{BB962C8B-B14F-4D97-AF65-F5344CB8AC3E}">
        <p14:creationId xmlns:p14="http://schemas.microsoft.com/office/powerpoint/2010/main" val="23542436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1FB5FED-EA5A-4627-AF08-804EC1F8B8E3}" type="slidenum">
              <a:rPr lang="en-US" smtClean="0"/>
              <a:t>94</a:t>
            </a:fld>
            <a:endParaRPr lang="en-US"/>
          </a:p>
        </p:txBody>
      </p:sp>
    </p:spTree>
    <p:extLst>
      <p:ext uri="{BB962C8B-B14F-4D97-AF65-F5344CB8AC3E}">
        <p14:creationId xmlns:p14="http://schemas.microsoft.com/office/powerpoint/2010/main" val="7974380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ight Triangle 6"/>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2380" y="-925"/>
            <a:ext cx="9146380" cy="6858925"/>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2002901">
                <a:moveTo>
                  <a:pt x="0" y="2002901"/>
                </a:moveTo>
                <a:lnTo>
                  <a:pt x="2836585" y="0"/>
                </a:lnTo>
                <a:lnTo>
                  <a:pt x="3352800" y="270"/>
                </a:lnTo>
                <a:lnTo>
                  <a:pt x="3352800" y="2002901"/>
                </a:lnTo>
                <a:lnTo>
                  <a:pt x="0" y="2002901"/>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rot="19140000">
            <a:off x="817112" y="1730403"/>
            <a:ext cx="5648623" cy="1204306"/>
          </a:xfrm>
        </p:spPr>
        <p:txBody>
          <a:bodyPr bIns="9144" anchor="b"/>
          <a:lstStyle>
            <a:lvl1pPr>
              <a:defRPr sz="3200"/>
            </a:lvl1pPr>
          </a:lstStyle>
          <a:p>
            <a:r>
              <a:rPr lang="en-US" smtClean="0"/>
              <a:t>Click to edit Master title style</a:t>
            </a:r>
            <a:endParaRPr lang="en-US" dirty="0"/>
          </a:p>
        </p:txBody>
      </p:sp>
      <p:sp>
        <p:nvSpPr>
          <p:cNvPr id="3" name="Subtitle 2"/>
          <p:cNvSpPr>
            <a:spLocks noGrp="1"/>
          </p:cNvSpPr>
          <p:nvPr>
            <p:ph type="subTitle" idx="1"/>
          </p:nvPr>
        </p:nvSpPr>
        <p:spPr>
          <a:xfrm rot="19140000">
            <a:off x="1212277" y="2470925"/>
            <a:ext cx="6511131" cy="329259"/>
          </a:xfrm>
        </p:spPr>
        <p:txBody>
          <a:bodyPr tIns="9144">
            <a:normAutofit/>
          </a:bodyPr>
          <a:lstStyle>
            <a:lvl1pPr marL="0" indent="0" algn="l">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itchFamily="34" charset="0"/>
              <a:buNone/>
              <a:tabLst/>
              <a:defRPr/>
            </a:pPr>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36810EC3-B2B5-4D02-8400-F72258B66AE0}" type="datetime1">
              <a:rPr lang="en-US" smtClean="0"/>
              <a:t>10/24/2016</a:t>
            </a:fld>
            <a:endParaRPr lang="en-US"/>
          </a:p>
        </p:txBody>
      </p:sp>
      <p:sp>
        <p:nvSpPr>
          <p:cNvPr id="5" name="Footer Placeholder 4"/>
          <p:cNvSpPr>
            <a:spLocks noGrp="1"/>
          </p:cNvSpPr>
          <p:nvPr>
            <p:ph type="ftr" sz="quarter" idx="11"/>
          </p:nvPr>
        </p:nvSpPr>
        <p:spPr/>
        <p:txBody>
          <a:bodyPr/>
          <a:lstStyle/>
          <a:p>
            <a:r>
              <a:rPr lang="en-US" smtClean="0"/>
              <a:t>Jeremiah Kafakoma</a:t>
            </a:r>
            <a:endParaRPr lang="en-US"/>
          </a:p>
        </p:txBody>
      </p:sp>
      <p:sp>
        <p:nvSpPr>
          <p:cNvPr id="6" name="Slide Number Placeholder 5"/>
          <p:cNvSpPr>
            <a:spLocks noGrp="1"/>
          </p:cNvSpPr>
          <p:nvPr>
            <p:ph type="sldNum" sz="quarter" idx="12"/>
          </p:nvPr>
        </p:nvSpPr>
        <p:spPr/>
        <p:txBody>
          <a:bodyPr/>
          <a:lstStyle/>
          <a:p>
            <a:fld id="{AF99D367-8FDA-4A2F-9F0E-167FD1610AEF}"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2017806-5C39-4221-9AAA-56B76268BA58}" type="datetime1">
              <a:rPr lang="en-US" smtClean="0"/>
              <a:t>10/24/2016</a:t>
            </a:fld>
            <a:endParaRPr lang="en-US"/>
          </a:p>
        </p:txBody>
      </p:sp>
      <p:sp>
        <p:nvSpPr>
          <p:cNvPr id="5" name="Footer Placeholder 4"/>
          <p:cNvSpPr>
            <a:spLocks noGrp="1"/>
          </p:cNvSpPr>
          <p:nvPr>
            <p:ph type="ftr" sz="quarter" idx="11"/>
          </p:nvPr>
        </p:nvSpPr>
        <p:spPr/>
        <p:txBody>
          <a:bodyPr/>
          <a:lstStyle/>
          <a:p>
            <a:r>
              <a:rPr lang="en-US" smtClean="0"/>
              <a:t>Jeremiah Kafakoma</a:t>
            </a:r>
            <a:endParaRPr lang="en-US"/>
          </a:p>
        </p:txBody>
      </p:sp>
      <p:sp>
        <p:nvSpPr>
          <p:cNvPr id="6" name="Slide Number Placeholder 5"/>
          <p:cNvSpPr>
            <a:spLocks noGrp="1"/>
          </p:cNvSpPr>
          <p:nvPr>
            <p:ph type="sldNum" sz="quarter" idx="12"/>
          </p:nvPr>
        </p:nvSpPr>
        <p:spPr/>
        <p:txBody>
          <a:bodyPr/>
          <a:lstStyle/>
          <a:p>
            <a:fld id="{AF99D367-8FDA-4A2F-9F0E-167FD1610AEF}"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8" name="Freeform 7"/>
          <p:cNvSpPr/>
          <p:nvPr/>
        </p:nvSpPr>
        <p:spPr>
          <a:xfrm>
            <a:off x="-2380" y="-925"/>
            <a:ext cx="9146380" cy="6858925"/>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2002901">
                <a:moveTo>
                  <a:pt x="0" y="2002901"/>
                </a:moveTo>
                <a:lnTo>
                  <a:pt x="2836585" y="0"/>
                </a:lnTo>
                <a:lnTo>
                  <a:pt x="3352800" y="270"/>
                </a:lnTo>
                <a:lnTo>
                  <a:pt x="3352800" y="2002901"/>
                </a:lnTo>
                <a:lnTo>
                  <a:pt x="0" y="2002901"/>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ight Triangle 6"/>
          <p:cNvSpPr/>
          <p:nvPr/>
        </p:nvSpPr>
        <p:spPr>
          <a:xfrm>
            <a:off x="0" y="2647950"/>
            <a:ext cx="3571875" cy="4210050"/>
          </a:xfrm>
          <a:prstGeom prst="rtTriangle">
            <a:avLst/>
          </a:pr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rot="19140000">
            <a:off x="819399" y="1726737"/>
            <a:ext cx="5650992" cy="1207509"/>
          </a:xfrm>
        </p:spPr>
        <p:txBody>
          <a:bodyPr bIns="9144" anchor="b"/>
          <a:lstStyle>
            <a:lvl1pPr algn="l">
              <a:defRPr kumimoji="0" lang="en-US" sz="3200" b="0" i="0" u="none" strike="noStrike" kern="1200" cap="all" spc="0" normalizeH="0" baseline="0" noProof="0" dirty="0" smtClean="0">
                <a:ln>
                  <a:noFill/>
                </a:ln>
                <a:solidFill>
                  <a:schemeClr val="tx1"/>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smtClean="0"/>
              <a:t>Click to edit Master title style</a:t>
            </a:r>
            <a:endParaRPr lang="en-US" dirty="0"/>
          </a:p>
        </p:txBody>
      </p:sp>
      <p:sp>
        <p:nvSpPr>
          <p:cNvPr id="3" name="Text Placeholder 2"/>
          <p:cNvSpPr>
            <a:spLocks noGrp="1"/>
          </p:cNvSpPr>
          <p:nvPr>
            <p:ph type="body" idx="1"/>
          </p:nvPr>
        </p:nvSpPr>
        <p:spPr>
          <a:xfrm rot="19140000">
            <a:off x="1216152" y="2468304"/>
            <a:ext cx="6510528" cy="329184"/>
          </a:xfrm>
        </p:spPr>
        <p:txBody>
          <a:bodyPr anchor="t">
            <a:normAutofit/>
          </a:bodyPr>
          <a:lstStyle>
            <a:lvl1pPr marL="0" indent="0">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itchFamily="34" charset="0"/>
              <a:buNone/>
              <a:tabLst/>
              <a:defRPr/>
            </a:pPr>
            <a:r>
              <a:rPr lang="en-US" smtClean="0"/>
              <a:t>Click to edit Master text styles</a:t>
            </a:r>
          </a:p>
        </p:txBody>
      </p:sp>
      <p:sp>
        <p:nvSpPr>
          <p:cNvPr id="4" name="Date Placeholder 3"/>
          <p:cNvSpPr>
            <a:spLocks noGrp="1"/>
          </p:cNvSpPr>
          <p:nvPr>
            <p:ph type="dt" sz="half" idx="10"/>
          </p:nvPr>
        </p:nvSpPr>
        <p:spPr/>
        <p:txBody>
          <a:bodyPr/>
          <a:lstStyle/>
          <a:p>
            <a:fld id="{419BAE81-8319-4E97-84D9-8440BF6BEB33}" type="datetime1">
              <a:rPr lang="en-US" smtClean="0"/>
              <a:t>10/24/2016</a:t>
            </a:fld>
            <a:endParaRPr lang="en-US"/>
          </a:p>
        </p:txBody>
      </p:sp>
      <p:sp>
        <p:nvSpPr>
          <p:cNvPr id="5" name="Footer Placeholder 4"/>
          <p:cNvSpPr>
            <a:spLocks noGrp="1"/>
          </p:cNvSpPr>
          <p:nvPr>
            <p:ph type="ftr" sz="quarter" idx="11"/>
          </p:nvPr>
        </p:nvSpPr>
        <p:spPr/>
        <p:txBody>
          <a:bodyPr/>
          <a:lstStyle/>
          <a:p>
            <a:r>
              <a:rPr lang="en-US" smtClean="0"/>
              <a:t>Jeremiah Kafakoma</a:t>
            </a:r>
            <a:endParaRPr lang="en-US"/>
          </a:p>
        </p:txBody>
      </p:sp>
      <p:sp>
        <p:nvSpPr>
          <p:cNvPr id="6" name="Slide Number Placeholder 5"/>
          <p:cNvSpPr>
            <a:spLocks noGrp="1"/>
          </p:cNvSpPr>
          <p:nvPr>
            <p:ph type="sldNum" sz="quarter" idx="12"/>
          </p:nvPr>
        </p:nvSpPr>
        <p:spPr/>
        <p:txBody>
          <a:bodyPr/>
          <a:lstStyle/>
          <a:p>
            <a:fld id="{AF99D367-8FDA-4A2F-9F0E-167FD1610AEF}"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22960" y="1097280"/>
            <a:ext cx="3200400" cy="37124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700016" y="1097280"/>
            <a:ext cx="3200400" cy="37124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C42EA998-B320-43AC-84CE-67D3DF6AB1DD}" type="datetime1">
              <a:rPr lang="en-US" smtClean="0"/>
              <a:t>10/24/2016</a:t>
            </a:fld>
            <a:endParaRPr lang="en-US"/>
          </a:p>
        </p:txBody>
      </p:sp>
      <p:sp>
        <p:nvSpPr>
          <p:cNvPr id="6" name="Footer Placeholder 5"/>
          <p:cNvSpPr>
            <a:spLocks noGrp="1"/>
          </p:cNvSpPr>
          <p:nvPr>
            <p:ph type="ftr" sz="quarter" idx="11"/>
          </p:nvPr>
        </p:nvSpPr>
        <p:spPr/>
        <p:txBody>
          <a:bodyPr/>
          <a:lstStyle/>
          <a:p>
            <a:r>
              <a:rPr lang="en-US" smtClean="0"/>
              <a:t>Jeremiah Kafakoma</a:t>
            </a:r>
            <a:endParaRPr lang="en-US"/>
          </a:p>
        </p:txBody>
      </p:sp>
      <p:sp>
        <p:nvSpPr>
          <p:cNvPr id="7" name="Slide Number Placeholder 6"/>
          <p:cNvSpPr>
            <a:spLocks noGrp="1"/>
          </p:cNvSpPr>
          <p:nvPr>
            <p:ph type="sldNum" sz="quarter" idx="12"/>
          </p:nvPr>
        </p:nvSpPr>
        <p:spPr/>
        <p:txBody>
          <a:bodyPr/>
          <a:lstStyle/>
          <a:p>
            <a:fld id="{AF99D367-8FDA-4A2F-9F0E-167FD1610AEF}" type="slidenum">
              <a:rPr lang="en-US" smtClean="0"/>
              <a:t>‹#›</a:t>
            </a:fld>
            <a:endParaRPr lang="en-US"/>
          </a:p>
        </p:txBody>
      </p:sp>
      <p:sp>
        <p:nvSpPr>
          <p:cNvPr id="8" name="Title 7"/>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822960" y="1097280"/>
            <a:ext cx="32004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en-US" smtClean="0"/>
              <a:t>Click to edit Master text styles</a:t>
            </a:r>
          </a:p>
        </p:txBody>
      </p:sp>
      <p:sp>
        <p:nvSpPr>
          <p:cNvPr id="4" name="Content Placeholder 3"/>
          <p:cNvSpPr>
            <a:spLocks noGrp="1"/>
          </p:cNvSpPr>
          <p:nvPr>
            <p:ph sz="half" idx="2"/>
          </p:nvPr>
        </p:nvSpPr>
        <p:spPr>
          <a:xfrm>
            <a:off x="819150" y="1701848"/>
            <a:ext cx="32004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700016" y="1097280"/>
            <a:ext cx="32004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en-US" smtClean="0"/>
              <a:t>Click to edit Master text styles</a:t>
            </a:r>
          </a:p>
        </p:txBody>
      </p:sp>
      <p:sp>
        <p:nvSpPr>
          <p:cNvPr id="6" name="Content Placeholder 5"/>
          <p:cNvSpPr>
            <a:spLocks noGrp="1"/>
          </p:cNvSpPr>
          <p:nvPr>
            <p:ph sz="quarter" idx="4"/>
          </p:nvPr>
        </p:nvSpPr>
        <p:spPr>
          <a:xfrm>
            <a:off x="4700016" y="1701848"/>
            <a:ext cx="32004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40485C-B17B-472D-A765-00F245D8A1BF}" type="datetime1">
              <a:rPr lang="en-US" smtClean="0"/>
              <a:t>10/24/2016</a:t>
            </a:fld>
            <a:endParaRPr lang="en-US"/>
          </a:p>
        </p:txBody>
      </p:sp>
      <p:sp>
        <p:nvSpPr>
          <p:cNvPr id="8" name="Footer Placeholder 7"/>
          <p:cNvSpPr>
            <a:spLocks noGrp="1"/>
          </p:cNvSpPr>
          <p:nvPr>
            <p:ph type="ftr" sz="quarter" idx="11"/>
          </p:nvPr>
        </p:nvSpPr>
        <p:spPr/>
        <p:txBody>
          <a:bodyPr/>
          <a:lstStyle/>
          <a:p>
            <a:r>
              <a:rPr lang="en-US" smtClean="0"/>
              <a:t>Jeremiah Kafakoma</a:t>
            </a:r>
            <a:endParaRPr lang="en-US"/>
          </a:p>
        </p:txBody>
      </p:sp>
      <p:sp>
        <p:nvSpPr>
          <p:cNvPr id="9" name="Slide Number Placeholder 8"/>
          <p:cNvSpPr>
            <a:spLocks noGrp="1"/>
          </p:cNvSpPr>
          <p:nvPr>
            <p:ph type="sldNum" sz="quarter" idx="12"/>
          </p:nvPr>
        </p:nvSpPr>
        <p:spPr/>
        <p:txBody>
          <a:bodyPr/>
          <a:lstStyle/>
          <a:p>
            <a:fld id="{AF99D367-8FDA-4A2F-9F0E-167FD1610AEF}"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A40CD05-488B-49A6-94ED-FCC27666A8BC}" type="datetime1">
              <a:rPr lang="en-US" smtClean="0"/>
              <a:t>10/24/2016</a:t>
            </a:fld>
            <a:endParaRPr lang="en-US"/>
          </a:p>
        </p:txBody>
      </p:sp>
      <p:sp>
        <p:nvSpPr>
          <p:cNvPr id="4" name="Footer Placeholder 3"/>
          <p:cNvSpPr>
            <a:spLocks noGrp="1"/>
          </p:cNvSpPr>
          <p:nvPr>
            <p:ph type="ftr" sz="quarter" idx="11"/>
          </p:nvPr>
        </p:nvSpPr>
        <p:spPr/>
        <p:txBody>
          <a:bodyPr/>
          <a:lstStyle/>
          <a:p>
            <a:r>
              <a:rPr lang="en-US" smtClean="0"/>
              <a:t>Jeremiah Kafakoma</a:t>
            </a:r>
            <a:endParaRPr lang="en-US"/>
          </a:p>
        </p:txBody>
      </p:sp>
      <p:sp>
        <p:nvSpPr>
          <p:cNvPr id="5" name="Slide Number Placeholder 4"/>
          <p:cNvSpPr>
            <a:spLocks noGrp="1"/>
          </p:cNvSpPr>
          <p:nvPr>
            <p:ph type="sldNum" sz="quarter" idx="12"/>
          </p:nvPr>
        </p:nvSpPr>
        <p:spPr/>
        <p:txBody>
          <a:bodyPr/>
          <a:lstStyle/>
          <a:p>
            <a:fld id="{AF99D367-8FDA-4A2F-9F0E-167FD1610AEF}"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0549D50-A871-4962-9C90-719FC63E1B40}" type="datetime1">
              <a:rPr lang="en-US" smtClean="0"/>
              <a:t>10/24/2016</a:t>
            </a:fld>
            <a:endParaRPr lang="en-US"/>
          </a:p>
        </p:txBody>
      </p:sp>
      <p:sp>
        <p:nvSpPr>
          <p:cNvPr id="3" name="Footer Placeholder 2"/>
          <p:cNvSpPr>
            <a:spLocks noGrp="1"/>
          </p:cNvSpPr>
          <p:nvPr>
            <p:ph type="ftr" sz="quarter" idx="11"/>
          </p:nvPr>
        </p:nvSpPr>
        <p:spPr/>
        <p:txBody>
          <a:bodyPr/>
          <a:lstStyle/>
          <a:p>
            <a:r>
              <a:rPr lang="en-US" smtClean="0"/>
              <a:t>Jeremiah Kafakoma</a:t>
            </a:r>
            <a:endParaRPr lang="en-US"/>
          </a:p>
        </p:txBody>
      </p:sp>
      <p:sp>
        <p:nvSpPr>
          <p:cNvPr id="4" name="Slide Number Placeholder 3"/>
          <p:cNvSpPr>
            <a:spLocks noGrp="1"/>
          </p:cNvSpPr>
          <p:nvPr>
            <p:ph type="sldNum" sz="quarter" idx="12"/>
          </p:nvPr>
        </p:nvSpPr>
        <p:spPr/>
        <p:txBody>
          <a:bodyPr/>
          <a:lstStyle/>
          <a:p>
            <a:fld id="{AF99D367-8FDA-4A2F-9F0E-167FD1610AEF}"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7" name="Right Triangle 16"/>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ight Triangle 17"/>
          <p:cNvSpPr/>
          <p:nvPr/>
        </p:nvSpPr>
        <p:spPr>
          <a:xfrm rot="5400000">
            <a:off x="433389" y="-433387"/>
            <a:ext cx="6858000" cy="7724778"/>
          </a:xfrm>
          <a:prstGeom prst="rtTriangle">
            <a:avLst/>
          </a:pr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2" name="Title 1"/>
          <p:cNvSpPr>
            <a:spLocks noGrp="1"/>
          </p:cNvSpPr>
          <p:nvPr>
            <p:ph type="title"/>
          </p:nvPr>
        </p:nvSpPr>
        <p:spPr>
          <a:xfrm rot="19140000">
            <a:off x="784930" y="1576103"/>
            <a:ext cx="5212080" cy="1089427"/>
          </a:xfrm>
        </p:spPr>
        <p:txBody>
          <a:bodyPr bIns="0" anchor="b"/>
          <a:lstStyle>
            <a:lvl1pPr algn="l">
              <a:defRPr kumimoji="0" lang="en-US" sz="2800" b="0" i="0" u="none" strike="noStrike" kern="1200" cap="all" spc="0" normalizeH="0" baseline="0" noProof="0" dirty="0" smtClean="0">
                <a:ln>
                  <a:noFill/>
                </a:ln>
                <a:solidFill>
                  <a:srgbClr val="FFFFFF"/>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smtClean="0"/>
              <a:t>Click to edit Master title style</a:t>
            </a:r>
            <a:endParaRPr lang="en-US" dirty="0"/>
          </a:p>
        </p:txBody>
      </p:sp>
      <p:sp>
        <p:nvSpPr>
          <p:cNvPr id="3" name="Content Placeholder 2"/>
          <p:cNvSpPr>
            <a:spLocks noGrp="1"/>
          </p:cNvSpPr>
          <p:nvPr>
            <p:ph idx="1"/>
          </p:nvPr>
        </p:nvSpPr>
        <p:spPr>
          <a:xfrm>
            <a:off x="4749552" y="2618912"/>
            <a:ext cx="3807779" cy="33246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rot="19140000">
            <a:off x="1297954" y="2253385"/>
            <a:ext cx="5794760" cy="623314"/>
          </a:xfrm>
        </p:spPr>
        <p:txBody>
          <a:bodyPr>
            <a:normAutofit/>
          </a:bodyPr>
          <a:lstStyle>
            <a:lvl1pPr marL="0" indent="0">
              <a:buNone/>
              <a:defRPr lang="en-US" sz="1400" b="1" kern="1200" dirty="0" smtClean="0">
                <a:solidFill>
                  <a:srgbClr val="FFFFFF"/>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300"/>
              </a:spcBef>
              <a:spcAft>
                <a:spcPts val="0"/>
              </a:spcAft>
              <a:buClr>
                <a:schemeClr val="accent1"/>
              </a:buClr>
              <a:buSzPct val="100000"/>
              <a:buFont typeface="Arial" pitchFamily="34" charset="0"/>
              <a:buNone/>
              <a:tabLst/>
              <a:defRPr/>
            </a:pPr>
            <a:r>
              <a:rPr lang="en-US" smtClean="0"/>
              <a:t>Click to edit Master text styles</a:t>
            </a:r>
          </a:p>
        </p:txBody>
      </p:sp>
      <p:sp>
        <p:nvSpPr>
          <p:cNvPr id="5" name="Date Placeholder 4"/>
          <p:cNvSpPr>
            <a:spLocks noGrp="1"/>
          </p:cNvSpPr>
          <p:nvPr>
            <p:ph type="dt" sz="half" idx="10"/>
          </p:nvPr>
        </p:nvSpPr>
        <p:spPr/>
        <p:txBody>
          <a:bodyPr/>
          <a:lstStyle/>
          <a:p>
            <a:fld id="{500C4C21-3B23-458D-9448-07A553B52CC2}" type="datetime1">
              <a:rPr lang="en-US" smtClean="0"/>
              <a:t>10/24/2016</a:t>
            </a:fld>
            <a:endParaRPr lang="en-US"/>
          </a:p>
        </p:txBody>
      </p:sp>
      <p:sp>
        <p:nvSpPr>
          <p:cNvPr id="6" name="Footer Placeholder 5"/>
          <p:cNvSpPr>
            <a:spLocks noGrp="1"/>
          </p:cNvSpPr>
          <p:nvPr>
            <p:ph type="ftr" sz="quarter" idx="11"/>
          </p:nvPr>
        </p:nvSpPr>
        <p:spPr/>
        <p:txBody>
          <a:bodyPr/>
          <a:lstStyle>
            <a:lvl1pPr>
              <a:defRPr>
                <a:solidFill>
                  <a:schemeClr val="tx2"/>
                </a:solidFill>
              </a:defRPr>
            </a:lvl1pPr>
          </a:lstStyle>
          <a:p>
            <a:r>
              <a:rPr lang="en-US" smtClean="0"/>
              <a:t>Jeremiah Kafakoma</a:t>
            </a:r>
            <a:endParaRPr lang="en-US"/>
          </a:p>
        </p:txBody>
      </p:sp>
      <p:sp>
        <p:nvSpPr>
          <p:cNvPr id="7" name="Slide Number Placeholder 6"/>
          <p:cNvSpPr>
            <a:spLocks noGrp="1"/>
          </p:cNvSpPr>
          <p:nvPr>
            <p:ph type="sldNum" sz="quarter" idx="12"/>
          </p:nvPr>
        </p:nvSpPr>
        <p:spPr>
          <a:ln>
            <a:solidFill>
              <a:schemeClr val="tx2"/>
            </a:solidFill>
          </a:ln>
        </p:spPr>
        <p:txBody>
          <a:bodyPr/>
          <a:lstStyle>
            <a:lvl1pPr>
              <a:defRPr>
                <a:solidFill>
                  <a:schemeClr val="tx2"/>
                </a:solidFill>
              </a:defRPr>
            </a:lvl1pPr>
          </a:lstStyle>
          <a:p>
            <a:fld id="{AF99D367-8FDA-4A2F-9F0E-167FD1610AEF}"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Picture Placeholder 10"/>
          <p:cNvSpPr>
            <a:spLocks noGrp="1"/>
          </p:cNvSpPr>
          <p:nvPr>
            <p:ph type="pic" sz="quarter" idx="14"/>
          </p:nvPr>
        </p:nvSpPr>
        <p:spPr>
          <a:xfrm>
            <a:off x="2028825" y="0"/>
            <a:ext cx="7115175" cy="6858000"/>
          </a:xfrm>
          <a:custGeom>
            <a:avLst/>
            <a:gdLst>
              <a:gd name="connsiteX0" fmla="*/ 0 w 7104888"/>
              <a:gd name="connsiteY0" fmla="*/ 0 h 6858000"/>
              <a:gd name="connsiteX1" fmla="*/ 7104888 w 7104888"/>
              <a:gd name="connsiteY1" fmla="*/ 0 h 6858000"/>
              <a:gd name="connsiteX2" fmla="*/ 7104888 w 7104888"/>
              <a:gd name="connsiteY2" fmla="*/ 6858000 h 6858000"/>
              <a:gd name="connsiteX3" fmla="*/ 0 w 7104888"/>
              <a:gd name="connsiteY3" fmla="*/ 6858000 h 6858000"/>
              <a:gd name="connsiteX4" fmla="*/ 0 w 7104888"/>
              <a:gd name="connsiteY4" fmla="*/ 0 h 6858000"/>
              <a:gd name="connsiteX0" fmla="*/ 0 w 7104888"/>
              <a:gd name="connsiteY0" fmla="*/ 0 h 6858000"/>
              <a:gd name="connsiteX1" fmla="*/ 5695188 w 7104888"/>
              <a:gd name="connsiteY1" fmla="*/ 0 h 6858000"/>
              <a:gd name="connsiteX2" fmla="*/ 7104888 w 7104888"/>
              <a:gd name="connsiteY2" fmla="*/ 0 h 6858000"/>
              <a:gd name="connsiteX3" fmla="*/ 7104888 w 7104888"/>
              <a:gd name="connsiteY3" fmla="*/ 6858000 h 6858000"/>
              <a:gd name="connsiteX4" fmla="*/ 0 w 7104888"/>
              <a:gd name="connsiteY4" fmla="*/ 6858000 h 6858000"/>
              <a:gd name="connsiteX5" fmla="*/ 0 w 7104888"/>
              <a:gd name="connsiteY5"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0287 w 7115175"/>
              <a:gd name="connsiteY4" fmla="*/ 6858000 h 6858000"/>
              <a:gd name="connsiteX5" fmla="*/ 0 w 7115175"/>
              <a:gd name="connsiteY5" fmla="*/ 5048250 h 6858000"/>
              <a:gd name="connsiteX6" fmla="*/ 10287 w 7115175"/>
              <a:gd name="connsiteY6"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10287 w 7115175"/>
              <a:gd name="connsiteY5" fmla="*/ 6858000 h 6858000"/>
              <a:gd name="connsiteX6" fmla="*/ 0 w 7115175"/>
              <a:gd name="connsiteY6" fmla="*/ 5048250 h 6858000"/>
              <a:gd name="connsiteX7" fmla="*/ 10287 w 7115175"/>
              <a:gd name="connsiteY7"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0 w 7115175"/>
              <a:gd name="connsiteY5" fmla="*/ 5048250 h 6858000"/>
              <a:gd name="connsiteX6" fmla="*/ 10287 w 7115175"/>
              <a:gd name="connsiteY6" fmla="*/ 0 h 6858000"/>
              <a:gd name="connsiteX0" fmla="*/ 0 w 7115175"/>
              <a:gd name="connsiteY0" fmla="*/ 504825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0 w 7115175"/>
              <a:gd name="connsiteY5" fmla="*/ 504825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15175" h="6858000">
                <a:moveTo>
                  <a:pt x="0" y="5048250"/>
                </a:moveTo>
                <a:lnTo>
                  <a:pt x="5705475" y="0"/>
                </a:lnTo>
                <a:lnTo>
                  <a:pt x="7115175" y="0"/>
                </a:lnTo>
                <a:lnTo>
                  <a:pt x="7115175" y="6858000"/>
                </a:lnTo>
                <a:lnTo>
                  <a:pt x="1533526" y="6848475"/>
                </a:lnTo>
                <a:lnTo>
                  <a:pt x="0" y="5048250"/>
                </a:lnTo>
                <a:close/>
              </a:path>
            </a:pathLst>
          </a:custGeom>
          <a:solidFill>
            <a:schemeClr val="accent3">
              <a:alpha val="80000"/>
            </a:schemeClr>
          </a:solidFill>
        </p:spPr>
        <p:txBody>
          <a:bodyPr rIns="182880" anchor="ctr"/>
          <a:lstStyle>
            <a:lvl1pPr algn="r">
              <a:defRPr/>
            </a:lvl1pPr>
          </a:lstStyle>
          <a:p>
            <a:r>
              <a:rPr lang="en-US" smtClean="0"/>
              <a:t>Click icon to add picture</a:t>
            </a:r>
            <a:endParaRPr lang="en-US" dirty="0"/>
          </a:p>
        </p:txBody>
      </p:sp>
      <p:sp>
        <p:nvSpPr>
          <p:cNvPr id="9" name="Right Triangle 8"/>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9"/>
          <p:cNvSpPr/>
          <p:nvPr/>
        </p:nvSpPr>
        <p:spPr>
          <a:xfrm>
            <a:off x="0" y="5048250"/>
            <a:ext cx="3571875" cy="1809750"/>
          </a:xfrm>
          <a:custGeom>
            <a:avLst/>
            <a:gdLst>
              <a:gd name="connsiteX0" fmla="*/ 0 w 3571875"/>
              <a:gd name="connsiteY0" fmla="*/ 4210050 h 4210050"/>
              <a:gd name="connsiteX1" fmla="*/ 0 w 3571875"/>
              <a:gd name="connsiteY1" fmla="*/ 0 h 4210050"/>
              <a:gd name="connsiteX2" fmla="*/ 3571875 w 3571875"/>
              <a:gd name="connsiteY2" fmla="*/ 4210050 h 4210050"/>
              <a:gd name="connsiteX3" fmla="*/ 0 w 3571875"/>
              <a:gd name="connsiteY3" fmla="*/ 4210050 h 4210050"/>
              <a:gd name="connsiteX0" fmla="*/ 0 w 3571875"/>
              <a:gd name="connsiteY0" fmla="*/ 1809750 h 1809750"/>
              <a:gd name="connsiteX1" fmla="*/ 1895475 w 3571875"/>
              <a:gd name="connsiteY1" fmla="*/ 0 h 1809750"/>
              <a:gd name="connsiteX2" fmla="*/ 3571875 w 3571875"/>
              <a:gd name="connsiteY2" fmla="*/ 1809750 h 1809750"/>
              <a:gd name="connsiteX3" fmla="*/ 0 w 3571875"/>
              <a:gd name="connsiteY3" fmla="*/ 1809750 h 1809750"/>
              <a:gd name="connsiteX0" fmla="*/ 0 w 3571875"/>
              <a:gd name="connsiteY0" fmla="*/ 1809750 h 1809750"/>
              <a:gd name="connsiteX1" fmla="*/ 2038350 w 3571875"/>
              <a:gd name="connsiteY1" fmla="*/ 0 h 1809750"/>
              <a:gd name="connsiteX2" fmla="*/ 3571875 w 3571875"/>
              <a:gd name="connsiteY2" fmla="*/ 1809750 h 1809750"/>
              <a:gd name="connsiteX3" fmla="*/ 0 w 3571875"/>
              <a:gd name="connsiteY3" fmla="*/ 1809750 h 1809750"/>
            </a:gdLst>
            <a:ahLst/>
            <a:cxnLst>
              <a:cxn ang="0">
                <a:pos x="connsiteX0" y="connsiteY0"/>
              </a:cxn>
              <a:cxn ang="0">
                <a:pos x="connsiteX1" y="connsiteY1"/>
              </a:cxn>
              <a:cxn ang="0">
                <a:pos x="connsiteX2" y="connsiteY2"/>
              </a:cxn>
              <a:cxn ang="0">
                <a:pos x="connsiteX3" y="connsiteY3"/>
              </a:cxn>
            </a:cxnLst>
            <a:rect l="l" t="t" r="r" b="b"/>
            <a:pathLst>
              <a:path w="3571875" h="1809750">
                <a:moveTo>
                  <a:pt x="0" y="1809750"/>
                </a:moveTo>
                <a:lnTo>
                  <a:pt x="2038350" y="0"/>
                </a:lnTo>
                <a:lnTo>
                  <a:pt x="3571875" y="1809750"/>
                </a:lnTo>
                <a:lnTo>
                  <a:pt x="0" y="1809750"/>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rot="19140000">
            <a:off x="671197" y="1717501"/>
            <a:ext cx="5486400" cy="867444"/>
          </a:xfrm>
        </p:spPr>
        <p:txBody>
          <a:bodyPr anchor="b"/>
          <a:lstStyle>
            <a:lvl1pPr algn="l">
              <a:defRPr sz="2800" b="0">
                <a:latin typeface="+mj-lt"/>
              </a:defRPr>
            </a:lvl1pPr>
          </a:lstStyle>
          <a:p>
            <a:r>
              <a:rPr lang="en-US" smtClean="0"/>
              <a:t>Click to edit Master title style</a:t>
            </a:r>
            <a:endParaRPr lang="en-US" dirty="0"/>
          </a:p>
        </p:txBody>
      </p:sp>
      <p:sp>
        <p:nvSpPr>
          <p:cNvPr id="4" name="Text Placeholder 3"/>
          <p:cNvSpPr>
            <a:spLocks noGrp="1"/>
          </p:cNvSpPr>
          <p:nvPr>
            <p:ph type="body" sz="half" idx="2"/>
          </p:nvPr>
        </p:nvSpPr>
        <p:spPr>
          <a:xfrm rot="19140000">
            <a:off x="1143479" y="2180529"/>
            <a:ext cx="6096545" cy="740664"/>
          </a:xfrm>
        </p:spPr>
        <p:txBody>
          <a:bodyPr/>
          <a:lstStyle>
            <a:lvl1pPr marL="0" indent="0">
              <a:buNone/>
              <a:defRPr sz="14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33E1769-AE65-41ED-B71E-2CE0791238C0}" type="datetime1">
              <a:rPr lang="en-US" smtClean="0"/>
              <a:t>10/24/2016</a:t>
            </a:fld>
            <a:endParaRPr lang="en-US"/>
          </a:p>
        </p:txBody>
      </p:sp>
      <p:sp>
        <p:nvSpPr>
          <p:cNvPr id="6" name="Footer Placeholder 5"/>
          <p:cNvSpPr>
            <a:spLocks noGrp="1"/>
          </p:cNvSpPr>
          <p:nvPr>
            <p:ph type="ftr" sz="quarter" idx="11"/>
          </p:nvPr>
        </p:nvSpPr>
        <p:spPr/>
        <p:txBody>
          <a:bodyPr/>
          <a:lstStyle/>
          <a:p>
            <a:r>
              <a:rPr lang="en-US" smtClean="0"/>
              <a:t>Jeremiah Kafakoma</a:t>
            </a:r>
            <a:endParaRPr lang="en-US"/>
          </a:p>
        </p:txBody>
      </p:sp>
      <p:sp>
        <p:nvSpPr>
          <p:cNvPr id="7" name="Slide Number Placeholder 6"/>
          <p:cNvSpPr>
            <a:spLocks noGrp="1"/>
          </p:cNvSpPr>
          <p:nvPr>
            <p:ph type="sldNum" sz="quarter" idx="12"/>
          </p:nvPr>
        </p:nvSpPr>
        <p:spPr/>
        <p:txBody>
          <a:bodyPr/>
          <a:lstStyle/>
          <a:p>
            <a:fld id="{AF99D367-8FDA-4A2F-9F0E-167FD1610AEF}"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EF6BF1B-74EC-4FBE-A9F2-5A1797B698EC}" type="datetime1">
              <a:rPr lang="en-US" smtClean="0"/>
              <a:t>10/24/2016</a:t>
            </a:fld>
            <a:endParaRPr lang="en-US"/>
          </a:p>
        </p:txBody>
      </p:sp>
      <p:sp>
        <p:nvSpPr>
          <p:cNvPr id="5" name="Footer Placeholder 4"/>
          <p:cNvSpPr>
            <a:spLocks noGrp="1"/>
          </p:cNvSpPr>
          <p:nvPr>
            <p:ph type="ftr" sz="quarter" idx="11"/>
          </p:nvPr>
        </p:nvSpPr>
        <p:spPr/>
        <p:txBody>
          <a:bodyPr/>
          <a:lstStyle/>
          <a:p>
            <a:r>
              <a:rPr lang="en-US" smtClean="0"/>
              <a:t>Jeremiah Kafakoma</a:t>
            </a:r>
            <a:endParaRPr lang="en-US"/>
          </a:p>
        </p:txBody>
      </p:sp>
      <p:sp>
        <p:nvSpPr>
          <p:cNvPr id="6" name="Slide Number Placeholder 5"/>
          <p:cNvSpPr>
            <a:spLocks noGrp="1"/>
          </p:cNvSpPr>
          <p:nvPr>
            <p:ph type="sldNum" sz="quarter" idx="12"/>
          </p:nvPr>
        </p:nvSpPr>
        <p:spPr/>
        <p:txBody>
          <a:bodyPr/>
          <a:lstStyle/>
          <a:p>
            <a:fld id="{AF99D367-8FDA-4A2F-9F0E-167FD1610AE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4678362"/>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274639"/>
            <a:ext cx="6019800" cy="4678362"/>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7C1EBE1-98F9-47D6-B1C8-8EB711A56167}" type="datetime1">
              <a:rPr lang="en-US" smtClean="0"/>
              <a:t>10/24/2016</a:t>
            </a:fld>
            <a:endParaRPr lang="en-US"/>
          </a:p>
        </p:txBody>
      </p:sp>
      <p:sp>
        <p:nvSpPr>
          <p:cNvPr id="5" name="Footer Placeholder 4"/>
          <p:cNvSpPr>
            <a:spLocks noGrp="1"/>
          </p:cNvSpPr>
          <p:nvPr>
            <p:ph type="ftr" sz="quarter" idx="11"/>
          </p:nvPr>
        </p:nvSpPr>
        <p:spPr/>
        <p:txBody>
          <a:bodyPr/>
          <a:lstStyle/>
          <a:p>
            <a:r>
              <a:rPr lang="en-US" smtClean="0"/>
              <a:t>Jeremiah Kafakoma</a:t>
            </a:r>
            <a:endParaRPr lang="en-US"/>
          </a:p>
        </p:txBody>
      </p:sp>
      <p:sp>
        <p:nvSpPr>
          <p:cNvPr id="6" name="Slide Number Placeholder 5"/>
          <p:cNvSpPr>
            <a:spLocks noGrp="1"/>
          </p:cNvSpPr>
          <p:nvPr>
            <p:ph type="sldNum" sz="quarter" idx="12"/>
          </p:nvPr>
        </p:nvSpPr>
        <p:spPr/>
        <p:txBody>
          <a:bodyPr/>
          <a:lstStyle/>
          <a:p>
            <a:fld id="{AF99D367-8FDA-4A2F-9F0E-167FD1610AE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Freeform 6"/>
          <p:cNvSpPr/>
          <p:nvPr/>
        </p:nvSpPr>
        <p:spPr>
          <a:xfrm>
            <a:off x="-2382" y="5050633"/>
            <a:ext cx="3574257" cy="1807368"/>
          </a:xfrm>
          <a:custGeom>
            <a:avLst/>
            <a:gdLst>
              <a:gd name="connsiteX0" fmla="*/ 0 w 3571875"/>
              <a:gd name="connsiteY0" fmla="*/ 4210050 h 4210050"/>
              <a:gd name="connsiteX1" fmla="*/ 0 w 3571875"/>
              <a:gd name="connsiteY1" fmla="*/ 0 h 4210050"/>
              <a:gd name="connsiteX2" fmla="*/ 3571875 w 3571875"/>
              <a:gd name="connsiteY2" fmla="*/ 4210050 h 4210050"/>
              <a:gd name="connsiteX3" fmla="*/ 0 w 3571875"/>
              <a:gd name="connsiteY3" fmla="*/ 4210050 h 4210050"/>
              <a:gd name="connsiteX0" fmla="*/ 0 w 3571875"/>
              <a:gd name="connsiteY0" fmla="*/ 4210050 h 4210050"/>
              <a:gd name="connsiteX1" fmla="*/ 0 w 3571875"/>
              <a:gd name="connsiteY1" fmla="*/ 0 h 4210050"/>
              <a:gd name="connsiteX2" fmla="*/ 2028825 w 3571875"/>
              <a:gd name="connsiteY2" fmla="*/ 2388394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205038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281238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76450 w 3571875"/>
              <a:gd name="connsiteY2" fmla="*/ 2274094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245519 w 3571875"/>
              <a:gd name="connsiteY2" fmla="*/ 2405063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38350 w 3571875"/>
              <a:gd name="connsiteY2" fmla="*/ 2405063 h 4210050"/>
              <a:gd name="connsiteX3" fmla="*/ 3571875 w 3571875"/>
              <a:gd name="connsiteY3" fmla="*/ 4210050 h 4210050"/>
              <a:gd name="connsiteX4" fmla="*/ 0 w 3571875"/>
              <a:gd name="connsiteY4" fmla="*/ 4210050 h 4210050"/>
              <a:gd name="connsiteX0" fmla="*/ 0 w 3571875"/>
              <a:gd name="connsiteY0" fmla="*/ 2433637 h 2433637"/>
              <a:gd name="connsiteX1" fmla="*/ 257175 w 3571875"/>
              <a:gd name="connsiteY1" fmla="*/ 0 h 2433637"/>
              <a:gd name="connsiteX2" fmla="*/ 2038350 w 3571875"/>
              <a:gd name="connsiteY2" fmla="*/ 628650 h 2433637"/>
              <a:gd name="connsiteX3" fmla="*/ 3571875 w 3571875"/>
              <a:gd name="connsiteY3" fmla="*/ 2433637 h 2433637"/>
              <a:gd name="connsiteX4" fmla="*/ 0 w 3571875"/>
              <a:gd name="connsiteY4" fmla="*/ 2433637 h 2433637"/>
              <a:gd name="connsiteX0" fmla="*/ 2382 w 3574257"/>
              <a:gd name="connsiteY0" fmla="*/ 1807368 h 1807368"/>
              <a:gd name="connsiteX1" fmla="*/ 0 w 3574257"/>
              <a:gd name="connsiteY1" fmla="*/ 0 h 1807368"/>
              <a:gd name="connsiteX2" fmla="*/ 2040732 w 3574257"/>
              <a:gd name="connsiteY2" fmla="*/ 2381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924051 w 3574257"/>
              <a:gd name="connsiteY2" fmla="*/ 307181 h 1807368"/>
              <a:gd name="connsiteX3" fmla="*/ 3574257 w 3574257"/>
              <a:gd name="connsiteY3" fmla="*/ 1807368 h 1807368"/>
              <a:gd name="connsiteX4" fmla="*/ 2382 w 3574257"/>
              <a:gd name="connsiteY4" fmla="*/ 1807368 h 1807368"/>
              <a:gd name="connsiteX0" fmla="*/ 2382 w 3574257"/>
              <a:gd name="connsiteY0" fmla="*/ 1809749 h 1809749"/>
              <a:gd name="connsiteX1" fmla="*/ 0 w 3574257"/>
              <a:gd name="connsiteY1" fmla="*/ 2381 h 1809749"/>
              <a:gd name="connsiteX2" fmla="*/ 2038351 w 3574257"/>
              <a:gd name="connsiteY2" fmla="*/ 0 h 1809749"/>
              <a:gd name="connsiteX3" fmla="*/ 3574257 w 3574257"/>
              <a:gd name="connsiteY3" fmla="*/ 1809749 h 1809749"/>
              <a:gd name="connsiteX4" fmla="*/ 2382 w 3574257"/>
              <a:gd name="connsiteY4" fmla="*/ 1809749 h 1809749"/>
              <a:gd name="connsiteX0" fmla="*/ 2382 w 3574257"/>
              <a:gd name="connsiteY0" fmla="*/ 1807368 h 1807368"/>
              <a:gd name="connsiteX1" fmla="*/ 0 w 3574257"/>
              <a:gd name="connsiteY1" fmla="*/ 0 h 1807368"/>
              <a:gd name="connsiteX2" fmla="*/ 1640682 w 3574257"/>
              <a:gd name="connsiteY2" fmla="*/ 450057 h 1807368"/>
              <a:gd name="connsiteX3" fmla="*/ 3574257 w 3574257"/>
              <a:gd name="connsiteY3" fmla="*/ 1807368 h 1807368"/>
              <a:gd name="connsiteX4" fmla="*/ 2382 w 3574257"/>
              <a:gd name="connsiteY4" fmla="*/ 1807368 h 1807368"/>
              <a:gd name="connsiteX0" fmla="*/ 2382 w 3574257"/>
              <a:gd name="connsiteY0" fmla="*/ 1809749 h 1809749"/>
              <a:gd name="connsiteX1" fmla="*/ 0 w 3574257"/>
              <a:gd name="connsiteY1" fmla="*/ 2381 h 1809749"/>
              <a:gd name="connsiteX2" fmla="*/ 2038351 w 3574257"/>
              <a:gd name="connsiteY2" fmla="*/ 0 h 1809749"/>
              <a:gd name="connsiteX3" fmla="*/ 3574257 w 3574257"/>
              <a:gd name="connsiteY3" fmla="*/ 1809749 h 1809749"/>
              <a:gd name="connsiteX4" fmla="*/ 2382 w 3574257"/>
              <a:gd name="connsiteY4" fmla="*/ 1809749 h 1809749"/>
              <a:gd name="connsiteX0" fmla="*/ 2382 w 3574257"/>
              <a:gd name="connsiteY0" fmla="*/ 1807368 h 1807368"/>
              <a:gd name="connsiteX1" fmla="*/ 0 w 3574257"/>
              <a:gd name="connsiteY1" fmla="*/ 0 h 1807368"/>
              <a:gd name="connsiteX2" fmla="*/ 1657351 w 3574257"/>
              <a:gd name="connsiteY2" fmla="*/ 23098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2040732 w 3574257"/>
              <a:gd name="connsiteY2" fmla="*/ 238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774032 w 3574257"/>
              <a:gd name="connsiteY2" fmla="*/ 161925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969294 w 3574257"/>
              <a:gd name="connsiteY2" fmla="*/ 2143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819275 w 3574257"/>
              <a:gd name="connsiteY2" fmla="*/ 200026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2045494 w 3574257"/>
              <a:gd name="connsiteY2" fmla="*/ 1 h 1807368"/>
              <a:gd name="connsiteX3" fmla="*/ 3574257 w 3574257"/>
              <a:gd name="connsiteY3" fmla="*/ 1807368 h 1807368"/>
              <a:gd name="connsiteX4" fmla="*/ 2382 w 3574257"/>
              <a:gd name="connsiteY4" fmla="*/ 1807368 h 18073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4257" h="1807368">
                <a:moveTo>
                  <a:pt x="2382" y="1807368"/>
                </a:moveTo>
                <a:lnTo>
                  <a:pt x="0" y="0"/>
                </a:lnTo>
                <a:lnTo>
                  <a:pt x="2045494" y="1"/>
                </a:lnTo>
                <a:lnTo>
                  <a:pt x="3574257" y="1807368"/>
                </a:lnTo>
                <a:lnTo>
                  <a:pt x="2382" y="1807368"/>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2380" y="5051292"/>
            <a:ext cx="9146380" cy="1806709"/>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 name="connsiteX0" fmla="*/ 0 w 3352800"/>
              <a:gd name="connsiteY0" fmla="*/ 2002631 h 2002631"/>
              <a:gd name="connsiteX1" fmla="*/ 754045 w 3352800"/>
              <a:gd name="connsiteY1" fmla="*/ 146832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534305 h 534305"/>
              <a:gd name="connsiteX1" fmla="*/ 754045 w 3352800"/>
              <a:gd name="connsiteY1" fmla="*/ 0 h 534305"/>
              <a:gd name="connsiteX2" fmla="*/ 3352800 w 3352800"/>
              <a:gd name="connsiteY2" fmla="*/ 7687 h 534305"/>
              <a:gd name="connsiteX3" fmla="*/ 3352800 w 3352800"/>
              <a:gd name="connsiteY3" fmla="*/ 534305 h 534305"/>
              <a:gd name="connsiteX4" fmla="*/ 0 w 3352800"/>
              <a:gd name="connsiteY4" fmla="*/ 534305 h 534305"/>
              <a:gd name="connsiteX0" fmla="*/ 0 w 3352800"/>
              <a:gd name="connsiteY0" fmla="*/ 534305 h 534305"/>
              <a:gd name="connsiteX1" fmla="*/ 754045 w 3352800"/>
              <a:gd name="connsiteY1" fmla="*/ 0 h 534305"/>
              <a:gd name="connsiteX2" fmla="*/ 3352800 w 3352800"/>
              <a:gd name="connsiteY2" fmla="*/ 7687 h 534305"/>
              <a:gd name="connsiteX3" fmla="*/ 3352800 w 3352800"/>
              <a:gd name="connsiteY3" fmla="*/ 534305 h 534305"/>
              <a:gd name="connsiteX4" fmla="*/ 0 w 3352800"/>
              <a:gd name="connsiteY4" fmla="*/ 534305 h 534305"/>
              <a:gd name="connsiteX0" fmla="*/ 0 w 3352800"/>
              <a:gd name="connsiteY0" fmla="*/ 526618 h 526618"/>
              <a:gd name="connsiteX1" fmla="*/ 980611 w 3352800"/>
              <a:gd name="connsiteY1" fmla="*/ 93681 h 526618"/>
              <a:gd name="connsiteX2" fmla="*/ 3352800 w 3352800"/>
              <a:gd name="connsiteY2" fmla="*/ 0 h 526618"/>
              <a:gd name="connsiteX3" fmla="*/ 3352800 w 3352800"/>
              <a:gd name="connsiteY3" fmla="*/ 526618 h 526618"/>
              <a:gd name="connsiteX4" fmla="*/ 0 w 3352800"/>
              <a:gd name="connsiteY4" fmla="*/ 526618 h 526618"/>
              <a:gd name="connsiteX0" fmla="*/ 0 w 3352800"/>
              <a:gd name="connsiteY0" fmla="*/ 526888 h 526888"/>
              <a:gd name="connsiteX1" fmla="*/ 744735 w 3352800"/>
              <a:gd name="connsiteY1" fmla="*/ 0 h 526888"/>
              <a:gd name="connsiteX2" fmla="*/ 3352800 w 3352800"/>
              <a:gd name="connsiteY2" fmla="*/ 270 h 526888"/>
              <a:gd name="connsiteX3" fmla="*/ 3352800 w 3352800"/>
              <a:gd name="connsiteY3" fmla="*/ 526888 h 526888"/>
              <a:gd name="connsiteX4" fmla="*/ 0 w 3352800"/>
              <a:gd name="connsiteY4" fmla="*/ 526888 h 526888"/>
              <a:gd name="connsiteX0" fmla="*/ 0 w 3352800"/>
              <a:gd name="connsiteY0" fmla="*/ 526618 h 526618"/>
              <a:gd name="connsiteX1" fmla="*/ 811948 w 3352800"/>
              <a:gd name="connsiteY1" fmla="*/ 60921 h 526618"/>
              <a:gd name="connsiteX2" fmla="*/ 3352800 w 3352800"/>
              <a:gd name="connsiteY2" fmla="*/ 0 h 526618"/>
              <a:gd name="connsiteX3" fmla="*/ 3352800 w 3352800"/>
              <a:gd name="connsiteY3" fmla="*/ 526618 h 526618"/>
              <a:gd name="connsiteX4" fmla="*/ 0 w 3352800"/>
              <a:gd name="connsiteY4" fmla="*/ 526618 h 526618"/>
              <a:gd name="connsiteX0" fmla="*/ 0 w 3352800"/>
              <a:gd name="connsiteY0" fmla="*/ 527584 h 527584"/>
              <a:gd name="connsiteX1" fmla="*/ 751718 w 3352800"/>
              <a:gd name="connsiteY1" fmla="*/ 0 h 527584"/>
              <a:gd name="connsiteX2" fmla="*/ 3352800 w 3352800"/>
              <a:gd name="connsiteY2" fmla="*/ 966 h 527584"/>
              <a:gd name="connsiteX3" fmla="*/ 3352800 w 3352800"/>
              <a:gd name="connsiteY3" fmla="*/ 527584 h 527584"/>
              <a:gd name="connsiteX4" fmla="*/ 0 w 3352800"/>
              <a:gd name="connsiteY4" fmla="*/ 527584 h 527584"/>
              <a:gd name="connsiteX0" fmla="*/ 0 w 3352800"/>
              <a:gd name="connsiteY0" fmla="*/ 527584 h 527584"/>
              <a:gd name="connsiteX1" fmla="*/ 751718 w 3352800"/>
              <a:gd name="connsiteY1" fmla="*/ 0 h 527584"/>
              <a:gd name="connsiteX2" fmla="*/ 3241069 w 3352800"/>
              <a:gd name="connsiteY2" fmla="*/ 94144 h 527584"/>
              <a:gd name="connsiteX3" fmla="*/ 3352800 w 3352800"/>
              <a:gd name="connsiteY3" fmla="*/ 527584 h 527584"/>
              <a:gd name="connsiteX4" fmla="*/ 0 w 3352800"/>
              <a:gd name="connsiteY4" fmla="*/ 527584 h 527584"/>
              <a:gd name="connsiteX0" fmla="*/ 0 w 3352800"/>
              <a:gd name="connsiteY0" fmla="*/ 527584 h 527584"/>
              <a:gd name="connsiteX1" fmla="*/ 751718 w 3352800"/>
              <a:gd name="connsiteY1" fmla="*/ 0 h 527584"/>
              <a:gd name="connsiteX2" fmla="*/ 3352800 w 3352800"/>
              <a:gd name="connsiteY2" fmla="*/ 271 h 527584"/>
              <a:gd name="connsiteX3" fmla="*/ 3352800 w 3352800"/>
              <a:gd name="connsiteY3" fmla="*/ 527584 h 527584"/>
              <a:gd name="connsiteX4" fmla="*/ 0 w 3352800"/>
              <a:gd name="connsiteY4" fmla="*/ 527584 h 527584"/>
              <a:gd name="connsiteX0" fmla="*/ 0 w 3352800"/>
              <a:gd name="connsiteY0" fmla="*/ 527313 h 527313"/>
              <a:gd name="connsiteX1" fmla="*/ 900984 w 3352800"/>
              <a:gd name="connsiteY1" fmla="*/ 97774 h 527313"/>
              <a:gd name="connsiteX2" fmla="*/ 3352800 w 3352800"/>
              <a:gd name="connsiteY2" fmla="*/ 0 h 527313"/>
              <a:gd name="connsiteX3" fmla="*/ 3352800 w 3352800"/>
              <a:gd name="connsiteY3" fmla="*/ 527313 h 527313"/>
              <a:gd name="connsiteX4" fmla="*/ 0 w 3352800"/>
              <a:gd name="connsiteY4" fmla="*/ 527313 h 527313"/>
              <a:gd name="connsiteX0" fmla="*/ 0 w 3352800"/>
              <a:gd name="connsiteY0" fmla="*/ 527584 h 527584"/>
              <a:gd name="connsiteX1" fmla="*/ 748227 w 3352800"/>
              <a:gd name="connsiteY1" fmla="*/ 0 h 527584"/>
              <a:gd name="connsiteX2" fmla="*/ 3352800 w 3352800"/>
              <a:gd name="connsiteY2" fmla="*/ 271 h 527584"/>
              <a:gd name="connsiteX3" fmla="*/ 3352800 w 3352800"/>
              <a:gd name="connsiteY3" fmla="*/ 527584 h 527584"/>
              <a:gd name="connsiteX4" fmla="*/ 0 w 3352800"/>
              <a:gd name="connsiteY4" fmla="*/ 527584 h 5275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527584">
                <a:moveTo>
                  <a:pt x="0" y="527584"/>
                </a:moveTo>
                <a:lnTo>
                  <a:pt x="748227" y="0"/>
                </a:lnTo>
                <a:lnTo>
                  <a:pt x="3352800" y="271"/>
                </a:lnTo>
                <a:lnTo>
                  <a:pt x="3352800" y="527584"/>
                </a:lnTo>
                <a:lnTo>
                  <a:pt x="0" y="527584"/>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822960" y="365760"/>
            <a:ext cx="7520940" cy="548640"/>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822960" y="1100628"/>
            <a:ext cx="7520940" cy="3579849"/>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19140000">
            <a:off x="201168" y="5870448"/>
            <a:ext cx="2176272" cy="201168"/>
          </a:xfrm>
          <a:prstGeom prst="rect">
            <a:avLst/>
          </a:prstGeom>
        </p:spPr>
        <p:txBody>
          <a:bodyPr vert="horz" lIns="91440" tIns="45720" rIns="91440" bIns="45720" rtlCol="0" anchor="ctr"/>
          <a:lstStyle>
            <a:lvl1pPr algn="l">
              <a:defRPr sz="1200">
                <a:solidFill>
                  <a:srgbClr val="FFFFFF"/>
                </a:solidFill>
              </a:defRPr>
            </a:lvl1pPr>
          </a:lstStyle>
          <a:p>
            <a:fld id="{E49D4798-4225-42F9-A164-FF24C113E8C0}" type="datetime1">
              <a:rPr lang="en-US" smtClean="0"/>
              <a:t>10/24/2016</a:t>
            </a:fld>
            <a:endParaRPr lang="en-US"/>
          </a:p>
        </p:txBody>
      </p:sp>
      <p:sp>
        <p:nvSpPr>
          <p:cNvPr id="5" name="Footer Placeholder 4"/>
          <p:cNvSpPr>
            <a:spLocks noGrp="1"/>
          </p:cNvSpPr>
          <p:nvPr>
            <p:ph type="ftr" sz="quarter" idx="3"/>
          </p:nvPr>
        </p:nvSpPr>
        <p:spPr>
          <a:xfrm>
            <a:off x="3517514" y="6285122"/>
            <a:ext cx="4724400" cy="274320"/>
          </a:xfrm>
          <a:prstGeom prst="rect">
            <a:avLst/>
          </a:prstGeom>
        </p:spPr>
        <p:txBody>
          <a:bodyPr vert="horz" lIns="91440" tIns="45720" rIns="91440" bIns="45720" rtlCol="0" anchor="ctr"/>
          <a:lstStyle>
            <a:lvl1pPr algn="r">
              <a:defRPr sz="1000" cap="all" spc="200" baseline="0">
                <a:solidFill>
                  <a:srgbClr val="FFFFFF"/>
                </a:solidFill>
              </a:defRPr>
            </a:lvl1pPr>
          </a:lstStyle>
          <a:p>
            <a:r>
              <a:rPr lang="en-US" smtClean="0"/>
              <a:t>Jeremiah Kafakoma</a:t>
            </a:r>
            <a:endParaRPr lang="en-US"/>
          </a:p>
        </p:txBody>
      </p:sp>
      <p:sp>
        <p:nvSpPr>
          <p:cNvPr id="6" name="Slide Number Placeholder 5"/>
          <p:cNvSpPr>
            <a:spLocks noGrp="1"/>
          </p:cNvSpPr>
          <p:nvPr>
            <p:ph type="sldNum" sz="quarter" idx="4"/>
          </p:nvPr>
        </p:nvSpPr>
        <p:spPr>
          <a:xfrm>
            <a:off x="8401038" y="6170822"/>
            <a:ext cx="502920" cy="502920"/>
          </a:xfrm>
          <a:prstGeom prst="ellipse">
            <a:avLst/>
          </a:prstGeom>
          <a:ln w="19050">
            <a:solidFill>
              <a:srgbClr val="FFFFFF"/>
            </a:solidFill>
          </a:ln>
        </p:spPr>
        <p:txBody>
          <a:bodyPr vert="horz" lIns="9144" tIns="9144" rIns="9144" bIns="9144" rtlCol="0" anchor="ctr">
            <a:normAutofit/>
          </a:bodyPr>
          <a:lstStyle>
            <a:lvl1pPr algn="ctr">
              <a:defRPr sz="1650">
                <a:solidFill>
                  <a:srgbClr val="FFFFFF"/>
                </a:solidFill>
              </a:defRPr>
            </a:lvl1pPr>
          </a:lstStyle>
          <a:p>
            <a:fld id="{AF99D367-8FDA-4A2F-9F0E-167FD1610AE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hf hdr="0" dt="0"/>
  <p:txStyles>
    <p:titleStyle>
      <a:lvl1pPr algn="l" defTabSz="914400" rtl="0" eaLnBrk="1" latinLnBrk="0" hangingPunct="1">
        <a:spcBef>
          <a:spcPct val="0"/>
        </a:spcBef>
        <a:buNone/>
        <a:defRPr sz="2800" kern="1200" cap="all" baseline="0">
          <a:solidFill>
            <a:schemeClr val="tx1"/>
          </a:solidFill>
          <a:latin typeface="+mj-lt"/>
          <a:ea typeface="+mj-ea"/>
          <a:cs typeface="+mj-cs"/>
        </a:defRPr>
      </a:lvl1pPr>
    </p:titleStyle>
    <p:bodyStyle>
      <a:lvl1pPr marL="342900" indent="-342900" algn="l" defTabSz="914400" rtl="0" eaLnBrk="1" latinLnBrk="0" hangingPunct="1">
        <a:spcBef>
          <a:spcPts val="800"/>
        </a:spcBef>
        <a:buFont typeface="Arial" pitchFamily="34" charset="0"/>
        <a:buNone/>
        <a:defRPr sz="1600" b="1" kern="1200">
          <a:solidFill>
            <a:schemeClr val="tx1"/>
          </a:solidFill>
          <a:latin typeface="+mn-lt"/>
          <a:ea typeface="+mn-ea"/>
          <a:cs typeface="+mn-cs"/>
        </a:defRPr>
      </a:lvl1pPr>
      <a:lvl2pPr marL="1737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2pPr>
      <a:lvl3pPr marL="4023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3pPr>
      <a:lvl4pPr marL="6309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4pPr>
      <a:lvl5pPr marL="8595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earchenterprisewan.techtarget.com/definition/WAN"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earchnetworking.techtarget.com/definition/local-area-network-LAN" TargetMode="External"/><Relationship Id="rId2" Type="http://schemas.openxmlformats.org/officeDocument/2006/relationships/hyperlink" Target="http://searchnetworking.techtarget.com/definition/network" TargetMode="External"/><Relationship Id="rId1" Type="http://schemas.openxmlformats.org/officeDocument/2006/relationships/slideLayout" Target="../slideLayouts/slideLayout2.xml"/><Relationship Id="rId4" Type="http://schemas.openxmlformats.org/officeDocument/2006/relationships/hyperlink" Target="http://searchnetworking.techtarget.com/definition/router" TargetMode="External"/></Relationships>
</file>

<file path=ppt/slides/_rels/slide7.xml.rels><?xml version="1.0" encoding="UTF-8" standalone="yes"?>
<Relationships xmlns="http://schemas.openxmlformats.org/package/2006/relationships"><Relationship Id="rId2" Type="http://schemas.openxmlformats.org/officeDocument/2006/relationships/hyperlink" Target="http://searchtelecom.techtarget.com/definition/backbone"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www.linfo.org/bandwidth.html" TargetMode="External"/><Relationship Id="rId2" Type="http://schemas.openxmlformats.org/officeDocument/2006/relationships/hyperlink" Target="http://www.linfo.org/ethernet.html"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8" Type="http://schemas.openxmlformats.org/officeDocument/2006/relationships/hyperlink" Target="https://en.wikipedia.org/wiki/Frame_(telecommunications)" TargetMode="External"/><Relationship Id="rId3" Type="http://schemas.openxmlformats.org/officeDocument/2006/relationships/hyperlink" Target="https://en.wikipedia.org/wiki/Local_area_network" TargetMode="External"/><Relationship Id="rId7" Type="http://schemas.openxmlformats.org/officeDocument/2006/relationships/hyperlink" Target="https://en.wikipedia.org/wiki/Transmission_(telecommunications)" TargetMode="External"/><Relationship Id="rId2" Type="http://schemas.openxmlformats.org/officeDocument/2006/relationships/hyperlink" Target="https://en.wikipedia.org/wiki/Media_access_control" TargetMode="External"/><Relationship Id="rId1" Type="http://schemas.openxmlformats.org/officeDocument/2006/relationships/slideLayout" Target="../slideLayouts/slideLayout2.xml"/><Relationship Id="rId6" Type="http://schemas.openxmlformats.org/officeDocument/2006/relationships/hyperlink" Target="https://en.wikipedia.org/wiki/Data" TargetMode="External"/><Relationship Id="rId5" Type="http://schemas.openxmlformats.org/officeDocument/2006/relationships/hyperlink" Target="https://en.wikipedia.org/wiki/Carrier_signal" TargetMode="External"/><Relationship Id="rId4" Type="http://schemas.openxmlformats.org/officeDocument/2006/relationships/hyperlink" Target="https://en.wikipedia.org/wiki/Ethernet" TargetMode="External"/><Relationship Id="rId9" Type="http://schemas.openxmlformats.org/officeDocument/2006/relationships/hyperlink" Target="https://en.wikipedia.org/wiki/Carrier_sense_multiple_access" TargetMode="External"/></Relationships>
</file>

<file path=ppt/slides/_rels/slide54.xml.rels><?xml version="1.0" encoding="UTF-8" standalone="yes"?>
<Relationships xmlns="http://schemas.openxmlformats.org/package/2006/relationships"><Relationship Id="rId8" Type="http://schemas.openxmlformats.org/officeDocument/2006/relationships/hyperlink" Target="https://en.wikipedia.org/wiki/CCITT" TargetMode="External"/><Relationship Id="rId13" Type="http://schemas.openxmlformats.org/officeDocument/2006/relationships/hyperlink" Target="https://en.wikipedia.org/wiki/Broadband_ISDN" TargetMode="External"/><Relationship Id="rId3" Type="http://schemas.openxmlformats.org/officeDocument/2006/relationships/hyperlink" Target="http://searchnetworking.techtarget.com/definition/CCITT" TargetMode="External"/><Relationship Id="rId7" Type="http://schemas.openxmlformats.org/officeDocument/2006/relationships/hyperlink" Target="https://en.wikipedia.org/wiki/Public_switched_telephone_network" TargetMode="External"/><Relationship Id="rId12" Type="http://schemas.openxmlformats.org/officeDocument/2006/relationships/hyperlink" Target="https://en.wikipedia.org/wiki/Narrowband_ISDN"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hyperlink" Target="https://en.wikipedia.org/wiki/Transmission_(telecommunications)" TargetMode="External"/><Relationship Id="rId11" Type="http://schemas.openxmlformats.org/officeDocument/2006/relationships/hyperlink" Target="https://en.wikipedia.org/wiki/Primary_Rate_Interface" TargetMode="External"/><Relationship Id="rId5" Type="http://schemas.openxmlformats.org/officeDocument/2006/relationships/hyperlink" Target="https://en.wikipedia.org/wiki/Digital_data" TargetMode="External"/><Relationship Id="rId10" Type="http://schemas.openxmlformats.org/officeDocument/2006/relationships/hyperlink" Target="https://en.wikipedia.org/wiki/Basic_Rate_Interface" TargetMode="External"/><Relationship Id="rId4" Type="http://schemas.openxmlformats.org/officeDocument/2006/relationships/hyperlink" Target="http://searchnetworking.techtarget.com/definition/circuit-switched" TargetMode="External"/><Relationship Id="rId9" Type="http://schemas.openxmlformats.org/officeDocument/2006/relationships/hyperlink" Target="https://en.wikipedia.org/wiki/Plain_old_telephone_service"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hyperlink" Target="https://en.wikipedia.org/wiki/Telecommunications_Industry_Association" TargetMode="External"/><Relationship Id="rId2" Type="http://schemas.openxmlformats.org/officeDocument/2006/relationships/hyperlink" Target="https://en.wikipedia.org/wiki/Telecommunications" TargetMode="External"/><Relationship Id="rId1" Type="http://schemas.openxmlformats.org/officeDocument/2006/relationships/slideLayout" Target="../slideLayouts/slideLayout2.xml"/><Relationship Id="rId5" Type="http://schemas.openxmlformats.org/officeDocument/2006/relationships/hyperlink" Target="https://en.wikipedia.org/wiki/Commercial_building" TargetMode="External"/><Relationship Id="rId4" Type="http://schemas.openxmlformats.org/officeDocument/2006/relationships/hyperlink" Target="https://en.wikipedia.org/wiki/Electronic_Industries_Alliance" TargetMode="External"/></Relationships>
</file>

<file path=ppt/slides/_rels/slide93.xml.rels><?xml version="1.0" encoding="UTF-8" standalone="yes"?>
<Relationships xmlns="http://schemas.openxmlformats.org/package/2006/relationships"><Relationship Id="rId3" Type="http://schemas.openxmlformats.org/officeDocument/2006/relationships/hyperlink" Target="http://www.cableorganizer.com/cat5e-jacks/" TargetMode="External"/><Relationship Id="rId2" Type="http://schemas.openxmlformats.org/officeDocument/2006/relationships/hyperlink" Target="http://www.cableorganizer.com/cat-cable/" TargetMode="External"/><Relationship Id="rId1" Type="http://schemas.openxmlformats.org/officeDocument/2006/relationships/slideLayout" Target="../slideLayouts/slideLayout2.xml"/><Relationship Id="rId4" Type="http://schemas.openxmlformats.org/officeDocument/2006/relationships/hyperlink" Target="http://www.cableorganizer.com/telecom-datacom/patch-cables-boots-plugs.html" TargetMode="External"/></Relationships>
</file>

<file path=ppt/slides/_rels/slide9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Computer Networks</a:t>
            </a:r>
            <a:endParaRPr lang="en-US" dirty="0"/>
          </a:p>
        </p:txBody>
      </p:sp>
      <p:sp>
        <p:nvSpPr>
          <p:cNvPr id="3" name="Subtitle 2"/>
          <p:cNvSpPr>
            <a:spLocks noGrp="1"/>
          </p:cNvSpPr>
          <p:nvPr>
            <p:ph type="subTitle" idx="1"/>
          </p:nvPr>
        </p:nvSpPr>
        <p:spPr/>
        <p:txBody>
          <a:bodyPr>
            <a:normAutofit fontScale="85000" lnSpcReduction="10000"/>
          </a:bodyPr>
          <a:lstStyle/>
          <a:p>
            <a:r>
              <a:rPr lang="en-US" dirty="0" smtClean="0"/>
              <a:t>				By Jeremiah Kafakoma</a:t>
            </a:r>
            <a:endParaRPr lang="en-US" dirty="0"/>
          </a:p>
        </p:txBody>
      </p:sp>
      <p:sp>
        <p:nvSpPr>
          <p:cNvPr id="4" name="Footer Placeholder 3"/>
          <p:cNvSpPr>
            <a:spLocks noGrp="1"/>
          </p:cNvSpPr>
          <p:nvPr>
            <p:ph type="ftr" sz="quarter" idx="11"/>
          </p:nvPr>
        </p:nvSpPr>
        <p:spPr/>
        <p:txBody>
          <a:bodyPr/>
          <a:lstStyle/>
          <a:p>
            <a:r>
              <a:rPr lang="en-US" smtClean="0"/>
              <a:t>Jeremiah Kafakoma</a:t>
            </a:r>
            <a:endParaRPr lang="en-US"/>
          </a:p>
        </p:txBody>
      </p:sp>
      <p:sp>
        <p:nvSpPr>
          <p:cNvPr id="5" name="Slide Number Placeholder 4"/>
          <p:cNvSpPr>
            <a:spLocks noGrp="1"/>
          </p:cNvSpPr>
          <p:nvPr>
            <p:ph type="sldNum" sz="quarter" idx="12"/>
          </p:nvPr>
        </p:nvSpPr>
        <p:spPr/>
        <p:txBody>
          <a:bodyPr/>
          <a:lstStyle/>
          <a:p>
            <a:fld id="{AF99D367-8FDA-4A2F-9F0E-167FD1610AEF}" type="slidenum">
              <a:rPr lang="en-US" smtClean="0"/>
              <a:t>1</a:t>
            </a:fld>
            <a:endParaRPr lang="en-US"/>
          </a:p>
        </p:txBody>
      </p:sp>
    </p:spTree>
    <p:extLst>
      <p:ext uri="{BB962C8B-B14F-4D97-AF65-F5344CB8AC3E}">
        <p14:creationId xmlns:p14="http://schemas.microsoft.com/office/powerpoint/2010/main" val="2822735085"/>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definition</a:t>
            </a:r>
            <a:endParaRPr lang="en-US" dirty="0"/>
          </a:p>
        </p:txBody>
      </p:sp>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b="0" dirty="0"/>
              <a:t>A </a:t>
            </a:r>
            <a:r>
              <a:rPr lang="en-US" dirty="0"/>
              <a:t>computer network</a:t>
            </a:r>
            <a:r>
              <a:rPr lang="en-US" b="0" dirty="0"/>
              <a:t> is a set of </a:t>
            </a:r>
            <a:r>
              <a:rPr lang="en-US" dirty="0"/>
              <a:t>computers</a:t>
            </a:r>
            <a:r>
              <a:rPr lang="en-US" b="0" dirty="0"/>
              <a:t> connected together for the purpose of sharing resources. The most common resource shared today is connection to the Internet. Other shared resources can include a printer or a file </a:t>
            </a:r>
            <a:r>
              <a:rPr lang="en-US" b="0" dirty="0" smtClean="0"/>
              <a:t>server.</a:t>
            </a:r>
          </a:p>
          <a:p>
            <a:pPr marL="114300" indent="0">
              <a:buNone/>
            </a:pPr>
            <a:r>
              <a:rPr lang="en-US" dirty="0"/>
              <a:t>	</a:t>
            </a:r>
            <a:r>
              <a:rPr lang="en-US" dirty="0" smtClean="0"/>
              <a:t>		OR</a:t>
            </a:r>
            <a:endParaRPr lang="en-US" b="0" dirty="0" smtClean="0"/>
          </a:p>
          <a:p>
            <a:pPr>
              <a:buFont typeface="Arial" panose="020B0604020202020204" pitchFamily="34" charset="0"/>
              <a:buChar char="•"/>
            </a:pPr>
            <a:r>
              <a:rPr lang="en-US" b="0" dirty="0"/>
              <a:t>A computer network is a group of computer systems and other computing hardware devices that are linked together through communication channels to facilitate communication and resource-sharing among a wide range of users. Networks are commonly categorized based on their characteristics</a:t>
            </a:r>
            <a:r>
              <a:rPr lang="en-US" b="0" dirty="0" smtClean="0"/>
              <a:t>.</a:t>
            </a:r>
          </a:p>
          <a:p>
            <a:pPr>
              <a:buFont typeface="Arial" panose="020B0604020202020204" pitchFamily="34" charset="0"/>
              <a:buChar char="•"/>
            </a:pPr>
            <a:endParaRPr lang="en-US" dirty="0"/>
          </a:p>
        </p:txBody>
      </p:sp>
      <p:sp>
        <p:nvSpPr>
          <p:cNvPr id="4" name="Footer Placeholder 3"/>
          <p:cNvSpPr>
            <a:spLocks noGrp="1"/>
          </p:cNvSpPr>
          <p:nvPr>
            <p:ph type="ftr" sz="quarter" idx="11"/>
          </p:nvPr>
        </p:nvSpPr>
        <p:spPr/>
        <p:txBody>
          <a:bodyPr/>
          <a:lstStyle/>
          <a:p>
            <a:r>
              <a:rPr lang="en-US" smtClean="0"/>
              <a:t>Jeremiah Kafakoma</a:t>
            </a:r>
            <a:endParaRPr lang="en-US"/>
          </a:p>
        </p:txBody>
      </p:sp>
      <p:sp>
        <p:nvSpPr>
          <p:cNvPr id="5" name="Slide Number Placeholder 4"/>
          <p:cNvSpPr>
            <a:spLocks noGrp="1"/>
          </p:cNvSpPr>
          <p:nvPr>
            <p:ph type="sldNum" sz="quarter" idx="12"/>
          </p:nvPr>
        </p:nvSpPr>
        <p:spPr/>
        <p:txBody>
          <a:bodyPr/>
          <a:lstStyle/>
          <a:p>
            <a:fld id="{AF99D367-8FDA-4A2F-9F0E-167FD1610AEF}" type="slidenum">
              <a:rPr lang="en-US" smtClean="0"/>
              <a:t>2</a:t>
            </a:fld>
            <a:endParaRPr lang="en-US"/>
          </a:p>
        </p:txBody>
      </p:sp>
    </p:spTree>
    <p:extLst>
      <p:ext uri="{BB962C8B-B14F-4D97-AF65-F5344CB8AC3E}">
        <p14:creationId xmlns:p14="http://schemas.microsoft.com/office/powerpoint/2010/main" val="178790599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Networks are used </a:t>
            </a:r>
            <a:r>
              <a:rPr lang="en-US" dirty="0" smtClean="0"/>
              <a:t>to</a:t>
            </a:r>
            <a:endParaRPr lang="en-US" dirty="0"/>
          </a:p>
        </p:txBody>
      </p:sp>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b="0" dirty="0"/>
              <a:t>Facilitate communication via email, video conferencing, instant messaging, etc.</a:t>
            </a:r>
          </a:p>
          <a:p>
            <a:pPr>
              <a:buFont typeface="Arial" panose="020B0604020202020204" pitchFamily="34" charset="0"/>
              <a:buChar char="•"/>
            </a:pPr>
            <a:r>
              <a:rPr lang="en-US" b="0" dirty="0"/>
              <a:t>Enable multiple users to share a single hardware device like a printer or scanner</a:t>
            </a:r>
          </a:p>
          <a:p>
            <a:pPr>
              <a:buFont typeface="Arial" panose="020B0604020202020204" pitchFamily="34" charset="0"/>
              <a:buChar char="•"/>
            </a:pPr>
            <a:r>
              <a:rPr lang="en-US" b="0" dirty="0"/>
              <a:t>Enable file sharing across the network</a:t>
            </a:r>
          </a:p>
          <a:p>
            <a:pPr>
              <a:buFont typeface="Arial" panose="020B0604020202020204" pitchFamily="34" charset="0"/>
              <a:buChar char="•"/>
            </a:pPr>
            <a:r>
              <a:rPr lang="en-US" b="0" dirty="0"/>
              <a:t>Allow for the sharing of software or operating programs on remote systems</a:t>
            </a:r>
          </a:p>
          <a:p>
            <a:pPr>
              <a:buFont typeface="Arial" panose="020B0604020202020204" pitchFamily="34" charset="0"/>
              <a:buChar char="•"/>
            </a:pPr>
            <a:r>
              <a:rPr lang="en-US" b="0" dirty="0"/>
              <a:t>Make information easier to access and maintain among network users</a:t>
            </a:r>
          </a:p>
          <a:p>
            <a:pPr marL="285750" indent="-285750">
              <a:buFont typeface="Arial" panose="020B0604020202020204" pitchFamily="34" charset="0"/>
              <a:buChar char="•"/>
            </a:pPr>
            <a:endParaRPr lang="en-US" dirty="0"/>
          </a:p>
        </p:txBody>
      </p:sp>
      <p:sp>
        <p:nvSpPr>
          <p:cNvPr id="4" name="Footer Placeholder 3"/>
          <p:cNvSpPr>
            <a:spLocks noGrp="1"/>
          </p:cNvSpPr>
          <p:nvPr>
            <p:ph type="ftr" sz="quarter" idx="11"/>
          </p:nvPr>
        </p:nvSpPr>
        <p:spPr/>
        <p:txBody>
          <a:bodyPr/>
          <a:lstStyle/>
          <a:p>
            <a:r>
              <a:rPr lang="en-US" smtClean="0"/>
              <a:t>Jeremiah Kafakoma</a:t>
            </a:r>
            <a:endParaRPr lang="en-US"/>
          </a:p>
        </p:txBody>
      </p:sp>
      <p:sp>
        <p:nvSpPr>
          <p:cNvPr id="5" name="Slide Number Placeholder 4"/>
          <p:cNvSpPr>
            <a:spLocks noGrp="1"/>
          </p:cNvSpPr>
          <p:nvPr>
            <p:ph type="sldNum" sz="quarter" idx="12"/>
          </p:nvPr>
        </p:nvSpPr>
        <p:spPr/>
        <p:txBody>
          <a:bodyPr/>
          <a:lstStyle/>
          <a:p>
            <a:fld id="{AF99D367-8FDA-4A2F-9F0E-167FD1610AEF}" type="slidenum">
              <a:rPr lang="en-US" smtClean="0"/>
              <a:t>3</a:t>
            </a:fld>
            <a:endParaRPr lang="en-US"/>
          </a:p>
        </p:txBody>
      </p:sp>
    </p:spTree>
    <p:extLst>
      <p:ext uri="{BB962C8B-B14F-4D97-AF65-F5344CB8AC3E}">
        <p14:creationId xmlns:p14="http://schemas.microsoft.com/office/powerpoint/2010/main" val="143455716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networks</a:t>
            </a:r>
            <a:endParaRPr lang="en-US" dirty="0"/>
          </a:p>
        </p:txBody>
      </p:sp>
      <p:sp>
        <p:nvSpPr>
          <p:cNvPr id="3" name="Content Placeholder 2"/>
          <p:cNvSpPr>
            <a:spLocks noGrp="1"/>
          </p:cNvSpPr>
          <p:nvPr>
            <p:ph idx="1"/>
          </p:nvPr>
        </p:nvSpPr>
        <p:spPr/>
        <p:txBody>
          <a:bodyPr>
            <a:normAutofit fontScale="85000" lnSpcReduction="20000"/>
          </a:bodyPr>
          <a:lstStyle/>
          <a:p>
            <a:r>
              <a:rPr lang="en-US" b="0" dirty="0"/>
              <a:t>There are many types of networks, including:</a:t>
            </a:r>
          </a:p>
          <a:p>
            <a:pPr>
              <a:buFont typeface="Arial" panose="020B0604020202020204" pitchFamily="34" charset="0"/>
              <a:buChar char="•"/>
            </a:pPr>
            <a:r>
              <a:rPr lang="en-US" b="0" dirty="0"/>
              <a:t>Local Area Networks (LAN)</a:t>
            </a:r>
          </a:p>
          <a:p>
            <a:pPr>
              <a:buFont typeface="Arial" panose="020B0604020202020204" pitchFamily="34" charset="0"/>
              <a:buChar char="•"/>
            </a:pPr>
            <a:r>
              <a:rPr lang="en-US" b="0" dirty="0"/>
              <a:t>Personal Area Networks (PAN)</a:t>
            </a:r>
          </a:p>
          <a:p>
            <a:pPr>
              <a:buFont typeface="Arial" panose="020B0604020202020204" pitchFamily="34" charset="0"/>
              <a:buChar char="•"/>
            </a:pPr>
            <a:r>
              <a:rPr lang="en-US" b="0" dirty="0"/>
              <a:t>Home Area Networks (HAN)</a:t>
            </a:r>
          </a:p>
          <a:p>
            <a:pPr>
              <a:buFont typeface="Arial" panose="020B0604020202020204" pitchFamily="34" charset="0"/>
              <a:buChar char="•"/>
            </a:pPr>
            <a:r>
              <a:rPr lang="en-US" b="0" dirty="0"/>
              <a:t>Wide Area Networks (WAN)</a:t>
            </a:r>
          </a:p>
          <a:p>
            <a:pPr>
              <a:buFont typeface="Arial" panose="020B0604020202020204" pitchFamily="34" charset="0"/>
              <a:buChar char="•"/>
            </a:pPr>
            <a:r>
              <a:rPr lang="en-US" b="0" dirty="0"/>
              <a:t>Campus Networks</a:t>
            </a:r>
          </a:p>
          <a:p>
            <a:pPr>
              <a:buFont typeface="Arial" panose="020B0604020202020204" pitchFamily="34" charset="0"/>
              <a:buChar char="•"/>
            </a:pPr>
            <a:r>
              <a:rPr lang="en-US" b="0" dirty="0"/>
              <a:t>Metropolitan Area Networks (MAN)</a:t>
            </a:r>
          </a:p>
          <a:p>
            <a:pPr>
              <a:buFont typeface="Arial" panose="020B0604020202020204" pitchFamily="34" charset="0"/>
              <a:buChar char="•"/>
            </a:pPr>
            <a:r>
              <a:rPr lang="en-US" b="0" dirty="0"/>
              <a:t>Enterprise Private Networks</a:t>
            </a:r>
          </a:p>
          <a:p>
            <a:pPr>
              <a:buFont typeface="Arial" panose="020B0604020202020204" pitchFamily="34" charset="0"/>
              <a:buChar char="•"/>
            </a:pPr>
            <a:r>
              <a:rPr lang="en-US" b="0" dirty="0"/>
              <a:t>Internetworks</a:t>
            </a:r>
          </a:p>
          <a:p>
            <a:pPr>
              <a:buFont typeface="Arial" panose="020B0604020202020204" pitchFamily="34" charset="0"/>
              <a:buChar char="•"/>
            </a:pPr>
            <a:r>
              <a:rPr lang="en-US" b="0" dirty="0"/>
              <a:t>Backbone Networks (BBN)</a:t>
            </a:r>
          </a:p>
          <a:p>
            <a:pPr>
              <a:buFont typeface="Arial" panose="020B0604020202020204" pitchFamily="34" charset="0"/>
              <a:buChar char="•"/>
            </a:pPr>
            <a:r>
              <a:rPr lang="en-US" b="0" dirty="0"/>
              <a:t>Global Area Networks (GAN)</a:t>
            </a:r>
          </a:p>
          <a:p>
            <a:pPr>
              <a:buFont typeface="Arial" panose="020B0604020202020204" pitchFamily="34" charset="0"/>
              <a:buChar char="•"/>
            </a:pPr>
            <a:r>
              <a:rPr lang="en-US" b="0" dirty="0"/>
              <a:t>The Internet</a:t>
            </a:r>
          </a:p>
          <a:p>
            <a:pPr>
              <a:buFont typeface="Arial" panose="020B0604020202020204" pitchFamily="34" charset="0"/>
              <a:buChar char="•"/>
            </a:pPr>
            <a:r>
              <a:rPr lang="en-US" dirty="0" smtClean="0"/>
              <a:t> </a:t>
            </a:r>
            <a:endParaRPr lang="en-US" dirty="0"/>
          </a:p>
        </p:txBody>
      </p:sp>
      <p:sp>
        <p:nvSpPr>
          <p:cNvPr id="4" name="Footer Placeholder 3"/>
          <p:cNvSpPr>
            <a:spLocks noGrp="1"/>
          </p:cNvSpPr>
          <p:nvPr>
            <p:ph type="ftr" sz="quarter" idx="11"/>
          </p:nvPr>
        </p:nvSpPr>
        <p:spPr/>
        <p:txBody>
          <a:bodyPr/>
          <a:lstStyle/>
          <a:p>
            <a:r>
              <a:rPr lang="en-US" smtClean="0"/>
              <a:t>Jeremiah Kafakoma</a:t>
            </a:r>
            <a:endParaRPr lang="en-US"/>
          </a:p>
        </p:txBody>
      </p:sp>
      <p:sp>
        <p:nvSpPr>
          <p:cNvPr id="5" name="Slide Number Placeholder 4"/>
          <p:cNvSpPr>
            <a:spLocks noGrp="1"/>
          </p:cNvSpPr>
          <p:nvPr>
            <p:ph type="sldNum" sz="quarter" idx="12"/>
          </p:nvPr>
        </p:nvSpPr>
        <p:spPr/>
        <p:txBody>
          <a:bodyPr/>
          <a:lstStyle/>
          <a:p>
            <a:fld id="{AF99D367-8FDA-4A2F-9F0E-167FD1610AEF}" type="slidenum">
              <a:rPr lang="en-US" smtClean="0"/>
              <a:t>4</a:t>
            </a:fld>
            <a:endParaRPr lang="en-US"/>
          </a:p>
        </p:txBody>
      </p:sp>
    </p:spTree>
    <p:extLst>
      <p:ext uri="{BB962C8B-B14F-4D97-AF65-F5344CB8AC3E}">
        <p14:creationId xmlns:p14="http://schemas.microsoft.com/office/powerpoint/2010/main" val="358582425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Local Area Network</a:t>
            </a:r>
            <a:endParaRPr lang="en-US" dirty="0"/>
          </a:p>
        </p:txBody>
      </p:sp>
      <p:sp>
        <p:nvSpPr>
          <p:cNvPr id="3" name="Content Placeholder 2"/>
          <p:cNvSpPr>
            <a:spLocks noGrp="1"/>
          </p:cNvSpPr>
          <p:nvPr>
            <p:ph idx="1"/>
          </p:nvPr>
        </p:nvSpPr>
        <p:spPr/>
        <p:txBody>
          <a:bodyPr/>
          <a:lstStyle/>
          <a:p>
            <a:pPr marL="285750" indent="-285750">
              <a:buFont typeface="Arial" panose="020B0604020202020204" pitchFamily="34" charset="0"/>
              <a:buChar char="•"/>
            </a:pPr>
            <a:r>
              <a:rPr lang="en-US" b="0" dirty="0"/>
              <a:t>A </a:t>
            </a:r>
            <a:r>
              <a:rPr lang="en-US" dirty="0"/>
              <a:t>local</a:t>
            </a:r>
            <a:r>
              <a:rPr lang="en-US" b="0" dirty="0"/>
              <a:t>-</a:t>
            </a:r>
            <a:r>
              <a:rPr lang="en-US" dirty="0"/>
              <a:t>area network</a:t>
            </a:r>
            <a:r>
              <a:rPr lang="en-US" b="0" dirty="0"/>
              <a:t> (</a:t>
            </a:r>
            <a:r>
              <a:rPr lang="en-US" dirty="0"/>
              <a:t>LAN</a:t>
            </a:r>
            <a:r>
              <a:rPr lang="en-US" b="0" dirty="0"/>
              <a:t>) is a computer </a:t>
            </a:r>
            <a:r>
              <a:rPr lang="en-US" dirty="0"/>
              <a:t>network</a:t>
            </a:r>
            <a:r>
              <a:rPr lang="en-US" b="0" dirty="0"/>
              <a:t> that spans a relatively </a:t>
            </a:r>
            <a:r>
              <a:rPr lang="en-US" b="0" dirty="0" smtClean="0"/>
              <a:t>small </a:t>
            </a:r>
            <a:r>
              <a:rPr lang="en-US" dirty="0" smtClean="0"/>
              <a:t>area</a:t>
            </a:r>
            <a:r>
              <a:rPr lang="en-US" b="0" dirty="0"/>
              <a:t>. </a:t>
            </a:r>
            <a:endParaRPr lang="en-US" b="0" dirty="0" smtClean="0"/>
          </a:p>
          <a:p>
            <a:pPr marL="285750" indent="-285750">
              <a:buFont typeface="Arial" panose="020B0604020202020204" pitchFamily="34" charset="0"/>
              <a:buChar char="•"/>
            </a:pPr>
            <a:r>
              <a:rPr lang="en-US" b="0" dirty="0" smtClean="0"/>
              <a:t>Most </a:t>
            </a:r>
            <a:r>
              <a:rPr lang="en-US" b="0" dirty="0"/>
              <a:t>often, a </a:t>
            </a:r>
            <a:r>
              <a:rPr lang="en-US" dirty="0"/>
              <a:t>LAN</a:t>
            </a:r>
            <a:r>
              <a:rPr lang="en-US" b="0" dirty="0"/>
              <a:t> is confined to a single room, building or group of buildings, however, one </a:t>
            </a:r>
            <a:r>
              <a:rPr lang="en-US" dirty="0"/>
              <a:t>LAN</a:t>
            </a:r>
            <a:r>
              <a:rPr lang="en-US" b="0" dirty="0"/>
              <a:t> can be connected to other </a:t>
            </a:r>
            <a:r>
              <a:rPr lang="en-US" dirty="0"/>
              <a:t>LANs</a:t>
            </a:r>
            <a:r>
              <a:rPr lang="en-US" b="0" dirty="0"/>
              <a:t> over any distance via telephone lines and radio waves</a:t>
            </a:r>
            <a:r>
              <a:rPr lang="en-US" b="0" dirty="0" smtClean="0"/>
              <a:t>.</a:t>
            </a:r>
            <a:r>
              <a:rPr lang="en-US" b="0" dirty="0"/>
              <a:t> </a:t>
            </a:r>
            <a:endParaRPr lang="en-US" b="0" dirty="0" smtClean="0"/>
          </a:p>
          <a:p>
            <a:pPr marL="285750" indent="-285750">
              <a:buFont typeface="Arial" panose="020B0604020202020204" pitchFamily="34" charset="0"/>
              <a:buChar char="•"/>
            </a:pPr>
            <a:r>
              <a:rPr lang="en-US" b="0" dirty="0" smtClean="0"/>
              <a:t>A </a:t>
            </a:r>
            <a:r>
              <a:rPr lang="en-US" b="0" dirty="0"/>
              <a:t>local area network (LAN) is a group of computers and associated devices that share a common communications line or wireless link to a server. </a:t>
            </a:r>
            <a:endParaRPr lang="en-US" b="0" dirty="0" smtClean="0"/>
          </a:p>
          <a:p>
            <a:pPr marL="285750" indent="-285750">
              <a:buFont typeface="Arial" panose="020B0604020202020204" pitchFamily="34" charset="0"/>
              <a:buChar char="•"/>
            </a:pPr>
            <a:r>
              <a:rPr lang="en-US" b="0" dirty="0"/>
              <a:t>A local area network may serve as few as two or three users (for example, in a small-office network) or several hundred users in a larger office. </a:t>
            </a:r>
            <a:endParaRPr lang="en-US" b="0" dirty="0" smtClean="0"/>
          </a:p>
          <a:p>
            <a:pPr marL="285750" indent="-285750">
              <a:buFont typeface="Arial" panose="020B0604020202020204" pitchFamily="34" charset="0"/>
              <a:buChar char="•"/>
            </a:pPr>
            <a:r>
              <a:rPr lang="en-US" b="0" dirty="0" smtClean="0"/>
              <a:t>LAN </a:t>
            </a:r>
            <a:r>
              <a:rPr lang="en-US" b="0" dirty="0"/>
              <a:t>networking comprises cables, switches, routers and other components that let users connect to internal servers, websites and other LANs via </a:t>
            </a:r>
            <a:r>
              <a:rPr lang="en-US" b="0" u="sng" dirty="0">
                <a:hlinkClick r:id="rId2"/>
              </a:rPr>
              <a:t>wide area networks</a:t>
            </a:r>
            <a:r>
              <a:rPr lang="en-US" b="0" dirty="0"/>
              <a:t>.</a:t>
            </a:r>
            <a:endParaRPr lang="en-US" dirty="0"/>
          </a:p>
        </p:txBody>
      </p:sp>
      <p:sp>
        <p:nvSpPr>
          <p:cNvPr id="4" name="Footer Placeholder 3"/>
          <p:cNvSpPr>
            <a:spLocks noGrp="1"/>
          </p:cNvSpPr>
          <p:nvPr>
            <p:ph type="ftr" sz="quarter" idx="11"/>
          </p:nvPr>
        </p:nvSpPr>
        <p:spPr/>
        <p:txBody>
          <a:bodyPr/>
          <a:lstStyle/>
          <a:p>
            <a:r>
              <a:rPr lang="en-US" smtClean="0"/>
              <a:t>Jeremiah Kafakoma</a:t>
            </a:r>
            <a:endParaRPr lang="en-US"/>
          </a:p>
        </p:txBody>
      </p:sp>
      <p:sp>
        <p:nvSpPr>
          <p:cNvPr id="5" name="Slide Number Placeholder 4"/>
          <p:cNvSpPr>
            <a:spLocks noGrp="1"/>
          </p:cNvSpPr>
          <p:nvPr>
            <p:ph type="sldNum" sz="quarter" idx="12"/>
          </p:nvPr>
        </p:nvSpPr>
        <p:spPr/>
        <p:txBody>
          <a:bodyPr/>
          <a:lstStyle/>
          <a:p>
            <a:fld id="{AF99D367-8FDA-4A2F-9F0E-167FD1610AEF}" type="slidenum">
              <a:rPr lang="en-US" smtClean="0"/>
              <a:t>5</a:t>
            </a:fld>
            <a:endParaRPr lang="en-US"/>
          </a:p>
        </p:txBody>
      </p:sp>
    </p:spTree>
    <p:extLst>
      <p:ext uri="{BB962C8B-B14F-4D97-AF65-F5344CB8AC3E}">
        <p14:creationId xmlns:p14="http://schemas.microsoft.com/office/powerpoint/2010/main" val="13987455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Wide area Network</a:t>
            </a:r>
            <a:endParaRPr lang="en-US" dirty="0"/>
          </a:p>
        </p:txBody>
      </p:sp>
      <p:sp>
        <p:nvSpPr>
          <p:cNvPr id="3" name="Content Placeholder 2"/>
          <p:cNvSpPr>
            <a:spLocks noGrp="1"/>
          </p:cNvSpPr>
          <p:nvPr>
            <p:ph idx="1"/>
          </p:nvPr>
        </p:nvSpPr>
        <p:spPr/>
        <p:txBody>
          <a:bodyPr>
            <a:noAutofit/>
          </a:bodyPr>
          <a:lstStyle/>
          <a:p>
            <a:pPr>
              <a:buFont typeface="Arial" panose="020B0604020202020204" pitchFamily="34" charset="0"/>
              <a:buChar char="•"/>
            </a:pPr>
            <a:r>
              <a:rPr lang="en-US" sz="1800" b="0" dirty="0"/>
              <a:t>A wide area network (WAN) is a geographically distributed </a:t>
            </a:r>
            <a:r>
              <a:rPr lang="en-US" sz="1800" b="0" dirty="0" smtClean="0"/>
              <a:t>private telecommunications </a:t>
            </a:r>
            <a:r>
              <a:rPr lang="en-US" sz="1800" b="0" u="sng" dirty="0" smtClean="0">
                <a:hlinkClick r:id="rId2"/>
              </a:rPr>
              <a:t>network</a:t>
            </a:r>
            <a:r>
              <a:rPr lang="en-US" sz="1800" b="0" dirty="0"/>
              <a:t> that interconnects multiple local area networks (</a:t>
            </a:r>
            <a:r>
              <a:rPr lang="en-US" sz="1800" b="0" u="sng" dirty="0">
                <a:hlinkClick r:id="rId3"/>
              </a:rPr>
              <a:t>LANs</a:t>
            </a:r>
            <a:r>
              <a:rPr lang="en-US" sz="1800" b="0" dirty="0" smtClean="0"/>
              <a:t>).</a:t>
            </a:r>
          </a:p>
          <a:p>
            <a:pPr>
              <a:buFont typeface="Arial" panose="020B0604020202020204" pitchFamily="34" charset="0"/>
              <a:buChar char="•"/>
            </a:pPr>
            <a:r>
              <a:rPr lang="en-US" sz="1800" b="0" dirty="0" smtClean="0"/>
              <a:t> </a:t>
            </a:r>
            <a:r>
              <a:rPr lang="en-US" sz="1800" b="0" dirty="0"/>
              <a:t>In an enterprise, a WAN may consist of connections to a company's headquarters, branch offices, </a:t>
            </a:r>
            <a:r>
              <a:rPr lang="en-US" sz="1800" b="0" dirty="0" smtClean="0"/>
              <a:t>cloud </a:t>
            </a:r>
            <a:r>
              <a:rPr lang="en-US" sz="1800" b="0" dirty="0"/>
              <a:t>services and other facilities</a:t>
            </a:r>
            <a:r>
              <a:rPr lang="en-US" sz="1800" b="0" dirty="0" smtClean="0"/>
              <a:t>.</a:t>
            </a:r>
          </a:p>
          <a:p>
            <a:pPr>
              <a:buFont typeface="Arial" panose="020B0604020202020204" pitchFamily="34" charset="0"/>
              <a:buChar char="•"/>
            </a:pPr>
            <a:r>
              <a:rPr lang="en-US" sz="1800" b="0" dirty="0" smtClean="0"/>
              <a:t>Typically</a:t>
            </a:r>
            <a:r>
              <a:rPr lang="en-US" sz="1800" b="0" dirty="0"/>
              <a:t>, a </a:t>
            </a:r>
            <a:r>
              <a:rPr lang="en-US" sz="1800" b="0" u="sng" dirty="0">
                <a:hlinkClick r:id="rId4"/>
              </a:rPr>
              <a:t>router</a:t>
            </a:r>
            <a:r>
              <a:rPr lang="en-US" sz="1800" b="0" dirty="0"/>
              <a:t> or other multifunction device is used to connect a LAN to a WAN. </a:t>
            </a:r>
            <a:endParaRPr lang="en-US" sz="1800" b="0" dirty="0" smtClean="0"/>
          </a:p>
          <a:p>
            <a:pPr>
              <a:buFont typeface="Arial" panose="020B0604020202020204" pitchFamily="34" charset="0"/>
              <a:buChar char="•"/>
            </a:pPr>
            <a:r>
              <a:rPr lang="en-US" sz="1800" b="0" dirty="0" smtClean="0"/>
              <a:t>Enterprise </a:t>
            </a:r>
            <a:r>
              <a:rPr lang="en-US" sz="1800" b="0" dirty="0"/>
              <a:t>WANs allow users to share access to applications, services and other centrally located resources. </a:t>
            </a:r>
            <a:endParaRPr lang="en-US" sz="1800" b="0" dirty="0" smtClean="0"/>
          </a:p>
          <a:p>
            <a:pPr marL="0" indent="0"/>
            <a:endParaRPr lang="en-US" sz="1800" b="0" dirty="0"/>
          </a:p>
        </p:txBody>
      </p:sp>
      <p:sp>
        <p:nvSpPr>
          <p:cNvPr id="4" name="Footer Placeholder 3"/>
          <p:cNvSpPr>
            <a:spLocks noGrp="1"/>
          </p:cNvSpPr>
          <p:nvPr>
            <p:ph type="ftr" sz="quarter" idx="11"/>
          </p:nvPr>
        </p:nvSpPr>
        <p:spPr/>
        <p:txBody>
          <a:bodyPr/>
          <a:lstStyle/>
          <a:p>
            <a:r>
              <a:rPr lang="en-US" smtClean="0"/>
              <a:t>Jeremiah Kafakoma</a:t>
            </a:r>
            <a:endParaRPr lang="en-US"/>
          </a:p>
        </p:txBody>
      </p:sp>
      <p:sp>
        <p:nvSpPr>
          <p:cNvPr id="5" name="Slide Number Placeholder 4"/>
          <p:cNvSpPr>
            <a:spLocks noGrp="1"/>
          </p:cNvSpPr>
          <p:nvPr>
            <p:ph type="sldNum" sz="quarter" idx="12"/>
          </p:nvPr>
        </p:nvSpPr>
        <p:spPr/>
        <p:txBody>
          <a:bodyPr/>
          <a:lstStyle/>
          <a:p>
            <a:fld id="{AF99D367-8FDA-4A2F-9F0E-167FD1610AEF}" type="slidenum">
              <a:rPr lang="en-US" smtClean="0"/>
              <a:t>6</a:t>
            </a:fld>
            <a:endParaRPr lang="en-US"/>
          </a:p>
        </p:txBody>
      </p:sp>
    </p:spTree>
    <p:extLst>
      <p:ext uri="{BB962C8B-B14F-4D97-AF65-F5344CB8AC3E}">
        <p14:creationId xmlns:p14="http://schemas.microsoft.com/office/powerpoint/2010/main" val="41891074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000" dirty="0"/>
              <a:t>Metropolitan Area Networks (MAN)</a:t>
            </a:r>
            <a:br>
              <a:rPr lang="en-US" sz="2000" dirty="0"/>
            </a:br>
            <a:endParaRPr lang="en-US" sz="2000" dirty="0"/>
          </a:p>
        </p:txBody>
      </p:sp>
      <p:sp>
        <p:nvSpPr>
          <p:cNvPr id="3" name="Content Placeholder 2"/>
          <p:cNvSpPr>
            <a:spLocks noGrp="1"/>
          </p:cNvSpPr>
          <p:nvPr>
            <p:ph idx="1"/>
          </p:nvPr>
        </p:nvSpPr>
        <p:spPr/>
        <p:txBody>
          <a:bodyPr/>
          <a:lstStyle/>
          <a:p>
            <a:pPr>
              <a:buFont typeface="Arial" panose="020B0604020202020204" pitchFamily="34" charset="0"/>
              <a:buChar char="•"/>
            </a:pPr>
            <a:r>
              <a:rPr lang="en-US" b="0" dirty="0"/>
              <a:t>A </a:t>
            </a:r>
            <a:r>
              <a:rPr lang="en-US" dirty="0"/>
              <a:t>metropolitan area network</a:t>
            </a:r>
            <a:r>
              <a:rPr lang="en-US" b="0" dirty="0"/>
              <a:t> (MAN) is a </a:t>
            </a:r>
            <a:r>
              <a:rPr lang="en-US" dirty="0"/>
              <a:t>network</a:t>
            </a:r>
            <a:r>
              <a:rPr lang="en-US" b="0" dirty="0"/>
              <a:t> that interconnects users with computer resources in a geographic </a:t>
            </a:r>
            <a:r>
              <a:rPr lang="en-US" dirty="0"/>
              <a:t>area</a:t>
            </a:r>
            <a:r>
              <a:rPr lang="en-US" b="0" dirty="0"/>
              <a:t> or region larger than that covered by even a large local </a:t>
            </a:r>
            <a:r>
              <a:rPr lang="en-US" dirty="0"/>
              <a:t>area network</a:t>
            </a:r>
            <a:r>
              <a:rPr lang="en-US" b="0" dirty="0"/>
              <a:t> (LAN) but smaller than the </a:t>
            </a:r>
            <a:r>
              <a:rPr lang="en-US" dirty="0"/>
              <a:t>area</a:t>
            </a:r>
            <a:r>
              <a:rPr lang="en-US" b="0" dirty="0"/>
              <a:t> covered by a wide </a:t>
            </a:r>
            <a:r>
              <a:rPr lang="en-US" dirty="0"/>
              <a:t>area network</a:t>
            </a:r>
            <a:r>
              <a:rPr lang="en-US" b="0" dirty="0"/>
              <a:t> (WAN</a:t>
            </a:r>
            <a:r>
              <a:rPr lang="en-US" b="0" dirty="0" smtClean="0"/>
              <a:t>)</a:t>
            </a:r>
          </a:p>
          <a:p>
            <a:pPr>
              <a:buFont typeface="Arial" panose="020B0604020202020204" pitchFamily="34" charset="0"/>
              <a:buChar char="•"/>
            </a:pPr>
            <a:r>
              <a:rPr lang="en-US" b="0" dirty="0"/>
              <a:t>The term is applied to the interconnection of networks in a city into a single larger network (which may then also offer efficient connection to a wide area network</a:t>
            </a:r>
            <a:r>
              <a:rPr lang="en-US" b="0" dirty="0" smtClean="0"/>
              <a:t>).</a:t>
            </a:r>
          </a:p>
          <a:p>
            <a:pPr>
              <a:buFont typeface="Arial" panose="020B0604020202020204" pitchFamily="34" charset="0"/>
              <a:buChar char="•"/>
            </a:pPr>
            <a:r>
              <a:rPr lang="en-US" b="0" dirty="0" smtClean="0"/>
              <a:t>It </a:t>
            </a:r>
            <a:r>
              <a:rPr lang="en-US" b="0" dirty="0"/>
              <a:t>is also used to mean the interconnection of several local area networks by bridging them with </a:t>
            </a:r>
            <a:r>
              <a:rPr lang="en-US" b="0" u="sng" dirty="0">
                <a:hlinkClick r:id="rId2"/>
              </a:rPr>
              <a:t>backbone</a:t>
            </a:r>
            <a:r>
              <a:rPr lang="en-US" b="0" dirty="0"/>
              <a:t> lines. </a:t>
            </a:r>
            <a:endParaRPr lang="en-US" b="0" dirty="0" smtClean="0"/>
          </a:p>
          <a:p>
            <a:pPr>
              <a:buFont typeface="Arial" panose="020B0604020202020204" pitchFamily="34" charset="0"/>
              <a:buChar char="•"/>
            </a:pPr>
            <a:r>
              <a:rPr lang="en-US" b="0" dirty="0" smtClean="0"/>
              <a:t>The </a:t>
            </a:r>
            <a:r>
              <a:rPr lang="en-US" b="0" dirty="0"/>
              <a:t>latter usage is also sometimes referred to as a campus network</a:t>
            </a:r>
            <a:r>
              <a:rPr lang="en-US" b="0" dirty="0" smtClean="0"/>
              <a:t>. </a:t>
            </a:r>
            <a:endParaRPr lang="en-US" dirty="0"/>
          </a:p>
        </p:txBody>
      </p:sp>
      <p:sp>
        <p:nvSpPr>
          <p:cNvPr id="4" name="Footer Placeholder 3"/>
          <p:cNvSpPr>
            <a:spLocks noGrp="1"/>
          </p:cNvSpPr>
          <p:nvPr>
            <p:ph type="ftr" sz="quarter" idx="11"/>
          </p:nvPr>
        </p:nvSpPr>
        <p:spPr/>
        <p:txBody>
          <a:bodyPr/>
          <a:lstStyle/>
          <a:p>
            <a:r>
              <a:rPr lang="en-US" smtClean="0"/>
              <a:t>Jeremiah Kafakoma</a:t>
            </a:r>
            <a:endParaRPr lang="en-US"/>
          </a:p>
        </p:txBody>
      </p:sp>
      <p:sp>
        <p:nvSpPr>
          <p:cNvPr id="5" name="Slide Number Placeholder 4"/>
          <p:cNvSpPr>
            <a:spLocks noGrp="1"/>
          </p:cNvSpPr>
          <p:nvPr>
            <p:ph type="sldNum" sz="quarter" idx="12"/>
          </p:nvPr>
        </p:nvSpPr>
        <p:spPr/>
        <p:txBody>
          <a:bodyPr/>
          <a:lstStyle/>
          <a:p>
            <a:fld id="{AF99D367-8FDA-4A2F-9F0E-167FD1610AEF}" type="slidenum">
              <a:rPr lang="en-US" smtClean="0"/>
              <a:t>7</a:t>
            </a:fld>
            <a:endParaRPr lang="en-US"/>
          </a:p>
        </p:txBody>
      </p:sp>
    </p:spTree>
    <p:extLst>
      <p:ext uri="{BB962C8B-B14F-4D97-AF65-F5344CB8AC3E}">
        <p14:creationId xmlns:p14="http://schemas.microsoft.com/office/powerpoint/2010/main" val="12352337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Advantages/</a:t>
            </a:r>
            <a:r>
              <a:rPr lang="en-US" dirty="0" err="1" smtClean="0"/>
              <a:t>benifits</a:t>
            </a:r>
            <a:r>
              <a:rPr lang="en-US" dirty="0" smtClean="0"/>
              <a:t> </a:t>
            </a:r>
            <a:r>
              <a:rPr lang="en-US" dirty="0"/>
              <a:t>of Networking</a:t>
            </a:r>
          </a:p>
        </p:txBody>
      </p:sp>
      <p:sp>
        <p:nvSpPr>
          <p:cNvPr id="3" name="Content Placeholder 2"/>
          <p:cNvSpPr>
            <a:spLocks noGrp="1"/>
          </p:cNvSpPr>
          <p:nvPr>
            <p:ph idx="1"/>
          </p:nvPr>
        </p:nvSpPr>
        <p:spPr/>
        <p:txBody>
          <a:bodyPr>
            <a:normAutofit fontScale="77500" lnSpcReduction="20000"/>
          </a:bodyPr>
          <a:lstStyle/>
          <a:p>
            <a:pPr>
              <a:lnSpc>
                <a:spcPct val="170000"/>
              </a:lnSpc>
            </a:pPr>
            <a:r>
              <a:rPr lang="en-US" dirty="0"/>
              <a:t>Speed.</a:t>
            </a:r>
            <a:r>
              <a:rPr lang="en-US" b="0" dirty="0"/>
              <a:t> Networks provide a very rapid method for sharing and transferring files. Without a network, files are shared by copying them to floppy disks, then carrying or sending the disks from one computer to another. This method of transferring files in this manner is very time-consuming</a:t>
            </a:r>
            <a:r>
              <a:rPr lang="en-US" b="0" dirty="0" smtClean="0"/>
              <a:t>.</a:t>
            </a:r>
          </a:p>
          <a:p>
            <a:pPr>
              <a:lnSpc>
                <a:spcPct val="170000"/>
              </a:lnSpc>
            </a:pPr>
            <a:r>
              <a:rPr lang="en-US" b="0" dirty="0" smtClean="0"/>
              <a:t> </a:t>
            </a:r>
            <a:r>
              <a:rPr lang="en-US" dirty="0"/>
              <a:t>Cost. </a:t>
            </a:r>
            <a:r>
              <a:rPr lang="en-US" b="0" dirty="0"/>
              <a:t>The network version of most software programs are available at considerable savings when compared to buying individually licensed copies. Besides monetary savings, sharing a program on a network allows for easier upgrading of the program. The changes have to be done only once, on the file server, instead of on all the individual workstations</a:t>
            </a:r>
            <a:r>
              <a:rPr lang="en-US" b="0" dirty="0" smtClean="0"/>
              <a:t>.</a:t>
            </a:r>
          </a:p>
          <a:p>
            <a:pPr>
              <a:lnSpc>
                <a:spcPct val="170000"/>
              </a:lnSpc>
            </a:pPr>
            <a:r>
              <a:rPr lang="en-US" dirty="0" smtClean="0"/>
              <a:t> </a:t>
            </a:r>
            <a:r>
              <a:rPr lang="en-US" dirty="0"/>
              <a:t>Centralized Software Management</a:t>
            </a:r>
            <a:r>
              <a:rPr lang="en-US" b="0" dirty="0"/>
              <a:t>. One of the greatest benefits of installing a network at a school is the fact that all of the software can be loaded on one computer (the file server). This eliminates that need to spend time and energy installing updates and tracking files on independent computers throughout the building</a:t>
            </a:r>
            <a:r>
              <a:rPr lang="en-US" b="0" dirty="0" smtClean="0"/>
              <a:t>.</a:t>
            </a:r>
          </a:p>
        </p:txBody>
      </p:sp>
      <p:sp>
        <p:nvSpPr>
          <p:cNvPr id="4" name="Footer Placeholder 3"/>
          <p:cNvSpPr>
            <a:spLocks noGrp="1"/>
          </p:cNvSpPr>
          <p:nvPr>
            <p:ph type="ftr" sz="quarter" idx="11"/>
          </p:nvPr>
        </p:nvSpPr>
        <p:spPr/>
        <p:txBody>
          <a:bodyPr/>
          <a:lstStyle/>
          <a:p>
            <a:r>
              <a:rPr lang="en-US" smtClean="0"/>
              <a:t>Jeremiah Kafakoma</a:t>
            </a:r>
            <a:endParaRPr lang="en-US"/>
          </a:p>
        </p:txBody>
      </p:sp>
      <p:sp>
        <p:nvSpPr>
          <p:cNvPr id="5" name="Slide Number Placeholder 4"/>
          <p:cNvSpPr>
            <a:spLocks noGrp="1"/>
          </p:cNvSpPr>
          <p:nvPr>
            <p:ph type="sldNum" sz="quarter" idx="12"/>
          </p:nvPr>
        </p:nvSpPr>
        <p:spPr/>
        <p:txBody>
          <a:bodyPr/>
          <a:lstStyle/>
          <a:p>
            <a:fld id="{AF99D367-8FDA-4A2F-9F0E-167FD1610AEF}" type="slidenum">
              <a:rPr lang="en-US" smtClean="0"/>
              <a:t>8</a:t>
            </a:fld>
            <a:endParaRPr lang="en-US"/>
          </a:p>
        </p:txBody>
      </p:sp>
    </p:spTree>
    <p:extLst>
      <p:ext uri="{BB962C8B-B14F-4D97-AF65-F5344CB8AC3E}">
        <p14:creationId xmlns:p14="http://schemas.microsoft.com/office/powerpoint/2010/main" val="310441247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22960" y="228600"/>
            <a:ext cx="7520940" cy="4451877"/>
          </a:xfrm>
        </p:spPr>
        <p:txBody>
          <a:bodyPr>
            <a:normAutofit fontScale="92500"/>
          </a:bodyPr>
          <a:lstStyle/>
          <a:p>
            <a:pPr>
              <a:lnSpc>
                <a:spcPct val="170000"/>
              </a:lnSpc>
            </a:pPr>
            <a:r>
              <a:rPr lang="en-US" dirty="0"/>
              <a:t> Resource Sharing</a:t>
            </a:r>
            <a:r>
              <a:rPr lang="en-US" b="0" dirty="0"/>
              <a:t>. Sharing resources is another area in which a network exceeds stand-alone computers. Most students cannot afford enough laser printers, fax machines, modems, scanners, and CD-ROM players for each computer. However, if these or similar peripherals are added to a network, they can be shared by many users.</a:t>
            </a:r>
          </a:p>
          <a:p>
            <a:pPr>
              <a:lnSpc>
                <a:spcPct val="170000"/>
              </a:lnSpc>
            </a:pPr>
            <a:r>
              <a:rPr lang="en-US" b="0" dirty="0"/>
              <a:t> </a:t>
            </a:r>
            <a:r>
              <a:rPr lang="en-US" dirty="0"/>
              <a:t>Flexible Access</a:t>
            </a:r>
            <a:r>
              <a:rPr lang="en-US" b="0" dirty="0"/>
              <a:t>. School networks allow students to access their files from computers throughout the school. Students can begin an assignment in their classroom, save part of it </a:t>
            </a:r>
            <a:endParaRPr lang="en-US" b="0" dirty="0" smtClean="0"/>
          </a:p>
          <a:p>
            <a:pPr>
              <a:lnSpc>
                <a:spcPct val="170000"/>
              </a:lnSpc>
            </a:pPr>
            <a:r>
              <a:rPr lang="en-US" dirty="0"/>
              <a:t>Security. </a:t>
            </a:r>
            <a:r>
              <a:rPr lang="en-US" b="0" dirty="0"/>
              <a:t>Files and programs on a network can be designated as "copy inhibit," so that you do not have to worry about illegal copying of programs. Also, passwords can be established for specific directories to restrict access to authorized users. </a:t>
            </a:r>
          </a:p>
          <a:p>
            <a:endParaRPr lang="en-US" dirty="0"/>
          </a:p>
        </p:txBody>
      </p:sp>
      <p:sp>
        <p:nvSpPr>
          <p:cNvPr id="2" name="Footer Placeholder 1"/>
          <p:cNvSpPr>
            <a:spLocks noGrp="1"/>
          </p:cNvSpPr>
          <p:nvPr>
            <p:ph type="ftr" sz="quarter" idx="11"/>
          </p:nvPr>
        </p:nvSpPr>
        <p:spPr/>
        <p:txBody>
          <a:bodyPr/>
          <a:lstStyle/>
          <a:p>
            <a:r>
              <a:rPr lang="en-US" smtClean="0"/>
              <a:t>Jeremiah Kafakoma</a:t>
            </a:r>
            <a:endParaRPr lang="en-US"/>
          </a:p>
        </p:txBody>
      </p:sp>
      <p:sp>
        <p:nvSpPr>
          <p:cNvPr id="4" name="Slide Number Placeholder 3"/>
          <p:cNvSpPr>
            <a:spLocks noGrp="1"/>
          </p:cNvSpPr>
          <p:nvPr>
            <p:ph type="sldNum" sz="quarter" idx="12"/>
          </p:nvPr>
        </p:nvSpPr>
        <p:spPr/>
        <p:txBody>
          <a:bodyPr/>
          <a:lstStyle/>
          <a:p>
            <a:fld id="{AF99D367-8FDA-4A2F-9F0E-167FD1610AEF}" type="slidenum">
              <a:rPr lang="en-US" smtClean="0"/>
              <a:t>9</a:t>
            </a:fld>
            <a:endParaRPr lang="en-US"/>
          </a:p>
        </p:txBody>
      </p:sp>
    </p:spTree>
    <p:extLst>
      <p:ext uri="{BB962C8B-B14F-4D97-AF65-F5344CB8AC3E}">
        <p14:creationId xmlns:p14="http://schemas.microsoft.com/office/powerpoint/2010/main" val="1782264381"/>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disadvantages</a:t>
            </a:r>
            <a:endParaRPr lang="en-US" dirty="0"/>
          </a:p>
        </p:txBody>
      </p:sp>
      <p:sp>
        <p:nvSpPr>
          <p:cNvPr id="3" name="Content Placeholder 2"/>
          <p:cNvSpPr>
            <a:spLocks noGrp="1"/>
          </p:cNvSpPr>
          <p:nvPr>
            <p:ph idx="1"/>
          </p:nvPr>
        </p:nvSpPr>
        <p:spPr/>
        <p:txBody>
          <a:bodyPr>
            <a:normAutofit lnSpcReduction="10000"/>
          </a:bodyPr>
          <a:lstStyle/>
          <a:p>
            <a:pPr>
              <a:lnSpc>
                <a:spcPct val="150000"/>
              </a:lnSpc>
            </a:pPr>
            <a:r>
              <a:rPr lang="en-US" dirty="0"/>
              <a:t>Costs </a:t>
            </a:r>
            <a:r>
              <a:rPr lang="en-US" dirty="0" smtClean="0"/>
              <a:t>-</a:t>
            </a:r>
            <a:r>
              <a:rPr lang="en-US" b="0" dirty="0" smtClean="0"/>
              <a:t>Although </a:t>
            </a:r>
            <a:r>
              <a:rPr lang="en-US" b="0" dirty="0"/>
              <a:t>a network will generally save money over time, the initial costs can be substantial, and the installation may require the services of a </a:t>
            </a:r>
            <a:r>
              <a:rPr lang="en-US" b="0" dirty="0" smtClean="0"/>
              <a:t>technician.</a:t>
            </a:r>
          </a:p>
          <a:p>
            <a:pPr>
              <a:lnSpc>
                <a:spcPct val="150000"/>
              </a:lnSpc>
            </a:pPr>
            <a:r>
              <a:rPr lang="en-US" dirty="0" smtClean="0"/>
              <a:t>Requires </a:t>
            </a:r>
            <a:r>
              <a:rPr lang="en-US" dirty="0"/>
              <a:t>Administrative Time</a:t>
            </a:r>
            <a:r>
              <a:rPr lang="en-US" b="0" dirty="0"/>
              <a:t>. Proper maintenance of a network requires considerable time and expertise. Many students have installed a network, only to find that they did not budget for the necessary administrative support. </a:t>
            </a:r>
            <a:endParaRPr lang="en-US" b="0" dirty="0" smtClean="0"/>
          </a:p>
          <a:p>
            <a:pPr>
              <a:lnSpc>
                <a:spcPct val="150000"/>
              </a:lnSpc>
            </a:pPr>
            <a:r>
              <a:rPr lang="en-US" dirty="0" smtClean="0"/>
              <a:t>File </a:t>
            </a:r>
            <a:r>
              <a:rPr lang="en-US" dirty="0"/>
              <a:t>Server May Fail. </a:t>
            </a:r>
            <a:r>
              <a:rPr lang="en-US" b="0" dirty="0"/>
              <a:t>Although a file server is no more susceptible to failure than any other computer, when the files server "goes down," the entire network may come to a halt. When this happens, the entire school may lose access to necessary programs and files.</a:t>
            </a:r>
          </a:p>
        </p:txBody>
      </p:sp>
      <p:sp>
        <p:nvSpPr>
          <p:cNvPr id="4" name="Footer Placeholder 3"/>
          <p:cNvSpPr>
            <a:spLocks noGrp="1"/>
          </p:cNvSpPr>
          <p:nvPr>
            <p:ph type="ftr" sz="quarter" idx="11"/>
          </p:nvPr>
        </p:nvSpPr>
        <p:spPr/>
        <p:txBody>
          <a:bodyPr/>
          <a:lstStyle/>
          <a:p>
            <a:r>
              <a:rPr lang="en-US" smtClean="0"/>
              <a:t>Jeremiah Kafakoma</a:t>
            </a:r>
            <a:endParaRPr lang="en-US"/>
          </a:p>
        </p:txBody>
      </p:sp>
      <p:sp>
        <p:nvSpPr>
          <p:cNvPr id="5" name="Slide Number Placeholder 4"/>
          <p:cNvSpPr>
            <a:spLocks noGrp="1"/>
          </p:cNvSpPr>
          <p:nvPr>
            <p:ph type="sldNum" sz="quarter" idx="12"/>
          </p:nvPr>
        </p:nvSpPr>
        <p:spPr/>
        <p:txBody>
          <a:bodyPr/>
          <a:lstStyle/>
          <a:p>
            <a:fld id="{AF99D367-8FDA-4A2F-9F0E-167FD1610AEF}" type="slidenum">
              <a:rPr lang="en-US" smtClean="0"/>
              <a:t>10</a:t>
            </a:fld>
            <a:endParaRPr lang="en-US"/>
          </a:p>
        </p:txBody>
      </p:sp>
    </p:spTree>
    <p:extLst>
      <p:ext uri="{BB962C8B-B14F-4D97-AF65-F5344CB8AC3E}">
        <p14:creationId xmlns:p14="http://schemas.microsoft.com/office/powerpoint/2010/main" val="4091829105"/>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Network components</a:t>
            </a:r>
            <a:endParaRPr lang="en-US" dirty="0"/>
          </a:p>
        </p:txBody>
      </p:sp>
      <p:sp>
        <p:nvSpPr>
          <p:cNvPr id="3" name="Content Placeholder 2"/>
          <p:cNvSpPr>
            <a:spLocks noGrp="1"/>
          </p:cNvSpPr>
          <p:nvPr>
            <p:ph idx="1"/>
          </p:nvPr>
        </p:nvSpPr>
        <p:spPr/>
        <p:txBody>
          <a:bodyPr>
            <a:normAutofit lnSpcReduction="10000"/>
          </a:bodyPr>
          <a:lstStyle/>
          <a:p>
            <a:pPr>
              <a:lnSpc>
                <a:spcPct val="150000"/>
              </a:lnSpc>
              <a:buFont typeface="Arial" panose="020B0604020202020204" pitchFamily="34" charset="0"/>
              <a:buChar char="•"/>
            </a:pPr>
            <a:r>
              <a:rPr lang="en-US" b="0" dirty="0"/>
              <a:t>Basic computer </a:t>
            </a:r>
            <a:r>
              <a:rPr lang="en-US" dirty="0"/>
              <a:t>network components</a:t>
            </a:r>
            <a:r>
              <a:rPr lang="en-US" b="0" dirty="0"/>
              <a:t>. Computer </a:t>
            </a:r>
            <a:r>
              <a:rPr lang="en-US" dirty="0"/>
              <a:t>networks</a:t>
            </a:r>
            <a:r>
              <a:rPr lang="en-US" b="0" dirty="0"/>
              <a:t> </a:t>
            </a:r>
            <a:r>
              <a:rPr lang="en-US" b="0" dirty="0" smtClean="0"/>
              <a:t> share </a:t>
            </a:r>
            <a:r>
              <a:rPr lang="en-US" b="0" dirty="0"/>
              <a:t>common </a:t>
            </a:r>
            <a:r>
              <a:rPr lang="en-US" dirty="0"/>
              <a:t>devices</a:t>
            </a:r>
            <a:r>
              <a:rPr lang="en-US" b="0" dirty="0"/>
              <a:t>, functions, and what features including servers, clients, transmission media, shared data, shared printers and other hardware and software resources, </a:t>
            </a:r>
            <a:r>
              <a:rPr lang="en-US" dirty="0"/>
              <a:t>network</a:t>
            </a:r>
            <a:r>
              <a:rPr lang="en-US" b="0" dirty="0"/>
              <a:t> interface card(NIC), local operating system(LOS), and the </a:t>
            </a:r>
            <a:r>
              <a:rPr lang="en-US" dirty="0"/>
              <a:t>network</a:t>
            </a:r>
            <a:r>
              <a:rPr lang="en-US" b="0" dirty="0"/>
              <a:t> operating system (NOS</a:t>
            </a:r>
            <a:r>
              <a:rPr lang="en-US" b="0" dirty="0" smtClean="0"/>
              <a:t>).</a:t>
            </a:r>
          </a:p>
          <a:p>
            <a:pPr>
              <a:lnSpc>
                <a:spcPct val="150000"/>
              </a:lnSpc>
              <a:buFont typeface="Arial" panose="020B0604020202020204" pitchFamily="34" charset="0"/>
              <a:buChar char="•"/>
            </a:pPr>
            <a:r>
              <a:rPr lang="en-US" b="0" dirty="0" smtClean="0"/>
              <a:t> Hubs and Switches--</a:t>
            </a:r>
            <a:r>
              <a:rPr lang="en-US" b="0" dirty="0"/>
              <a:t>Hubs are the simplest network devices, and their simplicity is reflected in their low cost. Small hubs with four or five ports </a:t>
            </a:r>
            <a:r>
              <a:rPr lang="en-US" b="0" dirty="0" smtClean="0"/>
              <a:t> </a:t>
            </a:r>
          </a:p>
          <a:p>
            <a:pPr>
              <a:lnSpc>
                <a:spcPct val="150000"/>
              </a:lnSpc>
              <a:buFont typeface="Arial" panose="020B0604020202020204" pitchFamily="34" charset="0"/>
              <a:buChar char="•"/>
            </a:pPr>
            <a:r>
              <a:rPr lang="en-US" b="0" dirty="0" smtClean="0"/>
              <a:t>Cables and cabling standards</a:t>
            </a:r>
          </a:p>
          <a:p>
            <a:pPr>
              <a:lnSpc>
                <a:spcPct val="150000"/>
              </a:lnSpc>
              <a:buFont typeface="Arial" panose="020B0604020202020204" pitchFamily="34" charset="0"/>
              <a:buChar char="•"/>
            </a:pPr>
            <a:r>
              <a:rPr lang="en-US" b="0" dirty="0" smtClean="0"/>
              <a:t>Network Service Provider (file and printer servers).</a:t>
            </a:r>
            <a:endParaRPr lang="en-US" dirty="0"/>
          </a:p>
        </p:txBody>
      </p:sp>
      <p:sp>
        <p:nvSpPr>
          <p:cNvPr id="4" name="Footer Placeholder 3"/>
          <p:cNvSpPr>
            <a:spLocks noGrp="1"/>
          </p:cNvSpPr>
          <p:nvPr>
            <p:ph type="ftr" sz="quarter" idx="11"/>
          </p:nvPr>
        </p:nvSpPr>
        <p:spPr/>
        <p:txBody>
          <a:bodyPr/>
          <a:lstStyle/>
          <a:p>
            <a:r>
              <a:rPr lang="en-US" smtClean="0"/>
              <a:t>Jeremiah Kafakoma</a:t>
            </a:r>
            <a:endParaRPr lang="en-US"/>
          </a:p>
        </p:txBody>
      </p:sp>
      <p:sp>
        <p:nvSpPr>
          <p:cNvPr id="5" name="Slide Number Placeholder 4"/>
          <p:cNvSpPr>
            <a:spLocks noGrp="1"/>
          </p:cNvSpPr>
          <p:nvPr>
            <p:ph type="sldNum" sz="quarter" idx="12"/>
          </p:nvPr>
        </p:nvSpPr>
        <p:spPr/>
        <p:txBody>
          <a:bodyPr/>
          <a:lstStyle/>
          <a:p>
            <a:fld id="{AF99D367-8FDA-4A2F-9F0E-167FD1610AEF}" type="slidenum">
              <a:rPr lang="en-US" smtClean="0"/>
              <a:t>11</a:t>
            </a:fld>
            <a:endParaRPr lang="en-US"/>
          </a:p>
        </p:txBody>
      </p:sp>
    </p:spTree>
    <p:extLst>
      <p:ext uri="{BB962C8B-B14F-4D97-AF65-F5344CB8AC3E}">
        <p14:creationId xmlns:p14="http://schemas.microsoft.com/office/powerpoint/2010/main" val="317335044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b="0" dirty="0"/>
              <a:t>links (wired, wireless) </a:t>
            </a:r>
            <a:endParaRPr lang="en-US" b="0" dirty="0" smtClean="0"/>
          </a:p>
          <a:p>
            <a:pPr>
              <a:buFont typeface="Arial" panose="020B0604020202020204" pitchFamily="34" charset="0"/>
              <a:buChar char="•"/>
            </a:pPr>
            <a:r>
              <a:rPr lang="en-US" b="0" dirty="0" smtClean="0"/>
              <a:t> </a:t>
            </a:r>
            <a:r>
              <a:rPr lang="en-US" b="0" dirty="0"/>
              <a:t>protocols (IP, TCP, CSMA/CD, CSMA/CA) </a:t>
            </a:r>
            <a:endParaRPr lang="en-US" b="0" dirty="0" smtClean="0"/>
          </a:p>
          <a:p>
            <a:pPr>
              <a:buFont typeface="Arial" panose="020B0604020202020204" pitchFamily="34" charset="0"/>
              <a:buChar char="•"/>
            </a:pPr>
            <a:r>
              <a:rPr lang="en-US" b="0" dirty="0" smtClean="0"/>
              <a:t> </a:t>
            </a:r>
            <a:r>
              <a:rPr lang="en-US" b="0" dirty="0"/>
              <a:t>applications (network services) </a:t>
            </a:r>
            <a:endParaRPr lang="en-US" b="0" dirty="0" smtClean="0"/>
          </a:p>
          <a:p>
            <a:pPr>
              <a:buFont typeface="Arial" panose="020B0604020202020204" pitchFamily="34" charset="0"/>
              <a:buChar char="•"/>
            </a:pPr>
            <a:r>
              <a:rPr lang="en-US" b="0" dirty="0" smtClean="0"/>
              <a:t> </a:t>
            </a:r>
            <a:r>
              <a:rPr lang="en-US" b="0" dirty="0"/>
              <a:t>humans and service </a:t>
            </a:r>
            <a:r>
              <a:rPr lang="en-US" b="0" dirty="0" smtClean="0"/>
              <a:t>agents</a:t>
            </a:r>
          </a:p>
          <a:p>
            <a:pPr>
              <a:buFont typeface="Arial" panose="020B0604020202020204" pitchFamily="34" charset="0"/>
              <a:buChar char="•"/>
            </a:pPr>
            <a:r>
              <a:rPr lang="en-US" b="0" dirty="0"/>
              <a:t>Bridges</a:t>
            </a:r>
          </a:p>
          <a:p>
            <a:pPr>
              <a:buFont typeface="Arial" panose="020B0604020202020204" pitchFamily="34" charset="0"/>
              <a:buChar char="•"/>
            </a:pPr>
            <a:r>
              <a:rPr lang="en-US" b="0" dirty="0"/>
              <a:t>Routers</a:t>
            </a:r>
          </a:p>
          <a:p>
            <a:pPr>
              <a:buFont typeface="Arial" panose="020B0604020202020204" pitchFamily="34" charset="0"/>
              <a:buChar char="•"/>
            </a:pPr>
            <a:r>
              <a:rPr lang="en-US" b="0" dirty="0"/>
              <a:t>Gateways</a:t>
            </a:r>
          </a:p>
          <a:p>
            <a:pPr>
              <a:buFont typeface="Arial" panose="020B0604020202020204" pitchFamily="34" charset="0"/>
              <a:buChar char="•"/>
            </a:pPr>
            <a:endParaRPr lang="en-US" b="0" dirty="0"/>
          </a:p>
        </p:txBody>
      </p:sp>
      <p:sp>
        <p:nvSpPr>
          <p:cNvPr id="2" name="Footer Placeholder 1"/>
          <p:cNvSpPr>
            <a:spLocks noGrp="1"/>
          </p:cNvSpPr>
          <p:nvPr>
            <p:ph type="ftr" sz="quarter" idx="11"/>
          </p:nvPr>
        </p:nvSpPr>
        <p:spPr/>
        <p:txBody>
          <a:bodyPr/>
          <a:lstStyle/>
          <a:p>
            <a:r>
              <a:rPr lang="en-US" smtClean="0"/>
              <a:t>Jeremiah Kafakoma</a:t>
            </a:r>
            <a:endParaRPr lang="en-US"/>
          </a:p>
        </p:txBody>
      </p:sp>
      <p:sp>
        <p:nvSpPr>
          <p:cNvPr id="4" name="Slide Number Placeholder 3"/>
          <p:cNvSpPr>
            <a:spLocks noGrp="1"/>
          </p:cNvSpPr>
          <p:nvPr>
            <p:ph type="sldNum" sz="quarter" idx="12"/>
          </p:nvPr>
        </p:nvSpPr>
        <p:spPr/>
        <p:txBody>
          <a:bodyPr/>
          <a:lstStyle/>
          <a:p>
            <a:fld id="{AF99D367-8FDA-4A2F-9F0E-167FD1610AEF}" type="slidenum">
              <a:rPr lang="en-US" smtClean="0"/>
              <a:t>12</a:t>
            </a:fld>
            <a:endParaRPr lang="en-US"/>
          </a:p>
        </p:txBody>
      </p:sp>
    </p:spTree>
    <p:extLst>
      <p:ext uri="{BB962C8B-B14F-4D97-AF65-F5344CB8AC3E}">
        <p14:creationId xmlns:p14="http://schemas.microsoft.com/office/powerpoint/2010/main" val="1853445125"/>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Network topologies</a:t>
            </a:r>
            <a:endParaRPr lang="en-US" dirty="0"/>
          </a:p>
        </p:txBody>
      </p:sp>
      <p:sp>
        <p:nvSpPr>
          <p:cNvPr id="3" name="Content Placeholder 2"/>
          <p:cNvSpPr>
            <a:spLocks noGrp="1"/>
          </p:cNvSpPr>
          <p:nvPr>
            <p:ph idx="1"/>
          </p:nvPr>
        </p:nvSpPr>
        <p:spPr/>
        <p:txBody>
          <a:bodyPr>
            <a:normAutofit fontScale="70000" lnSpcReduction="20000"/>
          </a:bodyPr>
          <a:lstStyle/>
          <a:p>
            <a:pPr>
              <a:lnSpc>
                <a:spcPct val="150000"/>
              </a:lnSpc>
              <a:buFont typeface="Arial" panose="020B0604020202020204" pitchFamily="34" charset="0"/>
              <a:buChar char="•"/>
            </a:pPr>
            <a:r>
              <a:rPr lang="en-US" sz="1800" b="0" dirty="0"/>
              <a:t>A </a:t>
            </a:r>
            <a:r>
              <a:rPr lang="en-US" sz="1800" dirty="0"/>
              <a:t>network topology</a:t>
            </a:r>
            <a:r>
              <a:rPr lang="en-US" sz="1800" b="0" dirty="0"/>
              <a:t> is the pattern in which nodes (i.e., computers, printers, routers or other devices) are connected to a local area </a:t>
            </a:r>
            <a:r>
              <a:rPr lang="en-US" sz="1800" dirty="0"/>
              <a:t>network</a:t>
            </a:r>
            <a:r>
              <a:rPr lang="en-US" sz="1800" b="0" dirty="0"/>
              <a:t>(LAN) or other </a:t>
            </a:r>
            <a:r>
              <a:rPr lang="en-US" sz="1800" dirty="0"/>
              <a:t>network</a:t>
            </a:r>
            <a:r>
              <a:rPr lang="en-US" sz="1800" b="0" dirty="0"/>
              <a:t> via links (e.g., twisted pair copper wire cable or optical fiber cable). There are </a:t>
            </a:r>
            <a:r>
              <a:rPr lang="en-US" sz="1800" dirty="0"/>
              <a:t>four </a:t>
            </a:r>
            <a:r>
              <a:rPr lang="en-US" sz="1800" b="0" dirty="0"/>
              <a:t>principal </a:t>
            </a:r>
            <a:r>
              <a:rPr lang="en-US" sz="1800" dirty="0"/>
              <a:t>topologies</a:t>
            </a:r>
            <a:r>
              <a:rPr lang="en-US" sz="1800" b="0" dirty="0"/>
              <a:t> used in LANs: </a:t>
            </a:r>
            <a:endParaRPr lang="en-US" sz="1800" b="0" dirty="0" smtClean="0"/>
          </a:p>
          <a:p>
            <a:pPr>
              <a:lnSpc>
                <a:spcPct val="150000"/>
              </a:lnSpc>
              <a:buFont typeface="Arial" panose="020B0604020202020204" pitchFamily="34" charset="0"/>
              <a:buChar char="•"/>
            </a:pPr>
            <a:r>
              <a:rPr lang="en-US" sz="1800" dirty="0" smtClean="0"/>
              <a:t>Bus-</a:t>
            </a:r>
            <a:r>
              <a:rPr lang="en-US" sz="1800" b="0" dirty="0" smtClean="0"/>
              <a:t> </a:t>
            </a:r>
            <a:r>
              <a:rPr lang="en-US" sz="1800" b="0" dirty="0"/>
              <a:t>The most widely used of these is bus, because it is employed by </a:t>
            </a:r>
            <a:r>
              <a:rPr lang="en-US" sz="1800" b="0" dirty="0">
                <a:hlinkClick r:id="rId2"/>
              </a:rPr>
              <a:t>Ethernet</a:t>
            </a:r>
            <a:r>
              <a:rPr lang="en-US" sz="1800" b="0" dirty="0"/>
              <a:t>, which is the dominant LAN architecture. In a bus topology all devices are connected to a central cable, called the </a:t>
            </a:r>
            <a:r>
              <a:rPr lang="en-US" sz="1800" b="0" i="1" dirty="0"/>
              <a:t>bus</a:t>
            </a:r>
            <a:r>
              <a:rPr lang="en-US" sz="1800" b="0" dirty="0"/>
              <a:t> or </a:t>
            </a:r>
            <a:r>
              <a:rPr lang="en-US" sz="1800" b="0" i="1" dirty="0"/>
              <a:t>backbone</a:t>
            </a:r>
            <a:r>
              <a:rPr lang="en-US" sz="1800" b="0" dirty="0"/>
              <a:t>. This topology is relatively inexpensive and easy to install for small networks</a:t>
            </a:r>
            <a:r>
              <a:rPr lang="en-US" sz="1800" b="0" dirty="0" smtClean="0"/>
              <a:t>. </a:t>
            </a:r>
          </a:p>
          <a:p>
            <a:pPr>
              <a:lnSpc>
                <a:spcPct val="150000"/>
              </a:lnSpc>
              <a:buFont typeface="Arial" panose="020B0604020202020204" pitchFamily="34" charset="0"/>
              <a:buChar char="•"/>
            </a:pPr>
            <a:r>
              <a:rPr lang="en-US" sz="1800" dirty="0" smtClean="0"/>
              <a:t>Ring-</a:t>
            </a:r>
            <a:r>
              <a:rPr lang="en-US" sz="1800" b="0" dirty="0"/>
              <a:t>In a ring topology each device is connected directly to two other devices, one on either side of it, to form a closed loop. This topology is relatively expensive and difficult to install, but it offers </a:t>
            </a:r>
            <a:r>
              <a:rPr lang="en-US" sz="1800" b="0" dirty="0" smtClean="0"/>
              <a:t>high </a:t>
            </a:r>
            <a:r>
              <a:rPr lang="en-US" sz="1800" b="0" dirty="0" smtClean="0">
                <a:hlinkClick r:id="rId3"/>
              </a:rPr>
              <a:t>bandwidth</a:t>
            </a:r>
            <a:r>
              <a:rPr lang="en-US" sz="1800" b="0" dirty="0"/>
              <a:t> and can span large distances. A variation is the </a:t>
            </a:r>
            <a:r>
              <a:rPr lang="en-US" sz="1800" b="0" i="1" dirty="0"/>
              <a:t>token ring</a:t>
            </a:r>
            <a:r>
              <a:rPr lang="en-US" sz="1800" b="0" dirty="0"/>
              <a:t>, in which signals travel in only one direction around the loop, carried by a so-called </a:t>
            </a:r>
            <a:r>
              <a:rPr lang="en-US" sz="1800" b="0" i="1" dirty="0"/>
              <a:t>token</a:t>
            </a:r>
            <a:r>
              <a:rPr lang="en-US" sz="1800" b="0" dirty="0"/>
              <a:t> from node to node</a:t>
            </a:r>
            <a:r>
              <a:rPr lang="en-US" sz="1800" b="0" dirty="0" smtClean="0"/>
              <a:t>.</a:t>
            </a:r>
          </a:p>
          <a:p>
            <a:pPr>
              <a:lnSpc>
                <a:spcPct val="150000"/>
              </a:lnSpc>
              <a:buFont typeface="Arial" panose="020B0604020202020204" pitchFamily="34" charset="0"/>
              <a:buChar char="•"/>
            </a:pPr>
            <a:endParaRPr lang="en-US" dirty="0"/>
          </a:p>
        </p:txBody>
      </p:sp>
      <p:sp>
        <p:nvSpPr>
          <p:cNvPr id="4" name="Footer Placeholder 3"/>
          <p:cNvSpPr>
            <a:spLocks noGrp="1"/>
          </p:cNvSpPr>
          <p:nvPr>
            <p:ph type="ftr" sz="quarter" idx="11"/>
          </p:nvPr>
        </p:nvSpPr>
        <p:spPr/>
        <p:txBody>
          <a:bodyPr/>
          <a:lstStyle/>
          <a:p>
            <a:r>
              <a:rPr lang="en-US" smtClean="0"/>
              <a:t>Jeremiah Kafakoma</a:t>
            </a:r>
            <a:endParaRPr lang="en-US"/>
          </a:p>
        </p:txBody>
      </p:sp>
      <p:sp>
        <p:nvSpPr>
          <p:cNvPr id="5" name="Slide Number Placeholder 4"/>
          <p:cNvSpPr>
            <a:spLocks noGrp="1"/>
          </p:cNvSpPr>
          <p:nvPr>
            <p:ph type="sldNum" sz="quarter" idx="12"/>
          </p:nvPr>
        </p:nvSpPr>
        <p:spPr/>
        <p:txBody>
          <a:bodyPr/>
          <a:lstStyle/>
          <a:p>
            <a:fld id="{AF99D367-8FDA-4A2F-9F0E-167FD1610AEF}" type="slidenum">
              <a:rPr lang="en-US" smtClean="0"/>
              <a:t>13</a:t>
            </a:fld>
            <a:endParaRPr lang="en-US"/>
          </a:p>
        </p:txBody>
      </p:sp>
    </p:spTree>
    <p:extLst>
      <p:ext uri="{BB962C8B-B14F-4D97-AF65-F5344CB8AC3E}">
        <p14:creationId xmlns:p14="http://schemas.microsoft.com/office/powerpoint/2010/main" val="1479791351"/>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nSpc>
                <a:spcPct val="150000"/>
              </a:lnSpc>
              <a:buFont typeface="Arial" panose="020B0604020202020204" pitchFamily="34" charset="0"/>
              <a:buChar char="•"/>
            </a:pPr>
            <a:r>
              <a:rPr lang="en-US" dirty="0" smtClean="0"/>
              <a:t>Star-</a:t>
            </a:r>
            <a:r>
              <a:rPr lang="en-US" b="0" dirty="0"/>
              <a:t>In a star topology all devices are connected directly to a central computer or server. Such networks are relatively easy to install and manage, but bottlenecks can occur because all data must pass through the central device</a:t>
            </a:r>
            <a:r>
              <a:rPr lang="en-US" b="0" dirty="0" smtClean="0"/>
              <a:t>. </a:t>
            </a:r>
            <a:endParaRPr lang="en-US" dirty="0"/>
          </a:p>
          <a:p>
            <a:pPr>
              <a:lnSpc>
                <a:spcPct val="150000"/>
              </a:lnSpc>
              <a:buFont typeface="Arial" panose="020B0604020202020204" pitchFamily="34" charset="0"/>
              <a:buChar char="•"/>
            </a:pPr>
            <a:r>
              <a:rPr lang="en-US" dirty="0" smtClean="0"/>
              <a:t>Mesh-</a:t>
            </a:r>
            <a:r>
              <a:rPr lang="en-US" b="0" dirty="0"/>
              <a:t>The mesh topology can be either a full mesh or a partial mesh. In the former, each computer is connected directly to each of the others. In the latter, some computers are connected to most of the others, and some are connected only to those other nodes with which they exchange the most data</a:t>
            </a:r>
            <a:r>
              <a:rPr lang="en-US" b="0" dirty="0" smtClean="0"/>
              <a:t>. </a:t>
            </a:r>
            <a:endParaRPr lang="en-US" dirty="0"/>
          </a:p>
          <a:p>
            <a:endParaRPr lang="en-US" dirty="0"/>
          </a:p>
        </p:txBody>
      </p:sp>
      <p:sp>
        <p:nvSpPr>
          <p:cNvPr id="2" name="Footer Placeholder 1"/>
          <p:cNvSpPr>
            <a:spLocks noGrp="1"/>
          </p:cNvSpPr>
          <p:nvPr>
            <p:ph type="ftr" sz="quarter" idx="11"/>
          </p:nvPr>
        </p:nvSpPr>
        <p:spPr/>
        <p:txBody>
          <a:bodyPr/>
          <a:lstStyle/>
          <a:p>
            <a:r>
              <a:rPr lang="en-US" smtClean="0"/>
              <a:t>Jeremiah Kafakoma</a:t>
            </a:r>
            <a:endParaRPr lang="en-US"/>
          </a:p>
        </p:txBody>
      </p:sp>
      <p:sp>
        <p:nvSpPr>
          <p:cNvPr id="4" name="Slide Number Placeholder 3"/>
          <p:cNvSpPr>
            <a:spLocks noGrp="1"/>
          </p:cNvSpPr>
          <p:nvPr>
            <p:ph type="sldNum" sz="quarter" idx="12"/>
          </p:nvPr>
        </p:nvSpPr>
        <p:spPr/>
        <p:txBody>
          <a:bodyPr/>
          <a:lstStyle/>
          <a:p>
            <a:fld id="{AF99D367-8FDA-4A2F-9F0E-167FD1610AEF}" type="slidenum">
              <a:rPr lang="en-US" smtClean="0"/>
              <a:t>14</a:t>
            </a:fld>
            <a:endParaRPr lang="en-US"/>
          </a:p>
        </p:txBody>
      </p:sp>
    </p:spTree>
    <p:extLst>
      <p:ext uri="{BB962C8B-B14F-4D97-AF65-F5344CB8AC3E}">
        <p14:creationId xmlns:p14="http://schemas.microsoft.com/office/powerpoint/2010/main" val="419634082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800" dirty="0" smtClean="0"/>
              <a:t>Network media</a:t>
            </a:r>
            <a:endParaRPr lang="en-US" sz="1800" dirty="0"/>
          </a:p>
        </p:txBody>
      </p:sp>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b="0" dirty="0"/>
              <a:t>Network media is the actual path over which an electrical signal travels as it moves from one component to another. This chapter describes the common types of network media, including twisted-pair </a:t>
            </a:r>
            <a:r>
              <a:rPr lang="en-US" dirty="0"/>
              <a:t>cable</a:t>
            </a:r>
            <a:r>
              <a:rPr lang="en-US" b="0" dirty="0"/>
              <a:t>, </a:t>
            </a:r>
            <a:r>
              <a:rPr lang="en-US" dirty="0"/>
              <a:t>coaxial cable</a:t>
            </a:r>
            <a:r>
              <a:rPr lang="en-US" b="0" dirty="0"/>
              <a:t>, fiber-optic </a:t>
            </a:r>
            <a:r>
              <a:rPr lang="en-US" dirty="0"/>
              <a:t>cable</a:t>
            </a:r>
            <a:r>
              <a:rPr lang="en-US" b="0" dirty="0"/>
              <a:t>, and wireless</a:t>
            </a:r>
            <a:r>
              <a:rPr lang="en-US" b="0" dirty="0" smtClean="0"/>
              <a:t>.</a:t>
            </a:r>
          </a:p>
          <a:p>
            <a:pPr marL="114300" indent="0">
              <a:buNone/>
            </a:pPr>
            <a:r>
              <a:rPr lang="en-US" b="1" dirty="0"/>
              <a:t>Twisted-Pair Cable</a:t>
            </a:r>
          </a:p>
          <a:p>
            <a:pPr>
              <a:buFont typeface="Arial" panose="020B0604020202020204" pitchFamily="34" charset="0"/>
              <a:buChar char="•"/>
            </a:pPr>
            <a:r>
              <a:rPr lang="en-US" b="0" i="1" dirty="0"/>
              <a:t>Twisted-pair cable</a:t>
            </a:r>
            <a:r>
              <a:rPr lang="en-US" b="0" dirty="0"/>
              <a:t> is a type of cabling that is used for telephone communications and most modern Ethernet networks. A pair of wires forms a circuit that can transmit data. The pairs are twisted to provide protection against </a:t>
            </a:r>
            <a:r>
              <a:rPr lang="en-US" b="0" i="1" dirty="0"/>
              <a:t>crosstalk</a:t>
            </a:r>
            <a:r>
              <a:rPr lang="en-US" b="0" dirty="0"/>
              <a:t>, the noise generated by adjacent </a:t>
            </a:r>
            <a:r>
              <a:rPr lang="en-US" b="0" dirty="0" smtClean="0"/>
              <a:t>pairs</a:t>
            </a:r>
          </a:p>
          <a:p>
            <a:pPr marL="285750" indent="-285750">
              <a:buFont typeface="Arial" panose="020B0604020202020204" pitchFamily="34" charset="0"/>
              <a:buChar char="•"/>
            </a:pPr>
            <a:r>
              <a:rPr lang="en-US" b="0" dirty="0"/>
              <a:t>Two basic types of twisted-pair cable exist: </a:t>
            </a:r>
            <a:r>
              <a:rPr lang="en-US" b="1" dirty="0"/>
              <a:t>unshielded twisted pair (UTP) and shielded twisted pair (STP). </a:t>
            </a:r>
            <a:r>
              <a:rPr lang="en-US" b="0" dirty="0"/>
              <a:t>The following sections discuss UTP and STP cable in more detail.</a:t>
            </a:r>
          </a:p>
          <a:p>
            <a:pPr marL="0" indent="0"/>
            <a:endParaRPr lang="en-US" dirty="0"/>
          </a:p>
        </p:txBody>
      </p:sp>
      <p:sp>
        <p:nvSpPr>
          <p:cNvPr id="4" name="Footer Placeholder 3"/>
          <p:cNvSpPr>
            <a:spLocks noGrp="1"/>
          </p:cNvSpPr>
          <p:nvPr>
            <p:ph type="ftr" sz="quarter" idx="11"/>
          </p:nvPr>
        </p:nvSpPr>
        <p:spPr/>
        <p:txBody>
          <a:bodyPr/>
          <a:lstStyle/>
          <a:p>
            <a:r>
              <a:rPr lang="en-US" smtClean="0"/>
              <a:t>Jeremiah Kafakoma</a:t>
            </a:r>
            <a:endParaRPr lang="en-US"/>
          </a:p>
        </p:txBody>
      </p:sp>
      <p:sp>
        <p:nvSpPr>
          <p:cNvPr id="5" name="Slide Number Placeholder 4"/>
          <p:cNvSpPr>
            <a:spLocks noGrp="1"/>
          </p:cNvSpPr>
          <p:nvPr>
            <p:ph type="sldNum" sz="quarter" idx="12"/>
          </p:nvPr>
        </p:nvSpPr>
        <p:spPr/>
        <p:txBody>
          <a:bodyPr/>
          <a:lstStyle/>
          <a:p>
            <a:fld id="{AF99D367-8FDA-4A2F-9F0E-167FD1610AEF}" type="slidenum">
              <a:rPr lang="en-US" smtClean="0"/>
              <a:t>15</a:t>
            </a:fld>
            <a:endParaRPr lang="en-US"/>
          </a:p>
        </p:txBody>
      </p:sp>
    </p:spTree>
    <p:extLst>
      <p:ext uri="{BB962C8B-B14F-4D97-AF65-F5344CB8AC3E}">
        <p14:creationId xmlns:p14="http://schemas.microsoft.com/office/powerpoint/2010/main" val="421135213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22960" y="304800"/>
            <a:ext cx="7520940" cy="4375677"/>
          </a:xfrm>
        </p:spPr>
        <p:txBody>
          <a:bodyPr>
            <a:noAutofit/>
          </a:bodyPr>
          <a:lstStyle/>
          <a:p>
            <a:pPr marL="114300" indent="0">
              <a:buNone/>
            </a:pPr>
            <a:r>
              <a:rPr lang="en-US" b="1" dirty="0">
                <a:latin typeface="Arial" panose="020B0604020202020204" pitchFamily="34" charset="0"/>
                <a:cs typeface="Arial" panose="020B0604020202020204" pitchFamily="34" charset="0"/>
              </a:rPr>
              <a:t>UTP Cable</a:t>
            </a:r>
          </a:p>
          <a:p>
            <a:pPr>
              <a:lnSpc>
                <a:spcPct val="170000"/>
              </a:lnSpc>
              <a:buFont typeface="Arial" panose="020B0604020202020204" pitchFamily="34" charset="0"/>
              <a:buChar char="•"/>
            </a:pPr>
            <a:r>
              <a:rPr lang="en-US" b="0" dirty="0">
                <a:latin typeface="Arial" panose="020B0604020202020204" pitchFamily="34" charset="0"/>
                <a:cs typeface="Arial" panose="020B0604020202020204" pitchFamily="34" charset="0"/>
              </a:rPr>
              <a:t>UTP cable is a medium that is composed of pairs of wires </a:t>
            </a:r>
            <a:r>
              <a:rPr lang="en-US" b="0" dirty="0" smtClean="0">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 </a:t>
            </a:r>
            <a:r>
              <a:rPr lang="en-US" b="0" dirty="0">
                <a:latin typeface="Arial" panose="020B0604020202020204" pitchFamily="34" charset="0"/>
                <a:cs typeface="Arial" panose="020B0604020202020204" pitchFamily="34" charset="0"/>
              </a:rPr>
              <a:t>UTP cable is used in a variety of networks. Each of the eight individual copper wires in UTP cable </a:t>
            </a:r>
            <a:r>
              <a:rPr lang="en-US" b="0" dirty="0" smtClean="0">
                <a:latin typeface="Arial" panose="020B0604020202020204" pitchFamily="34" charset="0"/>
                <a:cs typeface="Arial" panose="020B0604020202020204" pitchFamily="34" charset="0"/>
              </a:rPr>
              <a:t>is </a:t>
            </a:r>
            <a:r>
              <a:rPr lang="en-US" b="0" dirty="0">
                <a:latin typeface="Arial" panose="020B0604020202020204" pitchFamily="34" charset="0"/>
                <a:cs typeface="Arial" panose="020B0604020202020204" pitchFamily="34" charset="0"/>
              </a:rPr>
              <a:t>covered by an insulating material. In addition, the wires in each pair are twisted around each other</a:t>
            </a:r>
            <a:r>
              <a:rPr lang="en-US" b="0" dirty="0" smtClean="0">
                <a:latin typeface="Arial" panose="020B0604020202020204" pitchFamily="34" charset="0"/>
                <a:cs typeface="Arial" panose="020B0604020202020204" pitchFamily="34" charset="0"/>
              </a:rPr>
              <a:t>.</a:t>
            </a:r>
          </a:p>
          <a:p>
            <a:pPr marL="114300" indent="0">
              <a:lnSpc>
                <a:spcPct val="170000"/>
              </a:lnSpc>
              <a:buNone/>
            </a:pPr>
            <a:r>
              <a:rPr lang="en-US" b="1" dirty="0">
                <a:latin typeface="Arial" panose="020B0604020202020204" pitchFamily="34" charset="0"/>
                <a:cs typeface="Arial" panose="020B0604020202020204" pitchFamily="34" charset="0"/>
              </a:rPr>
              <a:t>Shielded Twisted-Pair Cable</a:t>
            </a:r>
          </a:p>
          <a:p>
            <a:pPr>
              <a:lnSpc>
                <a:spcPct val="170000"/>
              </a:lnSpc>
              <a:buFont typeface="Arial" panose="020B0604020202020204" pitchFamily="34" charset="0"/>
              <a:buChar char="•"/>
            </a:pPr>
            <a:r>
              <a:rPr lang="en-US" b="0" i="1" dirty="0">
                <a:latin typeface="Arial" panose="020B0604020202020204" pitchFamily="34" charset="0"/>
                <a:cs typeface="Arial" panose="020B0604020202020204" pitchFamily="34" charset="0"/>
              </a:rPr>
              <a:t>Shielded twisted-pair (STP)</a:t>
            </a:r>
            <a:r>
              <a:rPr lang="en-US" b="0" dirty="0">
                <a:latin typeface="Arial" panose="020B0604020202020204" pitchFamily="34" charset="0"/>
                <a:cs typeface="Arial" panose="020B0604020202020204" pitchFamily="34" charset="0"/>
              </a:rPr>
              <a:t> cable combines the techniques of shielding, cancellation, and wire twisting. Each pair of wires is wrapped in a metallic </a:t>
            </a:r>
            <a:r>
              <a:rPr lang="en-US" b="0" dirty="0" smtClean="0">
                <a:latin typeface="Arial" panose="020B0604020202020204" pitchFamily="34" charset="0"/>
                <a:cs typeface="Arial" panose="020B0604020202020204" pitchFamily="34" charset="0"/>
              </a:rPr>
              <a:t>foil. </a:t>
            </a:r>
            <a:r>
              <a:rPr lang="en-US" b="0" dirty="0">
                <a:latin typeface="Arial" panose="020B0604020202020204" pitchFamily="34" charset="0"/>
                <a:cs typeface="Arial" panose="020B0604020202020204" pitchFamily="34" charset="0"/>
              </a:rPr>
              <a:t>The four pairs of wires then are wrapped in an overall metallic braid or foil, usually 150-ohm </a:t>
            </a:r>
            <a:r>
              <a:rPr lang="en-US" b="0" dirty="0" smtClean="0">
                <a:latin typeface="Arial" panose="020B0604020202020204" pitchFamily="34" charset="0"/>
                <a:cs typeface="Arial" panose="020B0604020202020204" pitchFamily="34" charset="0"/>
              </a:rPr>
              <a:t>cable</a:t>
            </a:r>
          </a:p>
          <a:p>
            <a:pPr marL="114300" indent="0">
              <a:lnSpc>
                <a:spcPct val="170000"/>
              </a:lnSpc>
              <a:buNone/>
            </a:pPr>
            <a:r>
              <a:rPr lang="en-US" b="0" dirty="0" smtClean="0">
                <a:latin typeface="Arial" panose="020B0604020202020204" pitchFamily="34" charset="0"/>
                <a:cs typeface="Arial" panose="020B0604020202020204" pitchFamily="34" charset="0"/>
              </a:rPr>
              <a:t>. </a:t>
            </a:r>
          </a:p>
          <a:p>
            <a:pPr marL="0" indent="0">
              <a:lnSpc>
                <a:spcPct val="170000"/>
              </a:lnSpc>
            </a:pPr>
            <a:endParaRPr lang="en-US" b="0" dirty="0">
              <a:latin typeface="Arial" panose="020B0604020202020204" pitchFamily="34" charset="0"/>
              <a:cs typeface="Arial" panose="020B0604020202020204" pitchFamily="34" charset="0"/>
            </a:endParaRPr>
          </a:p>
          <a:p>
            <a:pPr marL="0" indent="0"/>
            <a:endParaRPr lang="en-US" b="0"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p:txBody>
      </p:sp>
      <p:sp>
        <p:nvSpPr>
          <p:cNvPr id="2" name="Footer Placeholder 1"/>
          <p:cNvSpPr>
            <a:spLocks noGrp="1"/>
          </p:cNvSpPr>
          <p:nvPr>
            <p:ph type="ftr" sz="quarter" idx="11"/>
          </p:nvPr>
        </p:nvSpPr>
        <p:spPr/>
        <p:txBody>
          <a:bodyPr/>
          <a:lstStyle/>
          <a:p>
            <a:r>
              <a:rPr lang="en-US" smtClean="0"/>
              <a:t>Jeremiah Kafakoma</a:t>
            </a:r>
            <a:endParaRPr lang="en-US"/>
          </a:p>
        </p:txBody>
      </p:sp>
      <p:sp>
        <p:nvSpPr>
          <p:cNvPr id="4" name="Slide Number Placeholder 3"/>
          <p:cNvSpPr>
            <a:spLocks noGrp="1"/>
          </p:cNvSpPr>
          <p:nvPr>
            <p:ph type="sldNum" sz="quarter" idx="12"/>
          </p:nvPr>
        </p:nvSpPr>
        <p:spPr/>
        <p:txBody>
          <a:bodyPr/>
          <a:lstStyle/>
          <a:p>
            <a:fld id="{AF99D367-8FDA-4A2F-9F0E-167FD1610AEF}" type="slidenum">
              <a:rPr lang="en-US" smtClean="0"/>
              <a:t>16</a:t>
            </a:fld>
            <a:endParaRPr lang="en-US"/>
          </a:p>
        </p:txBody>
      </p:sp>
    </p:spTree>
    <p:extLst>
      <p:ext uri="{BB962C8B-B14F-4D97-AF65-F5344CB8AC3E}">
        <p14:creationId xmlns:p14="http://schemas.microsoft.com/office/powerpoint/2010/main" val="397701754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114300" indent="0">
              <a:lnSpc>
                <a:spcPct val="170000"/>
              </a:lnSpc>
            </a:pPr>
            <a:r>
              <a:rPr lang="en-US" dirty="0">
                <a:latin typeface="Arial" panose="020B0604020202020204" pitchFamily="34" charset="0"/>
                <a:cs typeface="Arial" panose="020B0604020202020204" pitchFamily="34" charset="0"/>
              </a:rPr>
              <a:t>Coaxial Cable</a:t>
            </a:r>
          </a:p>
          <a:p>
            <a:pPr>
              <a:lnSpc>
                <a:spcPct val="170000"/>
              </a:lnSpc>
              <a:buFont typeface="Arial" panose="020B0604020202020204" pitchFamily="34" charset="0"/>
              <a:buChar char="•"/>
            </a:pPr>
            <a:r>
              <a:rPr lang="en-US" b="0" i="1" dirty="0">
                <a:latin typeface="Arial" panose="020B0604020202020204" pitchFamily="34" charset="0"/>
                <a:cs typeface="Arial" panose="020B0604020202020204" pitchFamily="34" charset="0"/>
              </a:rPr>
              <a:t>Coaxial cable</a:t>
            </a:r>
            <a:r>
              <a:rPr lang="en-US" b="0" dirty="0">
                <a:latin typeface="Arial" panose="020B0604020202020204" pitchFamily="34" charset="0"/>
                <a:cs typeface="Arial" panose="020B0604020202020204" pitchFamily="34" charset="0"/>
              </a:rPr>
              <a:t> consists of a hollow outer cylindrical conductor that surrounds a single inner wire made of two conducting elements. One of these elements, located in the center of the cable, is a copper conductor. Surrounding the copper conductor is a layer of flexible </a:t>
            </a:r>
            <a:r>
              <a:rPr lang="en-US" b="0" dirty="0" smtClean="0">
                <a:latin typeface="Arial" panose="020B0604020202020204" pitchFamily="34" charset="0"/>
                <a:cs typeface="Arial" panose="020B0604020202020204" pitchFamily="34" charset="0"/>
              </a:rPr>
              <a:t>insulation</a:t>
            </a:r>
          </a:p>
          <a:p>
            <a:pPr>
              <a:lnSpc>
                <a:spcPct val="170000"/>
              </a:lnSpc>
              <a:buFont typeface="Arial" panose="020B0604020202020204" pitchFamily="34" charset="0"/>
              <a:buChar char="•"/>
            </a:pPr>
            <a:r>
              <a:rPr lang="en-US" b="0" dirty="0">
                <a:latin typeface="Arial" panose="020B0604020202020204" pitchFamily="34" charset="0"/>
                <a:cs typeface="Arial" panose="020B0604020202020204" pitchFamily="34" charset="0"/>
              </a:rPr>
              <a:t>Over this insulating material is a woven copper braid or metallic foil that acts both as the second wire in the circuit and as a shield for the inner conductor. </a:t>
            </a:r>
          </a:p>
          <a:p>
            <a:pPr>
              <a:lnSpc>
                <a:spcPct val="170000"/>
              </a:lnSpc>
              <a:buFont typeface="Arial" panose="020B0604020202020204" pitchFamily="34" charset="0"/>
              <a:buChar char="•"/>
            </a:pPr>
            <a:endParaRPr lang="en-US" dirty="0"/>
          </a:p>
        </p:txBody>
      </p:sp>
      <p:sp>
        <p:nvSpPr>
          <p:cNvPr id="4" name="Footer Placeholder 3"/>
          <p:cNvSpPr>
            <a:spLocks noGrp="1"/>
          </p:cNvSpPr>
          <p:nvPr>
            <p:ph type="ftr" sz="quarter" idx="11"/>
          </p:nvPr>
        </p:nvSpPr>
        <p:spPr/>
        <p:txBody>
          <a:bodyPr/>
          <a:lstStyle/>
          <a:p>
            <a:r>
              <a:rPr lang="en-US" smtClean="0"/>
              <a:t>Jeremiah Kafakoma</a:t>
            </a:r>
            <a:endParaRPr lang="en-US"/>
          </a:p>
        </p:txBody>
      </p:sp>
      <p:sp>
        <p:nvSpPr>
          <p:cNvPr id="5" name="Slide Number Placeholder 4"/>
          <p:cNvSpPr>
            <a:spLocks noGrp="1"/>
          </p:cNvSpPr>
          <p:nvPr>
            <p:ph type="sldNum" sz="quarter" idx="12"/>
          </p:nvPr>
        </p:nvSpPr>
        <p:spPr/>
        <p:txBody>
          <a:bodyPr/>
          <a:lstStyle/>
          <a:p>
            <a:fld id="{AF99D367-8FDA-4A2F-9F0E-167FD1610AEF}" type="slidenum">
              <a:rPr lang="en-US" smtClean="0"/>
              <a:t>17</a:t>
            </a:fld>
            <a:endParaRPr lang="en-US"/>
          </a:p>
        </p:txBody>
      </p:sp>
    </p:spTree>
    <p:extLst>
      <p:ext uri="{BB962C8B-B14F-4D97-AF65-F5344CB8AC3E}">
        <p14:creationId xmlns:p14="http://schemas.microsoft.com/office/powerpoint/2010/main" val="30649419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85000" lnSpcReduction="10000"/>
          </a:bodyPr>
          <a:lstStyle/>
          <a:p>
            <a:pPr marL="114300" indent="0">
              <a:buNone/>
            </a:pPr>
            <a:r>
              <a:rPr lang="en-US" sz="1900" b="1" dirty="0"/>
              <a:t>Plenum Cable</a:t>
            </a:r>
          </a:p>
          <a:p>
            <a:pPr>
              <a:buFont typeface="Arial" panose="020B0604020202020204" pitchFamily="34" charset="0"/>
              <a:buChar char="•"/>
            </a:pPr>
            <a:r>
              <a:rPr lang="en-US" sz="1900" b="0" dirty="0"/>
              <a:t>Plenum cable is the cable that runs in plenum spaces of a building. In building construction, a plenum (pronounced PLEH-</a:t>
            </a:r>
            <a:r>
              <a:rPr lang="en-US" sz="1900" b="0" dirty="0" err="1"/>
              <a:t>nuhm</a:t>
            </a:r>
            <a:r>
              <a:rPr lang="en-US" sz="1900" b="0" dirty="0"/>
              <a:t>, from Latin meaning "full") is a separate space provided for air circulation for heating, ventilation, and air-conditioning (sometimes referred to as HVAC), typically in the space between the structural ceiling and a drop-down ceiling. </a:t>
            </a:r>
            <a:endParaRPr lang="en-US" sz="1900" b="0" dirty="0" smtClean="0"/>
          </a:p>
          <a:p>
            <a:pPr>
              <a:buFont typeface="Arial" panose="020B0604020202020204" pitchFamily="34" charset="0"/>
              <a:buChar char="•"/>
            </a:pPr>
            <a:r>
              <a:rPr lang="en-US" sz="1900" b="0" dirty="0" smtClean="0"/>
              <a:t>In </a:t>
            </a:r>
            <a:r>
              <a:rPr lang="en-US" sz="1900" b="0" dirty="0"/>
              <a:t>buildings with computer installations, the plenum space often is used to house connecting communication cables. Because ordinary cable introduces a toxic hazard in the event of fire, special plenum cabling is required in plenum areas</a:t>
            </a:r>
            <a:r>
              <a:rPr lang="en-US" sz="1900" b="0" dirty="0" smtClean="0"/>
              <a:t>.</a:t>
            </a:r>
          </a:p>
          <a:p>
            <a:pPr marL="114300" indent="0">
              <a:buNone/>
            </a:pPr>
            <a:r>
              <a:rPr lang="en-US" sz="1900" b="1" dirty="0"/>
              <a:t>Wireless Communication</a:t>
            </a:r>
          </a:p>
          <a:p>
            <a:pPr>
              <a:buFont typeface="Arial" panose="020B0604020202020204" pitchFamily="34" charset="0"/>
              <a:buChar char="•"/>
            </a:pPr>
            <a:r>
              <a:rPr lang="en-US" sz="1900" b="0" i="1" dirty="0"/>
              <a:t>Wireless communication</a:t>
            </a:r>
            <a:r>
              <a:rPr lang="en-US" sz="1900" b="0" dirty="0"/>
              <a:t> uses radio frequencies (RF) or infrared (IR) waves to transmit data between devices on a LAN. For wireless LANs, a key component is the wireless hub, or access point, used for signal distribution</a:t>
            </a:r>
          </a:p>
          <a:p>
            <a:pPr marL="0" indent="0"/>
            <a:endParaRPr lang="en-US" b="0" dirty="0"/>
          </a:p>
          <a:p>
            <a:endParaRPr lang="en-US" dirty="0"/>
          </a:p>
        </p:txBody>
      </p:sp>
      <p:sp>
        <p:nvSpPr>
          <p:cNvPr id="2" name="Footer Placeholder 1"/>
          <p:cNvSpPr>
            <a:spLocks noGrp="1"/>
          </p:cNvSpPr>
          <p:nvPr>
            <p:ph type="ftr" sz="quarter" idx="11"/>
          </p:nvPr>
        </p:nvSpPr>
        <p:spPr/>
        <p:txBody>
          <a:bodyPr/>
          <a:lstStyle/>
          <a:p>
            <a:r>
              <a:rPr lang="en-US" smtClean="0"/>
              <a:t>Jeremiah Kafakoma</a:t>
            </a:r>
            <a:endParaRPr lang="en-US"/>
          </a:p>
        </p:txBody>
      </p:sp>
      <p:sp>
        <p:nvSpPr>
          <p:cNvPr id="4" name="Slide Number Placeholder 3"/>
          <p:cNvSpPr>
            <a:spLocks noGrp="1"/>
          </p:cNvSpPr>
          <p:nvPr>
            <p:ph type="sldNum" sz="quarter" idx="12"/>
          </p:nvPr>
        </p:nvSpPr>
        <p:spPr/>
        <p:txBody>
          <a:bodyPr/>
          <a:lstStyle/>
          <a:p>
            <a:fld id="{AF99D367-8FDA-4A2F-9F0E-167FD1610AEF}" type="slidenum">
              <a:rPr lang="en-US" smtClean="0"/>
              <a:t>18</a:t>
            </a:fld>
            <a:endParaRPr lang="en-US"/>
          </a:p>
        </p:txBody>
      </p:sp>
    </p:spTree>
    <p:extLst>
      <p:ext uri="{BB962C8B-B14F-4D97-AF65-F5344CB8AC3E}">
        <p14:creationId xmlns:p14="http://schemas.microsoft.com/office/powerpoint/2010/main" val="59830593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114300" indent="0">
              <a:buNone/>
            </a:pPr>
            <a:r>
              <a:rPr lang="en-US" b="1" dirty="0" smtClean="0"/>
              <a:t>Fiber Optic Cables</a:t>
            </a:r>
          </a:p>
          <a:p>
            <a:pPr>
              <a:buFont typeface="Arial" panose="020B0604020202020204" pitchFamily="34" charset="0"/>
              <a:buChar char="•"/>
            </a:pPr>
            <a:r>
              <a:rPr lang="en-US" b="0" dirty="0"/>
              <a:t>An </a:t>
            </a:r>
            <a:r>
              <a:rPr lang="en-US" dirty="0"/>
              <a:t>optical fiber cable</a:t>
            </a:r>
            <a:r>
              <a:rPr lang="en-US" b="0" dirty="0"/>
              <a:t> is a </a:t>
            </a:r>
            <a:r>
              <a:rPr lang="en-US" dirty="0"/>
              <a:t>cable</a:t>
            </a:r>
            <a:r>
              <a:rPr lang="en-US" b="0" dirty="0"/>
              <a:t> containing one or more </a:t>
            </a:r>
            <a:r>
              <a:rPr lang="en-US" dirty="0"/>
              <a:t>optical fibers</a:t>
            </a:r>
            <a:r>
              <a:rPr lang="en-US" b="0" dirty="0"/>
              <a:t> that are used to carry light. The </a:t>
            </a:r>
            <a:r>
              <a:rPr lang="en-US" dirty="0"/>
              <a:t>optical fiber</a:t>
            </a:r>
            <a:r>
              <a:rPr lang="en-US" b="0" dirty="0"/>
              <a:t> elements are typically individually coated with plastic layers and contained in a protective tube suitable for the environment where the </a:t>
            </a:r>
            <a:r>
              <a:rPr lang="en-US" dirty="0"/>
              <a:t>cable</a:t>
            </a:r>
            <a:r>
              <a:rPr lang="en-US" b="0" dirty="0"/>
              <a:t> will be deployed</a:t>
            </a:r>
            <a:r>
              <a:rPr lang="en-US" b="0" dirty="0" smtClean="0"/>
              <a:t>.</a:t>
            </a:r>
          </a:p>
          <a:p>
            <a:pPr>
              <a:buFont typeface="Arial" panose="020B0604020202020204" pitchFamily="34" charset="0"/>
              <a:buChar char="•"/>
            </a:pPr>
            <a:r>
              <a:rPr lang="en-US" b="0" dirty="0" smtClean="0"/>
              <a:t>The Fiber </a:t>
            </a:r>
            <a:r>
              <a:rPr lang="en-US" b="0" dirty="0"/>
              <a:t>optic networks operate at high speeds - up into the </a:t>
            </a:r>
            <a:r>
              <a:rPr lang="en-US" b="0" dirty="0" smtClean="0"/>
              <a:t>gigabits and </a:t>
            </a:r>
            <a:r>
              <a:rPr lang="en-US" b="0" dirty="0"/>
              <a:t>t</a:t>
            </a:r>
            <a:r>
              <a:rPr lang="en-US" b="0" dirty="0" smtClean="0"/>
              <a:t>hey </a:t>
            </a:r>
            <a:r>
              <a:rPr lang="en-US" b="0" dirty="0"/>
              <a:t>span the long distances between local phone systems as well as providing the backbone for many network </a:t>
            </a:r>
            <a:r>
              <a:rPr lang="en-US" b="0" dirty="0" smtClean="0"/>
              <a:t>systems.</a:t>
            </a:r>
          </a:p>
          <a:p>
            <a:pPr>
              <a:buFont typeface="Arial" panose="020B0604020202020204" pitchFamily="34" charset="0"/>
              <a:buChar char="•"/>
            </a:pPr>
            <a:r>
              <a:rPr lang="en-US" b="0" dirty="0"/>
              <a:t>There are three types of fiber optic cable commonly used: </a:t>
            </a:r>
            <a:r>
              <a:rPr lang="en-US" dirty="0"/>
              <a:t>single mode, multimode and plastic optical fiber (POF</a:t>
            </a:r>
            <a:r>
              <a:rPr lang="en-US" dirty="0" smtClean="0"/>
              <a:t>)</a:t>
            </a:r>
            <a:r>
              <a:rPr lang="en-US" b="0" dirty="0" smtClean="0"/>
              <a:t> and the Transparent </a:t>
            </a:r>
            <a:r>
              <a:rPr lang="en-US" b="0" dirty="0"/>
              <a:t>glass or plastic fibers which allow light to be guided from one end to the other with minimal loss.</a:t>
            </a:r>
            <a:endParaRPr lang="en-US" dirty="0"/>
          </a:p>
        </p:txBody>
      </p:sp>
      <p:sp>
        <p:nvSpPr>
          <p:cNvPr id="2" name="Footer Placeholder 1"/>
          <p:cNvSpPr>
            <a:spLocks noGrp="1"/>
          </p:cNvSpPr>
          <p:nvPr>
            <p:ph type="ftr" sz="quarter" idx="11"/>
          </p:nvPr>
        </p:nvSpPr>
        <p:spPr/>
        <p:txBody>
          <a:bodyPr/>
          <a:lstStyle/>
          <a:p>
            <a:r>
              <a:rPr lang="en-US" smtClean="0"/>
              <a:t>Jeremiah Kafakoma</a:t>
            </a:r>
            <a:endParaRPr lang="en-US"/>
          </a:p>
        </p:txBody>
      </p:sp>
      <p:sp>
        <p:nvSpPr>
          <p:cNvPr id="4" name="Slide Number Placeholder 3"/>
          <p:cNvSpPr>
            <a:spLocks noGrp="1"/>
          </p:cNvSpPr>
          <p:nvPr>
            <p:ph type="sldNum" sz="quarter" idx="12"/>
          </p:nvPr>
        </p:nvSpPr>
        <p:spPr/>
        <p:txBody>
          <a:bodyPr/>
          <a:lstStyle/>
          <a:p>
            <a:fld id="{AF99D367-8FDA-4A2F-9F0E-167FD1610AEF}" type="slidenum">
              <a:rPr lang="en-US" smtClean="0"/>
              <a:t>19</a:t>
            </a:fld>
            <a:endParaRPr lang="en-US"/>
          </a:p>
        </p:txBody>
      </p:sp>
    </p:spTree>
    <p:extLst>
      <p:ext uri="{BB962C8B-B14F-4D97-AF65-F5344CB8AC3E}">
        <p14:creationId xmlns:p14="http://schemas.microsoft.com/office/powerpoint/2010/main" val="114916251"/>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3361850" y="1100138"/>
            <a:ext cx="2442525" cy="3579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Footer Placeholder 1"/>
          <p:cNvSpPr>
            <a:spLocks noGrp="1"/>
          </p:cNvSpPr>
          <p:nvPr>
            <p:ph type="ftr" sz="quarter" idx="11"/>
          </p:nvPr>
        </p:nvSpPr>
        <p:spPr/>
        <p:txBody>
          <a:bodyPr/>
          <a:lstStyle/>
          <a:p>
            <a:r>
              <a:rPr lang="en-US" smtClean="0"/>
              <a:t>Jeremiah Kafakoma</a:t>
            </a:r>
            <a:endParaRPr lang="en-US"/>
          </a:p>
        </p:txBody>
      </p:sp>
      <p:sp>
        <p:nvSpPr>
          <p:cNvPr id="3" name="Slide Number Placeholder 2"/>
          <p:cNvSpPr>
            <a:spLocks noGrp="1"/>
          </p:cNvSpPr>
          <p:nvPr>
            <p:ph type="sldNum" sz="quarter" idx="12"/>
          </p:nvPr>
        </p:nvSpPr>
        <p:spPr/>
        <p:txBody>
          <a:bodyPr/>
          <a:lstStyle/>
          <a:p>
            <a:fld id="{AF99D367-8FDA-4A2F-9F0E-167FD1610AEF}" type="slidenum">
              <a:rPr lang="en-US" smtClean="0"/>
              <a:t>20</a:t>
            </a:fld>
            <a:endParaRPr lang="en-US"/>
          </a:p>
        </p:txBody>
      </p:sp>
    </p:spTree>
    <p:extLst>
      <p:ext uri="{BB962C8B-B14F-4D97-AF65-F5344CB8AC3E}">
        <p14:creationId xmlns:p14="http://schemas.microsoft.com/office/powerpoint/2010/main" val="12567638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2400" b="1" dirty="0"/>
              <a:t>Ethernet Specifications</a:t>
            </a:r>
            <a:br>
              <a:rPr lang="en-US" sz="2400" b="1" dirty="0"/>
            </a:br>
            <a:endParaRPr lang="en-US" sz="2400" dirty="0"/>
          </a:p>
        </p:txBody>
      </p:sp>
      <p:sp>
        <p:nvSpPr>
          <p:cNvPr id="3" name="Content Placeholder 2"/>
          <p:cNvSpPr>
            <a:spLocks noGrp="1"/>
          </p:cNvSpPr>
          <p:nvPr>
            <p:ph idx="1"/>
          </p:nvPr>
        </p:nvSpPr>
        <p:spPr/>
        <p:txBody>
          <a:bodyPr>
            <a:normAutofit lnSpcReduction="10000"/>
          </a:bodyPr>
          <a:lstStyle/>
          <a:p>
            <a:pPr marL="285750" indent="-285750">
              <a:buFont typeface="Arial" panose="020B0604020202020204" pitchFamily="34" charset="0"/>
              <a:buChar char="•"/>
            </a:pPr>
            <a:r>
              <a:rPr lang="en-US" b="0" dirty="0"/>
              <a:t>Over the years, Ethernet has become the most popular media access method to the desktop computer and is used in both small and large network environments</a:t>
            </a:r>
            <a:r>
              <a:rPr lang="en-US" b="0" dirty="0" smtClean="0"/>
              <a:t>.</a:t>
            </a:r>
          </a:p>
          <a:p>
            <a:pPr marL="285750" indent="-285750">
              <a:buFont typeface="Arial" panose="020B0604020202020204" pitchFamily="34" charset="0"/>
              <a:buChar char="•"/>
            </a:pPr>
            <a:r>
              <a:rPr lang="en-US" b="0" dirty="0" smtClean="0"/>
              <a:t> </a:t>
            </a:r>
            <a:r>
              <a:rPr lang="en-US" b="0" dirty="0"/>
              <a:t>Ethernet is a nonproprietary industry standard that has found wide acceptance by network hardware manufacturers. Problems related to using Ethernet hardware products from different hardware manufacturers in a single network are nearly nonexistent</a:t>
            </a:r>
            <a:r>
              <a:rPr lang="en-US" b="0" dirty="0" smtClean="0"/>
              <a:t>.</a:t>
            </a:r>
          </a:p>
          <a:p>
            <a:pPr marL="285750" indent="-285750">
              <a:buFont typeface="Arial" panose="020B0604020202020204" pitchFamily="34" charset="0"/>
              <a:buChar char="•"/>
            </a:pPr>
            <a:r>
              <a:rPr lang="en-US" b="0" dirty="0"/>
              <a:t>In 1978, the International Organization for Standardization (ISO) released a set of specifications for connecting dissimilar devices. </a:t>
            </a:r>
            <a:endParaRPr lang="en-US" b="0" dirty="0" smtClean="0"/>
          </a:p>
          <a:p>
            <a:pPr marL="285750" indent="-285750">
              <a:buFont typeface="Arial" panose="020B0604020202020204" pitchFamily="34" charset="0"/>
              <a:buChar char="•"/>
            </a:pPr>
            <a:r>
              <a:rPr lang="en-US" b="0" dirty="0" smtClean="0"/>
              <a:t>This </a:t>
            </a:r>
            <a:r>
              <a:rPr lang="en-US" b="0" dirty="0"/>
              <a:t>set of standards is referred to as the </a:t>
            </a:r>
            <a:r>
              <a:rPr lang="en-US" b="0" i="1" dirty="0"/>
              <a:t>OSI reference model</a:t>
            </a:r>
            <a:r>
              <a:rPr lang="en-US" b="0" dirty="0"/>
              <a:t> (OSI stands for Open Systems Interconnection). The Ethernet specification performs the same functions as the OSI physical and data-link layers of this </a:t>
            </a:r>
            <a:r>
              <a:rPr lang="en-US" b="0" dirty="0" smtClean="0"/>
              <a:t>model.</a:t>
            </a:r>
          </a:p>
          <a:p>
            <a:pPr marL="285750" indent="-285750">
              <a:buFont typeface="Arial" panose="020B0604020202020204" pitchFamily="34" charset="0"/>
              <a:buChar char="•"/>
            </a:pPr>
            <a:r>
              <a:rPr lang="en-US" b="0" dirty="0"/>
              <a:t> these specifications affect how hardware links, or passes information to and from, ISO </a:t>
            </a:r>
            <a:r>
              <a:rPr lang="en-US" b="0" dirty="0" smtClean="0"/>
              <a:t>standards and the </a:t>
            </a:r>
            <a:r>
              <a:rPr lang="en-US" b="0" dirty="0"/>
              <a:t>standard that pertains to Ethernet is the IEEE 802.3 specification. </a:t>
            </a:r>
            <a:endParaRPr lang="en-US" dirty="0"/>
          </a:p>
        </p:txBody>
      </p:sp>
      <p:sp>
        <p:nvSpPr>
          <p:cNvPr id="4" name="Footer Placeholder 3"/>
          <p:cNvSpPr>
            <a:spLocks noGrp="1"/>
          </p:cNvSpPr>
          <p:nvPr>
            <p:ph type="ftr" sz="quarter" idx="11"/>
          </p:nvPr>
        </p:nvSpPr>
        <p:spPr/>
        <p:txBody>
          <a:bodyPr/>
          <a:lstStyle/>
          <a:p>
            <a:r>
              <a:rPr lang="en-US" smtClean="0"/>
              <a:t>Jeremiah Kafakoma</a:t>
            </a:r>
            <a:endParaRPr lang="en-US"/>
          </a:p>
        </p:txBody>
      </p:sp>
      <p:sp>
        <p:nvSpPr>
          <p:cNvPr id="5" name="Slide Number Placeholder 4"/>
          <p:cNvSpPr>
            <a:spLocks noGrp="1"/>
          </p:cNvSpPr>
          <p:nvPr>
            <p:ph type="sldNum" sz="quarter" idx="12"/>
          </p:nvPr>
        </p:nvSpPr>
        <p:spPr/>
        <p:txBody>
          <a:bodyPr/>
          <a:lstStyle/>
          <a:p>
            <a:fld id="{AF99D367-8FDA-4A2F-9F0E-167FD1610AEF}" type="slidenum">
              <a:rPr lang="en-US" smtClean="0"/>
              <a:t>21</a:t>
            </a:fld>
            <a:endParaRPr lang="en-US"/>
          </a:p>
        </p:txBody>
      </p:sp>
    </p:spTree>
    <p:extLst>
      <p:ext uri="{BB962C8B-B14F-4D97-AF65-F5344CB8AC3E}">
        <p14:creationId xmlns:p14="http://schemas.microsoft.com/office/powerpoint/2010/main" val="148200276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i="1" dirty="0"/>
              <a:t>OSI reference model</a:t>
            </a:r>
            <a:endParaRPr lang="en-US" sz="2400" dirty="0"/>
          </a:p>
        </p:txBody>
      </p:sp>
      <p:sp>
        <p:nvSpPr>
          <p:cNvPr id="3" name="Content Placeholder 2"/>
          <p:cNvSpPr>
            <a:spLocks noGrp="1"/>
          </p:cNvSpPr>
          <p:nvPr>
            <p:ph idx="1"/>
          </p:nvPr>
        </p:nvSpPr>
        <p:spPr/>
        <p:txBody>
          <a:bodyPr>
            <a:normAutofit/>
          </a:bodyPr>
          <a:lstStyle/>
          <a:p>
            <a:pPr marL="549275" lvl="1" indent="-285750">
              <a:lnSpc>
                <a:spcPct val="150000"/>
              </a:lnSpc>
              <a:buClrTx/>
              <a:buFont typeface="Arial" panose="020B0604020202020204" pitchFamily="34" charset="0"/>
              <a:buChar char="•"/>
            </a:pPr>
            <a:r>
              <a:rPr lang="en-GB" dirty="0"/>
              <a:t>Based upon a proposal first developed by the International Standards Organization (ISO) as a first step in the standardisation of the protocols used in various layers.</a:t>
            </a:r>
          </a:p>
          <a:p>
            <a:pPr marL="549275" lvl="1" indent="-285750">
              <a:lnSpc>
                <a:spcPct val="150000"/>
              </a:lnSpc>
              <a:buClrTx/>
              <a:buFont typeface="Arial" panose="020B0604020202020204" pitchFamily="34" charset="0"/>
              <a:buChar char="•"/>
            </a:pPr>
            <a:r>
              <a:rPr lang="en-GB" dirty="0"/>
              <a:t>It was revised in 1995.</a:t>
            </a:r>
          </a:p>
          <a:p>
            <a:pPr marL="549275" lvl="1" indent="-285750">
              <a:lnSpc>
                <a:spcPct val="150000"/>
              </a:lnSpc>
              <a:buClrTx/>
              <a:buFont typeface="Arial" panose="020B0604020202020204" pitchFamily="34" charset="0"/>
              <a:buChar char="•"/>
            </a:pPr>
            <a:r>
              <a:rPr lang="en-GB" dirty="0"/>
              <a:t>It deals with connecting open systems – </a:t>
            </a:r>
            <a:r>
              <a:rPr lang="en-GB" b="1" i="1" dirty="0">
                <a:solidFill>
                  <a:srgbClr val="8AA551"/>
                </a:solidFill>
              </a:rPr>
              <a:t>the Open Systems Interconnection (OSI) Reference Model </a:t>
            </a:r>
            <a:r>
              <a:rPr lang="en-GB" dirty="0"/>
              <a:t>– so deals with systems that are open to connection with other systems.</a:t>
            </a:r>
          </a:p>
          <a:p>
            <a:endParaRPr lang="en-US" dirty="0"/>
          </a:p>
        </p:txBody>
      </p:sp>
      <p:sp>
        <p:nvSpPr>
          <p:cNvPr id="4" name="Footer Placeholder 3"/>
          <p:cNvSpPr>
            <a:spLocks noGrp="1"/>
          </p:cNvSpPr>
          <p:nvPr>
            <p:ph type="ftr" sz="quarter" idx="11"/>
          </p:nvPr>
        </p:nvSpPr>
        <p:spPr/>
        <p:txBody>
          <a:bodyPr/>
          <a:lstStyle/>
          <a:p>
            <a:r>
              <a:rPr lang="en-US" smtClean="0"/>
              <a:t>Jeremiah Kafakoma</a:t>
            </a:r>
            <a:endParaRPr lang="en-US"/>
          </a:p>
        </p:txBody>
      </p:sp>
      <p:sp>
        <p:nvSpPr>
          <p:cNvPr id="5" name="Slide Number Placeholder 4"/>
          <p:cNvSpPr>
            <a:spLocks noGrp="1"/>
          </p:cNvSpPr>
          <p:nvPr>
            <p:ph type="sldNum" sz="quarter" idx="12"/>
          </p:nvPr>
        </p:nvSpPr>
        <p:spPr/>
        <p:txBody>
          <a:bodyPr/>
          <a:lstStyle/>
          <a:p>
            <a:fld id="{AF99D367-8FDA-4A2F-9F0E-167FD1610AEF}" type="slidenum">
              <a:rPr lang="en-US" smtClean="0"/>
              <a:t>22</a:t>
            </a:fld>
            <a:endParaRPr lang="en-US"/>
          </a:p>
        </p:txBody>
      </p:sp>
    </p:spTree>
    <p:extLst>
      <p:ext uri="{BB962C8B-B14F-4D97-AF65-F5344CB8AC3E}">
        <p14:creationId xmlns:p14="http://schemas.microsoft.com/office/powerpoint/2010/main" val="454048244"/>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dirty="0"/>
              <a:t>Principles Behind the Model</a:t>
            </a:r>
          </a:p>
        </p:txBody>
      </p:sp>
      <p:sp>
        <p:nvSpPr>
          <p:cNvPr id="3" name="Content Placeholder 2"/>
          <p:cNvSpPr>
            <a:spLocks noGrp="1"/>
          </p:cNvSpPr>
          <p:nvPr>
            <p:ph idx="1"/>
          </p:nvPr>
        </p:nvSpPr>
        <p:spPr/>
        <p:txBody>
          <a:bodyPr/>
          <a:lstStyle/>
          <a:p>
            <a:pPr marL="549275" lvl="1" indent="-285750">
              <a:buClrTx/>
              <a:buFont typeface="Arial" panose="020B0604020202020204" pitchFamily="34" charset="0"/>
              <a:buChar char="•"/>
            </a:pPr>
            <a:r>
              <a:rPr lang="en-GB" dirty="0"/>
              <a:t>A layer should be created where a different abstraction is </a:t>
            </a:r>
            <a:r>
              <a:rPr lang="en-GB" dirty="0" smtClean="0"/>
              <a:t>needed.</a:t>
            </a:r>
          </a:p>
          <a:p>
            <a:pPr marL="549275" lvl="1" indent="-285750">
              <a:buClrTx/>
              <a:buFont typeface="Arial" panose="020B0604020202020204" pitchFamily="34" charset="0"/>
              <a:buChar char="•"/>
            </a:pPr>
            <a:r>
              <a:rPr lang="en-GB" dirty="0" smtClean="0"/>
              <a:t>Each </a:t>
            </a:r>
            <a:r>
              <a:rPr lang="en-GB" dirty="0"/>
              <a:t>layer has a well-defined </a:t>
            </a:r>
            <a:r>
              <a:rPr lang="en-GB" dirty="0" smtClean="0"/>
              <a:t>function.</a:t>
            </a:r>
          </a:p>
          <a:p>
            <a:pPr marL="549275" lvl="1" indent="-285750">
              <a:buClrTx/>
              <a:buFont typeface="Arial" panose="020B0604020202020204" pitchFamily="34" charset="0"/>
              <a:buChar char="•"/>
            </a:pPr>
            <a:r>
              <a:rPr lang="en-GB" dirty="0" smtClean="0"/>
              <a:t>Each </a:t>
            </a:r>
            <a:r>
              <a:rPr lang="en-GB" dirty="0"/>
              <a:t>layer should link to standardised </a:t>
            </a:r>
            <a:r>
              <a:rPr lang="en-GB" dirty="0" smtClean="0"/>
              <a:t>protocols.</a:t>
            </a:r>
          </a:p>
          <a:p>
            <a:pPr marL="549275" lvl="1" indent="-285750">
              <a:buClrTx/>
              <a:buFont typeface="Arial" panose="020B0604020202020204" pitchFamily="34" charset="0"/>
              <a:buChar char="•"/>
            </a:pPr>
            <a:r>
              <a:rPr lang="en-GB" dirty="0" smtClean="0"/>
              <a:t>Layer </a:t>
            </a:r>
            <a:r>
              <a:rPr lang="en-GB" dirty="0"/>
              <a:t>boundaries should be chosen to minimize information flow across </a:t>
            </a:r>
            <a:r>
              <a:rPr lang="en-GB" dirty="0" smtClean="0"/>
              <a:t>interfaces.</a:t>
            </a:r>
          </a:p>
          <a:p>
            <a:pPr marL="549275" lvl="1" indent="-285750">
              <a:buClrTx/>
              <a:buFont typeface="Arial" panose="020B0604020202020204" pitchFamily="34" charset="0"/>
              <a:buChar char="•"/>
            </a:pPr>
            <a:r>
              <a:rPr lang="en-GB" dirty="0" smtClean="0"/>
              <a:t>The </a:t>
            </a:r>
            <a:r>
              <a:rPr lang="en-GB" dirty="0"/>
              <a:t>number of layers should be sufficient to separate functions but not be unwieldy.</a:t>
            </a:r>
          </a:p>
          <a:p>
            <a:pPr>
              <a:buFont typeface="Arial" panose="020B0604020202020204" pitchFamily="34" charset="0"/>
              <a:buChar char="•"/>
            </a:pPr>
            <a:endParaRPr lang="en-US" dirty="0"/>
          </a:p>
        </p:txBody>
      </p:sp>
      <p:sp>
        <p:nvSpPr>
          <p:cNvPr id="4" name="Footer Placeholder 3"/>
          <p:cNvSpPr>
            <a:spLocks noGrp="1"/>
          </p:cNvSpPr>
          <p:nvPr>
            <p:ph type="ftr" sz="quarter" idx="11"/>
          </p:nvPr>
        </p:nvSpPr>
        <p:spPr/>
        <p:txBody>
          <a:bodyPr/>
          <a:lstStyle/>
          <a:p>
            <a:r>
              <a:rPr lang="en-US" smtClean="0"/>
              <a:t>Jeremiah Kafakoma</a:t>
            </a:r>
            <a:endParaRPr lang="en-US"/>
          </a:p>
        </p:txBody>
      </p:sp>
      <p:sp>
        <p:nvSpPr>
          <p:cNvPr id="5" name="Slide Number Placeholder 4"/>
          <p:cNvSpPr>
            <a:spLocks noGrp="1"/>
          </p:cNvSpPr>
          <p:nvPr>
            <p:ph type="sldNum" sz="quarter" idx="12"/>
          </p:nvPr>
        </p:nvSpPr>
        <p:spPr/>
        <p:txBody>
          <a:bodyPr/>
          <a:lstStyle/>
          <a:p>
            <a:fld id="{AF99D367-8FDA-4A2F-9F0E-167FD1610AEF}" type="slidenum">
              <a:rPr lang="en-US" smtClean="0"/>
              <a:t>23</a:t>
            </a:fld>
            <a:endParaRPr lang="en-US"/>
          </a:p>
        </p:txBody>
      </p:sp>
    </p:spTree>
    <p:extLst>
      <p:ext uri="{BB962C8B-B14F-4D97-AF65-F5344CB8AC3E}">
        <p14:creationId xmlns:p14="http://schemas.microsoft.com/office/powerpoint/2010/main" val="276553173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www.ccnastudyguide.net/wp-content/uploads/2009/07/OSI-reference-model.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14400" y="1100138"/>
            <a:ext cx="6705599" cy="3579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Footer Placeholder 1"/>
          <p:cNvSpPr>
            <a:spLocks noGrp="1"/>
          </p:cNvSpPr>
          <p:nvPr>
            <p:ph type="ftr" sz="quarter" idx="11"/>
          </p:nvPr>
        </p:nvSpPr>
        <p:spPr/>
        <p:txBody>
          <a:bodyPr/>
          <a:lstStyle/>
          <a:p>
            <a:r>
              <a:rPr lang="en-US" smtClean="0"/>
              <a:t>Jeremiah Kafakoma</a:t>
            </a:r>
            <a:endParaRPr lang="en-US"/>
          </a:p>
        </p:txBody>
      </p:sp>
      <p:sp>
        <p:nvSpPr>
          <p:cNvPr id="3" name="Slide Number Placeholder 2"/>
          <p:cNvSpPr>
            <a:spLocks noGrp="1"/>
          </p:cNvSpPr>
          <p:nvPr>
            <p:ph type="sldNum" sz="quarter" idx="12"/>
          </p:nvPr>
        </p:nvSpPr>
        <p:spPr/>
        <p:txBody>
          <a:bodyPr/>
          <a:lstStyle/>
          <a:p>
            <a:fld id="{AF99D367-8FDA-4A2F-9F0E-167FD1610AEF}" type="slidenum">
              <a:rPr lang="en-US" smtClean="0"/>
              <a:t>24</a:t>
            </a:fld>
            <a:endParaRPr lang="en-US"/>
          </a:p>
        </p:txBody>
      </p:sp>
    </p:spTree>
    <p:extLst>
      <p:ext uri="{BB962C8B-B14F-4D97-AF65-F5344CB8AC3E}">
        <p14:creationId xmlns:p14="http://schemas.microsoft.com/office/powerpoint/2010/main" val="253171122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600" b="1" cap="none" dirty="0" smtClean="0"/>
              <a:t>Physical Layer – Layer 1</a:t>
            </a:r>
            <a:endParaRPr lang="en-US" sz="1600" b="1" cap="none" dirty="0"/>
          </a:p>
        </p:txBody>
      </p:sp>
      <p:sp>
        <p:nvSpPr>
          <p:cNvPr id="3" name="Content Placeholder 2"/>
          <p:cNvSpPr>
            <a:spLocks noGrp="1"/>
          </p:cNvSpPr>
          <p:nvPr>
            <p:ph idx="1"/>
          </p:nvPr>
        </p:nvSpPr>
        <p:spPr/>
        <p:txBody>
          <a:bodyPr/>
          <a:lstStyle/>
          <a:p>
            <a:pPr marL="777875" lvl="1" indent="-514350">
              <a:buClrTx/>
              <a:buFont typeface="Arial" panose="020B0604020202020204" pitchFamily="34" charset="0"/>
              <a:buChar char="•"/>
            </a:pPr>
            <a:r>
              <a:rPr lang="en-GB" dirty="0"/>
              <a:t>Concerned with transmitting bits (1s and 0s) over a communication channel.</a:t>
            </a:r>
          </a:p>
          <a:p>
            <a:pPr marL="777875" lvl="1" indent="-514350">
              <a:buClrTx/>
              <a:buFont typeface="Arial" panose="020B0604020202020204" pitchFamily="34" charset="0"/>
              <a:buChar char="•"/>
            </a:pPr>
            <a:r>
              <a:rPr lang="en-GB" dirty="0"/>
              <a:t>Design considerations include:</a:t>
            </a:r>
          </a:p>
          <a:p>
            <a:pPr marL="1311275" lvl="2" indent="-514350">
              <a:buClrTx/>
              <a:buFont typeface="Wingdings" panose="05000000000000000000" pitchFamily="2" charset="2"/>
              <a:buChar char="Ø"/>
            </a:pPr>
            <a:r>
              <a:rPr lang="en-GB" dirty="0"/>
              <a:t>What voltage represents a 1</a:t>
            </a:r>
          </a:p>
          <a:p>
            <a:pPr marL="1311275" lvl="2" indent="-514350">
              <a:buClrTx/>
              <a:buFont typeface="Wingdings" panose="05000000000000000000" pitchFamily="2" charset="2"/>
              <a:buChar char="Ø"/>
            </a:pPr>
            <a:r>
              <a:rPr lang="en-GB" dirty="0"/>
              <a:t>How long a bit lasts (nanoseconds)</a:t>
            </a:r>
          </a:p>
          <a:p>
            <a:pPr marL="1311275" lvl="2" indent="-514350">
              <a:buClrTx/>
              <a:buFont typeface="Wingdings" panose="05000000000000000000" pitchFamily="2" charset="2"/>
              <a:buChar char="Ø"/>
            </a:pPr>
            <a:r>
              <a:rPr lang="en-GB" dirty="0"/>
              <a:t>How connection is established</a:t>
            </a:r>
          </a:p>
          <a:p>
            <a:pPr marL="1311275" lvl="2" indent="-514350">
              <a:buClrTx/>
              <a:buFont typeface="Wingdings" panose="05000000000000000000" pitchFamily="2" charset="2"/>
              <a:buChar char="Ø"/>
            </a:pPr>
            <a:r>
              <a:rPr lang="en-GB" dirty="0"/>
              <a:t>How connection is ended</a:t>
            </a:r>
          </a:p>
          <a:p>
            <a:pPr marL="1311275" lvl="2" indent="-514350">
              <a:buClrTx/>
              <a:buFont typeface="Wingdings" panose="05000000000000000000" pitchFamily="2" charset="2"/>
              <a:buChar char="Ø"/>
            </a:pPr>
            <a:r>
              <a:rPr lang="en-GB" dirty="0"/>
              <a:t>What connectors are required</a:t>
            </a:r>
          </a:p>
          <a:p>
            <a:pPr marL="777875" lvl="1" indent="-514350">
              <a:buClrTx/>
              <a:buFont typeface="Arial" panose="020B0604020202020204" pitchFamily="34" charset="0"/>
              <a:buChar char="•"/>
            </a:pPr>
            <a:r>
              <a:rPr lang="en-GB" dirty="0"/>
              <a:t>Largely mechanical, electrical, timing issues</a:t>
            </a:r>
          </a:p>
          <a:p>
            <a:endParaRPr lang="en-US" dirty="0"/>
          </a:p>
        </p:txBody>
      </p:sp>
      <p:sp>
        <p:nvSpPr>
          <p:cNvPr id="4" name="Footer Placeholder 3"/>
          <p:cNvSpPr>
            <a:spLocks noGrp="1"/>
          </p:cNvSpPr>
          <p:nvPr>
            <p:ph type="ftr" sz="quarter" idx="11"/>
          </p:nvPr>
        </p:nvSpPr>
        <p:spPr/>
        <p:txBody>
          <a:bodyPr/>
          <a:lstStyle/>
          <a:p>
            <a:r>
              <a:rPr lang="en-US" smtClean="0"/>
              <a:t>Jeremiah Kafakoma</a:t>
            </a:r>
            <a:endParaRPr lang="en-US"/>
          </a:p>
        </p:txBody>
      </p:sp>
      <p:sp>
        <p:nvSpPr>
          <p:cNvPr id="5" name="Slide Number Placeholder 4"/>
          <p:cNvSpPr>
            <a:spLocks noGrp="1"/>
          </p:cNvSpPr>
          <p:nvPr>
            <p:ph type="sldNum" sz="quarter" idx="12"/>
          </p:nvPr>
        </p:nvSpPr>
        <p:spPr/>
        <p:txBody>
          <a:bodyPr/>
          <a:lstStyle/>
          <a:p>
            <a:fld id="{AF99D367-8FDA-4A2F-9F0E-167FD1610AEF}" type="slidenum">
              <a:rPr lang="en-US" smtClean="0"/>
              <a:t>25</a:t>
            </a:fld>
            <a:endParaRPr lang="en-US"/>
          </a:p>
        </p:txBody>
      </p:sp>
    </p:spTree>
    <p:extLst>
      <p:ext uri="{BB962C8B-B14F-4D97-AF65-F5344CB8AC3E}">
        <p14:creationId xmlns:p14="http://schemas.microsoft.com/office/powerpoint/2010/main" val="376372833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600" b="1" cap="none" dirty="0" smtClean="0"/>
              <a:t>Data Link Layer – Layer 2</a:t>
            </a:r>
            <a:endParaRPr lang="en-US" sz="1600" b="1" cap="none" dirty="0"/>
          </a:p>
        </p:txBody>
      </p:sp>
      <p:sp>
        <p:nvSpPr>
          <p:cNvPr id="3" name="Content Placeholder 2"/>
          <p:cNvSpPr>
            <a:spLocks noGrp="1"/>
          </p:cNvSpPr>
          <p:nvPr>
            <p:ph idx="1"/>
          </p:nvPr>
        </p:nvSpPr>
        <p:spPr/>
        <p:txBody>
          <a:bodyPr>
            <a:normAutofit/>
          </a:bodyPr>
          <a:lstStyle/>
          <a:p>
            <a:pPr marL="777875" lvl="1" indent="-514350"/>
            <a:r>
              <a:rPr lang="en-US" dirty="0"/>
              <a:t>Responsible for communications between adjacent network nodes.</a:t>
            </a:r>
          </a:p>
          <a:p>
            <a:pPr marL="777875" lvl="1" indent="-514350"/>
            <a:r>
              <a:rPr lang="en-US" dirty="0"/>
              <a:t>Transforms raw transmitted data into a line of data that is error free and passed to the network layer.</a:t>
            </a:r>
          </a:p>
          <a:p>
            <a:pPr marL="777875" lvl="1" indent="-514350"/>
            <a:r>
              <a:rPr lang="en-US" dirty="0"/>
              <a:t>Deals with the different data rates between sender and receiver.</a:t>
            </a:r>
            <a:endParaRPr lang="en-GB" dirty="0"/>
          </a:p>
          <a:p>
            <a:pPr marL="114300" indent="0">
              <a:buNone/>
            </a:pPr>
            <a:r>
              <a:rPr lang="en-US" b="1" dirty="0" smtClean="0"/>
              <a:t>Network Layer – Layer 3</a:t>
            </a:r>
          </a:p>
          <a:p>
            <a:pPr marL="777875" lvl="1" indent="-514350"/>
            <a:r>
              <a:rPr lang="en-US" dirty="0" smtClean="0"/>
              <a:t>Responsible for establishing paths for data transfer through the network (routing).</a:t>
            </a:r>
          </a:p>
          <a:p>
            <a:pPr marL="777875" lvl="1" indent="-514350"/>
            <a:r>
              <a:rPr lang="en-US" dirty="0" smtClean="0"/>
              <a:t>Routing </a:t>
            </a:r>
            <a:r>
              <a:rPr lang="en-US" dirty="0"/>
              <a:t>can be static so that paths remain constant or dynamic so as to reflect network load.</a:t>
            </a:r>
          </a:p>
          <a:p>
            <a:pPr marL="777875" lvl="1" indent="-514350"/>
            <a:r>
              <a:rPr lang="en-US" dirty="0"/>
              <a:t>The network layer is used to overcome differences in addressing, protocols and message sizes.</a:t>
            </a:r>
            <a:endParaRPr lang="en-GB" dirty="0"/>
          </a:p>
          <a:p>
            <a:endParaRPr lang="en-US" dirty="0"/>
          </a:p>
        </p:txBody>
      </p:sp>
      <p:sp>
        <p:nvSpPr>
          <p:cNvPr id="4" name="Footer Placeholder 3"/>
          <p:cNvSpPr>
            <a:spLocks noGrp="1"/>
          </p:cNvSpPr>
          <p:nvPr>
            <p:ph type="ftr" sz="quarter" idx="11"/>
          </p:nvPr>
        </p:nvSpPr>
        <p:spPr/>
        <p:txBody>
          <a:bodyPr/>
          <a:lstStyle/>
          <a:p>
            <a:r>
              <a:rPr lang="en-US" smtClean="0"/>
              <a:t>Jeremiah Kafakoma</a:t>
            </a:r>
            <a:endParaRPr lang="en-US"/>
          </a:p>
        </p:txBody>
      </p:sp>
      <p:sp>
        <p:nvSpPr>
          <p:cNvPr id="5" name="Slide Number Placeholder 4"/>
          <p:cNvSpPr>
            <a:spLocks noGrp="1"/>
          </p:cNvSpPr>
          <p:nvPr>
            <p:ph type="sldNum" sz="quarter" idx="12"/>
          </p:nvPr>
        </p:nvSpPr>
        <p:spPr/>
        <p:txBody>
          <a:bodyPr/>
          <a:lstStyle/>
          <a:p>
            <a:fld id="{AF99D367-8FDA-4A2F-9F0E-167FD1610AEF}" type="slidenum">
              <a:rPr lang="en-US" smtClean="0"/>
              <a:t>26</a:t>
            </a:fld>
            <a:endParaRPr lang="en-US"/>
          </a:p>
        </p:txBody>
      </p:sp>
    </p:spTree>
    <p:extLst>
      <p:ext uri="{BB962C8B-B14F-4D97-AF65-F5344CB8AC3E}">
        <p14:creationId xmlns:p14="http://schemas.microsoft.com/office/powerpoint/2010/main" val="1101080974"/>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114300" indent="0">
              <a:buNone/>
            </a:pPr>
            <a:r>
              <a:rPr lang="en-US" b="1" dirty="0"/>
              <a:t>Transport Layer – Layer </a:t>
            </a:r>
            <a:r>
              <a:rPr lang="en-US" b="1" dirty="0" smtClean="0"/>
              <a:t>4</a:t>
            </a:r>
          </a:p>
          <a:p>
            <a:pPr marL="777875" lvl="1" indent="-514350"/>
            <a:r>
              <a:rPr lang="en-US" dirty="0"/>
              <a:t>Responsible for delivering messages between networked hosts.</a:t>
            </a:r>
          </a:p>
          <a:p>
            <a:pPr marL="777875" lvl="1" indent="-514350"/>
            <a:r>
              <a:rPr lang="en-US" dirty="0"/>
              <a:t>Also responsible for fragmentation and reassembly of messages.</a:t>
            </a:r>
            <a:endParaRPr lang="en-GB" dirty="0"/>
          </a:p>
          <a:p>
            <a:pPr marL="1311275" lvl="2" indent="-514350"/>
            <a:endParaRPr lang="en-GB" dirty="0"/>
          </a:p>
          <a:p>
            <a:pPr marL="114300" indent="0">
              <a:buNone/>
            </a:pPr>
            <a:r>
              <a:rPr lang="en-US" b="1" dirty="0"/>
              <a:t>Session Layer – Layer </a:t>
            </a:r>
            <a:r>
              <a:rPr lang="en-US" b="1" dirty="0" smtClean="0"/>
              <a:t>5</a:t>
            </a:r>
          </a:p>
          <a:p>
            <a:pPr marL="777875" lvl="1" indent="-514350"/>
            <a:r>
              <a:rPr lang="en-US" dirty="0"/>
              <a:t>Responsible for establishing process-to-process communications between networked hosts.</a:t>
            </a:r>
          </a:p>
          <a:p>
            <a:pPr marL="777875" lvl="1" indent="-514350"/>
            <a:r>
              <a:rPr lang="en-GB" dirty="0"/>
              <a:t>Establishes </a:t>
            </a:r>
            <a:r>
              <a:rPr lang="en-GB" b="1" i="1" dirty="0">
                <a:solidFill>
                  <a:srgbClr val="8AA551"/>
                </a:solidFill>
              </a:rPr>
              <a:t>sessions</a:t>
            </a:r>
            <a:r>
              <a:rPr lang="en-GB" dirty="0"/>
              <a:t> between different machines that allow for:</a:t>
            </a:r>
          </a:p>
          <a:p>
            <a:pPr marL="777875" lvl="1" indent="-514350"/>
            <a:endParaRPr lang="en-GB" sz="800" dirty="0"/>
          </a:p>
          <a:p>
            <a:pPr marL="1311275" lvl="2" indent="-514350"/>
            <a:r>
              <a:rPr lang="en-GB" sz="1400" dirty="0"/>
              <a:t>Deciding whose turn it is to transmit;</a:t>
            </a:r>
          </a:p>
          <a:p>
            <a:pPr marL="1311275" lvl="2" indent="-514350"/>
            <a:r>
              <a:rPr lang="en-GB" sz="1400" dirty="0"/>
              <a:t>Preventing simultaneous transmissions;</a:t>
            </a:r>
          </a:p>
          <a:p>
            <a:pPr marL="1311275" lvl="2" indent="-514350"/>
            <a:r>
              <a:rPr lang="en-GB" sz="1400" dirty="0"/>
              <a:t>Synchronisation to allow transmission to continue if there has been a failure mid-transmission.</a:t>
            </a:r>
          </a:p>
          <a:p>
            <a:endParaRPr lang="en-US" dirty="0"/>
          </a:p>
        </p:txBody>
      </p:sp>
      <p:sp>
        <p:nvSpPr>
          <p:cNvPr id="2" name="Footer Placeholder 1"/>
          <p:cNvSpPr>
            <a:spLocks noGrp="1"/>
          </p:cNvSpPr>
          <p:nvPr>
            <p:ph type="ftr" sz="quarter" idx="11"/>
          </p:nvPr>
        </p:nvSpPr>
        <p:spPr/>
        <p:txBody>
          <a:bodyPr/>
          <a:lstStyle/>
          <a:p>
            <a:r>
              <a:rPr lang="en-US" smtClean="0"/>
              <a:t>Jeremiah Kafakoma</a:t>
            </a:r>
            <a:endParaRPr lang="en-US"/>
          </a:p>
        </p:txBody>
      </p:sp>
      <p:sp>
        <p:nvSpPr>
          <p:cNvPr id="4" name="Slide Number Placeholder 3"/>
          <p:cNvSpPr>
            <a:spLocks noGrp="1"/>
          </p:cNvSpPr>
          <p:nvPr>
            <p:ph type="sldNum" sz="quarter" idx="12"/>
          </p:nvPr>
        </p:nvSpPr>
        <p:spPr/>
        <p:txBody>
          <a:bodyPr/>
          <a:lstStyle/>
          <a:p>
            <a:fld id="{AF99D367-8FDA-4A2F-9F0E-167FD1610AEF}" type="slidenum">
              <a:rPr lang="en-US" smtClean="0"/>
              <a:t>27</a:t>
            </a:fld>
            <a:endParaRPr lang="en-US"/>
          </a:p>
        </p:txBody>
      </p:sp>
    </p:spTree>
    <p:extLst>
      <p:ext uri="{BB962C8B-B14F-4D97-AF65-F5344CB8AC3E}">
        <p14:creationId xmlns:p14="http://schemas.microsoft.com/office/powerpoint/2010/main" val="287912124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114300" indent="0">
              <a:buNone/>
            </a:pPr>
            <a:r>
              <a:rPr lang="en-US" b="1" dirty="0"/>
              <a:t>Presentation Layer – Layer </a:t>
            </a:r>
            <a:r>
              <a:rPr lang="en-US" b="1" dirty="0" smtClean="0"/>
              <a:t>6</a:t>
            </a:r>
          </a:p>
          <a:p>
            <a:pPr marL="777875" lvl="1" indent="-514350"/>
            <a:r>
              <a:rPr lang="en-US" dirty="0"/>
              <a:t>Responsible for defining the syntax which two network hosts use to communicate.</a:t>
            </a:r>
          </a:p>
          <a:p>
            <a:pPr marL="777875" lvl="1" indent="-514350"/>
            <a:r>
              <a:rPr lang="en-GB" dirty="0"/>
              <a:t>Makes it possible for different systems with different data structures to communicate.</a:t>
            </a:r>
          </a:p>
          <a:p>
            <a:pPr marL="114300" indent="0">
              <a:buNone/>
            </a:pPr>
            <a:r>
              <a:rPr lang="en-US" b="1" dirty="0"/>
              <a:t>Application Layer – Layer </a:t>
            </a:r>
            <a:r>
              <a:rPr lang="en-US" b="1" dirty="0" smtClean="0"/>
              <a:t>7</a:t>
            </a:r>
          </a:p>
          <a:p>
            <a:pPr marL="777875" lvl="1" indent="-514350"/>
            <a:r>
              <a:rPr lang="en-US" dirty="0"/>
              <a:t>Responsible for providing end-user services, such as file transfers, electronic messaging, email, virtual terminal access, and network management.</a:t>
            </a:r>
          </a:p>
          <a:p>
            <a:pPr marL="777875" lvl="1" indent="-514350"/>
            <a:r>
              <a:rPr lang="en-US" dirty="0"/>
              <a:t>This is the layer with which the user interacts.</a:t>
            </a:r>
            <a:endParaRPr lang="en-GB" dirty="0"/>
          </a:p>
          <a:p>
            <a:endParaRPr lang="en-US" dirty="0"/>
          </a:p>
        </p:txBody>
      </p:sp>
      <p:sp>
        <p:nvSpPr>
          <p:cNvPr id="2" name="Footer Placeholder 1"/>
          <p:cNvSpPr>
            <a:spLocks noGrp="1"/>
          </p:cNvSpPr>
          <p:nvPr>
            <p:ph type="ftr" sz="quarter" idx="11"/>
          </p:nvPr>
        </p:nvSpPr>
        <p:spPr/>
        <p:txBody>
          <a:bodyPr/>
          <a:lstStyle/>
          <a:p>
            <a:r>
              <a:rPr lang="en-US" smtClean="0"/>
              <a:t>Jeremiah Kafakoma</a:t>
            </a:r>
            <a:endParaRPr lang="en-US"/>
          </a:p>
        </p:txBody>
      </p:sp>
      <p:sp>
        <p:nvSpPr>
          <p:cNvPr id="4" name="Slide Number Placeholder 3"/>
          <p:cNvSpPr>
            <a:spLocks noGrp="1"/>
          </p:cNvSpPr>
          <p:nvPr>
            <p:ph type="sldNum" sz="quarter" idx="12"/>
          </p:nvPr>
        </p:nvSpPr>
        <p:spPr/>
        <p:txBody>
          <a:bodyPr/>
          <a:lstStyle/>
          <a:p>
            <a:fld id="{AF99D367-8FDA-4A2F-9F0E-167FD1610AEF}" type="slidenum">
              <a:rPr lang="en-US" smtClean="0"/>
              <a:t>28</a:t>
            </a:fld>
            <a:endParaRPr lang="en-US"/>
          </a:p>
        </p:txBody>
      </p:sp>
    </p:spTree>
    <p:extLst>
      <p:ext uri="{BB962C8B-B14F-4D97-AF65-F5344CB8AC3E}">
        <p14:creationId xmlns:p14="http://schemas.microsoft.com/office/powerpoint/2010/main" val="403928100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Remembering the </a:t>
            </a:r>
            <a:r>
              <a:rPr lang="en-US" dirty="0" smtClean="0"/>
              <a:t>Layers</a:t>
            </a:r>
          </a:p>
          <a:p>
            <a:endParaRPr lang="en-US" dirty="0"/>
          </a:p>
        </p:txBody>
      </p:sp>
      <p:sp>
        <p:nvSpPr>
          <p:cNvPr id="2" name="Footer Placeholder 1"/>
          <p:cNvSpPr>
            <a:spLocks noGrp="1"/>
          </p:cNvSpPr>
          <p:nvPr>
            <p:ph type="ftr" sz="quarter" idx="11"/>
          </p:nvPr>
        </p:nvSpPr>
        <p:spPr/>
        <p:txBody>
          <a:bodyPr/>
          <a:lstStyle/>
          <a:p>
            <a:r>
              <a:rPr lang="en-US" smtClean="0"/>
              <a:t>Jeremiah Kafakoma</a:t>
            </a:r>
            <a:endParaRPr lang="en-US"/>
          </a:p>
        </p:txBody>
      </p:sp>
      <p:sp>
        <p:nvSpPr>
          <p:cNvPr id="5" name="Slide Number Placeholder 4"/>
          <p:cNvSpPr>
            <a:spLocks noGrp="1"/>
          </p:cNvSpPr>
          <p:nvPr>
            <p:ph type="sldNum" sz="quarter" idx="12"/>
          </p:nvPr>
        </p:nvSpPr>
        <p:spPr/>
        <p:txBody>
          <a:bodyPr/>
          <a:lstStyle/>
          <a:p>
            <a:fld id="{AF99D367-8FDA-4A2F-9F0E-167FD1610AEF}" type="slidenum">
              <a:rPr lang="en-US" smtClean="0"/>
              <a:t>29</a:t>
            </a:fld>
            <a:endParaRPr lang="en-US"/>
          </a:p>
        </p:txBody>
      </p:sp>
      <p:pic>
        <p:nvPicPr>
          <p:cNvPr id="4" name="Picture 3" descr="nmemonic1.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14400" y="1524000"/>
            <a:ext cx="7116763"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6961606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Peer-to-Peer vs. Server-Client</a:t>
            </a:r>
          </a:p>
        </p:txBody>
      </p:sp>
      <p:sp>
        <p:nvSpPr>
          <p:cNvPr id="3" name="Content Placeholder 2"/>
          <p:cNvSpPr>
            <a:spLocks noGrp="1"/>
          </p:cNvSpPr>
          <p:nvPr>
            <p:ph idx="1"/>
          </p:nvPr>
        </p:nvSpPr>
        <p:spPr/>
        <p:txBody>
          <a:bodyPr/>
          <a:lstStyle/>
          <a:p>
            <a:pPr lvl="1"/>
            <a:r>
              <a:rPr lang="en-GB" dirty="0"/>
              <a:t>A decision must be made as to whether a peer-to-peer network or server network is required.</a:t>
            </a:r>
          </a:p>
          <a:p>
            <a:pPr lvl="1"/>
            <a:r>
              <a:rPr lang="en-GB" dirty="0"/>
              <a:t>Very small networks can be peer-to-peer.</a:t>
            </a:r>
          </a:p>
          <a:p>
            <a:pPr lvl="1"/>
            <a:r>
              <a:rPr lang="en-GB" dirty="0"/>
              <a:t>Larger networks should be server based</a:t>
            </a:r>
          </a:p>
          <a:p>
            <a:pPr lvl="1"/>
            <a:endParaRPr lang="en-GB" sz="800" dirty="0"/>
          </a:p>
          <a:p>
            <a:pPr lvl="2"/>
            <a:r>
              <a:rPr lang="en-GB" sz="2600" dirty="0"/>
              <a:t>More than 10 users</a:t>
            </a:r>
          </a:p>
          <a:p>
            <a:pPr lvl="2"/>
            <a:r>
              <a:rPr lang="en-GB" sz="2600" dirty="0"/>
              <a:t>Heavy network use</a:t>
            </a:r>
          </a:p>
          <a:p>
            <a:pPr lvl="2"/>
            <a:r>
              <a:rPr lang="en-GB" sz="2600" dirty="0"/>
              <a:t>Security is important.</a:t>
            </a:r>
          </a:p>
          <a:p>
            <a:pPr marL="114300" indent="0">
              <a:buNone/>
            </a:pPr>
            <a:endParaRPr lang="en-US" dirty="0"/>
          </a:p>
        </p:txBody>
      </p:sp>
      <p:sp>
        <p:nvSpPr>
          <p:cNvPr id="4" name="Footer Placeholder 3"/>
          <p:cNvSpPr>
            <a:spLocks noGrp="1"/>
          </p:cNvSpPr>
          <p:nvPr>
            <p:ph type="ftr" sz="quarter" idx="11"/>
          </p:nvPr>
        </p:nvSpPr>
        <p:spPr/>
        <p:txBody>
          <a:bodyPr/>
          <a:lstStyle/>
          <a:p>
            <a:r>
              <a:rPr lang="en-US" smtClean="0"/>
              <a:t>Jeremiah Kafakoma</a:t>
            </a:r>
            <a:endParaRPr lang="en-US"/>
          </a:p>
        </p:txBody>
      </p:sp>
      <p:sp>
        <p:nvSpPr>
          <p:cNvPr id="5" name="Slide Number Placeholder 4"/>
          <p:cNvSpPr>
            <a:spLocks noGrp="1"/>
          </p:cNvSpPr>
          <p:nvPr>
            <p:ph type="sldNum" sz="quarter" idx="12"/>
          </p:nvPr>
        </p:nvSpPr>
        <p:spPr/>
        <p:txBody>
          <a:bodyPr/>
          <a:lstStyle/>
          <a:p>
            <a:fld id="{AF99D367-8FDA-4A2F-9F0E-167FD1610AEF}" type="slidenum">
              <a:rPr lang="en-US" smtClean="0"/>
              <a:t>30</a:t>
            </a:fld>
            <a:endParaRPr lang="en-US"/>
          </a:p>
        </p:txBody>
      </p:sp>
    </p:spTree>
    <p:extLst>
      <p:ext uri="{BB962C8B-B14F-4D97-AF65-F5344CB8AC3E}">
        <p14:creationId xmlns:p14="http://schemas.microsoft.com/office/powerpoint/2010/main" val="346361022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servers</a:t>
            </a:r>
            <a:endParaRPr lang="en-US" dirty="0"/>
          </a:p>
        </p:txBody>
      </p:sp>
      <p:sp>
        <p:nvSpPr>
          <p:cNvPr id="3" name="Content Placeholder 2"/>
          <p:cNvSpPr>
            <a:spLocks noGrp="1"/>
          </p:cNvSpPr>
          <p:nvPr>
            <p:ph idx="1"/>
          </p:nvPr>
        </p:nvSpPr>
        <p:spPr/>
        <p:txBody>
          <a:bodyPr/>
          <a:lstStyle/>
          <a:p>
            <a:pPr lvl="1"/>
            <a:r>
              <a:rPr lang="en-GB" dirty="0"/>
              <a:t>A server is a computer or series of computers that provides services across the network.</a:t>
            </a:r>
          </a:p>
          <a:p>
            <a:pPr lvl="1"/>
            <a:r>
              <a:rPr lang="en-US" dirty="0"/>
              <a:t>The server is at the </a:t>
            </a:r>
            <a:r>
              <a:rPr lang="en-US" dirty="0" smtClean="0"/>
              <a:t>Centre </a:t>
            </a:r>
            <a:r>
              <a:rPr lang="en-US" dirty="0"/>
              <a:t>of a network.</a:t>
            </a:r>
          </a:p>
          <a:p>
            <a:pPr lvl="1"/>
            <a:r>
              <a:rPr lang="en-US" dirty="0"/>
              <a:t>Most large networks with more than a few dozen workstations rely on several network servers.</a:t>
            </a:r>
          </a:p>
          <a:p>
            <a:pPr lvl="1"/>
            <a:r>
              <a:rPr lang="en-US" dirty="0"/>
              <a:t>The requirements of the server hardware are determined by size of network, network operations, network operating system, etc.</a:t>
            </a:r>
          </a:p>
          <a:p>
            <a:endParaRPr lang="en-US" dirty="0"/>
          </a:p>
        </p:txBody>
      </p:sp>
      <p:sp>
        <p:nvSpPr>
          <p:cNvPr id="4" name="Footer Placeholder 3"/>
          <p:cNvSpPr>
            <a:spLocks noGrp="1"/>
          </p:cNvSpPr>
          <p:nvPr>
            <p:ph type="ftr" sz="quarter" idx="11"/>
          </p:nvPr>
        </p:nvSpPr>
        <p:spPr/>
        <p:txBody>
          <a:bodyPr/>
          <a:lstStyle/>
          <a:p>
            <a:r>
              <a:rPr lang="en-US" smtClean="0"/>
              <a:t>Jeremiah Kafakoma</a:t>
            </a:r>
            <a:endParaRPr lang="en-US"/>
          </a:p>
        </p:txBody>
      </p:sp>
      <p:sp>
        <p:nvSpPr>
          <p:cNvPr id="5" name="Slide Number Placeholder 4"/>
          <p:cNvSpPr>
            <a:spLocks noGrp="1"/>
          </p:cNvSpPr>
          <p:nvPr>
            <p:ph type="sldNum" sz="quarter" idx="12"/>
          </p:nvPr>
        </p:nvSpPr>
        <p:spPr/>
        <p:txBody>
          <a:bodyPr/>
          <a:lstStyle/>
          <a:p>
            <a:fld id="{AF99D367-8FDA-4A2F-9F0E-167FD1610AEF}" type="slidenum">
              <a:rPr lang="en-US" smtClean="0"/>
              <a:t>31</a:t>
            </a:fld>
            <a:endParaRPr lang="en-US"/>
          </a:p>
        </p:txBody>
      </p:sp>
    </p:spTree>
    <p:extLst>
      <p:ext uri="{BB962C8B-B14F-4D97-AF65-F5344CB8AC3E}">
        <p14:creationId xmlns:p14="http://schemas.microsoft.com/office/powerpoint/2010/main" val="424049649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Specialist Servers</a:t>
            </a:r>
          </a:p>
        </p:txBody>
      </p:sp>
      <p:sp>
        <p:nvSpPr>
          <p:cNvPr id="3" name="Content Placeholder 2"/>
          <p:cNvSpPr>
            <a:spLocks noGrp="1"/>
          </p:cNvSpPr>
          <p:nvPr>
            <p:ph idx="1"/>
          </p:nvPr>
        </p:nvSpPr>
        <p:spPr/>
        <p:txBody>
          <a:bodyPr>
            <a:normAutofit lnSpcReduction="10000"/>
          </a:bodyPr>
          <a:lstStyle/>
          <a:p>
            <a:pPr lvl="1"/>
            <a:r>
              <a:rPr lang="en-GB" dirty="0"/>
              <a:t>It is possible to assign servers to specific roles such as:</a:t>
            </a:r>
          </a:p>
          <a:p>
            <a:pPr lvl="2"/>
            <a:r>
              <a:rPr lang="en-US" sz="2600" dirty="0"/>
              <a:t>Application servers</a:t>
            </a:r>
          </a:p>
          <a:p>
            <a:pPr lvl="2"/>
            <a:r>
              <a:rPr lang="en-US" sz="2600" dirty="0"/>
              <a:t>Communication servers</a:t>
            </a:r>
          </a:p>
          <a:p>
            <a:pPr lvl="2"/>
            <a:r>
              <a:rPr lang="en-US" sz="2600" dirty="0"/>
              <a:t>Domain controllers/directory servers</a:t>
            </a:r>
          </a:p>
          <a:p>
            <a:pPr lvl="2"/>
            <a:r>
              <a:rPr lang="en-US" sz="2600" dirty="0"/>
              <a:t>Fax servers</a:t>
            </a:r>
          </a:p>
          <a:p>
            <a:pPr lvl="2"/>
            <a:r>
              <a:rPr lang="en-US" sz="2600" dirty="0"/>
              <a:t>File servers</a:t>
            </a:r>
          </a:p>
          <a:p>
            <a:pPr lvl="2"/>
            <a:r>
              <a:rPr lang="en-US" sz="2600" dirty="0"/>
              <a:t>Print servers</a:t>
            </a:r>
          </a:p>
          <a:p>
            <a:pPr lvl="2"/>
            <a:r>
              <a:rPr lang="en-US" sz="2600" dirty="0"/>
              <a:t>Mail servers</a:t>
            </a:r>
          </a:p>
          <a:p>
            <a:pPr lvl="2"/>
            <a:r>
              <a:rPr lang="en-US" sz="2600" dirty="0"/>
              <a:t>Web servers</a:t>
            </a:r>
          </a:p>
          <a:p>
            <a:endParaRPr lang="en-US" dirty="0"/>
          </a:p>
        </p:txBody>
      </p:sp>
      <p:sp>
        <p:nvSpPr>
          <p:cNvPr id="4" name="Footer Placeholder 3"/>
          <p:cNvSpPr>
            <a:spLocks noGrp="1"/>
          </p:cNvSpPr>
          <p:nvPr>
            <p:ph type="ftr" sz="quarter" idx="11"/>
          </p:nvPr>
        </p:nvSpPr>
        <p:spPr/>
        <p:txBody>
          <a:bodyPr/>
          <a:lstStyle/>
          <a:p>
            <a:r>
              <a:rPr lang="en-US" smtClean="0"/>
              <a:t>Jeremiah Kafakoma</a:t>
            </a:r>
            <a:endParaRPr lang="en-US"/>
          </a:p>
        </p:txBody>
      </p:sp>
      <p:sp>
        <p:nvSpPr>
          <p:cNvPr id="5" name="Slide Number Placeholder 4"/>
          <p:cNvSpPr>
            <a:spLocks noGrp="1"/>
          </p:cNvSpPr>
          <p:nvPr>
            <p:ph type="sldNum" sz="quarter" idx="12"/>
          </p:nvPr>
        </p:nvSpPr>
        <p:spPr/>
        <p:txBody>
          <a:bodyPr/>
          <a:lstStyle/>
          <a:p>
            <a:fld id="{AF99D367-8FDA-4A2F-9F0E-167FD1610AEF}" type="slidenum">
              <a:rPr lang="en-US" smtClean="0"/>
              <a:t>32</a:t>
            </a:fld>
            <a:endParaRPr lang="en-US"/>
          </a:p>
        </p:txBody>
      </p:sp>
    </p:spTree>
    <p:extLst>
      <p:ext uri="{BB962C8B-B14F-4D97-AF65-F5344CB8AC3E}">
        <p14:creationId xmlns:p14="http://schemas.microsoft.com/office/powerpoint/2010/main" val="1251309671"/>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Peer-to-Peer Networks - 1</a:t>
            </a:r>
          </a:p>
        </p:txBody>
      </p:sp>
      <p:pic>
        <p:nvPicPr>
          <p:cNvPr id="4" name="Content Placeholder 4" descr="peertopeer.jpg"/>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28347" y="1506170"/>
            <a:ext cx="4909530" cy="2767748"/>
          </a:xfrm>
        </p:spPr>
      </p:pic>
      <p:sp>
        <p:nvSpPr>
          <p:cNvPr id="5" name="Footer Placeholder 4"/>
          <p:cNvSpPr>
            <a:spLocks noGrp="1"/>
          </p:cNvSpPr>
          <p:nvPr>
            <p:ph type="ftr" sz="quarter" idx="11"/>
          </p:nvPr>
        </p:nvSpPr>
        <p:spPr/>
        <p:txBody>
          <a:bodyPr/>
          <a:lstStyle/>
          <a:p>
            <a:r>
              <a:rPr lang="en-US" smtClean="0"/>
              <a:t>Jeremiah Kafakoma</a:t>
            </a:r>
            <a:endParaRPr lang="en-US"/>
          </a:p>
        </p:txBody>
      </p:sp>
      <p:sp>
        <p:nvSpPr>
          <p:cNvPr id="6" name="Slide Number Placeholder 5"/>
          <p:cNvSpPr>
            <a:spLocks noGrp="1"/>
          </p:cNvSpPr>
          <p:nvPr>
            <p:ph type="sldNum" sz="quarter" idx="12"/>
          </p:nvPr>
        </p:nvSpPr>
        <p:spPr/>
        <p:txBody>
          <a:bodyPr/>
          <a:lstStyle/>
          <a:p>
            <a:fld id="{AF99D367-8FDA-4A2F-9F0E-167FD1610AEF}" type="slidenum">
              <a:rPr lang="en-US" smtClean="0"/>
              <a:t>33</a:t>
            </a:fld>
            <a:endParaRPr lang="en-US"/>
          </a:p>
        </p:txBody>
      </p:sp>
    </p:spTree>
    <p:extLst>
      <p:ext uri="{BB962C8B-B14F-4D97-AF65-F5344CB8AC3E}">
        <p14:creationId xmlns:p14="http://schemas.microsoft.com/office/powerpoint/2010/main" val="524465241"/>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1"/>
            <a:r>
              <a:rPr lang="en-US" dirty="0"/>
              <a:t>Works well in small networks</a:t>
            </a:r>
          </a:p>
          <a:p>
            <a:pPr lvl="1"/>
            <a:r>
              <a:rPr lang="en-US" dirty="0"/>
              <a:t>Every user acts as a network administrator.</a:t>
            </a:r>
          </a:p>
          <a:p>
            <a:pPr lvl="1"/>
            <a:r>
              <a:rPr lang="en-US" dirty="0"/>
              <a:t>Are flexible but can become chaotic as they grow</a:t>
            </a:r>
          </a:p>
          <a:p>
            <a:pPr lvl="1"/>
            <a:r>
              <a:rPr lang="en-US" dirty="0"/>
              <a:t>Security can be a major concern as it is difficult to enforce security across the whole network.</a:t>
            </a:r>
          </a:p>
          <a:p>
            <a:pPr lvl="1"/>
            <a:r>
              <a:rPr lang="en-US" dirty="0"/>
              <a:t>Computers can be grouped into workgroups.</a:t>
            </a:r>
          </a:p>
          <a:p>
            <a:pPr lvl="1"/>
            <a:r>
              <a:rPr lang="en-US" dirty="0"/>
              <a:t>As the network grows, it can be very difficult to manage.</a:t>
            </a:r>
          </a:p>
          <a:p>
            <a:pPr marL="114300" indent="0">
              <a:buNone/>
            </a:pPr>
            <a:endParaRPr lang="en-US" dirty="0"/>
          </a:p>
        </p:txBody>
      </p:sp>
      <p:sp>
        <p:nvSpPr>
          <p:cNvPr id="4" name="Footer Placeholder 3"/>
          <p:cNvSpPr>
            <a:spLocks noGrp="1"/>
          </p:cNvSpPr>
          <p:nvPr>
            <p:ph type="ftr" sz="quarter" idx="11"/>
          </p:nvPr>
        </p:nvSpPr>
        <p:spPr/>
        <p:txBody>
          <a:bodyPr/>
          <a:lstStyle/>
          <a:p>
            <a:r>
              <a:rPr lang="en-US" smtClean="0"/>
              <a:t>Jeremiah Kafakoma</a:t>
            </a:r>
            <a:endParaRPr lang="en-US"/>
          </a:p>
        </p:txBody>
      </p:sp>
      <p:sp>
        <p:nvSpPr>
          <p:cNvPr id="5" name="Slide Number Placeholder 4"/>
          <p:cNvSpPr>
            <a:spLocks noGrp="1"/>
          </p:cNvSpPr>
          <p:nvPr>
            <p:ph type="sldNum" sz="quarter" idx="12"/>
          </p:nvPr>
        </p:nvSpPr>
        <p:spPr/>
        <p:txBody>
          <a:bodyPr/>
          <a:lstStyle/>
          <a:p>
            <a:fld id="{AF99D367-8FDA-4A2F-9F0E-167FD1610AEF}" type="slidenum">
              <a:rPr lang="en-US" smtClean="0"/>
              <a:t>34</a:t>
            </a:fld>
            <a:endParaRPr lang="en-US"/>
          </a:p>
        </p:txBody>
      </p:sp>
    </p:spTree>
    <p:extLst>
      <p:ext uri="{BB962C8B-B14F-4D97-AF65-F5344CB8AC3E}">
        <p14:creationId xmlns:p14="http://schemas.microsoft.com/office/powerpoint/2010/main" val="115998561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Advantages of Peer-to-Peer</a:t>
            </a:r>
          </a:p>
        </p:txBody>
      </p:sp>
      <p:sp>
        <p:nvSpPr>
          <p:cNvPr id="3" name="Content Placeholder 2"/>
          <p:cNvSpPr>
            <a:spLocks noGrp="1"/>
          </p:cNvSpPr>
          <p:nvPr>
            <p:ph idx="1"/>
          </p:nvPr>
        </p:nvSpPr>
        <p:spPr/>
        <p:txBody>
          <a:bodyPr/>
          <a:lstStyle/>
          <a:p>
            <a:pPr lvl="1"/>
            <a:r>
              <a:rPr lang="en-US" dirty="0"/>
              <a:t>Easy to install and configure</a:t>
            </a:r>
          </a:p>
          <a:p>
            <a:pPr lvl="1"/>
            <a:r>
              <a:rPr lang="en-US" dirty="0"/>
              <a:t>Users control their own shared resources.</a:t>
            </a:r>
          </a:p>
          <a:p>
            <a:pPr lvl="1"/>
            <a:r>
              <a:rPr lang="en-US" dirty="0"/>
              <a:t>Inexpensive to purchase and operate</a:t>
            </a:r>
          </a:p>
          <a:p>
            <a:pPr lvl="1"/>
            <a:r>
              <a:rPr lang="en-US" dirty="0"/>
              <a:t>Need no additional equipment or software</a:t>
            </a:r>
          </a:p>
          <a:p>
            <a:pPr lvl="1"/>
            <a:r>
              <a:rPr lang="en-US" dirty="0"/>
              <a:t>No dedicated administrators are needed.</a:t>
            </a:r>
          </a:p>
          <a:p>
            <a:endParaRPr lang="en-US" dirty="0"/>
          </a:p>
        </p:txBody>
      </p:sp>
      <p:sp>
        <p:nvSpPr>
          <p:cNvPr id="4" name="Footer Placeholder 3"/>
          <p:cNvSpPr>
            <a:spLocks noGrp="1"/>
          </p:cNvSpPr>
          <p:nvPr>
            <p:ph type="ftr" sz="quarter" idx="11"/>
          </p:nvPr>
        </p:nvSpPr>
        <p:spPr/>
        <p:txBody>
          <a:bodyPr/>
          <a:lstStyle/>
          <a:p>
            <a:r>
              <a:rPr lang="en-US" smtClean="0"/>
              <a:t>Jeremiah Kafakoma</a:t>
            </a:r>
            <a:endParaRPr lang="en-US"/>
          </a:p>
        </p:txBody>
      </p:sp>
      <p:sp>
        <p:nvSpPr>
          <p:cNvPr id="5" name="Slide Number Placeholder 4"/>
          <p:cNvSpPr>
            <a:spLocks noGrp="1"/>
          </p:cNvSpPr>
          <p:nvPr>
            <p:ph type="sldNum" sz="quarter" idx="12"/>
          </p:nvPr>
        </p:nvSpPr>
        <p:spPr/>
        <p:txBody>
          <a:bodyPr/>
          <a:lstStyle/>
          <a:p>
            <a:fld id="{AF99D367-8FDA-4A2F-9F0E-167FD1610AEF}" type="slidenum">
              <a:rPr lang="en-US" smtClean="0"/>
              <a:t>35</a:t>
            </a:fld>
            <a:endParaRPr lang="en-US"/>
          </a:p>
        </p:txBody>
      </p:sp>
    </p:spTree>
    <p:extLst>
      <p:ext uri="{BB962C8B-B14F-4D97-AF65-F5344CB8AC3E}">
        <p14:creationId xmlns:p14="http://schemas.microsoft.com/office/powerpoint/2010/main" val="1998401281"/>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disadvantages</a:t>
            </a:r>
            <a:endParaRPr lang="en-US" dirty="0"/>
          </a:p>
        </p:txBody>
      </p:sp>
      <p:sp>
        <p:nvSpPr>
          <p:cNvPr id="3" name="Content Placeholder 2"/>
          <p:cNvSpPr>
            <a:spLocks noGrp="1"/>
          </p:cNvSpPr>
          <p:nvPr>
            <p:ph idx="1"/>
          </p:nvPr>
        </p:nvSpPr>
        <p:spPr/>
        <p:txBody>
          <a:bodyPr/>
          <a:lstStyle/>
          <a:p>
            <a:pPr lvl="1">
              <a:lnSpc>
                <a:spcPct val="83000"/>
              </a:lnSpc>
            </a:pPr>
            <a:r>
              <a:rPr lang="en-US" dirty="0"/>
              <a:t>Security applied resource by resource</a:t>
            </a:r>
          </a:p>
          <a:p>
            <a:pPr lvl="1">
              <a:lnSpc>
                <a:spcPct val="83000"/>
              </a:lnSpc>
            </a:pPr>
            <a:r>
              <a:rPr lang="en-US" dirty="0"/>
              <a:t>May need as many passwords as there are shared resources</a:t>
            </a:r>
          </a:p>
          <a:p>
            <a:pPr lvl="1">
              <a:lnSpc>
                <a:spcPct val="83000"/>
              </a:lnSpc>
            </a:pPr>
            <a:r>
              <a:rPr lang="en-US" dirty="0"/>
              <a:t>Each PC must be backed up to protect shared data.</a:t>
            </a:r>
          </a:p>
          <a:p>
            <a:pPr lvl="1">
              <a:lnSpc>
                <a:spcPct val="83000"/>
              </a:lnSpc>
            </a:pPr>
            <a:r>
              <a:rPr lang="en-US" dirty="0"/>
              <a:t>PC performance is reduced when a shared resource is accessed.</a:t>
            </a:r>
          </a:p>
          <a:p>
            <a:pPr lvl="1">
              <a:lnSpc>
                <a:spcPct val="83000"/>
              </a:lnSpc>
            </a:pPr>
            <a:r>
              <a:rPr lang="en-US" dirty="0"/>
              <a:t>No </a:t>
            </a:r>
            <a:r>
              <a:rPr lang="en-US" dirty="0" smtClean="0"/>
              <a:t>centralized </a:t>
            </a:r>
            <a:r>
              <a:rPr lang="en-US" dirty="0"/>
              <a:t>approach to store or control access to data.</a:t>
            </a:r>
          </a:p>
          <a:p>
            <a:pPr lvl="1">
              <a:lnSpc>
                <a:spcPct val="83000"/>
              </a:lnSpc>
            </a:pPr>
            <a:r>
              <a:rPr lang="en-US" dirty="0"/>
              <a:t>No access to a resource if PC storing it is unavailable</a:t>
            </a:r>
          </a:p>
          <a:p>
            <a:endParaRPr lang="en-US" dirty="0"/>
          </a:p>
        </p:txBody>
      </p:sp>
      <p:sp>
        <p:nvSpPr>
          <p:cNvPr id="4" name="Footer Placeholder 3"/>
          <p:cNvSpPr>
            <a:spLocks noGrp="1"/>
          </p:cNvSpPr>
          <p:nvPr>
            <p:ph type="ftr" sz="quarter" idx="11"/>
          </p:nvPr>
        </p:nvSpPr>
        <p:spPr/>
        <p:txBody>
          <a:bodyPr/>
          <a:lstStyle/>
          <a:p>
            <a:r>
              <a:rPr lang="en-US" smtClean="0"/>
              <a:t>Jeremiah Kafakoma</a:t>
            </a:r>
            <a:endParaRPr lang="en-US"/>
          </a:p>
        </p:txBody>
      </p:sp>
      <p:sp>
        <p:nvSpPr>
          <p:cNvPr id="5" name="Slide Number Placeholder 4"/>
          <p:cNvSpPr>
            <a:spLocks noGrp="1"/>
          </p:cNvSpPr>
          <p:nvPr>
            <p:ph type="sldNum" sz="quarter" idx="12"/>
          </p:nvPr>
        </p:nvSpPr>
        <p:spPr/>
        <p:txBody>
          <a:bodyPr/>
          <a:lstStyle/>
          <a:p>
            <a:fld id="{AF99D367-8FDA-4A2F-9F0E-167FD1610AEF}" type="slidenum">
              <a:rPr lang="en-US" smtClean="0"/>
              <a:t>36</a:t>
            </a:fld>
            <a:endParaRPr lang="en-US"/>
          </a:p>
        </p:txBody>
      </p:sp>
    </p:spTree>
    <p:extLst>
      <p:ext uri="{BB962C8B-B14F-4D97-AF65-F5344CB8AC3E}">
        <p14:creationId xmlns:p14="http://schemas.microsoft.com/office/powerpoint/2010/main" val="356493706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Client-Server Networks - 1</a:t>
            </a:r>
          </a:p>
        </p:txBody>
      </p:sp>
      <p:pic>
        <p:nvPicPr>
          <p:cNvPr id="4" name="Content Placeholder 4" descr="serverclient1.png"/>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41078" y="1623942"/>
            <a:ext cx="3484068" cy="2532203"/>
          </a:xfrm>
        </p:spPr>
      </p:pic>
      <p:sp>
        <p:nvSpPr>
          <p:cNvPr id="5" name="Footer Placeholder 4"/>
          <p:cNvSpPr>
            <a:spLocks noGrp="1"/>
          </p:cNvSpPr>
          <p:nvPr>
            <p:ph type="ftr" sz="quarter" idx="11"/>
          </p:nvPr>
        </p:nvSpPr>
        <p:spPr/>
        <p:txBody>
          <a:bodyPr/>
          <a:lstStyle/>
          <a:p>
            <a:r>
              <a:rPr lang="en-US" smtClean="0"/>
              <a:t>Jeremiah Kafakoma</a:t>
            </a:r>
            <a:endParaRPr lang="en-US"/>
          </a:p>
        </p:txBody>
      </p:sp>
      <p:sp>
        <p:nvSpPr>
          <p:cNvPr id="6" name="Slide Number Placeholder 5"/>
          <p:cNvSpPr>
            <a:spLocks noGrp="1"/>
          </p:cNvSpPr>
          <p:nvPr>
            <p:ph type="sldNum" sz="quarter" idx="12"/>
          </p:nvPr>
        </p:nvSpPr>
        <p:spPr/>
        <p:txBody>
          <a:bodyPr/>
          <a:lstStyle/>
          <a:p>
            <a:fld id="{AF99D367-8FDA-4A2F-9F0E-167FD1610AEF}" type="slidenum">
              <a:rPr lang="en-US" smtClean="0"/>
              <a:t>37</a:t>
            </a:fld>
            <a:endParaRPr lang="en-US"/>
          </a:p>
        </p:txBody>
      </p:sp>
    </p:spTree>
    <p:extLst>
      <p:ext uri="{BB962C8B-B14F-4D97-AF65-F5344CB8AC3E}">
        <p14:creationId xmlns:p14="http://schemas.microsoft.com/office/powerpoint/2010/main" val="2189098604"/>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Client-Server Networks - 2</a:t>
            </a:r>
          </a:p>
        </p:txBody>
      </p:sp>
      <p:sp>
        <p:nvSpPr>
          <p:cNvPr id="3" name="Content Placeholder 2"/>
          <p:cNvSpPr>
            <a:spLocks noGrp="1"/>
          </p:cNvSpPr>
          <p:nvPr>
            <p:ph idx="1"/>
          </p:nvPr>
        </p:nvSpPr>
        <p:spPr/>
        <p:txBody>
          <a:bodyPr>
            <a:normAutofit/>
          </a:bodyPr>
          <a:lstStyle/>
          <a:p>
            <a:pPr lvl="1"/>
            <a:r>
              <a:rPr lang="en-US" dirty="0"/>
              <a:t>Works well in larger networks</a:t>
            </a:r>
          </a:p>
          <a:p>
            <a:pPr lvl="1"/>
            <a:r>
              <a:rPr lang="en-US" dirty="0"/>
              <a:t>Central server provides services and files</a:t>
            </a:r>
          </a:p>
          <a:p>
            <a:pPr lvl="1"/>
            <a:r>
              <a:rPr lang="en-US" dirty="0"/>
              <a:t>Server-based networks are the most common.</a:t>
            </a:r>
          </a:p>
          <a:p>
            <a:pPr lvl="1"/>
            <a:r>
              <a:rPr lang="en-US" dirty="0"/>
              <a:t>Servers can have specific functions, e.g.</a:t>
            </a:r>
          </a:p>
          <a:p>
            <a:pPr lvl="1"/>
            <a:endParaRPr lang="en-US" sz="800" dirty="0"/>
          </a:p>
          <a:p>
            <a:pPr lvl="2"/>
            <a:r>
              <a:rPr lang="en-US" sz="2600" dirty="0"/>
              <a:t>File</a:t>
            </a:r>
          </a:p>
          <a:p>
            <a:pPr lvl="2"/>
            <a:r>
              <a:rPr lang="en-US" sz="2600" dirty="0"/>
              <a:t>Print</a:t>
            </a:r>
          </a:p>
          <a:p>
            <a:pPr lvl="1"/>
            <a:r>
              <a:rPr lang="en-US" dirty="0"/>
              <a:t>Clients may be standard PCs or thin-clients with no storage media.</a:t>
            </a:r>
          </a:p>
          <a:p>
            <a:endParaRPr lang="en-US" dirty="0"/>
          </a:p>
        </p:txBody>
      </p:sp>
      <p:sp>
        <p:nvSpPr>
          <p:cNvPr id="4" name="Footer Placeholder 3"/>
          <p:cNvSpPr>
            <a:spLocks noGrp="1"/>
          </p:cNvSpPr>
          <p:nvPr>
            <p:ph type="ftr" sz="quarter" idx="11"/>
          </p:nvPr>
        </p:nvSpPr>
        <p:spPr/>
        <p:txBody>
          <a:bodyPr/>
          <a:lstStyle/>
          <a:p>
            <a:r>
              <a:rPr lang="en-US" smtClean="0"/>
              <a:t>Jeremiah Kafakoma</a:t>
            </a:r>
            <a:endParaRPr lang="en-US"/>
          </a:p>
        </p:txBody>
      </p:sp>
      <p:sp>
        <p:nvSpPr>
          <p:cNvPr id="5" name="Slide Number Placeholder 4"/>
          <p:cNvSpPr>
            <a:spLocks noGrp="1"/>
          </p:cNvSpPr>
          <p:nvPr>
            <p:ph type="sldNum" sz="quarter" idx="12"/>
          </p:nvPr>
        </p:nvSpPr>
        <p:spPr/>
        <p:txBody>
          <a:bodyPr/>
          <a:lstStyle/>
          <a:p>
            <a:fld id="{AF99D367-8FDA-4A2F-9F0E-167FD1610AEF}" type="slidenum">
              <a:rPr lang="en-US" smtClean="0"/>
              <a:t>38</a:t>
            </a:fld>
            <a:endParaRPr lang="en-US"/>
          </a:p>
        </p:txBody>
      </p:sp>
    </p:spTree>
    <p:extLst>
      <p:ext uri="{BB962C8B-B14F-4D97-AF65-F5344CB8AC3E}">
        <p14:creationId xmlns:p14="http://schemas.microsoft.com/office/powerpoint/2010/main" val="132197107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Advantages of client-server</a:t>
            </a:r>
            <a:endParaRPr lang="en-US" dirty="0"/>
          </a:p>
        </p:txBody>
      </p:sp>
      <p:sp>
        <p:nvSpPr>
          <p:cNvPr id="3" name="Content Placeholder 2"/>
          <p:cNvSpPr>
            <a:spLocks noGrp="1"/>
          </p:cNvSpPr>
          <p:nvPr>
            <p:ph idx="1"/>
          </p:nvPr>
        </p:nvSpPr>
        <p:spPr/>
        <p:txBody>
          <a:bodyPr/>
          <a:lstStyle/>
          <a:p>
            <a:pPr lvl="1"/>
            <a:r>
              <a:rPr lang="en-US" dirty="0"/>
              <a:t>Network administration simplified by centrally controlled user accounts, security, etc.</a:t>
            </a:r>
          </a:p>
          <a:p>
            <a:pPr lvl="1"/>
            <a:r>
              <a:rPr lang="en-US" dirty="0"/>
              <a:t>More efficient access to resources</a:t>
            </a:r>
          </a:p>
          <a:p>
            <a:pPr lvl="1"/>
            <a:r>
              <a:rPr lang="en-US" dirty="0"/>
              <a:t>Server hardware design is more robust </a:t>
            </a:r>
          </a:p>
          <a:p>
            <a:pPr lvl="1"/>
            <a:r>
              <a:rPr lang="en-US" dirty="0"/>
              <a:t>A single password gives access to network-wide resources. </a:t>
            </a:r>
          </a:p>
          <a:p>
            <a:pPr lvl="1"/>
            <a:r>
              <a:rPr lang="en-US" dirty="0"/>
              <a:t>Used for networks with 10 or more users or any networks with high usage</a:t>
            </a:r>
          </a:p>
          <a:p>
            <a:endParaRPr lang="en-US" dirty="0"/>
          </a:p>
        </p:txBody>
      </p:sp>
      <p:sp>
        <p:nvSpPr>
          <p:cNvPr id="4" name="Footer Placeholder 3"/>
          <p:cNvSpPr>
            <a:spLocks noGrp="1"/>
          </p:cNvSpPr>
          <p:nvPr>
            <p:ph type="ftr" sz="quarter" idx="11"/>
          </p:nvPr>
        </p:nvSpPr>
        <p:spPr/>
        <p:txBody>
          <a:bodyPr/>
          <a:lstStyle/>
          <a:p>
            <a:r>
              <a:rPr lang="en-US" smtClean="0"/>
              <a:t>Jeremiah Kafakoma</a:t>
            </a:r>
            <a:endParaRPr lang="en-US"/>
          </a:p>
        </p:txBody>
      </p:sp>
      <p:sp>
        <p:nvSpPr>
          <p:cNvPr id="5" name="Slide Number Placeholder 4"/>
          <p:cNvSpPr>
            <a:spLocks noGrp="1"/>
          </p:cNvSpPr>
          <p:nvPr>
            <p:ph type="sldNum" sz="quarter" idx="12"/>
          </p:nvPr>
        </p:nvSpPr>
        <p:spPr/>
        <p:txBody>
          <a:bodyPr/>
          <a:lstStyle/>
          <a:p>
            <a:fld id="{AF99D367-8FDA-4A2F-9F0E-167FD1610AEF}" type="slidenum">
              <a:rPr lang="en-US" smtClean="0"/>
              <a:t>39</a:t>
            </a:fld>
            <a:endParaRPr lang="en-US"/>
          </a:p>
        </p:txBody>
      </p:sp>
    </p:spTree>
    <p:extLst>
      <p:ext uri="{BB962C8B-B14F-4D97-AF65-F5344CB8AC3E}">
        <p14:creationId xmlns:p14="http://schemas.microsoft.com/office/powerpoint/2010/main" val="3420341993"/>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disadvantages</a:t>
            </a:r>
            <a:endParaRPr lang="en-US" dirty="0"/>
          </a:p>
        </p:txBody>
      </p:sp>
      <p:sp>
        <p:nvSpPr>
          <p:cNvPr id="3" name="Content Placeholder 2"/>
          <p:cNvSpPr>
            <a:spLocks noGrp="1"/>
          </p:cNvSpPr>
          <p:nvPr>
            <p:ph idx="1"/>
          </p:nvPr>
        </p:nvSpPr>
        <p:spPr/>
        <p:txBody>
          <a:bodyPr>
            <a:normAutofit/>
          </a:bodyPr>
          <a:lstStyle/>
          <a:p>
            <a:pPr lvl="1">
              <a:lnSpc>
                <a:spcPct val="83000"/>
              </a:lnSpc>
            </a:pPr>
            <a:r>
              <a:rPr lang="en-US" dirty="0"/>
              <a:t>Server failure causes major problems:</a:t>
            </a:r>
          </a:p>
          <a:p>
            <a:pPr lvl="1">
              <a:lnSpc>
                <a:spcPct val="83000"/>
              </a:lnSpc>
            </a:pPr>
            <a:endParaRPr lang="en-US" sz="800" dirty="0"/>
          </a:p>
          <a:p>
            <a:pPr lvl="1">
              <a:lnSpc>
                <a:spcPct val="83000"/>
              </a:lnSpc>
            </a:pPr>
            <a:endParaRPr lang="en-US" sz="800" dirty="0"/>
          </a:p>
          <a:p>
            <a:pPr lvl="2">
              <a:lnSpc>
                <a:spcPct val="83000"/>
              </a:lnSpc>
            </a:pPr>
            <a:r>
              <a:rPr lang="en-US" sz="2600" dirty="0"/>
              <a:t>May make whole network unusable</a:t>
            </a:r>
          </a:p>
          <a:p>
            <a:pPr lvl="2">
              <a:lnSpc>
                <a:spcPct val="83000"/>
              </a:lnSpc>
            </a:pPr>
            <a:r>
              <a:rPr lang="en-US" sz="2600" dirty="0"/>
              <a:t>Will at least result in loss of network resources </a:t>
            </a:r>
          </a:p>
          <a:p>
            <a:pPr lvl="1">
              <a:lnSpc>
                <a:spcPct val="83000"/>
              </a:lnSpc>
            </a:pPr>
            <a:r>
              <a:rPr lang="en-US" dirty="0"/>
              <a:t>Complex server software</a:t>
            </a:r>
          </a:p>
          <a:p>
            <a:pPr lvl="1">
              <a:lnSpc>
                <a:spcPct val="83000"/>
              </a:lnSpc>
            </a:pPr>
            <a:endParaRPr lang="en-US" sz="800" dirty="0"/>
          </a:p>
          <a:p>
            <a:pPr lvl="1">
              <a:lnSpc>
                <a:spcPct val="83000"/>
              </a:lnSpc>
            </a:pPr>
            <a:endParaRPr lang="en-US" sz="800" dirty="0"/>
          </a:p>
          <a:p>
            <a:pPr lvl="2">
              <a:lnSpc>
                <a:spcPct val="83000"/>
              </a:lnSpc>
            </a:pPr>
            <a:r>
              <a:rPr lang="en-US" sz="2600" dirty="0"/>
              <a:t>Requires allocating expert staff</a:t>
            </a:r>
          </a:p>
          <a:p>
            <a:pPr lvl="2">
              <a:lnSpc>
                <a:spcPct val="83000"/>
              </a:lnSpc>
            </a:pPr>
            <a:r>
              <a:rPr lang="en-US" sz="2600" dirty="0"/>
              <a:t>Increases costs </a:t>
            </a:r>
          </a:p>
          <a:p>
            <a:pPr lvl="1">
              <a:lnSpc>
                <a:spcPct val="83000"/>
              </a:lnSpc>
            </a:pPr>
            <a:r>
              <a:rPr lang="en-US" dirty="0"/>
              <a:t>Dedicated hardware and </a:t>
            </a:r>
            <a:r>
              <a:rPr lang="en-US" dirty="0" smtClean="0"/>
              <a:t>specialized </a:t>
            </a:r>
            <a:r>
              <a:rPr lang="en-US" dirty="0"/>
              <a:t>software add to the cost of server-based networking.</a:t>
            </a:r>
          </a:p>
          <a:p>
            <a:endParaRPr lang="en-US" dirty="0" smtClean="0"/>
          </a:p>
          <a:p>
            <a:endParaRPr lang="en-US" dirty="0"/>
          </a:p>
        </p:txBody>
      </p:sp>
      <p:sp>
        <p:nvSpPr>
          <p:cNvPr id="4" name="Footer Placeholder 3"/>
          <p:cNvSpPr>
            <a:spLocks noGrp="1"/>
          </p:cNvSpPr>
          <p:nvPr>
            <p:ph type="ftr" sz="quarter" idx="11"/>
          </p:nvPr>
        </p:nvSpPr>
        <p:spPr/>
        <p:txBody>
          <a:bodyPr/>
          <a:lstStyle/>
          <a:p>
            <a:r>
              <a:rPr lang="en-US" smtClean="0"/>
              <a:t>Jeremiah Kafakoma</a:t>
            </a:r>
            <a:endParaRPr lang="en-US"/>
          </a:p>
        </p:txBody>
      </p:sp>
      <p:sp>
        <p:nvSpPr>
          <p:cNvPr id="5" name="Slide Number Placeholder 4"/>
          <p:cNvSpPr>
            <a:spLocks noGrp="1"/>
          </p:cNvSpPr>
          <p:nvPr>
            <p:ph type="sldNum" sz="quarter" idx="12"/>
          </p:nvPr>
        </p:nvSpPr>
        <p:spPr/>
        <p:txBody>
          <a:bodyPr/>
          <a:lstStyle/>
          <a:p>
            <a:fld id="{AF99D367-8FDA-4A2F-9F0E-167FD1610AEF}" type="slidenum">
              <a:rPr lang="en-US" smtClean="0"/>
              <a:t>40</a:t>
            </a:fld>
            <a:endParaRPr lang="en-US"/>
          </a:p>
        </p:txBody>
      </p:sp>
    </p:spTree>
    <p:extLst>
      <p:ext uri="{BB962C8B-B14F-4D97-AF65-F5344CB8AC3E}">
        <p14:creationId xmlns:p14="http://schemas.microsoft.com/office/powerpoint/2010/main" val="1446590914"/>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Ethernet Issues</a:t>
            </a:r>
            <a:endParaRPr lang="en-US" dirty="0"/>
          </a:p>
        </p:txBody>
      </p:sp>
      <p:sp>
        <p:nvSpPr>
          <p:cNvPr id="3" name="Content Placeholder 2"/>
          <p:cNvSpPr>
            <a:spLocks noGrp="1"/>
          </p:cNvSpPr>
          <p:nvPr>
            <p:ph idx="1"/>
          </p:nvPr>
        </p:nvSpPr>
        <p:spPr/>
        <p:txBody>
          <a:bodyPr>
            <a:normAutofit fontScale="92500"/>
          </a:bodyPr>
          <a:lstStyle/>
          <a:p>
            <a:pPr marL="777875" lvl="1" indent="-514350"/>
            <a:r>
              <a:rPr lang="en-GB" dirty="0"/>
              <a:t>Cable breaks</a:t>
            </a:r>
          </a:p>
          <a:p>
            <a:pPr marL="1311275" lvl="2" indent="-514350"/>
            <a:r>
              <a:rPr lang="en-GB" sz="2600" dirty="0"/>
              <a:t>What happens if there is a break in the cable?</a:t>
            </a:r>
          </a:p>
          <a:p>
            <a:pPr marL="777875" lvl="1" indent="-514350"/>
            <a:r>
              <a:rPr lang="en-GB" dirty="0"/>
              <a:t>Signal reflection</a:t>
            </a:r>
          </a:p>
          <a:p>
            <a:pPr marL="1311275" lvl="2" indent="-514350"/>
            <a:r>
              <a:rPr lang="en-GB" sz="2600" dirty="0"/>
              <a:t>A message is an electrical signal. What happens when it reaches the end of the cable?</a:t>
            </a:r>
          </a:p>
          <a:p>
            <a:pPr marL="777875" lvl="1" indent="-514350"/>
            <a:r>
              <a:rPr lang="en-GB" dirty="0"/>
              <a:t>Collisions</a:t>
            </a:r>
          </a:p>
          <a:p>
            <a:pPr marL="1311275" lvl="2" indent="-514350"/>
            <a:r>
              <a:rPr lang="en-GB" sz="2600" dirty="0"/>
              <a:t>How does the network determine who has the right to send a message? What happens if two nodes send messages at the same time?</a:t>
            </a:r>
          </a:p>
          <a:p>
            <a:endParaRPr lang="en-US" dirty="0"/>
          </a:p>
        </p:txBody>
      </p:sp>
      <p:sp>
        <p:nvSpPr>
          <p:cNvPr id="4" name="Footer Placeholder 3"/>
          <p:cNvSpPr>
            <a:spLocks noGrp="1"/>
          </p:cNvSpPr>
          <p:nvPr>
            <p:ph type="ftr" sz="quarter" idx="11"/>
          </p:nvPr>
        </p:nvSpPr>
        <p:spPr/>
        <p:txBody>
          <a:bodyPr/>
          <a:lstStyle/>
          <a:p>
            <a:r>
              <a:rPr lang="en-US" smtClean="0"/>
              <a:t>Jeremiah Kafakoma</a:t>
            </a:r>
            <a:endParaRPr lang="en-US"/>
          </a:p>
        </p:txBody>
      </p:sp>
      <p:sp>
        <p:nvSpPr>
          <p:cNvPr id="5" name="Slide Number Placeholder 4"/>
          <p:cNvSpPr>
            <a:spLocks noGrp="1"/>
          </p:cNvSpPr>
          <p:nvPr>
            <p:ph type="sldNum" sz="quarter" idx="12"/>
          </p:nvPr>
        </p:nvSpPr>
        <p:spPr/>
        <p:txBody>
          <a:bodyPr/>
          <a:lstStyle/>
          <a:p>
            <a:fld id="{AF99D367-8FDA-4A2F-9F0E-167FD1610AEF}" type="slidenum">
              <a:rPr lang="en-US" smtClean="0"/>
              <a:t>41</a:t>
            </a:fld>
            <a:endParaRPr lang="en-US"/>
          </a:p>
        </p:txBody>
      </p:sp>
    </p:spTree>
    <p:extLst>
      <p:ext uri="{BB962C8B-B14F-4D97-AF65-F5344CB8AC3E}">
        <p14:creationId xmlns:p14="http://schemas.microsoft.com/office/powerpoint/2010/main" val="194211245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Cable Breaks</a:t>
            </a:r>
            <a:endParaRPr lang="en-US" dirty="0"/>
          </a:p>
        </p:txBody>
      </p:sp>
      <p:sp>
        <p:nvSpPr>
          <p:cNvPr id="3" name="Content Placeholder 2"/>
          <p:cNvSpPr>
            <a:spLocks noGrp="1"/>
          </p:cNvSpPr>
          <p:nvPr>
            <p:ph idx="1"/>
          </p:nvPr>
        </p:nvSpPr>
        <p:spPr/>
        <p:txBody>
          <a:bodyPr/>
          <a:lstStyle/>
          <a:p>
            <a:pPr marL="342900" lvl="1">
              <a:buClr>
                <a:schemeClr val="accent1"/>
              </a:buClr>
            </a:pPr>
            <a:r>
              <a:rPr lang="en-GB" dirty="0"/>
              <a:t>There is a split in the network, so communication is impossible between the two sections.</a:t>
            </a:r>
          </a:p>
          <a:p>
            <a:endParaRPr lang="en-US" dirty="0"/>
          </a:p>
        </p:txBody>
      </p:sp>
      <p:sp>
        <p:nvSpPr>
          <p:cNvPr id="5" name="Footer Placeholder 4"/>
          <p:cNvSpPr>
            <a:spLocks noGrp="1"/>
          </p:cNvSpPr>
          <p:nvPr>
            <p:ph type="ftr" sz="quarter" idx="11"/>
          </p:nvPr>
        </p:nvSpPr>
        <p:spPr/>
        <p:txBody>
          <a:bodyPr/>
          <a:lstStyle/>
          <a:p>
            <a:r>
              <a:rPr lang="en-US" smtClean="0"/>
              <a:t>Jeremiah Kafakoma</a:t>
            </a:r>
            <a:endParaRPr lang="en-US"/>
          </a:p>
        </p:txBody>
      </p:sp>
      <p:sp>
        <p:nvSpPr>
          <p:cNvPr id="6" name="Slide Number Placeholder 5"/>
          <p:cNvSpPr>
            <a:spLocks noGrp="1"/>
          </p:cNvSpPr>
          <p:nvPr>
            <p:ph type="sldNum" sz="quarter" idx="12"/>
          </p:nvPr>
        </p:nvSpPr>
        <p:spPr/>
        <p:txBody>
          <a:bodyPr/>
          <a:lstStyle/>
          <a:p>
            <a:fld id="{AF99D367-8FDA-4A2F-9F0E-167FD1610AEF}" type="slidenum">
              <a:rPr lang="en-US" smtClean="0"/>
              <a:t>42</a:t>
            </a:fld>
            <a:endParaRPr lang="en-US"/>
          </a:p>
        </p:txBody>
      </p:sp>
      <p:pic>
        <p:nvPicPr>
          <p:cNvPr id="4" name="Picture 3" descr="bus1.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124075" y="2924175"/>
            <a:ext cx="4881563" cy="2751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1064542"/>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Signal Reflection</a:t>
            </a:r>
            <a:endParaRPr lang="en-US" dirty="0"/>
          </a:p>
        </p:txBody>
      </p:sp>
      <p:sp>
        <p:nvSpPr>
          <p:cNvPr id="3" name="Content Placeholder 2"/>
          <p:cNvSpPr>
            <a:spLocks noGrp="1"/>
          </p:cNvSpPr>
          <p:nvPr>
            <p:ph idx="1"/>
          </p:nvPr>
        </p:nvSpPr>
        <p:spPr/>
        <p:txBody>
          <a:bodyPr/>
          <a:lstStyle/>
          <a:p>
            <a:pPr marL="777875" lvl="1" indent="-514350"/>
            <a:r>
              <a:rPr lang="en-GB" dirty="0"/>
              <a:t>The messages passed are simple electrical signals</a:t>
            </a:r>
          </a:p>
          <a:p>
            <a:pPr marL="777875" lvl="1" indent="-514350"/>
            <a:r>
              <a:rPr lang="en-GB" dirty="0"/>
              <a:t>These will be reflected at cable ends and appear as a collision</a:t>
            </a:r>
          </a:p>
          <a:p>
            <a:endParaRPr lang="en-US" dirty="0"/>
          </a:p>
        </p:txBody>
      </p:sp>
      <p:sp>
        <p:nvSpPr>
          <p:cNvPr id="5" name="Footer Placeholder 4"/>
          <p:cNvSpPr>
            <a:spLocks noGrp="1"/>
          </p:cNvSpPr>
          <p:nvPr>
            <p:ph type="ftr" sz="quarter" idx="11"/>
          </p:nvPr>
        </p:nvSpPr>
        <p:spPr/>
        <p:txBody>
          <a:bodyPr/>
          <a:lstStyle/>
          <a:p>
            <a:r>
              <a:rPr lang="en-US" smtClean="0"/>
              <a:t>Jeremiah Kafakoma</a:t>
            </a:r>
            <a:endParaRPr lang="en-US"/>
          </a:p>
        </p:txBody>
      </p:sp>
      <p:sp>
        <p:nvSpPr>
          <p:cNvPr id="6" name="Slide Number Placeholder 5"/>
          <p:cNvSpPr>
            <a:spLocks noGrp="1"/>
          </p:cNvSpPr>
          <p:nvPr>
            <p:ph type="sldNum" sz="quarter" idx="12"/>
          </p:nvPr>
        </p:nvSpPr>
        <p:spPr/>
        <p:txBody>
          <a:bodyPr/>
          <a:lstStyle/>
          <a:p>
            <a:fld id="{AF99D367-8FDA-4A2F-9F0E-167FD1610AEF}" type="slidenum">
              <a:rPr lang="en-US" smtClean="0"/>
              <a:t>43</a:t>
            </a:fld>
            <a:endParaRPr lang="en-US"/>
          </a:p>
        </p:txBody>
      </p:sp>
      <p:pic>
        <p:nvPicPr>
          <p:cNvPr id="4" name="Picture 3" descr="bus2.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124075" y="3213100"/>
            <a:ext cx="4881563" cy="2751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7651019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Cable Termination</a:t>
            </a:r>
            <a:endParaRPr lang="en-US" dirty="0"/>
          </a:p>
        </p:txBody>
      </p:sp>
      <p:sp>
        <p:nvSpPr>
          <p:cNvPr id="3" name="Content Placeholder 2"/>
          <p:cNvSpPr>
            <a:spLocks noGrp="1"/>
          </p:cNvSpPr>
          <p:nvPr>
            <p:ph idx="1"/>
          </p:nvPr>
        </p:nvSpPr>
        <p:spPr/>
        <p:txBody>
          <a:bodyPr/>
          <a:lstStyle/>
          <a:p>
            <a:pPr marL="777875" lvl="1" indent="-514350"/>
            <a:r>
              <a:rPr lang="en-GB" dirty="0"/>
              <a:t>Reflection is prevented by having the cable terminated with a resistor</a:t>
            </a:r>
          </a:p>
          <a:p>
            <a:pPr marL="777875" lvl="1" indent="-514350"/>
            <a:r>
              <a:rPr lang="en-GB" dirty="0"/>
              <a:t>This dissipates the signal and prevents reflection</a:t>
            </a:r>
          </a:p>
          <a:p>
            <a:endParaRPr lang="en-US" dirty="0"/>
          </a:p>
        </p:txBody>
      </p:sp>
      <p:sp>
        <p:nvSpPr>
          <p:cNvPr id="5" name="Footer Placeholder 4"/>
          <p:cNvSpPr>
            <a:spLocks noGrp="1"/>
          </p:cNvSpPr>
          <p:nvPr>
            <p:ph type="ftr" sz="quarter" idx="11"/>
          </p:nvPr>
        </p:nvSpPr>
        <p:spPr/>
        <p:txBody>
          <a:bodyPr/>
          <a:lstStyle/>
          <a:p>
            <a:r>
              <a:rPr lang="en-US" smtClean="0"/>
              <a:t>Jeremiah Kafakoma</a:t>
            </a:r>
            <a:endParaRPr lang="en-US"/>
          </a:p>
        </p:txBody>
      </p:sp>
      <p:sp>
        <p:nvSpPr>
          <p:cNvPr id="6" name="Slide Number Placeholder 5"/>
          <p:cNvSpPr>
            <a:spLocks noGrp="1"/>
          </p:cNvSpPr>
          <p:nvPr>
            <p:ph type="sldNum" sz="quarter" idx="12"/>
          </p:nvPr>
        </p:nvSpPr>
        <p:spPr/>
        <p:txBody>
          <a:bodyPr/>
          <a:lstStyle/>
          <a:p>
            <a:fld id="{AF99D367-8FDA-4A2F-9F0E-167FD1610AEF}" type="slidenum">
              <a:rPr lang="en-US" smtClean="0"/>
              <a:t>44</a:t>
            </a:fld>
            <a:endParaRPr lang="en-US"/>
          </a:p>
        </p:txBody>
      </p:sp>
      <p:pic>
        <p:nvPicPr>
          <p:cNvPr id="4" name="Picture 3" descr="bus3.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908175" y="3068638"/>
            <a:ext cx="4881563" cy="275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0870456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Topology </a:t>
            </a:r>
            <a:endParaRPr lang="en-US" dirty="0"/>
          </a:p>
        </p:txBody>
      </p:sp>
      <p:sp>
        <p:nvSpPr>
          <p:cNvPr id="3" name="Content Placeholder 2"/>
          <p:cNvSpPr>
            <a:spLocks noGrp="1"/>
          </p:cNvSpPr>
          <p:nvPr>
            <p:ph idx="1"/>
          </p:nvPr>
        </p:nvSpPr>
        <p:spPr/>
        <p:txBody>
          <a:bodyPr>
            <a:normAutofit/>
          </a:bodyPr>
          <a:lstStyle/>
          <a:p>
            <a:pPr lvl="1"/>
            <a:r>
              <a:rPr lang="en-GB" dirty="0"/>
              <a:t>To install a network, you need to know how to connect all the elements together.</a:t>
            </a:r>
          </a:p>
          <a:p>
            <a:pPr lvl="1"/>
            <a:r>
              <a:rPr lang="en-GB" dirty="0"/>
              <a:t>A </a:t>
            </a:r>
            <a:r>
              <a:rPr lang="en-GB" b="1" i="1" dirty="0">
                <a:solidFill>
                  <a:srgbClr val="8AA551"/>
                </a:solidFill>
              </a:rPr>
              <a:t>network topology</a:t>
            </a:r>
            <a:r>
              <a:rPr lang="en-GB" b="1" dirty="0"/>
              <a:t> </a:t>
            </a:r>
            <a:r>
              <a:rPr lang="en-GB" dirty="0"/>
              <a:t>is the </a:t>
            </a:r>
            <a:r>
              <a:rPr lang="en-US" dirty="0"/>
              <a:t>layout of computers, cables and peripherals and also the paths that data travels along on the network.</a:t>
            </a:r>
          </a:p>
          <a:p>
            <a:pPr lvl="1"/>
            <a:r>
              <a:rPr lang="en-US" dirty="0"/>
              <a:t>There are two forms of network topology:</a:t>
            </a:r>
          </a:p>
          <a:p>
            <a:pPr lvl="2"/>
            <a:r>
              <a:rPr lang="en-US" sz="2600" dirty="0"/>
              <a:t>Physical topology</a:t>
            </a:r>
          </a:p>
          <a:p>
            <a:pPr lvl="2"/>
            <a:r>
              <a:rPr lang="en-US" sz="2600" dirty="0"/>
              <a:t>Logical topology</a:t>
            </a:r>
          </a:p>
          <a:p>
            <a:pPr lvl="1"/>
            <a:r>
              <a:rPr lang="en-US" dirty="0"/>
              <a:t>Physical and logical topology may differ.</a:t>
            </a:r>
          </a:p>
          <a:p>
            <a:endParaRPr lang="en-US" dirty="0"/>
          </a:p>
        </p:txBody>
      </p:sp>
      <p:sp>
        <p:nvSpPr>
          <p:cNvPr id="4" name="Footer Placeholder 3"/>
          <p:cNvSpPr>
            <a:spLocks noGrp="1"/>
          </p:cNvSpPr>
          <p:nvPr>
            <p:ph type="ftr" sz="quarter" idx="11"/>
          </p:nvPr>
        </p:nvSpPr>
        <p:spPr/>
        <p:txBody>
          <a:bodyPr/>
          <a:lstStyle/>
          <a:p>
            <a:r>
              <a:rPr lang="en-US" smtClean="0"/>
              <a:t>Jeremiah Kafakoma</a:t>
            </a:r>
            <a:endParaRPr lang="en-US"/>
          </a:p>
        </p:txBody>
      </p:sp>
      <p:sp>
        <p:nvSpPr>
          <p:cNvPr id="5" name="Slide Number Placeholder 4"/>
          <p:cNvSpPr>
            <a:spLocks noGrp="1"/>
          </p:cNvSpPr>
          <p:nvPr>
            <p:ph type="sldNum" sz="quarter" idx="12"/>
          </p:nvPr>
        </p:nvSpPr>
        <p:spPr/>
        <p:txBody>
          <a:bodyPr/>
          <a:lstStyle/>
          <a:p>
            <a:fld id="{AF99D367-8FDA-4A2F-9F0E-167FD1610AEF}" type="slidenum">
              <a:rPr lang="en-US" smtClean="0"/>
              <a:t>45</a:t>
            </a:fld>
            <a:endParaRPr lang="en-US"/>
          </a:p>
        </p:txBody>
      </p:sp>
    </p:spTree>
    <p:extLst>
      <p:ext uri="{BB962C8B-B14F-4D97-AF65-F5344CB8AC3E}">
        <p14:creationId xmlns:p14="http://schemas.microsoft.com/office/powerpoint/2010/main" val="10581750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Network Elements</a:t>
            </a:r>
          </a:p>
        </p:txBody>
      </p:sp>
      <p:sp>
        <p:nvSpPr>
          <p:cNvPr id="3" name="Content Placeholder 2"/>
          <p:cNvSpPr>
            <a:spLocks noGrp="1"/>
          </p:cNvSpPr>
          <p:nvPr>
            <p:ph idx="1"/>
          </p:nvPr>
        </p:nvSpPr>
        <p:spPr/>
        <p:txBody>
          <a:bodyPr>
            <a:normAutofit/>
          </a:bodyPr>
          <a:lstStyle/>
          <a:p>
            <a:pPr lvl="1"/>
            <a:r>
              <a:rPr lang="en-GB" dirty="0"/>
              <a:t>There are two main components of a network:</a:t>
            </a:r>
          </a:p>
          <a:p>
            <a:pPr lvl="2"/>
            <a:r>
              <a:rPr lang="en-GB" sz="2600" dirty="0"/>
              <a:t>Nodes</a:t>
            </a:r>
          </a:p>
          <a:p>
            <a:pPr lvl="2"/>
            <a:r>
              <a:rPr lang="en-GB" sz="2600" dirty="0"/>
              <a:t>Links</a:t>
            </a:r>
            <a:endParaRPr lang="en-US" sz="2600" dirty="0"/>
          </a:p>
          <a:p>
            <a:pPr lvl="1"/>
            <a:r>
              <a:rPr lang="en-GB" dirty="0"/>
              <a:t>A </a:t>
            </a:r>
            <a:r>
              <a:rPr lang="en-GB" b="1" i="1" dirty="0">
                <a:solidFill>
                  <a:srgbClr val="8AA551"/>
                </a:solidFill>
              </a:rPr>
              <a:t>network node</a:t>
            </a:r>
            <a:r>
              <a:rPr lang="en-GB" dirty="0"/>
              <a:t> is an intersection between links that will contain some equipment:</a:t>
            </a:r>
          </a:p>
          <a:p>
            <a:pPr lvl="2"/>
            <a:r>
              <a:rPr lang="en-GB" sz="2600" dirty="0"/>
              <a:t>To aid signal transmission (hub, switch, bridge, </a:t>
            </a:r>
            <a:r>
              <a:rPr lang="en-GB" sz="2600" dirty="0" err="1"/>
              <a:t>etc</a:t>
            </a:r>
            <a:r>
              <a:rPr lang="en-GB" sz="2600" dirty="0"/>
              <a:t>)</a:t>
            </a:r>
          </a:p>
          <a:p>
            <a:pPr lvl="2"/>
            <a:r>
              <a:rPr lang="en-GB" sz="2600" dirty="0"/>
              <a:t>For data processing (computer, printer, </a:t>
            </a:r>
            <a:r>
              <a:rPr lang="en-GB" sz="2600" dirty="0" err="1"/>
              <a:t>etc</a:t>
            </a:r>
            <a:r>
              <a:rPr lang="en-GB" sz="2600" dirty="0"/>
              <a:t>)</a:t>
            </a:r>
          </a:p>
          <a:p>
            <a:pPr lvl="1"/>
            <a:r>
              <a:rPr lang="en-GB" dirty="0"/>
              <a:t>A link is the media through which the signals are transmitted (fibre-optic, coaxial cable, RF, </a:t>
            </a:r>
            <a:r>
              <a:rPr lang="en-GB" dirty="0" err="1"/>
              <a:t>etc</a:t>
            </a:r>
            <a:r>
              <a:rPr lang="en-GB" dirty="0"/>
              <a:t>) </a:t>
            </a:r>
          </a:p>
          <a:p>
            <a:endParaRPr lang="en-US" dirty="0"/>
          </a:p>
        </p:txBody>
      </p:sp>
      <p:sp>
        <p:nvSpPr>
          <p:cNvPr id="4" name="Footer Placeholder 3"/>
          <p:cNvSpPr>
            <a:spLocks noGrp="1"/>
          </p:cNvSpPr>
          <p:nvPr>
            <p:ph type="ftr" sz="quarter" idx="11"/>
          </p:nvPr>
        </p:nvSpPr>
        <p:spPr/>
        <p:txBody>
          <a:bodyPr/>
          <a:lstStyle/>
          <a:p>
            <a:r>
              <a:rPr lang="en-US" smtClean="0"/>
              <a:t>Jeremiah Kafakoma</a:t>
            </a:r>
            <a:endParaRPr lang="en-US"/>
          </a:p>
        </p:txBody>
      </p:sp>
      <p:sp>
        <p:nvSpPr>
          <p:cNvPr id="5" name="Slide Number Placeholder 4"/>
          <p:cNvSpPr>
            <a:spLocks noGrp="1"/>
          </p:cNvSpPr>
          <p:nvPr>
            <p:ph type="sldNum" sz="quarter" idx="12"/>
          </p:nvPr>
        </p:nvSpPr>
        <p:spPr/>
        <p:txBody>
          <a:bodyPr/>
          <a:lstStyle/>
          <a:p>
            <a:fld id="{AF99D367-8FDA-4A2F-9F0E-167FD1610AEF}" type="slidenum">
              <a:rPr lang="en-US" smtClean="0"/>
              <a:t>46</a:t>
            </a:fld>
            <a:endParaRPr lang="en-US"/>
          </a:p>
        </p:txBody>
      </p:sp>
    </p:spTree>
    <p:extLst>
      <p:ext uri="{BB962C8B-B14F-4D97-AF65-F5344CB8AC3E}">
        <p14:creationId xmlns:p14="http://schemas.microsoft.com/office/powerpoint/2010/main" val="106561168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Physical Topology</a:t>
            </a:r>
            <a:endParaRPr lang="en-US" dirty="0"/>
          </a:p>
        </p:txBody>
      </p:sp>
      <p:sp>
        <p:nvSpPr>
          <p:cNvPr id="3" name="Content Placeholder 2"/>
          <p:cNvSpPr>
            <a:spLocks noGrp="1"/>
          </p:cNvSpPr>
          <p:nvPr>
            <p:ph idx="1"/>
          </p:nvPr>
        </p:nvSpPr>
        <p:spPr/>
        <p:txBody>
          <a:bodyPr/>
          <a:lstStyle/>
          <a:p>
            <a:pPr lvl="1"/>
            <a:r>
              <a:rPr lang="en-GB" dirty="0"/>
              <a:t>Explains how the computers and peripherals are physically connected together</a:t>
            </a:r>
          </a:p>
          <a:p>
            <a:pPr lvl="1"/>
            <a:endParaRPr lang="en-GB" dirty="0"/>
          </a:p>
          <a:p>
            <a:pPr lvl="1"/>
            <a:r>
              <a:rPr lang="en-GB" dirty="0"/>
              <a:t>It is a map showing how each piece of hardware is connected to the other hardware on a network.</a:t>
            </a:r>
          </a:p>
          <a:p>
            <a:pPr lvl="1"/>
            <a:endParaRPr lang="en-GB" dirty="0"/>
          </a:p>
          <a:p>
            <a:pPr lvl="1"/>
            <a:r>
              <a:rPr lang="en-GB" dirty="0"/>
              <a:t>This may be via physical cables or could be wireless.</a:t>
            </a:r>
            <a:endParaRPr lang="en-US" dirty="0"/>
          </a:p>
          <a:p>
            <a:endParaRPr lang="en-US" dirty="0"/>
          </a:p>
        </p:txBody>
      </p:sp>
      <p:sp>
        <p:nvSpPr>
          <p:cNvPr id="4" name="Footer Placeholder 3"/>
          <p:cNvSpPr>
            <a:spLocks noGrp="1"/>
          </p:cNvSpPr>
          <p:nvPr>
            <p:ph type="ftr" sz="quarter" idx="11"/>
          </p:nvPr>
        </p:nvSpPr>
        <p:spPr/>
        <p:txBody>
          <a:bodyPr/>
          <a:lstStyle/>
          <a:p>
            <a:r>
              <a:rPr lang="en-US" smtClean="0"/>
              <a:t>Jeremiah Kafakoma</a:t>
            </a:r>
            <a:endParaRPr lang="en-US"/>
          </a:p>
        </p:txBody>
      </p:sp>
      <p:sp>
        <p:nvSpPr>
          <p:cNvPr id="5" name="Slide Number Placeholder 4"/>
          <p:cNvSpPr>
            <a:spLocks noGrp="1"/>
          </p:cNvSpPr>
          <p:nvPr>
            <p:ph type="sldNum" sz="quarter" idx="12"/>
          </p:nvPr>
        </p:nvSpPr>
        <p:spPr/>
        <p:txBody>
          <a:bodyPr/>
          <a:lstStyle/>
          <a:p>
            <a:fld id="{AF99D367-8FDA-4A2F-9F0E-167FD1610AEF}" type="slidenum">
              <a:rPr lang="en-US" smtClean="0"/>
              <a:t>47</a:t>
            </a:fld>
            <a:endParaRPr lang="en-US"/>
          </a:p>
        </p:txBody>
      </p:sp>
    </p:spTree>
    <p:extLst>
      <p:ext uri="{BB962C8B-B14F-4D97-AF65-F5344CB8AC3E}">
        <p14:creationId xmlns:p14="http://schemas.microsoft.com/office/powerpoint/2010/main" val="3753638291"/>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Logical Topology</a:t>
            </a:r>
            <a:endParaRPr lang="en-US" dirty="0"/>
          </a:p>
        </p:txBody>
      </p:sp>
      <p:sp>
        <p:nvSpPr>
          <p:cNvPr id="3" name="Content Placeholder 2"/>
          <p:cNvSpPr>
            <a:spLocks noGrp="1"/>
          </p:cNvSpPr>
          <p:nvPr>
            <p:ph idx="1"/>
          </p:nvPr>
        </p:nvSpPr>
        <p:spPr/>
        <p:txBody>
          <a:bodyPr/>
          <a:lstStyle/>
          <a:p>
            <a:pPr lvl="1"/>
            <a:r>
              <a:rPr lang="en-GB" dirty="0"/>
              <a:t>Explains how data passes between network devices</a:t>
            </a:r>
          </a:p>
          <a:p>
            <a:pPr lvl="1"/>
            <a:endParaRPr lang="en-GB" dirty="0"/>
          </a:p>
          <a:p>
            <a:pPr lvl="1"/>
            <a:r>
              <a:rPr lang="en-GB" dirty="0"/>
              <a:t>It is a map showing the logical path of data around the network.</a:t>
            </a:r>
          </a:p>
          <a:p>
            <a:pPr lvl="1"/>
            <a:endParaRPr lang="en-GB" dirty="0"/>
          </a:p>
          <a:p>
            <a:pPr lvl="1"/>
            <a:r>
              <a:rPr lang="en-GB" dirty="0"/>
              <a:t>The logical topology of a network may be different to its physical topology.</a:t>
            </a:r>
            <a:endParaRPr lang="en-US" dirty="0"/>
          </a:p>
          <a:p>
            <a:endParaRPr lang="en-US" dirty="0"/>
          </a:p>
        </p:txBody>
      </p:sp>
      <p:sp>
        <p:nvSpPr>
          <p:cNvPr id="4" name="Footer Placeholder 3"/>
          <p:cNvSpPr>
            <a:spLocks noGrp="1"/>
          </p:cNvSpPr>
          <p:nvPr>
            <p:ph type="ftr" sz="quarter" idx="11"/>
          </p:nvPr>
        </p:nvSpPr>
        <p:spPr/>
        <p:txBody>
          <a:bodyPr/>
          <a:lstStyle/>
          <a:p>
            <a:r>
              <a:rPr lang="en-US" smtClean="0"/>
              <a:t>Jeremiah Kafakoma</a:t>
            </a:r>
            <a:endParaRPr lang="en-US"/>
          </a:p>
        </p:txBody>
      </p:sp>
      <p:sp>
        <p:nvSpPr>
          <p:cNvPr id="5" name="Slide Number Placeholder 4"/>
          <p:cNvSpPr>
            <a:spLocks noGrp="1"/>
          </p:cNvSpPr>
          <p:nvPr>
            <p:ph type="sldNum" sz="quarter" idx="12"/>
          </p:nvPr>
        </p:nvSpPr>
        <p:spPr/>
        <p:txBody>
          <a:bodyPr/>
          <a:lstStyle/>
          <a:p>
            <a:fld id="{AF99D367-8FDA-4A2F-9F0E-167FD1610AEF}" type="slidenum">
              <a:rPr lang="en-US" smtClean="0"/>
              <a:t>48</a:t>
            </a:fld>
            <a:endParaRPr lang="en-US"/>
          </a:p>
        </p:txBody>
      </p:sp>
    </p:spTree>
    <p:extLst>
      <p:ext uri="{BB962C8B-B14F-4D97-AF65-F5344CB8AC3E}">
        <p14:creationId xmlns:p14="http://schemas.microsoft.com/office/powerpoint/2010/main" val="636496313"/>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Topology Categories</a:t>
            </a:r>
          </a:p>
        </p:txBody>
      </p:sp>
      <p:sp>
        <p:nvSpPr>
          <p:cNvPr id="3" name="Content Placeholder 2"/>
          <p:cNvSpPr>
            <a:spLocks noGrp="1"/>
          </p:cNvSpPr>
          <p:nvPr>
            <p:ph idx="1"/>
          </p:nvPr>
        </p:nvSpPr>
        <p:spPr/>
        <p:txBody>
          <a:bodyPr/>
          <a:lstStyle/>
          <a:p>
            <a:pPr lvl="1"/>
            <a:r>
              <a:rPr lang="en-GB" dirty="0"/>
              <a:t>There are many different topologies.</a:t>
            </a:r>
          </a:p>
          <a:p>
            <a:pPr lvl="1"/>
            <a:r>
              <a:rPr lang="en-GB" dirty="0"/>
              <a:t>There are many different technologies for physical connections.</a:t>
            </a:r>
          </a:p>
          <a:p>
            <a:pPr lvl="1"/>
            <a:r>
              <a:rPr lang="en-GB" dirty="0"/>
              <a:t>There are many different protocols for logical connections.</a:t>
            </a:r>
          </a:p>
          <a:p>
            <a:pPr lvl="1"/>
            <a:r>
              <a:rPr lang="en-GB" dirty="0"/>
              <a:t>We can broadly categorise networks as:</a:t>
            </a:r>
          </a:p>
          <a:p>
            <a:pPr lvl="1"/>
            <a:endParaRPr lang="en-GB" sz="800" dirty="0"/>
          </a:p>
          <a:p>
            <a:pPr lvl="2"/>
            <a:r>
              <a:rPr lang="en-GB" sz="2600" dirty="0"/>
              <a:t>Point-to-point networks</a:t>
            </a:r>
          </a:p>
          <a:p>
            <a:pPr lvl="2"/>
            <a:r>
              <a:rPr lang="en-GB" sz="2600" dirty="0"/>
              <a:t>Broadcast networks</a:t>
            </a:r>
          </a:p>
          <a:p>
            <a:endParaRPr lang="en-US" dirty="0"/>
          </a:p>
        </p:txBody>
      </p:sp>
      <p:sp>
        <p:nvSpPr>
          <p:cNvPr id="4" name="Footer Placeholder 3"/>
          <p:cNvSpPr>
            <a:spLocks noGrp="1"/>
          </p:cNvSpPr>
          <p:nvPr>
            <p:ph type="ftr" sz="quarter" idx="11"/>
          </p:nvPr>
        </p:nvSpPr>
        <p:spPr/>
        <p:txBody>
          <a:bodyPr/>
          <a:lstStyle/>
          <a:p>
            <a:r>
              <a:rPr lang="en-US" smtClean="0"/>
              <a:t>Jeremiah Kafakoma</a:t>
            </a:r>
            <a:endParaRPr lang="en-US"/>
          </a:p>
        </p:txBody>
      </p:sp>
      <p:sp>
        <p:nvSpPr>
          <p:cNvPr id="5" name="Slide Number Placeholder 4"/>
          <p:cNvSpPr>
            <a:spLocks noGrp="1"/>
          </p:cNvSpPr>
          <p:nvPr>
            <p:ph type="sldNum" sz="quarter" idx="12"/>
          </p:nvPr>
        </p:nvSpPr>
        <p:spPr/>
        <p:txBody>
          <a:bodyPr/>
          <a:lstStyle/>
          <a:p>
            <a:fld id="{AF99D367-8FDA-4A2F-9F0E-167FD1610AEF}" type="slidenum">
              <a:rPr lang="en-US" smtClean="0"/>
              <a:t>49</a:t>
            </a:fld>
            <a:endParaRPr lang="en-US"/>
          </a:p>
        </p:txBody>
      </p:sp>
    </p:spTree>
    <p:extLst>
      <p:ext uri="{BB962C8B-B14F-4D97-AF65-F5344CB8AC3E}">
        <p14:creationId xmlns:p14="http://schemas.microsoft.com/office/powerpoint/2010/main" val="90000325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Point-to-Point Networks</a:t>
            </a:r>
          </a:p>
        </p:txBody>
      </p:sp>
      <p:sp>
        <p:nvSpPr>
          <p:cNvPr id="3" name="Content Placeholder 2"/>
          <p:cNvSpPr>
            <a:spLocks noGrp="1"/>
          </p:cNvSpPr>
          <p:nvPr>
            <p:ph idx="1"/>
          </p:nvPr>
        </p:nvSpPr>
        <p:spPr/>
        <p:txBody>
          <a:bodyPr/>
          <a:lstStyle/>
          <a:p>
            <a:pPr lvl="1"/>
            <a:r>
              <a:rPr lang="en-US" dirty="0"/>
              <a:t>Many connections between individual pairs of machines</a:t>
            </a:r>
          </a:p>
          <a:p>
            <a:pPr lvl="1"/>
            <a:r>
              <a:rPr lang="en-US" dirty="0"/>
              <a:t>Packets of information may have to pass through intermediate machines.</a:t>
            </a:r>
          </a:p>
          <a:p>
            <a:pPr lvl="1"/>
            <a:r>
              <a:rPr lang="en-US" dirty="0"/>
              <a:t>Multiple routes of different length are possible, so routing algorithms are used.</a:t>
            </a:r>
          </a:p>
          <a:p>
            <a:pPr lvl="1"/>
            <a:r>
              <a:rPr lang="en-US" dirty="0"/>
              <a:t>Generally used in larger networks (e.g. Internet)</a:t>
            </a:r>
          </a:p>
          <a:p>
            <a:endParaRPr lang="en-US" dirty="0"/>
          </a:p>
        </p:txBody>
      </p:sp>
      <p:sp>
        <p:nvSpPr>
          <p:cNvPr id="4" name="Footer Placeholder 3"/>
          <p:cNvSpPr>
            <a:spLocks noGrp="1"/>
          </p:cNvSpPr>
          <p:nvPr>
            <p:ph type="ftr" sz="quarter" idx="11"/>
          </p:nvPr>
        </p:nvSpPr>
        <p:spPr/>
        <p:txBody>
          <a:bodyPr/>
          <a:lstStyle/>
          <a:p>
            <a:r>
              <a:rPr lang="en-US" smtClean="0"/>
              <a:t>Jeremiah Kafakoma</a:t>
            </a:r>
            <a:endParaRPr lang="en-US"/>
          </a:p>
        </p:txBody>
      </p:sp>
      <p:sp>
        <p:nvSpPr>
          <p:cNvPr id="5" name="Slide Number Placeholder 4"/>
          <p:cNvSpPr>
            <a:spLocks noGrp="1"/>
          </p:cNvSpPr>
          <p:nvPr>
            <p:ph type="sldNum" sz="quarter" idx="12"/>
          </p:nvPr>
        </p:nvSpPr>
        <p:spPr/>
        <p:txBody>
          <a:bodyPr/>
          <a:lstStyle/>
          <a:p>
            <a:fld id="{AF99D367-8FDA-4A2F-9F0E-167FD1610AEF}" type="slidenum">
              <a:rPr lang="en-US" smtClean="0"/>
              <a:t>50</a:t>
            </a:fld>
            <a:endParaRPr lang="en-US"/>
          </a:p>
        </p:txBody>
      </p:sp>
    </p:spTree>
    <p:extLst>
      <p:ext uri="{BB962C8B-B14F-4D97-AF65-F5344CB8AC3E}">
        <p14:creationId xmlns:p14="http://schemas.microsoft.com/office/powerpoint/2010/main" val="158493678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Broadcast Networks</a:t>
            </a:r>
          </a:p>
        </p:txBody>
      </p:sp>
      <p:sp>
        <p:nvSpPr>
          <p:cNvPr id="3" name="Content Placeholder 2"/>
          <p:cNvSpPr>
            <a:spLocks noGrp="1"/>
          </p:cNvSpPr>
          <p:nvPr>
            <p:ph idx="1"/>
          </p:nvPr>
        </p:nvSpPr>
        <p:spPr/>
        <p:txBody>
          <a:bodyPr/>
          <a:lstStyle/>
          <a:p>
            <a:pPr lvl="1"/>
            <a:r>
              <a:rPr lang="en-US" dirty="0"/>
              <a:t>Single communication channel that is shared by all the machines on the network</a:t>
            </a:r>
          </a:p>
          <a:p>
            <a:pPr lvl="1"/>
            <a:r>
              <a:rPr lang="en-US" dirty="0"/>
              <a:t>Packets sent by a machine are received by all the others.</a:t>
            </a:r>
          </a:p>
          <a:p>
            <a:pPr lvl="1"/>
            <a:r>
              <a:rPr lang="en-US" dirty="0"/>
              <a:t>Address field specifies the recipient</a:t>
            </a:r>
          </a:p>
          <a:p>
            <a:pPr lvl="1"/>
            <a:r>
              <a:rPr lang="en-US" dirty="0"/>
              <a:t>Generally used for smaller networks (LANs)</a:t>
            </a:r>
            <a:endParaRPr lang="en-GB" dirty="0"/>
          </a:p>
          <a:p>
            <a:endParaRPr lang="en-US" dirty="0"/>
          </a:p>
        </p:txBody>
      </p:sp>
      <p:sp>
        <p:nvSpPr>
          <p:cNvPr id="4" name="Footer Placeholder 3"/>
          <p:cNvSpPr>
            <a:spLocks noGrp="1"/>
          </p:cNvSpPr>
          <p:nvPr>
            <p:ph type="ftr" sz="quarter" idx="11"/>
          </p:nvPr>
        </p:nvSpPr>
        <p:spPr/>
        <p:txBody>
          <a:bodyPr/>
          <a:lstStyle/>
          <a:p>
            <a:r>
              <a:rPr lang="en-US" smtClean="0"/>
              <a:t>Jeremiah Kafakoma</a:t>
            </a:r>
            <a:endParaRPr lang="en-US"/>
          </a:p>
        </p:txBody>
      </p:sp>
      <p:sp>
        <p:nvSpPr>
          <p:cNvPr id="5" name="Slide Number Placeholder 4"/>
          <p:cNvSpPr>
            <a:spLocks noGrp="1"/>
          </p:cNvSpPr>
          <p:nvPr>
            <p:ph type="sldNum" sz="quarter" idx="12"/>
          </p:nvPr>
        </p:nvSpPr>
        <p:spPr/>
        <p:txBody>
          <a:bodyPr/>
          <a:lstStyle/>
          <a:p>
            <a:fld id="{AF99D367-8FDA-4A2F-9F0E-167FD1610AEF}" type="slidenum">
              <a:rPr lang="en-US" smtClean="0"/>
              <a:t>51</a:t>
            </a:fld>
            <a:endParaRPr lang="en-US"/>
          </a:p>
        </p:txBody>
      </p:sp>
    </p:spTree>
    <p:extLst>
      <p:ext uri="{BB962C8B-B14F-4D97-AF65-F5344CB8AC3E}">
        <p14:creationId xmlns:p14="http://schemas.microsoft.com/office/powerpoint/2010/main" val="405555541"/>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Collisions </a:t>
            </a:r>
            <a:endParaRPr lang="en-US" dirty="0"/>
          </a:p>
        </p:txBody>
      </p:sp>
      <p:sp>
        <p:nvSpPr>
          <p:cNvPr id="3" name="Content Placeholder 2"/>
          <p:cNvSpPr>
            <a:spLocks noGrp="1"/>
          </p:cNvSpPr>
          <p:nvPr>
            <p:ph idx="1"/>
          </p:nvPr>
        </p:nvSpPr>
        <p:spPr/>
        <p:txBody>
          <a:bodyPr/>
          <a:lstStyle/>
          <a:p>
            <a:pPr marL="777875" lvl="1" indent="-514350"/>
            <a:r>
              <a:rPr lang="en-GB" dirty="0"/>
              <a:t>Before transmitting a signal, a node listens to the network and only transmits if there is no traffic.</a:t>
            </a:r>
          </a:p>
          <a:p>
            <a:pPr marL="777875" lvl="1" indent="-514350"/>
            <a:r>
              <a:rPr lang="en-GB" dirty="0"/>
              <a:t>This does not prevent two nodes transmitting at the same time.</a:t>
            </a:r>
          </a:p>
          <a:p>
            <a:pPr marL="777875" lvl="1" indent="-514350"/>
            <a:r>
              <a:rPr lang="en-GB" dirty="0"/>
              <a:t>If two or more nodes broadcast at the same time, there is a collision and the message cannot be received.</a:t>
            </a:r>
          </a:p>
          <a:p>
            <a:pPr marL="777875" lvl="1" indent="-514350"/>
            <a:r>
              <a:rPr lang="en-GB" dirty="0"/>
              <a:t>A method is required for dealing with this.</a:t>
            </a:r>
          </a:p>
          <a:p>
            <a:endParaRPr lang="en-US" dirty="0"/>
          </a:p>
        </p:txBody>
      </p:sp>
      <p:sp>
        <p:nvSpPr>
          <p:cNvPr id="4" name="Footer Placeholder 3"/>
          <p:cNvSpPr>
            <a:spLocks noGrp="1"/>
          </p:cNvSpPr>
          <p:nvPr>
            <p:ph type="ftr" sz="quarter" idx="11"/>
          </p:nvPr>
        </p:nvSpPr>
        <p:spPr/>
        <p:txBody>
          <a:bodyPr/>
          <a:lstStyle/>
          <a:p>
            <a:r>
              <a:rPr lang="en-US" smtClean="0"/>
              <a:t>Jeremiah Kafakoma</a:t>
            </a:r>
            <a:endParaRPr lang="en-US"/>
          </a:p>
        </p:txBody>
      </p:sp>
      <p:sp>
        <p:nvSpPr>
          <p:cNvPr id="5" name="Slide Number Placeholder 4"/>
          <p:cNvSpPr>
            <a:spLocks noGrp="1"/>
          </p:cNvSpPr>
          <p:nvPr>
            <p:ph type="sldNum" sz="quarter" idx="12"/>
          </p:nvPr>
        </p:nvSpPr>
        <p:spPr/>
        <p:txBody>
          <a:bodyPr/>
          <a:lstStyle/>
          <a:p>
            <a:fld id="{AF99D367-8FDA-4A2F-9F0E-167FD1610AEF}" type="slidenum">
              <a:rPr lang="en-US" smtClean="0"/>
              <a:t>52</a:t>
            </a:fld>
            <a:endParaRPr lang="en-US"/>
          </a:p>
        </p:txBody>
      </p:sp>
    </p:spTree>
    <p:extLst>
      <p:ext uri="{BB962C8B-B14F-4D97-AF65-F5344CB8AC3E}">
        <p14:creationId xmlns:p14="http://schemas.microsoft.com/office/powerpoint/2010/main" val="1227277904"/>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1600" dirty="0" smtClean="0"/>
              <a:t>Data flow control ( bus, csma/cd, ring-token</a:t>
            </a:r>
            <a:endParaRPr lang="en-US" sz="1600" dirty="0"/>
          </a:p>
        </p:txBody>
      </p:sp>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b="0" dirty="0"/>
              <a:t>In </a:t>
            </a:r>
            <a:r>
              <a:rPr lang="en-US" dirty="0"/>
              <a:t>data</a:t>
            </a:r>
            <a:r>
              <a:rPr lang="en-US" b="0" dirty="0"/>
              <a:t> communications, </a:t>
            </a:r>
            <a:r>
              <a:rPr lang="en-US" dirty="0"/>
              <a:t>flow control</a:t>
            </a:r>
            <a:r>
              <a:rPr lang="en-US" b="0" dirty="0"/>
              <a:t> is the process of managing the rate of </a:t>
            </a:r>
            <a:r>
              <a:rPr lang="en-US" dirty="0"/>
              <a:t>data</a:t>
            </a:r>
            <a:r>
              <a:rPr lang="en-US" b="0" dirty="0"/>
              <a:t> transmission between two nodes to prevent a fast sender from overwhelming a slow receiver</a:t>
            </a:r>
            <a:r>
              <a:rPr lang="en-US" b="0" dirty="0" smtClean="0"/>
              <a:t>.</a:t>
            </a:r>
          </a:p>
          <a:p>
            <a:pPr>
              <a:buFont typeface="Arial" panose="020B0604020202020204" pitchFamily="34" charset="0"/>
              <a:buChar char="•"/>
            </a:pPr>
            <a:r>
              <a:rPr lang="en-US" dirty="0"/>
              <a:t>Carrier sense multiple access with collision detection</a:t>
            </a:r>
            <a:r>
              <a:rPr lang="en-US" b="0" dirty="0"/>
              <a:t> (</a:t>
            </a:r>
            <a:r>
              <a:rPr lang="en-US" dirty="0"/>
              <a:t>CSMA/CD</a:t>
            </a:r>
            <a:r>
              <a:rPr lang="en-US" b="0" dirty="0"/>
              <a:t>) is a </a:t>
            </a:r>
            <a:r>
              <a:rPr lang="en-US" b="0" dirty="0">
                <a:hlinkClick r:id="rId2" tooltip="Media access control"/>
              </a:rPr>
              <a:t>media access control</a:t>
            </a:r>
            <a:r>
              <a:rPr lang="en-US" b="0" dirty="0"/>
              <a:t> method used most notably in </a:t>
            </a:r>
            <a:r>
              <a:rPr lang="en-US" b="0" dirty="0">
                <a:hlinkClick r:id="rId3" tooltip="Local area network"/>
              </a:rPr>
              <a:t>local area </a:t>
            </a:r>
            <a:r>
              <a:rPr lang="en-US" b="0" dirty="0" smtClean="0">
                <a:hlinkClick r:id="rId3" tooltip="Local area network"/>
              </a:rPr>
              <a:t>networking</a:t>
            </a:r>
            <a:r>
              <a:rPr lang="en-US" b="0" dirty="0" smtClean="0"/>
              <a:t> using </a:t>
            </a:r>
            <a:r>
              <a:rPr lang="en-US" b="0" dirty="0"/>
              <a:t>early </a:t>
            </a:r>
            <a:r>
              <a:rPr lang="en-US" b="0" dirty="0">
                <a:hlinkClick r:id="rId4" tooltip="Ethernet"/>
              </a:rPr>
              <a:t>Ethernet</a:t>
            </a:r>
            <a:r>
              <a:rPr lang="en-US" b="0" dirty="0"/>
              <a:t> technology. It uses a </a:t>
            </a:r>
            <a:r>
              <a:rPr lang="en-US" b="0" dirty="0">
                <a:hlinkClick r:id="rId5" tooltip="Carrier signal"/>
              </a:rPr>
              <a:t>carrier</a:t>
            </a:r>
            <a:r>
              <a:rPr lang="en-US" b="0" dirty="0"/>
              <a:t> sensing scheme in which a transmitting </a:t>
            </a:r>
            <a:r>
              <a:rPr lang="en-US" b="0" dirty="0">
                <a:hlinkClick r:id="rId6" tooltip="Data"/>
              </a:rPr>
              <a:t>data</a:t>
            </a:r>
            <a:r>
              <a:rPr lang="en-US" b="0" dirty="0"/>
              <a:t> station detects other </a:t>
            </a:r>
            <a:r>
              <a:rPr lang="en-US" b="0" dirty="0">
                <a:hlinkClick r:id="rId7" tooltip="Transmission (telecommunications)"/>
              </a:rPr>
              <a:t>signals</a:t>
            </a:r>
            <a:r>
              <a:rPr lang="en-US" b="0" dirty="0"/>
              <a:t> while transmitting a </a:t>
            </a:r>
            <a:r>
              <a:rPr lang="en-US" b="0" dirty="0">
                <a:hlinkClick r:id="rId8" tooltip="Frame (telecommunications)"/>
              </a:rPr>
              <a:t>frame</a:t>
            </a:r>
            <a:r>
              <a:rPr lang="en-US" b="0" dirty="0"/>
              <a:t>, and stops transmitting that frame, transmits a jam signal, and then waits for a random time interval before trying to resend the frame</a:t>
            </a:r>
            <a:r>
              <a:rPr lang="en-US" b="0" dirty="0" smtClean="0"/>
              <a:t>.</a:t>
            </a:r>
            <a:endParaRPr lang="en-US" b="0" dirty="0"/>
          </a:p>
          <a:p>
            <a:pPr>
              <a:buFont typeface="Arial" panose="020B0604020202020204" pitchFamily="34" charset="0"/>
              <a:buChar char="•"/>
            </a:pPr>
            <a:r>
              <a:rPr lang="en-US" b="0" dirty="0"/>
              <a:t>CSMA/CD is a modification of pure </a:t>
            </a:r>
            <a:r>
              <a:rPr lang="en-US" b="0" dirty="0">
                <a:hlinkClick r:id="rId9" tooltip="Carrier sense multiple access"/>
              </a:rPr>
              <a:t>carrier sense multiple access</a:t>
            </a:r>
            <a:r>
              <a:rPr lang="en-US" b="0" dirty="0"/>
              <a:t> (CSMA). CSMA/CD is used to improve CSMA performance by terminating transmission as soon as a collision is detected, thus shortening the time required before a retry can be attempted.</a:t>
            </a:r>
          </a:p>
          <a:p>
            <a:pPr>
              <a:buFont typeface="Arial" panose="020B0604020202020204" pitchFamily="34" charset="0"/>
              <a:buChar char="•"/>
            </a:pPr>
            <a:endParaRPr lang="en-US" dirty="0"/>
          </a:p>
        </p:txBody>
      </p:sp>
      <p:sp>
        <p:nvSpPr>
          <p:cNvPr id="4" name="Footer Placeholder 3"/>
          <p:cNvSpPr>
            <a:spLocks noGrp="1"/>
          </p:cNvSpPr>
          <p:nvPr>
            <p:ph type="ftr" sz="quarter" idx="11"/>
          </p:nvPr>
        </p:nvSpPr>
        <p:spPr/>
        <p:txBody>
          <a:bodyPr/>
          <a:lstStyle/>
          <a:p>
            <a:r>
              <a:rPr lang="en-US" smtClean="0"/>
              <a:t>Jeremiah Kafakoma</a:t>
            </a:r>
            <a:endParaRPr lang="en-US"/>
          </a:p>
        </p:txBody>
      </p:sp>
      <p:sp>
        <p:nvSpPr>
          <p:cNvPr id="5" name="Slide Number Placeholder 4"/>
          <p:cNvSpPr>
            <a:spLocks noGrp="1"/>
          </p:cNvSpPr>
          <p:nvPr>
            <p:ph type="sldNum" sz="quarter" idx="12"/>
          </p:nvPr>
        </p:nvSpPr>
        <p:spPr/>
        <p:txBody>
          <a:bodyPr/>
          <a:lstStyle/>
          <a:p>
            <a:fld id="{AF99D367-8FDA-4A2F-9F0E-167FD1610AEF}" type="slidenum">
              <a:rPr lang="en-US" smtClean="0"/>
              <a:t>53</a:t>
            </a:fld>
            <a:endParaRPr lang="en-US"/>
          </a:p>
        </p:txBody>
      </p:sp>
    </p:spTree>
    <p:extLst>
      <p:ext uri="{BB962C8B-B14F-4D97-AF65-F5344CB8AC3E}">
        <p14:creationId xmlns:p14="http://schemas.microsoft.com/office/powerpoint/2010/main" val="381380374"/>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1600" dirty="0"/>
              <a:t>ISDN (Integrated Services Digital Network)</a:t>
            </a:r>
            <a:r>
              <a:rPr lang="en-US" dirty="0"/>
              <a:t/>
            </a:r>
            <a:br>
              <a:rPr lang="en-US" dirty="0"/>
            </a:br>
            <a:endParaRPr lang="en-US" dirty="0"/>
          </a:p>
        </p:txBody>
      </p:sp>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b="0" dirty="0"/>
              <a:t>ISDN (Integrated Services Digital Network) is a set of </a:t>
            </a:r>
            <a:r>
              <a:rPr lang="en-US" b="0" u="sng" dirty="0">
                <a:hlinkClick r:id="rId3"/>
              </a:rPr>
              <a:t>CCITT/ITU</a:t>
            </a:r>
            <a:r>
              <a:rPr lang="en-US" b="0" dirty="0"/>
              <a:t> standards for </a:t>
            </a:r>
            <a:r>
              <a:rPr lang="en-US" b="0" u="sng" dirty="0">
                <a:hlinkClick r:id="rId4"/>
              </a:rPr>
              <a:t>circuit-switched</a:t>
            </a:r>
            <a:r>
              <a:rPr lang="en-US" b="0" dirty="0"/>
              <a:t> transmission of data over various media, including ordinary telephone-grade copper wire. </a:t>
            </a:r>
            <a:endParaRPr lang="en-US" b="0" dirty="0" smtClean="0"/>
          </a:p>
          <a:p>
            <a:pPr>
              <a:buFont typeface="Arial" panose="020B0604020202020204" pitchFamily="34" charset="0"/>
              <a:buChar char="•"/>
            </a:pPr>
            <a:r>
              <a:rPr lang="en-US" b="0" dirty="0" smtClean="0"/>
              <a:t>It is </a:t>
            </a:r>
            <a:r>
              <a:rPr lang="en-US" b="0" dirty="0"/>
              <a:t>a set of communication standards </a:t>
            </a:r>
            <a:r>
              <a:rPr lang="en-US" b="0" dirty="0" smtClean="0"/>
              <a:t>for simultaneous</a:t>
            </a:r>
            <a:r>
              <a:rPr lang="en-US" b="0" dirty="0"/>
              <a:t> </a:t>
            </a:r>
            <a:r>
              <a:rPr lang="en-US" b="0" dirty="0">
                <a:hlinkClick r:id="rId5" tooltip="Digital data"/>
              </a:rPr>
              <a:t>digital</a:t>
            </a:r>
            <a:r>
              <a:rPr lang="en-US" b="0" dirty="0"/>
              <a:t> </a:t>
            </a:r>
            <a:r>
              <a:rPr lang="en-US" b="0" dirty="0">
                <a:hlinkClick r:id="rId6" tooltip="Transmission (telecommunications)"/>
              </a:rPr>
              <a:t>transmission</a:t>
            </a:r>
            <a:r>
              <a:rPr lang="en-US" b="0" dirty="0"/>
              <a:t> of voice, video, data, and other network services over the traditional circuits of the </a:t>
            </a:r>
            <a:r>
              <a:rPr lang="en-US" b="0" dirty="0">
                <a:hlinkClick r:id="rId7" tooltip="Public switched telephone network"/>
              </a:rPr>
              <a:t>public switched telephone network</a:t>
            </a:r>
            <a:r>
              <a:rPr lang="en-US" b="0" dirty="0"/>
              <a:t>. It was first defined in 1988 in the </a:t>
            </a:r>
            <a:r>
              <a:rPr lang="en-US" b="0" dirty="0">
                <a:hlinkClick r:id="rId8" tooltip="CCITT"/>
              </a:rPr>
              <a:t>CCITT</a:t>
            </a:r>
            <a:r>
              <a:rPr lang="en-US" b="0" dirty="0"/>
              <a:t> red </a:t>
            </a:r>
            <a:r>
              <a:rPr lang="en-US" b="0" dirty="0" smtClean="0"/>
              <a:t>book. Prior </a:t>
            </a:r>
            <a:r>
              <a:rPr lang="en-US" b="0" dirty="0"/>
              <a:t>to ISDN, the telephone system was viewed as a way to transport voice, with some special services available for data. </a:t>
            </a:r>
            <a:endParaRPr lang="en-US" b="0" dirty="0" smtClean="0"/>
          </a:p>
          <a:p>
            <a:pPr>
              <a:buFont typeface="Arial" panose="020B0604020202020204" pitchFamily="34" charset="0"/>
              <a:buChar char="•"/>
            </a:pPr>
            <a:r>
              <a:rPr lang="en-US" b="0" dirty="0"/>
              <a:t>The key feature of ISDN is that it integrates speech and data on the same lines, adding features that were not available in </a:t>
            </a:r>
            <a:r>
              <a:rPr lang="en-US" b="0" dirty="0" smtClean="0"/>
              <a:t>the </a:t>
            </a:r>
            <a:r>
              <a:rPr lang="en-US" b="0" dirty="0" smtClean="0">
                <a:hlinkClick r:id="rId9" tooltip="Plain old telephone service"/>
              </a:rPr>
              <a:t>classic </a:t>
            </a:r>
            <a:r>
              <a:rPr lang="en-US" b="0" dirty="0">
                <a:hlinkClick r:id="rId9" tooltip="Plain old telephone service"/>
              </a:rPr>
              <a:t>telephone system</a:t>
            </a:r>
            <a:r>
              <a:rPr lang="en-US" b="0" dirty="0"/>
              <a:t>. The ISDN standards define several kinds of access interfaces, such as </a:t>
            </a:r>
            <a:r>
              <a:rPr lang="en-US" b="0" dirty="0">
                <a:hlinkClick r:id="rId10" tooltip="Basic Rate Interface"/>
              </a:rPr>
              <a:t>Basic Rate Interface</a:t>
            </a:r>
            <a:r>
              <a:rPr lang="en-US" b="0" dirty="0"/>
              <a:t> (BRI), </a:t>
            </a:r>
            <a:r>
              <a:rPr lang="en-US" b="0" dirty="0">
                <a:hlinkClick r:id="rId11" tooltip="Primary Rate Interface"/>
              </a:rPr>
              <a:t>Primary Rate Interface</a:t>
            </a:r>
            <a:r>
              <a:rPr lang="en-US" b="0" dirty="0"/>
              <a:t> (PRI), </a:t>
            </a:r>
            <a:r>
              <a:rPr lang="en-US" b="0" dirty="0">
                <a:hlinkClick r:id="rId12" tooltip="Narrowband ISDN"/>
              </a:rPr>
              <a:t>Narrowband ISDN</a:t>
            </a:r>
            <a:r>
              <a:rPr lang="en-US" b="0" dirty="0"/>
              <a:t> (N-ISDN), and </a:t>
            </a:r>
            <a:r>
              <a:rPr lang="en-US" b="0" dirty="0">
                <a:hlinkClick r:id="rId13" tooltip="Broadband ISDN"/>
              </a:rPr>
              <a:t>Broadband ISDN</a:t>
            </a:r>
            <a:r>
              <a:rPr lang="en-US" b="0" dirty="0"/>
              <a:t> (B-ISDN</a:t>
            </a:r>
            <a:r>
              <a:rPr lang="en-US" b="0" dirty="0" smtClean="0"/>
              <a:t>). </a:t>
            </a:r>
          </a:p>
          <a:p>
            <a:endParaRPr lang="en-US" dirty="0"/>
          </a:p>
        </p:txBody>
      </p:sp>
      <p:sp>
        <p:nvSpPr>
          <p:cNvPr id="4" name="Footer Placeholder 3"/>
          <p:cNvSpPr>
            <a:spLocks noGrp="1"/>
          </p:cNvSpPr>
          <p:nvPr>
            <p:ph type="ftr" sz="quarter" idx="11"/>
          </p:nvPr>
        </p:nvSpPr>
        <p:spPr/>
        <p:txBody>
          <a:bodyPr/>
          <a:lstStyle/>
          <a:p>
            <a:r>
              <a:rPr lang="en-US" smtClean="0"/>
              <a:t>Jeremiah Kafakoma</a:t>
            </a:r>
            <a:endParaRPr lang="en-US"/>
          </a:p>
        </p:txBody>
      </p:sp>
      <p:sp>
        <p:nvSpPr>
          <p:cNvPr id="5" name="Slide Number Placeholder 4"/>
          <p:cNvSpPr>
            <a:spLocks noGrp="1"/>
          </p:cNvSpPr>
          <p:nvPr>
            <p:ph type="sldNum" sz="quarter" idx="12"/>
          </p:nvPr>
        </p:nvSpPr>
        <p:spPr/>
        <p:txBody>
          <a:bodyPr/>
          <a:lstStyle/>
          <a:p>
            <a:fld id="{AF99D367-8FDA-4A2F-9F0E-167FD1610AEF}" type="slidenum">
              <a:rPr lang="en-US" smtClean="0"/>
              <a:t>54</a:t>
            </a:fld>
            <a:endParaRPr lang="en-US"/>
          </a:p>
        </p:txBody>
      </p:sp>
    </p:spTree>
    <p:extLst>
      <p:ext uri="{BB962C8B-B14F-4D97-AF65-F5344CB8AC3E}">
        <p14:creationId xmlns:p14="http://schemas.microsoft.com/office/powerpoint/2010/main" val="4177327031"/>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CSMA/CD</a:t>
            </a:r>
            <a:endParaRPr lang="en-US" dirty="0"/>
          </a:p>
        </p:txBody>
      </p:sp>
      <p:sp>
        <p:nvSpPr>
          <p:cNvPr id="3" name="Content Placeholder 2"/>
          <p:cNvSpPr>
            <a:spLocks noGrp="1"/>
          </p:cNvSpPr>
          <p:nvPr>
            <p:ph idx="1"/>
          </p:nvPr>
        </p:nvSpPr>
        <p:spPr/>
        <p:txBody>
          <a:bodyPr>
            <a:normAutofit fontScale="92500" lnSpcReduction="10000"/>
          </a:bodyPr>
          <a:lstStyle/>
          <a:p>
            <a:pPr marL="777875" lvl="1" indent="-514350"/>
            <a:r>
              <a:rPr lang="en-GB" dirty="0"/>
              <a:t>Carrier Sense Multiple Access with Collision Detection</a:t>
            </a:r>
          </a:p>
          <a:p>
            <a:pPr marL="777875" lvl="1" indent="-514350"/>
            <a:r>
              <a:rPr lang="en-GB" dirty="0"/>
              <a:t>A simple protocol</a:t>
            </a:r>
          </a:p>
          <a:p>
            <a:pPr marL="777875" lvl="1" indent="-514350"/>
            <a:r>
              <a:rPr lang="en-GB" dirty="0"/>
              <a:t>Any node can send a message when the network is free.</a:t>
            </a:r>
          </a:p>
          <a:p>
            <a:pPr marL="777875" lvl="1" indent="-514350"/>
            <a:r>
              <a:rPr lang="en-GB" dirty="0"/>
              <a:t>If the cable is busy, it waits until it is free.</a:t>
            </a:r>
          </a:p>
          <a:p>
            <a:pPr marL="777875" lvl="1" indent="-514350"/>
            <a:r>
              <a:rPr lang="en-GB" dirty="0"/>
              <a:t>Removes a lot of unnecessary waiting time by allowing transmission at any time.</a:t>
            </a:r>
          </a:p>
          <a:p>
            <a:pPr marL="114300" indent="0">
              <a:buNone/>
            </a:pPr>
            <a:r>
              <a:rPr lang="en-GB" b="1" dirty="0" smtClean="0"/>
              <a:t>CSMA/CD Collisions</a:t>
            </a:r>
          </a:p>
          <a:p>
            <a:pPr marL="777875" lvl="1" indent="-514350"/>
            <a:r>
              <a:rPr lang="en-GB" dirty="0"/>
              <a:t>Two nodes may detect that the network is free at any one time and both transmit.</a:t>
            </a:r>
          </a:p>
          <a:p>
            <a:pPr marL="777875" lvl="1" indent="-514350"/>
            <a:r>
              <a:rPr lang="en-GB" dirty="0"/>
              <a:t>The signals collide preventing either from being received.</a:t>
            </a:r>
          </a:p>
          <a:p>
            <a:pPr marL="777875" lvl="1" indent="-514350"/>
            <a:r>
              <a:rPr lang="en-GB" dirty="0"/>
              <a:t>Energy levels on the line are increased and the collision is detected, nodes then:</a:t>
            </a:r>
          </a:p>
          <a:p>
            <a:pPr marL="777875" lvl="1" indent="-514350"/>
            <a:endParaRPr lang="en-GB" sz="800" dirty="0"/>
          </a:p>
          <a:p>
            <a:pPr marL="1311275" lvl="2" indent="-514350"/>
            <a:r>
              <a:rPr lang="en-GB" sz="2600" dirty="0"/>
              <a:t>Stop transmitting</a:t>
            </a:r>
          </a:p>
          <a:p>
            <a:pPr marL="1311275" lvl="2" indent="-514350"/>
            <a:r>
              <a:rPr lang="en-GB" sz="2600" dirty="0"/>
              <a:t>Wait for a random back-off interval</a:t>
            </a:r>
          </a:p>
          <a:p>
            <a:pPr marL="1311275" lvl="2" indent="-514350"/>
            <a:r>
              <a:rPr lang="en-GB" sz="2600" dirty="0"/>
              <a:t>Then attempt to retransmit</a:t>
            </a:r>
          </a:p>
          <a:p>
            <a:endParaRPr lang="en-US" b="1" dirty="0"/>
          </a:p>
        </p:txBody>
      </p:sp>
      <p:sp>
        <p:nvSpPr>
          <p:cNvPr id="4" name="Footer Placeholder 3"/>
          <p:cNvSpPr>
            <a:spLocks noGrp="1"/>
          </p:cNvSpPr>
          <p:nvPr>
            <p:ph type="ftr" sz="quarter" idx="11"/>
          </p:nvPr>
        </p:nvSpPr>
        <p:spPr/>
        <p:txBody>
          <a:bodyPr/>
          <a:lstStyle/>
          <a:p>
            <a:r>
              <a:rPr lang="en-US" smtClean="0"/>
              <a:t>Jeremiah Kafakoma</a:t>
            </a:r>
            <a:endParaRPr lang="en-US"/>
          </a:p>
        </p:txBody>
      </p:sp>
      <p:sp>
        <p:nvSpPr>
          <p:cNvPr id="5" name="Slide Number Placeholder 4"/>
          <p:cNvSpPr>
            <a:spLocks noGrp="1"/>
          </p:cNvSpPr>
          <p:nvPr>
            <p:ph type="sldNum" sz="quarter" idx="12"/>
          </p:nvPr>
        </p:nvSpPr>
        <p:spPr/>
        <p:txBody>
          <a:bodyPr/>
          <a:lstStyle/>
          <a:p>
            <a:fld id="{AF99D367-8FDA-4A2F-9F0E-167FD1610AEF}" type="slidenum">
              <a:rPr lang="en-US" smtClean="0"/>
              <a:t>55</a:t>
            </a:fld>
            <a:endParaRPr lang="en-US"/>
          </a:p>
        </p:txBody>
      </p:sp>
    </p:spTree>
    <p:extLst>
      <p:ext uri="{BB962C8B-B14F-4D97-AF65-F5344CB8AC3E}">
        <p14:creationId xmlns:p14="http://schemas.microsoft.com/office/powerpoint/2010/main" val="72689437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CSMA/CD Characteristics</a:t>
            </a:r>
            <a:endParaRPr lang="en-US" dirty="0"/>
          </a:p>
        </p:txBody>
      </p:sp>
      <p:sp>
        <p:nvSpPr>
          <p:cNvPr id="3" name="Content Placeholder 2"/>
          <p:cNvSpPr>
            <a:spLocks noGrp="1"/>
          </p:cNvSpPr>
          <p:nvPr>
            <p:ph idx="1"/>
          </p:nvPr>
        </p:nvSpPr>
        <p:spPr/>
        <p:txBody>
          <a:bodyPr>
            <a:normAutofit/>
          </a:bodyPr>
          <a:lstStyle/>
          <a:p>
            <a:pPr marL="777875" lvl="1" indent="-514350"/>
            <a:r>
              <a:rPr lang="en-GB" dirty="0"/>
              <a:t>No predetermined transmission order</a:t>
            </a:r>
          </a:p>
          <a:p>
            <a:pPr marL="777875" lvl="1" indent="-514350"/>
            <a:r>
              <a:rPr lang="en-GB" dirty="0"/>
              <a:t>No guaranteed wait time before transmission</a:t>
            </a:r>
          </a:p>
          <a:p>
            <a:pPr marL="777875" lvl="1" indent="-514350"/>
            <a:r>
              <a:rPr lang="en-GB" dirty="0"/>
              <a:t>Probability of collision increases as data rates increase - network saturates before theoretical limit</a:t>
            </a:r>
          </a:p>
          <a:p>
            <a:pPr marL="777875" lvl="1" indent="-514350"/>
            <a:r>
              <a:rPr lang="en-GB" dirty="0"/>
              <a:t>Nodes transmitting at a high rate tend to take over the network.</a:t>
            </a:r>
          </a:p>
          <a:p>
            <a:pPr marL="114300" indent="0">
              <a:buNone/>
            </a:pPr>
            <a:r>
              <a:rPr lang="en-US" b="1" dirty="0" smtClean="0"/>
              <a:t>FAST ETHERNET</a:t>
            </a:r>
          </a:p>
          <a:p>
            <a:pPr marL="777875" lvl="1" indent="-514350"/>
            <a:r>
              <a:rPr lang="en-GB" dirty="0"/>
              <a:t>Ethernet originally ran at 5Mbps, then 10 Mbps</a:t>
            </a:r>
          </a:p>
          <a:p>
            <a:pPr marL="777875" lvl="1" indent="-514350"/>
            <a:r>
              <a:rPr lang="en-GB" dirty="0"/>
              <a:t>This is too slow for many applications</a:t>
            </a:r>
          </a:p>
          <a:p>
            <a:pPr marL="777875" lvl="1" indent="-514350"/>
            <a:r>
              <a:rPr lang="en-GB" dirty="0"/>
              <a:t>Fast Ethernet was introduced that ran CSMA/CD at speeds of 100Mbps</a:t>
            </a:r>
          </a:p>
          <a:p>
            <a:pPr marL="777875" lvl="1" indent="-514350"/>
            <a:r>
              <a:rPr lang="en-GB" dirty="0"/>
              <a:t>This was followed by Gigabit Ethernet at speeds of 1000Mbps</a:t>
            </a:r>
          </a:p>
          <a:p>
            <a:pPr marL="777875" lvl="1" indent="-514350"/>
            <a:r>
              <a:rPr lang="en-GB" dirty="0"/>
              <a:t>100 Gigabit Ethernet is now a formal standard</a:t>
            </a:r>
          </a:p>
          <a:p>
            <a:pPr marL="777875" lvl="1" indent="-514350"/>
            <a:r>
              <a:rPr lang="en-GB" dirty="0"/>
              <a:t>It is suggested that Terabit Ethernet will be available by 2015</a:t>
            </a:r>
          </a:p>
          <a:p>
            <a:endParaRPr lang="en-US" b="1" dirty="0"/>
          </a:p>
        </p:txBody>
      </p:sp>
      <p:sp>
        <p:nvSpPr>
          <p:cNvPr id="4" name="Footer Placeholder 3"/>
          <p:cNvSpPr>
            <a:spLocks noGrp="1"/>
          </p:cNvSpPr>
          <p:nvPr>
            <p:ph type="ftr" sz="quarter" idx="11"/>
          </p:nvPr>
        </p:nvSpPr>
        <p:spPr/>
        <p:txBody>
          <a:bodyPr/>
          <a:lstStyle/>
          <a:p>
            <a:r>
              <a:rPr lang="en-US" smtClean="0"/>
              <a:t>Jeremiah Kafakoma</a:t>
            </a:r>
            <a:endParaRPr lang="en-US"/>
          </a:p>
        </p:txBody>
      </p:sp>
      <p:sp>
        <p:nvSpPr>
          <p:cNvPr id="5" name="Slide Number Placeholder 4"/>
          <p:cNvSpPr>
            <a:spLocks noGrp="1"/>
          </p:cNvSpPr>
          <p:nvPr>
            <p:ph type="sldNum" sz="quarter" idx="12"/>
          </p:nvPr>
        </p:nvSpPr>
        <p:spPr/>
        <p:txBody>
          <a:bodyPr/>
          <a:lstStyle/>
          <a:p>
            <a:fld id="{AF99D367-8FDA-4A2F-9F0E-167FD1610AEF}" type="slidenum">
              <a:rPr lang="en-US" smtClean="0"/>
              <a:t>56</a:t>
            </a:fld>
            <a:endParaRPr lang="en-US"/>
          </a:p>
        </p:txBody>
      </p:sp>
    </p:spTree>
    <p:extLst>
      <p:ext uri="{BB962C8B-B14F-4D97-AF65-F5344CB8AC3E}">
        <p14:creationId xmlns:p14="http://schemas.microsoft.com/office/powerpoint/2010/main" val="161623485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Token Ring</a:t>
            </a:r>
            <a:endParaRPr lang="en-US" dirty="0"/>
          </a:p>
        </p:txBody>
      </p:sp>
      <p:sp>
        <p:nvSpPr>
          <p:cNvPr id="3" name="Content Placeholder 2"/>
          <p:cNvSpPr>
            <a:spLocks noGrp="1"/>
          </p:cNvSpPr>
          <p:nvPr>
            <p:ph idx="1"/>
          </p:nvPr>
        </p:nvSpPr>
        <p:spPr/>
        <p:txBody>
          <a:bodyPr/>
          <a:lstStyle/>
          <a:p>
            <a:pPr marL="777875" lvl="1" indent="-514350"/>
            <a:r>
              <a:rPr lang="en-GB" dirty="0"/>
              <a:t>All nodes are connected in a ring</a:t>
            </a:r>
          </a:p>
          <a:p>
            <a:pPr marL="777875" lvl="1" indent="-514350"/>
            <a:r>
              <a:rPr lang="en-GB" dirty="0"/>
              <a:t>IEEE 802.5</a:t>
            </a:r>
          </a:p>
          <a:p>
            <a:pPr marL="777875" lvl="1" indent="-514350"/>
            <a:r>
              <a:rPr lang="en-GB" dirty="0"/>
              <a:t>Now mainly present in legacy IBM systems</a:t>
            </a:r>
          </a:p>
          <a:p>
            <a:pPr marL="114300" indent="0">
              <a:buNone/>
            </a:pPr>
            <a:endParaRPr lang="en-US" dirty="0"/>
          </a:p>
        </p:txBody>
      </p:sp>
      <p:sp>
        <p:nvSpPr>
          <p:cNvPr id="5" name="Footer Placeholder 4"/>
          <p:cNvSpPr>
            <a:spLocks noGrp="1"/>
          </p:cNvSpPr>
          <p:nvPr>
            <p:ph type="ftr" sz="quarter" idx="11"/>
          </p:nvPr>
        </p:nvSpPr>
        <p:spPr/>
        <p:txBody>
          <a:bodyPr/>
          <a:lstStyle/>
          <a:p>
            <a:r>
              <a:rPr lang="en-US" smtClean="0"/>
              <a:t>Jeremiah Kafakoma</a:t>
            </a:r>
            <a:endParaRPr lang="en-US"/>
          </a:p>
        </p:txBody>
      </p:sp>
      <p:sp>
        <p:nvSpPr>
          <p:cNvPr id="6" name="Slide Number Placeholder 5"/>
          <p:cNvSpPr>
            <a:spLocks noGrp="1"/>
          </p:cNvSpPr>
          <p:nvPr>
            <p:ph type="sldNum" sz="quarter" idx="12"/>
          </p:nvPr>
        </p:nvSpPr>
        <p:spPr/>
        <p:txBody>
          <a:bodyPr/>
          <a:lstStyle/>
          <a:p>
            <a:fld id="{AF99D367-8FDA-4A2F-9F0E-167FD1610AEF}" type="slidenum">
              <a:rPr lang="en-US" smtClean="0"/>
              <a:t>57</a:t>
            </a:fld>
            <a:endParaRPr lang="en-US"/>
          </a:p>
        </p:txBody>
      </p:sp>
      <p:pic>
        <p:nvPicPr>
          <p:cNvPr id="4" name="Picture 3" descr="ring1.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124075" y="3141663"/>
            <a:ext cx="4881563" cy="275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61374362"/>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Token Passing</a:t>
            </a:r>
            <a:endParaRPr lang="en-US" dirty="0"/>
          </a:p>
        </p:txBody>
      </p:sp>
      <p:sp>
        <p:nvSpPr>
          <p:cNvPr id="3" name="Content Placeholder 2"/>
          <p:cNvSpPr>
            <a:spLocks noGrp="1"/>
          </p:cNvSpPr>
          <p:nvPr>
            <p:ph idx="1"/>
          </p:nvPr>
        </p:nvSpPr>
        <p:spPr/>
        <p:txBody>
          <a:bodyPr>
            <a:normAutofit/>
          </a:bodyPr>
          <a:lstStyle/>
          <a:p>
            <a:pPr marL="777875" lvl="1" indent="-514350"/>
            <a:r>
              <a:rPr lang="en-GB" dirty="0"/>
              <a:t>A token is a special frame that circulates the ring, node by node</a:t>
            </a:r>
          </a:p>
          <a:p>
            <a:pPr marL="777875" lvl="1" indent="-514350"/>
            <a:r>
              <a:rPr lang="en-GB" dirty="0"/>
              <a:t>Only the node in possession of the token can transmit</a:t>
            </a:r>
          </a:p>
          <a:p>
            <a:pPr marL="777875" lvl="1" indent="-514350"/>
            <a:r>
              <a:rPr lang="en-GB" dirty="0"/>
              <a:t>Messages pass around the ring until they reach the destination node</a:t>
            </a:r>
          </a:p>
          <a:p>
            <a:pPr marL="777875" lvl="1" indent="-514350"/>
            <a:r>
              <a:rPr lang="en-GB" dirty="0"/>
              <a:t>The transmitting node then passes the token to the next node</a:t>
            </a:r>
          </a:p>
          <a:p>
            <a:pPr marL="777875" lvl="1" indent="-514350"/>
            <a:r>
              <a:rPr lang="en-GB" dirty="0"/>
              <a:t>Fairly distributes right to transmit</a:t>
            </a:r>
          </a:p>
          <a:p>
            <a:pPr marL="114300" indent="0">
              <a:buNone/>
            </a:pPr>
            <a:r>
              <a:rPr lang="en-US" b="1" dirty="0" smtClean="0"/>
              <a:t>PROBLEM</a:t>
            </a:r>
          </a:p>
          <a:p>
            <a:pPr marL="777875" lvl="1" indent="-514350"/>
            <a:r>
              <a:rPr lang="en-GB" dirty="0"/>
              <a:t>Transmission is one way, a break in the ring stops transmission</a:t>
            </a:r>
          </a:p>
          <a:p>
            <a:pPr marL="777875" lvl="1" indent="-514350"/>
            <a:r>
              <a:rPr lang="en-GB" dirty="0"/>
              <a:t>Modern rings are physically star shaped and operate through a hub that automatically removes damaged nodes thus “fixing” the ring</a:t>
            </a:r>
          </a:p>
          <a:p>
            <a:endParaRPr lang="en-US" b="1" dirty="0"/>
          </a:p>
        </p:txBody>
      </p:sp>
      <p:sp>
        <p:nvSpPr>
          <p:cNvPr id="4" name="Footer Placeholder 3"/>
          <p:cNvSpPr>
            <a:spLocks noGrp="1"/>
          </p:cNvSpPr>
          <p:nvPr>
            <p:ph type="ftr" sz="quarter" idx="11"/>
          </p:nvPr>
        </p:nvSpPr>
        <p:spPr/>
        <p:txBody>
          <a:bodyPr/>
          <a:lstStyle/>
          <a:p>
            <a:r>
              <a:rPr lang="en-US" smtClean="0"/>
              <a:t>Jeremiah Kafakoma</a:t>
            </a:r>
            <a:endParaRPr lang="en-US"/>
          </a:p>
        </p:txBody>
      </p:sp>
      <p:sp>
        <p:nvSpPr>
          <p:cNvPr id="5" name="Slide Number Placeholder 4"/>
          <p:cNvSpPr>
            <a:spLocks noGrp="1"/>
          </p:cNvSpPr>
          <p:nvPr>
            <p:ph type="sldNum" sz="quarter" idx="12"/>
          </p:nvPr>
        </p:nvSpPr>
        <p:spPr/>
        <p:txBody>
          <a:bodyPr/>
          <a:lstStyle/>
          <a:p>
            <a:fld id="{AF99D367-8FDA-4A2F-9F0E-167FD1610AEF}" type="slidenum">
              <a:rPr lang="en-US" smtClean="0"/>
              <a:t>58</a:t>
            </a:fld>
            <a:endParaRPr lang="en-US"/>
          </a:p>
        </p:txBody>
      </p:sp>
    </p:spTree>
    <p:extLst>
      <p:ext uri="{BB962C8B-B14F-4D97-AF65-F5344CB8AC3E}">
        <p14:creationId xmlns:p14="http://schemas.microsoft.com/office/powerpoint/2010/main" val="238041500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FDDI</a:t>
            </a:r>
            <a:endParaRPr lang="en-US" dirty="0"/>
          </a:p>
        </p:txBody>
      </p:sp>
      <p:sp>
        <p:nvSpPr>
          <p:cNvPr id="3" name="Content Placeholder 2"/>
          <p:cNvSpPr>
            <a:spLocks noGrp="1"/>
          </p:cNvSpPr>
          <p:nvPr>
            <p:ph idx="1"/>
          </p:nvPr>
        </p:nvSpPr>
        <p:spPr/>
        <p:txBody>
          <a:bodyPr/>
          <a:lstStyle/>
          <a:p>
            <a:pPr marL="777875" lvl="1" indent="-514350"/>
            <a:r>
              <a:rPr lang="en-GB" dirty="0"/>
              <a:t>Fibre Distributed Data Interface</a:t>
            </a:r>
          </a:p>
          <a:p>
            <a:pPr marL="777875" lvl="1" indent="-514350"/>
            <a:r>
              <a:rPr lang="en-GB" dirty="0"/>
              <a:t>Double ring transmitting in two directions, so transmission is possible if one ring is broken</a:t>
            </a:r>
          </a:p>
          <a:p>
            <a:pPr marL="777875" lvl="1" indent="-514350"/>
            <a:r>
              <a:rPr lang="en-GB" dirty="0"/>
              <a:t>Now not a competitive technology</a:t>
            </a:r>
          </a:p>
          <a:p>
            <a:pPr marL="114300" indent="0">
              <a:buNone/>
            </a:pPr>
            <a:endParaRPr lang="en-US" dirty="0"/>
          </a:p>
        </p:txBody>
      </p:sp>
      <p:sp>
        <p:nvSpPr>
          <p:cNvPr id="5" name="Footer Placeholder 4"/>
          <p:cNvSpPr>
            <a:spLocks noGrp="1"/>
          </p:cNvSpPr>
          <p:nvPr>
            <p:ph type="ftr" sz="quarter" idx="11"/>
          </p:nvPr>
        </p:nvSpPr>
        <p:spPr/>
        <p:txBody>
          <a:bodyPr/>
          <a:lstStyle/>
          <a:p>
            <a:r>
              <a:rPr lang="en-US" smtClean="0"/>
              <a:t>Jeremiah Kafakoma</a:t>
            </a:r>
            <a:endParaRPr lang="en-US"/>
          </a:p>
        </p:txBody>
      </p:sp>
      <p:sp>
        <p:nvSpPr>
          <p:cNvPr id="6" name="Slide Number Placeholder 5"/>
          <p:cNvSpPr>
            <a:spLocks noGrp="1"/>
          </p:cNvSpPr>
          <p:nvPr>
            <p:ph type="sldNum" sz="quarter" idx="12"/>
          </p:nvPr>
        </p:nvSpPr>
        <p:spPr/>
        <p:txBody>
          <a:bodyPr/>
          <a:lstStyle/>
          <a:p>
            <a:fld id="{AF99D367-8FDA-4A2F-9F0E-167FD1610AEF}" type="slidenum">
              <a:rPr lang="en-US" smtClean="0"/>
              <a:t>59</a:t>
            </a:fld>
            <a:endParaRPr lang="en-US"/>
          </a:p>
        </p:txBody>
      </p:sp>
      <p:pic>
        <p:nvPicPr>
          <p:cNvPr id="4" name="Picture 3" descr="ring2.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347913" y="3573463"/>
            <a:ext cx="4024312" cy="2268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29842234"/>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ATM</a:t>
            </a:r>
            <a:endParaRPr lang="en-US" dirty="0"/>
          </a:p>
        </p:txBody>
      </p:sp>
      <p:sp>
        <p:nvSpPr>
          <p:cNvPr id="3" name="Content Placeholder 2"/>
          <p:cNvSpPr>
            <a:spLocks noGrp="1"/>
          </p:cNvSpPr>
          <p:nvPr>
            <p:ph idx="1"/>
          </p:nvPr>
        </p:nvSpPr>
        <p:spPr/>
        <p:txBody>
          <a:bodyPr/>
          <a:lstStyle/>
          <a:p>
            <a:pPr marL="777875" lvl="1" indent="-514350"/>
            <a:r>
              <a:rPr lang="en-GB" dirty="0"/>
              <a:t>Asynchronous Data Transfer Mode</a:t>
            </a:r>
          </a:p>
          <a:p>
            <a:pPr marL="777875" lvl="1" indent="-514350"/>
            <a:r>
              <a:rPr lang="en-GB" dirty="0"/>
              <a:t>Intended as a replacement for telephony and data networks</a:t>
            </a:r>
          </a:p>
          <a:p>
            <a:pPr marL="777875" lvl="1" indent="-514350"/>
            <a:r>
              <a:rPr lang="en-GB" dirty="0"/>
              <a:t>Uses a cell switching approach for high data rate transmission</a:t>
            </a:r>
          </a:p>
          <a:p>
            <a:pPr marL="777875" lvl="1" indent="-514350"/>
            <a:r>
              <a:rPr lang="en-GB" dirty="0"/>
              <a:t>Has been widely used as a LAN backbone technology, despite requiring complicated interfaces</a:t>
            </a:r>
          </a:p>
          <a:p>
            <a:pPr marL="777875" lvl="1" indent="-514350"/>
            <a:r>
              <a:rPr lang="en-GB" dirty="0"/>
              <a:t>Now overtaken by Gigabit Ethernet</a:t>
            </a:r>
          </a:p>
          <a:p>
            <a:endParaRPr lang="en-US" dirty="0"/>
          </a:p>
        </p:txBody>
      </p:sp>
      <p:sp>
        <p:nvSpPr>
          <p:cNvPr id="4" name="Footer Placeholder 3"/>
          <p:cNvSpPr>
            <a:spLocks noGrp="1"/>
          </p:cNvSpPr>
          <p:nvPr>
            <p:ph type="ftr" sz="quarter" idx="11"/>
          </p:nvPr>
        </p:nvSpPr>
        <p:spPr/>
        <p:txBody>
          <a:bodyPr/>
          <a:lstStyle/>
          <a:p>
            <a:r>
              <a:rPr lang="en-US" smtClean="0"/>
              <a:t>Jeremiah Kafakoma</a:t>
            </a:r>
            <a:endParaRPr lang="en-US"/>
          </a:p>
        </p:txBody>
      </p:sp>
      <p:sp>
        <p:nvSpPr>
          <p:cNvPr id="5" name="Slide Number Placeholder 4"/>
          <p:cNvSpPr>
            <a:spLocks noGrp="1"/>
          </p:cNvSpPr>
          <p:nvPr>
            <p:ph type="sldNum" sz="quarter" idx="12"/>
          </p:nvPr>
        </p:nvSpPr>
        <p:spPr/>
        <p:txBody>
          <a:bodyPr/>
          <a:lstStyle/>
          <a:p>
            <a:fld id="{AF99D367-8FDA-4A2F-9F0E-167FD1610AEF}" type="slidenum">
              <a:rPr lang="en-US" smtClean="0"/>
              <a:t>60</a:t>
            </a:fld>
            <a:endParaRPr lang="en-US"/>
          </a:p>
        </p:txBody>
      </p:sp>
    </p:spTree>
    <p:extLst>
      <p:ext uri="{BB962C8B-B14F-4D97-AF65-F5344CB8AC3E}">
        <p14:creationId xmlns:p14="http://schemas.microsoft.com/office/powerpoint/2010/main" val="3030626825"/>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DHCP</a:t>
            </a:r>
            <a:endParaRPr lang="en-US" dirty="0"/>
          </a:p>
        </p:txBody>
      </p:sp>
      <p:sp>
        <p:nvSpPr>
          <p:cNvPr id="3" name="Content Placeholder 2"/>
          <p:cNvSpPr>
            <a:spLocks noGrp="1"/>
          </p:cNvSpPr>
          <p:nvPr>
            <p:ph idx="1"/>
          </p:nvPr>
        </p:nvSpPr>
        <p:spPr/>
        <p:txBody>
          <a:bodyPr/>
          <a:lstStyle/>
          <a:p>
            <a:pPr marL="777875" lvl="1" indent="-514350"/>
            <a:r>
              <a:rPr lang="en-GB" dirty="0"/>
              <a:t>Client-server networks often allow for devices to be added and removed</a:t>
            </a:r>
          </a:p>
          <a:p>
            <a:pPr marL="777875" lvl="1" indent="-514350"/>
            <a:r>
              <a:rPr lang="en-GB" dirty="0"/>
              <a:t>The Dynamic Host Configuration Protocol is often used to assign unique IP addresses to devices</a:t>
            </a:r>
          </a:p>
          <a:p>
            <a:pPr marL="777875" lvl="1" indent="-514350"/>
            <a:r>
              <a:rPr lang="en-GB" dirty="0"/>
              <a:t>The address can be released when a device leaves the network</a:t>
            </a:r>
          </a:p>
          <a:p>
            <a:pPr marL="777875" lvl="1" indent="-514350"/>
            <a:r>
              <a:rPr lang="en-GB" dirty="0"/>
              <a:t>This same address can then be allocated to another device when it joins</a:t>
            </a:r>
          </a:p>
          <a:p>
            <a:endParaRPr lang="en-US" dirty="0"/>
          </a:p>
        </p:txBody>
      </p:sp>
      <p:sp>
        <p:nvSpPr>
          <p:cNvPr id="4" name="Footer Placeholder 3"/>
          <p:cNvSpPr>
            <a:spLocks noGrp="1"/>
          </p:cNvSpPr>
          <p:nvPr>
            <p:ph type="ftr" sz="quarter" idx="11"/>
          </p:nvPr>
        </p:nvSpPr>
        <p:spPr/>
        <p:txBody>
          <a:bodyPr/>
          <a:lstStyle/>
          <a:p>
            <a:r>
              <a:rPr lang="en-US" smtClean="0"/>
              <a:t>Jeremiah Kafakoma</a:t>
            </a:r>
            <a:endParaRPr lang="en-US"/>
          </a:p>
        </p:txBody>
      </p:sp>
      <p:sp>
        <p:nvSpPr>
          <p:cNvPr id="5" name="Slide Number Placeholder 4"/>
          <p:cNvSpPr>
            <a:spLocks noGrp="1"/>
          </p:cNvSpPr>
          <p:nvPr>
            <p:ph type="sldNum" sz="quarter" idx="12"/>
          </p:nvPr>
        </p:nvSpPr>
        <p:spPr/>
        <p:txBody>
          <a:bodyPr/>
          <a:lstStyle/>
          <a:p>
            <a:fld id="{AF99D367-8FDA-4A2F-9F0E-167FD1610AEF}" type="slidenum">
              <a:rPr lang="en-US" smtClean="0"/>
              <a:t>61</a:t>
            </a:fld>
            <a:endParaRPr lang="en-US"/>
          </a:p>
        </p:txBody>
      </p:sp>
    </p:spTree>
    <p:extLst>
      <p:ext uri="{BB962C8B-B14F-4D97-AF65-F5344CB8AC3E}">
        <p14:creationId xmlns:p14="http://schemas.microsoft.com/office/powerpoint/2010/main" val="178032655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Peer-to-Peer (P2P) Networks</a:t>
            </a:r>
            <a:endParaRPr lang="en-US" dirty="0"/>
          </a:p>
        </p:txBody>
      </p:sp>
      <p:sp>
        <p:nvSpPr>
          <p:cNvPr id="3" name="Content Placeholder 2"/>
          <p:cNvSpPr>
            <a:spLocks noGrp="1"/>
          </p:cNvSpPr>
          <p:nvPr>
            <p:ph idx="1"/>
          </p:nvPr>
        </p:nvSpPr>
        <p:spPr/>
        <p:txBody>
          <a:bodyPr/>
          <a:lstStyle/>
          <a:p>
            <a:pPr marL="777875" lvl="1" indent="-514350"/>
            <a:r>
              <a:rPr lang="en-GB" dirty="0"/>
              <a:t>Nodes generally have their own hard drive</a:t>
            </a:r>
          </a:p>
          <a:p>
            <a:pPr marL="777875" lvl="1" indent="-514350"/>
            <a:r>
              <a:rPr lang="en-GB" dirty="0"/>
              <a:t>Nodes often have their own peripheral devices</a:t>
            </a:r>
          </a:p>
          <a:p>
            <a:pPr marL="777875" lvl="1" indent="-514350"/>
            <a:r>
              <a:rPr lang="en-GB" dirty="0"/>
              <a:t>Control of a node is autonomous</a:t>
            </a:r>
          </a:p>
          <a:p>
            <a:pPr marL="777875" lvl="1" indent="-514350"/>
            <a:r>
              <a:rPr lang="en-GB" dirty="0"/>
              <a:t>Resources are shared at the discretion of individual users</a:t>
            </a:r>
          </a:p>
          <a:p>
            <a:pPr marL="777875" lvl="1" indent="-514350"/>
            <a:r>
              <a:rPr lang="en-GB" dirty="0"/>
              <a:t>Individual nodes can act as both clients and servers</a:t>
            </a:r>
          </a:p>
          <a:p>
            <a:endParaRPr lang="en-US" dirty="0"/>
          </a:p>
        </p:txBody>
      </p:sp>
      <p:sp>
        <p:nvSpPr>
          <p:cNvPr id="4" name="Footer Placeholder 3"/>
          <p:cNvSpPr>
            <a:spLocks noGrp="1"/>
          </p:cNvSpPr>
          <p:nvPr>
            <p:ph type="ftr" sz="quarter" idx="11"/>
          </p:nvPr>
        </p:nvSpPr>
        <p:spPr/>
        <p:txBody>
          <a:bodyPr/>
          <a:lstStyle/>
          <a:p>
            <a:r>
              <a:rPr lang="en-US" smtClean="0"/>
              <a:t>Jeremiah Kafakoma</a:t>
            </a:r>
            <a:endParaRPr lang="en-US"/>
          </a:p>
        </p:txBody>
      </p:sp>
      <p:sp>
        <p:nvSpPr>
          <p:cNvPr id="5" name="Slide Number Placeholder 4"/>
          <p:cNvSpPr>
            <a:spLocks noGrp="1"/>
          </p:cNvSpPr>
          <p:nvPr>
            <p:ph type="sldNum" sz="quarter" idx="12"/>
          </p:nvPr>
        </p:nvSpPr>
        <p:spPr/>
        <p:txBody>
          <a:bodyPr/>
          <a:lstStyle/>
          <a:p>
            <a:fld id="{AF99D367-8FDA-4A2F-9F0E-167FD1610AEF}" type="slidenum">
              <a:rPr lang="en-US" smtClean="0"/>
              <a:t>62</a:t>
            </a:fld>
            <a:endParaRPr lang="en-US"/>
          </a:p>
        </p:txBody>
      </p:sp>
    </p:spTree>
    <p:extLst>
      <p:ext uri="{BB962C8B-B14F-4D97-AF65-F5344CB8AC3E}">
        <p14:creationId xmlns:p14="http://schemas.microsoft.com/office/powerpoint/2010/main" val="3916756523"/>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What is the Internet?</a:t>
            </a:r>
            <a:endParaRPr lang="en-US" dirty="0"/>
          </a:p>
        </p:txBody>
      </p:sp>
      <p:sp>
        <p:nvSpPr>
          <p:cNvPr id="3" name="Content Placeholder 2"/>
          <p:cNvSpPr>
            <a:spLocks noGrp="1"/>
          </p:cNvSpPr>
          <p:nvPr>
            <p:ph idx="1"/>
          </p:nvPr>
        </p:nvSpPr>
        <p:spPr/>
        <p:txBody>
          <a:bodyPr>
            <a:normAutofit/>
          </a:bodyPr>
          <a:lstStyle/>
          <a:p>
            <a:pPr marL="533400" lvl="1" indent="-266700">
              <a:tabLst>
                <a:tab pos="533400" algn="l"/>
              </a:tabLst>
              <a:defRPr/>
            </a:pPr>
            <a:r>
              <a:rPr lang="en-GB" dirty="0"/>
              <a:t>A collection of networks that use common protocols to provide common services.</a:t>
            </a:r>
          </a:p>
          <a:p>
            <a:pPr marL="533400" lvl="1" indent="-266700">
              <a:tabLst>
                <a:tab pos="533400" algn="l"/>
              </a:tabLst>
              <a:defRPr/>
            </a:pPr>
            <a:endParaRPr lang="en-GB" sz="800" dirty="0"/>
          </a:p>
          <a:p>
            <a:pPr lvl="2">
              <a:defRPr/>
            </a:pPr>
            <a:r>
              <a:rPr lang="en-GB" sz="2600" dirty="0"/>
              <a:t>Uses the TCP/IP reference model</a:t>
            </a:r>
          </a:p>
          <a:p>
            <a:pPr lvl="2">
              <a:defRPr/>
            </a:pPr>
            <a:r>
              <a:rPr lang="en-GB" sz="2600" dirty="0"/>
              <a:t>Uses the TCP/IP protocol stack</a:t>
            </a:r>
          </a:p>
          <a:p>
            <a:pPr lvl="1">
              <a:defRPr/>
            </a:pPr>
            <a:r>
              <a:rPr lang="en-GB" dirty="0"/>
              <a:t>To be part of the Internet, a computer must also:</a:t>
            </a:r>
          </a:p>
          <a:p>
            <a:pPr lvl="1">
              <a:defRPr/>
            </a:pPr>
            <a:endParaRPr lang="en-GB" sz="800" dirty="0"/>
          </a:p>
          <a:p>
            <a:pPr lvl="2">
              <a:defRPr/>
            </a:pPr>
            <a:r>
              <a:rPr lang="en-GB" sz="2600" dirty="0"/>
              <a:t>Have an IP address</a:t>
            </a:r>
          </a:p>
          <a:p>
            <a:pPr lvl="2">
              <a:defRPr/>
            </a:pPr>
            <a:r>
              <a:rPr lang="en-GB" sz="2600" dirty="0"/>
              <a:t>Be able to send IP packets to other machines on the Internet</a:t>
            </a:r>
          </a:p>
          <a:p>
            <a:endParaRPr lang="en-US" dirty="0"/>
          </a:p>
        </p:txBody>
      </p:sp>
      <p:sp>
        <p:nvSpPr>
          <p:cNvPr id="4" name="Footer Placeholder 3"/>
          <p:cNvSpPr>
            <a:spLocks noGrp="1"/>
          </p:cNvSpPr>
          <p:nvPr>
            <p:ph type="ftr" sz="quarter" idx="11"/>
          </p:nvPr>
        </p:nvSpPr>
        <p:spPr/>
        <p:txBody>
          <a:bodyPr/>
          <a:lstStyle/>
          <a:p>
            <a:r>
              <a:rPr lang="en-US" smtClean="0"/>
              <a:t>Jeremiah Kafakoma</a:t>
            </a:r>
            <a:endParaRPr lang="en-US"/>
          </a:p>
        </p:txBody>
      </p:sp>
      <p:sp>
        <p:nvSpPr>
          <p:cNvPr id="5" name="Slide Number Placeholder 4"/>
          <p:cNvSpPr>
            <a:spLocks noGrp="1"/>
          </p:cNvSpPr>
          <p:nvPr>
            <p:ph type="sldNum" sz="quarter" idx="12"/>
          </p:nvPr>
        </p:nvSpPr>
        <p:spPr/>
        <p:txBody>
          <a:bodyPr/>
          <a:lstStyle/>
          <a:p>
            <a:fld id="{AF99D367-8FDA-4A2F-9F0E-167FD1610AEF}" type="slidenum">
              <a:rPr lang="en-US" smtClean="0"/>
              <a:t>63</a:t>
            </a:fld>
            <a:endParaRPr lang="en-US"/>
          </a:p>
        </p:txBody>
      </p:sp>
    </p:spTree>
    <p:extLst>
      <p:ext uri="{BB962C8B-B14F-4D97-AF65-F5344CB8AC3E}">
        <p14:creationId xmlns:p14="http://schemas.microsoft.com/office/powerpoint/2010/main" val="3472754893"/>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TCP/IP Reference Model </a:t>
            </a:r>
            <a:endParaRPr lang="en-US" dirty="0"/>
          </a:p>
        </p:txBody>
      </p:sp>
      <p:sp>
        <p:nvSpPr>
          <p:cNvPr id="3" name="Content Placeholder 2"/>
          <p:cNvSpPr>
            <a:spLocks noGrp="1"/>
          </p:cNvSpPr>
          <p:nvPr>
            <p:ph idx="1"/>
          </p:nvPr>
        </p:nvSpPr>
        <p:spPr/>
        <p:txBody>
          <a:bodyPr/>
          <a:lstStyle/>
          <a:p>
            <a:pPr marL="342900" lvl="1">
              <a:buClr>
                <a:schemeClr val="accent1"/>
              </a:buClr>
            </a:pPr>
            <a:r>
              <a:rPr lang="en-GB" dirty="0"/>
              <a:t>Has 4 layers</a:t>
            </a:r>
          </a:p>
          <a:p>
            <a:pPr marL="114300" indent="0">
              <a:buNone/>
            </a:pPr>
            <a:endParaRPr lang="en-US" dirty="0"/>
          </a:p>
        </p:txBody>
      </p:sp>
      <p:sp>
        <p:nvSpPr>
          <p:cNvPr id="5" name="Footer Placeholder 4"/>
          <p:cNvSpPr>
            <a:spLocks noGrp="1"/>
          </p:cNvSpPr>
          <p:nvPr>
            <p:ph type="ftr" sz="quarter" idx="11"/>
          </p:nvPr>
        </p:nvSpPr>
        <p:spPr/>
        <p:txBody>
          <a:bodyPr/>
          <a:lstStyle/>
          <a:p>
            <a:r>
              <a:rPr lang="en-US" smtClean="0"/>
              <a:t>Jeremiah Kafakoma</a:t>
            </a:r>
            <a:endParaRPr lang="en-US"/>
          </a:p>
        </p:txBody>
      </p:sp>
      <p:sp>
        <p:nvSpPr>
          <p:cNvPr id="6" name="Slide Number Placeholder 5"/>
          <p:cNvSpPr>
            <a:spLocks noGrp="1"/>
          </p:cNvSpPr>
          <p:nvPr>
            <p:ph type="sldNum" sz="quarter" idx="12"/>
          </p:nvPr>
        </p:nvSpPr>
        <p:spPr/>
        <p:txBody>
          <a:bodyPr/>
          <a:lstStyle/>
          <a:p>
            <a:fld id="{AF99D367-8FDA-4A2F-9F0E-167FD1610AEF}" type="slidenum">
              <a:rPr lang="en-US" smtClean="0"/>
              <a:t>64</a:t>
            </a:fld>
            <a:endParaRPr lang="en-US"/>
          </a:p>
        </p:txBody>
      </p:sp>
      <p:pic>
        <p:nvPicPr>
          <p:cNvPr id="4" name="Picture 3" descr="TCP_IP.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979613" y="1906588"/>
            <a:ext cx="5138737" cy="3843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854771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Host-to-Network Layer</a:t>
            </a:r>
            <a:endParaRPr lang="en-US" dirty="0"/>
          </a:p>
        </p:txBody>
      </p:sp>
      <p:sp>
        <p:nvSpPr>
          <p:cNvPr id="3" name="Content Placeholder 2"/>
          <p:cNvSpPr>
            <a:spLocks noGrp="1"/>
          </p:cNvSpPr>
          <p:nvPr>
            <p:ph idx="1"/>
          </p:nvPr>
        </p:nvSpPr>
        <p:spPr/>
        <p:txBody>
          <a:bodyPr>
            <a:normAutofit/>
          </a:bodyPr>
          <a:lstStyle/>
          <a:p>
            <a:pPr marL="777875" lvl="1" indent="-514350"/>
            <a:r>
              <a:rPr lang="en-GB" dirty="0"/>
              <a:t>Not specified in detail in the model</a:t>
            </a:r>
          </a:p>
          <a:p>
            <a:pPr marL="777875" lvl="1" indent="-514350"/>
            <a:r>
              <a:rPr lang="en-GB" dirty="0"/>
              <a:t>The host has to connect to the network via some protocol</a:t>
            </a:r>
          </a:p>
          <a:p>
            <a:pPr marL="777875" lvl="1" indent="-514350"/>
            <a:r>
              <a:rPr lang="en-GB" dirty="0"/>
              <a:t>The protocol must allow it to send IP packets</a:t>
            </a:r>
          </a:p>
          <a:p>
            <a:pPr marL="114300" indent="0">
              <a:buNone/>
            </a:pPr>
            <a:r>
              <a:rPr lang="en-GB" sz="3600" b="1" dirty="0"/>
              <a:t>Internet </a:t>
            </a:r>
            <a:r>
              <a:rPr lang="en-GB" sz="3600" b="1" dirty="0" smtClean="0"/>
              <a:t>Layer </a:t>
            </a:r>
          </a:p>
          <a:p>
            <a:pPr marL="777875" lvl="1" indent="-514350"/>
            <a:r>
              <a:rPr lang="en-GB" dirty="0"/>
              <a:t>Permits hosts to inject packets into any network and travel independently to their destination</a:t>
            </a:r>
          </a:p>
          <a:p>
            <a:pPr marL="777875" lvl="1" indent="-514350"/>
            <a:r>
              <a:rPr lang="en-GB" dirty="0"/>
              <a:t>Packets may be delivered in any order</a:t>
            </a:r>
          </a:p>
          <a:p>
            <a:pPr marL="777875" lvl="1" indent="-514350"/>
            <a:r>
              <a:rPr lang="en-GB" dirty="0"/>
              <a:t>Role is to ensure packets get to the right address</a:t>
            </a:r>
          </a:p>
          <a:p>
            <a:pPr marL="777875" lvl="1" indent="-514350"/>
            <a:r>
              <a:rPr lang="en-GB" dirty="0"/>
              <a:t>The Internet Protocol (IP) is responsible for this</a:t>
            </a:r>
          </a:p>
          <a:p>
            <a:pPr marL="777875" lvl="1" indent="-514350"/>
            <a:r>
              <a:rPr lang="en-GB" dirty="0"/>
              <a:t>The </a:t>
            </a:r>
            <a:r>
              <a:rPr lang="en-GB" b="1" dirty="0"/>
              <a:t>i</a:t>
            </a:r>
            <a:r>
              <a:rPr lang="en-GB" dirty="0"/>
              <a:t>nternet layer is present in the Internet but not specific to the Internet</a:t>
            </a:r>
          </a:p>
          <a:p>
            <a:pPr marL="777875" lvl="1" indent="-514350"/>
            <a:r>
              <a:rPr lang="en-GB" dirty="0"/>
              <a:t>Packet switching is the key function</a:t>
            </a:r>
          </a:p>
          <a:p>
            <a:endParaRPr lang="en-US" sz="1600" b="1" dirty="0"/>
          </a:p>
        </p:txBody>
      </p:sp>
      <p:sp>
        <p:nvSpPr>
          <p:cNvPr id="4" name="Footer Placeholder 3"/>
          <p:cNvSpPr>
            <a:spLocks noGrp="1"/>
          </p:cNvSpPr>
          <p:nvPr>
            <p:ph type="ftr" sz="quarter" idx="11"/>
          </p:nvPr>
        </p:nvSpPr>
        <p:spPr/>
        <p:txBody>
          <a:bodyPr/>
          <a:lstStyle/>
          <a:p>
            <a:r>
              <a:rPr lang="en-US" smtClean="0"/>
              <a:t>Jeremiah Kafakoma</a:t>
            </a:r>
            <a:endParaRPr lang="en-US"/>
          </a:p>
        </p:txBody>
      </p:sp>
      <p:sp>
        <p:nvSpPr>
          <p:cNvPr id="5" name="Slide Number Placeholder 4"/>
          <p:cNvSpPr>
            <a:spLocks noGrp="1"/>
          </p:cNvSpPr>
          <p:nvPr>
            <p:ph type="sldNum" sz="quarter" idx="12"/>
          </p:nvPr>
        </p:nvSpPr>
        <p:spPr/>
        <p:txBody>
          <a:bodyPr/>
          <a:lstStyle/>
          <a:p>
            <a:fld id="{AF99D367-8FDA-4A2F-9F0E-167FD1610AEF}" type="slidenum">
              <a:rPr lang="en-US" smtClean="0"/>
              <a:t>65</a:t>
            </a:fld>
            <a:endParaRPr lang="en-US"/>
          </a:p>
        </p:txBody>
      </p:sp>
    </p:spTree>
    <p:extLst>
      <p:ext uri="{BB962C8B-B14F-4D97-AF65-F5344CB8AC3E}">
        <p14:creationId xmlns:p14="http://schemas.microsoft.com/office/powerpoint/2010/main" val="2553793382"/>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Transport Layer</a:t>
            </a:r>
            <a:endParaRPr lang="en-US" dirty="0"/>
          </a:p>
        </p:txBody>
      </p:sp>
      <p:sp>
        <p:nvSpPr>
          <p:cNvPr id="3" name="Content Placeholder 2"/>
          <p:cNvSpPr>
            <a:spLocks noGrp="1"/>
          </p:cNvSpPr>
          <p:nvPr>
            <p:ph idx="1"/>
          </p:nvPr>
        </p:nvSpPr>
        <p:spPr/>
        <p:txBody>
          <a:bodyPr/>
          <a:lstStyle/>
          <a:p>
            <a:pPr marL="777875" lvl="1" indent="-514350"/>
            <a:r>
              <a:rPr lang="en-GB" dirty="0"/>
              <a:t>Is designed to allow source and destination to have a conversation</a:t>
            </a:r>
          </a:p>
          <a:p>
            <a:pPr marL="777875" lvl="1" indent="-514350"/>
            <a:r>
              <a:rPr lang="en-GB" dirty="0"/>
              <a:t>Uses one of two protocols:</a:t>
            </a:r>
          </a:p>
          <a:p>
            <a:pPr marL="777875" lvl="1" indent="-514350"/>
            <a:endParaRPr lang="en-GB" sz="800" dirty="0"/>
          </a:p>
          <a:p>
            <a:pPr marL="1311275" lvl="2" indent="-514350"/>
            <a:r>
              <a:rPr lang="en-GB" sz="2600" dirty="0"/>
              <a:t>Transmission Control Protocol (TCP)</a:t>
            </a:r>
          </a:p>
          <a:p>
            <a:pPr marL="1311275" lvl="2" indent="-514350"/>
            <a:r>
              <a:rPr lang="en-GB" sz="2600" dirty="0"/>
              <a:t>User Datagram Protocol (UDP)</a:t>
            </a:r>
          </a:p>
          <a:p>
            <a:pPr marL="777875" lvl="1" indent="-514350"/>
            <a:r>
              <a:rPr lang="en-GB" dirty="0"/>
              <a:t>Comparable to the OSI Transport Layer</a:t>
            </a:r>
          </a:p>
          <a:p>
            <a:endParaRPr lang="en-US" dirty="0"/>
          </a:p>
        </p:txBody>
      </p:sp>
      <p:sp>
        <p:nvSpPr>
          <p:cNvPr id="4" name="Footer Placeholder 3"/>
          <p:cNvSpPr>
            <a:spLocks noGrp="1"/>
          </p:cNvSpPr>
          <p:nvPr>
            <p:ph type="ftr" sz="quarter" idx="11"/>
          </p:nvPr>
        </p:nvSpPr>
        <p:spPr/>
        <p:txBody>
          <a:bodyPr/>
          <a:lstStyle/>
          <a:p>
            <a:r>
              <a:rPr lang="en-US" smtClean="0"/>
              <a:t>Jeremiah Kafakoma</a:t>
            </a:r>
            <a:endParaRPr lang="en-US"/>
          </a:p>
        </p:txBody>
      </p:sp>
      <p:sp>
        <p:nvSpPr>
          <p:cNvPr id="5" name="Slide Number Placeholder 4"/>
          <p:cNvSpPr>
            <a:spLocks noGrp="1"/>
          </p:cNvSpPr>
          <p:nvPr>
            <p:ph type="sldNum" sz="quarter" idx="12"/>
          </p:nvPr>
        </p:nvSpPr>
        <p:spPr/>
        <p:txBody>
          <a:bodyPr/>
          <a:lstStyle/>
          <a:p>
            <a:fld id="{AF99D367-8FDA-4A2F-9F0E-167FD1610AEF}" type="slidenum">
              <a:rPr lang="en-US" smtClean="0"/>
              <a:t>66</a:t>
            </a:fld>
            <a:endParaRPr lang="en-US"/>
          </a:p>
        </p:txBody>
      </p:sp>
    </p:spTree>
    <p:extLst>
      <p:ext uri="{BB962C8B-B14F-4D97-AF65-F5344CB8AC3E}">
        <p14:creationId xmlns:p14="http://schemas.microsoft.com/office/powerpoint/2010/main" val="22828486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Application Layer</a:t>
            </a:r>
            <a:endParaRPr lang="en-US" dirty="0"/>
          </a:p>
        </p:txBody>
      </p:sp>
      <p:sp>
        <p:nvSpPr>
          <p:cNvPr id="3" name="Content Placeholder 2"/>
          <p:cNvSpPr>
            <a:spLocks noGrp="1"/>
          </p:cNvSpPr>
          <p:nvPr>
            <p:ph idx="1"/>
          </p:nvPr>
        </p:nvSpPr>
        <p:spPr/>
        <p:txBody>
          <a:bodyPr>
            <a:normAutofit/>
          </a:bodyPr>
          <a:lstStyle/>
          <a:p>
            <a:pPr marL="777875" lvl="1" indent="-514350"/>
            <a:r>
              <a:rPr lang="en-GB" dirty="0"/>
              <a:t>The TCP/IP model does not have session or presentation layers</a:t>
            </a:r>
          </a:p>
          <a:p>
            <a:pPr marL="777875" lvl="1" indent="-514350"/>
            <a:r>
              <a:rPr lang="en-GB" dirty="0"/>
              <a:t>This layer consists of high level protocols such as:</a:t>
            </a:r>
          </a:p>
          <a:p>
            <a:pPr marL="777875" lvl="1" indent="-514350"/>
            <a:endParaRPr lang="en-GB" sz="800" dirty="0"/>
          </a:p>
          <a:p>
            <a:pPr marL="1311275" lvl="2" indent="-514350"/>
            <a:r>
              <a:rPr lang="en-GB" sz="2600" dirty="0"/>
              <a:t>File Transfer Protocol (FTP)</a:t>
            </a:r>
          </a:p>
          <a:p>
            <a:pPr marL="1311275" lvl="2" indent="-514350"/>
            <a:r>
              <a:rPr lang="en-GB" sz="2600" dirty="0"/>
              <a:t>Simple Mail Transfer Protocol (SMTP)</a:t>
            </a:r>
          </a:p>
          <a:p>
            <a:pPr marL="1311275" lvl="2" indent="-514350"/>
            <a:r>
              <a:rPr lang="en-GB" sz="2600" dirty="0"/>
              <a:t>HyperText Transfer Protocol (HTTP)</a:t>
            </a:r>
          </a:p>
          <a:p>
            <a:endParaRPr lang="en-US" dirty="0"/>
          </a:p>
        </p:txBody>
      </p:sp>
      <p:sp>
        <p:nvSpPr>
          <p:cNvPr id="4" name="Footer Placeholder 3"/>
          <p:cNvSpPr>
            <a:spLocks noGrp="1"/>
          </p:cNvSpPr>
          <p:nvPr>
            <p:ph type="ftr" sz="quarter" idx="11"/>
          </p:nvPr>
        </p:nvSpPr>
        <p:spPr/>
        <p:txBody>
          <a:bodyPr/>
          <a:lstStyle/>
          <a:p>
            <a:r>
              <a:rPr lang="en-US" smtClean="0"/>
              <a:t>Jeremiah Kafakoma</a:t>
            </a:r>
            <a:endParaRPr lang="en-US"/>
          </a:p>
        </p:txBody>
      </p:sp>
      <p:sp>
        <p:nvSpPr>
          <p:cNvPr id="5" name="Slide Number Placeholder 4"/>
          <p:cNvSpPr>
            <a:spLocks noGrp="1"/>
          </p:cNvSpPr>
          <p:nvPr>
            <p:ph type="sldNum" sz="quarter" idx="12"/>
          </p:nvPr>
        </p:nvSpPr>
        <p:spPr/>
        <p:txBody>
          <a:bodyPr/>
          <a:lstStyle/>
          <a:p>
            <a:fld id="{AF99D367-8FDA-4A2F-9F0E-167FD1610AEF}" type="slidenum">
              <a:rPr lang="en-US" smtClean="0"/>
              <a:t>67</a:t>
            </a:fld>
            <a:endParaRPr lang="en-US"/>
          </a:p>
        </p:txBody>
      </p:sp>
    </p:spTree>
    <p:extLst>
      <p:ext uri="{BB962C8B-B14F-4D97-AF65-F5344CB8AC3E}">
        <p14:creationId xmlns:p14="http://schemas.microsoft.com/office/powerpoint/2010/main" val="274541281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Internet Protocol</a:t>
            </a:r>
            <a:endParaRPr lang="en-US" dirty="0"/>
          </a:p>
        </p:txBody>
      </p:sp>
      <p:sp>
        <p:nvSpPr>
          <p:cNvPr id="3" name="Content Placeholder 2"/>
          <p:cNvSpPr>
            <a:spLocks noGrp="1"/>
          </p:cNvSpPr>
          <p:nvPr>
            <p:ph idx="1"/>
          </p:nvPr>
        </p:nvSpPr>
        <p:spPr/>
        <p:txBody>
          <a:bodyPr/>
          <a:lstStyle/>
          <a:p>
            <a:pPr marL="777875" lvl="1" indent="-514350"/>
            <a:r>
              <a:rPr lang="en-GB" dirty="0"/>
              <a:t>Defines the rules that determine how packets are transferred from one host to another</a:t>
            </a:r>
          </a:p>
          <a:p>
            <a:pPr marL="777875" lvl="1" indent="-514350"/>
            <a:r>
              <a:rPr lang="en-GB" dirty="0"/>
              <a:t>It is not a reliable protocol:</a:t>
            </a:r>
          </a:p>
          <a:p>
            <a:pPr marL="777875" lvl="1" indent="-514350"/>
            <a:endParaRPr lang="en-GB" sz="800" dirty="0"/>
          </a:p>
          <a:p>
            <a:pPr marL="1311275" lvl="2" indent="-514350"/>
            <a:r>
              <a:rPr lang="en-GB" sz="2600" dirty="0"/>
              <a:t>Packets may not be delivered</a:t>
            </a:r>
          </a:p>
          <a:p>
            <a:pPr marL="1311275" lvl="2" indent="-514350"/>
            <a:r>
              <a:rPr lang="en-GB" sz="2600" dirty="0"/>
              <a:t>Packets may be delivered out of sequence</a:t>
            </a:r>
          </a:p>
          <a:p>
            <a:pPr marL="777875" lvl="1" indent="-514350"/>
            <a:r>
              <a:rPr lang="en-GB" dirty="0"/>
              <a:t>Every host must have a unique IP address that identifies it.</a:t>
            </a:r>
          </a:p>
          <a:p>
            <a:endParaRPr lang="en-US" dirty="0"/>
          </a:p>
        </p:txBody>
      </p:sp>
      <p:sp>
        <p:nvSpPr>
          <p:cNvPr id="4" name="Footer Placeholder 3"/>
          <p:cNvSpPr>
            <a:spLocks noGrp="1"/>
          </p:cNvSpPr>
          <p:nvPr>
            <p:ph type="ftr" sz="quarter" idx="11"/>
          </p:nvPr>
        </p:nvSpPr>
        <p:spPr/>
        <p:txBody>
          <a:bodyPr/>
          <a:lstStyle/>
          <a:p>
            <a:r>
              <a:rPr lang="en-US" smtClean="0"/>
              <a:t>Jeremiah Kafakoma</a:t>
            </a:r>
            <a:endParaRPr lang="en-US"/>
          </a:p>
        </p:txBody>
      </p:sp>
      <p:sp>
        <p:nvSpPr>
          <p:cNvPr id="5" name="Slide Number Placeholder 4"/>
          <p:cNvSpPr>
            <a:spLocks noGrp="1"/>
          </p:cNvSpPr>
          <p:nvPr>
            <p:ph type="sldNum" sz="quarter" idx="12"/>
          </p:nvPr>
        </p:nvSpPr>
        <p:spPr/>
        <p:txBody>
          <a:bodyPr/>
          <a:lstStyle/>
          <a:p>
            <a:fld id="{AF99D367-8FDA-4A2F-9F0E-167FD1610AEF}" type="slidenum">
              <a:rPr lang="en-US" smtClean="0"/>
              <a:t>68</a:t>
            </a:fld>
            <a:endParaRPr lang="en-US"/>
          </a:p>
        </p:txBody>
      </p:sp>
    </p:spTree>
    <p:extLst>
      <p:ext uri="{BB962C8B-B14F-4D97-AF65-F5344CB8AC3E}">
        <p14:creationId xmlns:p14="http://schemas.microsoft.com/office/powerpoint/2010/main" val="3043820381"/>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IPv4 Addresses</a:t>
            </a:r>
            <a:endParaRPr lang="en-US" dirty="0"/>
          </a:p>
        </p:txBody>
      </p:sp>
      <p:sp>
        <p:nvSpPr>
          <p:cNvPr id="3" name="Content Placeholder 2"/>
          <p:cNvSpPr>
            <a:spLocks noGrp="1"/>
          </p:cNvSpPr>
          <p:nvPr>
            <p:ph idx="1"/>
          </p:nvPr>
        </p:nvSpPr>
        <p:spPr/>
        <p:txBody>
          <a:bodyPr/>
          <a:lstStyle/>
          <a:p>
            <a:pPr marL="777875" lvl="1" indent="-514350"/>
            <a:r>
              <a:rPr lang="en-GB" dirty="0"/>
              <a:t>Internet Protocol version 4</a:t>
            </a:r>
          </a:p>
          <a:p>
            <a:pPr marL="777875" lvl="1" indent="-514350"/>
            <a:r>
              <a:rPr lang="en-GB" dirty="0"/>
              <a:t>Each address is a dotted quad in the form 101.4.233.1</a:t>
            </a:r>
          </a:p>
          <a:p>
            <a:pPr marL="777875" lvl="1" indent="-514350"/>
            <a:r>
              <a:rPr lang="en-GB" dirty="0"/>
              <a:t>Each address is made up of four decimal numbers between 0 and 255 separated by a dot</a:t>
            </a:r>
          </a:p>
          <a:p>
            <a:pPr marL="777875" lvl="1" indent="-514350"/>
            <a:r>
              <a:rPr lang="en-GB" dirty="0"/>
              <a:t>Each address is 32 bits</a:t>
            </a:r>
          </a:p>
          <a:p>
            <a:pPr marL="777875" lvl="1" indent="-514350"/>
            <a:r>
              <a:rPr lang="en-GB" dirty="0"/>
              <a:t>2</a:t>
            </a:r>
            <a:r>
              <a:rPr lang="en-GB" baseline="30000" dirty="0"/>
              <a:t>32</a:t>
            </a:r>
            <a:r>
              <a:rPr lang="en-GB" dirty="0"/>
              <a:t>= 4 294 967 296 possible addresses</a:t>
            </a:r>
          </a:p>
          <a:p>
            <a:endParaRPr lang="en-US" dirty="0"/>
          </a:p>
        </p:txBody>
      </p:sp>
      <p:sp>
        <p:nvSpPr>
          <p:cNvPr id="4" name="Footer Placeholder 3"/>
          <p:cNvSpPr>
            <a:spLocks noGrp="1"/>
          </p:cNvSpPr>
          <p:nvPr>
            <p:ph type="ftr" sz="quarter" idx="11"/>
          </p:nvPr>
        </p:nvSpPr>
        <p:spPr/>
        <p:txBody>
          <a:bodyPr/>
          <a:lstStyle/>
          <a:p>
            <a:r>
              <a:rPr lang="en-US" smtClean="0"/>
              <a:t>Jeremiah Kafakoma</a:t>
            </a:r>
            <a:endParaRPr lang="en-US"/>
          </a:p>
        </p:txBody>
      </p:sp>
      <p:sp>
        <p:nvSpPr>
          <p:cNvPr id="5" name="Slide Number Placeholder 4"/>
          <p:cNvSpPr>
            <a:spLocks noGrp="1"/>
          </p:cNvSpPr>
          <p:nvPr>
            <p:ph type="sldNum" sz="quarter" idx="12"/>
          </p:nvPr>
        </p:nvSpPr>
        <p:spPr/>
        <p:txBody>
          <a:bodyPr/>
          <a:lstStyle/>
          <a:p>
            <a:fld id="{AF99D367-8FDA-4A2F-9F0E-167FD1610AEF}" type="slidenum">
              <a:rPr lang="en-US" smtClean="0"/>
              <a:t>69</a:t>
            </a:fld>
            <a:endParaRPr lang="en-US"/>
          </a:p>
        </p:txBody>
      </p:sp>
    </p:spTree>
    <p:extLst>
      <p:ext uri="{BB962C8B-B14F-4D97-AF65-F5344CB8AC3E}">
        <p14:creationId xmlns:p14="http://schemas.microsoft.com/office/powerpoint/2010/main" val="666729364"/>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SUBNETS</a:t>
            </a:r>
            <a:endParaRPr lang="en-US" dirty="0"/>
          </a:p>
        </p:txBody>
      </p:sp>
      <p:sp>
        <p:nvSpPr>
          <p:cNvPr id="3" name="Content Placeholder 2"/>
          <p:cNvSpPr>
            <a:spLocks noGrp="1"/>
          </p:cNvSpPr>
          <p:nvPr>
            <p:ph idx="1"/>
          </p:nvPr>
        </p:nvSpPr>
        <p:spPr/>
        <p:txBody>
          <a:bodyPr/>
          <a:lstStyle/>
          <a:p>
            <a:pPr marL="777875" lvl="1" indent="-514350"/>
            <a:r>
              <a:rPr lang="en-GB" dirty="0"/>
              <a:t>A subnet is a logical subdivision of an IP network.</a:t>
            </a:r>
          </a:p>
          <a:p>
            <a:pPr marL="777875" lvl="1" indent="-514350"/>
            <a:r>
              <a:rPr lang="en-GB" dirty="0"/>
              <a:t>Subnets are meaningless to any router outside the business.</a:t>
            </a:r>
          </a:p>
          <a:p>
            <a:pPr marL="777875" lvl="1" indent="-514350"/>
            <a:r>
              <a:rPr lang="en-GB" dirty="0"/>
              <a:t>Internal routers can use this to route packets to the relevant </a:t>
            </a:r>
            <a:r>
              <a:rPr lang="en-GB" dirty="0" smtClean="0"/>
              <a:t>subnet work</a:t>
            </a:r>
            <a:r>
              <a:rPr lang="en-GB" dirty="0"/>
              <a:t>.</a:t>
            </a:r>
          </a:p>
          <a:p>
            <a:pPr marL="777875" lvl="1" indent="-514350"/>
            <a:r>
              <a:rPr lang="en-US" dirty="0"/>
              <a:t>By </a:t>
            </a:r>
            <a:r>
              <a:rPr lang="en-US" dirty="0" smtClean="0"/>
              <a:t>organizing </a:t>
            </a:r>
            <a:r>
              <a:rPr lang="en-US" dirty="0"/>
              <a:t>hosts into logical groups, </a:t>
            </a:r>
            <a:r>
              <a:rPr lang="en-US" dirty="0" smtClean="0"/>
              <a:t>subletting </a:t>
            </a:r>
            <a:r>
              <a:rPr lang="en-US" dirty="0"/>
              <a:t>can improve network security and performance.</a:t>
            </a:r>
          </a:p>
          <a:p>
            <a:endParaRPr lang="en-US" dirty="0"/>
          </a:p>
        </p:txBody>
      </p:sp>
      <p:sp>
        <p:nvSpPr>
          <p:cNvPr id="4" name="Footer Placeholder 3"/>
          <p:cNvSpPr>
            <a:spLocks noGrp="1"/>
          </p:cNvSpPr>
          <p:nvPr>
            <p:ph type="ftr" sz="quarter" idx="11"/>
          </p:nvPr>
        </p:nvSpPr>
        <p:spPr/>
        <p:txBody>
          <a:bodyPr/>
          <a:lstStyle/>
          <a:p>
            <a:r>
              <a:rPr lang="en-US" smtClean="0"/>
              <a:t>Jeremiah Kafakoma</a:t>
            </a:r>
            <a:endParaRPr lang="en-US"/>
          </a:p>
        </p:txBody>
      </p:sp>
      <p:sp>
        <p:nvSpPr>
          <p:cNvPr id="5" name="Slide Number Placeholder 4"/>
          <p:cNvSpPr>
            <a:spLocks noGrp="1"/>
          </p:cNvSpPr>
          <p:nvPr>
            <p:ph type="sldNum" sz="quarter" idx="12"/>
          </p:nvPr>
        </p:nvSpPr>
        <p:spPr/>
        <p:txBody>
          <a:bodyPr/>
          <a:lstStyle/>
          <a:p>
            <a:fld id="{AF99D367-8FDA-4A2F-9F0E-167FD1610AEF}" type="slidenum">
              <a:rPr lang="en-US" smtClean="0"/>
              <a:t>70</a:t>
            </a:fld>
            <a:endParaRPr lang="en-US"/>
          </a:p>
        </p:txBody>
      </p:sp>
    </p:spTree>
    <p:extLst>
      <p:ext uri="{BB962C8B-B14F-4D97-AF65-F5344CB8AC3E}">
        <p14:creationId xmlns:p14="http://schemas.microsoft.com/office/powerpoint/2010/main" val="1458245191"/>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Subnet Addressing</a:t>
            </a:r>
            <a:endParaRPr lang="en-US" dirty="0"/>
          </a:p>
        </p:txBody>
      </p:sp>
      <p:sp>
        <p:nvSpPr>
          <p:cNvPr id="3" name="Content Placeholder 2"/>
          <p:cNvSpPr>
            <a:spLocks noGrp="1"/>
          </p:cNvSpPr>
          <p:nvPr>
            <p:ph idx="1"/>
          </p:nvPr>
        </p:nvSpPr>
        <p:spPr/>
        <p:txBody>
          <a:bodyPr/>
          <a:lstStyle/>
          <a:p>
            <a:pPr marL="777875" lvl="1" indent="-514350"/>
            <a:r>
              <a:rPr lang="en-GB" dirty="0"/>
              <a:t>The most significant part of the address is used to indicate which network is intended, e.g. 192.168.1.0.</a:t>
            </a:r>
          </a:p>
          <a:p>
            <a:pPr marL="777875" lvl="1" indent="-514350"/>
            <a:r>
              <a:rPr lang="en-GB" dirty="0"/>
              <a:t>Devices on this subnet have addresses in the range 192.168.1.1 - 192.168.1.254.</a:t>
            </a:r>
          </a:p>
          <a:p>
            <a:pPr marL="777875" lvl="1" indent="-514350"/>
            <a:r>
              <a:rPr lang="en-GB" dirty="0"/>
              <a:t>192.168.1.255 cannot be assigned as it is reserved for broadcast.</a:t>
            </a:r>
          </a:p>
          <a:p>
            <a:pPr marL="777875" lvl="1" indent="-514350"/>
            <a:r>
              <a:rPr lang="en-GB" dirty="0"/>
              <a:t>Multiple subnets can be used on one network.</a:t>
            </a:r>
          </a:p>
          <a:p>
            <a:endParaRPr lang="en-US" dirty="0"/>
          </a:p>
        </p:txBody>
      </p:sp>
      <p:sp>
        <p:nvSpPr>
          <p:cNvPr id="4" name="Footer Placeholder 3"/>
          <p:cNvSpPr>
            <a:spLocks noGrp="1"/>
          </p:cNvSpPr>
          <p:nvPr>
            <p:ph type="ftr" sz="quarter" idx="11"/>
          </p:nvPr>
        </p:nvSpPr>
        <p:spPr/>
        <p:txBody>
          <a:bodyPr/>
          <a:lstStyle/>
          <a:p>
            <a:r>
              <a:rPr lang="en-US" smtClean="0"/>
              <a:t>Jeremiah Kafakoma</a:t>
            </a:r>
            <a:endParaRPr lang="en-US"/>
          </a:p>
        </p:txBody>
      </p:sp>
      <p:sp>
        <p:nvSpPr>
          <p:cNvPr id="5" name="Slide Number Placeholder 4"/>
          <p:cNvSpPr>
            <a:spLocks noGrp="1"/>
          </p:cNvSpPr>
          <p:nvPr>
            <p:ph type="sldNum" sz="quarter" idx="12"/>
          </p:nvPr>
        </p:nvSpPr>
        <p:spPr/>
        <p:txBody>
          <a:bodyPr/>
          <a:lstStyle/>
          <a:p>
            <a:fld id="{AF99D367-8FDA-4A2F-9F0E-167FD1610AEF}" type="slidenum">
              <a:rPr lang="en-US" smtClean="0"/>
              <a:t>71</a:t>
            </a:fld>
            <a:endParaRPr lang="en-US"/>
          </a:p>
        </p:txBody>
      </p:sp>
    </p:spTree>
    <p:extLst>
      <p:ext uri="{BB962C8B-B14F-4D97-AF65-F5344CB8AC3E}">
        <p14:creationId xmlns:p14="http://schemas.microsoft.com/office/powerpoint/2010/main" val="1790433931"/>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Multiple Subnets</a:t>
            </a:r>
            <a:endParaRPr lang="en-US" dirty="0"/>
          </a:p>
        </p:txBody>
      </p:sp>
      <p:sp>
        <p:nvSpPr>
          <p:cNvPr id="3" name="Content Placeholder 2"/>
          <p:cNvSpPr>
            <a:spLocks noGrp="1"/>
          </p:cNvSpPr>
          <p:nvPr>
            <p:ph idx="1"/>
          </p:nvPr>
        </p:nvSpPr>
        <p:spPr/>
        <p:txBody>
          <a:bodyPr/>
          <a:lstStyle/>
          <a:p>
            <a:pPr marL="777875" lvl="1" indent="-514350"/>
            <a:r>
              <a:rPr lang="en-GB" dirty="0"/>
              <a:t>A router could have the address 192.168.0.0.</a:t>
            </a:r>
          </a:p>
          <a:p>
            <a:pPr marL="777875" lvl="1" indent="-514350"/>
            <a:r>
              <a:rPr lang="en-GB" dirty="0"/>
              <a:t>There could be a number of subnets within an address:</a:t>
            </a:r>
          </a:p>
          <a:p>
            <a:pPr marL="777875" lvl="1" indent="-514350"/>
            <a:endParaRPr lang="en-GB" sz="800" dirty="0"/>
          </a:p>
          <a:p>
            <a:pPr marL="1311275" lvl="2" indent="-514350"/>
            <a:r>
              <a:rPr lang="en-GB" sz="2600" dirty="0"/>
              <a:t>192.168.1.0</a:t>
            </a:r>
          </a:p>
          <a:p>
            <a:pPr marL="1311275" lvl="2" indent="-514350"/>
            <a:r>
              <a:rPr lang="en-GB" sz="2600" dirty="0"/>
              <a:t>192.168.2.0</a:t>
            </a:r>
          </a:p>
          <a:p>
            <a:pPr marL="1311275" lvl="2" indent="-514350"/>
            <a:r>
              <a:rPr lang="en-GB" sz="2600" dirty="0"/>
              <a:t>192.168.3.0</a:t>
            </a:r>
          </a:p>
          <a:p>
            <a:pPr marL="1311275" lvl="2" indent="-514350"/>
            <a:r>
              <a:rPr lang="en-GB" sz="2600" dirty="0"/>
              <a:t>Etc.</a:t>
            </a:r>
          </a:p>
          <a:p>
            <a:endParaRPr lang="en-US" dirty="0"/>
          </a:p>
        </p:txBody>
      </p:sp>
      <p:sp>
        <p:nvSpPr>
          <p:cNvPr id="4" name="Footer Placeholder 3"/>
          <p:cNvSpPr>
            <a:spLocks noGrp="1"/>
          </p:cNvSpPr>
          <p:nvPr>
            <p:ph type="ftr" sz="quarter" idx="11"/>
          </p:nvPr>
        </p:nvSpPr>
        <p:spPr/>
        <p:txBody>
          <a:bodyPr/>
          <a:lstStyle/>
          <a:p>
            <a:r>
              <a:rPr lang="en-US" smtClean="0"/>
              <a:t>Jeremiah Kafakoma</a:t>
            </a:r>
            <a:endParaRPr lang="en-US"/>
          </a:p>
        </p:txBody>
      </p:sp>
      <p:sp>
        <p:nvSpPr>
          <p:cNvPr id="5" name="Slide Number Placeholder 4"/>
          <p:cNvSpPr>
            <a:spLocks noGrp="1"/>
          </p:cNvSpPr>
          <p:nvPr>
            <p:ph type="sldNum" sz="quarter" idx="12"/>
          </p:nvPr>
        </p:nvSpPr>
        <p:spPr/>
        <p:txBody>
          <a:bodyPr/>
          <a:lstStyle/>
          <a:p>
            <a:fld id="{AF99D367-8FDA-4A2F-9F0E-167FD1610AEF}" type="slidenum">
              <a:rPr lang="en-US" smtClean="0"/>
              <a:t>72</a:t>
            </a:fld>
            <a:endParaRPr lang="en-US"/>
          </a:p>
        </p:txBody>
      </p:sp>
    </p:spTree>
    <p:extLst>
      <p:ext uri="{BB962C8B-B14F-4D97-AF65-F5344CB8AC3E}">
        <p14:creationId xmlns:p14="http://schemas.microsoft.com/office/powerpoint/2010/main" val="44016842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IPv6</a:t>
            </a:r>
            <a:endParaRPr lang="en-US" dirty="0"/>
          </a:p>
        </p:txBody>
      </p:sp>
      <p:sp>
        <p:nvSpPr>
          <p:cNvPr id="3" name="Content Placeholder 2"/>
          <p:cNvSpPr>
            <a:spLocks noGrp="1"/>
          </p:cNvSpPr>
          <p:nvPr>
            <p:ph idx="1"/>
          </p:nvPr>
        </p:nvSpPr>
        <p:spPr/>
        <p:txBody>
          <a:bodyPr/>
          <a:lstStyle/>
          <a:p>
            <a:pPr marL="777875" lvl="1" indent="-514350"/>
            <a:r>
              <a:rPr lang="en-GB" dirty="0"/>
              <a:t>Problem with IPv4 - Not enough addresses</a:t>
            </a:r>
          </a:p>
          <a:p>
            <a:pPr marL="777875" lvl="1" indent="-514350"/>
            <a:r>
              <a:rPr lang="en-GB" dirty="0"/>
              <a:t>Solution – a new version of IP</a:t>
            </a:r>
          </a:p>
          <a:p>
            <a:pPr marL="777875" lvl="1" indent="-514350"/>
            <a:r>
              <a:rPr lang="en-GB" dirty="0"/>
              <a:t>IP version 6 addresses are made up of 128 bits.</a:t>
            </a:r>
          </a:p>
          <a:p>
            <a:pPr marL="777875" lvl="1" indent="-514350"/>
            <a:r>
              <a:rPr lang="en-US" dirty="0"/>
              <a:t>2</a:t>
            </a:r>
            <a:r>
              <a:rPr lang="en-US" baseline="30000" dirty="0"/>
              <a:t>128</a:t>
            </a:r>
            <a:r>
              <a:rPr lang="en-US" dirty="0"/>
              <a:t>, or about 3.403×10</a:t>
            </a:r>
            <a:r>
              <a:rPr lang="en-US" baseline="30000" dirty="0"/>
              <a:t>38</a:t>
            </a:r>
            <a:r>
              <a:rPr lang="en-US" dirty="0"/>
              <a:t>, unique addresses</a:t>
            </a:r>
          </a:p>
          <a:p>
            <a:pPr marL="777875" lvl="1" indent="-514350"/>
            <a:r>
              <a:rPr lang="en-US" dirty="0"/>
              <a:t>Represented by 8 groups of 16-bit hexadecimal values separated by colons, e.g. </a:t>
            </a:r>
            <a:r>
              <a:rPr lang="en-GB" dirty="0"/>
              <a:t>2001:0db8:85a3:0000:0000:8a2e:0170:4334</a:t>
            </a:r>
          </a:p>
          <a:p>
            <a:pPr marL="777875" lvl="1" indent="-514350"/>
            <a:r>
              <a:rPr lang="en-GB" dirty="0"/>
              <a:t>Many applications do not yet support IPv6.</a:t>
            </a:r>
            <a:endParaRPr lang="en-US" dirty="0"/>
          </a:p>
          <a:p>
            <a:endParaRPr lang="en-US" dirty="0"/>
          </a:p>
        </p:txBody>
      </p:sp>
      <p:sp>
        <p:nvSpPr>
          <p:cNvPr id="4" name="Footer Placeholder 3"/>
          <p:cNvSpPr>
            <a:spLocks noGrp="1"/>
          </p:cNvSpPr>
          <p:nvPr>
            <p:ph type="ftr" sz="quarter" idx="11"/>
          </p:nvPr>
        </p:nvSpPr>
        <p:spPr/>
        <p:txBody>
          <a:bodyPr/>
          <a:lstStyle/>
          <a:p>
            <a:r>
              <a:rPr lang="en-US" smtClean="0"/>
              <a:t>Jeremiah Kafakoma</a:t>
            </a:r>
            <a:endParaRPr lang="en-US"/>
          </a:p>
        </p:txBody>
      </p:sp>
      <p:sp>
        <p:nvSpPr>
          <p:cNvPr id="5" name="Slide Number Placeholder 4"/>
          <p:cNvSpPr>
            <a:spLocks noGrp="1"/>
          </p:cNvSpPr>
          <p:nvPr>
            <p:ph type="sldNum" sz="quarter" idx="12"/>
          </p:nvPr>
        </p:nvSpPr>
        <p:spPr/>
        <p:txBody>
          <a:bodyPr/>
          <a:lstStyle/>
          <a:p>
            <a:fld id="{AF99D367-8FDA-4A2F-9F0E-167FD1610AEF}" type="slidenum">
              <a:rPr lang="en-US" smtClean="0"/>
              <a:t>73</a:t>
            </a:fld>
            <a:endParaRPr lang="en-US"/>
          </a:p>
        </p:txBody>
      </p:sp>
    </p:spTree>
    <p:extLst>
      <p:ext uri="{BB962C8B-B14F-4D97-AF65-F5344CB8AC3E}">
        <p14:creationId xmlns:p14="http://schemas.microsoft.com/office/powerpoint/2010/main" val="417396442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From IPv4 to IPv6</a:t>
            </a:r>
            <a:endParaRPr lang="en-US" dirty="0"/>
          </a:p>
        </p:txBody>
      </p:sp>
      <p:sp>
        <p:nvSpPr>
          <p:cNvPr id="3" name="Content Placeholder 2"/>
          <p:cNvSpPr>
            <a:spLocks noGrp="1"/>
          </p:cNvSpPr>
          <p:nvPr>
            <p:ph idx="1"/>
          </p:nvPr>
        </p:nvSpPr>
        <p:spPr/>
        <p:txBody>
          <a:bodyPr/>
          <a:lstStyle/>
          <a:p>
            <a:pPr marL="777875" lvl="1" indent="-514350"/>
            <a:r>
              <a:rPr lang="en-GB" dirty="0"/>
              <a:t>Address increased from 32-bit to 128-bit</a:t>
            </a:r>
          </a:p>
          <a:p>
            <a:pPr marL="777875" lvl="1" indent="-514350"/>
            <a:r>
              <a:rPr lang="en-GB" dirty="0"/>
              <a:t>Allows node to specify the message path</a:t>
            </a:r>
          </a:p>
          <a:p>
            <a:pPr marL="777875" lvl="1" indent="-514350"/>
            <a:r>
              <a:rPr lang="en-GB" dirty="0"/>
              <a:t>Smaller header but addresses are longer</a:t>
            </a:r>
          </a:p>
          <a:p>
            <a:pPr marL="777875" lvl="1" indent="-514350"/>
            <a:r>
              <a:rPr lang="en-GB" dirty="0"/>
              <a:t>Allows for more header options in the future</a:t>
            </a:r>
          </a:p>
          <a:p>
            <a:pPr marL="777875" lvl="1" indent="-514350"/>
            <a:r>
              <a:rPr lang="en-GB" dirty="0"/>
              <a:t>Quality of service capabilities allow non-standard handling of packets</a:t>
            </a:r>
          </a:p>
          <a:p>
            <a:pPr marL="777875" lvl="1" indent="-514350"/>
            <a:r>
              <a:rPr lang="en-GB" dirty="0"/>
              <a:t>Allow for the handling of authentication, confidentiality and data integrity</a:t>
            </a:r>
          </a:p>
          <a:p>
            <a:endParaRPr lang="en-US" dirty="0"/>
          </a:p>
        </p:txBody>
      </p:sp>
      <p:sp>
        <p:nvSpPr>
          <p:cNvPr id="4" name="Footer Placeholder 3"/>
          <p:cNvSpPr>
            <a:spLocks noGrp="1"/>
          </p:cNvSpPr>
          <p:nvPr>
            <p:ph type="ftr" sz="quarter" idx="11"/>
          </p:nvPr>
        </p:nvSpPr>
        <p:spPr/>
        <p:txBody>
          <a:bodyPr/>
          <a:lstStyle/>
          <a:p>
            <a:r>
              <a:rPr lang="en-US" smtClean="0"/>
              <a:t>Jeremiah Kafakoma</a:t>
            </a:r>
            <a:endParaRPr lang="en-US"/>
          </a:p>
        </p:txBody>
      </p:sp>
      <p:sp>
        <p:nvSpPr>
          <p:cNvPr id="5" name="Slide Number Placeholder 4"/>
          <p:cNvSpPr>
            <a:spLocks noGrp="1"/>
          </p:cNvSpPr>
          <p:nvPr>
            <p:ph type="sldNum" sz="quarter" idx="12"/>
          </p:nvPr>
        </p:nvSpPr>
        <p:spPr/>
        <p:txBody>
          <a:bodyPr/>
          <a:lstStyle/>
          <a:p>
            <a:fld id="{AF99D367-8FDA-4A2F-9F0E-167FD1610AEF}" type="slidenum">
              <a:rPr lang="en-US" smtClean="0"/>
              <a:t>74</a:t>
            </a:fld>
            <a:endParaRPr lang="en-US"/>
          </a:p>
        </p:txBody>
      </p:sp>
    </p:spTree>
    <p:extLst>
      <p:ext uri="{BB962C8B-B14F-4D97-AF65-F5344CB8AC3E}">
        <p14:creationId xmlns:p14="http://schemas.microsoft.com/office/powerpoint/2010/main" val="2434585934"/>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sz="4000" dirty="0"/>
              <a:t>Transmission Control Protocol - 1</a:t>
            </a:r>
            <a:endParaRPr lang="en-US" sz="4000" dirty="0"/>
          </a:p>
        </p:txBody>
      </p:sp>
      <p:sp>
        <p:nvSpPr>
          <p:cNvPr id="3" name="Content Placeholder 2"/>
          <p:cNvSpPr>
            <a:spLocks noGrp="1"/>
          </p:cNvSpPr>
          <p:nvPr>
            <p:ph idx="1"/>
          </p:nvPr>
        </p:nvSpPr>
        <p:spPr/>
        <p:txBody>
          <a:bodyPr/>
          <a:lstStyle/>
          <a:p>
            <a:pPr marL="777875" lvl="1" indent="-514350"/>
            <a:r>
              <a:rPr lang="en-GB" dirty="0"/>
              <a:t>Designed to provide reliable delivery for IP</a:t>
            </a:r>
          </a:p>
          <a:p>
            <a:pPr marL="777875" lvl="1" indent="-514350"/>
            <a:r>
              <a:rPr lang="en-GB" dirty="0"/>
              <a:t>Takes care of breaking data into packets and reassembling at the destination host</a:t>
            </a:r>
          </a:p>
          <a:p>
            <a:pPr marL="777875" lvl="1" indent="-514350"/>
            <a:r>
              <a:rPr lang="en-GB" dirty="0"/>
              <a:t>Checks if packet is corrupted and requests a resend if it is</a:t>
            </a:r>
          </a:p>
          <a:p>
            <a:pPr marL="777875" lvl="1" indent="-514350"/>
            <a:r>
              <a:rPr lang="en-GB" dirty="0"/>
              <a:t>Checks number of packets and requests replacement if one is missing</a:t>
            </a:r>
          </a:p>
          <a:p>
            <a:pPr marL="777875" lvl="1" indent="-514350"/>
            <a:r>
              <a:rPr lang="en-GB" dirty="0"/>
              <a:t>Handles timeouts and transmission errors</a:t>
            </a:r>
          </a:p>
          <a:p>
            <a:endParaRPr lang="en-US" dirty="0"/>
          </a:p>
        </p:txBody>
      </p:sp>
      <p:sp>
        <p:nvSpPr>
          <p:cNvPr id="4" name="Footer Placeholder 3"/>
          <p:cNvSpPr>
            <a:spLocks noGrp="1"/>
          </p:cNvSpPr>
          <p:nvPr>
            <p:ph type="ftr" sz="quarter" idx="11"/>
          </p:nvPr>
        </p:nvSpPr>
        <p:spPr/>
        <p:txBody>
          <a:bodyPr/>
          <a:lstStyle/>
          <a:p>
            <a:r>
              <a:rPr lang="en-US" smtClean="0"/>
              <a:t>Jeremiah Kafakoma</a:t>
            </a:r>
            <a:endParaRPr lang="en-US"/>
          </a:p>
        </p:txBody>
      </p:sp>
      <p:sp>
        <p:nvSpPr>
          <p:cNvPr id="5" name="Slide Number Placeholder 4"/>
          <p:cNvSpPr>
            <a:spLocks noGrp="1"/>
          </p:cNvSpPr>
          <p:nvPr>
            <p:ph type="sldNum" sz="quarter" idx="12"/>
          </p:nvPr>
        </p:nvSpPr>
        <p:spPr/>
        <p:txBody>
          <a:bodyPr/>
          <a:lstStyle/>
          <a:p>
            <a:fld id="{AF99D367-8FDA-4A2F-9F0E-167FD1610AEF}" type="slidenum">
              <a:rPr lang="en-US" smtClean="0"/>
              <a:t>75</a:t>
            </a:fld>
            <a:endParaRPr lang="en-US"/>
          </a:p>
        </p:txBody>
      </p:sp>
    </p:spTree>
    <p:extLst>
      <p:ext uri="{BB962C8B-B14F-4D97-AF65-F5344CB8AC3E}">
        <p14:creationId xmlns:p14="http://schemas.microsoft.com/office/powerpoint/2010/main" val="269343194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777875" lvl="1" indent="-514350"/>
            <a:r>
              <a:rPr lang="en-GB" dirty="0"/>
              <a:t>A connection-oriented protocol - </a:t>
            </a:r>
            <a:r>
              <a:rPr lang="en-US" dirty="0"/>
              <a:t>a connection is established and maintained until such time as the messages have been exchanged</a:t>
            </a:r>
          </a:p>
          <a:p>
            <a:pPr marL="777875" lvl="1" indent="-514350"/>
            <a:r>
              <a:rPr lang="en-US" dirty="0"/>
              <a:t>Establishes a full duplex virtual connection between two endpoints</a:t>
            </a:r>
          </a:p>
          <a:p>
            <a:pPr marL="777875" lvl="1" indent="-514350"/>
            <a:r>
              <a:rPr lang="en-US" dirty="0"/>
              <a:t>Each endpoint is defined by an IP address and a TCP port number</a:t>
            </a:r>
          </a:p>
          <a:p>
            <a:pPr marL="777875" lvl="1" indent="-514350"/>
            <a:r>
              <a:rPr lang="en-US" dirty="0"/>
              <a:t>Used with WWW, email and file transfer</a:t>
            </a:r>
          </a:p>
          <a:p>
            <a:pPr marL="777875" lvl="1" indent="-514350"/>
            <a:endParaRPr lang="en-GB" dirty="0"/>
          </a:p>
          <a:p>
            <a:endParaRPr lang="en-US" dirty="0"/>
          </a:p>
        </p:txBody>
      </p:sp>
      <p:sp>
        <p:nvSpPr>
          <p:cNvPr id="4" name="Footer Placeholder 3"/>
          <p:cNvSpPr>
            <a:spLocks noGrp="1"/>
          </p:cNvSpPr>
          <p:nvPr>
            <p:ph type="ftr" sz="quarter" idx="11"/>
          </p:nvPr>
        </p:nvSpPr>
        <p:spPr/>
        <p:txBody>
          <a:bodyPr/>
          <a:lstStyle/>
          <a:p>
            <a:r>
              <a:rPr lang="en-US" smtClean="0"/>
              <a:t>Jeremiah Kafakoma</a:t>
            </a:r>
            <a:endParaRPr lang="en-US"/>
          </a:p>
        </p:txBody>
      </p:sp>
      <p:sp>
        <p:nvSpPr>
          <p:cNvPr id="5" name="Slide Number Placeholder 4"/>
          <p:cNvSpPr>
            <a:spLocks noGrp="1"/>
          </p:cNvSpPr>
          <p:nvPr>
            <p:ph type="sldNum" sz="quarter" idx="12"/>
          </p:nvPr>
        </p:nvSpPr>
        <p:spPr/>
        <p:txBody>
          <a:bodyPr/>
          <a:lstStyle/>
          <a:p>
            <a:fld id="{AF99D367-8FDA-4A2F-9F0E-167FD1610AEF}" type="slidenum">
              <a:rPr lang="en-US" smtClean="0"/>
              <a:t>76</a:t>
            </a:fld>
            <a:endParaRPr lang="en-US"/>
          </a:p>
        </p:txBody>
      </p:sp>
    </p:spTree>
    <p:extLst>
      <p:ext uri="{BB962C8B-B14F-4D97-AF65-F5344CB8AC3E}">
        <p14:creationId xmlns:p14="http://schemas.microsoft.com/office/powerpoint/2010/main" val="200492878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User Datagram Protocol</a:t>
            </a:r>
            <a:endParaRPr lang="en-US" dirty="0"/>
          </a:p>
        </p:txBody>
      </p:sp>
      <p:sp>
        <p:nvSpPr>
          <p:cNvPr id="3" name="Content Placeholder 2"/>
          <p:cNvSpPr>
            <a:spLocks noGrp="1"/>
          </p:cNvSpPr>
          <p:nvPr>
            <p:ph idx="1"/>
          </p:nvPr>
        </p:nvSpPr>
        <p:spPr/>
        <p:txBody>
          <a:bodyPr>
            <a:normAutofit fontScale="92500" lnSpcReduction="20000"/>
          </a:bodyPr>
          <a:lstStyle/>
          <a:p>
            <a:pPr marL="777875" lvl="1" indent="-514350"/>
            <a:r>
              <a:rPr lang="en-GB" dirty="0"/>
              <a:t>A simple transmission model using headers of only 8 bytes</a:t>
            </a:r>
          </a:p>
          <a:p>
            <a:pPr marL="777875" lvl="1" indent="-514350"/>
            <a:r>
              <a:rPr lang="en-GB" dirty="0"/>
              <a:t>Does not provide:</a:t>
            </a:r>
          </a:p>
          <a:p>
            <a:pPr marL="777875" lvl="1" indent="-514350"/>
            <a:endParaRPr lang="en-GB" sz="800" dirty="0"/>
          </a:p>
          <a:p>
            <a:pPr marL="1311275" lvl="2" indent="-514350"/>
            <a:r>
              <a:rPr lang="en-US" sz="2600" dirty="0"/>
              <a:t>Reliability</a:t>
            </a:r>
          </a:p>
          <a:p>
            <a:pPr marL="1311275" lvl="2" indent="-514350"/>
            <a:r>
              <a:rPr lang="en-US" sz="2600" dirty="0"/>
              <a:t>Ordering</a:t>
            </a:r>
          </a:p>
          <a:p>
            <a:pPr marL="1311275" lvl="2" indent="-514350"/>
            <a:r>
              <a:rPr lang="en-US" sz="2600" dirty="0"/>
              <a:t>Data integrity</a:t>
            </a:r>
          </a:p>
          <a:p>
            <a:pPr marL="777875" lvl="1" indent="-514350"/>
            <a:r>
              <a:rPr lang="en-GB" dirty="0"/>
              <a:t>Assumes </a:t>
            </a:r>
            <a:r>
              <a:rPr lang="en-US" dirty="0"/>
              <a:t>error checking and correction is not necessary</a:t>
            </a:r>
            <a:endParaRPr lang="en-GB" dirty="0"/>
          </a:p>
          <a:p>
            <a:pPr marL="777875" lvl="1" indent="-514350"/>
            <a:r>
              <a:rPr lang="en-GB" dirty="0"/>
              <a:t>Does not have the delays that can be associated with TCP</a:t>
            </a:r>
          </a:p>
          <a:p>
            <a:pPr marL="777875" lvl="1" indent="-514350"/>
            <a:r>
              <a:rPr lang="en-GB" dirty="0"/>
              <a:t>Used with IP in time-sensitive applications:</a:t>
            </a:r>
          </a:p>
          <a:p>
            <a:pPr marL="777875" lvl="1" indent="-514350"/>
            <a:endParaRPr lang="en-GB" sz="800" dirty="0"/>
          </a:p>
          <a:p>
            <a:pPr marL="1311275" lvl="2" indent="-514350"/>
            <a:r>
              <a:rPr lang="en-GB" sz="2600" dirty="0"/>
              <a:t>Gaming</a:t>
            </a:r>
          </a:p>
          <a:p>
            <a:pPr marL="1311275" lvl="2" indent="-514350"/>
            <a:r>
              <a:rPr lang="en-GB" sz="2600" dirty="0"/>
              <a:t>Voice over IP (VoIP)</a:t>
            </a:r>
          </a:p>
          <a:p>
            <a:pPr marL="1311275" lvl="2" indent="-514350"/>
            <a:r>
              <a:rPr lang="en-GB" sz="2600" dirty="0"/>
              <a:t>DNS</a:t>
            </a:r>
          </a:p>
          <a:p>
            <a:pPr marL="114300" indent="0">
              <a:buNone/>
            </a:pPr>
            <a:endParaRPr lang="en-US" dirty="0"/>
          </a:p>
        </p:txBody>
      </p:sp>
      <p:sp>
        <p:nvSpPr>
          <p:cNvPr id="4" name="Footer Placeholder 3"/>
          <p:cNvSpPr>
            <a:spLocks noGrp="1"/>
          </p:cNvSpPr>
          <p:nvPr>
            <p:ph type="ftr" sz="quarter" idx="11"/>
          </p:nvPr>
        </p:nvSpPr>
        <p:spPr/>
        <p:txBody>
          <a:bodyPr/>
          <a:lstStyle/>
          <a:p>
            <a:r>
              <a:rPr lang="en-US" smtClean="0"/>
              <a:t>Jeremiah Kafakoma</a:t>
            </a:r>
            <a:endParaRPr lang="en-US"/>
          </a:p>
        </p:txBody>
      </p:sp>
      <p:sp>
        <p:nvSpPr>
          <p:cNvPr id="5" name="Slide Number Placeholder 4"/>
          <p:cNvSpPr>
            <a:spLocks noGrp="1"/>
          </p:cNvSpPr>
          <p:nvPr>
            <p:ph type="sldNum" sz="quarter" idx="12"/>
          </p:nvPr>
        </p:nvSpPr>
        <p:spPr/>
        <p:txBody>
          <a:bodyPr/>
          <a:lstStyle/>
          <a:p>
            <a:fld id="{AF99D367-8FDA-4A2F-9F0E-167FD1610AEF}" type="slidenum">
              <a:rPr lang="en-US" smtClean="0"/>
              <a:t>77</a:t>
            </a:fld>
            <a:endParaRPr lang="en-US"/>
          </a:p>
        </p:txBody>
      </p:sp>
    </p:spTree>
    <p:extLst>
      <p:ext uri="{BB962C8B-B14F-4D97-AF65-F5344CB8AC3E}">
        <p14:creationId xmlns:p14="http://schemas.microsoft.com/office/powerpoint/2010/main" val="429275332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File Transfer Protocol</a:t>
            </a:r>
            <a:endParaRPr lang="en-US" dirty="0"/>
          </a:p>
        </p:txBody>
      </p:sp>
      <p:sp>
        <p:nvSpPr>
          <p:cNvPr id="3" name="Content Placeholder 2"/>
          <p:cNvSpPr>
            <a:spLocks noGrp="1"/>
          </p:cNvSpPr>
          <p:nvPr>
            <p:ph idx="1"/>
          </p:nvPr>
        </p:nvSpPr>
        <p:spPr/>
        <p:txBody>
          <a:bodyPr/>
          <a:lstStyle/>
          <a:p>
            <a:pPr marL="777875" lvl="1" indent="-514350"/>
            <a:r>
              <a:rPr lang="en-GB" dirty="0"/>
              <a:t>Uses TCP/IP to transmit/receive</a:t>
            </a:r>
          </a:p>
          <a:p>
            <a:pPr marL="777875" lvl="1" indent="-514350"/>
            <a:r>
              <a:rPr lang="en-GB" dirty="0"/>
              <a:t>Works at the application layer</a:t>
            </a:r>
          </a:p>
          <a:p>
            <a:pPr marL="777875" lvl="1" indent="-514350"/>
            <a:r>
              <a:rPr lang="en-GB" dirty="0"/>
              <a:t>Uses a generic file structure that is independent of the operating system</a:t>
            </a:r>
          </a:p>
          <a:p>
            <a:pPr marL="777875" lvl="1" indent="-514350"/>
            <a:r>
              <a:rPr lang="en-GB" dirty="0"/>
              <a:t>Allows file transfer between dissimilar hosts</a:t>
            </a:r>
          </a:p>
          <a:p>
            <a:endParaRPr lang="en-US" dirty="0"/>
          </a:p>
        </p:txBody>
      </p:sp>
      <p:sp>
        <p:nvSpPr>
          <p:cNvPr id="4" name="Footer Placeholder 3"/>
          <p:cNvSpPr>
            <a:spLocks noGrp="1"/>
          </p:cNvSpPr>
          <p:nvPr>
            <p:ph type="ftr" sz="quarter" idx="11"/>
          </p:nvPr>
        </p:nvSpPr>
        <p:spPr/>
        <p:txBody>
          <a:bodyPr/>
          <a:lstStyle/>
          <a:p>
            <a:r>
              <a:rPr lang="en-US" smtClean="0"/>
              <a:t>Jeremiah Kafakoma</a:t>
            </a:r>
            <a:endParaRPr lang="en-US"/>
          </a:p>
        </p:txBody>
      </p:sp>
      <p:sp>
        <p:nvSpPr>
          <p:cNvPr id="5" name="Slide Number Placeholder 4"/>
          <p:cNvSpPr>
            <a:spLocks noGrp="1"/>
          </p:cNvSpPr>
          <p:nvPr>
            <p:ph type="sldNum" sz="quarter" idx="12"/>
          </p:nvPr>
        </p:nvSpPr>
        <p:spPr/>
        <p:txBody>
          <a:bodyPr/>
          <a:lstStyle/>
          <a:p>
            <a:fld id="{AF99D367-8FDA-4A2F-9F0E-167FD1610AEF}" type="slidenum">
              <a:rPr lang="en-US" smtClean="0"/>
              <a:t>78</a:t>
            </a:fld>
            <a:endParaRPr lang="en-US"/>
          </a:p>
        </p:txBody>
      </p:sp>
    </p:spTree>
    <p:extLst>
      <p:ext uri="{BB962C8B-B14F-4D97-AF65-F5344CB8AC3E}">
        <p14:creationId xmlns:p14="http://schemas.microsoft.com/office/powerpoint/2010/main" val="263361673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Simple Mail Transfer Protocol</a:t>
            </a:r>
            <a:endParaRPr lang="en-US" dirty="0"/>
          </a:p>
        </p:txBody>
      </p:sp>
      <p:sp>
        <p:nvSpPr>
          <p:cNvPr id="3" name="Content Placeholder 2"/>
          <p:cNvSpPr>
            <a:spLocks noGrp="1"/>
          </p:cNvSpPr>
          <p:nvPr>
            <p:ph idx="1"/>
          </p:nvPr>
        </p:nvSpPr>
        <p:spPr/>
        <p:txBody>
          <a:bodyPr/>
          <a:lstStyle/>
          <a:p>
            <a:pPr marL="777875" lvl="1" indent="-514350"/>
            <a:r>
              <a:rPr lang="en-GB" dirty="0"/>
              <a:t>Uses TCP/IP to transmit</a:t>
            </a:r>
          </a:p>
          <a:p>
            <a:pPr marL="777875" lvl="1" indent="-514350"/>
            <a:r>
              <a:rPr lang="en-GB" dirty="0"/>
              <a:t>Does not provide a user interface for sending and receiving messages</a:t>
            </a:r>
          </a:p>
          <a:p>
            <a:pPr marL="777875" lvl="1" indent="-514350"/>
            <a:r>
              <a:rPr lang="en-GB" dirty="0"/>
              <a:t>Many Internet email applications do provide interfaces.</a:t>
            </a:r>
          </a:p>
          <a:p>
            <a:pPr marL="777875" lvl="1" indent="-514350"/>
            <a:r>
              <a:rPr lang="en-GB" dirty="0"/>
              <a:t>Commonly used for sending email</a:t>
            </a:r>
          </a:p>
          <a:p>
            <a:pPr marL="777875" lvl="1" indent="-514350"/>
            <a:r>
              <a:rPr lang="en-GB" dirty="0"/>
              <a:t>Most email clients use POP3 or IMAP for incoming mail.</a:t>
            </a:r>
          </a:p>
          <a:p>
            <a:endParaRPr lang="en-US" dirty="0"/>
          </a:p>
        </p:txBody>
      </p:sp>
      <p:sp>
        <p:nvSpPr>
          <p:cNvPr id="4" name="Footer Placeholder 3"/>
          <p:cNvSpPr>
            <a:spLocks noGrp="1"/>
          </p:cNvSpPr>
          <p:nvPr>
            <p:ph type="ftr" sz="quarter" idx="11"/>
          </p:nvPr>
        </p:nvSpPr>
        <p:spPr/>
        <p:txBody>
          <a:bodyPr/>
          <a:lstStyle/>
          <a:p>
            <a:r>
              <a:rPr lang="en-US" smtClean="0"/>
              <a:t>Jeremiah Kafakoma</a:t>
            </a:r>
            <a:endParaRPr lang="en-US"/>
          </a:p>
        </p:txBody>
      </p:sp>
      <p:sp>
        <p:nvSpPr>
          <p:cNvPr id="5" name="Slide Number Placeholder 4"/>
          <p:cNvSpPr>
            <a:spLocks noGrp="1"/>
          </p:cNvSpPr>
          <p:nvPr>
            <p:ph type="sldNum" sz="quarter" idx="12"/>
          </p:nvPr>
        </p:nvSpPr>
        <p:spPr/>
        <p:txBody>
          <a:bodyPr/>
          <a:lstStyle/>
          <a:p>
            <a:fld id="{AF99D367-8FDA-4A2F-9F0E-167FD1610AEF}" type="slidenum">
              <a:rPr lang="en-US" smtClean="0"/>
              <a:t>79</a:t>
            </a:fld>
            <a:endParaRPr lang="en-US"/>
          </a:p>
        </p:txBody>
      </p:sp>
    </p:spTree>
    <p:extLst>
      <p:ext uri="{BB962C8B-B14F-4D97-AF65-F5344CB8AC3E}">
        <p14:creationId xmlns:p14="http://schemas.microsoft.com/office/powerpoint/2010/main" val="132776204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t>Hypertext Transfer Protocol</a:t>
            </a:r>
            <a:endParaRPr lang="en-US" dirty="0"/>
          </a:p>
        </p:txBody>
      </p:sp>
      <p:sp>
        <p:nvSpPr>
          <p:cNvPr id="3" name="Content Placeholder 2"/>
          <p:cNvSpPr>
            <a:spLocks noGrp="1"/>
          </p:cNvSpPr>
          <p:nvPr>
            <p:ph idx="1"/>
          </p:nvPr>
        </p:nvSpPr>
        <p:spPr/>
        <p:txBody>
          <a:bodyPr>
            <a:normAutofit/>
          </a:bodyPr>
          <a:lstStyle/>
          <a:p>
            <a:pPr marL="777875" lvl="1" indent="-514350"/>
            <a:r>
              <a:rPr lang="en-GB" dirty="0"/>
              <a:t>Used throughout the World Wide Web for sending messages and getting responses from servers</a:t>
            </a:r>
          </a:p>
          <a:p>
            <a:pPr marL="777875" lvl="1" indent="-514350"/>
            <a:r>
              <a:rPr lang="en-GB" dirty="0"/>
              <a:t>Most common method is the GET method to request and receive a web page</a:t>
            </a:r>
          </a:p>
          <a:p>
            <a:pPr marL="777875" lvl="1" indent="-514350"/>
            <a:r>
              <a:rPr lang="en-GB" dirty="0"/>
              <a:t>Other common methods are:</a:t>
            </a:r>
          </a:p>
          <a:p>
            <a:pPr marL="777875" lvl="1" indent="-514350"/>
            <a:endParaRPr lang="en-GB" sz="800" dirty="0"/>
          </a:p>
          <a:p>
            <a:pPr marL="1311275" lvl="2" indent="-514350"/>
            <a:r>
              <a:rPr lang="en-GB" sz="2600" dirty="0"/>
              <a:t>PUT</a:t>
            </a:r>
          </a:p>
          <a:p>
            <a:pPr marL="1311275" lvl="2" indent="-514350"/>
            <a:r>
              <a:rPr lang="en-GB" sz="2600" dirty="0"/>
              <a:t>POST</a:t>
            </a:r>
          </a:p>
          <a:p>
            <a:pPr marL="1311275" lvl="2" indent="-514350"/>
            <a:r>
              <a:rPr lang="en-GB" sz="2600" dirty="0"/>
              <a:t>DELETE</a:t>
            </a:r>
          </a:p>
          <a:p>
            <a:pPr marL="1311275" lvl="2" indent="-514350"/>
            <a:r>
              <a:rPr lang="en-GB" sz="2600" dirty="0"/>
              <a:t>TRACE</a:t>
            </a:r>
          </a:p>
          <a:p>
            <a:endParaRPr lang="en-US" dirty="0"/>
          </a:p>
        </p:txBody>
      </p:sp>
      <p:sp>
        <p:nvSpPr>
          <p:cNvPr id="4" name="Footer Placeholder 3"/>
          <p:cNvSpPr>
            <a:spLocks noGrp="1"/>
          </p:cNvSpPr>
          <p:nvPr>
            <p:ph type="ftr" sz="quarter" idx="11"/>
          </p:nvPr>
        </p:nvSpPr>
        <p:spPr/>
        <p:txBody>
          <a:bodyPr/>
          <a:lstStyle/>
          <a:p>
            <a:r>
              <a:rPr lang="en-US" smtClean="0"/>
              <a:t>Jeremiah Kafakoma</a:t>
            </a:r>
            <a:endParaRPr lang="en-US"/>
          </a:p>
        </p:txBody>
      </p:sp>
      <p:sp>
        <p:nvSpPr>
          <p:cNvPr id="5" name="Slide Number Placeholder 4"/>
          <p:cNvSpPr>
            <a:spLocks noGrp="1"/>
          </p:cNvSpPr>
          <p:nvPr>
            <p:ph type="sldNum" sz="quarter" idx="12"/>
          </p:nvPr>
        </p:nvSpPr>
        <p:spPr/>
        <p:txBody>
          <a:bodyPr/>
          <a:lstStyle/>
          <a:p>
            <a:fld id="{AF99D367-8FDA-4A2F-9F0E-167FD1610AEF}" type="slidenum">
              <a:rPr lang="en-US" smtClean="0"/>
              <a:t>80</a:t>
            </a:fld>
            <a:endParaRPr lang="en-US"/>
          </a:p>
        </p:txBody>
      </p:sp>
    </p:spTree>
    <p:extLst>
      <p:ext uri="{BB962C8B-B14F-4D97-AF65-F5344CB8AC3E}">
        <p14:creationId xmlns:p14="http://schemas.microsoft.com/office/powerpoint/2010/main" val="243428064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Creating a Network Layout</a:t>
            </a:r>
          </a:p>
        </p:txBody>
      </p:sp>
      <p:sp>
        <p:nvSpPr>
          <p:cNvPr id="3" name="Content Placeholder 2"/>
          <p:cNvSpPr>
            <a:spLocks noGrp="1"/>
          </p:cNvSpPr>
          <p:nvPr>
            <p:ph idx="1"/>
          </p:nvPr>
        </p:nvSpPr>
        <p:spPr/>
        <p:txBody>
          <a:bodyPr>
            <a:normAutofit/>
          </a:bodyPr>
          <a:lstStyle/>
          <a:p>
            <a:pPr lvl="1">
              <a:buClrTx/>
              <a:buFont typeface="Arial" panose="020B0604020202020204" pitchFamily="34" charset="0"/>
              <a:buChar char="•"/>
            </a:pPr>
            <a:r>
              <a:rPr lang="en-US" dirty="0"/>
              <a:t>A network layout must be documented in a diagram.</a:t>
            </a:r>
          </a:p>
          <a:p>
            <a:pPr lvl="1">
              <a:buClrTx/>
              <a:buFont typeface="Arial" panose="020B0604020202020204" pitchFamily="34" charset="0"/>
              <a:buChar char="•"/>
            </a:pPr>
            <a:r>
              <a:rPr lang="en-US" dirty="0"/>
              <a:t>Factors to consider</a:t>
            </a:r>
          </a:p>
          <a:p>
            <a:pPr lvl="2">
              <a:buClrTx/>
              <a:buFont typeface="Arial" panose="020B0604020202020204" pitchFamily="34" charset="0"/>
              <a:buChar char="•"/>
            </a:pPr>
            <a:r>
              <a:rPr lang="en-US" sz="2000" dirty="0">
                <a:latin typeface="Arial Narrow" panose="020B0606020202030204" pitchFamily="34" charset="0"/>
              </a:rPr>
              <a:t>Number of client computers</a:t>
            </a:r>
          </a:p>
          <a:p>
            <a:pPr lvl="2">
              <a:buClrTx/>
              <a:buFont typeface="Arial" panose="020B0604020202020204" pitchFamily="34" charset="0"/>
              <a:buChar char="•"/>
            </a:pPr>
            <a:r>
              <a:rPr lang="en-US" sz="2000" dirty="0">
                <a:latin typeface="Arial Narrow" panose="020B0606020202030204" pitchFamily="34" charset="0"/>
              </a:rPr>
              <a:t>Number of servers</a:t>
            </a:r>
          </a:p>
          <a:p>
            <a:pPr lvl="2">
              <a:buClrTx/>
              <a:buFont typeface="Arial" panose="020B0604020202020204" pitchFamily="34" charset="0"/>
              <a:buChar char="•"/>
            </a:pPr>
            <a:r>
              <a:rPr lang="en-US" sz="2000" dirty="0">
                <a:latin typeface="Arial Narrow" panose="020B0606020202030204" pitchFamily="34" charset="0"/>
              </a:rPr>
              <a:t>Will there be an Internet connection?</a:t>
            </a:r>
          </a:p>
          <a:p>
            <a:pPr lvl="2">
              <a:buClrTx/>
              <a:buFont typeface="Arial" panose="020B0604020202020204" pitchFamily="34" charset="0"/>
              <a:buChar char="•"/>
            </a:pPr>
            <a:r>
              <a:rPr lang="en-US" sz="2000" dirty="0">
                <a:latin typeface="Arial Narrow" panose="020B0606020202030204" pitchFamily="34" charset="0"/>
              </a:rPr>
              <a:t>The architecture of the building</a:t>
            </a:r>
          </a:p>
          <a:p>
            <a:pPr lvl="2">
              <a:buClrTx/>
              <a:buFont typeface="Arial" panose="020B0604020202020204" pitchFamily="34" charset="0"/>
              <a:buChar char="•"/>
            </a:pPr>
            <a:r>
              <a:rPr lang="en-US" sz="2000" dirty="0">
                <a:latin typeface="Arial Narrow" panose="020B0606020202030204" pitchFamily="34" charset="0"/>
              </a:rPr>
              <a:t>The best topology or topologies</a:t>
            </a:r>
          </a:p>
          <a:p>
            <a:pPr lvl="1">
              <a:buClrTx/>
              <a:buFont typeface="Arial" panose="020B0604020202020204" pitchFamily="34" charset="0"/>
              <a:buChar char="•"/>
            </a:pPr>
            <a:r>
              <a:rPr lang="en-US" sz="1400" dirty="0">
                <a:latin typeface="Arial Narrow" panose="020B0606020202030204" pitchFamily="34" charset="0"/>
              </a:rPr>
              <a:t>Any diagram must be updated if the layout changes</a:t>
            </a:r>
          </a:p>
          <a:p>
            <a:pPr lvl="2">
              <a:buClrTx/>
              <a:buFont typeface="Arial" panose="020B0604020202020204" pitchFamily="34" charset="0"/>
              <a:buChar char="•"/>
            </a:pPr>
            <a:r>
              <a:rPr lang="en-US" sz="2000" dirty="0">
                <a:latin typeface="Arial Narrow" panose="020B0606020202030204" pitchFamily="34" charset="0"/>
              </a:rPr>
              <a:t>Version control.</a:t>
            </a:r>
          </a:p>
          <a:p>
            <a:endParaRPr lang="en-US" dirty="0"/>
          </a:p>
        </p:txBody>
      </p:sp>
      <p:sp>
        <p:nvSpPr>
          <p:cNvPr id="4" name="Footer Placeholder 3"/>
          <p:cNvSpPr>
            <a:spLocks noGrp="1"/>
          </p:cNvSpPr>
          <p:nvPr>
            <p:ph type="ftr" sz="quarter" idx="11"/>
          </p:nvPr>
        </p:nvSpPr>
        <p:spPr/>
        <p:txBody>
          <a:bodyPr/>
          <a:lstStyle/>
          <a:p>
            <a:r>
              <a:rPr lang="en-US" smtClean="0"/>
              <a:t>Jeremiah Kafakoma</a:t>
            </a:r>
            <a:endParaRPr lang="en-US"/>
          </a:p>
        </p:txBody>
      </p:sp>
      <p:sp>
        <p:nvSpPr>
          <p:cNvPr id="5" name="Slide Number Placeholder 4"/>
          <p:cNvSpPr>
            <a:spLocks noGrp="1"/>
          </p:cNvSpPr>
          <p:nvPr>
            <p:ph type="sldNum" sz="quarter" idx="12"/>
          </p:nvPr>
        </p:nvSpPr>
        <p:spPr/>
        <p:txBody>
          <a:bodyPr/>
          <a:lstStyle/>
          <a:p>
            <a:fld id="{AF99D367-8FDA-4A2F-9F0E-167FD1610AEF}" type="slidenum">
              <a:rPr lang="en-US" smtClean="0"/>
              <a:t>81</a:t>
            </a:fld>
            <a:endParaRPr lang="en-US"/>
          </a:p>
        </p:txBody>
      </p:sp>
    </p:spTree>
    <p:extLst>
      <p:ext uri="{BB962C8B-B14F-4D97-AF65-F5344CB8AC3E}">
        <p14:creationId xmlns:p14="http://schemas.microsoft.com/office/powerpoint/2010/main" val="3794941484"/>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Physical Media</a:t>
            </a:r>
          </a:p>
        </p:txBody>
      </p:sp>
      <p:sp>
        <p:nvSpPr>
          <p:cNvPr id="3" name="Content Placeholder 2"/>
          <p:cNvSpPr>
            <a:spLocks noGrp="1"/>
          </p:cNvSpPr>
          <p:nvPr>
            <p:ph idx="1"/>
          </p:nvPr>
        </p:nvSpPr>
        <p:spPr/>
        <p:txBody>
          <a:bodyPr>
            <a:normAutofit fontScale="92500" lnSpcReduction="10000"/>
          </a:bodyPr>
          <a:lstStyle/>
          <a:p>
            <a:pPr lvl="1">
              <a:buClrTx/>
              <a:buFont typeface="Arial" panose="020B0604020202020204" pitchFamily="34" charset="0"/>
              <a:buChar char="•"/>
            </a:pPr>
            <a:r>
              <a:rPr lang="en-US" dirty="0"/>
              <a:t>Factors to consider when choosing network media:</a:t>
            </a:r>
          </a:p>
          <a:p>
            <a:pPr lvl="1">
              <a:buClrTx/>
              <a:buFont typeface="Arial" panose="020B0604020202020204" pitchFamily="34" charset="0"/>
              <a:buChar char="•"/>
            </a:pPr>
            <a:endParaRPr lang="en-US" sz="800" dirty="0"/>
          </a:p>
          <a:p>
            <a:pPr lvl="2">
              <a:lnSpc>
                <a:spcPct val="90000"/>
              </a:lnSpc>
              <a:buClrTx/>
              <a:buFont typeface="Arial" panose="020B0604020202020204" pitchFamily="34" charset="0"/>
              <a:buChar char="•"/>
            </a:pPr>
            <a:r>
              <a:rPr lang="en-US" sz="2600" dirty="0"/>
              <a:t>Bandwidth rating</a:t>
            </a:r>
          </a:p>
          <a:p>
            <a:pPr lvl="2">
              <a:lnSpc>
                <a:spcPct val="90000"/>
              </a:lnSpc>
              <a:buClrTx/>
              <a:buFont typeface="Arial" panose="020B0604020202020204" pitchFamily="34" charset="0"/>
              <a:buChar char="•"/>
            </a:pPr>
            <a:r>
              <a:rPr lang="en-US" sz="2600" dirty="0"/>
              <a:t>Maximum segment length</a:t>
            </a:r>
          </a:p>
          <a:p>
            <a:pPr lvl="2">
              <a:lnSpc>
                <a:spcPct val="90000"/>
              </a:lnSpc>
              <a:buClrTx/>
              <a:buFont typeface="Arial" panose="020B0604020202020204" pitchFamily="34" charset="0"/>
              <a:buChar char="•"/>
            </a:pPr>
            <a:r>
              <a:rPr lang="en-US" sz="2600" dirty="0"/>
              <a:t>Maximum number of segments per internetwork</a:t>
            </a:r>
          </a:p>
          <a:p>
            <a:pPr lvl="2">
              <a:lnSpc>
                <a:spcPct val="90000"/>
              </a:lnSpc>
              <a:buClrTx/>
              <a:buFont typeface="Arial" panose="020B0604020202020204" pitchFamily="34" charset="0"/>
              <a:buChar char="•"/>
            </a:pPr>
            <a:r>
              <a:rPr lang="en-US" sz="2600" dirty="0"/>
              <a:t>Maximum number of devices per segment</a:t>
            </a:r>
          </a:p>
          <a:p>
            <a:pPr lvl="2">
              <a:lnSpc>
                <a:spcPct val="90000"/>
              </a:lnSpc>
              <a:buClrTx/>
              <a:buFont typeface="Arial" panose="020B0604020202020204" pitchFamily="34" charset="0"/>
              <a:buChar char="•"/>
            </a:pPr>
            <a:r>
              <a:rPr lang="en-US" sz="2600" dirty="0"/>
              <a:t>Interference susceptibility</a:t>
            </a:r>
          </a:p>
          <a:p>
            <a:pPr lvl="2">
              <a:lnSpc>
                <a:spcPct val="90000"/>
              </a:lnSpc>
              <a:buClrTx/>
              <a:buFont typeface="Arial" panose="020B0604020202020204" pitchFamily="34" charset="0"/>
              <a:buChar char="•"/>
            </a:pPr>
            <a:r>
              <a:rPr lang="en-US" sz="2600" dirty="0"/>
              <a:t>Connection hardware</a:t>
            </a:r>
          </a:p>
          <a:p>
            <a:pPr lvl="2">
              <a:lnSpc>
                <a:spcPct val="90000"/>
              </a:lnSpc>
              <a:buClrTx/>
              <a:buFont typeface="Arial" panose="020B0604020202020204" pitchFamily="34" charset="0"/>
              <a:buChar char="•"/>
            </a:pPr>
            <a:r>
              <a:rPr lang="en-US" sz="2600" dirty="0"/>
              <a:t>Cable grade</a:t>
            </a:r>
          </a:p>
          <a:p>
            <a:pPr lvl="2">
              <a:lnSpc>
                <a:spcPct val="90000"/>
              </a:lnSpc>
              <a:buClrTx/>
              <a:buFont typeface="Arial" panose="020B0604020202020204" pitchFamily="34" charset="0"/>
              <a:buChar char="•"/>
            </a:pPr>
            <a:r>
              <a:rPr lang="en-US" sz="2600" dirty="0"/>
              <a:t>Bend radius</a:t>
            </a:r>
          </a:p>
          <a:p>
            <a:pPr lvl="2">
              <a:lnSpc>
                <a:spcPct val="90000"/>
              </a:lnSpc>
              <a:buClrTx/>
              <a:buFont typeface="Arial" panose="020B0604020202020204" pitchFamily="34" charset="0"/>
              <a:buChar char="•"/>
            </a:pPr>
            <a:r>
              <a:rPr lang="en-US" sz="2600" dirty="0"/>
              <a:t>Costs of materials and insulation</a:t>
            </a:r>
          </a:p>
          <a:p>
            <a:pPr>
              <a:buFont typeface="Arial" panose="020B0604020202020204" pitchFamily="34" charset="0"/>
              <a:buChar char="•"/>
            </a:pPr>
            <a:endParaRPr lang="en-US" dirty="0"/>
          </a:p>
        </p:txBody>
      </p:sp>
      <p:sp>
        <p:nvSpPr>
          <p:cNvPr id="4" name="Footer Placeholder 3"/>
          <p:cNvSpPr>
            <a:spLocks noGrp="1"/>
          </p:cNvSpPr>
          <p:nvPr>
            <p:ph type="ftr" sz="quarter" idx="11"/>
          </p:nvPr>
        </p:nvSpPr>
        <p:spPr/>
        <p:txBody>
          <a:bodyPr/>
          <a:lstStyle/>
          <a:p>
            <a:r>
              <a:rPr lang="en-US" smtClean="0"/>
              <a:t>Jeremiah Kafakoma</a:t>
            </a:r>
            <a:endParaRPr lang="en-US"/>
          </a:p>
        </p:txBody>
      </p:sp>
      <p:sp>
        <p:nvSpPr>
          <p:cNvPr id="5" name="Slide Number Placeholder 4"/>
          <p:cNvSpPr>
            <a:spLocks noGrp="1"/>
          </p:cNvSpPr>
          <p:nvPr>
            <p:ph type="sldNum" sz="quarter" idx="12"/>
          </p:nvPr>
        </p:nvSpPr>
        <p:spPr/>
        <p:txBody>
          <a:bodyPr/>
          <a:lstStyle/>
          <a:p>
            <a:fld id="{AF99D367-8FDA-4A2F-9F0E-167FD1610AEF}" type="slidenum">
              <a:rPr lang="en-US" smtClean="0"/>
              <a:t>82</a:t>
            </a:fld>
            <a:endParaRPr lang="en-US"/>
          </a:p>
        </p:txBody>
      </p:sp>
    </p:spTree>
    <p:extLst>
      <p:ext uri="{BB962C8B-B14F-4D97-AF65-F5344CB8AC3E}">
        <p14:creationId xmlns:p14="http://schemas.microsoft.com/office/powerpoint/2010/main" val="3792228842"/>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Network Security Threats</a:t>
            </a:r>
            <a:br>
              <a:rPr lang="en-GB" dirty="0"/>
            </a:br>
            <a:endParaRPr lang="en-US" dirty="0"/>
          </a:p>
        </p:txBody>
      </p:sp>
      <p:sp>
        <p:nvSpPr>
          <p:cNvPr id="3" name="Content Placeholder 2"/>
          <p:cNvSpPr>
            <a:spLocks noGrp="1"/>
          </p:cNvSpPr>
          <p:nvPr>
            <p:ph idx="1"/>
          </p:nvPr>
        </p:nvSpPr>
        <p:spPr/>
        <p:txBody>
          <a:bodyPr/>
          <a:lstStyle/>
          <a:p>
            <a:r>
              <a:rPr lang="en-GB" dirty="0"/>
              <a:t>This topic will cover:</a:t>
            </a:r>
          </a:p>
          <a:p>
            <a:pPr lvl="1">
              <a:buClr>
                <a:schemeClr val="tx1"/>
              </a:buClr>
              <a:buFont typeface="Arial" panose="020B0604020202020204" pitchFamily="34" charset="0"/>
              <a:buChar char="•"/>
            </a:pPr>
            <a:r>
              <a:rPr lang="en-GB" dirty="0"/>
              <a:t>Network security threats </a:t>
            </a:r>
          </a:p>
          <a:p>
            <a:pPr lvl="1">
              <a:buClr>
                <a:schemeClr val="tx1"/>
              </a:buClr>
              <a:buFont typeface="Arial" panose="020B0604020202020204" pitchFamily="34" charset="0"/>
              <a:buChar char="•"/>
            </a:pPr>
            <a:r>
              <a:rPr lang="en-GB" dirty="0"/>
              <a:t>Security countermeasures </a:t>
            </a:r>
          </a:p>
          <a:p>
            <a:pPr lvl="1">
              <a:buClr>
                <a:schemeClr val="tx1"/>
              </a:buClr>
              <a:buFont typeface="Arial" panose="020B0604020202020204" pitchFamily="34" charset="0"/>
              <a:buChar char="•"/>
            </a:pPr>
            <a:r>
              <a:rPr lang="en-GB" dirty="0"/>
              <a:t>Security software </a:t>
            </a:r>
          </a:p>
          <a:p>
            <a:pPr lvl="1">
              <a:buClr>
                <a:schemeClr val="tx1"/>
              </a:buClr>
              <a:buFont typeface="Arial" panose="020B0604020202020204" pitchFamily="34" charset="0"/>
              <a:buChar char="•"/>
            </a:pPr>
            <a:r>
              <a:rPr lang="en-GB" dirty="0"/>
              <a:t>Installing and configuring security software</a:t>
            </a:r>
          </a:p>
          <a:p>
            <a:r>
              <a:rPr lang="en-US" dirty="0"/>
              <a:t>Tasks of Network </a:t>
            </a:r>
            <a:r>
              <a:rPr lang="en-US" dirty="0" smtClean="0"/>
              <a:t>Security</a:t>
            </a:r>
          </a:p>
          <a:p>
            <a:pPr lvl="1">
              <a:buNone/>
            </a:pPr>
            <a:r>
              <a:rPr lang="en-GB" dirty="0"/>
              <a:t>Must ensure the network offers:</a:t>
            </a:r>
          </a:p>
          <a:p>
            <a:pPr lvl="1">
              <a:buNone/>
            </a:pPr>
            <a:endParaRPr lang="en-GB" sz="800" dirty="0"/>
          </a:p>
          <a:p>
            <a:pPr lvl="1"/>
            <a:r>
              <a:rPr lang="en-GB" dirty="0"/>
              <a:t>Privacy</a:t>
            </a:r>
          </a:p>
          <a:p>
            <a:pPr lvl="1"/>
            <a:r>
              <a:rPr lang="en-GB" dirty="0"/>
              <a:t>Integrity</a:t>
            </a:r>
          </a:p>
          <a:p>
            <a:pPr lvl="1"/>
            <a:r>
              <a:rPr lang="en-GB" dirty="0"/>
              <a:t>Availability</a:t>
            </a:r>
          </a:p>
          <a:p>
            <a:endParaRPr lang="en-US" dirty="0"/>
          </a:p>
        </p:txBody>
      </p:sp>
      <p:sp>
        <p:nvSpPr>
          <p:cNvPr id="4" name="Footer Placeholder 3"/>
          <p:cNvSpPr>
            <a:spLocks noGrp="1"/>
          </p:cNvSpPr>
          <p:nvPr>
            <p:ph type="ftr" sz="quarter" idx="11"/>
          </p:nvPr>
        </p:nvSpPr>
        <p:spPr/>
        <p:txBody>
          <a:bodyPr/>
          <a:lstStyle/>
          <a:p>
            <a:r>
              <a:rPr lang="en-US" smtClean="0"/>
              <a:t>Jeremiah Kafakoma</a:t>
            </a:r>
            <a:endParaRPr lang="en-US"/>
          </a:p>
        </p:txBody>
      </p:sp>
      <p:sp>
        <p:nvSpPr>
          <p:cNvPr id="5" name="Slide Number Placeholder 4"/>
          <p:cNvSpPr>
            <a:spLocks noGrp="1"/>
          </p:cNvSpPr>
          <p:nvPr>
            <p:ph type="sldNum" sz="quarter" idx="12"/>
          </p:nvPr>
        </p:nvSpPr>
        <p:spPr/>
        <p:txBody>
          <a:bodyPr/>
          <a:lstStyle/>
          <a:p>
            <a:fld id="{AF99D367-8FDA-4A2F-9F0E-167FD1610AEF}" type="slidenum">
              <a:rPr lang="en-US" smtClean="0"/>
              <a:t>83</a:t>
            </a:fld>
            <a:endParaRPr lang="en-US"/>
          </a:p>
        </p:txBody>
      </p:sp>
    </p:spTree>
    <p:extLst>
      <p:ext uri="{BB962C8B-B14F-4D97-AF65-F5344CB8AC3E}">
        <p14:creationId xmlns:p14="http://schemas.microsoft.com/office/powerpoint/2010/main" val="337742931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Network Privacy</a:t>
            </a:r>
          </a:p>
        </p:txBody>
      </p:sp>
      <p:sp>
        <p:nvSpPr>
          <p:cNvPr id="3" name="Content Placeholder 2"/>
          <p:cNvSpPr>
            <a:spLocks noGrp="1"/>
          </p:cNvSpPr>
          <p:nvPr>
            <p:ph idx="1"/>
          </p:nvPr>
        </p:nvSpPr>
        <p:spPr/>
        <p:txBody>
          <a:bodyPr>
            <a:normAutofit fontScale="92500" lnSpcReduction="10000"/>
          </a:bodyPr>
          <a:lstStyle/>
          <a:p>
            <a:pPr lvl="1">
              <a:buClr>
                <a:schemeClr val="tx1"/>
              </a:buClr>
              <a:buFont typeface="Arial" panose="020B0604020202020204" pitchFamily="34" charset="0"/>
              <a:buChar char="•"/>
            </a:pPr>
            <a:r>
              <a:rPr lang="en-GB" dirty="0"/>
              <a:t>Network security should ensure that only authorised users can access network services.</a:t>
            </a:r>
          </a:p>
          <a:p>
            <a:pPr lvl="1">
              <a:buClr>
                <a:schemeClr val="tx1"/>
              </a:buClr>
              <a:buFont typeface="Arial" panose="020B0604020202020204" pitchFamily="34" charset="0"/>
              <a:buChar char="•"/>
            </a:pPr>
            <a:endParaRPr lang="en-GB" sz="800" dirty="0"/>
          </a:p>
          <a:p>
            <a:pPr lvl="3">
              <a:buClr>
                <a:schemeClr val="tx1"/>
              </a:buClr>
              <a:buFont typeface="Wingdings" panose="05000000000000000000" pitchFamily="2" charset="2"/>
              <a:buChar char="ü"/>
            </a:pPr>
            <a:r>
              <a:rPr lang="en-GB" dirty="0"/>
              <a:t>Transmitted data cannot be accessed by unauthorised users and/or is unintelligible to unauthorised users.</a:t>
            </a:r>
          </a:p>
          <a:p>
            <a:pPr lvl="1">
              <a:buClr>
                <a:schemeClr val="tx1"/>
              </a:buClr>
              <a:buFont typeface="Arial" panose="020B0604020202020204" pitchFamily="34" charset="0"/>
              <a:buChar char="•"/>
            </a:pPr>
            <a:r>
              <a:rPr lang="en-GB" dirty="0"/>
              <a:t>There are consequences if privacy is breached.</a:t>
            </a:r>
          </a:p>
          <a:p>
            <a:pPr lvl="1">
              <a:buClr>
                <a:schemeClr val="tx1"/>
              </a:buClr>
              <a:buFont typeface="Arial" panose="020B0604020202020204" pitchFamily="34" charset="0"/>
              <a:buChar char="•"/>
            </a:pPr>
            <a:endParaRPr lang="en-GB" sz="800" dirty="0"/>
          </a:p>
          <a:p>
            <a:pPr lvl="2">
              <a:buClr>
                <a:schemeClr val="tx1"/>
              </a:buClr>
              <a:buFont typeface="Wingdings" panose="05000000000000000000" pitchFamily="2" charset="2"/>
              <a:buChar char="ü"/>
            </a:pPr>
            <a:r>
              <a:rPr lang="en-GB" sz="1400" dirty="0"/>
              <a:t>Embarrassment</a:t>
            </a:r>
          </a:p>
          <a:p>
            <a:pPr lvl="2">
              <a:buClr>
                <a:schemeClr val="tx1"/>
              </a:buClr>
              <a:buFont typeface="Wingdings" panose="05000000000000000000" pitchFamily="2" charset="2"/>
              <a:buChar char="ü"/>
            </a:pPr>
            <a:r>
              <a:rPr lang="en-GB" sz="1400" dirty="0"/>
              <a:t>Financial loss</a:t>
            </a:r>
          </a:p>
          <a:p>
            <a:pPr lvl="2">
              <a:buClr>
                <a:schemeClr val="tx1"/>
              </a:buClr>
              <a:buFont typeface="Wingdings" panose="05000000000000000000" pitchFamily="2" charset="2"/>
              <a:buChar char="ü"/>
            </a:pPr>
            <a:r>
              <a:rPr lang="en-GB" sz="1400" dirty="0"/>
              <a:t>Company secrets</a:t>
            </a:r>
          </a:p>
          <a:p>
            <a:r>
              <a:rPr lang="en-US" sz="2800" dirty="0"/>
              <a:t>Network </a:t>
            </a:r>
            <a:r>
              <a:rPr lang="en-US" sz="2800" dirty="0" smtClean="0"/>
              <a:t>Integrity</a:t>
            </a:r>
          </a:p>
          <a:p>
            <a:pPr lvl="1">
              <a:buClrTx/>
              <a:buFont typeface="Arial" panose="020B0604020202020204" pitchFamily="34" charset="0"/>
              <a:buChar char="•"/>
            </a:pPr>
            <a:r>
              <a:rPr lang="en-GB" dirty="0"/>
              <a:t>Network security should ensure that data transmitted on the network:</a:t>
            </a:r>
          </a:p>
          <a:p>
            <a:pPr lvl="1">
              <a:buClrTx/>
              <a:buFont typeface="Arial" panose="020B0604020202020204" pitchFamily="34" charset="0"/>
              <a:buChar char="•"/>
            </a:pPr>
            <a:endParaRPr lang="en-GB" sz="800" dirty="0"/>
          </a:p>
          <a:p>
            <a:pPr lvl="2">
              <a:buClrTx/>
              <a:buFont typeface="Arial" panose="020B0604020202020204" pitchFamily="34" charset="0"/>
              <a:buChar char="•"/>
            </a:pPr>
            <a:r>
              <a:rPr lang="en-GB" sz="1500" dirty="0"/>
              <a:t>Is not lost</a:t>
            </a:r>
          </a:p>
          <a:p>
            <a:pPr lvl="2">
              <a:buClrTx/>
              <a:buFont typeface="Arial" panose="020B0604020202020204" pitchFamily="34" charset="0"/>
              <a:buChar char="•"/>
            </a:pPr>
            <a:r>
              <a:rPr lang="en-GB" sz="1500" dirty="0"/>
              <a:t>Is not modified</a:t>
            </a:r>
          </a:p>
          <a:p>
            <a:pPr lvl="2">
              <a:buClrTx/>
              <a:buFont typeface="Arial" panose="020B0604020202020204" pitchFamily="34" charset="0"/>
              <a:buChar char="•"/>
            </a:pPr>
            <a:r>
              <a:rPr lang="en-GB" sz="1500" dirty="0"/>
              <a:t>Is not corrupted</a:t>
            </a:r>
          </a:p>
          <a:p>
            <a:endParaRPr lang="en-US" sz="1400" dirty="0"/>
          </a:p>
        </p:txBody>
      </p:sp>
      <p:sp>
        <p:nvSpPr>
          <p:cNvPr id="4" name="Footer Placeholder 3"/>
          <p:cNvSpPr>
            <a:spLocks noGrp="1"/>
          </p:cNvSpPr>
          <p:nvPr>
            <p:ph type="ftr" sz="quarter" idx="11"/>
          </p:nvPr>
        </p:nvSpPr>
        <p:spPr/>
        <p:txBody>
          <a:bodyPr/>
          <a:lstStyle/>
          <a:p>
            <a:r>
              <a:rPr lang="en-US" smtClean="0"/>
              <a:t>Jeremiah Kafakoma</a:t>
            </a:r>
            <a:endParaRPr lang="en-US"/>
          </a:p>
        </p:txBody>
      </p:sp>
      <p:sp>
        <p:nvSpPr>
          <p:cNvPr id="5" name="Slide Number Placeholder 4"/>
          <p:cNvSpPr>
            <a:spLocks noGrp="1"/>
          </p:cNvSpPr>
          <p:nvPr>
            <p:ph type="sldNum" sz="quarter" idx="12"/>
          </p:nvPr>
        </p:nvSpPr>
        <p:spPr/>
        <p:txBody>
          <a:bodyPr/>
          <a:lstStyle/>
          <a:p>
            <a:fld id="{AF99D367-8FDA-4A2F-9F0E-167FD1610AEF}" type="slidenum">
              <a:rPr lang="en-US" smtClean="0"/>
              <a:t>84</a:t>
            </a:fld>
            <a:endParaRPr lang="en-US"/>
          </a:p>
        </p:txBody>
      </p:sp>
    </p:spTree>
    <p:extLst>
      <p:ext uri="{BB962C8B-B14F-4D97-AF65-F5344CB8AC3E}">
        <p14:creationId xmlns:p14="http://schemas.microsoft.com/office/powerpoint/2010/main" val="391591993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Network Availability</a:t>
            </a:r>
          </a:p>
        </p:txBody>
      </p:sp>
      <p:sp>
        <p:nvSpPr>
          <p:cNvPr id="3" name="Content Placeholder 2"/>
          <p:cNvSpPr>
            <a:spLocks noGrp="1"/>
          </p:cNvSpPr>
          <p:nvPr>
            <p:ph idx="1"/>
          </p:nvPr>
        </p:nvSpPr>
        <p:spPr/>
        <p:txBody>
          <a:bodyPr/>
          <a:lstStyle/>
          <a:p>
            <a:pPr lvl="1">
              <a:buClr>
                <a:schemeClr val="tx1"/>
              </a:buClr>
            </a:pPr>
            <a:r>
              <a:rPr lang="en-GB" sz="1400" dirty="0"/>
              <a:t>Network security should ensure that the network is available for use:</a:t>
            </a:r>
          </a:p>
          <a:p>
            <a:pPr lvl="1">
              <a:buClr>
                <a:schemeClr val="tx1"/>
              </a:buClr>
            </a:pPr>
            <a:endParaRPr lang="en-GB" sz="1400" dirty="0"/>
          </a:p>
          <a:p>
            <a:pPr lvl="2">
              <a:buClr>
                <a:schemeClr val="tx1"/>
              </a:buClr>
            </a:pPr>
            <a:r>
              <a:rPr lang="en-GB" sz="1400" dirty="0"/>
              <a:t>When needed</a:t>
            </a:r>
          </a:p>
          <a:p>
            <a:pPr lvl="2">
              <a:buClr>
                <a:schemeClr val="tx1"/>
              </a:buClr>
            </a:pPr>
            <a:r>
              <a:rPr lang="en-GB" sz="1400" dirty="0"/>
              <a:t>Providing the required services</a:t>
            </a:r>
          </a:p>
          <a:p>
            <a:r>
              <a:rPr lang="en-US" dirty="0"/>
              <a:t>Network Security </a:t>
            </a:r>
            <a:r>
              <a:rPr lang="en-US" dirty="0" smtClean="0"/>
              <a:t>Problems</a:t>
            </a:r>
          </a:p>
          <a:p>
            <a:pPr lvl="1"/>
            <a:r>
              <a:rPr lang="en-GB" dirty="0"/>
              <a:t>Software</a:t>
            </a:r>
          </a:p>
          <a:p>
            <a:pPr lvl="1"/>
            <a:r>
              <a:rPr lang="en-GB" dirty="0"/>
              <a:t>Protocol design</a:t>
            </a:r>
          </a:p>
          <a:p>
            <a:pPr lvl="1"/>
            <a:r>
              <a:rPr lang="en-GB" dirty="0"/>
              <a:t>System configurations</a:t>
            </a:r>
          </a:p>
          <a:p>
            <a:pPr lvl="1"/>
            <a:r>
              <a:rPr lang="en-GB" dirty="0"/>
              <a:t>Actions of people</a:t>
            </a:r>
          </a:p>
          <a:p>
            <a:pPr lvl="1"/>
            <a:r>
              <a:rPr lang="en-GB" dirty="0"/>
              <a:t>Accidents &amp; natural events</a:t>
            </a:r>
          </a:p>
          <a:p>
            <a:endParaRPr lang="en-US" dirty="0"/>
          </a:p>
        </p:txBody>
      </p:sp>
      <p:sp>
        <p:nvSpPr>
          <p:cNvPr id="4" name="Footer Placeholder 3"/>
          <p:cNvSpPr>
            <a:spLocks noGrp="1"/>
          </p:cNvSpPr>
          <p:nvPr>
            <p:ph type="ftr" sz="quarter" idx="11"/>
          </p:nvPr>
        </p:nvSpPr>
        <p:spPr/>
        <p:txBody>
          <a:bodyPr/>
          <a:lstStyle/>
          <a:p>
            <a:r>
              <a:rPr lang="en-US" smtClean="0"/>
              <a:t>Jeremiah Kafakoma</a:t>
            </a:r>
            <a:endParaRPr lang="en-US"/>
          </a:p>
        </p:txBody>
      </p:sp>
      <p:sp>
        <p:nvSpPr>
          <p:cNvPr id="5" name="Slide Number Placeholder 4"/>
          <p:cNvSpPr>
            <a:spLocks noGrp="1"/>
          </p:cNvSpPr>
          <p:nvPr>
            <p:ph type="sldNum" sz="quarter" idx="12"/>
          </p:nvPr>
        </p:nvSpPr>
        <p:spPr/>
        <p:txBody>
          <a:bodyPr/>
          <a:lstStyle/>
          <a:p>
            <a:fld id="{AF99D367-8FDA-4A2F-9F0E-167FD1610AEF}" type="slidenum">
              <a:rPr lang="en-US" smtClean="0"/>
              <a:t>85</a:t>
            </a:fld>
            <a:endParaRPr lang="en-US"/>
          </a:p>
        </p:txBody>
      </p:sp>
    </p:spTree>
    <p:extLst>
      <p:ext uri="{BB962C8B-B14F-4D97-AF65-F5344CB8AC3E}">
        <p14:creationId xmlns:p14="http://schemas.microsoft.com/office/powerpoint/2010/main" val="179931597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Security Policy</a:t>
            </a:r>
          </a:p>
        </p:txBody>
      </p:sp>
      <p:sp>
        <p:nvSpPr>
          <p:cNvPr id="3" name="Content Placeholder 2"/>
          <p:cNvSpPr>
            <a:spLocks noGrp="1"/>
          </p:cNvSpPr>
          <p:nvPr>
            <p:ph idx="1"/>
          </p:nvPr>
        </p:nvSpPr>
        <p:spPr/>
        <p:txBody>
          <a:bodyPr/>
          <a:lstStyle/>
          <a:p>
            <a:pPr lvl="1">
              <a:buClrTx/>
              <a:buFont typeface="Arial" panose="020B0604020202020204" pitchFamily="34" charset="0"/>
              <a:buChar char="•"/>
            </a:pPr>
            <a:r>
              <a:rPr lang="en-GB" sz="1800" dirty="0"/>
              <a:t>Most large organisations have a security policy.</a:t>
            </a:r>
          </a:p>
          <a:p>
            <a:pPr lvl="1">
              <a:buClrTx/>
              <a:buFont typeface="Arial" panose="020B0604020202020204" pitchFamily="34" charset="0"/>
              <a:buChar char="•"/>
            </a:pPr>
            <a:r>
              <a:rPr lang="en-GB" sz="1800" dirty="0"/>
              <a:t>Focuses attention on the importance of security</a:t>
            </a:r>
          </a:p>
          <a:p>
            <a:pPr lvl="1">
              <a:buClrTx/>
              <a:buFont typeface="Arial" panose="020B0604020202020204" pitchFamily="34" charset="0"/>
              <a:buChar char="•"/>
            </a:pPr>
            <a:r>
              <a:rPr lang="en-GB" sz="1800" dirty="0"/>
              <a:t>Shows management backing</a:t>
            </a:r>
          </a:p>
          <a:p>
            <a:pPr lvl="1">
              <a:buClrTx/>
              <a:buFont typeface="Arial" panose="020B0604020202020204" pitchFamily="34" charset="0"/>
              <a:buChar char="•"/>
            </a:pPr>
            <a:r>
              <a:rPr lang="en-GB" sz="1800" dirty="0"/>
              <a:t>Often includes key policies for users:</a:t>
            </a:r>
          </a:p>
          <a:p>
            <a:pPr lvl="1">
              <a:buClrTx/>
              <a:buFont typeface="Arial" panose="020B0604020202020204" pitchFamily="34" charset="0"/>
              <a:buChar char="•"/>
            </a:pPr>
            <a:endParaRPr lang="en-GB" sz="1800" dirty="0"/>
          </a:p>
          <a:p>
            <a:pPr lvl="2">
              <a:buClrTx/>
              <a:buFont typeface="Arial" panose="020B0604020202020204" pitchFamily="34" charset="0"/>
              <a:buChar char="•"/>
            </a:pPr>
            <a:r>
              <a:rPr lang="en-GB" sz="1800" dirty="0"/>
              <a:t>Acceptable use policy</a:t>
            </a:r>
          </a:p>
          <a:p>
            <a:pPr lvl="2">
              <a:buClrTx/>
              <a:buFont typeface="Arial" panose="020B0604020202020204" pitchFamily="34" charset="0"/>
              <a:buChar char="•"/>
            </a:pPr>
            <a:r>
              <a:rPr lang="en-GB" sz="1800" dirty="0"/>
              <a:t>Authorisation levels</a:t>
            </a:r>
          </a:p>
          <a:p>
            <a:pPr lvl="2">
              <a:buClrTx/>
              <a:buFont typeface="Arial" panose="020B0604020202020204" pitchFamily="34" charset="0"/>
              <a:buChar char="•"/>
            </a:pPr>
            <a:r>
              <a:rPr lang="en-GB" sz="1800" dirty="0"/>
              <a:t>Roles and responsibilities</a:t>
            </a:r>
          </a:p>
          <a:p>
            <a:endParaRPr lang="en-US" dirty="0"/>
          </a:p>
        </p:txBody>
      </p:sp>
      <p:sp>
        <p:nvSpPr>
          <p:cNvPr id="4" name="Footer Placeholder 3"/>
          <p:cNvSpPr>
            <a:spLocks noGrp="1"/>
          </p:cNvSpPr>
          <p:nvPr>
            <p:ph type="ftr" sz="quarter" idx="11"/>
          </p:nvPr>
        </p:nvSpPr>
        <p:spPr/>
        <p:txBody>
          <a:bodyPr/>
          <a:lstStyle/>
          <a:p>
            <a:r>
              <a:rPr lang="en-US" smtClean="0"/>
              <a:t>Jeremiah Kafakoma</a:t>
            </a:r>
            <a:endParaRPr lang="en-US"/>
          </a:p>
        </p:txBody>
      </p:sp>
      <p:sp>
        <p:nvSpPr>
          <p:cNvPr id="5" name="Slide Number Placeholder 4"/>
          <p:cNvSpPr>
            <a:spLocks noGrp="1"/>
          </p:cNvSpPr>
          <p:nvPr>
            <p:ph type="sldNum" sz="quarter" idx="12"/>
          </p:nvPr>
        </p:nvSpPr>
        <p:spPr/>
        <p:txBody>
          <a:bodyPr/>
          <a:lstStyle/>
          <a:p>
            <a:fld id="{AF99D367-8FDA-4A2F-9F0E-167FD1610AEF}" type="slidenum">
              <a:rPr lang="en-US" smtClean="0"/>
              <a:t>86</a:t>
            </a:fld>
            <a:endParaRPr lang="en-US"/>
          </a:p>
        </p:txBody>
      </p:sp>
    </p:spTree>
    <p:extLst>
      <p:ext uri="{BB962C8B-B14F-4D97-AF65-F5344CB8AC3E}">
        <p14:creationId xmlns:p14="http://schemas.microsoft.com/office/powerpoint/2010/main" val="302139372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Acceptable Use Policy</a:t>
            </a:r>
          </a:p>
        </p:txBody>
      </p:sp>
      <p:sp>
        <p:nvSpPr>
          <p:cNvPr id="3" name="Content Placeholder 2"/>
          <p:cNvSpPr>
            <a:spLocks noGrp="1"/>
          </p:cNvSpPr>
          <p:nvPr>
            <p:ph idx="1"/>
          </p:nvPr>
        </p:nvSpPr>
        <p:spPr/>
        <p:txBody>
          <a:bodyPr>
            <a:normAutofit lnSpcReduction="10000"/>
          </a:bodyPr>
          <a:lstStyle/>
          <a:p>
            <a:pPr lvl="1">
              <a:buClr>
                <a:schemeClr val="tx1"/>
              </a:buClr>
              <a:buFont typeface="Arial" panose="020B0604020202020204" pitchFamily="34" charset="0"/>
              <a:buChar char="•"/>
            </a:pPr>
            <a:r>
              <a:rPr lang="en-GB" dirty="0"/>
              <a:t>A set of rules that lay out how the network may be used</a:t>
            </a:r>
          </a:p>
          <a:p>
            <a:pPr lvl="1">
              <a:buClr>
                <a:schemeClr val="tx1"/>
              </a:buClr>
              <a:buFont typeface="Arial" panose="020B0604020202020204" pitchFamily="34" charset="0"/>
              <a:buChar char="•"/>
            </a:pPr>
            <a:r>
              <a:rPr lang="en-GB" dirty="0"/>
              <a:t>New users should be asked to sign their acceptance of the policy before being provided with network access</a:t>
            </a:r>
          </a:p>
          <a:p>
            <a:pPr lvl="1">
              <a:buClr>
                <a:schemeClr val="tx1"/>
              </a:buClr>
              <a:buFont typeface="Arial" panose="020B0604020202020204" pitchFamily="34" charset="0"/>
              <a:buChar char="•"/>
            </a:pPr>
            <a:r>
              <a:rPr lang="en-GB" dirty="0"/>
              <a:t>Ideally, this should outline the sanctions on users who break the policy</a:t>
            </a:r>
          </a:p>
          <a:p>
            <a:pPr marL="0" indent="0">
              <a:buClr>
                <a:schemeClr val="tx1"/>
              </a:buClr>
            </a:pPr>
            <a:r>
              <a:rPr lang="en-US" sz="2800" dirty="0" smtClean="0"/>
              <a:t>Authorization</a:t>
            </a:r>
          </a:p>
          <a:p>
            <a:pPr lvl="1">
              <a:buClr>
                <a:schemeClr val="tx1"/>
              </a:buClr>
              <a:buFont typeface="Arial" panose="020B0604020202020204" pitchFamily="34" charset="0"/>
              <a:buChar char="•"/>
            </a:pPr>
            <a:r>
              <a:rPr lang="en-GB" dirty="0"/>
              <a:t>Authorisation is the function of specifying access rights to resources for authorised users</a:t>
            </a:r>
          </a:p>
          <a:p>
            <a:pPr lvl="1">
              <a:buClr>
                <a:schemeClr val="tx1"/>
              </a:buClr>
              <a:buFont typeface="Arial" panose="020B0604020202020204" pitchFamily="34" charset="0"/>
              <a:buChar char="•"/>
            </a:pPr>
            <a:r>
              <a:rPr lang="en-GB" dirty="0"/>
              <a:t>A network should have a policy whereby users are granted access to resources based upon their grade, department, etc.</a:t>
            </a:r>
          </a:p>
          <a:p>
            <a:pPr lvl="1">
              <a:buClr>
                <a:schemeClr val="tx1"/>
              </a:buClr>
              <a:buFont typeface="Arial" panose="020B0604020202020204" pitchFamily="34" charset="0"/>
              <a:buChar char="•"/>
            </a:pPr>
            <a:r>
              <a:rPr lang="en-GB" dirty="0"/>
              <a:t>This can be done in a number of ways, e.g.</a:t>
            </a:r>
          </a:p>
          <a:p>
            <a:pPr lvl="1">
              <a:buClr>
                <a:schemeClr val="tx1"/>
              </a:buClr>
              <a:buFont typeface="Arial" panose="020B0604020202020204" pitchFamily="34" charset="0"/>
              <a:buChar char="•"/>
            </a:pPr>
            <a:endParaRPr lang="en-GB" sz="800" dirty="0"/>
          </a:p>
          <a:p>
            <a:pPr lvl="2">
              <a:buClr>
                <a:schemeClr val="tx1"/>
              </a:buClr>
              <a:buFont typeface="Arial" panose="020B0604020202020204" pitchFamily="34" charset="0"/>
              <a:buChar char="•"/>
            </a:pPr>
            <a:r>
              <a:rPr lang="en-GB" sz="1800" dirty="0"/>
              <a:t>Individually</a:t>
            </a:r>
          </a:p>
          <a:p>
            <a:pPr lvl="2">
              <a:buClr>
                <a:schemeClr val="tx1"/>
              </a:buClr>
              <a:buFont typeface="Arial" panose="020B0604020202020204" pitchFamily="34" charset="0"/>
              <a:buChar char="•"/>
            </a:pPr>
            <a:r>
              <a:rPr lang="en-GB" sz="1800" dirty="0"/>
              <a:t>Allocating user to a domain and allocating access rights to a domain</a:t>
            </a:r>
          </a:p>
          <a:p>
            <a:endParaRPr lang="en-US" dirty="0"/>
          </a:p>
        </p:txBody>
      </p:sp>
      <p:sp>
        <p:nvSpPr>
          <p:cNvPr id="4" name="Footer Placeholder 3"/>
          <p:cNvSpPr>
            <a:spLocks noGrp="1"/>
          </p:cNvSpPr>
          <p:nvPr>
            <p:ph type="ftr" sz="quarter" idx="11"/>
          </p:nvPr>
        </p:nvSpPr>
        <p:spPr/>
        <p:txBody>
          <a:bodyPr/>
          <a:lstStyle/>
          <a:p>
            <a:r>
              <a:rPr lang="en-US" smtClean="0"/>
              <a:t>Jeremiah Kafakoma</a:t>
            </a:r>
            <a:endParaRPr lang="en-US"/>
          </a:p>
        </p:txBody>
      </p:sp>
      <p:sp>
        <p:nvSpPr>
          <p:cNvPr id="5" name="Slide Number Placeholder 4"/>
          <p:cNvSpPr>
            <a:spLocks noGrp="1"/>
          </p:cNvSpPr>
          <p:nvPr>
            <p:ph type="sldNum" sz="quarter" idx="12"/>
          </p:nvPr>
        </p:nvSpPr>
        <p:spPr/>
        <p:txBody>
          <a:bodyPr/>
          <a:lstStyle/>
          <a:p>
            <a:fld id="{AF99D367-8FDA-4A2F-9F0E-167FD1610AEF}" type="slidenum">
              <a:rPr lang="en-US" smtClean="0"/>
              <a:t>87</a:t>
            </a:fld>
            <a:endParaRPr lang="en-US"/>
          </a:p>
        </p:txBody>
      </p:sp>
    </p:spTree>
    <p:extLst>
      <p:ext uri="{BB962C8B-B14F-4D97-AF65-F5344CB8AC3E}">
        <p14:creationId xmlns:p14="http://schemas.microsoft.com/office/powerpoint/2010/main" val="28587816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Roles and Responsibilities</a:t>
            </a:r>
          </a:p>
        </p:txBody>
      </p:sp>
      <p:sp>
        <p:nvSpPr>
          <p:cNvPr id="3" name="Content Placeholder 2"/>
          <p:cNvSpPr>
            <a:spLocks noGrp="1"/>
          </p:cNvSpPr>
          <p:nvPr>
            <p:ph idx="1"/>
          </p:nvPr>
        </p:nvSpPr>
        <p:spPr/>
        <p:txBody>
          <a:bodyPr/>
          <a:lstStyle/>
          <a:p>
            <a:pPr lvl="1">
              <a:buClrTx/>
              <a:buFont typeface="Arial" panose="020B0604020202020204" pitchFamily="34" charset="0"/>
              <a:buChar char="•"/>
            </a:pPr>
            <a:r>
              <a:rPr lang="en-GB" sz="2000" dirty="0">
                <a:latin typeface="Arial" panose="020B0604020202020204" pitchFamily="34" charset="0"/>
                <a:cs typeface="Arial" panose="020B0604020202020204" pitchFamily="34" charset="0"/>
              </a:rPr>
              <a:t>A security policy should allocate specific functions to specific job roles.</a:t>
            </a:r>
          </a:p>
          <a:p>
            <a:pPr lvl="1">
              <a:buClrTx/>
              <a:buFont typeface="Arial" panose="020B0604020202020204" pitchFamily="34" charset="0"/>
              <a:buChar char="•"/>
            </a:pPr>
            <a:r>
              <a:rPr lang="en-GB" sz="2000" dirty="0">
                <a:latin typeface="Arial" panose="020B0604020202020204" pitchFamily="34" charset="0"/>
                <a:cs typeface="Arial" panose="020B0604020202020204" pitchFamily="34" charset="0"/>
              </a:rPr>
              <a:t>Roles should be allocated in such a way that fraud is made difficult.</a:t>
            </a:r>
          </a:p>
          <a:p>
            <a:pPr lvl="1">
              <a:buClrTx/>
              <a:buFont typeface="Arial" panose="020B0604020202020204" pitchFamily="34" charset="0"/>
              <a:buChar char="•"/>
            </a:pPr>
            <a:r>
              <a:rPr lang="en-GB" sz="2000" dirty="0">
                <a:latin typeface="Arial" panose="020B0604020202020204" pitchFamily="34" charset="0"/>
                <a:cs typeface="Arial" panose="020B0604020202020204" pitchFamily="34" charset="0"/>
              </a:rPr>
              <a:t>Actual roles and responsibilities depend upon:</a:t>
            </a:r>
          </a:p>
          <a:p>
            <a:pPr lvl="1">
              <a:buClrTx/>
              <a:buFont typeface="Arial" panose="020B0604020202020204" pitchFamily="34" charset="0"/>
              <a:buChar char="•"/>
            </a:pPr>
            <a:endParaRPr lang="en-GB" sz="2000" dirty="0">
              <a:latin typeface="Arial" panose="020B0604020202020204" pitchFamily="34" charset="0"/>
              <a:cs typeface="Arial" panose="020B0604020202020204" pitchFamily="34" charset="0"/>
            </a:endParaRPr>
          </a:p>
          <a:p>
            <a:pPr lvl="2">
              <a:buClrTx/>
              <a:buFont typeface="Arial" panose="020B0604020202020204" pitchFamily="34" charset="0"/>
              <a:buChar char="•"/>
            </a:pPr>
            <a:r>
              <a:rPr lang="en-GB" sz="2000" b="1" i="1" dirty="0">
                <a:solidFill>
                  <a:srgbClr val="8AA551"/>
                </a:solidFill>
                <a:latin typeface="Arial" panose="020B0604020202020204" pitchFamily="34" charset="0"/>
                <a:cs typeface="Arial" panose="020B0604020202020204" pitchFamily="34" charset="0"/>
              </a:rPr>
              <a:t>Function</a:t>
            </a:r>
            <a:r>
              <a:rPr lang="en-GB" sz="2000" dirty="0">
                <a:latin typeface="Arial" panose="020B0604020202020204" pitchFamily="34" charset="0"/>
                <a:cs typeface="Arial" panose="020B0604020202020204" pitchFamily="34" charset="0"/>
              </a:rPr>
              <a:t> of the organisation</a:t>
            </a:r>
          </a:p>
          <a:p>
            <a:pPr lvl="2">
              <a:buClrTx/>
              <a:buFont typeface="Arial" panose="020B0604020202020204" pitchFamily="34" charset="0"/>
              <a:buChar char="•"/>
            </a:pPr>
            <a:r>
              <a:rPr lang="en-GB" sz="2000" b="1" i="1" dirty="0">
                <a:solidFill>
                  <a:srgbClr val="8AA551"/>
                </a:solidFill>
                <a:latin typeface="Arial" panose="020B0604020202020204" pitchFamily="34" charset="0"/>
                <a:cs typeface="Arial" panose="020B0604020202020204" pitchFamily="34" charset="0"/>
              </a:rPr>
              <a:t>Size</a:t>
            </a:r>
            <a:r>
              <a:rPr lang="en-GB" sz="2000" dirty="0">
                <a:latin typeface="Arial" panose="020B0604020202020204" pitchFamily="34" charset="0"/>
                <a:cs typeface="Arial" panose="020B0604020202020204" pitchFamily="34" charset="0"/>
              </a:rPr>
              <a:t> of the organisation</a:t>
            </a:r>
          </a:p>
          <a:p>
            <a:endParaRPr lang="en-US" dirty="0"/>
          </a:p>
        </p:txBody>
      </p:sp>
      <p:sp>
        <p:nvSpPr>
          <p:cNvPr id="4" name="Footer Placeholder 3"/>
          <p:cNvSpPr>
            <a:spLocks noGrp="1"/>
          </p:cNvSpPr>
          <p:nvPr>
            <p:ph type="ftr" sz="quarter" idx="11"/>
          </p:nvPr>
        </p:nvSpPr>
        <p:spPr/>
        <p:txBody>
          <a:bodyPr/>
          <a:lstStyle/>
          <a:p>
            <a:r>
              <a:rPr lang="en-US" smtClean="0"/>
              <a:t>Jeremiah Kafakoma</a:t>
            </a:r>
            <a:endParaRPr lang="en-US"/>
          </a:p>
        </p:txBody>
      </p:sp>
      <p:sp>
        <p:nvSpPr>
          <p:cNvPr id="5" name="Slide Number Placeholder 4"/>
          <p:cNvSpPr>
            <a:spLocks noGrp="1"/>
          </p:cNvSpPr>
          <p:nvPr>
            <p:ph type="sldNum" sz="quarter" idx="12"/>
          </p:nvPr>
        </p:nvSpPr>
        <p:spPr/>
        <p:txBody>
          <a:bodyPr/>
          <a:lstStyle/>
          <a:p>
            <a:fld id="{AF99D367-8FDA-4A2F-9F0E-167FD1610AEF}" type="slidenum">
              <a:rPr lang="en-US" smtClean="0"/>
              <a:t>88</a:t>
            </a:fld>
            <a:endParaRPr lang="en-US"/>
          </a:p>
        </p:txBody>
      </p:sp>
    </p:spTree>
    <p:extLst>
      <p:ext uri="{BB962C8B-B14F-4D97-AF65-F5344CB8AC3E}">
        <p14:creationId xmlns:p14="http://schemas.microsoft.com/office/powerpoint/2010/main" val="150583677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Transmission techniques</a:t>
            </a:r>
            <a:endParaRPr lang="en-US" dirty="0"/>
          </a:p>
        </p:txBody>
      </p:sp>
      <p:sp>
        <p:nvSpPr>
          <p:cNvPr id="3" name="Content Placeholder 2"/>
          <p:cNvSpPr>
            <a:spLocks noGrp="1"/>
          </p:cNvSpPr>
          <p:nvPr>
            <p:ph idx="1"/>
          </p:nvPr>
        </p:nvSpPr>
        <p:spPr/>
        <p:txBody>
          <a:bodyPr/>
          <a:lstStyle/>
          <a:p>
            <a:pPr>
              <a:buFont typeface="Arial" panose="020B0604020202020204" pitchFamily="34" charset="0"/>
              <a:buChar char="•"/>
            </a:pPr>
            <a:r>
              <a:rPr lang="en-US" b="0" dirty="0" smtClean="0"/>
              <a:t>In this chapter we will look on some data transmission techniques which are </a:t>
            </a:r>
          </a:p>
          <a:p>
            <a:pPr>
              <a:buFont typeface="Arial" panose="020B0604020202020204" pitchFamily="34" charset="0"/>
              <a:buChar char="•"/>
            </a:pPr>
            <a:r>
              <a:rPr lang="en-US" b="0" dirty="0" smtClean="0"/>
              <a:t> </a:t>
            </a:r>
            <a:r>
              <a:rPr lang="en-US" sz="1400" b="0" dirty="0" smtClean="0"/>
              <a:t>Parallel Data Transmission </a:t>
            </a:r>
            <a:endParaRPr lang="en-US" b="0" dirty="0"/>
          </a:p>
          <a:p>
            <a:pPr>
              <a:buFont typeface="Arial" panose="020B0604020202020204" pitchFamily="34" charset="0"/>
              <a:buChar char="•"/>
            </a:pPr>
            <a:r>
              <a:rPr lang="en-US" b="0" dirty="0"/>
              <a:t> </a:t>
            </a:r>
            <a:r>
              <a:rPr lang="en-US" sz="1400" b="0" dirty="0" smtClean="0"/>
              <a:t>Serial Data Transmission </a:t>
            </a:r>
          </a:p>
          <a:p>
            <a:pPr marL="0" indent="0"/>
            <a:r>
              <a:rPr lang="en-US" sz="1400" dirty="0"/>
              <a:t>Introduction to Communication </a:t>
            </a:r>
            <a:r>
              <a:rPr lang="en-US" sz="1400" dirty="0" smtClean="0"/>
              <a:t>Interface</a:t>
            </a:r>
          </a:p>
          <a:p>
            <a:pPr marL="0" indent="0"/>
            <a:r>
              <a:rPr lang="en-US" sz="1400" dirty="0" smtClean="0"/>
              <a:t> </a:t>
            </a:r>
            <a:endParaRPr lang="en-US" sz="1400" dirty="0"/>
          </a:p>
        </p:txBody>
      </p:sp>
      <p:sp>
        <p:nvSpPr>
          <p:cNvPr id="4" name="Footer Placeholder 3"/>
          <p:cNvSpPr>
            <a:spLocks noGrp="1"/>
          </p:cNvSpPr>
          <p:nvPr>
            <p:ph type="ftr" sz="quarter" idx="11"/>
          </p:nvPr>
        </p:nvSpPr>
        <p:spPr/>
        <p:txBody>
          <a:bodyPr/>
          <a:lstStyle/>
          <a:p>
            <a:r>
              <a:rPr lang="en-US" smtClean="0"/>
              <a:t>Jeremiah Kafakoma</a:t>
            </a:r>
            <a:endParaRPr lang="en-US"/>
          </a:p>
        </p:txBody>
      </p:sp>
      <p:sp>
        <p:nvSpPr>
          <p:cNvPr id="5" name="Slide Number Placeholder 4"/>
          <p:cNvSpPr>
            <a:spLocks noGrp="1"/>
          </p:cNvSpPr>
          <p:nvPr>
            <p:ph type="sldNum" sz="quarter" idx="12"/>
          </p:nvPr>
        </p:nvSpPr>
        <p:spPr/>
        <p:txBody>
          <a:bodyPr/>
          <a:lstStyle/>
          <a:p>
            <a:fld id="{AF99D367-8FDA-4A2F-9F0E-167FD1610AEF}" type="slidenum">
              <a:rPr lang="en-US" smtClean="0"/>
              <a:t>89</a:t>
            </a:fld>
            <a:endParaRPr lang="en-US"/>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2362200"/>
            <a:ext cx="7377113" cy="281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5720890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transmission</a:t>
            </a:r>
            <a:endParaRPr lang="en-US" dirty="0"/>
          </a:p>
        </p:txBody>
      </p:sp>
      <p:sp>
        <p:nvSpPr>
          <p:cNvPr id="3" name="Content Placeholder 2"/>
          <p:cNvSpPr>
            <a:spLocks noGrp="1"/>
          </p:cNvSpPr>
          <p:nvPr>
            <p:ph idx="1"/>
          </p:nvPr>
        </p:nvSpPr>
        <p:spPr/>
        <p:txBody>
          <a:bodyPr/>
          <a:lstStyle/>
          <a:p>
            <a:pPr>
              <a:buFont typeface="Arial" panose="020B0604020202020204" pitchFamily="34" charset="0"/>
              <a:buChar char="•"/>
            </a:pPr>
            <a:r>
              <a:rPr lang="en-US" dirty="0"/>
              <a:t>Data transmission</a:t>
            </a:r>
            <a:r>
              <a:rPr lang="en-US" b="0" dirty="0"/>
              <a:t> is the process of sending digital or analog </a:t>
            </a:r>
            <a:r>
              <a:rPr lang="en-US" dirty="0"/>
              <a:t>data</a:t>
            </a:r>
            <a:r>
              <a:rPr lang="en-US" b="0" dirty="0"/>
              <a:t> over a communication medium to one or more computing, network, communication or electronic devices. </a:t>
            </a:r>
            <a:endParaRPr lang="en-US" b="0" dirty="0" smtClean="0"/>
          </a:p>
          <a:p>
            <a:pPr>
              <a:buFont typeface="Arial" panose="020B0604020202020204" pitchFamily="34" charset="0"/>
              <a:buChar char="•"/>
            </a:pPr>
            <a:r>
              <a:rPr lang="en-US" b="0" dirty="0" smtClean="0"/>
              <a:t>It </a:t>
            </a:r>
            <a:r>
              <a:rPr lang="en-US" b="0" dirty="0"/>
              <a:t>enables the transfer and communication of devices in a point-to-point, point-to-multipoint and multipoint-to-multipoint environment</a:t>
            </a:r>
            <a:r>
              <a:rPr lang="en-US" b="0" dirty="0" smtClean="0"/>
              <a:t>.</a:t>
            </a:r>
          </a:p>
          <a:p>
            <a:pPr marL="0" indent="0"/>
            <a:r>
              <a:rPr lang="en-US" dirty="0"/>
              <a:t>Parallel Data Transmission </a:t>
            </a:r>
            <a:endParaRPr lang="en-US" dirty="0" smtClean="0"/>
          </a:p>
          <a:p>
            <a:pPr marL="285750" indent="-285750">
              <a:buFont typeface="Arial" panose="020B0604020202020204" pitchFamily="34" charset="0"/>
              <a:buChar char="•"/>
            </a:pPr>
            <a:r>
              <a:rPr lang="en-US" b="0" smtClean="0"/>
              <a:t>In</a:t>
            </a:r>
            <a:r>
              <a:rPr lang="en-US" b="0" dirty="0"/>
              <a:t> </a:t>
            </a:r>
            <a:r>
              <a:rPr lang="en-US" dirty="0"/>
              <a:t>parallel transmission</a:t>
            </a:r>
            <a:r>
              <a:rPr lang="en-US" b="0" dirty="0"/>
              <a:t>, multiple bits (usually 8 bits or a byte/character) are sent simultaneously on different channels (wires, frequency channels) within the same cable, or radio path, and synchronized to a clock.</a:t>
            </a:r>
          </a:p>
        </p:txBody>
      </p:sp>
      <p:sp>
        <p:nvSpPr>
          <p:cNvPr id="4" name="Footer Placeholder 3"/>
          <p:cNvSpPr>
            <a:spLocks noGrp="1"/>
          </p:cNvSpPr>
          <p:nvPr>
            <p:ph type="ftr" sz="quarter" idx="11"/>
          </p:nvPr>
        </p:nvSpPr>
        <p:spPr/>
        <p:txBody>
          <a:bodyPr/>
          <a:lstStyle/>
          <a:p>
            <a:r>
              <a:rPr lang="en-US" smtClean="0"/>
              <a:t>Jeremiah Kafakoma</a:t>
            </a:r>
            <a:endParaRPr lang="en-US"/>
          </a:p>
        </p:txBody>
      </p:sp>
      <p:sp>
        <p:nvSpPr>
          <p:cNvPr id="5" name="Slide Number Placeholder 4"/>
          <p:cNvSpPr>
            <a:spLocks noGrp="1"/>
          </p:cNvSpPr>
          <p:nvPr>
            <p:ph type="sldNum" sz="quarter" idx="12"/>
          </p:nvPr>
        </p:nvSpPr>
        <p:spPr/>
        <p:txBody>
          <a:bodyPr/>
          <a:lstStyle/>
          <a:p>
            <a:fld id="{AF99D367-8FDA-4A2F-9F0E-167FD1610AEF}" type="slidenum">
              <a:rPr lang="en-US" smtClean="0"/>
              <a:t>90</a:t>
            </a:fld>
            <a:endParaRPr lang="en-US"/>
          </a:p>
        </p:txBody>
      </p:sp>
    </p:spTree>
    <p:extLst>
      <p:ext uri="{BB962C8B-B14F-4D97-AF65-F5344CB8AC3E}">
        <p14:creationId xmlns:p14="http://schemas.microsoft.com/office/powerpoint/2010/main" val="425226759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Network Performance</a:t>
            </a:r>
            <a:endParaRPr lang="en-US" dirty="0"/>
          </a:p>
        </p:txBody>
      </p:sp>
      <p:sp>
        <p:nvSpPr>
          <p:cNvPr id="3" name="Content Placeholder 2"/>
          <p:cNvSpPr>
            <a:spLocks noGrp="1"/>
          </p:cNvSpPr>
          <p:nvPr>
            <p:ph idx="1"/>
          </p:nvPr>
        </p:nvSpPr>
        <p:spPr/>
        <p:txBody>
          <a:bodyPr>
            <a:normAutofit/>
          </a:bodyPr>
          <a:lstStyle/>
          <a:p>
            <a:pPr lvl="1"/>
            <a:r>
              <a:rPr lang="en-US" dirty="0"/>
              <a:t>Determine if there is anything different since the network last functioned normally:</a:t>
            </a:r>
          </a:p>
          <a:p>
            <a:pPr lvl="1"/>
            <a:endParaRPr lang="en-US" sz="800" dirty="0"/>
          </a:p>
          <a:p>
            <a:pPr lvl="2"/>
            <a:r>
              <a:rPr lang="en-US" sz="2600" dirty="0"/>
              <a:t>New equipment</a:t>
            </a:r>
          </a:p>
          <a:p>
            <a:pPr lvl="2"/>
            <a:r>
              <a:rPr lang="en-US" sz="2600" dirty="0"/>
              <a:t>New applications</a:t>
            </a:r>
          </a:p>
          <a:p>
            <a:pPr lvl="1"/>
            <a:r>
              <a:rPr lang="en-US" dirty="0"/>
              <a:t>Check network users:</a:t>
            </a:r>
          </a:p>
          <a:p>
            <a:pPr lvl="1"/>
            <a:endParaRPr lang="en-US" sz="800" dirty="0"/>
          </a:p>
          <a:p>
            <a:pPr lvl="2"/>
            <a:r>
              <a:rPr lang="en-US" sz="2600" dirty="0"/>
              <a:t>New users</a:t>
            </a:r>
          </a:p>
          <a:p>
            <a:pPr lvl="2"/>
            <a:r>
              <a:rPr lang="en-US" sz="2600" dirty="0"/>
              <a:t>Game playing/videos</a:t>
            </a:r>
          </a:p>
          <a:p>
            <a:pPr lvl="1"/>
            <a:r>
              <a:rPr lang="en-US" dirty="0"/>
              <a:t>Check for equipment that may cause interference.</a:t>
            </a:r>
          </a:p>
          <a:p>
            <a:endParaRPr lang="en-US" dirty="0"/>
          </a:p>
        </p:txBody>
      </p:sp>
      <p:sp>
        <p:nvSpPr>
          <p:cNvPr id="4" name="Footer Placeholder 3"/>
          <p:cNvSpPr>
            <a:spLocks noGrp="1"/>
          </p:cNvSpPr>
          <p:nvPr>
            <p:ph type="ftr" sz="quarter" idx="11"/>
          </p:nvPr>
        </p:nvSpPr>
        <p:spPr/>
        <p:txBody>
          <a:bodyPr/>
          <a:lstStyle/>
          <a:p>
            <a:r>
              <a:rPr lang="en-US" smtClean="0"/>
              <a:t>Jeremiah Kafakoma</a:t>
            </a:r>
            <a:endParaRPr lang="en-US"/>
          </a:p>
        </p:txBody>
      </p:sp>
      <p:sp>
        <p:nvSpPr>
          <p:cNvPr id="5" name="Slide Number Placeholder 4"/>
          <p:cNvSpPr>
            <a:spLocks noGrp="1"/>
          </p:cNvSpPr>
          <p:nvPr>
            <p:ph type="sldNum" sz="quarter" idx="12"/>
          </p:nvPr>
        </p:nvSpPr>
        <p:spPr/>
        <p:txBody>
          <a:bodyPr/>
          <a:lstStyle/>
          <a:p>
            <a:fld id="{AF99D367-8FDA-4A2F-9F0E-167FD1610AEF}" type="slidenum">
              <a:rPr lang="en-US" smtClean="0"/>
              <a:t>91</a:t>
            </a:fld>
            <a:endParaRPr lang="en-US"/>
          </a:p>
        </p:txBody>
      </p:sp>
    </p:spTree>
    <p:extLst>
      <p:ext uri="{BB962C8B-B14F-4D97-AF65-F5344CB8AC3E}">
        <p14:creationId xmlns:p14="http://schemas.microsoft.com/office/powerpoint/2010/main" val="3399332442"/>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Wiring standards</a:t>
            </a:r>
            <a:endParaRPr lang="en-US" dirty="0"/>
          </a:p>
        </p:txBody>
      </p:sp>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sz="2000" b="0" dirty="0"/>
              <a:t>The </a:t>
            </a:r>
            <a:r>
              <a:rPr lang="en-US" sz="2000" dirty="0"/>
              <a:t>wiring standards</a:t>
            </a:r>
            <a:r>
              <a:rPr lang="en-US" sz="2000" b="0" dirty="0"/>
              <a:t> for RJ45 data jacks and plugs, according to ANSI, TIA &amp; EIA, includes two variations: </a:t>
            </a:r>
            <a:r>
              <a:rPr lang="en-US" sz="2000" dirty="0"/>
              <a:t>T568A</a:t>
            </a:r>
            <a:r>
              <a:rPr lang="en-US" sz="2000" b="0" dirty="0"/>
              <a:t> and </a:t>
            </a:r>
            <a:r>
              <a:rPr lang="en-US" sz="2000" dirty="0"/>
              <a:t>T568B</a:t>
            </a:r>
            <a:r>
              <a:rPr lang="en-US" sz="2000" b="0" dirty="0"/>
              <a:t>. </a:t>
            </a:r>
            <a:endParaRPr lang="en-US" sz="2000" b="0" dirty="0" smtClean="0"/>
          </a:p>
          <a:p>
            <a:pPr>
              <a:buFont typeface="Arial" panose="020B0604020202020204" pitchFamily="34" charset="0"/>
              <a:buChar char="•"/>
            </a:pPr>
            <a:r>
              <a:rPr lang="en-US" sz="2000" b="0" dirty="0" smtClean="0"/>
              <a:t>These </a:t>
            </a:r>
            <a:r>
              <a:rPr lang="en-US" sz="2000" b="0" dirty="0"/>
              <a:t>two </a:t>
            </a:r>
            <a:r>
              <a:rPr lang="en-US" sz="2000" dirty="0"/>
              <a:t>standards</a:t>
            </a:r>
            <a:r>
              <a:rPr lang="en-US" sz="2000" b="0" dirty="0"/>
              <a:t> are very similar. In fact, the only visible difference between the two is that pairs 2 and 3 (green &amp; orange) are swapped</a:t>
            </a:r>
            <a:r>
              <a:rPr lang="en-US" sz="2000" b="0" dirty="0" smtClean="0"/>
              <a:t>.</a:t>
            </a:r>
          </a:p>
          <a:p>
            <a:pPr>
              <a:buFont typeface="Arial" panose="020B0604020202020204" pitchFamily="34" charset="0"/>
              <a:buChar char="•"/>
            </a:pPr>
            <a:r>
              <a:rPr lang="en-US" sz="2000" dirty="0"/>
              <a:t>TIA/EIA-568</a:t>
            </a:r>
            <a:r>
              <a:rPr lang="en-US" sz="2000" b="0" dirty="0"/>
              <a:t> is a set of </a:t>
            </a:r>
            <a:r>
              <a:rPr lang="en-US" sz="2000" b="0" dirty="0">
                <a:hlinkClick r:id="rId2" tooltip="Telecommunications"/>
              </a:rPr>
              <a:t>telecommunications</a:t>
            </a:r>
            <a:r>
              <a:rPr lang="en-US" sz="2000" b="0" dirty="0"/>
              <a:t> standards from the </a:t>
            </a:r>
            <a:r>
              <a:rPr lang="en-US" sz="2000" b="0" dirty="0">
                <a:hlinkClick r:id="rId3" tooltip="Telecommunications Industry Association"/>
              </a:rPr>
              <a:t>Telecommunications Industry Association</a:t>
            </a:r>
            <a:r>
              <a:rPr lang="en-US" sz="2000" b="0" dirty="0"/>
              <a:t> (TIA), an offshoot of the </a:t>
            </a:r>
            <a:r>
              <a:rPr lang="en-US" sz="2000" b="0" dirty="0">
                <a:hlinkClick r:id="rId4" tooltip="Electronic Industries Alliance"/>
              </a:rPr>
              <a:t>Electronic Industries Alliance</a:t>
            </a:r>
            <a:r>
              <a:rPr lang="en-US" sz="2000" b="0" dirty="0"/>
              <a:t> (EIA). </a:t>
            </a:r>
            <a:endParaRPr lang="en-US" sz="2000" b="0" dirty="0" smtClean="0"/>
          </a:p>
          <a:p>
            <a:pPr>
              <a:buFont typeface="Arial" panose="020B0604020202020204" pitchFamily="34" charset="0"/>
              <a:buChar char="•"/>
            </a:pPr>
            <a:r>
              <a:rPr lang="en-US" sz="2000" b="0" dirty="0" smtClean="0"/>
              <a:t>The </a:t>
            </a:r>
            <a:r>
              <a:rPr lang="en-US" sz="2000" b="0" dirty="0"/>
              <a:t>standards address </a:t>
            </a:r>
            <a:r>
              <a:rPr lang="en-US" sz="2000" b="0" dirty="0">
                <a:hlinkClick r:id="rId5" tooltip="Commercial building"/>
              </a:rPr>
              <a:t>commercial building</a:t>
            </a:r>
            <a:r>
              <a:rPr lang="en-US" sz="2000" b="0" dirty="0"/>
              <a:t> cabling for telecommunications products and services.</a:t>
            </a:r>
            <a:endParaRPr lang="en-US" sz="2000" dirty="0"/>
          </a:p>
        </p:txBody>
      </p:sp>
      <p:sp>
        <p:nvSpPr>
          <p:cNvPr id="4" name="Footer Placeholder 3"/>
          <p:cNvSpPr>
            <a:spLocks noGrp="1"/>
          </p:cNvSpPr>
          <p:nvPr>
            <p:ph type="ftr" sz="quarter" idx="11"/>
          </p:nvPr>
        </p:nvSpPr>
        <p:spPr/>
        <p:txBody>
          <a:bodyPr/>
          <a:lstStyle/>
          <a:p>
            <a:r>
              <a:rPr lang="en-US" smtClean="0"/>
              <a:t>Jeremiah Kafakoma</a:t>
            </a:r>
            <a:endParaRPr lang="en-US"/>
          </a:p>
        </p:txBody>
      </p:sp>
      <p:sp>
        <p:nvSpPr>
          <p:cNvPr id="5" name="Slide Number Placeholder 4"/>
          <p:cNvSpPr>
            <a:spLocks noGrp="1"/>
          </p:cNvSpPr>
          <p:nvPr>
            <p:ph type="sldNum" sz="quarter" idx="12"/>
          </p:nvPr>
        </p:nvSpPr>
        <p:spPr/>
        <p:txBody>
          <a:bodyPr/>
          <a:lstStyle/>
          <a:p>
            <a:fld id="{AF99D367-8FDA-4A2F-9F0E-167FD1610AEF}" type="slidenum">
              <a:rPr lang="en-US" smtClean="0"/>
              <a:t>92</a:t>
            </a:fld>
            <a:endParaRPr lang="en-US"/>
          </a:p>
        </p:txBody>
      </p:sp>
    </p:spTree>
    <p:extLst>
      <p:ext uri="{BB962C8B-B14F-4D97-AF65-F5344CB8AC3E}">
        <p14:creationId xmlns:p14="http://schemas.microsoft.com/office/powerpoint/2010/main" val="194121103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How are T568A and T568B similar?</a:t>
            </a:r>
            <a:endParaRPr lang="en-US" dirty="0"/>
          </a:p>
        </p:txBody>
      </p:sp>
      <p:sp>
        <p:nvSpPr>
          <p:cNvPr id="3" name="Content Placeholder 2"/>
          <p:cNvSpPr>
            <a:spLocks noGrp="1"/>
          </p:cNvSpPr>
          <p:nvPr>
            <p:ph idx="1"/>
          </p:nvPr>
        </p:nvSpPr>
        <p:spPr/>
        <p:txBody>
          <a:bodyPr/>
          <a:lstStyle/>
          <a:p>
            <a:pPr>
              <a:buFont typeface="Arial" panose="020B0604020202020204" pitchFamily="34" charset="0"/>
              <a:buChar char="•"/>
            </a:pPr>
            <a:r>
              <a:rPr lang="en-US" b="0" dirty="0"/>
              <a:t>The main similarity between T568A and T568B is that they both provide wiring schemes for terminating twisted-pair copper network cable (</a:t>
            </a:r>
            <a:r>
              <a:rPr lang="en-US" b="0" u="sng" dirty="0">
                <a:hlinkClick r:id="rId2"/>
              </a:rPr>
              <a:t>CAT cables</a:t>
            </a:r>
            <a:r>
              <a:rPr lang="en-US" b="0" dirty="0"/>
              <a:t>) to 8-position </a:t>
            </a:r>
            <a:r>
              <a:rPr lang="en-US" b="0" u="sng" dirty="0">
                <a:hlinkClick r:id="rId3"/>
              </a:rPr>
              <a:t>RJ45 jacks and connectors</a:t>
            </a:r>
            <a:r>
              <a:rPr lang="en-US" b="0" dirty="0"/>
              <a:t>. “8 position” refers to the fact that RJ45 data transmission requires 8 conductors, which are provided by the 4 twisted wire pairs found in the </a:t>
            </a:r>
            <a:r>
              <a:rPr lang="en-US" b="0" u="sng" dirty="0">
                <a:hlinkClick r:id="rId4"/>
              </a:rPr>
              <a:t>copper-based network cable</a:t>
            </a:r>
            <a:r>
              <a:rPr lang="en-US" b="0" dirty="0"/>
              <a:t> we just mentioned</a:t>
            </a:r>
            <a:r>
              <a:rPr lang="en-US" b="0" dirty="0" smtClean="0"/>
              <a:t>.</a:t>
            </a:r>
          </a:p>
          <a:p>
            <a:pPr>
              <a:buFont typeface="Arial" panose="020B0604020202020204" pitchFamily="34" charset="0"/>
              <a:buChar char="•"/>
            </a:pPr>
            <a:r>
              <a:rPr lang="en-US" b="0" dirty="0" smtClean="0"/>
              <a:t> </a:t>
            </a:r>
            <a:r>
              <a:rPr lang="en-US" b="0" dirty="0"/>
              <a:t>The pairs in this type of cable are based on four colors (blue, orange, green and brown), with each of pair consisting of solid-colored wire twisted together with another wire that’s of the same color, but striped with white. </a:t>
            </a:r>
            <a:endParaRPr lang="en-US" b="0" dirty="0" smtClean="0"/>
          </a:p>
          <a:p>
            <a:pPr>
              <a:buFont typeface="Arial" panose="020B0604020202020204" pitchFamily="34" charset="0"/>
              <a:buChar char="•"/>
            </a:pPr>
            <a:r>
              <a:rPr lang="en-US" b="0" dirty="0" smtClean="0"/>
              <a:t>When </a:t>
            </a:r>
            <a:r>
              <a:rPr lang="en-US" b="0" dirty="0"/>
              <a:t>untwisted, the 4 pairs result in 8 individual wires: one for each pin of the jack or plug.</a:t>
            </a:r>
            <a:endParaRPr lang="en-US" dirty="0"/>
          </a:p>
        </p:txBody>
      </p:sp>
      <p:sp>
        <p:nvSpPr>
          <p:cNvPr id="4" name="Footer Placeholder 3"/>
          <p:cNvSpPr>
            <a:spLocks noGrp="1"/>
          </p:cNvSpPr>
          <p:nvPr>
            <p:ph type="ftr" sz="quarter" idx="11"/>
          </p:nvPr>
        </p:nvSpPr>
        <p:spPr/>
        <p:txBody>
          <a:bodyPr/>
          <a:lstStyle/>
          <a:p>
            <a:r>
              <a:rPr lang="en-US" smtClean="0"/>
              <a:t>Jeremiah Kafakoma</a:t>
            </a:r>
            <a:endParaRPr lang="en-US"/>
          </a:p>
        </p:txBody>
      </p:sp>
      <p:sp>
        <p:nvSpPr>
          <p:cNvPr id="5" name="Slide Number Placeholder 4"/>
          <p:cNvSpPr>
            <a:spLocks noGrp="1"/>
          </p:cNvSpPr>
          <p:nvPr>
            <p:ph type="sldNum" sz="quarter" idx="12"/>
          </p:nvPr>
        </p:nvSpPr>
        <p:spPr/>
        <p:txBody>
          <a:bodyPr/>
          <a:lstStyle/>
          <a:p>
            <a:fld id="{AF99D367-8FDA-4A2F-9F0E-167FD1610AEF}" type="slidenum">
              <a:rPr lang="en-US" smtClean="0"/>
              <a:t>93</a:t>
            </a:fld>
            <a:endParaRPr lang="en-US"/>
          </a:p>
        </p:txBody>
      </p:sp>
    </p:spTree>
    <p:extLst>
      <p:ext uri="{BB962C8B-B14F-4D97-AF65-F5344CB8AC3E}">
        <p14:creationId xmlns:p14="http://schemas.microsoft.com/office/powerpoint/2010/main" val="231808974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Footer Placeholder 3"/>
          <p:cNvSpPr>
            <a:spLocks noGrp="1"/>
          </p:cNvSpPr>
          <p:nvPr>
            <p:ph type="ftr" sz="quarter" idx="11"/>
          </p:nvPr>
        </p:nvSpPr>
        <p:spPr/>
        <p:txBody>
          <a:bodyPr/>
          <a:lstStyle/>
          <a:p>
            <a:r>
              <a:rPr lang="en-US" smtClean="0"/>
              <a:t>Jeremiah Kafakoma</a:t>
            </a:r>
            <a:endParaRPr lang="en-US"/>
          </a:p>
        </p:txBody>
      </p:sp>
      <p:sp>
        <p:nvSpPr>
          <p:cNvPr id="5" name="Slide Number Placeholder 4"/>
          <p:cNvSpPr>
            <a:spLocks noGrp="1"/>
          </p:cNvSpPr>
          <p:nvPr>
            <p:ph type="sldNum" sz="quarter" idx="12"/>
          </p:nvPr>
        </p:nvSpPr>
        <p:spPr/>
        <p:txBody>
          <a:bodyPr/>
          <a:lstStyle/>
          <a:p>
            <a:fld id="{AF99D367-8FDA-4A2F-9F0E-167FD1610AEF}" type="slidenum">
              <a:rPr lang="en-US" smtClean="0"/>
              <a:t>94</a:t>
            </a:fld>
            <a:endParaRPr lang="en-US"/>
          </a:p>
        </p:txBody>
      </p:sp>
      <p:pic>
        <p:nvPicPr>
          <p:cNvPr id="1026"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600200" y="1507077"/>
            <a:ext cx="1371600" cy="1809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91000" y="1524000"/>
            <a:ext cx="139065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4742496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Troubleshooting Method</a:t>
            </a:r>
            <a:endParaRPr lang="en-US" dirty="0"/>
          </a:p>
        </p:txBody>
      </p:sp>
      <p:sp>
        <p:nvSpPr>
          <p:cNvPr id="3" name="Content Placeholder 2"/>
          <p:cNvSpPr>
            <a:spLocks noGrp="1"/>
          </p:cNvSpPr>
          <p:nvPr>
            <p:ph idx="1"/>
          </p:nvPr>
        </p:nvSpPr>
        <p:spPr/>
        <p:txBody>
          <a:bodyPr/>
          <a:lstStyle/>
          <a:p>
            <a:pPr marL="914400" lvl="1" indent="-457200">
              <a:buFontTx/>
              <a:buAutoNum type="arabicPeriod"/>
              <a:defRPr/>
            </a:pPr>
            <a:r>
              <a:rPr lang="en-US" dirty="0"/>
              <a:t>Determine what the problem is</a:t>
            </a:r>
          </a:p>
          <a:p>
            <a:pPr marL="914400" lvl="1" indent="-457200">
              <a:buFontTx/>
              <a:buAutoNum type="arabicPeriod"/>
              <a:defRPr/>
            </a:pPr>
            <a:r>
              <a:rPr lang="en-US" dirty="0"/>
              <a:t>Gather relevant information</a:t>
            </a:r>
          </a:p>
          <a:p>
            <a:pPr marL="914400" lvl="1" indent="-457200">
              <a:buFontTx/>
              <a:buAutoNum type="arabicPeriod"/>
              <a:defRPr/>
            </a:pPr>
            <a:r>
              <a:rPr lang="en-US" dirty="0"/>
              <a:t>Consider possible causes</a:t>
            </a:r>
          </a:p>
          <a:p>
            <a:pPr marL="914400" lvl="1" indent="-457200">
              <a:buFontTx/>
              <a:buAutoNum type="arabicPeriod"/>
              <a:defRPr/>
            </a:pPr>
            <a:r>
              <a:rPr lang="en-US" dirty="0"/>
              <a:t>Devise a potential solution</a:t>
            </a:r>
          </a:p>
          <a:p>
            <a:pPr marL="914400" lvl="1" indent="-457200">
              <a:buFontTx/>
              <a:buAutoNum type="arabicPeriod"/>
              <a:defRPr/>
            </a:pPr>
            <a:r>
              <a:rPr lang="en-US" dirty="0"/>
              <a:t>Implement the solution</a:t>
            </a:r>
          </a:p>
          <a:p>
            <a:pPr marL="914400" lvl="1" indent="-457200">
              <a:buFontTx/>
              <a:buAutoNum type="arabicPeriod"/>
              <a:defRPr/>
            </a:pPr>
            <a:r>
              <a:rPr lang="en-US" dirty="0"/>
              <a:t>Test the solution</a:t>
            </a:r>
          </a:p>
          <a:p>
            <a:pPr marL="914400" lvl="1" indent="-457200">
              <a:buFontTx/>
              <a:buAutoNum type="arabicPeriod"/>
              <a:defRPr/>
            </a:pPr>
            <a:r>
              <a:rPr lang="en-US" dirty="0"/>
              <a:t>Document the solution</a:t>
            </a:r>
          </a:p>
          <a:p>
            <a:pPr marL="914400" lvl="1" indent="-457200">
              <a:buFontTx/>
              <a:buAutoNum type="arabicPeriod"/>
              <a:defRPr/>
            </a:pPr>
            <a:r>
              <a:rPr lang="en-US" dirty="0"/>
              <a:t>Implement methods to prevent reoccurrence</a:t>
            </a:r>
          </a:p>
          <a:p>
            <a:endParaRPr lang="en-US" dirty="0"/>
          </a:p>
        </p:txBody>
      </p:sp>
      <p:sp>
        <p:nvSpPr>
          <p:cNvPr id="4" name="Footer Placeholder 3"/>
          <p:cNvSpPr>
            <a:spLocks noGrp="1"/>
          </p:cNvSpPr>
          <p:nvPr>
            <p:ph type="ftr" sz="quarter" idx="11"/>
          </p:nvPr>
        </p:nvSpPr>
        <p:spPr/>
        <p:txBody>
          <a:bodyPr/>
          <a:lstStyle/>
          <a:p>
            <a:r>
              <a:rPr lang="en-US" smtClean="0"/>
              <a:t>Jeremiah Kafakoma</a:t>
            </a:r>
            <a:endParaRPr lang="en-US"/>
          </a:p>
        </p:txBody>
      </p:sp>
      <p:sp>
        <p:nvSpPr>
          <p:cNvPr id="5" name="Slide Number Placeholder 4"/>
          <p:cNvSpPr>
            <a:spLocks noGrp="1"/>
          </p:cNvSpPr>
          <p:nvPr>
            <p:ph type="sldNum" sz="quarter" idx="12"/>
          </p:nvPr>
        </p:nvSpPr>
        <p:spPr/>
        <p:txBody>
          <a:bodyPr/>
          <a:lstStyle/>
          <a:p>
            <a:fld id="{AF99D367-8FDA-4A2F-9F0E-167FD1610AEF}" type="slidenum">
              <a:rPr lang="en-US" smtClean="0"/>
              <a:t>95</a:t>
            </a:fld>
            <a:endParaRPr lang="en-US"/>
          </a:p>
        </p:txBody>
      </p:sp>
    </p:spTree>
    <p:extLst>
      <p:ext uri="{BB962C8B-B14F-4D97-AF65-F5344CB8AC3E}">
        <p14:creationId xmlns:p14="http://schemas.microsoft.com/office/powerpoint/2010/main" val="3610391343"/>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Troubleshooting tools</a:t>
            </a:r>
            <a:endParaRPr lang="en-US" dirty="0"/>
          </a:p>
        </p:txBody>
      </p:sp>
      <p:sp>
        <p:nvSpPr>
          <p:cNvPr id="3" name="Content Placeholder 2"/>
          <p:cNvSpPr>
            <a:spLocks noGrp="1"/>
          </p:cNvSpPr>
          <p:nvPr>
            <p:ph idx="1"/>
          </p:nvPr>
        </p:nvSpPr>
        <p:spPr/>
        <p:txBody>
          <a:bodyPr/>
          <a:lstStyle/>
          <a:p>
            <a:pPr lvl="1"/>
            <a:r>
              <a:rPr lang="en-US" dirty="0"/>
              <a:t>Experience</a:t>
            </a:r>
          </a:p>
          <a:p>
            <a:pPr lvl="1"/>
            <a:r>
              <a:rPr lang="en-US" dirty="0"/>
              <a:t>Data sources (Internet, manuals)</a:t>
            </a:r>
          </a:p>
          <a:p>
            <a:pPr lvl="1"/>
            <a:r>
              <a:rPr lang="en-US" dirty="0"/>
              <a:t>Network documentation</a:t>
            </a:r>
          </a:p>
          <a:p>
            <a:pPr lvl="1"/>
            <a:r>
              <a:rPr lang="en-US" dirty="0"/>
              <a:t>Digital voltmeters</a:t>
            </a:r>
          </a:p>
          <a:p>
            <a:pPr lvl="1"/>
            <a:r>
              <a:rPr lang="en-US" dirty="0"/>
              <a:t>Time-domain </a:t>
            </a:r>
            <a:r>
              <a:rPr lang="en-US" dirty="0" err="1" smtClean="0"/>
              <a:t>reflecto</a:t>
            </a:r>
            <a:r>
              <a:rPr lang="en-US" dirty="0" smtClean="0"/>
              <a:t> meters</a:t>
            </a:r>
            <a:endParaRPr lang="en-US" dirty="0"/>
          </a:p>
          <a:p>
            <a:pPr lvl="1"/>
            <a:r>
              <a:rPr lang="en-US" dirty="0"/>
              <a:t>Cable testers</a:t>
            </a:r>
          </a:p>
          <a:p>
            <a:pPr lvl="1"/>
            <a:r>
              <a:rPr lang="en-US" dirty="0"/>
              <a:t>Network monitors</a:t>
            </a:r>
          </a:p>
          <a:p>
            <a:pPr lvl="1"/>
            <a:r>
              <a:rPr lang="en-US" dirty="0"/>
              <a:t>Protocol </a:t>
            </a:r>
            <a:r>
              <a:rPr lang="en-US" dirty="0" smtClean="0"/>
              <a:t>analyzers</a:t>
            </a:r>
            <a:endParaRPr lang="en-US" dirty="0"/>
          </a:p>
          <a:p>
            <a:endParaRPr lang="en-US" dirty="0"/>
          </a:p>
        </p:txBody>
      </p:sp>
      <p:sp>
        <p:nvSpPr>
          <p:cNvPr id="4" name="Footer Placeholder 3"/>
          <p:cNvSpPr>
            <a:spLocks noGrp="1"/>
          </p:cNvSpPr>
          <p:nvPr>
            <p:ph type="ftr" sz="quarter" idx="11"/>
          </p:nvPr>
        </p:nvSpPr>
        <p:spPr/>
        <p:txBody>
          <a:bodyPr/>
          <a:lstStyle/>
          <a:p>
            <a:r>
              <a:rPr lang="en-US" smtClean="0"/>
              <a:t>Jeremiah Kafakoma</a:t>
            </a:r>
            <a:endParaRPr lang="en-US"/>
          </a:p>
        </p:txBody>
      </p:sp>
      <p:sp>
        <p:nvSpPr>
          <p:cNvPr id="5" name="Slide Number Placeholder 4"/>
          <p:cNvSpPr>
            <a:spLocks noGrp="1"/>
          </p:cNvSpPr>
          <p:nvPr>
            <p:ph type="sldNum" sz="quarter" idx="12"/>
          </p:nvPr>
        </p:nvSpPr>
        <p:spPr/>
        <p:txBody>
          <a:bodyPr/>
          <a:lstStyle/>
          <a:p>
            <a:fld id="{AF99D367-8FDA-4A2F-9F0E-167FD1610AEF}" type="slidenum">
              <a:rPr lang="en-US" smtClean="0"/>
              <a:t>96</a:t>
            </a:fld>
            <a:endParaRPr lang="en-US"/>
          </a:p>
        </p:txBody>
      </p:sp>
    </p:spTree>
    <p:extLst>
      <p:ext uri="{BB962C8B-B14F-4D97-AF65-F5344CB8AC3E}">
        <p14:creationId xmlns:p14="http://schemas.microsoft.com/office/powerpoint/2010/main" val="385949366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Angles">
  <a:themeElements>
    <a:clrScheme name="Angles">
      <a:dk1>
        <a:srgbClr val="000000"/>
      </a:dk1>
      <a:lt1>
        <a:srgbClr val="FFFFFF"/>
      </a:lt1>
      <a:dk2>
        <a:srgbClr val="434342"/>
      </a:dk2>
      <a:lt2>
        <a:srgbClr val="CDD7D9"/>
      </a:lt2>
      <a:accent1>
        <a:srgbClr val="797B7E"/>
      </a:accent1>
      <a:accent2>
        <a:srgbClr val="F96A1B"/>
      </a:accent2>
      <a:accent3>
        <a:srgbClr val="08A1D9"/>
      </a:accent3>
      <a:accent4>
        <a:srgbClr val="7C984A"/>
      </a:accent4>
      <a:accent5>
        <a:srgbClr val="C2AD8D"/>
      </a:accent5>
      <a:accent6>
        <a:srgbClr val="506E94"/>
      </a:accent6>
      <a:hlink>
        <a:srgbClr val="5F5F5F"/>
      </a:hlink>
      <a:folHlink>
        <a:srgbClr val="969696"/>
      </a:folHlink>
    </a:clrScheme>
    <a:fontScheme name="Angles">
      <a:majorFont>
        <a:latin typeface="Franklin Gothic Medium"/>
        <a:ea typeface=""/>
        <a:cs typeface=""/>
        <a:font script="Jpan" typeface="HG創英角ｺﾞｼｯｸUB"/>
        <a:font script="Hang" typeface="돋움"/>
        <a:font script="Hans" typeface="微软雅黑"/>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a:ea typeface=""/>
        <a:cs typeface=""/>
        <a:font script="Jpan" typeface="ＭＳ Ｐゴシック"/>
        <a:font script="Hang" typeface="맑은 고딕"/>
        <a:font script="Hans" typeface="隶书"/>
        <a:font script="Hant" typeface="新細明體"/>
        <a:font script="Arab" typeface="Arial"/>
        <a:font script="Hebr" typeface="Arial"/>
        <a:font script="Thai" typeface="Cord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blipFill rotWithShape="1">
          <a:blip xmlns:r="http://schemas.openxmlformats.org/officeDocument/2006/relationships" r:embed="rId1">
            <a:duotone>
              <a:schemeClr val="phClr">
                <a:tint val="90000"/>
                <a:shade val="85000"/>
              </a:schemeClr>
              <a:schemeClr val="phClr">
                <a:tint val="95000"/>
                <a:shade val="99000"/>
              </a:schemeClr>
            </a:duotone>
          </a:blip>
          <a:tile tx="0" ty="0" sx="100000" sy="100000" flip="none" algn="tl"/>
        </a:blipFill>
        <a:blipFill rotWithShape="1">
          <a:blip xmlns:r="http://schemas.openxmlformats.org/officeDocument/2006/relationships" r:embed="rId2">
            <a:duotone>
              <a:schemeClr val="phClr">
                <a:tint val="93000"/>
                <a:shade val="85000"/>
              </a:schemeClr>
              <a:schemeClr val="phClr">
                <a:tint val="96000"/>
                <a:shade val="99000"/>
              </a:schemeClr>
            </a:duotone>
          </a:blip>
          <a:tile tx="0" ty="0" sx="90000" sy="9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Angles</Template>
  <TotalTime>30154</TotalTime>
  <Words>4577</Words>
  <Application>Microsoft Office PowerPoint</Application>
  <PresentationFormat>On-screen Show (4:3)</PresentationFormat>
  <Paragraphs>807</Paragraphs>
  <Slides>96</Slides>
  <Notes>3</Notes>
  <HiddenSlides>0</HiddenSlides>
  <MMClips>0</MMClips>
  <ScaleCrop>false</ScaleCrop>
  <HeadingPairs>
    <vt:vector size="4" baseType="variant">
      <vt:variant>
        <vt:lpstr>Theme</vt:lpstr>
      </vt:variant>
      <vt:variant>
        <vt:i4>1</vt:i4>
      </vt:variant>
      <vt:variant>
        <vt:lpstr>Slide Titles</vt:lpstr>
      </vt:variant>
      <vt:variant>
        <vt:i4>96</vt:i4>
      </vt:variant>
    </vt:vector>
  </HeadingPairs>
  <TitlesOfParts>
    <vt:vector size="97" baseType="lpstr">
      <vt:lpstr>Angles</vt:lpstr>
      <vt:lpstr>Computer Networks</vt:lpstr>
      <vt:lpstr>definition</vt:lpstr>
      <vt:lpstr>Networks are used to</vt:lpstr>
      <vt:lpstr>Types of networks</vt:lpstr>
      <vt:lpstr>Local Area Network</vt:lpstr>
      <vt:lpstr>Wide area Network</vt:lpstr>
      <vt:lpstr>Metropolitan Area Networks (MAN) </vt:lpstr>
      <vt:lpstr>Advantages/benifits of Networking</vt:lpstr>
      <vt:lpstr>PowerPoint Presentation</vt:lpstr>
      <vt:lpstr>disadvantages</vt:lpstr>
      <vt:lpstr>Network components</vt:lpstr>
      <vt:lpstr>PowerPoint Presentation</vt:lpstr>
      <vt:lpstr>Network topologies</vt:lpstr>
      <vt:lpstr>PowerPoint Presentation</vt:lpstr>
      <vt:lpstr>Network media</vt:lpstr>
      <vt:lpstr>PowerPoint Presentation</vt:lpstr>
      <vt:lpstr>PowerPoint Presentation</vt:lpstr>
      <vt:lpstr>PowerPoint Presentation</vt:lpstr>
      <vt:lpstr>PowerPoint Presentation</vt:lpstr>
      <vt:lpstr>PowerPoint Presentation</vt:lpstr>
      <vt:lpstr>Ethernet Specifications </vt:lpstr>
      <vt:lpstr>OSI reference model</vt:lpstr>
      <vt:lpstr>Principles Behind the Model</vt:lpstr>
      <vt:lpstr>PowerPoint Presentation</vt:lpstr>
      <vt:lpstr>Physical Layer – Layer 1</vt:lpstr>
      <vt:lpstr>Data Link Layer – Layer 2</vt:lpstr>
      <vt:lpstr>PowerPoint Presentation</vt:lpstr>
      <vt:lpstr>PowerPoint Presentation</vt:lpstr>
      <vt:lpstr>PowerPoint Presentation</vt:lpstr>
      <vt:lpstr>Peer-to-Peer vs. Server-Client</vt:lpstr>
      <vt:lpstr>servers</vt:lpstr>
      <vt:lpstr>Specialist Servers</vt:lpstr>
      <vt:lpstr>Peer-to-Peer Networks - 1</vt:lpstr>
      <vt:lpstr>PowerPoint Presentation</vt:lpstr>
      <vt:lpstr>Advantages of Peer-to-Peer</vt:lpstr>
      <vt:lpstr>disadvantages</vt:lpstr>
      <vt:lpstr>Client-Server Networks - 1</vt:lpstr>
      <vt:lpstr>Client-Server Networks - 2</vt:lpstr>
      <vt:lpstr>Advantages of client-server</vt:lpstr>
      <vt:lpstr>disadvantages</vt:lpstr>
      <vt:lpstr>Ethernet Issues</vt:lpstr>
      <vt:lpstr>Cable Breaks</vt:lpstr>
      <vt:lpstr>Signal Reflection</vt:lpstr>
      <vt:lpstr>Cable Termination</vt:lpstr>
      <vt:lpstr>Topology </vt:lpstr>
      <vt:lpstr>Network Elements</vt:lpstr>
      <vt:lpstr>Physical Topology</vt:lpstr>
      <vt:lpstr>Logical Topology</vt:lpstr>
      <vt:lpstr>Topology Categories</vt:lpstr>
      <vt:lpstr>Point-to-Point Networks</vt:lpstr>
      <vt:lpstr>Broadcast Networks</vt:lpstr>
      <vt:lpstr>Collisions </vt:lpstr>
      <vt:lpstr>Data flow control ( bus, csma/cd, ring-token</vt:lpstr>
      <vt:lpstr>ISDN (Integrated Services Digital Network) </vt:lpstr>
      <vt:lpstr>CSMA/CD</vt:lpstr>
      <vt:lpstr>CSMA/CD Characteristics</vt:lpstr>
      <vt:lpstr>Token Ring</vt:lpstr>
      <vt:lpstr>Token Passing</vt:lpstr>
      <vt:lpstr>FDDI</vt:lpstr>
      <vt:lpstr>ATM</vt:lpstr>
      <vt:lpstr>DHCP</vt:lpstr>
      <vt:lpstr>Peer-to-Peer (P2P) Networks</vt:lpstr>
      <vt:lpstr>What is the Internet?</vt:lpstr>
      <vt:lpstr>TCP/IP Reference Model </vt:lpstr>
      <vt:lpstr>Host-to-Network Layer</vt:lpstr>
      <vt:lpstr>Transport Layer</vt:lpstr>
      <vt:lpstr>Application Layer</vt:lpstr>
      <vt:lpstr>Internet Protocol</vt:lpstr>
      <vt:lpstr>IPv4 Addresses</vt:lpstr>
      <vt:lpstr>SUBNETS</vt:lpstr>
      <vt:lpstr>Subnet Addressing</vt:lpstr>
      <vt:lpstr>Multiple Subnets</vt:lpstr>
      <vt:lpstr>IPv6</vt:lpstr>
      <vt:lpstr>From IPv4 to IPv6</vt:lpstr>
      <vt:lpstr>Transmission Control Protocol - 1</vt:lpstr>
      <vt:lpstr>PowerPoint Presentation</vt:lpstr>
      <vt:lpstr>User Datagram Protocol</vt:lpstr>
      <vt:lpstr>File Transfer Protocol</vt:lpstr>
      <vt:lpstr>Simple Mail Transfer Protocol</vt:lpstr>
      <vt:lpstr>Hypertext Transfer Protocol</vt:lpstr>
      <vt:lpstr>Creating a Network Layout</vt:lpstr>
      <vt:lpstr>Physical Media</vt:lpstr>
      <vt:lpstr>Network Security Threats </vt:lpstr>
      <vt:lpstr>Network Privacy</vt:lpstr>
      <vt:lpstr>Network Availability</vt:lpstr>
      <vt:lpstr>The Security Policy</vt:lpstr>
      <vt:lpstr>Acceptable Use Policy</vt:lpstr>
      <vt:lpstr>Roles and Responsibilities</vt:lpstr>
      <vt:lpstr>Transmission techniques</vt:lpstr>
      <vt:lpstr>Data transmission</vt:lpstr>
      <vt:lpstr>Network Performance</vt:lpstr>
      <vt:lpstr>Wiring standards</vt:lpstr>
      <vt:lpstr>How are T568A and T568B similar?</vt:lpstr>
      <vt:lpstr>PowerPoint Presentation</vt:lpstr>
      <vt:lpstr>Troubleshooting Method</vt:lpstr>
      <vt:lpstr>Troubleshooting tools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Jeremiah Kafakoma</dc:creator>
  <cp:lastModifiedBy>Jeremiah</cp:lastModifiedBy>
  <cp:revision>69</cp:revision>
  <cp:lastPrinted>2016-10-19T12:34:01Z</cp:lastPrinted>
  <dcterms:created xsi:type="dcterms:W3CDTF">2016-03-31T19:31:11Z</dcterms:created>
  <dcterms:modified xsi:type="dcterms:W3CDTF">2016-10-24T20:38:55Z</dcterms:modified>
</cp:coreProperties>
</file>