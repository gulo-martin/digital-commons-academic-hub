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9" r:id="rId4"/>
    <p:sldId id="260" r:id="rId5"/>
    <p:sldId id="258" r:id="rId6"/>
    <p:sldId id="261" r:id="rId7"/>
    <p:sldId id="262" r:id="rId8"/>
    <p:sldId id="263" r:id="rId9"/>
    <p:sldId id="264" r:id="rId10"/>
    <p:sldId id="266" r:id="rId11"/>
    <p:sldId id="267" r:id="rId12"/>
    <p:sldId id="265" r:id="rId13"/>
    <p:sldId id="268" r:id="rId14"/>
    <p:sldId id="269" r:id="rId15"/>
    <p:sldId id="270" r:id="rId16"/>
    <p:sldId id="271" r:id="rId17"/>
    <p:sldId id="272" r:id="rId18"/>
    <p:sldId id="274" r:id="rId19"/>
    <p:sldId id="275" r:id="rId20"/>
    <p:sldId id="276" r:id="rId21"/>
    <p:sldId id="273"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71" autoAdjust="0"/>
    <p:restoredTop sz="94660"/>
  </p:normalViewPr>
  <p:slideViewPr>
    <p:cSldViewPr snapToGrid="0">
      <p:cViewPr varScale="1">
        <p:scale>
          <a:sx n="72" d="100"/>
          <a:sy n="72" d="100"/>
        </p:scale>
        <p:origin x="64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grpSp>
        <p:nvGrpSpPr>
          <p:cNvPr id="89" name="Group 88"/>
          <p:cNvGrpSpPr/>
          <p:nvPr/>
        </p:nvGrpSpPr>
        <p:grpSpPr>
          <a:xfrm>
            <a:off x="-329674" y="-59376"/>
            <a:ext cx="12515851" cy="6923798"/>
            <a:chOff x="-329674" y="-51881"/>
            <a:chExt cx="12515851" cy="6923798"/>
          </a:xfrm>
        </p:grpSpPr>
        <p:sp>
          <p:nvSpPr>
            <p:cNvPr id="90" name="Freeform 5"/>
            <p:cNvSpPr/>
            <p:nvPr/>
          </p:nvSpPr>
          <p:spPr bwMode="auto">
            <a:xfrm>
              <a:off x="-329674" y="1298404"/>
              <a:ext cx="9702800" cy="5573512"/>
            </a:xfrm>
            <a:custGeom>
              <a:avLst/>
              <a:gdLst/>
              <a:ahLst/>
              <a:cxnLst/>
              <a:rect l="0" t="0" r="r" b="b"/>
              <a:pathLst>
                <a:path w="2038" h="1169">
                  <a:moveTo>
                    <a:pt x="1752" y="1169"/>
                  </a:moveTo>
                  <a:cubicBezTo>
                    <a:pt x="2038" y="928"/>
                    <a:pt x="1673" y="513"/>
                    <a:pt x="1487" y="334"/>
                  </a:cubicBezTo>
                  <a:cubicBezTo>
                    <a:pt x="1316" y="170"/>
                    <a:pt x="1099" y="43"/>
                    <a:pt x="860" y="22"/>
                  </a:cubicBezTo>
                  <a:cubicBezTo>
                    <a:pt x="621" y="0"/>
                    <a:pt x="341" y="128"/>
                    <a:pt x="199" y="318"/>
                  </a:cubicBezTo>
                  <a:cubicBezTo>
                    <a:pt x="0" y="586"/>
                    <a:pt x="184" y="965"/>
                    <a:pt x="399" y="1165"/>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1" name="Freeform 6"/>
            <p:cNvSpPr/>
            <p:nvPr/>
          </p:nvSpPr>
          <p:spPr bwMode="auto">
            <a:xfrm>
              <a:off x="670451" y="2018236"/>
              <a:ext cx="7373938" cy="4848892"/>
            </a:xfrm>
            <a:custGeom>
              <a:avLst/>
              <a:gdLst/>
              <a:ahLst/>
              <a:cxnLst/>
              <a:rect l="0" t="0" r="r" b="b"/>
              <a:pathLst>
                <a:path w="1549" h="1017">
                  <a:moveTo>
                    <a:pt x="1025" y="1016"/>
                  </a:moveTo>
                  <a:cubicBezTo>
                    <a:pt x="1223" y="971"/>
                    <a:pt x="1549" y="857"/>
                    <a:pt x="1443" y="592"/>
                  </a:cubicBezTo>
                  <a:cubicBezTo>
                    <a:pt x="1344" y="344"/>
                    <a:pt x="1041" y="111"/>
                    <a:pt x="782" y="53"/>
                  </a:cubicBezTo>
                  <a:cubicBezTo>
                    <a:pt x="545" y="0"/>
                    <a:pt x="275" y="117"/>
                    <a:pt x="150" y="329"/>
                  </a:cubicBezTo>
                  <a:cubicBezTo>
                    <a:pt x="0" y="584"/>
                    <a:pt x="243" y="911"/>
                    <a:pt x="477" y="1017"/>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2" name="Freeform 7"/>
            <p:cNvSpPr/>
            <p:nvPr/>
          </p:nvSpPr>
          <p:spPr bwMode="auto">
            <a:xfrm>
              <a:off x="251351" y="1788400"/>
              <a:ext cx="8035925" cy="5083516"/>
            </a:xfrm>
            <a:custGeom>
              <a:avLst/>
              <a:gdLst/>
              <a:ahLst/>
              <a:cxnLst/>
              <a:rect l="0" t="0" r="r" b="b"/>
              <a:pathLst>
                <a:path w="1688" h="1066">
                  <a:moveTo>
                    <a:pt x="1302" y="1066"/>
                  </a:moveTo>
                  <a:cubicBezTo>
                    <a:pt x="1416" y="1024"/>
                    <a:pt x="1551" y="962"/>
                    <a:pt x="1613" y="850"/>
                  </a:cubicBezTo>
                  <a:cubicBezTo>
                    <a:pt x="1688" y="715"/>
                    <a:pt x="1606" y="575"/>
                    <a:pt x="1517" y="471"/>
                  </a:cubicBezTo>
                  <a:cubicBezTo>
                    <a:pt x="1336" y="258"/>
                    <a:pt x="1084" y="62"/>
                    <a:pt x="798" y="28"/>
                  </a:cubicBezTo>
                  <a:cubicBezTo>
                    <a:pt x="559" y="0"/>
                    <a:pt x="317" y="138"/>
                    <a:pt x="181" y="333"/>
                  </a:cubicBezTo>
                  <a:cubicBezTo>
                    <a:pt x="0" y="592"/>
                    <a:pt x="191" y="907"/>
                    <a:pt x="420" y="1066"/>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93" name="Freeform 8"/>
            <p:cNvSpPr/>
            <p:nvPr/>
          </p:nvSpPr>
          <p:spPr bwMode="auto">
            <a:xfrm>
              <a:off x="-1061" y="549842"/>
              <a:ext cx="10334625" cy="6322075"/>
            </a:xfrm>
            <a:custGeom>
              <a:avLst/>
              <a:gdLst/>
              <a:ahLst/>
              <a:cxnLst/>
              <a:rect l="0" t="0" r="r" b="b"/>
              <a:pathLst>
                <a:path w="2171" h="1326">
                  <a:moveTo>
                    <a:pt x="1873" y="1326"/>
                  </a:moveTo>
                  <a:cubicBezTo>
                    <a:pt x="2171" y="1045"/>
                    <a:pt x="1825" y="678"/>
                    <a:pt x="1609" y="473"/>
                  </a:cubicBezTo>
                  <a:cubicBezTo>
                    <a:pt x="1406" y="281"/>
                    <a:pt x="1159" y="116"/>
                    <a:pt x="880" y="63"/>
                  </a:cubicBezTo>
                  <a:cubicBezTo>
                    <a:pt x="545" y="0"/>
                    <a:pt x="214" y="161"/>
                    <a:pt x="0" y="423"/>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4" name="Freeform 9"/>
            <p:cNvSpPr/>
            <p:nvPr/>
          </p:nvSpPr>
          <p:spPr bwMode="auto">
            <a:xfrm>
              <a:off x="3701" y="6186246"/>
              <a:ext cx="504825" cy="681527"/>
            </a:xfrm>
            <a:custGeom>
              <a:avLst/>
              <a:gdLst/>
              <a:ahLst/>
              <a:cxnLst/>
              <a:rect l="0" t="0" r="r" b="b"/>
              <a:pathLst>
                <a:path w="106" h="143">
                  <a:moveTo>
                    <a:pt x="0" y="0"/>
                  </a:moveTo>
                  <a:cubicBezTo>
                    <a:pt x="35" y="54"/>
                    <a:pt x="70" y="101"/>
                    <a:pt x="106" y="143"/>
                  </a:cubicBezTo>
                </a:path>
              </a:pathLst>
            </a:custGeom>
            <a:noFill/>
            <a:ln w="4763"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5" name="Freeform 10"/>
            <p:cNvSpPr/>
            <p:nvPr/>
          </p:nvSpPr>
          <p:spPr bwMode="auto">
            <a:xfrm>
              <a:off x="-1061" y="-51881"/>
              <a:ext cx="11091863" cy="6923796"/>
            </a:xfrm>
            <a:custGeom>
              <a:avLst/>
              <a:gdLst/>
              <a:ahLst/>
              <a:cxnLst/>
              <a:rect l="0" t="0" r="r" b="b"/>
              <a:pathLst>
                <a:path w="2330" h="1452">
                  <a:moveTo>
                    <a:pt x="2046" y="1452"/>
                  </a:moveTo>
                  <a:cubicBezTo>
                    <a:pt x="2330" y="1153"/>
                    <a:pt x="2049" y="821"/>
                    <a:pt x="1813" y="601"/>
                  </a:cubicBezTo>
                  <a:cubicBezTo>
                    <a:pt x="1569" y="375"/>
                    <a:pt x="1282" y="179"/>
                    <a:pt x="956" y="97"/>
                  </a:cubicBezTo>
                  <a:cubicBezTo>
                    <a:pt x="572" y="0"/>
                    <a:pt x="292" y="101"/>
                    <a:pt x="0" y="366"/>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6" name="Freeform 11"/>
            <p:cNvSpPr/>
            <p:nvPr/>
          </p:nvSpPr>
          <p:spPr bwMode="auto">
            <a:xfrm>
              <a:off x="5426601" y="5579"/>
              <a:ext cx="5788025" cy="6847184"/>
            </a:xfrm>
            <a:custGeom>
              <a:avLst/>
              <a:gdLst/>
              <a:ahLst/>
              <a:cxnLst/>
              <a:rect l="0" t="0" r="r" b="b"/>
              <a:pathLst>
                <a:path w="1216" h="1436">
                  <a:moveTo>
                    <a:pt x="1094" y="1436"/>
                  </a:moveTo>
                  <a:cubicBezTo>
                    <a:pt x="1216" y="1114"/>
                    <a:pt x="904" y="770"/>
                    <a:pt x="709" y="551"/>
                  </a:cubicBezTo>
                  <a:cubicBezTo>
                    <a:pt x="509" y="327"/>
                    <a:pt x="274" y="127"/>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7" name="Freeform 12"/>
            <p:cNvSpPr/>
            <p:nvPr/>
          </p:nvSpPr>
          <p:spPr bwMode="auto">
            <a:xfrm>
              <a:off x="-1061" y="5579"/>
              <a:ext cx="1057275" cy="614491"/>
            </a:xfrm>
            <a:custGeom>
              <a:avLst/>
              <a:gdLst/>
              <a:ahLst/>
              <a:cxnLst/>
              <a:rect l="0" t="0" r="r" b="b"/>
              <a:pathLst>
                <a:path w="222" h="129">
                  <a:moveTo>
                    <a:pt x="222" y="0"/>
                  </a:moveTo>
                  <a:cubicBezTo>
                    <a:pt x="152" y="35"/>
                    <a:pt x="76" y="78"/>
                    <a:pt x="0" y="129"/>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8" name="Freeform 13"/>
            <p:cNvSpPr/>
            <p:nvPr/>
          </p:nvSpPr>
          <p:spPr bwMode="auto">
            <a:xfrm>
              <a:off x="5821889" y="5579"/>
              <a:ext cx="5588000" cy="6866337"/>
            </a:xfrm>
            <a:custGeom>
              <a:avLst/>
              <a:gdLst/>
              <a:ahLst/>
              <a:cxnLst/>
              <a:rect l="0" t="0" r="r" b="b"/>
              <a:pathLst>
                <a:path w="1174" h="1440">
                  <a:moveTo>
                    <a:pt x="1067" y="1440"/>
                  </a:moveTo>
                  <a:cubicBezTo>
                    <a:pt x="1174" y="1124"/>
                    <a:pt x="887" y="797"/>
                    <a:pt x="698" y="577"/>
                  </a:cubicBezTo>
                  <a:cubicBezTo>
                    <a:pt x="500" y="348"/>
                    <a:pt x="270" y="141"/>
                    <a:pt x="0"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99" name="Freeform 14"/>
            <p:cNvSpPr/>
            <p:nvPr/>
          </p:nvSpPr>
          <p:spPr bwMode="auto">
            <a:xfrm>
              <a:off x="3701" y="790"/>
              <a:ext cx="595313" cy="352734"/>
            </a:xfrm>
            <a:custGeom>
              <a:avLst/>
              <a:gdLst/>
              <a:ahLst/>
              <a:cxnLst/>
              <a:rect l="0" t="0" r="r" b="b"/>
              <a:pathLst>
                <a:path w="125" h="74">
                  <a:moveTo>
                    <a:pt x="125" y="0"/>
                  </a:moveTo>
                  <a:cubicBezTo>
                    <a:pt x="85" y="22"/>
                    <a:pt x="43" y="47"/>
                    <a:pt x="0" y="74"/>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100" name="Freeform 15"/>
            <p:cNvSpPr/>
            <p:nvPr/>
          </p:nvSpPr>
          <p:spPr bwMode="auto">
            <a:xfrm>
              <a:off x="6012389" y="5579"/>
              <a:ext cx="5497513" cy="6866337"/>
            </a:xfrm>
            <a:custGeom>
              <a:avLst/>
              <a:gdLst/>
              <a:ahLst/>
              <a:cxnLst/>
              <a:rect l="0" t="0" r="r" b="b"/>
              <a:pathLst>
                <a:path w="1155" h="1440">
                  <a:moveTo>
                    <a:pt x="1056" y="1440"/>
                  </a:moveTo>
                  <a:cubicBezTo>
                    <a:pt x="1155" y="1123"/>
                    <a:pt x="875" y="801"/>
                    <a:pt x="686" y="580"/>
                  </a:cubicBezTo>
                  <a:cubicBezTo>
                    <a:pt x="491" y="352"/>
                    <a:pt x="264" y="145"/>
                    <a:pt x="0" y="0"/>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101" name="Freeform 16"/>
            <p:cNvSpPr/>
            <p:nvPr/>
          </p:nvSpPr>
          <p:spPr bwMode="auto">
            <a:xfrm>
              <a:off x="-1061" y="5579"/>
              <a:ext cx="357188" cy="213875"/>
            </a:xfrm>
            <a:custGeom>
              <a:avLst/>
              <a:gdLst/>
              <a:ahLst/>
              <a:cxnLst/>
              <a:rect l="0" t="0" r="r" b="b"/>
              <a:pathLst>
                <a:path w="75" h="45">
                  <a:moveTo>
                    <a:pt x="75" y="0"/>
                  </a:moveTo>
                  <a:cubicBezTo>
                    <a:pt x="50" y="14"/>
                    <a:pt x="25" y="29"/>
                    <a:pt x="0" y="45"/>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102" name="Freeform 17"/>
            <p:cNvSpPr/>
            <p:nvPr/>
          </p:nvSpPr>
          <p:spPr bwMode="auto">
            <a:xfrm>
              <a:off x="6210826" y="790"/>
              <a:ext cx="5522913" cy="6871126"/>
            </a:xfrm>
            <a:custGeom>
              <a:avLst/>
              <a:gdLst/>
              <a:ahLst/>
              <a:cxnLst/>
              <a:rect l="0" t="0" r="r" b="b"/>
              <a:pathLst>
                <a:path w="1160" h="1441">
                  <a:moveTo>
                    <a:pt x="1053" y="1441"/>
                  </a:moveTo>
                  <a:cubicBezTo>
                    <a:pt x="1160" y="1129"/>
                    <a:pt x="892" y="817"/>
                    <a:pt x="705" y="599"/>
                  </a:cubicBezTo>
                  <a:cubicBezTo>
                    <a:pt x="503" y="365"/>
                    <a:pt x="270" y="152"/>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103" name="Freeform 18"/>
            <p:cNvSpPr/>
            <p:nvPr/>
          </p:nvSpPr>
          <p:spPr bwMode="auto">
            <a:xfrm>
              <a:off x="6463239" y="5579"/>
              <a:ext cx="5413375" cy="6866337"/>
            </a:xfrm>
            <a:custGeom>
              <a:avLst/>
              <a:gdLst/>
              <a:ahLst/>
              <a:cxnLst/>
              <a:rect l="0" t="0" r="r" b="b"/>
              <a:pathLst>
                <a:path w="1137" h="1440">
                  <a:moveTo>
                    <a:pt x="1040" y="1440"/>
                  </a:moveTo>
                  <a:cubicBezTo>
                    <a:pt x="1137" y="1131"/>
                    <a:pt x="883" y="828"/>
                    <a:pt x="698" y="611"/>
                  </a:cubicBezTo>
                  <a:cubicBezTo>
                    <a:pt x="498" y="375"/>
                    <a:pt x="268" y="159"/>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104" name="Freeform 19"/>
            <p:cNvSpPr/>
            <p:nvPr/>
          </p:nvSpPr>
          <p:spPr bwMode="auto">
            <a:xfrm>
              <a:off x="6877576" y="5579"/>
              <a:ext cx="5037138" cy="6861550"/>
            </a:xfrm>
            <a:custGeom>
              <a:avLst/>
              <a:gdLst/>
              <a:ahLst/>
              <a:cxnLst/>
              <a:rect l="0" t="0" r="r" b="b"/>
              <a:pathLst>
                <a:path w="1058" h="1439">
                  <a:moveTo>
                    <a:pt x="1011" y="1439"/>
                  </a:moveTo>
                  <a:cubicBezTo>
                    <a:pt x="1058" y="1131"/>
                    <a:pt x="825" y="841"/>
                    <a:pt x="648" y="617"/>
                  </a:cubicBezTo>
                  <a:cubicBezTo>
                    <a:pt x="462" y="383"/>
                    <a:pt x="248" y="16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105" name="Freeform 20"/>
            <p:cNvSpPr/>
            <p:nvPr/>
          </p:nvSpPr>
          <p:spPr bwMode="auto">
            <a:xfrm>
              <a:off x="8768289" y="5579"/>
              <a:ext cx="3417888" cy="2742066"/>
            </a:xfrm>
            <a:custGeom>
              <a:avLst/>
              <a:gdLst/>
              <a:ahLst/>
              <a:cxnLst/>
              <a:rect l="0" t="0" r="r" b="b"/>
              <a:pathLst>
                <a:path w="718" h="575">
                  <a:moveTo>
                    <a:pt x="718" y="575"/>
                  </a:moveTo>
                  <a:cubicBezTo>
                    <a:pt x="500" y="360"/>
                    <a:pt x="260" y="163"/>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106" name="Freeform 21"/>
            <p:cNvSpPr/>
            <p:nvPr/>
          </p:nvSpPr>
          <p:spPr bwMode="auto">
            <a:xfrm>
              <a:off x="9235014" y="10367"/>
              <a:ext cx="2951163" cy="2555325"/>
            </a:xfrm>
            <a:custGeom>
              <a:avLst/>
              <a:gdLst/>
              <a:ahLst/>
              <a:cxnLst/>
              <a:rect l="0" t="0" r="r" b="b"/>
              <a:pathLst>
                <a:path w="620" h="536">
                  <a:moveTo>
                    <a:pt x="620" y="536"/>
                  </a:moveTo>
                  <a:cubicBezTo>
                    <a:pt x="404" y="314"/>
                    <a:pt x="196" y="13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107" name="Freeform 22"/>
            <p:cNvSpPr/>
            <p:nvPr/>
          </p:nvSpPr>
          <p:spPr bwMode="auto">
            <a:xfrm>
              <a:off x="10020826" y="5579"/>
              <a:ext cx="2165350" cy="1358265"/>
            </a:xfrm>
            <a:custGeom>
              <a:avLst/>
              <a:gdLst/>
              <a:ahLst/>
              <a:cxnLst/>
              <a:rect l="0" t="0" r="r" b="b"/>
              <a:pathLst>
                <a:path w="455" h="285">
                  <a:moveTo>
                    <a:pt x="0" y="0"/>
                  </a:moveTo>
                  <a:cubicBezTo>
                    <a:pt x="153" y="85"/>
                    <a:pt x="308" y="180"/>
                    <a:pt x="455" y="285"/>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108" name="Freeform 23"/>
            <p:cNvSpPr/>
            <p:nvPr/>
          </p:nvSpPr>
          <p:spPr bwMode="auto">
            <a:xfrm>
              <a:off x="11290826" y="5579"/>
              <a:ext cx="895350" cy="534687"/>
            </a:xfrm>
            <a:custGeom>
              <a:avLst/>
              <a:gdLst/>
              <a:ahLst/>
              <a:cxnLst/>
              <a:rect l="0" t="0" r="r" b="b"/>
              <a:pathLst>
                <a:path w="188" h="112">
                  <a:moveTo>
                    <a:pt x="0" y="0"/>
                  </a:moveTo>
                  <a:cubicBezTo>
                    <a:pt x="63" y="36"/>
                    <a:pt x="126" y="73"/>
                    <a:pt x="188" y="112"/>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grpSp>
      <p:grpSp>
        <p:nvGrpSpPr>
          <p:cNvPr id="9" name="Group 8"/>
          <p:cNvGrpSpPr/>
          <p:nvPr/>
        </p:nvGrpSpPr>
        <p:grpSpPr>
          <a:xfrm>
            <a:off x="1669293" y="1186483"/>
            <a:ext cx="8848345" cy="4477933"/>
            <a:chOff x="1669293" y="1186483"/>
            <a:chExt cx="8848345" cy="4477933"/>
          </a:xfrm>
        </p:grpSpPr>
        <p:sp>
          <p:nvSpPr>
            <p:cNvPr id="39" name="Rectangle 38"/>
            <p:cNvSpPr/>
            <p:nvPr/>
          </p:nvSpPr>
          <p:spPr>
            <a:xfrm>
              <a:off x="1674042" y="1186483"/>
              <a:ext cx="8843596" cy="7161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40" name="Isosceles Triangle 39"/>
            <p:cNvSpPr/>
            <p:nvPr/>
          </p:nvSpPr>
          <p:spPr>
            <a:xfrm rot="10800000">
              <a:off x="5892384" y="5313353"/>
              <a:ext cx="407233" cy="35106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41" name="Rectangle 40"/>
            <p:cNvSpPr/>
            <p:nvPr/>
          </p:nvSpPr>
          <p:spPr>
            <a:xfrm>
              <a:off x="1669293" y="1991156"/>
              <a:ext cx="8845667" cy="332219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ctrTitle"/>
          </p:nvPr>
        </p:nvSpPr>
        <p:spPr>
          <a:xfrm>
            <a:off x="1759236" y="2075504"/>
            <a:ext cx="8679915" cy="1748729"/>
          </a:xfrm>
        </p:spPr>
        <p:txBody>
          <a:bodyPr bIns="0" anchor="b">
            <a:normAutofit/>
          </a:bodyPr>
          <a:lstStyle>
            <a:lvl1pPr algn="ctr">
              <a:lnSpc>
                <a:spcPct val="80000"/>
              </a:lnSpc>
              <a:defRPr sz="5400" spc="-150">
                <a:solidFill>
                  <a:srgbClr val="FFFEFF"/>
                </a:solidFill>
              </a:defRPr>
            </a:lvl1pPr>
          </a:lstStyle>
          <a:p>
            <a:r>
              <a:rPr lang="en-US"/>
              <a:t>Click to edit Master title style</a:t>
            </a:r>
            <a:endParaRPr lang="en-US" dirty="0"/>
          </a:p>
        </p:txBody>
      </p:sp>
      <p:sp>
        <p:nvSpPr>
          <p:cNvPr id="3" name="Subtitle 2"/>
          <p:cNvSpPr>
            <a:spLocks noGrp="1"/>
          </p:cNvSpPr>
          <p:nvPr>
            <p:ph type="subTitle" idx="1"/>
          </p:nvPr>
        </p:nvSpPr>
        <p:spPr>
          <a:xfrm>
            <a:off x="1759237" y="3906266"/>
            <a:ext cx="8673427" cy="1322587"/>
          </a:xfrm>
        </p:spPr>
        <p:txBody>
          <a:bodyPr tIns="0">
            <a:normAutofit/>
          </a:bodyPr>
          <a:lstStyle>
            <a:lvl1pPr marL="0" indent="0" algn="ctr">
              <a:lnSpc>
                <a:spcPct val="100000"/>
              </a:lnSpc>
              <a:buNone/>
              <a:defRPr sz="1800" b="0">
                <a:solidFill>
                  <a:srgbClr val="FFFEFF"/>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804672" y="320040"/>
            <a:ext cx="3657600" cy="320040"/>
          </a:xfrm>
        </p:spPr>
        <p:txBody>
          <a:bodyPr vert="horz" lIns="91440" tIns="45720" rIns="91440" bIns="45720" rtlCol="0" anchor="ctr"/>
          <a:lstStyle>
            <a:lvl1pPr>
              <a:defRPr lang="en-US"/>
            </a:lvl1pPr>
          </a:lstStyle>
          <a:p>
            <a:fld id="{48A87A34-81AB-432B-8DAE-1953F412C126}" type="datetimeFigureOut">
              <a:rPr lang="en-US" dirty="0"/>
              <a:pPr/>
              <a:t>6/25/2019</a:t>
            </a:fld>
            <a:endParaRPr lang="en-US" dirty="0"/>
          </a:p>
        </p:txBody>
      </p:sp>
      <p:sp>
        <p:nvSpPr>
          <p:cNvPr id="5" name="Footer Placeholder 4"/>
          <p:cNvSpPr>
            <a:spLocks noGrp="1"/>
          </p:cNvSpPr>
          <p:nvPr>
            <p:ph type="ftr" sz="quarter" idx="11"/>
          </p:nvPr>
        </p:nvSpPr>
        <p:spPr>
          <a:xfrm>
            <a:off x="804672" y="6227064"/>
            <a:ext cx="10588752" cy="320040"/>
          </a:xfrm>
        </p:spPr>
        <p:txBody>
          <a:bodyPr/>
          <a:lstStyle>
            <a:lvl1pPr algn="ctr">
              <a:defRPr/>
            </a:lvl1pPr>
          </a:lstStyle>
          <a:p>
            <a:endParaRPr lang="en-US" dirty="0"/>
          </a:p>
        </p:txBody>
      </p:sp>
      <p:sp>
        <p:nvSpPr>
          <p:cNvPr id="6" name="Slide Number Placeholder 5"/>
          <p:cNvSpPr>
            <a:spLocks noGrp="1"/>
          </p:cNvSpPr>
          <p:nvPr>
            <p:ph type="sldNum" sz="quarter" idx="12"/>
          </p:nvPr>
        </p:nvSpPr>
        <p:spPr>
          <a:xfrm>
            <a:off x="10469880"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grpSp>
        <p:nvGrpSpPr>
          <p:cNvPr id="80" name="Group 79"/>
          <p:cNvGrpSpPr/>
          <p:nvPr/>
        </p:nvGrpSpPr>
        <p:grpSpPr>
          <a:xfrm>
            <a:off x="-417513" y="0"/>
            <a:ext cx="12584114" cy="6853238"/>
            <a:chOff x="-417513" y="0"/>
            <a:chExt cx="12584114" cy="6853238"/>
          </a:xfrm>
        </p:grpSpPr>
        <p:sp>
          <p:nvSpPr>
            <p:cNvPr id="81"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2"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3"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4"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5"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6"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7"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8"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9"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0"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1"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2"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3"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4"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5"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6"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97"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headEnd/>
              <a:tailEnd/>
            </a:ln>
            <a:extLst>
              <a:ext uri="{909E8E84-426E-40DD-AFC4-6F175D3DCCD1}">
                <a14:hiddenFill xmlns:a14="http://schemas.microsoft.com/office/drawing/2010/main">
                  <a:solidFill>
                    <a:srgbClr val="FFFFFF"/>
                  </a:solidFill>
                </a14:hiddenFill>
              </a:ext>
            </a:extLst>
          </p:spPr>
        </p:sp>
        <p:sp>
          <p:nvSpPr>
            <p:cNvPr id="98"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9"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100"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101"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grpSp>
      <p:grpSp>
        <p:nvGrpSpPr>
          <p:cNvPr id="27" name="Group 26"/>
          <p:cNvGrpSpPr/>
          <p:nvPr/>
        </p:nvGrpSpPr>
        <p:grpSpPr>
          <a:xfrm>
            <a:off x="800144" y="1699589"/>
            <a:ext cx="3674476" cy="3470421"/>
            <a:chOff x="697883" y="1816768"/>
            <a:chExt cx="3674476" cy="3470421"/>
          </a:xfrm>
        </p:grpSpPr>
        <p:sp>
          <p:nvSpPr>
            <p:cNvPr id="28" name="Rectangle 27"/>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9"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Rectangle 29"/>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8631" y="2349925"/>
            <a:ext cx="3498979" cy="2456442"/>
          </a:xfrm>
        </p:spPr>
        <p:txBody>
          <a:bodyPr/>
          <a:lstStyle>
            <a:lvl1pPr>
              <a:defRPr>
                <a:solidFill>
                  <a:srgbClr val="FFFEFF"/>
                </a:solidFill>
              </a:defRPr>
            </a:lvl1pPr>
          </a:lstStyle>
          <a:p>
            <a:r>
              <a:rPr lang="en-US"/>
              <a:t>Click to edit Master title style</a:t>
            </a:r>
            <a:endParaRPr lang="en-US" dirty="0"/>
          </a:p>
        </p:txBody>
      </p:sp>
      <p:sp>
        <p:nvSpPr>
          <p:cNvPr id="3" name="Content Placeholder 2"/>
          <p:cNvSpPr>
            <a:spLocks noGrp="1"/>
          </p:cNvSpPr>
          <p:nvPr>
            <p:ph idx="1"/>
          </p:nvPr>
        </p:nvSpPr>
        <p:spPr>
          <a:xfrm>
            <a:off x="5118447" y="803186"/>
            <a:ext cx="6281873" cy="5248622"/>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6/25/2019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grpSp>
        <p:nvGrpSpPr>
          <p:cNvPr id="77" name="Group 76"/>
          <p:cNvGrpSpPr/>
          <p:nvPr/>
        </p:nvGrpSpPr>
        <p:grpSpPr>
          <a:xfrm>
            <a:off x="-329674" y="-59376"/>
            <a:ext cx="12515851" cy="6923798"/>
            <a:chOff x="-329674" y="-51881"/>
            <a:chExt cx="12515851" cy="6923798"/>
          </a:xfrm>
        </p:grpSpPr>
        <p:sp>
          <p:nvSpPr>
            <p:cNvPr id="78" name="Freeform 5"/>
            <p:cNvSpPr/>
            <p:nvPr/>
          </p:nvSpPr>
          <p:spPr bwMode="auto">
            <a:xfrm>
              <a:off x="-329674" y="1298404"/>
              <a:ext cx="9702800" cy="5573512"/>
            </a:xfrm>
            <a:custGeom>
              <a:avLst/>
              <a:gdLst/>
              <a:ahLst/>
              <a:cxnLst/>
              <a:rect l="0" t="0" r="r" b="b"/>
              <a:pathLst>
                <a:path w="2038" h="1169">
                  <a:moveTo>
                    <a:pt x="1752" y="1169"/>
                  </a:moveTo>
                  <a:cubicBezTo>
                    <a:pt x="2038" y="928"/>
                    <a:pt x="1673" y="513"/>
                    <a:pt x="1487" y="334"/>
                  </a:cubicBezTo>
                  <a:cubicBezTo>
                    <a:pt x="1316" y="170"/>
                    <a:pt x="1099" y="43"/>
                    <a:pt x="860" y="22"/>
                  </a:cubicBezTo>
                  <a:cubicBezTo>
                    <a:pt x="621" y="0"/>
                    <a:pt x="341" y="128"/>
                    <a:pt x="199" y="318"/>
                  </a:cubicBezTo>
                  <a:cubicBezTo>
                    <a:pt x="0" y="586"/>
                    <a:pt x="184" y="965"/>
                    <a:pt x="399" y="1165"/>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79" name="Freeform 6"/>
            <p:cNvSpPr/>
            <p:nvPr/>
          </p:nvSpPr>
          <p:spPr bwMode="auto">
            <a:xfrm>
              <a:off x="670451" y="2018236"/>
              <a:ext cx="7373938" cy="4848892"/>
            </a:xfrm>
            <a:custGeom>
              <a:avLst/>
              <a:gdLst/>
              <a:ahLst/>
              <a:cxnLst/>
              <a:rect l="0" t="0" r="r" b="b"/>
              <a:pathLst>
                <a:path w="1549" h="1017">
                  <a:moveTo>
                    <a:pt x="1025" y="1016"/>
                  </a:moveTo>
                  <a:cubicBezTo>
                    <a:pt x="1223" y="971"/>
                    <a:pt x="1549" y="857"/>
                    <a:pt x="1443" y="592"/>
                  </a:cubicBezTo>
                  <a:cubicBezTo>
                    <a:pt x="1344" y="344"/>
                    <a:pt x="1041" y="111"/>
                    <a:pt x="782" y="53"/>
                  </a:cubicBezTo>
                  <a:cubicBezTo>
                    <a:pt x="545" y="0"/>
                    <a:pt x="275" y="117"/>
                    <a:pt x="150" y="329"/>
                  </a:cubicBezTo>
                  <a:cubicBezTo>
                    <a:pt x="0" y="584"/>
                    <a:pt x="243" y="911"/>
                    <a:pt x="477" y="1017"/>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0" name="Freeform 7"/>
            <p:cNvSpPr/>
            <p:nvPr/>
          </p:nvSpPr>
          <p:spPr bwMode="auto">
            <a:xfrm>
              <a:off x="251351" y="1788400"/>
              <a:ext cx="8035925" cy="5083516"/>
            </a:xfrm>
            <a:custGeom>
              <a:avLst/>
              <a:gdLst/>
              <a:ahLst/>
              <a:cxnLst/>
              <a:rect l="0" t="0" r="r" b="b"/>
              <a:pathLst>
                <a:path w="1688" h="1066">
                  <a:moveTo>
                    <a:pt x="1302" y="1066"/>
                  </a:moveTo>
                  <a:cubicBezTo>
                    <a:pt x="1416" y="1024"/>
                    <a:pt x="1551" y="962"/>
                    <a:pt x="1613" y="850"/>
                  </a:cubicBezTo>
                  <a:cubicBezTo>
                    <a:pt x="1688" y="715"/>
                    <a:pt x="1606" y="575"/>
                    <a:pt x="1517" y="471"/>
                  </a:cubicBezTo>
                  <a:cubicBezTo>
                    <a:pt x="1336" y="258"/>
                    <a:pt x="1084" y="62"/>
                    <a:pt x="798" y="28"/>
                  </a:cubicBezTo>
                  <a:cubicBezTo>
                    <a:pt x="559" y="0"/>
                    <a:pt x="317" y="138"/>
                    <a:pt x="181" y="333"/>
                  </a:cubicBezTo>
                  <a:cubicBezTo>
                    <a:pt x="0" y="592"/>
                    <a:pt x="191" y="907"/>
                    <a:pt x="420" y="1066"/>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1" name="Freeform 8"/>
            <p:cNvSpPr/>
            <p:nvPr/>
          </p:nvSpPr>
          <p:spPr bwMode="auto">
            <a:xfrm>
              <a:off x="-1061" y="549842"/>
              <a:ext cx="10334625" cy="6322075"/>
            </a:xfrm>
            <a:custGeom>
              <a:avLst/>
              <a:gdLst/>
              <a:ahLst/>
              <a:cxnLst/>
              <a:rect l="0" t="0" r="r" b="b"/>
              <a:pathLst>
                <a:path w="2171" h="1326">
                  <a:moveTo>
                    <a:pt x="1873" y="1326"/>
                  </a:moveTo>
                  <a:cubicBezTo>
                    <a:pt x="2171" y="1045"/>
                    <a:pt x="1825" y="678"/>
                    <a:pt x="1609" y="473"/>
                  </a:cubicBezTo>
                  <a:cubicBezTo>
                    <a:pt x="1406" y="281"/>
                    <a:pt x="1159" y="116"/>
                    <a:pt x="880" y="63"/>
                  </a:cubicBezTo>
                  <a:cubicBezTo>
                    <a:pt x="545" y="0"/>
                    <a:pt x="214" y="161"/>
                    <a:pt x="0" y="423"/>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2" name="Freeform 9"/>
            <p:cNvSpPr/>
            <p:nvPr/>
          </p:nvSpPr>
          <p:spPr bwMode="auto">
            <a:xfrm>
              <a:off x="3701" y="6186246"/>
              <a:ext cx="504825" cy="681527"/>
            </a:xfrm>
            <a:custGeom>
              <a:avLst/>
              <a:gdLst/>
              <a:ahLst/>
              <a:cxnLst/>
              <a:rect l="0" t="0" r="r" b="b"/>
              <a:pathLst>
                <a:path w="106" h="143">
                  <a:moveTo>
                    <a:pt x="0" y="0"/>
                  </a:moveTo>
                  <a:cubicBezTo>
                    <a:pt x="35" y="54"/>
                    <a:pt x="70" y="101"/>
                    <a:pt x="106" y="143"/>
                  </a:cubicBezTo>
                </a:path>
              </a:pathLst>
            </a:custGeom>
            <a:noFill/>
            <a:ln w="4763"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3" name="Freeform 10"/>
            <p:cNvSpPr/>
            <p:nvPr/>
          </p:nvSpPr>
          <p:spPr bwMode="auto">
            <a:xfrm>
              <a:off x="-1061" y="-51881"/>
              <a:ext cx="11091863" cy="6923796"/>
            </a:xfrm>
            <a:custGeom>
              <a:avLst/>
              <a:gdLst/>
              <a:ahLst/>
              <a:cxnLst/>
              <a:rect l="0" t="0" r="r" b="b"/>
              <a:pathLst>
                <a:path w="2330" h="1452">
                  <a:moveTo>
                    <a:pt x="2046" y="1452"/>
                  </a:moveTo>
                  <a:cubicBezTo>
                    <a:pt x="2330" y="1153"/>
                    <a:pt x="2049" y="821"/>
                    <a:pt x="1813" y="601"/>
                  </a:cubicBezTo>
                  <a:cubicBezTo>
                    <a:pt x="1569" y="375"/>
                    <a:pt x="1282" y="179"/>
                    <a:pt x="956" y="97"/>
                  </a:cubicBezTo>
                  <a:cubicBezTo>
                    <a:pt x="572" y="0"/>
                    <a:pt x="292" y="101"/>
                    <a:pt x="0" y="366"/>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4" name="Freeform 11"/>
            <p:cNvSpPr/>
            <p:nvPr/>
          </p:nvSpPr>
          <p:spPr bwMode="auto">
            <a:xfrm>
              <a:off x="5426601" y="5579"/>
              <a:ext cx="5788025" cy="6847184"/>
            </a:xfrm>
            <a:custGeom>
              <a:avLst/>
              <a:gdLst/>
              <a:ahLst/>
              <a:cxnLst/>
              <a:rect l="0" t="0" r="r" b="b"/>
              <a:pathLst>
                <a:path w="1216" h="1436">
                  <a:moveTo>
                    <a:pt x="1094" y="1436"/>
                  </a:moveTo>
                  <a:cubicBezTo>
                    <a:pt x="1216" y="1114"/>
                    <a:pt x="904" y="770"/>
                    <a:pt x="709" y="551"/>
                  </a:cubicBezTo>
                  <a:cubicBezTo>
                    <a:pt x="509" y="327"/>
                    <a:pt x="274" y="127"/>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5" name="Freeform 12"/>
            <p:cNvSpPr/>
            <p:nvPr/>
          </p:nvSpPr>
          <p:spPr bwMode="auto">
            <a:xfrm>
              <a:off x="-1061" y="5579"/>
              <a:ext cx="1057275" cy="614491"/>
            </a:xfrm>
            <a:custGeom>
              <a:avLst/>
              <a:gdLst/>
              <a:ahLst/>
              <a:cxnLst/>
              <a:rect l="0" t="0" r="r" b="b"/>
              <a:pathLst>
                <a:path w="222" h="129">
                  <a:moveTo>
                    <a:pt x="222" y="0"/>
                  </a:moveTo>
                  <a:cubicBezTo>
                    <a:pt x="152" y="35"/>
                    <a:pt x="76" y="78"/>
                    <a:pt x="0" y="129"/>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6" name="Freeform 13"/>
            <p:cNvSpPr/>
            <p:nvPr/>
          </p:nvSpPr>
          <p:spPr bwMode="auto">
            <a:xfrm>
              <a:off x="5821889" y="5579"/>
              <a:ext cx="5588000" cy="6866337"/>
            </a:xfrm>
            <a:custGeom>
              <a:avLst/>
              <a:gdLst/>
              <a:ahLst/>
              <a:cxnLst/>
              <a:rect l="0" t="0" r="r" b="b"/>
              <a:pathLst>
                <a:path w="1174" h="1440">
                  <a:moveTo>
                    <a:pt x="1067" y="1440"/>
                  </a:moveTo>
                  <a:cubicBezTo>
                    <a:pt x="1174" y="1124"/>
                    <a:pt x="887" y="797"/>
                    <a:pt x="698" y="577"/>
                  </a:cubicBezTo>
                  <a:cubicBezTo>
                    <a:pt x="500" y="348"/>
                    <a:pt x="270" y="141"/>
                    <a:pt x="0"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7" name="Freeform 14"/>
            <p:cNvSpPr/>
            <p:nvPr/>
          </p:nvSpPr>
          <p:spPr bwMode="auto">
            <a:xfrm>
              <a:off x="3701" y="790"/>
              <a:ext cx="595313" cy="352734"/>
            </a:xfrm>
            <a:custGeom>
              <a:avLst/>
              <a:gdLst/>
              <a:ahLst/>
              <a:cxnLst/>
              <a:rect l="0" t="0" r="r" b="b"/>
              <a:pathLst>
                <a:path w="125" h="74">
                  <a:moveTo>
                    <a:pt x="125" y="0"/>
                  </a:moveTo>
                  <a:cubicBezTo>
                    <a:pt x="85" y="22"/>
                    <a:pt x="43" y="47"/>
                    <a:pt x="0" y="74"/>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8" name="Freeform 15"/>
            <p:cNvSpPr/>
            <p:nvPr/>
          </p:nvSpPr>
          <p:spPr bwMode="auto">
            <a:xfrm>
              <a:off x="6012389" y="5579"/>
              <a:ext cx="5497513" cy="6866337"/>
            </a:xfrm>
            <a:custGeom>
              <a:avLst/>
              <a:gdLst/>
              <a:ahLst/>
              <a:cxnLst/>
              <a:rect l="0" t="0" r="r" b="b"/>
              <a:pathLst>
                <a:path w="1155" h="1440">
                  <a:moveTo>
                    <a:pt x="1056" y="1440"/>
                  </a:moveTo>
                  <a:cubicBezTo>
                    <a:pt x="1155" y="1123"/>
                    <a:pt x="875" y="801"/>
                    <a:pt x="686" y="580"/>
                  </a:cubicBezTo>
                  <a:cubicBezTo>
                    <a:pt x="491" y="352"/>
                    <a:pt x="264" y="145"/>
                    <a:pt x="0" y="0"/>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89" name="Freeform 16"/>
            <p:cNvSpPr/>
            <p:nvPr/>
          </p:nvSpPr>
          <p:spPr bwMode="auto">
            <a:xfrm>
              <a:off x="-1061" y="5579"/>
              <a:ext cx="357188" cy="213875"/>
            </a:xfrm>
            <a:custGeom>
              <a:avLst/>
              <a:gdLst/>
              <a:ahLst/>
              <a:cxnLst/>
              <a:rect l="0" t="0" r="r" b="b"/>
              <a:pathLst>
                <a:path w="75" h="45">
                  <a:moveTo>
                    <a:pt x="75" y="0"/>
                  </a:moveTo>
                  <a:cubicBezTo>
                    <a:pt x="50" y="14"/>
                    <a:pt x="25" y="29"/>
                    <a:pt x="0" y="45"/>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90" name="Freeform 17"/>
            <p:cNvSpPr/>
            <p:nvPr/>
          </p:nvSpPr>
          <p:spPr bwMode="auto">
            <a:xfrm>
              <a:off x="6210826" y="790"/>
              <a:ext cx="5522913" cy="6871126"/>
            </a:xfrm>
            <a:custGeom>
              <a:avLst/>
              <a:gdLst/>
              <a:ahLst/>
              <a:cxnLst/>
              <a:rect l="0" t="0" r="r" b="b"/>
              <a:pathLst>
                <a:path w="1160" h="1441">
                  <a:moveTo>
                    <a:pt x="1053" y="1441"/>
                  </a:moveTo>
                  <a:cubicBezTo>
                    <a:pt x="1160" y="1129"/>
                    <a:pt x="892" y="817"/>
                    <a:pt x="705" y="599"/>
                  </a:cubicBezTo>
                  <a:cubicBezTo>
                    <a:pt x="503" y="365"/>
                    <a:pt x="270" y="152"/>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1" name="Freeform 18"/>
            <p:cNvSpPr/>
            <p:nvPr/>
          </p:nvSpPr>
          <p:spPr bwMode="auto">
            <a:xfrm>
              <a:off x="6463239" y="5579"/>
              <a:ext cx="5413375" cy="6866337"/>
            </a:xfrm>
            <a:custGeom>
              <a:avLst/>
              <a:gdLst/>
              <a:ahLst/>
              <a:cxnLst/>
              <a:rect l="0" t="0" r="r" b="b"/>
              <a:pathLst>
                <a:path w="1137" h="1440">
                  <a:moveTo>
                    <a:pt x="1040" y="1440"/>
                  </a:moveTo>
                  <a:cubicBezTo>
                    <a:pt x="1137" y="1131"/>
                    <a:pt x="883" y="828"/>
                    <a:pt x="698" y="611"/>
                  </a:cubicBezTo>
                  <a:cubicBezTo>
                    <a:pt x="498" y="375"/>
                    <a:pt x="268" y="159"/>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2" name="Freeform 19"/>
            <p:cNvSpPr/>
            <p:nvPr/>
          </p:nvSpPr>
          <p:spPr bwMode="auto">
            <a:xfrm>
              <a:off x="6877576" y="5579"/>
              <a:ext cx="5037138" cy="6861550"/>
            </a:xfrm>
            <a:custGeom>
              <a:avLst/>
              <a:gdLst/>
              <a:ahLst/>
              <a:cxnLst/>
              <a:rect l="0" t="0" r="r" b="b"/>
              <a:pathLst>
                <a:path w="1058" h="1439">
                  <a:moveTo>
                    <a:pt x="1011" y="1439"/>
                  </a:moveTo>
                  <a:cubicBezTo>
                    <a:pt x="1058" y="1131"/>
                    <a:pt x="825" y="841"/>
                    <a:pt x="648" y="617"/>
                  </a:cubicBezTo>
                  <a:cubicBezTo>
                    <a:pt x="462" y="383"/>
                    <a:pt x="248" y="16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3" name="Freeform 20"/>
            <p:cNvSpPr/>
            <p:nvPr/>
          </p:nvSpPr>
          <p:spPr bwMode="auto">
            <a:xfrm>
              <a:off x="8768289" y="5579"/>
              <a:ext cx="3417888" cy="2742066"/>
            </a:xfrm>
            <a:custGeom>
              <a:avLst/>
              <a:gdLst/>
              <a:ahLst/>
              <a:cxnLst/>
              <a:rect l="0" t="0" r="r" b="b"/>
              <a:pathLst>
                <a:path w="718" h="575">
                  <a:moveTo>
                    <a:pt x="718" y="575"/>
                  </a:moveTo>
                  <a:cubicBezTo>
                    <a:pt x="500" y="360"/>
                    <a:pt x="260" y="163"/>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4" name="Freeform 21"/>
            <p:cNvSpPr/>
            <p:nvPr/>
          </p:nvSpPr>
          <p:spPr bwMode="auto">
            <a:xfrm>
              <a:off x="9235014" y="10367"/>
              <a:ext cx="2951163" cy="2555325"/>
            </a:xfrm>
            <a:custGeom>
              <a:avLst/>
              <a:gdLst/>
              <a:ahLst/>
              <a:cxnLst/>
              <a:rect l="0" t="0" r="r" b="b"/>
              <a:pathLst>
                <a:path w="620" h="536">
                  <a:moveTo>
                    <a:pt x="620" y="536"/>
                  </a:moveTo>
                  <a:cubicBezTo>
                    <a:pt x="404" y="314"/>
                    <a:pt x="196" y="13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5" name="Freeform 22"/>
            <p:cNvSpPr/>
            <p:nvPr/>
          </p:nvSpPr>
          <p:spPr bwMode="auto">
            <a:xfrm>
              <a:off x="10020826" y="5579"/>
              <a:ext cx="2165350" cy="1358265"/>
            </a:xfrm>
            <a:custGeom>
              <a:avLst/>
              <a:gdLst/>
              <a:ahLst/>
              <a:cxnLst/>
              <a:rect l="0" t="0" r="r" b="b"/>
              <a:pathLst>
                <a:path w="455" h="285">
                  <a:moveTo>
                    <a:pt x="0" y="0"/>
                  </a:moveTo>
                  <a:cubicBezTo>
                    <a:pt x="153" y="85"/>
                    <a:pt x="308" y="180"/>
                    <a:pt x="455" y="285"/>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96" name="Freeform 23"/>
            <p:cNvSpPr/>
            <p:nvPr/>
          </p:nvSpPr>
          <p:spPr bwMode="auto">
            <a:xfrm>
              <a:off x="11290826" y="5579"/>
              <a:ext cx="895350" cy="534687"/>
            </a:xfrm>
            <a:custGeom>
              <a:avLst/>
              <a:gdLst/>
              <a:ahLst/>
              <a:cxnLst/>
              <a:rect l="0" t="0" r="r" b="b"/>
              <a:pathLst>
                <a:path w="188" h="112">
                  <a:moveTo>
                    <a:pt x="0" y="0"/>
                  </a:moveTo>
                  <a:cubicBezTo>
                    <a:pt x="63" y="36"/>
                    <a:pt x="126" y="73"/>
                    <a:pt x="188" y="112"/>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grpSp>
      <p:grpSp>
        <p:nvGrpSpPr>
          <p:cNvPr id="9" name="Group 8"/>
          <p:cNvGrpSpPr/>
          <p:nvPr/>
        </p:nvGrpSpPr>
        <p:grpSpPr>
          <a:xfrm>
            <a:off x="3259545" y="1186483"/>
            <a:ext cx="5666145" cy="4477933"/>
            <a:chOff x="3259545" y="1186483"/>
            <a:chExt cx="5666145" cy="4477933"/>
          </a:xfrm>
        </p:grpSpPr>
        <p:sp>
          <p:nvSpPr>
            <p:cNvPr id="99" name="Rectangle 98"/>
            <p:cNvSpPr/>
            <p:nvPr/>
          </p:nvSpPr>
          <p:spPr>
            <a:xfrm>
              <a:off x="3259545" y="1186483"/>
              <a:ext cx="5657881" cy="7161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0" name="Isosceles Triangle 39"/>
            <p:cNvSpPr/>
            <p:nvPr/>
          </p:nvSpPr>
          <p:spPr>
            <a:xfrm rot="10800000">
              <a:off x="5892384" y="5313353"/>
              <a:ext cx="407233" cy="35106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1" name="Rectangle 100"/>
            <p:cNvSpPr/>
            <p:nvPr/>
          </p:nvSpPr>
          <p:spPr>
            <a:xfrm>
              <a:off x="3259545" y="1991156"/>
              <a:ext cx="5666145" cy="332219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3344216" y="2074730"/>
            <a:ext cx="5490224" cy="1689390"/>
          </a:xfrm>
        </p:spPr>
        <p:txBody>
          <a:bodyPr bIns="0" anchor="b">
            <a:normAutofit/>
          </a:bodyPr>
          <a:lstStyle>
            <a:lvl1pPr algn="ctr">
              <a:defRPr sz="4400">
                <a:solidFill>
                  <a:srgbClr val="FFFEFF"/>
                </a:solidFill>
              </a:defRPr>
            </a:lvl1pPr>
          </a:lstStyle>
          <a:p>
            <a:r>
              <a:rPr lang="en-US"/>
              <a:t>Click to edit Master title style</a:t>
            </a:r>
            <a:endParaRPr lang="en-US" dirty="0"/>
          </a:p>
        </p:txBody>
      </p:sp>
      <p:sp>
        <p:nvSpPr>
          <p:cNvPr id="3" name="Text Placeholder 2"/>
          <p:cNvSpPr>
            <a:spLocks noGrp="1"/>
          </p:cNvSpPr>
          <p:nvPr>
            <p:ph type="body" idx="1"/>
          </p:nvPr>
        </p:nvSpPr>
        <p:spPr>
          <a:xfrm>
            <a:off x="3344215" y="3846851"/>
            <a:ext cx="5490223" cy="1383770"/>
          </a:xfrm>
        </p:spPr>
        <p:txBody>
          <a:bodyPr tIns="0">
            <a:normAutofit/>
          </a:bodyPr>
          <a:lstStyle>
            <a:lvl1pPr marL="0" indent="0" algn="ctr">
              <a:buNone/>
              <a:defRPr sz="1800">
                <a:solidFill>
                  <a:srgbClr val="FFFEFF"/>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04672" y="320040"/>
            <a:ext cx="3657600" cy="320040"/>
          </a:xfrm>
        </p:spPr>
        <p:txBody>
          <a:bodyPr/>
          <a:lstStyle/>
          <a:p>
            <a:fld id="{48A87A34-81AB-432B-8DAE-1953F412C126}" type="datetimeFigureOut">
              <a:rPr lang="en-US" dirty="0"/>
              <a:t>6/25/2019</a:t>
            </a:fld>
            <a:endParaRPr lang="en-US" dirty="0"/>
          </a:p>
        </p:txBody>
      </p:sp>
      <p:sp>
        <p:nvSpPr>
          <p:cNvPr id="5" name="Footer Placeholder 4"/>
          <p:cNvSpPr>
            <a:spLocks noGrp="1"/>
          </p:cNvSpPr>
          <p:nvPr>
            <p:ph type="ftr" sz="quarter" idx="11"/>
          </p:nvPr>
        </p:nvSpPr>
        <p:spPr>
          <a:xfrm>
            <a:off x="804672" y="6227064"/>
            <a:ext cx="10588752" cy="320040"/>
          </a:xfrm>
        </p:spPr>
        <p:txBody>
          <a:bodyPr/>
          <a:lstStyle>
            <a:lvl1pPr algn="ctr">
              <a:defRPr/>
            </a:lvl1pPr>
          </a:lstStyle>
          <a:p>
            <a:endParaRPr lang="en-US" dirty="0"/>
          </a:p>
        </p:txBody>
      </p:sp>
      <p:sp>
        <p:nvSpPr>
          <p:cNvPr id="6" name="Slide Number Placeholder 5"/>
          <p:cNvSpPr>
            <a:spLocks noGrp="1"/>
          </p:cNvSpPr>
          <p:nvPr>
            <p:ph type="sldNum" sz="quarter" idx="12"/>
          </p:nvPr>
        </p:nvSpPr>
        <p:spPr>
          <a:xfrm>
            <a:off x="10469880"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grpSp>
        <p:nvGrpSpPr>
          <p:cNvPr id="37" name="Group 36"/>
          <p:cNvGrpSpPr/>
          <p:nvPr/>
        </p:nvGrpSpPr>
        <p:grpSpPr>
          <a:xfrm>
            <a:off x="-417513" y="0"/>
            <a:ext cx="12584114" cy="6853238"/>
            <a:chOff x="-417513" y="0"/>
            <a:chExt cx="12584114" cy="6853238"/>
          </a:xfrm>
        </p:grpSpPr>
        <p:sp>
          <p:nvSpPr>
            <p:cNvPr id="38"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39"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0"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1"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42"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43"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44"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5"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6"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7"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8"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9"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0"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1"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2"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3"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54"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headEnd/>
              <a:tailEnd/>
            </a:ln>
            <a:extLst>
              <a:ext uri="{909E8E84-426E-40DD-AFC4-6F175D3DCCD1}">
                <a14:hiddenFill xmlns:a14="http://schemas.microsoft.com/office/drawing/2010/main">
                  <a:solidFill>
                    <a:srgbClr val="FFFFFF"/>
                  </a:solidFill>
                </a14:hiddenFill>
              </a:ext>
            </a:extLst>
          </p:spPr>
        </p:sp>
        <p:sp>
          <p:nvSpPr>
            <p:cNvPr id="55"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6"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7"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8"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grpSp>
      <p:grpSp>
        <p:nvGrpSpPr>
          <p:cNvPr id="59" name="Group 58"/>
          <p:cNvGrpSpPr/>
          <p:nvPr/>
        </p:nvGrpSpPr>
        <p:grpSpPr>
          <a:xfrm>
            <a:off x="800144" y="1699589"/>
            <a:ext cx="3674476" cy="3470421"/>
            <a:chOff x="697883" y="1816768"/>
            <a:chExt cx="3674476" cy="3470421"/>
          </a:xfrm>
        </p:grpSpPr>
        <p:sp>
          <p:nvSpPr>
            <p:cNvPr id="60" name="Rectangle 59"/>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1"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2" name="Rectangle 61"/>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9000" y="2339669"/>
            <a:ext cx="3500828" cy="2470065"/>
          </a:xfrm>
        </p:spPr>
        <p:txBody>
          <a:bodyPr lIns="91440" tIns="91440" rIns="91440" bIns="91440"/>
          <a:lstStyle>
            <a:lvl1pPr>
              <a:defRPr>
                <a:solidFill>
                  <a:srgbClr val="FFFEFF"/>
                </a:solidFill>
              </a:defRPr>
            </a:lvl1pPr>
          </a:lstStyle>
          <a:p>
            <a:r>
              <a:rPr lang="en-US"/>
              <a:t>Click to edit Master title style</a:t>
            </a:r>
            <a:endParaRPr lang="en-US" dirty="0"/>
          </a:p>
        </p:txBody>
      </p:sp>
      <p:sp>
        <p:nvSpPr>
          <p:cNvPr id="3" name="Content Placeholder 2"/>
          <p:cNvSpPr>
            <a:spLocks noGrp="1"/>
          </p:cNvSpPr>
          <p:nvPr>
            <p:ph sz="half" idx="1"/>
          </p:nvPr>
        </p:nvSpPr>
        <p:spPr>
          <a:xfrm>
            <a:off x="5120878" y="803187"/>
            <a:ext cx="6269591" cy="23826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118447" y="3672162"/>
            <a:ext cx="6272022" cy="23835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a:xfrm>
            <a:off x="804672" y="320040"/>
            <a:ext cx="3657600" cy="320040"/>
          </a:xfrm>
        </p:spPr>
        <p:txBody>
          <a:bodyPr/>
          <a:lstStyle/>
          <a:p>
            <a:fld id="{48A87A34-81AB-432B-8DAE-1953F412C126}" type="datetimeFigureOut">
              <a:rPr lang="en-US" dirty="0"/>
              <a:t>6/25/2019</a:t>
            </a:fld>
            <a:endParaRPr lang="en-US" dirty="0"/>
          </a:p>
        </p:txBody>
      </p:sp>
      <p:sp>
        <p:nvSpPr>
          <p:cNvPr id="6" name="Footer Placeholder 5"/>
          <p:cNvSpPr>
            <a:spLocks noGrp="1"/>
          </p:cNvSpPr>
          <p:nvPr>
            <p:ph type="ftr" sz="quarter" idx="11"/>
          </p:nvPr>
        </p:nvSpPr>
        <p:spPr>
          <a:xfrm>
            <a:off x="804672" y="6227064"/>
            <a:ext cx="10588752" cy="320040"/>
          </a:xfrm>
        </p:spPr>
        <p:txBody>
          <a:bodyPr/>
          <a:lstStyle/>
          <a:p>
            <a:endParaRPr lang="en-US" dirty="0"/>
          </a:p>
        </p:txBody>
      </p:sp>
      <p:sp>
        <p:nvSpPr>
          <p:cNvPr id="7" name="Slide Number Placeholder 6"/>
          <p:cNvSpPr>
            <a:spLocks noGrp="1"/>
          </p:cNvSpPr>
          <p:nvPr>
            <p:ph type="sldNum" sz="quarter" idx="12"/>
          </p:nvPr>
        </p:nvSpPr>
        <p:spPr>
          <a:xfrm>
            <a:off x="10469880"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grpSp>
        <p:nvGrpSpPr>
          <p:cNvPr id="39" name="Group 38"/>
          <p:cNvGrpSpPr/>
          <p:nvPr/>
        </p:nvGrpSpPr>
        <p:grpSpPr>
          <a:xfrm>
            <a:off x="-417513" y="0"/>
            <a:ext cx="12584114" cy="6853238"/>
            <a:chOff x="-417513" y="0"/>
            <a:chExt cx="12584114" cy="6853238"/>
          </a:xfrm>
        </p:grpSpPr>
        <p:sp>
          <p:nvSpPr>
            <p:cNvPr id="40"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1"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2"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3"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44"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45"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46"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7"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8"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49"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0"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1"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2"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3"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4"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5"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56"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headEnd/>
              <a:tailEnd/>
            </a:ln>
            <a:extLst>
              <a:ext uri="{909E8E84-426E-40DD-AFC4-6F175D3DCCD1}">
                <a14:hiddenFill xmlns:a14="http://schemas.microsoft.com/office/drawing/2010/main">
                  <a:solidFill>
                    <a:srgbClr val="FFFFFF"/>
                  </a:solidFill>
                </a14:hiddenFill>
              </a:ext>
            </a:extLst>
          </p:spPr>
        </p:sp>
        <p:sp>
          <p:nvSpPr>
            <p:cNvPr id="57"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8"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59"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60"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grpSp>
      <p:grpSp>
        <p:nvGrpSpPr>
          <p:cNvPr id="61" name="Group 60"/>
          <p:cNvGrpSpPr/>
          <p:nvPr/>
        </p:nvGrpSpPr>
        <p:grpSpPr>
          <a:xfrm>
            <a:off x="800144" y="1699589"/>
            <a:ext cx="3674476" cy="3470421"/>
            <a:chOff x="697883" y="1816768"/>
            <a:chExt cx="3674476" cy="3470421"/>
          </a:xfrm>
        </p:grpSpPr>
        <p:sp>
          <p:nvSpPr>
            <p:cNvPr id="62" name="Rectangle 61"/>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3"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4" name="Rectangle 63"/>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9001" y="2363915"/>
            <a:ext cx="3500828" cy="2460497"/>
          </a:xfrm>
        </p:spPr>
        <p:txBody>
          <a:bodyPr lIns="91440" tIns="91440" rIns="91440" bIns="91440"/>
          <a:lstStyle>
            <a:lvl1pPr>
              <a:defRPr>
                <a:solidFill>
                  <a:srgbClr val="FFFEFF"/>
                </a:solidFill>
              </a:defRPr>
            </a:lvl1pPr>
          </a:lstStyle>
          <a:p>
            <a:r>
              <a:rPr lang="en-US"/>
              <a:t>Click to edit Master title style</a:t>
            </a:r>
            <a:endParaRPr lang="en-US" dirty="0"/>
          </a:p>
        </p:txBody>
      </p:sp>
      <p:sp>
        <p:nvSpPr>
          <p:cNvPr id="3" name="Text Placeholder 2"/>
          <p:cNvSpPr>
            <a:spLocks noGrp="1"/>
          </p:cNvSpPr>
          <p:nvPr>
            <p:ph type="body" idx="1"/>
          </p:nvPr>
        </p:nvSpPr>
        <p:spPr>
          <a:xfrm>
            <a:off x="5125137" y="803185"/>
            <a:ext cx="6265088" cy="685800"/>
          </a:xfrm>
        </p:spPr>
        <p:txBody>
          <a:bodyPr anchor="ctr">
            <a:noAutofit/>
          </a:bodyPr>
          <a:lstStyle>
            <a:lvl1pPr marL="0" indent="0" algn="l">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125305" y="1488985"/>
            <a:ext cx="6264350" cy="169685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118653" y="3665887"/>
            <a:ext cx="6264414" cy="685800"/>
          </a:xfrm>
        </p:spPr>
        <p:txBody>
          <a:bodyPr anchor="ctr">
            <a:noAutofit/>
          </a:bodyPr>
          <a:lstStyle>
            <a:lvl1pPr marL="0" indent="0" algn="l">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118447" y="4351687"/>
            <a:ext cx="6265588" cy="17040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a:xfrm>
            <a:off x="804672" y="320040"/>
            <a:ext cx="3657600" cy="320040"/>
          </a:xfrm>
        </p:spPr>
        <p:txBody>
          <a:bodyPr/>
          <a:lstStyle/>
          <a:p>
            <a:fld id="{48A87A34-81AB-432B-8DAE-1953F412C126}" type="datetimeFigureOut">
              <a:rPr lang="en-US" dirty="0"/>
              <a:t>6/25/2019</a:t>
            </a:fld>
            <a:endParaRPr lang="en-US" dirty="0"/>
          </a:p>
        </p:txBody>
      </p:sp>
      <p:sp>
        <p:nvSpPr>
          <p:cNvPr id="8" name="Footer Placeholder 7"/>
          <p:cNvSpPr>
            <a:spLocks noGrp="1"/>
          </p:cNvSpPr>
          <p:nvPr>
            <p:ph type="ftr" sz="quarter" idx="11"/>
          </p:nvPr>
        </p:nvSpPr>
        <p:spPr>
          <a:xfrm>
            <a:off x="804672" y="6227064"/>
            <a:ext cx="10588752" cy="320040"/>
          </a:xfrm>
        </p:spPr>
        <p:txBody>
          <a:bodyPr/>
          <a:lstStyle/>
          <a:p>
            <a:endParaRPr lang="en-US" dirty="0"/>
          </a:p>
        </p:txBody>
      </p:sp>
      <p:sp>
        <p:nvSpPr>
          <p:cNvPr id="9" name="Slide Number Placeholder 8"/>
          <p:cNvSpPr>
            <a:spLocks noGrp="1"/>
          </p:cNvSpPr>
          <p:nvPr>
            <p:ph type="sldNum" sz="quarter" idx="12"/>
          </p:nvPr>
        </p:nvSpPr>
        <p:spPr>
          <a:xfrm>
            <a:off x="10469880"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grpSp>
        <p:nvGrpSpPr>
          <p:cNvPr id="77" name="Group 76"/>
          <p:cNvGrpSpPr/>
          <p:nvPr/>
        </p:nvGrpSpPr>
        <p:grpSpPr>
          <a:xfrm>
            <a:off x="-417513" y="0"/>
            <a:ext cx="12584114" cy="6853238"/>
            <a:chOff x="-417513" y="0"/>
            <a:chExt cx="12584114" cy="6853238"/>
          </a:xfrm>
        </p:grpSpPr>
        <p:sp>
          <p:nvSpPr>
            <p:cNvPr id="78"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79"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0"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1"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2"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3"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4"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5"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6"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7"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8"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9"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0"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1"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2"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3"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94"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headEnd/>
              <a:tailEnd/>
            </a:ln>
            <a:extLst>
              <a:ext uri="{909E8E84-426E-40DD-AFC4-6F175D3DCCD1}">
                <a14:hiddenFill xmlns:a14="http://schemas.microsoft.com/office/drawing/2010/main">
                  <a:solidFill>
                    <a:srgbClr val="FFFFFF"/>
                  </a:solidFill>
                </a14:hiddenFill>
              </a:ext>
            </a:extLst>
          </p:spPr>
        </p:sp>
        <p:sp>
          <p:nvSpPr>
            <p:cNvPr id="95"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6"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7"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8"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grpSp>
      <p:grpSp>
        <p:nvGrpSpPr>
          <p:cNvPr id="24" name="Group 23"/>
          <p:cNvGrpSpPr/>
          <p:nvPr/>
        </p:nvGrpSpPr>
        <p:grpSpPr>
          <a:xfrm>
            <a:off x="800144" y="1699589"/>
            <a:ext cx="3674476" cy="3470421"/>
            <a:chOff x="697883" y="1816768"/>
            <a:chExt cx="3674476" cy="3470421"/>
          </a:xfrm>
        </p:grpSpPr>
        <p:sp>
          <p:nvSpPr>
            <p:cNvPr id="25" name="Rectangle 24"/>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6"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7" name="Rectangle 26"/>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8632" y="2349925"/>
            <a:ext cx="3501196" cy="2456442"/>
          </a:xfrm>
        </p:spPr>
        <p:txBody>
          <a:bodyPr/>
          <a:lstStyle>
            <a:lvl1pPr>
              <a:defRPr>
                <a:solidFill>
                  <a:srgbClr val="FFFEFF"/>
                </a:solidFill>
              </a:defRPr>
            </a:lvl1p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6/25/2019</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04672" y="320040"/>
            <a:ext cx="3657600" cy="320040"/>
          </a:xfrm>
        </p:spPr>
        <p:txBody>
          <a:bodyPr/>
          <a:lstStyle/>
          <a:p>
            <a:fld id="{48A87A34-81AB-432B-8DAE-1953F412C126}" type="datetimeFigureOut">
              <a:rPr lang="en-US" dirty="0"/>
              <a:t>6/25/2019</a:t>
            </a:fld>
            <a:endParaRPr lang="en-US" dirty="0"/>
          </a:p>
        </p:txBody>
      </p:sp>
      <p:sp>
        <p:nvSpPr>
          <p:cNvPr id="3" name="Footer Placeholder 2"/>
          <p:cNvSpPr>
            <a:spLocks noGrp="1"/>
          </p:cNvSpPr>
          <p:nvPr>
            <p:ph type="ftr" sz="quarter" idx="11"/>
          </p:nvPr>
        </p:nvSpPr>
        <p:spPr>
          <a:xfrm>
            <a:off x="804672" y="6227064"/>
            <a:ext cx="10588752" cy="320040"/>
          </a:xfrm>
        </p:spPr>
        <p:txBody>
          <a:bodyPr/>
          <a:lstStyle/>
          <a:p>
            <a:endParaRPr lang="en-US" dirty="0"/>
          </a:p>
        </p:txBody>
      </p:sp>
      <p:sp>
        <p:nvSpPr>
          <p:cNvPr id="4" name="Slide Number Placeholder 3"/>
          <p:cNvSpPr>
            <a:spLocks noGrp="1"/>
          </p:cNvSpPr>
          <p:nvPr>
            <p:ph type="sldNum" sz="quarter" idx="12"/>
          </p:nvPr>
        </p:nvSpPr>
        <p:spPr>
          <a:xfrm>
            <a:off x="10469880"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grpSp>
        <p:nvGrpSpPr>
          <p:cNvPr id="74" name="Group 73"/>
          <p:cNvGrpSpPr/>
          <p:nvPr/>
        </p:nvGrpSpPr>
        <p:grpSpPr>
          <a:xfrm>
            <a:off x="-417513" y="0"/>
            <a:ext cx="12584114" cy="6853238"/>
            <a:chOff x="-417513" y="0"/>
            <a:chExt cx="12584114" cy="6853238"/>
          </a:xfrm>
        </p:grpSpPr>
        <p:sp>
          <p:nvSpPr>
            <p:cNvPr id="75"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76"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77"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78"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79"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0"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1"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2"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3"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4"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5"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6"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7"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8"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9"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0"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91"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headEnd/>
              <a:tailEnd/>
            </a:ln>
            <a:extLst>
              <a:ext uri="{909E8E84-426E-40DD-AFC4-6F175D3DCCD1}">
                <a14:hiddenFill xmlns:a14="http://schemas.microsoft.com/office/drawing/2010/main">
                  <a:solidFill>
                    <a:srgbClr val="FFFFFF"/>
                  </a:solidFill>
                </a14:hiddenFill>
              </a:ext>
            </a:extLst>
          </p:spPr>
        </p:sp>
        <p:sp>
          <p:nvSpPr>
            <p:cNvPr id="92"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3"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4"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5"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grpSp>
      <p:grpSp>
        <p:nvGrpSpPr>
          <p:cNvPr id="21" name="Group 20"/>
          <p:cNvGrpSpPr/>
          <p:nvPr/>
        </p:nvGrpSpPr>
        <p:grpSpPr>
          <a:xfrm>
            <a:off x="800144" y="1699589"/>
            <a:ext cx="3674476" cy="3470421"/>
            <a:chOff x="697883" y="1816768"/>
            <a:chExt cx="3674476" cy="3470421"/>
          </a:xfrm>
        </p:grpSpPr>
        <p:sp>
          <p:nvSpPr>
            <p:cNvPr id="22" name="Rectangle 21"/>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2"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3" name="Rectangle 32"/>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8631" y="2352026"/>
            <a:ext cx="3501197" cy="1223298"/>
          </a:xfrm>
        </p:spPr>
        <p:txBody>
          <a:bodyPr bIns="0" anchor="b">
            <a:noAutofit/>
          </a:bodyPr>
          <a:lstStyle>
            <a:lvl1pPr algn="ctr">
              <a:defRPr sz="3200">
                <a:solidFill>
                  <a:srgbClr val="FFFEFF"/>
                </a:solidFill>
              </a:defRPr>
            </a:lvl1pPr>
          </a:lstStyle>
          <a:p>
            <a:r>
              <a:rPr lang="en-US"/>
              <a:t>Click to edit Master title style</a:t>
            </a:r>
            <a:endParaRPr lang="en-US" dirty="0"/>
          </a:p>
        </p:txBody>
      </p:sp>
      <p:sp>
        <p:nvSpPr>
          <p:cNvPr id="3" name="Content Placeholder 2"/>
          <p:cNvSpPr>
            <a:spLocks noGrp="1"/>
          </p:cNvSpPr>
          <p:nvPr>
            <p:ph idx="1"/>
          </p:nvPr>
        </p:nvSpPr>
        <p:spPr>
          <a:xfrm>
            <a:off x="5109983" y="802809"/>
            <a:ext cx="6275035" cy="5249940"/>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88631" y="3580186"/>
            <a:ext cx="3501197" cy="1221164"/>
          </a:xfrm>
        </p:spPr>
        <p:txBody>
          <a:bodyPr/>
          <a:lstStyle>
            <a:lvl1pPr marL="0" indent="0" algn="ctr">
              <a:buNone/>
              <a:defRPr sz="1600">
                <a:solidFill>
                  <a:srgbClr val="FFFE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6/25/2019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73" name="Group 72"/>
          <p:cNvGrpSpPr/>
          <p:nvPr/>
        </p:nvGrpSpPr>
        <p:grpSpPr>
          <a:xfrm>
            <a:off x="-329674" y="-59376"/>
            <a:ext cx="12515851" cy="6923798"/>
            <a:chOff x="-329674" y="-51881"/>
            <a:chExt cx="12515851" cy="6923798"/>
          </a:xfrm>
        </p:grpSpPr>
        <p:sp>
          <p:nvSpPr>
            <p:cNvPr id="81" name="Freeform 5"/>
            <p:cNvSpPr/>
            <p:nvPr/>
          </p:nvSpPr>
          <p:spPr bwMode="auto">
            <a:xfrm>
              <a:off x="-329674" y="1298404"/>
              <a:ext cx="9702800" cy="5573512"/>
            </a:xfrm>
            <a:custGeom>
              <a:avLst/>
              <a:gdLst/>
              <a:ahLst/>
              <a:cxnLst/>
              <a:rect l="0" t="0" r="r" b="b"/>
              <a:pathLst>
                <a:path w="2038" h="1169">
                  <a:moveTo>
                    <a:pt x="1752" y="1169"/>
                  </a:moveTo>
                  <a:cubicBezTo>
                    <a:pt x="2038" y="928"/>
                    <a:pt x="1673" y="513"/>
                    <a:pt x="1487" y="334"/>
                  </a:cubicBezTo>
                  <a:cubicBezTo>
                    <a:pt x="1316" y="170"/>
                    <a:pt x="1099" y="43"/>
                    <a:pt x="860" y="22"/>
                  </a:cubicBezTo>
                  <a:cubicBezTo>
                    <a:pt x="621" y="0"/>
                    <a:pt x="341" y="128"/>
                    <a:pt x="199" y="318"/>
                  </a:cubicBezTo>
                  <a:cubicBezTo>
                    <a:pt x="0" y="586"/>
                    <a:pt x="184" y="965"/>
                    <a:pt x="399" y="1165"/>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2" name="Freeform 6"/>
            <p:cNvSpPr/>
            <p:nvPr/>
          </p:nvSpPr>
          <p:spPr bwMode="auto">
            <a:xfrm>
              <a:off x="670451" y="2018236"/>
              <a:ext cx="7373938" cy="4848892"/>
            </a:xfrm>
            <a:custGeom>
              <a:avLst/>
              <a:gdLst/>
              <a:ahLst/>
              <a:cxnLst/>
              <a:rect l="0" t="0" r="r" b="b"/>
              <a:pathLst>
                <a:path w="1549" h="1017">
                  <a:moveTo>
                    <a:pt x="1025" y="1016"/>
                  </a:moveTo>
                  <a:cubicBezTo>
                    <a:pt x="1223" y="971"/>
                    <a:pt x="1549" y="857"/>
                    <a:pt x="1443" y="592"/>
                  </a:cubicBezTo>
                  <a:cubicBezTo>
                    <a:pt x="1344" y="344"/>
                    <a:pt x="1041" y="111"/>
                    <a:pt x="782" y="53"/>
                  </a:cubicBezTo>
                  <a:cubicBezTo>
                    <a:pt x="545" y="0"/>
                    <a:pt x="275" y="117"/>
                    <a:pt x="150" y="329"/>
                  </a:cubicBezTo>
                  <a:cubicBezTo>
                    <a:pt x="0" y="584"/>
                    <a:pt x="243" y="911"/>
                    <a:pt x="477" y="1017"/>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3" name="Freeform 7"/>
            <p:cNvSpPr/>
            <p:nvPr/>
          </p:nvSpPr>
          <p:spPr bwMode="auto">
            <a:xfrm>
              <a:off x="251351" y="1788400"/>
              <a:ext cx="8035925" cy="5083516"/>
            </a:xfrm>
            <a:custGeom>
              <a:avLst/>
              <a:gdLst/>
              <a:ahLst/>
              <a:cxnLst/>
              <a:rect l="0" t="0" r="r" b="b"/>
              <a:pathLst>
                <a:path w="1688" h="1066">
                  <a:moveTo>
                    <a:pt x="1302" y="1066"/>
                  </a:moveTo>
                  <a:cubicBezTo>
                    <a:pt x="1416" y="1024"/>
                    <a:pt x="1551" y="962"/>
                    <a:pt x="1613" y="850"/>
                  </a:cubicBezTo>
                  <a:cubicBezTo>
                    <a:pt x="1688" y="715"/>
                    <a:pt x="1606" y="575"/>
                    <a:pt x="1517" y="471"/>
                  </a:cubicBezTo>
                  <a:cubicBezTo>
                    <a:pt x="1336" y="258"/>
                    <a:pt x="1084" y="62"/>
                    <a:pt x="798" y="28"/>
                  </a:cubicBezTo>
                  <a:cubicBezTo>
                    <a:pt x="559" y="0"/>
                    <a:pt x="317" y="138"/>
                    <a:pt x="181" y="333"/>
                  </a:cubicBezTo>
                  <a:cubicBezTo>
                    <a:pt x="0" y="592"/>
                    <a:pt x="191" y="907"/>
                    <a:pt x="420" y="1066"/>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4" name="Freeform 8"/>
            <p:cNvSpPr/>
            <p:nvPr/>
          </p:nvSpPr>
          <p:spPr bwMode="auto">
            <a:xfrm>
              <a:off x="-1061" y="549842"/>
              <a:ext cx="10334625" cy="6322075"/>
            </a:xfrm>
            <a:custGeom>
              <a:avLst/>
              <a:gdLst/>
              <a:ahLst/>
              <a:cxnLst/>
              <a:rect l="0" t="0" r="r" b="b"/>
              <a:pathLst>
                <a:path w="2171" h="1326">
                  <a:moveTo>
                    <a:pt x="1873" y="1326"/>
                  </a:moveTo>
                  <a:cubicBezTo>
                    <a:pt x="2171" y="1045"/>
                    <a:pt x="1825" y="678"/>
                    <a:pt x="1609" y="473"/>
                  </a:cubicBezTo>
                  <a:cubicBezTo>
                    <a:pt x="1406" y="281"/>
                    <a:pt x="1159" y="116"/>
                    <a:pt x="880" y="63"/>
                  </a:cubicBezTo>
                  <a:cubicBezTo>
                    <a:pt x="545" y="0"/>
                    <a:pt x="214" y="161"/>
                    <a:pt x="0" y="423"/>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5" name="Freeform 9"/>
            <p:cNvSpPr/>
            <p:nvPr/>
          </p:nvSpPr>
          <p:spPr bwMode="auto">
            <a:xfrm>
              <a:off x="3701" y="6186246"/>
              <a:ext cx="504825" cy="681527"/>
            </a:xfrm>
            <a:custGeom>
              <a:avLst/>
              <a:gdLst/>
              <a:ahLst/>
              <a:cxnLst/>
              <a:rect l="0" t="0" r="r" b="b"/>
              <a:pathLst>
                <a:path w="106" h="143">
                  <a:moveTo>
                    <a:pt x="0" y="0"/>
                  </a:moveTo>
                  <a:cubicBezTo>
                    <a:pt x="35" y="54"/>
                    <a:pt x="70" y="101"/>
                    <a:pt x="106" y="143"/>
                  </a:cubicBezTo>
                </a:path>
              </a:pathLst>
            </a:custGeom>
            <a:noFill/>
            <a:ln w="4763"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6" name="Freeform 10"/>
            <p:cNvSpPr/>
            <p:nvPr/>
          </p:nvSpPr>
          <p:spPr bwMode="auto">
            <a:xfrm>
              <a:off x="-1061" y="-51881"/>
              <a:ext cx="11091863" cy="6923796"/>
            </a:xfrm>
            <a:custGeom>
              <a:avLst/>
              <a:gdLst/>
              <a:ahLst/>
              <a:cxnLst/>
              <a:rect l="0" t="0" r="r" b="b"/>
              <a:pathLst>
                <a:path w="2330" h="1452">
                  <a:moveTo>
                    <a:pt x="2046" y="1452"/>
                  </a:moveTo>
                  <a:cubicBezTo>
                    <a:pt x="2330" y="1153"/>
                    <a:pt x="2049" y="821"/>
                    <a:pt x="1813" y="601"/>
                  </a:cubicBezTo>
                  <a:cubicBezTo>
                    <a:pt x="1569" y="375"/>
                    <a:pt x="1282" y="179"/>
                    <a:pt x="956" y="97"/>
                  </a:cubicBezTo>
                  <a:cubicBezTo>
                    <a:pt x="572" y="0"/>
                    <a:pt x="292" y="101"/>
                    <a:pt x="0" y="366"/>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7" name="Freeform 11"/>
            <p:cNvSpPr/>
            <p:nvPr/>
          </p:nvSpPr>
          <p:spPr bwMode="auto">
            <a:xfrm>
              <a:off x="5426601" y="5579"/>
              <a:ext cx="5788025" cy="6847184"/>
            </a:xfrm>
            <a:custGeom>
              <a:avLst/>
              <a:gdLst/>
              <a:ahLst/>
              <a:cxnLst/>
              <a:rect l="0" t="0" r="r" b="b"/>
              <a:pathLst>
                <a:path w="1216" h="1436">
                  <a:moveTo>
                    <a:pt x="1094" y="1436"/>
                  </a:moveTo>
                  <a:cubicBezTo>
                    <a:pt x="1216" y="1114"/>
                    <a:pt x="904" y="770"/>
                    <a:pt x="709" y="551"/>
                  </a:cubicBezTo>
                  <a:cubicBezTo>
                    <a:pt x="509" y="327"/>
                    <a:pt x="274" y="127"/>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8" name="Freeform 12"/>
            <p:cNvSpPr/>
            <p:nvPr/>
          </p:nvSpPr>
          <p:spPr bwMode="auto">
            <a:xfrm>
              <a:off x="-1061" y="5579"/>
              <a:ext cx="1057275" cy="614491"/>
            </a:xfrm>
            <a:custGeom>
              <a:avLst/>
              <a:gdLst/>
              <a:ahLst/>
              <a:cxnLst/>
              <a:rect l="0" t="0" r="r" b="b"/>
              <a:pathLst>
                <a:path w="222" h="129">
                  <a:moveTo>
                    <a:pt x="222" y="0"/>
                  </a:moveTo>
                  <a:cubicBezTo>
                    <a:pt x="152" y="35"/>
                    <a:pt x="76" y="78"/>
                    <a:pt x="0" y="129"/>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9" name="Freeform 13"/>
            <p:cNvSpPr/>
            <p:nvPr/>
          </p:nvSpPr>
          <p:spPr bwMode="auto">
            <a:xfrm>
              <a:off x="5821889" y="5579"/>
              <a:ext cx="5588000" cy="6866337"/>
            </a:xfrm>
            <a:custGeom>
              <a:avLst/>
              <a:gdLst/>
              <a:ahLst/>
              <a:cxnLst/>
              <a:rect l="0" t="0" r="r" b="b"/>
              <a:pathLst>
                <a:path w="1174" h="1440">
                  <a:moveTo>
                    <a:pt x="1067" y="1440"/>
                  </a:moveTo>
                  <a:cubicBezTo>
                    <a:pt x="1174" y="1124"/>
                    <a:pt x="887" y="797"/>
                    <a:pt x="698" y="577"/>
                  </a:cubicBezTo>
                  <a:cubicBezTo>
                    <a:pt x="500" y="348"/>
                    <a:pt x="270" y="141"/>
                    <a:pt x="0"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90" name="Freeform 14"/>
            <p:cNvSpPr/>
            <p:nvPr/>
          </p:nvSpPr>
          <p:spPr bwMode="auto">
            <a:xfrm>
              <a:off x="3701" y="790"/>
              <a:ext cx="595313" cy="352734"/>
            </a:xfrm>
            <a:custGeom>
              <a:avLst/>
              <a:gdLst/>
              <a:ahLst/>
              <a:cxnLst/>
              <a:rect l="0" t="0" r="r" b="b"/>
              <a:pathLst>
                <a:path w="125" h="74">
                  <a:moveTo>
                    <a:pt x="125" y="0"/>
                  </a:moveTo>
                  <a:cubicBezTo>
                    <a:pt x="85" y="22"/>
                    <a:pt x="43" y="47"/>
                    <a:pt x="0" y="74"/>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91" name="Freeform 15"/>
            <p:cNvSpPr/>
            <p:nvPr/>
          </p:nvSpPr>
          <p:spPr bwMode="auto">
            <a:xfrm>
              <a:off x="6012389" y="5579"/>
              <a:ext cx="5497513" cy="6866337"/>
            </a:xfrm>
            <a:custGeom>
              <a:avLst/>
              <a:gdLst/>
              <a:ahLst/>
              <a:cxnLst/>
              <a:rect l="0" t="0" r="r" b="b"/>
              <a:pathLst>
                <a:path w="1155" h="1440">
                  <a:moveTo>
                    <a:pt x="1056" y="1440"/>
                  </a:moveTo>
                  <a:cubicBezTo>
                    <a:pt x="1155" y="1123"/>
                    <a:pt x="875" y="801"/>
                    <a:pt x="686" y="580"/>
                  </a:cubicBezTo>
                  <a:cubicBezTo>
                    <a:pt x="491" y="352"/>
                    <a:pt x="264" y="145"/>
                    <a:pt x="0" y="0"/>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92" name="Freeform 16"/>
            <p:cNvSpPr/>
            <p:nvPr/>
          </p:nvSpPr>
          <p:spPr bwMode="auto">
            <a:xfrm>
              <a:off x="-1061" y="5579"/>
              <a:ext cx="357188" cy="213875"/>
            </a:xfrm>
            <a:custGeom>
              <a:avLst/>
              <a:gdLst/>
              <a:ahLst/>
              <a:cxnLst/>
              <a:rect l="0" t="0" r="r" b="b"/>
              <a:pathLst>
                <a:path w="75" h="45">
                  <a:moveTo>
                    <a:pt x="75" y="0"/>
                  </a:moveTo>
                  <a:cubicBezTo>
                    <a:pt x="50" y="14"/>
                    <a:pt x="25" y="29"/>
                    <a:pt x="0" y="45"/>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93" name="Freeform 17"/>
            <p:cNvSpPr/>
            <p:nvPr/>
          </p:nvSpPr>
          <p:spPr bwMode="auto">
            <a:xfrm>
              <a:off x="6210826" y="790"/>
              <a:ext cx="5522913" cy="6871126"/>
            </a:xfrm>
            <a:custGeom>
              <a:avLst/>
              <a:gdLst/>
              <a:ahLst/>
              <a:cxnLst/>
              <a:rect l="0" t="0" r="r" b="b"/>
              <a:pathLst>
                <a:path w="1160" h="1441">
                  <a:moveTo>
                    <a:pt x="1053" y="1441"/>
                  </a:moveTo>
                  <a:cubicBezTo>
                    <a:pt x="1160" y="1129"/>
                    <a:pt x="892" y="817"/>
                    <a:pt x="705" y="599"/>
                  </a:cubicBezTo>
                  <a:cubicBezTo>
                    <a:pt x="503" y="365"/>
                    <a:pt x="270" y="152"/>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4" name="Freeform 18"/>
            <p:cNvSpPr/>
            <p:nvPr/>
          </p:nvSpPr>
          <p:spPr bwMode="auto">
            <a:xfrm>
              <a:off x="6463239" y="5579"/>
              <a:ext cx="5413375" cy="6866337"/>
            </a:xfrm>
            <a:custGeom>
              <a:avLst/>
              <a:gdLst/>
              <a:ahLst/>
              <a:cxnLst/>
              <a:rect l="0" t="0" r="r" b="b"/>
              <a:pathLst>
                <a:path w="1137" h="1440">
                  <a:moveTo>
                    <a:pt x="1040" y="1440"/>
                  </a:moveTo>
                  <a:cubicBezTo>
                    <a:pt x="1137" y="1131"/>
                    <a:pt x="883" y="828"/>
                    <a:pt x="698" y="611"/>
                  </a:cubicBezTo>
                  <a:cubicBezTo>
                    <a:pt x="498" y="375"/>
                    <a:pt x="268" y="159"/>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5" name="Freeform 19"/>
            <p:cNvSpPr/>
            <p:nvPr/>
          </p:nvSpPr>
          <p:spPr bwMode="auto">
            <a:xfrm>
              <a:off x="6877576" y="5579"/>
              <a:ext cx="5037138" cy="6861550"/>
            </a:xfrm>
            <a:custGeom>
              <a:avLst/>
              <a:gdLst/>
              <a:ahLst/>
              <a:cxnLst/>
              <a:rect l="0" t="0" r="r" b="b"/>
              <a:pathLst>
                <a:path w="1058" h="1439">
                  <a:moveTo>
                    <a:pt x="1011" y="1439"/>
                  </a:moveTo>
                  <a:cubicBezTo>
                    <a:pt x="1058" y="1131"/>
                    <a:pt x="825" y="841"/>
                    <a:pt x="648" y="617"/>
                  </a:cubicBezTo>
                  <a:cubicBezTo>
                    <a:pt x="462" y="383"/>
                    <a:pt x="248" y="16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6" name="Freeform 20"/>
            <p:cNvSpPr/>
            <p:nvPr/>
          </p:nvSpPr>
          <p:spPr bwMode="auto">
            <a:xfrm>
              <a:off x="8768289" y="5579"/>
              <a:ext cx="3417888" cy="2742066"/>
            </a:xfrm>
            <a:custGeom>
              <a:avLst/>
              <a:gdLst/>
              <a:ahLst/>
              <a:cxnLst/>
              <a:rect l="0" t="0" r="r" b="b"/>
              <a:pathLst>
                <a:path w="718" h="575">
                  <a:moveTo>
                    <a:pt x="718" y="575"/>
                  </a:moveTo>
                  <a:cubicBezTo>
                    <a:pt x="500" y="360"/>
                    <a:pt x="260" y="163"/>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7" name="Freeform 21"/>
            <p:cNvSpPr/>
            <p:nvPr/>
          </p:nvSpPr>
          <p:spPr bwMode="auto">
            <a:xfrm>
              <a:off x="9235014" y="10367"/>
              <a:ext cx="2951163" cy="2555325"/>
            </a:xfrm>
            <a:custGeom>
              <a:avLst/>
              <a:gdLst/>
              <a:ahLst/>
              <a:cxnLst/>
              <a:rect l="0" t="0" r="r" b="b"/>
              <a:pathLst>
                <a:path w="620" h="536">
                  <a:moveTo>
                    <a:pt x="620" y="536"/>
                  </a:moveTo>
                  <a:cubicBezTo>
                    <a:pt x="404" y="314"/>
                    <a:pt x="196" y="13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8" name="Freeform 22"/>
            <p:cNvSpPr/>
            <p:nvPr/>
          </p:nvSpPr>
          <p:spPr bwMode="auto">
            <a:xfrm>
              <a:off x="10020826" y="5579"/>
              <a:ext cx="2165350" cy="1358265"/>
            </a:xfrm>
            <a:custGeom>
              <a:avLst/>
              <a:gdLst/>
              <a:ahLst/>
              <a:cxnLst/>
              <a:rect l="0" t="0" r="r" b="b"/>
              <a:pathLst>
                <a:path w="455" h="285">
                  <a:moveTo>
                    <a:pt x="0" y="0"/>
                  </a:moveTo>
                  <a:cubicBezTo>
                    <a:pt x="153" y="85"/>
                    <a:pt x="308" y="180"/>
                    <a:pt x="455" y="285"/>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99" name="Freeform 23"/>
            <p:cNvSpPr/>
            <p:nvPr/>
          </p:nvSpPr>
          <p:spPr bwMode="auto">
            <a:xfrm>
              <a:off x="11290826" y="5579"/>
              <a:ext cx="895350" cy="534687"/>
            </a:xfrm>
            <a:custGeom>
              <a:avLst/>
              <a:gdLst/>
              <a:ahLst/>
              <a:cxnLst/>
              <a:rect l="0" t="0" r="r" b="b"/>
              <a:pathLst>
                <a:path w="188" h="112">
                  <a:moveTo>
                    <a:pt x="0" y="0"/>
                  </a:moveTo>
                  <a:cubicBezTo>
                    <a:pt x="63" y="36"/>
                    <a:pt x="126" y="73"/>
                    <a:pt x="188" y="112"/>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grpSp>
      <p:grpSp>
        <p:nvGrpSpPr>
          <p:cNvPr id="76" name="Group 75"/>
          <p:cNvGrpSpPr/>
          <p:nvPr/>
        </p:nvGrpSpPr>
        <p:grpSpPr>
          <a:xfrm>
            <a:off x="805336" y="1698331"/>
            <a:ext cx="5941540" cy="3470421"/>
            <a:chOff x="805336" y="1698331"/>
            <a:chExt cx="5941540" cy="3470421"/>
          </a:xfrm>
        </p:grpSpPr>
        <p:sp>
          <p:nvSpPr>
            <p:cNvPr id="77" name="Rectangle 76"/>
            <p:cNvSpPr/>
            <p:nvPr/>
          </p:nvSpPr>
          <p:spPr>
            <a:xfrm>
              <a:off x="805336" y="1698331"/>
              <a:ext cx="5941540"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8" name="Isosceles Triangle 9"/>
            <p:cNvSpPr/>
            <p:nvPr/>
          </p:nvSpPr>
          <p:spPr>
            <a:xfrm rot="10800000">
              <a:off x="3618113" y="4896349"/>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9" name="Rectangle 78"/>
            <p:cNvSpPr/>
            <p:nvPr/>
          </p:nvSpPr>
          <p:spPr>
            <a:xfrm>
              <a:off x="805336" y="2274403"/>
              <a:ext cx="5941540"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3" name="Picture Placeholder 2"/>
          <p:cNvSpPr>
            <a:spLocks noGrp="1" noChangeAspect="1"/>
          </p:cNvSpPr>
          <p:nvPr>
            <p:ph type="pic" idx="1"/>
          </p:nvPr>
        </p:nvSpPr>
        <p:spPr>
          <a:xfrm>
            <a:off x="7543510" y="0"/>
            <a:ext cx="4648490" cy="6858000"/>
          </a:xfrm>
          <a:solidFill>
            <a:schemeClr val="bg1">
              <a:lumMod val="65000"/>
              <a:lumOff val="3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885443" y="2360255"/>
            <a:ext cx="5776646" cy="1178032"/>
          </a:xfrm>
        </p:spPr>
        <p:txBody>
          <a:bodyPr bIns="0" anchor="b">
            <a:normAutofit/>
          </a:bodyPr>
          <a:lstStyle>
            <a:lvl1pPr>
              <a:defRPr sz="3600">
                <a:solidFill>
                  <a:srgbClr val="FFFEFF"/>
                </a:solidFill>
              </a:defRPr>
            </a:lvl1pPr>
          </a:lstStyle>
          <a:p>
            <a:r>
              <a:rPr lang="en-US"/>
              <a:t>Click to edit Master title style</a:t>
            </a:r>
            <a:endParaRPr lang="en-US" dirty="0"/>
          </a:p>
        </p:txBody>
      </p:sp>
      <p:sp>
        <p:nvSpPr>
          <p:cNvPr id="4" name="Text Placeholder 3"/>
          <p:cNvSpPr>
            <a:spLocks noGrp="1"/>
          </p:cNvSpPr>
          <p:nvPr>
            <p:ph type="body" sz="half" idx="2"/>
          </p:nvPr>
        </p:nvSpPr>
        <p:spPr>
          <a:xfrm>
            <a:off x="885443" y="3545012"/>
            <a:ext cx="5776646" cy="1274198"/>
          </a:xfrm>
        </p:spPr>
        <p:txBody>
          <a:bodyPr>
            <a:normAutofit/>
          </a:bodyPr>
          <a:lstStyle>
            <a:lvl1pPr marL="0" indent="0" algn="ctr">
              <a:buNone/>
              <a:defRPr sz="1800">
                <a:solidFill>
                  <a:srgbClr val="FFFE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04672" y="320040"/>
            <a:ext cx="3657600" cy="320040"/>
          </a:xfrm>
        </p:spPr>
        <p:txBody>
          <a:bodyPr/>
          <a:lstStyle/>
          <a:p>
            <a:fld id="{48A87A34-81AB-432B-8DAE-1953F412C126}" type="datetimeFigureOut">
              <a:rPr lang="en-US" dirty="0"/>
              <a:t>6/25/2019</a:t>
            </a:fld>
            <a:endParaRPr lang="en-US" dirty="0"/>
          </a:p>
        </p:txBody>
      </p:sp>
      <p:sp>
        <p:nvSpPr>
          <p:cNvPr id="6" name="Footer Placeholder 5"/>
          <p:cNvSpPr>
            <a:spLocks noGrp="1"/>
          </p:cNvSpPr>
          <p:nvPr>
            <p:ph type="ftr" sz="quarter" idx="11"/>
          </p:nvPr>
        </p:nvSpPr>
        <p:spPr>
          <a:xfrm>
            <a:off x="804672" y="6227064"/>
            <a:ext cx="5942203" cy="320040"/>
          </a:xfrm>
        </p:spPr>
        <p:txBody>
          <a:bodyPr/>
          <a:lstStyle/>
          <a:p>
            <a:endParaRPr lang="en-US" dirty="0"/>
          </a:p>
        </p:txBody>
      </p:sp>
      <p:sp>
        <p:nvSpPr>
          <p:cNvPr id="7" name="Slide Number Placeholder 6"/>
          <p:cNvSpPr>
            <a:spLocks noGrp="1"/>
          </p:cNvSpPr>
          <p:nvPr>
            <p:ph type="sldNum" sz="quarter" idx="12"/>
          </p:nvPr>
        </p:nvSpPr>
        <p:spPr>
          <a:xfrm>
            <a:off x="5828377"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grpSp>
        <p:nvGrpSpPr>
          <p:cNvPr id="75" name="Group 74"/>
          <p:cNvGrpSpPr/>
          <p:nvPr/>
        </p:nvGrpSpPr>
        <p:grpSpPr>
          <a:xfrm>
            <a:off x="-417513" y="0"/>
            <a:ext cx="12584114" cy="6853238"/>
            <a:chOff x="-417513" y="0"/>
            <a:chExt cx="12584114" cy="6853238"/>
          </a:xfrm>
        </p:grpSpPr>
        <p:sp>
          <p:nvSpPr>
            <p:cNvPr id="76"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77"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78"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79"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0"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1"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2"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3"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4"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5"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6"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7"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8"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9"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0"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1"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92"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headEnd/>
              <a:tailEnd/>
            </a:ln>
            <a:extLst>
              <a:ext uri="{909E8E84-426E-40DD-AFC4-6F175D3DCCD1}">
                <a14:hiddenFill xmlns:a14="http://schemas.microsoft.com/office/drawing/2010/main">
                  <a:solidFill>
                    <a:srgbClr val="FFFFFF"/>
                  </a:solidFill>
                </a14:hiddenFill>
              </a:ext>
            </a:extLst>
          </p:spPr>
        </p:sp>
        <p:sp>
          <p:nvSpPr>
            <p:cNvPr id="93"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4"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5"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6"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grpSp>
      <p:grpSp>
        <p:nvGrpSpPr>
          <p:cNvPr id="22" name="Group 21"/>
          <p:cNvGrpSpPr/>
          <p:nvPr/>
        </p:nvGrpSpPr>
        <p:grpSpPr>
          <a:xfrm>
            <a:off x="800144" y="1699589"/>
            <a:ext cx="3674476" cy="3470421"/>
            <a:chOff x="697883" y="1816768"/>
            <a:chExt cx="3674476" cy="3470421"/>
          </a:xfrm>
        </p:grpSpPr>
        <p:sp>
          <p:nvSpPr>
            <p:cNvPr id="23" name="Rectangle 22"/>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4"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5" name="Rectangle 24"/>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8632" y="2349925"/>
            <a:ext cx="3501196" cy="2456441"/>
          </a:xfrm>
        </p:spPr>
        <p:txBody>
          <a:bodyPr/>
          <a:lstStyle>
            <a:lvl1pPr>
              <a:defRPr>
                <a:solidFill>
                  <a:srgbClr val="FFFE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109983" y="794719"/>
            <a:ext cx="6275035" cy="525709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6/25/2019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grpSp>
        <p:nvGrpSpPr>
          <p:cNvPr id="75" name="Group 74"/>
          <p:cNvGrpSpPr/>
          <p:nvPr/>
        </p:nvGrpSpPr>
        <p:grpSpPr>
          <a:xfrm flipH="1">
            <a:off x="0" y="0"/>
            <a:ext cx="12584114" cy="6853238"/>
            <a:chOff x="-417513" y="0"/>
            <a:chExt cx="12584114" cy="6853238"/>
          </a:xfrm>
        </p:grpSpPr>
        <p:sp>
          <p:nvSpPr>
            <p:cNvPr id="76"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77"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78"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79"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0"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1"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sp>
        <p:sp>
          <p:nvSpPr>
            <p:cNvPr id="82"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3"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4"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5"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6"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7"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8"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89"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0"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1"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sp>
        <p:sp>
          <p:nvSpPr>
            <p:cNvPr id="92"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headEnd/>
              <a:tailEnd/>
            </a:ln>
            <a:extLst>
              <a:ext uri="{909E8E84-426E-40DD-AFC4-6F175D3DCCD1}">
                <a14:hiddenFill xmlns:a14="http://schemas.microsoft.com/office/drawing/2010/main">
                  <a:solidFill>
                    <a:srgbClr val="FFFFFF"/>
                  </a:solidFill>
                </a14:hiddenFill>
              </a:ext>
            </a:extLst>
          </p:spPr>
        </p:sp>
        <p:sp>
          <p:nvSpPr>
            <p:cNvPr id="93"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4"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5"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sp>
          <p:nvSpPr>
            <p:cNvPr id="96"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sp>
      </p:grpSp>
      <p:grpSp>
        <p:nvGrpSpPr>
          <p:cNvPr id="22" name="Group 21"/>
          <p:cNvGrpSpPr/>
          <p:nvPr/>
        </p:nvGrpSpPr>
        <p:grpSpPr>
          <a:xfrm>
            <a:off x="7718948" y="1699589"/>
            <a:ext cx="3674476" cy="3470421"/>
            <a:chOff x="697883" y="1816768"/>
            <a:chExt cx="3674476" cy="3470421"/>
          </a:xfrm>
        </p:grpSpPr>
        <p:sp>
          <p:nvSpPr>
            <p:cNvPr id="23" name="Rectangle 22"/>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4"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5" name="Rectangle 24"/>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Vertical Title 1"/>
          <p:cNvSpPr>
            <a:spLocks noGrp="1"/>
          </p:cNvSpPr>
          <p:nvPr>
            <p:ph type="title" orient="vert"/>
          </p:nvPr>
        </p:nvSpPr>
        <p:spPr>
          <a:xfrm>
            <a:off x="7807437" y="2349925"/>
            <a:ext cx="3501195" cy="2456442"/>
          </a:xfrm>
        </p:spPr>
        <p:txBody>
          <a:bodyPr vert="eaVert"/>
          <a:lstStyle>
            <a:lvl1pPr algn="l">
              <a:lnSpc>
                <a:spcPct val="80000"/>
              </a:lnSpc>
              <a:defRPr>
                <a:solidFill>
                  <a:srgbClr val="FFFE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802747" y="798444"/>
            <a:ext cx="6268622" cy="525730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04672" y="320040"/>
            <a:ext cx="3657600" cy="320040"/>
          </a:xfrm>
        </p:spPr>
        <p:txBody>
          <a:bodyPr/>
          <a:lstStyle/>
          <a:p>
            <a:fld id="{48A87A34-81AB-432B-8DAE-1953F412C126}" type="datetimeFigureOut">
              <a:rPr lang="en-US" dirty="0"/>
              <a:t>6/25/2019</a:t>
            </a:fld>
            <a:endParaRPr lang="en-US" dirty="0"/>
          </a:p>
        </p:txBody>
      </p:sp>
      <p:sp>
        <p:nvSpPr>
          <p:cNvPr id="5" name="Footer Placeholder 4"/>
          <p:cNvSpPr>
            <a:spLocks noGrp="1"/>
          </p:cNvSpPr>
          <p:nvPr>
            <p:ph type="ftr" sz="quarter" idx="11"/>
          </p:nvPr>
        </p:nvSpPr>
        <p:spPr>
          <a:xfrm>
            <a:off x="804672" y="6227064"/>
            <a:ext cx="10588752" cy="320040"/>
          </a:xfrm>
        </p:spPr>
        <p:txBody>
          <a:bodyPr/>
          <a:lstStyle/>
          <a:p>
            <a:endParaRPr lang="en-US" dirty="0"/>
          </a:p>
        </p:txBody>
      </p:sp>
      <p:sp>
        <p:nvSpPr>
          <p:cNvPr id="6" name="Slide Number Placeholder 5"/>
          <p:cNvSpPr>
            <a:spLocks noGrp="1"/>
          </p:cNvSpPr>
          <p:nvPr>
            <p:ph type="sldNum" sz="quarter" idx="12"/>
          </p:nvPr>
        </p:nvSpPr>
        <p:spPr>
          <a:xfrm>
            <a:off x="10469880"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91161" y="2358391"/>
            <a:ext cx="3498667" cy="2456485"/>
          </a:xfrm>
          <a:prstGeom prst="rect">
            <a:avLst/>
          </a:prstGeom>
        </p:spPr>
        <p:txBody>
          <a:bodyPr vert="horz" lIns="228600" tIns="228600" rIns="228600" bIns="22860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5434982" y="794719"/>
            <a:ext cx="5950036" cy="525709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04672" y="320040"/>
            <a:ext cx="3657600" cy="320040"/>
          </a:xfrm>
          <a:prstGeom prst="rect">
            <a:avLst/>
          </a:prstGeom>
        </p:spPr>
        <p:txBody>
          <a:bodyPr vert="horz" lIns="91440" tIns="45720" rIns="91440" bIns="45720" rtlCol="0" anchor="ctr"/>
          <a:lstStyle>
            <a:lvl1pPr algn="l">
              <a:defRPr sz="1000">
                <a:solidFill>
                  <a:schemeClr val="tx1">
                    <a:tint val="75000"/>
                  </a:schemeClr>
                </a:solidFill>
              </a:defRPr>
            </a:lvl1pPr>
          </a:lstStyle>
          <a:p>
            <a:fld id="{48A87A34-81AB-432B-8DAE-1953F412C126}" type="datetimeFigureOut">
              <a:rPr lang="en-US" dirty="0"/>
              <a:pPr/>
              <a:t>6/25/2019</a:t>
            </a:fld>
            <a:endParaRPr lang="en-US" dirty="0"/>
          </a:p>
        </p:txBody>
      </p:sp>
      <p:sp>
        <p:nvSpPr>
          <p:cNvPr id="5" name="Footer Placeholder 4"/>
          <p:cNvSpPr>
            <a:spLocks noGrp="1"/>
          </p:cNvSpPr>
          <p:nvPr>
            <p:ph type="ftr" sz="quarter" idx="3"/>
          </p:nvPr>
        </p:nvSpPr>
        <p:spPr>
          <a:xfrm>
            <a:off x="804672" y="6227064"/>
            <a:ext cx="10588752" cy="320040"/>
          </a:xfrm>
          <a:prstGeom prst="rect">
            <a:avLst/>
          </a:prstGeom>
        </p:spPr>
        <p:txBody>
          <a:bodyPr vert="horz" lIns="91440" tIns="45720" rIns="91440" bIns="45720" rtlCol="0" anchor="ctr"/>
          <a:lstStyle>
            <a:lvl1pPr algn="r">
              <a:defRPr sz="10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469880" y="320040"/>
            <a:ext cx="914400" cy="320040"/>
          </a:xfrm>
          <a:prstGeom prst="rect">
            <a:avLst/>
          </a:prstGeom>
        </p:spPr>
        <p:txBody>
          <a:bodyPr vert="horz" lIns="91440" tIns="45720" rIns="91440" bIns="45720" rtlCol="0" anchor="ctr"/>
          <a:lstStyle>
            <a:lvl1pPr algn="r">
              <a:defRPr sz="1000">
                <a:solidFill>
                  <a:schemeClr val="tx1">
                    <a:tint val="75000"/>
                  </a:schemeClr>
                </a:solidFill>
              </a:defRPr>
            </a:lvl1pPr>
          </a:lstStyle>
          <a:p>
            <a:fld id="{6D22F896-40B5-4ADD-8801-0D06FADFA095}"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lnSpc>
          <a:spcPct val="85000"/>
        </a:lnSpc>
        <a:spcBef>
          <a:spcPct val="0"/>
        </a:spcBef>
        <a:buNone/>
        <a:defRPr sz="4000" b="0" i="0" kern="1200" cap="none" spc="-15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10000"/>
        <a:buFont typeface="Wingdings" panose="05000000000000000000" pitchFamily="2" charset="2"/>
        <a:buChar char="§"/>
        <a:defRPr sz="18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600" kern="120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4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skift.com/2017/09/20/travel-agents-are-increasingly-using-global-distribution-systems-to-book-hotels/"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hyperlink" Target="https://www.japantimes.co.jp/news/2013/06/22/national/participants-ease-stress-levels-at-crying-events/#.XQtvxVwzbIV"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F017D-9046-4CFD-BB59-E922EEEA1434}"/>
              </a:ext>
            </a:extLst>
          </p:cNvPr>
          <p:cNvSpPr>
            <a:spLocks noGrp="1"/>
          </p:cNvSpPr>
          <p:nvPr>
            <p:ph type="ctrTitle"/>
          </p:nvPr>
        </p:nvSpPr>
        <p:spPr/>
        <p:txBody>
          <a:bodyPr>
            <a:normAutofit fontScale="90000"/>
          </a:bodyPr>
          <a:lstStyle/>
          <a:p>
            <a:br>
              <a:rPr lang="en-US" dirty="0"/>
            </a:br>
            <a:r>
              <a:rPr lang="en-US" dirty="0"/>
              <a:t>Computer Based Reservation System </a:t>
            </a:r>
          </a:p>
        </p:txBody>
      </p:sp>
      <p:sp>
        <p:nvSpPr>
          <p:cNvPr id="3" name="Subtitle 2">
            <a:extLst>
              <a:ext uri="{FF2B5EF4-FFF2-40B4-BE49-F238E27FC236}">
                <a16:creationId xmlns:a16="http://schemas.microsoft.com/office/drawing/2014/main" id="{9FAA539C-2923-47B3-8BE5-9EAC56218C56}"/>
              </a:ext>
            </a:extLst>
          </p:cNvPr>
          <p:cNvSpPr>
            <a:spLocks noGrp="1"/>
          </p:cNvSpPr>
          <p:nvPr>
            <p:ph type="subTitle" idx="1"/>
          </p:nvPr>
        </p:nvSpPr>
        <p:spPr/>
        <p:txBody>
          <a:bodyPr/>
          <a:lstStyle/>
          <a:p>
            <a:r>
              <a:rPr lang="en-US" dirty="0" err="1"/>
              <a:t>Mwayi</a:t>
            </a:r>
            <a:r>
              <a:rPr lang="en-US" dirty="0"/>
              <a:t> </a:t>
            </a:r>
            <a:r>
              <a:rPr lang="en-US" dirty="0" err="1"/>
              <a:t>Mchuchu</a:t>
            </a:r>
            <a:endParaRPr lang="en-US" dirty="0"/>
          </a:p>
        </p:txBody>
      </p:sp>
    </p:spTree>
    <p:extLst>
      <p:ext uri="{BB962C8B-B14F-4D97-AF65-F5344CB8AC3E}">
        <p14:creationId xmlns:p14="http://schemas.microsoft.com/office/powerpoint/2010/main" val="41328872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8AEE5-1252-4F7D-BC9F-264F31E0C957}"/>
              </a:ext>
            </a:extLst>
          </p:cNvPr>
          <p:cNvSpPr>
            <a:spLocks noGrp="1"/>
          </p:cNvSpPr>
          <p:nvPr>
            <p:ph type="title"/>
          </p:nvPr>
        </p:nvSpPr>
        <p:spPr>
          <a:xfrm>
            <a:off x="791680" y="2199276"/>
            <a:ext cx="3498979" cy="2456442"/>
          </a:xfrm>
        </p:spPr>
        <p:txBody>
          <a:bodyPr/>
          <a:lstStyle/>
          <a:p>
            <a:r>
              <a:rPr lang="en-US" dirty="0"/>
              <a:t>Introduction to reservation systems</a:t>
            </a:r>
          </a:p>
        </p:txBody>
      </p:sp>
      <p:sp>
        <p:nvSpPr>
          <p:cNvPr id="3" name="Content Placeholder 2">
            <a:extLst>
              <a:ext uri="{FF2B5EF4-FFF2-40B4-BE49-F238E27FC236}">
                <a16:creationId xmlns:a16="http://schemas.microsoft.com/office/drawing/2014/main" id="{E1966D6E-80EC-4B02-8D0F-D9A89C47A127}"/>
              </a:ext>
            </a:extLst>
          </p:cNvPr>
          <p:cNvSpPr>
            <a:spLocks noGrp="1"/>
          </p:cNvSpPr>
          <p:nvPr>
            <p:ph idx="1"/>
          </p:nvPr>
        </p:nvSpPr>
        <p:spPr>
          <a:xfrm>
            <a:off x="4439476" y="0"/>
            <a:ext cx="7752523" cy="6858000"/>
          </a:xfrm>
        </p:spPr>
        <p:txBody>
          <a:bodyPr>
            <a:normAutofit/>
          </a:bodyPr>
          <a:lstStyle/>
          <a:p>
            <a:r>
              <a:rPr lang="en-US" dirty="0"/>
              <a:t>In 1946, American Airlines installed the first automated booking system, the experimental electromechanical Reservoir. A newer machine with temporary storage. This system proved successful, and was soon being used by several airlines, as well as Sheraton Hotels and Goodyear for inventory control.</a:t>
            </a:r>
          </a:p>
          <a:p>
            <a:r>
              <a:rPr lang="en-US" dirty="0"/>
              <a:t>A </a:t>
            </a:r>
            <a:r>
              <a:rPr lang="en-US" b="1" dirty="0"/>
              <a:t>computer reservation system</a:t>
            </a:r>
            <a:r>
              <a:rPr lang="en-US" dirty="0"/>
              <a:t> or </a:t>
            </a:r>
            <a:r>
              <a:rPr lang="en-US" b="1" dirty="0"/>
              <a:t>central reservation system</a:t>
            </a:r>
            <a:r>
              <a:rPr lang="en-US" dirty="0"/>
              <a:t> (</a:t>
            </a:r>
            <a:r>
              <a:rPr lang="en-US" b="1" dirty="0"/>
              <a:t>CRS</a:t>
            </a:r>
            <a:r>
              <a:rPr lang="en-US" dirty="0"/>
              <a:t>) is a computerized system used to store and retrieve information and conduct transactions related to air travel, hotels, car rental, or other activities. </a:t>
            </a:r>
          </a:p>
          <a:p>
            <a:r>
              <a:rPr lang="en-US" dirty="0"/>
              <a:t>Originally designed and operated by airlines, CRSs were later extended for the use of travel agencies. </a:t>
            </a:r>
          </a:p>
          <a:p>
            <a:r>
              <a:rPr lang="en-US" dirty="0"/>
              <a:t>In the tourism industry Computer Reservation System (CRS) can be defined as, an information system that promotes sales and provides fast and accurate information about availability, price and bookings of tourism products and services </a:t>
            </a:r>
          </a:p>
          <a:p>
            <a:r>
              <a:rPr lang="en-US" dirty="0"/>
              <a:t>Today, CRSs are of high importance for travel and tourism industry with the main focus on direct reservations (e.g. directly in the hotel)</a:t>
            </a:r>
          </a:p>
        </p:txBody>
      </p:sp>
    </p:spTree>
    <p:extLst>
      <p:ext uri="{BB962C8B-B14F-4D97-AF65-F5344CB8AC3E}">
        <p14:creationId xmlns:p14="http://schemas.microsoft.com/office/powerpoint/2010/main" val="6143392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09E2661-B7D1-4D53-871C-888C18C2A4AA}"/>
              </a:ext>
            </a:extLst>
          </p:cNvPr>
          <p:cNvPicPr>
            <a:picLocks noChangeAspect="1"/>
          </p:cNvPicPr>
          <p:nvPr/>
        </p:nvPicPr>
        <p:blipFill>
          <a:blip r:embed="rId2"/>
          <a:stretch>
            <a:fillRect/>
          </a:stretch>
        </p:blipFill>
        <p:spPr>
          <a:xfrm>
            <a:off x="157794" y="379495"/>
            <a:ext cx="5182832" cy="6613109"/>
          </a:xfrm>
          <a:prstGeom prst="rect">
            <a:avLst/>
          </a:prstGeom>
        </p:spPr>
      </p:pic>
      <p:sp>
        <p:nvSpPr>
          <p:cNvPr id="2" name="Title 1">
            <a:extLst>
              <a:ext uri="{FF2B5EF4-FFF2-40B4-BE49-F238E27FC236}">
                <a16:creationId xmlns:a16="http://schemas.microsoft.com/office/drawing/2014/main" id="{186E67A7-95EE-46F2-A531-5E9A38F29406}"/>
              </a:ext>
            </a:extLst>
          </p:cNvPr>
          <p:cNvSpPr>
            <a:spLocks noGrp="1"/>
          </p:cNvSpPr>
          <p:nvPr>
            <p:ph type="title"/>
          </p:nvPr>
        </p:nvSpPr>
        <p:spPr/>
        <p:txBody>
          <a:bodyPr/>
          <a:lstStyle/>
          <a:p>
            <a:r>
              <a:rPr lang="en-US" dirty="0"/>
              <a:t>CRS History </a:t>
            </a:r>
            <a:r>
              <a:rPr lang="en-US" dirty="0" err="1"/>
              <a:t>COntinued</a:t>
            </a:r>
            <a:endParaRPr lang="en-US" dirty="0"/>
          </a:p>
        </p:txBody>
      </p:sp>
      <p:sp>
        <p:nvSpPr>
          <p:cNvPr id="3" name="Content Placeholder 2">
            <a:extLst>
              <a:ext uri="{FF2B5EF4-FFF2-40B4-BE49-F238E27FC236}">
                <a16:creationId xmlns:a16="http://schemas.microsoft.com/office/drawing/2014/main" id="{9EF201C4-BA8B-49B1-92E1-616DAA332A7F}"/>
              </a:ext>
            </a:extLst>
          </p:cNvPr>
          <p:cNvSpPr>
            <a:spLocks noGrp="1"/>
          </p:cNvSpPr>
          <p:nvPr>
            <p:ph idx="1"/>
          </p:nvPr>
        </p:nvSpPr>
        <p:spPr/>
        <p:txBody>
          <a:bodyPr/>
          <a:lstStyle/>
          <a:p>
            <a:r>
              <a:rPr lang="en-US" dirty="0"/>
              <a:t>In 1962 American Airlines introduced SABRE (Semi-Automated Business Research Environment) the first commercial CRS, developed by IBM, that was used for: </a:t>
            </a:r>
          </a:p>
          <a:p>
            <a:pPr lvl="1"/>
            <a:r>
              <a:rPr lang="en-US" dirty="0"/>
              <a:t>generating flight plans for the aircraft</a:t>
            </a:r>
          </a:p>
          <a:p>
            <a:pPr lvl="1"/>
            <a:r>
              <a:rPr lang="en-US" dirty="0"/>
              <a:t> tracking spare parts </a:t>
            </a:r>
          </a:p>
          <a:p>
            <a:pPr lvl="1"/>
            <a:r>
              <a:rPr lang="en-US" dirty="0"/>
              <a:t>scheduling crews</a:t>
            </a:r>
          </a:p>
          <a:p>
            <a:r>
              <a:rPr lang="en-US" dirty="0"/>
              <a:t>CRS is the first information system that was used in tourism industry </a:t>
            </a:r>
          </a:p>
          <a:p>
            <a:pPr marL="0" indent="0">
              <a:buNone/>
            </a:pPr>
            <a:endParaRPr lang="en-US" dirty="0"/>
          </a:p>
        </p:txBody>
      </p:sp>
    </p:spTree>
    <p:extLst>
      <p:ext uri="{BB962C8B-B14F-4D97-AF65-F5344CB8AC3E}">
        <p14:creationId xmlns:p14="http://schemas.microsoft.com/office/powerpoint/2010/main" val="13194119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190AC2-E8F2-4423-8DF6-DF9DF2BB92AB}"/>
              </a:ext>
            </a:extLst>
          </p:cNvPr>
          <p:cNvSpPr>
            <a:spLocks noGrp="1"/>
          </p:cNvSpPr>
          <p:nvPr>
            <p:ph type="title"/>
          </p:nvPr>
        </p:nvSpPr>
        <p:spPr/>
        <p:txBody>
          <a:bodyPr/>
          <a:lstStyle/>
          <a:p>
            <a:r>
              <a:rPr lang="en-US" dirty="0"/>
              <a:t>CRS Functions (in the Airline)</a:t>
            </a:r>
          </a:p>
        </p:txBody>
      </p:sp>
      <p:sp>
        <p:nvSpPr>
          <p:cNvPr id="3" name="Content Placeholder 2">
            <a:extLst>
              <a:ext uri="{FF2B5EF4-FFF2-40B4-BE49-F238E27FC236}">
                <a16:creationId xmlns:a16="http://schemas.microsoft.com/office/drawing/2014/main" id="{FF8F7A1C-49E4-4979-AF4C-18486B5487AB}"/>
              </a:ext>
            </a:extLst>
          </p:cNvPr>
          <p:cNvSpPr>
            <a:spLocks noGrp="1"/>
          </p:cNvSpPr>
          <p:nvPr>
            <p:ph idx="1"/>
          </p:nvPr>
        </p:nvSpPr>
        <p:spPr>
          <a:xfrm>
            <a:off x="4572001" y="0"/>
            <a:ext cx="7620000" cy="6858000"/>
          </a:xfrm>
        </p:spPr>
        <p:txBody>
          <a:bodyPr>
            <a:normAutofit/>
          </a:bodyPr>
          <a:lstStyle/>
          <a:p>
            <a:r>
              <a:rPr lang="en-US" dirty="0"/>
              <a:t>Flight schedule information </a:t>
            </a:r>
          </a:p>
          <a:p>
            <a:r>
              <a:rPr lang="en-US" dirty="0"/>
              <a:t>Days and times for flights operated by the airline  Availability information </a:t>
            </a:r>
          </a:p>
          <a:p>
            <a:r>
              <a:rPr lang="en-US" dirty="0"/>
              <a:t>Seat availability on a flight by service class (i.e. Economy, business, first class) </a:t>
            </a:r>
          </a:p>
          <a:p>
            <a:r>
              <a:rPr lang="en-US" dirty="0"/>
              <a:t> Fare quotes </a:t>
            </a:r>
          </a:p>
          <a:p>
            <a:r>
              <a:rPr lang="en-US" dirty="0"/>
              <a:t>A consolidated fare for an itinerary (schedule) based on flight, day, time, service class and passenger types chosen</a:t>
            </a:r>
          </a:p>
          <a:p>
            <a:r>
              <a:rPr lang="en-US" dirty="0"/>
              <a:t> Reservation information </a:t>
            </a:r>
          </a:p>
          <a:p>
            <a:pPr lvl="1"/>
            <a:r>
              <a:rPr lang="en-US" dirty="0"/>
              <a:t> Seat bookings </a:t>
            </a:r>
          </a:p>
          <a:p>
            <a:pPr lvl="1"/>
            <a:r>
              <a:rPr lang="en-US" dirty="0"/>
              <a:t> Ticketing information </a:t>
            </a:r>
          </a:p>
          <a:p>
            <a:pPr lvl="1"/>
            <a:r>
              <a:rPr lang="en-US" dirty="0"/>
              <a:t>Generating and storing tickets </a:t>
            </a:r>
          </a:p>
          <a:p>
            <a:pPr lvl="1"/>
            <a:r>
              <a:rPr lang="en-US" dirty="0"/>
              <a:t> Refunds and cancellations </a:t>
            </a:r>
          </a:p>
          <a:p>
            <a:pPr lvl="1"/>
            <a:r>
              <a:rPr lang="en-US" dirty="0"/>
              <a:t>Cancellation of existing reservations and tickets</a:t>
            </a:r>
          </a:p>
        </p:txBody>
      </p:sp>
    </p:spTree>
    <p:extLst>
      <p:ext uri="{BB962C8B-B14F-4D97-AF65-F5344CB8AC3E}">
        <p14:creationId xmlns:p14="http://schemas.microsoft.com/office/powerpoint/2010/main" val="18242948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57472-608F-4B40-9B59-C37B774FAD24}"/>
              </a:ext>
            </a:extLst>
          </p:cNvPr>
          <p:cNvSpPr>
            <a:spLocks noGrp="1"/>
          </p:cNvSpPr>
          <p:nvPr>
            <p:ph type="title"/>
          </p:nvPr>
        </p:nvSpPr>
        <p:spPr/>
        <p:txBody>
          <a:bodyPr/>
          <a:lstStyle/>
          <a:p>
            <a:r>
              <a:rPr lang="en-US" dirty="0"/>
              <a:t>Global Distribution System</a:t>
            </a:r>
          </a:p>
        </p:txBody>
      </p:sp>
      <p:sp>
        <p:nvSpPr>
          <p:cNvPr id="3" name="Content Placeholder 2">
            <a:extLst>
              <a:ext uri="{FF2B5EF4-FFF2-40B4-BE49-F238E27FC236}">
                <a16:creationId xmlns:a16="http://schemas.microsoft.com/office/drawing/2014/main" id="{0684F35C-FBA1-4A67-943D-BB27463A77FA}"/>
              </a:ext>
            </a:extLst>
          </p:cNvPr>
          <p:cNvSpPr>
            <a:spLocks noGrp="1"/>
          </p:cNvSpPr>
          <p:nvPr>
            <p:ph idx="1"/>
          </p:nvPr>
        </p:nvSpPr>
        <p:spPr>
          <a:xfrm>
            <a:off x="4505740" y="198783"/>
            <a:ext cx="7527234" cy="6414051"/>
          </a:xfrm>
        </p:spPr>
        <p:txBody>
          <a:bodyPr>
            <a:normAutofit/>
          </a:bodyPr>
          <a:lstStyle/>
          <a:p>
            <a:r>
              <a:rPr lang="en-US" dirty="0"/>
              <a:t>Developments of the CRS led to the Travel Agent Specialized Systems, then later to Global Distribution System.</a:t>
            </a:r>
          </a:p>
          <a:p>
            <a:r>
              <a:rPr lang="en-US" dirty="0"/>
              <a:t>GDS is an integrated information system and communication channel that: </a:t>
            </a:r>
          </a:p>
          <a:p>
            <a:pPr lvl="1"/>
            <a:r>
              <a:rPr lang="en-US" dirty="0"/>
              <a:t>incorporates all travel services </a:t>
            </a:r>
          </a:p>
          <a:p>
            <a:pPr lvl="1"/>
            <a:r>
              <a:rPr lang="en-US" dirty="0"/>
              <a:t>connects service providers with end users </a:t>
            </a:r>
          </a:p>
          <a:p>
            <a:pPr lvl="1"/>
            <a:r>
              <a:rPr lang="en-US" dirty="0"/>
              <a:t>providing information from all segments of the journey </a:t>
            </a:r>
          </a:p>
          <a:p>
            <a:pPr lvl="1"/>
            <a:r>
              <a:rPr lang="en-US" dirty="0"/>
              <a:t> allows booking and selling of the required services</a:t>
            </a:r>
          </a:p>
          <a:p>
            <a:r>
              <a:rPr lang="en-US" dirty="0"/>
              <a:t>Today GDS is: </a:t>
            </a:r>
          </a:p>
          <a:p>
            <a:pPr lvl="1"/>
            <a:r>
              <a:rPr lang="en-US" dirty="0"/>
              <a:t>the most cost effective tool for buyers of business travel to manage the complexity of supply </a:t>
            </a:r>
          </a:p>
          <a:p>
            <a:pPr lvl="1"/>
            <a:r>
              <a:rPr lang="en-US" dirty="0"/>
              <a:t>more than just a reservation tool - integrates the core business processes of tourism businesses and therefore increase their productivity, speed, and performance</a:t>
            </a:r>
          </a:p>
        </p:txBody>
      </p:sp>
    </p:spTree>
    <p:extLst>
      <p:ext uri="{BB962C8B-B14F-4D97-AF65-F5344CB8AC3E}">
        <p14:creationId xmlns:p14="http://schemas.microsoft.com/office/powerpoint/2010/main" val="15390675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64C594-9BC1-4B4D-9A30-0AFA20C53CBE}"/>
              </a:ext>
            </a:extLst>
          </p:cNvPr>
          <p:cNvSpPr>
            <a:spLocks noGrp="1"/>
          </p:cNvSpPr>
          <p:nvPr>
            <p:ph type="title"/>
          </p:nvPr>
        </p:nvSpPr>
        <p:spPr/>
        <p:txBody>
          <a:bodyPr/>
          <a:lstStyle/>
          <a:p>
            <a:r>
              <a:rPr lang="en-US" dirty="0"/>
              <a:t>GDS continued</a:t>
            </a:r>
          </a:p>
        </p:txBody>
      </p:sp>
      <p:sp>
        <p:nvSpPr>
          <p:cNvPr id="3" name="Content Placeholder 2">
            <a:extLst>
              <a:ext uri="{FF2B5EF4-FFF2-40B4-BE49-F238E27FC236}">
                <a16:creationId xmlns:a16="http://schemas.microsoft.com/office/drawing/2014/main" id="{4A361D98-B40C-4692-AC24-80C21E7F02D6}"/>
              </a:ext>
            </a:extLst>
          </p:cNvPr>
          <p:cNvSpPr>
            <a:spLocks noGrp="1"/>
          </p:cNvSpPr>
          <p:nvPr>
            <p:ph idx="1"/>
          </p:nvPr>
        </p:nvSpPr>
        <p:spPr/>
        <p:txBody>
          <a:bodyPr>
            <a:normAutofit lnSpcReduction="10000"/>
          </a:bodyPr>
          <a:lstStyle/>
          <a:p>
            <a:r>
              <a:rPr lang="en-US" dirty="0"/>
              <a:t>Global distribution systems (GDS) book and sell tickets for multiple airlines, or can act as agent booking for multiple Hotels. Usually their web based systems will have list of service providers and price list on similar service. Site also enable consumer access through Internet gateways. </a:t>
            </a:r>
          </a:p>
          <a:p>
            <a:r>
              <a:rPr lang="en-US" dirty="0"/>
              <a:t>Modern GDS's typically allow users to book hotel rooms, rental cars, airline tickets as well as other activities and tours. They also provide access to railway reservations and bus reservations in some markets.</a:t>
            </a:r>
          </a:p>
          <a:p>
            <a:r>
              <a:rPr lang="en-US" dirty="0"/>
              <a:t> These are also used to relay computerized information for users in the hotel industry, making reservation and ensuring that the hotel is not overbooked. (system will send booking info into PMS to ensure there is on prompt system update to avoid overbooking)</a:t>
            </a:r>
          </a:p>
          <a:p>
            <a:endParaRPr lang="en-US" dirty="0"/>
          </a:p>
        </p:txBody>
      </p:sp>
    </p:spTree>
    <p:extLst>
      <p:ext uri="{BB962C8B-B14F-4D97-AF65-F5344CB8AC3E}">
        <p14:creationId xmlns:p14="http://schemas.microsoft.com/office/powerpoint/2010/main" val="5015221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5D50C-1E0F-4C26-A7F8-E80F46AC7E60}"/>
              </a:ext>
            </a:extLst>
          </p:cNvPr>
          <p:cNvSpPr>
            <a:spLocks noGrp="1"/>
          </p:cNvSpPr>
          <p:nvPr>
            <p:ph type="title"/>
          </p:nvPr>
        </p:nvSpPr>
        <p:spPr/>
        <p:txBody>
          <a:bodyPr/>
          <a:lstStyle/>
          <a:p>
            <a:r>
              <a:rPr lang="en-US" dirty="0"/>
              <a:t>Major GDS in use today.</a:t>
            </a:r>
          </a:p>
        </p:txBody>
      </p:sp>
      <p:sp>
        <p:nvSpPr>
          <p:cNvPr id="3" name="Content Placeholder 2">
            <a:extLst>
              <a:ext uri="{FF2B5EF4-FFF2-40B4-BE49-F238E27FC236}">
                <a16:creationId xmlns:a16="http://schemas.microsoft.com/office/drawing/2014/main" id="{2634F1D0-62FC-42D1-A716-211369249788}"/>
              </a:ext>
            </a:extLst>
          </p:cNvPr>
          <p:cNvSpPr>
            <a:spLocks noGrp="1"/>
          </p:cNvSpPr>
          <p:nvPr>
            <p:ph idx="1"/>
          </p:nvPr>
        </p:nvSpPr>
        <p:spPr>
          <a:xfrm>
            <a:off x="4532243" y="145774"/>
            <a:ext cx="7659757" cy="3127513"/>
          </a:xfrm>
        </p:spPr>
        <p:txBody>
          <a:bodyPr/>
          <a:lstStyle/>
          <a:p>
            <a:r>
              <a:rPr lang="en-US" dirty="0"/>
              <a:t>Sabre </a:t>
            </a:r>
          </a:p>
          <a:p>
            <a:r>
              <a:rPr lang="en-US" dirty="0"/>
              <a:t> Amadeus </a:t>
            </a:r>
          </a:p>
          <a:p>
            <a:r>
              <a:rPr lang="en-US" dirty="0"/>
              <a:t>Travelport (the umbrella company for the Galileo, Apollo, and </a:t>
            </a:r>
            <a:r>
              <a:rPr lang="en-US" dirty="0" err="1"/>
              <a:t>Worldspan</a:t>
            </a:r>
            <a:r>
              <a:rPr lang="en-US" dirty="0"/>
              <a:t>)</a:t>
            </a:r>
          </a:p>
          <a:p>
            <a:endParaRPr lang="en-US" dirty="0"/>
          </a:p>
        </p:txBody>
      </p:sp>
      <p:pic>
        <p:nvPicPr>
          <p:cNvPr id="5" name="Picture 4">
            <a:extLst>
              <a:ext uri="{FF2B5EF4-FFF2-40B4-BE49-F238E27FC236}">
                <a16:creationId xmlns:a16="http://schemas.microsoft.com/office/drawing/2014/main" id="{046B1EEB-A4BE-43C7-8D5F-68E1B3E72689}"/>
              </a:ext>
            </a:extLst>
          </p:cNvPr>
          <p:cNvPicPr>
            <a:picLocks noChangeAspect="1"/>
          </p:cNvPicPr>
          <p:nvPr/>
        </p:nvPicPr>
        <p:blipFill rotWithShape="1">
          <a:blip r:embed="rId2"/>
          <a:srcRect l="28478" t="54107" r="19348" b="7806"/>
          <a:stretch/>
        </p:blipFill>
        <p:spPr>
          <a:xfrm>
            <a:off x="4532243" y="2349925"/>
            <a:ext cx="7620336" cy="4362301"/>
          </a:xfrm>
          <a:prstGeom prst="rect">
            <a:avLst/>
          </a:prstGeom>
        </p:spPr>
      </p:pic>
    </p:spTree>
    <p:extLst>
      <p:ext uri="{BB962C8B-B14F-4D97-AF65-F5344CB8AC3E}">
        <p14:creationId xmlns:p14="http://schemas.microsoft.com/office/powerpoint/2010/main" val="13605955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9009B-A017-4A0B-B753-5789694758BD}"/>
              </a:ext>
            </a:extLst>
          </p:cNvPr>
          <p:cNvSpPr>
            <a:spLocks noGrp="1"/>
          </p:cNvSpPr>
          <p:nvPr>
            <p:ph type="title"/>
          </p:nvPr>
        </p:nvSpPr>
        <p:spPr/>
        <p:txBody>
          <a:bodyPr/>
          <a:lstStyle/>
          <a:p>
            <a:r>
              <a:rPr lang="en-US" dirty="0"/>
              <a:t>GDS </a:t>
            </a:r>
            <a:r>
              <a:rPr lang="en-US" dirty="0" err="1"/>
              <a:t>Organisations</a:t>
            </a:r>
            <a:endParaRPr lang="en-US" dirty="0"/>
          </a:p>
        </p:txBody>
      </p:sp>
      <p:sp>
        <p:nvSpPr>
          <p:cNvPr id="3" name="Content Placeholder 2">
            <a:extLst>
              <a:ext uri="{FF2B5EF4-FFF2-40B4-BE49-F238E27FC236}">
                <a16:creationId xmlns:a16="http://schemas.microsoft.com/office/drawing/2014/main" id="{1AF38DE7-968A-4FF6-8BF9-5B972A58E7EE}"/>
              </a:ext>
            </a:extLst>
          </p:cNvPr>
          <p:cNvSpPr>
            <a:spLocks noGrp="1"/>
          </p:cNvSpPr>
          <p:nvPr>
            <p:ph idx="1"/>
          </p:nvPr>
        </p:nvSpPr>
        <p:spPr>
          <a:xfrm>
            <a:off x="4518991" y="0"/>
            <a:ext cx="7673009" cy="6858000"/>
          </a:xfrm>
        </p:spPr>
        <p:txBody>
          <a:bodyPr/>
          <a:lstStyle/>
          <a:p>
            <a:r>
              <a:rPr lang="en-US" dirty="0"/>
              <a:t>In order to promote fair competition and to ensure that consumers do not receive inaccurate or misleading information on travel services, it is necessary to have regulations on GDS </a:t>
            </a:r>
          </a:p>
          <a:p>
            <a:r>
              <a:rPr lang="en-US" dirty="0" err="1"/>
              <a:t>Organisations</a:t>
            </a:r>
            <a:r>
              <a:rPr lang="en-US" dirty="0"/>
              <a:t> work together with governments, and other relevant authorities to help define the correct regulatory framework for the travel and transport industry </a:t>
            </a:r>
          </a:p>
          <a:p>
            <a:r>
              <a:rPr lang="en-US" dirty="0"/>
              <a:t> There are several </a:t>
            </a:r>
            <a:r>
              <a:rPr lang="en-US" dirty="0" err="1"/>
              <a:t>organisations</a:t>
            </a:r>
            <a:r>
              <a:rPr lang="en-US" dirty="0"/>
              <a:t>, such as: </a:t>
            </a:r>
          </a:p>
          <a:p>
            <a:pPr lvl="1"/>
            <a:r>
              <a:rPr lang="en-US" dirty="0"/>
              <a:t> IATA - International Air Transport Association </a:t>
            </a:r>
          </a:p>
          <a:p>
            <a:pPr lvl="1"/>
            <a:r>
              <a:rPr lang="en-US" dirty="0"/>
              <a:t>ICAO - International Civil Aviation Organization </a:t>
            </a:r>
          </a:p>
          <a:p>
            <a:pPr lvl="1"/>
            <a:r>
              <a:rPr lang="en-US" dirty="0"/>
              <a:t>ETTSA - European Technology and Travel Services Association </a:t>
            </a:r>
          </a:p>
          <a:p>
            <a:pPr lvl="1"/>
            <a:r>
              <a:rPr lang="en-US" dirty="0"/>
              <a:t>ATPCO - Airline Tariff Publishing Company </a:t>
            </a:r>
          </a:p>
          <a:p>
            <a:pPr lvl="1"/>
            <a:r>
              <a:rPr lang="en-US" dirty="0"/>
              <a:t>IATAN - International Airlines Travel Agent Network </a:t>
            </a:r>
          </a:p>
          <a:p>
            <a:pPr lvl="1"/>
            <a:r>
              <a:rPr lang="en-US" dirty="0"/>
              <a:t>SITA - Société </a:t>
            </a:r>
            <a:r>
              <a:rPr lang="en-US" dirty="0" err="1"/>
              <a:t>Internationale</a:t>
            </a:r>
            <a:r>
              <a:rPr lang="en-US" dirty="0"/>
              <a:t> and many others</a:t>
            </a:r>
          </a:p>
        </p:txBody>
      </p:sp>
    </p:spTree>
    <p:extLst>
      <p:ext uri="{BB962C8B-B14F-4D97-AF65-F5344CB8AC3E}">
        <p14:creationId xmlns:p14="http://schemas.microsoft.com/office/powerpoint/2010/main" val="35395734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323C9-F3FD-4477-98E6-2AF2C41C887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94CDB01-22AB-4ED4-9FC9-A3E3560C0EAD}"/>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F1B1C3FE-A18A-4B8D-835B-0288A45889A6}"/>
              </a:ext>
            </a:extLst>
          </p:cNvPr>
          <p:cNvPicPr>
            <a:picLocks noChangeAspect="1"/>
          </p:cNvPicPr>
          <p:nvPr/>
        </p:nvPicPr>
        <p:blipFill rotWithShape="1">
          <a:blip r:embed="rId2"/>
          <a:srcRect l="15109" t="15829" r="17392" b="5872"/>
          <a:stretch/>
        </p:blipFill>
        <p:spPr>
          <a:xfrm>
            <a:off x="29782" y="0"/>
            <a:ext cx="12162218" cy="6858000"/>
          </a:xfrm>
          <a:prstGeom prst="rect">
            <a:avLst/>
          </a:prstGeom>
        </p:spPr>
      </p:pic>
    </p:spTree>
    <p:extLst>
      <p:ext uri="{BB962C8B-B14F-4D97-AF65-F5344CB8AC3E}">
        <p14:creationId xmlns:p14="http://schemas.microsoft.com/office/powerpoint/2010/main" val="21878898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8FE3F-D59A-4204-B550-2A97CD937298}"/>
              </a:ext>
            </a:extLst>
          </p:cNvPr>
          <p:cNvSpPr>
            <a:spLocks noGrp="1"/>
          </p:cNvSpPr>
          <p:nvPr>
            <p:ph type="title"/>
          </p:nvPr>
        </p:nvSpPr>
        <p:spPr/>
        <p:txBody>
          <a:bodyPr/>
          <a:lstStyle/>
          <a:p>
            <a:r>
              <a:rPr lang="en-US" dirty="0"/>
              <a:t>GDS Advantages</a:t>
            </a:r>
          </a:p>
        </p:txBody>
      </p:sp>
      <p:sp>
        <p:nvSpPr>
          <p:cNvPr id="3" name="Content Placeholder 2">
            <a:extLst>
              <a:ext uri="{FF2B5EF4-FFF2-40B4-BE49-F238E27FC236}">
                <a16:creationId xmlns:a16="http://schemas.microsoft.com/office/drawing/2014/main" id="{FFAC1BCE-8BCD-48C8-BE40-33ED7C99A49B}"/>
              </a:ext>
            </a:extLst>
          </p:cNvPr>
          <p:cNvSpPr>
            <a:spLocks noGrp="1"/>
          </p:cNvSpPr>
          <p:nvPr>
            <p:ph idx="1"/>
          </p:nvPr>
        </p:nvSpPr>
        <p:spPr>
          <a:xfrm>
            <a:off x="4387610" y="728870"/>
            <a:ext cx="7685119" cy="5499652"/>
          </a:xfrm>
        </p:spPr>
        <p:txBody>
          <a:bodyPr/>
          <a:lstStyle/>
          <a:p>
            <a:r>
              <a:rPr lang="en-US" b="1" dirty="0"/>
              <a:t>It’s a unique (and direct) marketing tool. </a:t>
            </a:r>
            <a:r>
              <a:rPr lang="en-US" dirty="0"/>
              <a:t>A global distribution system can be used to market your latest sales message, special offers, and discounts directly to travel agents. In 2017, </a:t>
            </a:r>
            <a:r>
              <a:rPr lang="en-US" dirty="0">
                <a:hlinkClick r:id="rId2"/>
              </a:rPr>
              <a:t>69% of travel agents reported being aware of promotion text from a GDS</a:t>
            </a:r>
            <a:r>
              <a:rPr lang="en-US" dirty="0"/>
              <a:t>.</a:t>
            </a:r>
          </a:p>
          <a:p>
            <a:r>
              <a:rPr lang="en-US" b="1" dirty="0"/>
              <a:t>It improves search positioning. </a:t>
            </a:r>
            <a:r>
              <a:rPr lang="en-US" dirty="0"/>
              <a:t>Gaining access to a GDS means that travel agents and consumers are more easily able to find your hotel during search. </a:t>
            </a:r>
          </a:p>
          <a:p>
            <a:r>
              <a:rPr lang="en-US" b="1" dirty="0"/>
              <a:t>It has perfect timing.</a:t>
            </a:r>
            <a:r>
              <a:rPr lang="en-US" dirty="0"/>
              <a:t> The GDS displays your brand messaging and advertising during the search and booking process, which means travel agents are paying attention at exactly the right time. Messages can also be targeted at precise dates and times, by specific destinations.</a:t>
            </a:r>
          </a:p>
        </p:txBody>
      </p:sp>
    </p:spTree>
    <p:extLst>
      <p:ext uri="{BB962C8B-B14F-4D97-AF65-F5344CB8AC3E}">
        <p14:creationId xmlns:p14="http://schemas.microsoft.com/office/powerpoint/2010/main" val="15589347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22718-1D08-4179-8FE6-9CC8E448EB74}"/>
              </a:ext>
            </a:extLst>
          </p:cNvPr>
          <p:cNvSpPr>
            <a:spLocks noGrp="1"/>
          </p:cNvSpPr>
          <p:nvPr>
            <p:ph type="title"/>
          </p:nvPr>
        </p:nvSpPr>
        <p:spPr/>
        <p:txBody>
          <a:bodyPr/>
          <a:lstStyle/>
          <a:p>
            <a:r>
              <a:rPr lang="en-US" dirty="0"/>
              <a:t>GDS Disadvantages</a:t>
            </a:r>
          </a:p>
        </p:txBody>
      </p:sp>
      <p:sp>
        <p:nvSpPr>
          <p:cNvPr id="3" name="Content Placeholder 2">
            <a:extLst>
              <a:ext uri="{FF2B5EF4-FFF2-40B4-BE49-F238E27FC236}">
                <a16:creationId xmlns:a16="http://schemas.microsoft.com/office/drawing/2014/main" id="{5E062F64-55CD-484E-B4FE-8F27925E3F31}"/>
              </a:ext>
            </a:extLst>
          </p:cNvPr>
          <p:cNvSpPr>
            <a:spLocks noGrp="1"/>
          </p:cNvSpPr>
          <p:nvPr>
            <p:ph idx="1"/>
          </p:nvPr>
        </p:nvSpPr>
        <p:spPr>
          <a:xfrm>
            <a:off x="4387610" y="0"/>
            <a:ext cx="7804389" cy="6858000"/>
          </a:xfrm>
        </p:spPr>
        <p:txBody>
          <a:bodyPr/>
          <a:lstStyle/>
          <a:p>
            <a:r>
              <a:rPr lang="en-US" dirty="0"/>
              <a:t>A GDS can be an asset, but there are many hotels that chose to seek bookings through other means. With the uncertainty of the travel industry, many properties are looking for ways to cut costs and with a high ticket price, GDS’s are often one of the first to go. Some of the most common reasons hotels chose to opt out of using a GDS are:</a:t>
            </a:r>
          </a:p>
          <a:p>
            <a:r>
              <a:rPr lang="en-US" b="1" dirty="0"/>
              <a:t>Money</a:t>
            </a:r>
            <a:r>
              <a:rPr lang="en-US" dirty="0"/>
              <a:t>. The price of GDS’s alone is a deterrent for many properties. As a growing business, your funds may be better invested in other areas of your property.</a:t>
            </a:r>
          </a:p>
          <a:p>
            <a:r>
              <a:rPr lang="en-US" b="1" dirty="0"/>
              <a:t>Priorities</a:t>
            </a:r>
            <a:r>
              <a:rPr lang="en-US" dirty="0"/>
              <a:t>. Retaining customers is more important than bringing in new ones. Making sure that guests are comfortable with clean rooms, abundant amenities and a welcoming staff should be your first order of business.</a:t>
            </a:r>
          </a:p>
          <a:p>
            <a:r>
              <a:rPr lang="en-US" b="1" dirty="0"/>
              <a:t>Declining audience</a:t>
            </a:r>
            <a:r>
              <a:rPr lang="en-US" dirty="0"/>
              <a:t>. One of the benefits of a GDS is that it catches the corporate traveler segment, but business travel growth is slowing.</a:t>
            </a:r>
          </a:p>
        </p:txBody>
      </p:sp>
    </p:spTree>
    <p:extLst>
      <p:ext uri="{BB962C8B-B14F-4D97-AF65-F5344CB8AC3E}">
        <p14:creationId xmlns:p14="http://schemas.microsoft.com/office/powerpoint/2010/main" val="28683352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DD713C-665A-4442-BDA2-4782668B80DA}"/>
              </a:ext>
            </a:extLst>
          </p:cNvPr>
          <p:cNvSpPr>
            <a:spLocks noGrp="1"/>
          </p:cNvSpPr>
          <p:nvPr>
            <p:ph type="title"/>
          </p:nvPr>
        </p:nvSpPr>
        <p:spPr/>
        <p:txBody>
          <a:bodyPr/>
          <a:lstStyle/>
          <a:p>
            <a:r>
              <a:rPr lang="en-US" dirty="0"/>
              <a:t>references</a:t>
            </a:r>
          </a:p>
        </p:txBody>
      </p:sp>
      <p:sp>
        <p:nvSpPr>
          <p:cNvPr id="3" name="Content Placeholder 2">
            <a:extLst>
              <a:ext uri="{FF2B5EF4-FFF2-40B4-BE49-F238E27FC236}">
                <a16:creationId xmlns:a16="http://schemas.microsoft.com/office/drawing/2014/main" id="{AC08E225-F7AA-4672-827A-0E1D791C04CE}"/>
              </a:ext>
            </a:extLst>
          </p:cNvPr>
          <p:cNvSpPr>
            <a:spLocks noGrp="1"/>
          </p:cNvSpPr>
          <p:nvPr>
            <p:ph idx="1"/>
          </p:nvPr>
        </p:nvSpPr>
        <p:spPr>
          <a:xfrm>
            <a:off x="4492487" y="0"/>
            <a:ext cx="7699513" cy="6051808"/>
          </a:xfrm>
        </p:spPr>
        <p:txBody>
          <a:bodyPr/>
          <a:lstStyle/>
          <a:p>
            <a:r>
              <a:rPr lang="en-US" dirty="0"/>
              <a:t>Dennis, B. (2012). Hospitality Internet Booking Engines &amp; Central Reservation Systems: A thought-piece concerning online reservation technology for the hospitality industry. </a:t>
            </a:r>
            <a:r>
              <a:rPr lang="en-US" dirty="0" err="1"/>
              <a:t>Buuteeq</a:t>
            </a:r>
            <a:r>
              <a:rPr lang="en-US" dirty="0"/>
              <a:t>, Seattle, WA.</a:t>
            </a:r>
          </a:p>
          <a:p>
            <a:r>
              <a:rPr lang="en-US" dirty="0" err="1"/>
              <a:t>Amdekar</a:t>
            </a:r>
            <a:r>
              <a:rPr lang="en-US" dirty="0"/>
              <a:t>, J., </a:t>
            </a:r>
            <a:r>
              <a:rPr lang="en-US" dirty="0" err="1"/>
              <a:t>Padmanabhuni</a:t>
            </a:r>
            <a:r>
              <a:rPr lang="en-US" dirty="0"/>
              <a:t>, S. (2006). Future of Travel &amp; Tourism Industry with the adoption of Web Services in Electronic Distribution. Infosys. Available at: http://www.infosys.com/industries/hospitality-leisure/white-papers/Documents/webservices-adoption-travel-tourism.pdf (accessed 4.06.2019) </a:t>
            </a:r>
          </a:p>
          <a:p>
            <a:r>
              <a:rPr lang="en-US" dirty="0"/>
              <a:t>ETTSA (2010). Technology and Independent Distribution in the European Travel Industry. </a:t>
            </a:r>
            <a:r>
              <a:rPr lang="en-US" dirty="0" err="1"/>
              <a:t>PhoCusWright</a:t>
            </a:r>
            <a:r>
              <a:rPr lang="en-US" dirty="0"/>
              <a:t> . Available at: http://www.ettsa.eu/uploads/documents/ETTSA_Study_2010_Single_Pages.pdf (accessed 4.06.2019) </a:t>
            </a:r>
          </a:p>
          <a:p>
            <a:endParaRPr lang="en-US" dirty="0"/>
          </a:p>
        </p:txBody>
      </p:sp>
    </p:spTree>
    <p:extLst>
      <p:ext uri="{BB962C8B-B14F-4D97-AF65-F5344CB8AC3E}">
        <p14:creationId xmlns:p14="http://schemas.microsoft.com/office/powerpoint/2010/main" val="23380679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DC4740-5C59-415D-9A7C-2C517F36E2C7}"/>
              </a:ext>
            </a:extLst>
          </p:cNvPr>
          <p:cNvSpPr>
            <a:spLocks noGrp="1"/>
          </p:cNvSpPr>
          <p:nvPr>
            <p:ph type="title"/>
          </p:nvPr>
        </p:nvSpPr>
        <p:spPr/>
        <p:txBody>
          <a:bodyPr/>
          <a:lstStyle/>
          <a:p>
            <a:r>
              <a:rPr lang="en-US" dirty="0"/>
              <a:t>Inter sell agencies</a:t>
            </a:r>
          </a:p>
        </p:txBody>
      </p:sp>
      <p:sp>
        <p:nvSpPr>
          <p:cNvPr id="3" name="Content Placeholder 2">
            <a:extLst>
              <a:ext uri="{FF2B5EF4-FFF2-40B4-BE49-F238E27FC236}">
                <a16:creationId xmlns:a16="http://schemas.microsoft.com/office/drawing/2014/main" id="{317F3D80-7C41-4F57-97EF-377DE6D8471F}"/>
              </a:ext>
            </a:extLst>
          </p:cNvPr>
          <p:cNvSpPr>
            <a:spLocks noGrp="1"/>
          </p:cNvSpPr>
          <p:nvPr>
            <p:ph idx="1"/>
          </p:nvPr>
        </p:nvSpPr>
        <p:spPr>
          <a:xfrm>
            <a:off x="4611757" y="803186"/>
            <a:ext cx="7328452" cy="5875910"/>
          </a:xfrm>
        </p:spPr>
        <p:txBody>
          <a:bodyPr/>
          <a:lstStyle/>
          <a:p>
            <a:r>
              <a:rPr lang="en-US" dirty="0"/>
              <a:t>An </a:t>
            </a:r>
            <a:r>
              <a:rPr lang="en-US" dirty="0" err="1"/>
              <a:t>Intersell</a:t>
            </a:r>
            <a:r>
              <a:rPr lang="en-US" dirty="0"/>
              <a:t> agency is a central reservation system that contracts to handle more than one product line.</a:t>
            </a:r>
          </a:p>
          <a:p>
            <a:r>
              <a:rPr lang="en-US" dirty="0"/>
              <a:t>All reservation services are managed by one central reservation system. </a:t>
            </a:r>
          </a:p>
          <a:p>
            <a:r>
              <a:rPr lang="en-US" dirty="0" err="1"/>
              <a:t>intersell</a:t>
            </a:r>
            <a:r>
              <a:rPr lang="en-US" dirty="0"/>
              <a:t> agencies typically handle reservation services for airline companies, car rental companies, and hotel properties - a "one call does it all" approach.  </a:t>
            </a:r>
          </a:p>
          <a:p>
            <a:r>
              <a:rPr lang="en-US" dirty="0"/>
              <a:t>These agencies channel their room reservation requests to a central reservation system, but they may also communicate directly with hotels.</a:t>
            </a:r>
          </a:p>
          <a:p>
            <a:r>
              <a:rPr lang="en-US" dirty="0"/>
              <a:t>Think of </a:t>
            </a:r>
            <a:r>
              <a:rPr lang="en-US" dirty="0" err="1"/>
              <a:t>intersell</a:t>
            </a:r>
            <a:r>
              <a:rPr lang="en-US" dirty="0"/>
              <a:t> agencies as local players of GDS, Hotel managers can register their hotels with GDS and can also </a:t>
            </a:r>
            <a:r>
              <a:rPr lang="en-US" dirty="0" err="1"/>
              <a:t>subcribe</a:t>
            </a:r>
            <a:r>
              <a:rPr lang="en-US" dirty="0"/>
              <a:t> to </a:t>
            </a:r>
            <a:r>
              <a:rPr lang="en-US" dirty="0" err="1"/>
              <a:t>intersell</a:t>
            </a:r>
            <a:r>
              <a:rPr lang="en-US" dirty="0"/>
              <a:t> agencies at the same time running their own web based Reservation System powered by PMS or other independent Reservation Systems </a:t>
            </a:r>
          </a:p>
          <a:p>
            <a:pPr marL="0" indent="0">
              <a:buNone/>
            </a:pPr>
            <a:endParaRPr lang="en-US" dirty="0"/>
          </a:p>
        </p:txBody>
      </p:sp>
    </p:spTree>
    <p:extLst>
      <p:ext uri="{BB962C8B-B14F-4D97-AF65-F5344CB8AC3E}">
        <p14:creationId xmlns:p14="http://schemas.microsoft.com/office/powerpoint/2010/main" val="30299481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40EB83-C753-4CF3-A98D-98C4EEF15062}"/>
              </a:ext>
            </a:extLst>
          </p:cNvPr>
          <p:cNvSpPr>
            <a:spLocks noGrp="1"/>
          </p:cNvSpPr>
          <p:nvPr>
            <p:ph type="title"/>
          </p:nvPr>
        </p:nvSpPr>
        <p:spPr/>
        <p:txBody>
          <a:bodyPr/>
          <a:lstStyle/>
          <a:p>
            <a:r>
              <a:rPr lang="en-US" dirty="0"/>
              <a:t>Affiliate and non-affiliate systems</a:t>
            </a:r>
          </a:p>
        </p:txBody>
      </p:sp>
      <p:sp>
        <p:nvSpPr>
          <p:cNvPr id="3" name="Content Placeholder 2">
            <a:extLst>
              <a:ext uri="{FF2B5EF4-FFF2-40B4-BE49-F238E27FC236}">
                <a16:creationId xmlns:a16="http://schemas.microsoft.com/office/drawing/2014/main" id="{3124A7FD-435D-46FA-B8F7-5E098EF96873}"/>
              </a:ext>
            </a:extLst>
          </p:cNvPr>
          <p:cNvSpPr>
            <a:spLocks noGrp="1"/>
          </p:cNvSpPr>
          <p:nvPr>
            <p:ph idx="1"/>
          </p:nvPr>
        </p:nvSpPr>
        <p:spPr>
          <a:xfrm>
            <a:off x="4704522" y="304800"/>
            <a:ext cx="7328451" cy="6175513"/>
          </a:xfrm>
        </p:spPr>
        <p:txBody>
          <a:bodyPr/>
          <a:lstStyle/>
          <a:p>
            <a:r>
              <a:rPr lang="en-US" dirty="0"/>
              <a:t>refers to a hotel chain’s reservation system where all the participating properties are contractually related. Hotel chains link their reservation operations to reduce overall system costs and simplify the processing of reservations. </a:t>
            </a:r>
          </a:p>
          <a:p>
            <a:r>
              <a:rPr lang="en-US"/>
              <a:t>The </a:t>
            </a:r>
            <a:r>
              <a:rPr lang="en-US" dirty="0"/>
              <a:t>main advantages of an affiliate reservation system are as follows:</a:t>
            </a:r>
          </a:p>
          <a:p>
            <a:pPr lvl="1" fontAlgn="base"/>
            <a:r>
              <a:rPr lang="en-US" dirty="0"/>
              <a:t>Streamlines the process of reservation</a:t>
            </a:r>
          </a:p>
          <a:p>
            <a:pPr lvl="1" fontAlgn="base"/>
            <a:r>
              <a:rPr lang="en-US" dirty="0"/>
              <a:t>Reduce overall system costs</a:t>
            </a:r>
          </a:p>
          <a:p>
            <a:pPr lvl="1" fontAlgn="base"/>
            <a:r>
              <a:rPr lang="en-US" dirty="0"/>
              <a:t>Attracts business to another property of the chain</a:t>
            </a:r>
          </a:p>
          <a:p>
            <a:pPr lvl="1" fontAlgn="base"/>
            <a:r>
              <a:rPr lang="en-US" dirty="0"/>
              <a:t>Referral  may also be made to properties whose locations might appear more useful or appropriate to the guest’s needs.</a:t>
            </a:r>
          </a:p>
          <a:p>
            <a:r>
              <a:rPr lang="en-US" dirty="0"/>
              <a:t>In general think of affiliate reservation systems as a partial partnership of competitors  towards same goal. We run or have come into contact with manual affiliate referrals in enquiring different services the concept of (</a:t>
            </a:r>
            <a:r>
              <a:rPr lang="en-US" dirty="0" err="1"/>
              <a:t>ife</a:t>
            </a:r>
            <a:r>
              <a:rPr lang="en-US" dirty="0"/>
              <a:t> </a:t>
            </a:r>
            <a:r>
              <a:rPr lang="en-US" dirty="0" err="1"/>
              <a:t>tilibe</a:t>
            </a:r>
            <a:r>
              <a:rPr lang="en-US" dirty="0"/>
              <a:t> </a:t>
            </a:r>
            <a:r>
              <a:rPr lang="en-US" dirty="0" err="1"/>
              <a:t>koma</a:t>
            </a:r>
            <a:r>
              <a:rPr lang="en-US" dirty="0"/>
              <a:t> </a:t>
            </a:r>
            <a:r>
              <a:rPr lang="en-US" dirty="0" err="1"/>
              <a:t>funsani</a:t>
            </a:r>
            <a:r>
              <a:rPr lang="en-US" dirty="0"/>
              <a:t> shop </a:t>
            </a:r>
            <a:r>
              <a:rPr lang="en-US" dirty="0" err="1"/>
              <a:t>iyo</a:t>
            </a:r>
            <a:r>
              <a:rPr lang="en-US" dirty="0"/>
              <a:t>, </a:t>
            </a:r>
            <a:r>
              <a:rPr lang="en-US" dirty="0" err="1"/>
              <a:t>amakhara</a:t>
            </a:r>
            <a:r>
              <a:rPr lang="en-US" dirty="0"/>
              <a:t> </a:t>
            </a:r>
            <a:r>
              <a:rPr lang="en-US" dirty="0" err="1"/>
              <a:t>ndizolimba</a:t>
            </a:r>
            <a:r>
              <a:rPr lang="en-US" dirty="0"/>
              <a:t>) </a:t>
            </a:r>
          </a:p>
        </p:txBody>
      </p:sp>
    </p:spTree>
    <p:extLst>
      <p:ext uri="{BB962C8B-B14F-4D97-AF65-F5344CB8AC3E}">
        <p14:creationId xmlns:p14="http://schemas.microsoft.com/office/powerpoint/2010/main" val="23728164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19CA53-5C3D-4680-9018-F0E525739324}"/>
              </a:ext>
            </a:extLst>
          </p:cNvPr>
          <p:cNvSpPr>
            <a:spLocks noGrp="1"/>
          </p:cNvSpPr>
          <p:nvPr>
            <p:ph type="title"/>
          </p:nvPr>
        </p:nvSpPr>
        <p:spPr/>
        <p:txBody>
          <a:bodyPr/>
          <a:lstStyle/>
          <a:p>
            <a:r>
              <a:rPr lang="en-US" dirty="0"/>
              <a:t>Non affiliate reservation systems</a:t>
            </a:r>
          </a:p>
        </p:txBody>
      </p:sp>
      <p:sp>
        <p:nvSpPr>
          <p:cNvPr id="3" name="Content Placeholder 2">
            <a:extLst>
              <a:ext uri="{FF2B5EF4-FFF2-40B4-BE49-F238E27FC236}">
                <a16:creationId xmlns:a16="http://schemas.microsoft.com/office/drawing/2014/main" id="{B5BFCD0E-B661-4A17-8DFC-DE65C073F3C7}"/>
              </a:ext>
            </a:extLst>
          </p:cNvPr>
          <p:cNvSpPr>
            <a:spLocks noGrp="1"/>
          </p:cNvSpPr>
          <p:nvPr>
            <p:ph idx="1"/>
          </p:nvPr>
        </p:nvSpPr>
        <p:spPr>
          <a:xfrm>
            <a:off x="4387610" y="0"/>
            <a:ext cx="7804389" cy="6745357"/>
          </a:xfrm>
        </p:spPr>
        <p:txBody>
          <a:bodyPr>
            <a:normAutofit/>
          </a:bodyPr>
          <a:lstStyle/>
          <a:p>
            <a:r>
              <a:rPr lang="en-US" dirty="0"/>
              <a:t>It is a system designed independent or non-chain properties. </a:t>
            </a:r>
          </a:p>
          <a:p>
            <a:r>
              <a:rPr lang="en-US" dirty="0"/>
              <a:t>Non –affiliate reservation networks allow autonomous hotel operators to enjoy many of the same benefits that chain affiliated operators do. </a:t>
            </a:r>
          </a:p>
          <a:p>
            <a:r>
              <a:rPr lang="en-US" dirty="0"/>
              <a:t>A non-affiliate network usually takes up the responsibility of advertising its services just like a affiliate reservation network. (think of sunbird they have a chain of sunbird hotels that may appear like different each with unique names deemed as independent but are all under one brand sunbird, so sunbird might run a web based central reservation that might advertise and provide booking service to a list of all its hotels)</a:t>
            </a:r>
          </a:p>
          <a:p>
            <a:r>
              <a:rPr lang="en-US" dirty="0"/>
              <a:t>Central reservation office, potential guest, and independent member hotels, are some of a non affiliate system modules. </a:t>
            </a:r>
          </a:p>
          <a:p>
            <a:r>
              <a:rPr lang="en-US" dirty="0"/>
              <a:t>depending upon the need of the hotel and type of the hotel one can choose between an Affiliate system or a non-affiliate system of Central Reservation System. For example non affiliate reservation systems might be suitable to service providers with a chain of service or product line.</a:t>
            </a:r>
          </a:p>
          <a:p>
            <a:endParaRPr lang="en-US" dirty="0"/>
          </a:p>
        </p:txBody>
      </p:sp>
    </p:spTree>
    <p:extLst>
      <p:ext uri="{BB962C8B-B14F-4D97-AF65-F5344CB8AC3E}">
        <p14:creationId xmlns:p14="http://schemas.microsoft.com/office/powerpoint/2010/main" val="21085811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CB089-BDE9-4527-8365-BCACC7F5C733}"/>
              </a:ext>
            </a:extLst>
          </p:cNvPr>
          <p:cNvSpPr>
            <a:spLocks noGrp="1"/>
          </p:cNvSpPr>
          <p:nvPr>
            <p:ph type="title"/>
          </p:nvPr>
        </p:nvSpPr>
        <p:spPr/>
        <p:txBody>
          <a:bodyPr>
            <a:normAutofit fontScale="90000"/>
          </a:bodyPr>
          <a:lstStyle/>
          <a:p>
            <a:br>
              <a:rPr lang="en-US" dirty="0"/>
            </a:br>
            <a:r>
              <a:rPr lang="en-US" dirty="0"/>
              <a:t>Property Level Reservation Systems </a:t>
            </a:r>
            <a:br>
              <a:rPr lang="en-US" dirty="0"/>
            </a:br>
            <a:endParaRPr lang="en-US" dirty="0"/>
          </a:p>
        </p:txBody>
      </p:sp>
      <p:sp>
        <p:nvSpPr>
          <p:cNvPr id="3" name="Content Placeholder 2">
            <a:extLst>
              <a:ext uri="{FF2B5EF4-FFF2-40B4-BE49-F238E27FC236}">
                <a16:creationId xmlns:a16="http://schemas.microsoft.com/office/drawing/2014/main" id="{2AB30F22-E543-4C02-A88A-BBF9E771C79F}"/>
              </a:ext>
            </a:extLst>
          </p:cNvPr>
          <p:cNvSpPr>
            <a:spLocks noGrp="1"/>
          </p:cNvSpPr>
          <p:nvPr>
            <p:ph idx="1"/>
          </p:nvPr>
        </p:nvSpPr>
        <p:spPr>
          <a:xfrm>
            <a:off x="4387610" y="232221"/>
            <a:ext cx="7805529" cy="6054814"/>
          </a:xfrm>
        </p:spPr>
        <p:txBody>
          <a:bodyPr>
            <a:normAutofit/>
          </a:bodyPr>
          <a:lstStyle/>
          <a:p>
            <a:r>
              <a:rPr lang="en-US" dirty="0"/>
              <a:t>It is a local hotel administration</a:t>
            </a:r>
            <a:r>
              <a:rPr lang="en-US" b="1" dirty="0"/>
              <a:t>s </a:t>
            </a:r>
            <a:r>
              <a:rPr lang="en-US" b="1" dirty="0" err="1"/>
              <a:t>ystem</a:t>
            </a:r>
            <a:r>
              <a:rPr lang="en-US" dirty="0"/>
              <a:t> used for </a:t>
            </a:r>
            <a:r>
              <a:rPr lang="en-US" b="1" dirty="0"/>
              <a:t>reservation</a:t>
            </a:r>
            <a:r>
              <a:rPr lang="en-US" dirty="0"/>
              <a:t>, availability and occupancy management, check-in/out, images, guest profiles, report generation etc. </a:t>
            </a:r>
          </a:p>
          <a:p>
            <a:r>
              <a:rPr lang="en-US" dirty="0"/>
              <a:t>This application is used in-house (in an individual hotel) to control the onsite </a:t>
            </a:r>
            <a:r>
              <a:rPr lang="en-US" b="1" dirty="0"/>
              <a:t>property</a:t>
            </a:r>
            <a:r>
              <a:rPr lang="en-US" dirty="0"/>
              <a:t> activities.</a:t>
            </a:r>
          </a:p>
          <a:p>
            <a:r>
              <a:rPr lang="en-US" dirty="0"/>
              <a:t>In other words, it is  reservation module under Property Management System.</a:t>
            </a:r>
          </a:p>
          <a:p>
            <a:r>
              <a:rPr lang="en-US" dirty="0"/>
              <a:t>Can easily locally be managed</a:t>
            </a:r>
          </a:p>
          <a:p>
            <a:r>
              <a:rPr lang="en-US" dirty="0"/>
              <a:t>Less costly as the license is being covered within </a:t>
            </a:r>
            <a:r>
              <a:rPr lang="en-US" dirty="0" err="1"/>
              <a:t>theoveral</a:t>
            </a:r>
            <a:r>
              <a:rPr lang="en-US" dirty="0"/>
              <a:t> PMS</a:t>
            </a:r>
          </a:p>
          <a:p>
            <a:r>
              <a:rPr lang="en-US" dirty="0"/>
              <a:t>Might not be effective for new market entrants as compared to subscribing to GDS or using </a:t>
            </a:r>
            <a:r>
              <a:rPr lang="en-US" dirty="0" err="1"/>
              <a:t>intersell</a:t>
            </a:r>
            <a:r>
              <a:rPr lang="en-US" dirty="0"/>
              <a:t> agencies.</a:t>
            </a:r>
          </a:p>
          <a:p>
            <a:r>
              <a:rPr lang="en-US" dirty="0"/>
              <a:t>How ever the good part is all three option can be adopted concurrently.(a hotel might use its Property level reservation system,  </a:t>
            </a:r>
            <a:r>
              <a:rPr lang="en-US" dirty="0" err="1"/>
              <a:t>Intersell</a:t>
            </a:r>
            <a:r>
              <a:rPr lang="en-US" dirty="0"/>
              <a:t> agencies plus GDS) it all comes down to budgeting on the Information Technology investment</a:t>
            </a:r>
          </a:p>
        </p:txBody>
      </p:sp>
    </p:spTree>
    <p:extLst>
      <p:ext uri="{BB962C8B-B14F-4D97-AF65-F5344CB8AC3E}">
        <p14:creationId xmlns:p14="http://schemas.microsoft.com/office/powerpoint/2010/main" val="19308366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4B76E-4DAE-4669-915D-95CEE3B56C21}"/>
              </a:ext>
            </a:extLst>
          </p:cNvPr>
          <p:cNvSpPr>
            <a:spLocks noGrp="1"/>
          </p:cNvSpPr>
          <p:nvPr>
            <p:ph type="title"/>
          </p:nvPr>
        </p:nvSpPr>
        <p:spPr>
          <a:xfrm>
            <a:off x="609600" y="2349925"/>
            <a:ext cx="4055165" cy="2791918"/>
          </a:xfrm>
        </p:spPr>
        <p:txBody>
          <a:bodyPr>
            <a:normAutofit fontScale="90000"/>
          </a:bodyPr>
          <a:lstStyle/>
          <a:p>
            <a:r>
              <a:rPr lang="en-US" dirty="0"/>
              <a:t>New developments in computer based reservation systems (Hotels and tourism centers)</a:t>
            </a:r>
          </a:p>
        </p:txBody>
      </p:sp>
      <p:sp>
        <p:nvSpPr>
          <p:cNvPr id="3" name="Content Placeholder 2">
            <a:extLst>
              <a:ext uri="{FF2B5EF4-FFF2-40B4-BE49-F238E27FC236}">
                <a16:creationId xmlns:a16="http://schemas.microsoft.com/office/drawing/2014/main" id="{D204C59D-F55B-435B-BCA3-2CDE294EC96D}"/>
              </a:ext>
            </a:extLst>
          </p:cNvPr>
          <p:cNvSpPr>
            <a:spLocks noGrp="1"/>
          </p:cNvSpPr>
          <p:nvPr>
            <p:ph idx="1"/>
          </p:nvPr>
        </p:nvSpPr>
        <p:spPr/>
        <p:txBody>
          <a:bodyPr/>
          <a:lstStyle/>
          <a:p>
            <a:r>
              <a:rPr lang="en-US" dirty="0"/>
              <a:t>High level of integration (most modern reservation systems are adopting more of integral approach)</a:t>
            </a:r>
          </a:p>
          <a:p>
            <a:r>
              <a:rPr lang="en-US" dirty="0"/>
              <a:t>Highly customizable  Allowing an out of the ordinary event configuration  setup within the system, for an event that so unique in the industry, think of </a:t>
            </a:r>
            <a:r>
              <a:rPr lang="en-US" b="1" dirty="0"/>
              <a:t>a cry out event </a:t>
            </a:r>
            <a:r>
              <a:rPr lang="en-US" dirty="0"/>
              <a:t> Like </a:t>
            </a:r>
            <a:r>
              <a:rPr lang="en-US" dirty="0">
                <a:hlinkClick r:id="rId2"/>
              </a:rPr>
              <a:t>those in japan</a:t>
            </a:r>
            <a:r>
              <a:rPr lang="en-US" dirty="0"/>
              <a:t>.</a:t>
            </a:r>
          </a:p>
          <a:p>
            <a:r>
              <a:rPr lang="en-US" dirty="0"/>
              <a:t>Cloud versus local (High rate of cloud based Reservation Systems than local) </a:t>
            </a:r>
          </a:p>
          <a:p>
            <a:r>
              <a:rPr lang="en-US" dirty="0"/>
              <a:t>GDS, Affiliate Systems is a more common route for many hotel service providers</a:t>
            </a:r>
          </a:p>
          <a:p>
            <a:r>
              <a:rPr lang="en-US" dirty="0"/>
              <a:t>Cost benefit analysis as major factor in selecting the reservation system approach is being taken into account by most tourism and hospitality service providers.</a:t>
            </a:r>
          </a:p>
          <a:p>
            <a:pPr marL="0" indent="0">
              <a:buNone/>
            </a:pPr>
            <a:endParaRPr lang="en-US" dirty="0"/>
          </a:p>
        </p:txBody>
      </p:sp>
    </p:spTree>
    <p:extLst>
      <p:ext uri="{BB962C8B-B14F-4D97-AF65-F5344CB8AC3E}">
        <p14:creationId xmlns:p14="http://schemas.microsoft.com/office/powerpoint/2010/main" val="9689737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6FCB66-2336-494B-9CDE-9B671CA5FD32}"/>
              </a:ext>
            </a:extLst>
          </p:cNvPr>
          <p:cNvSpPr>
            <a:spLocks noGrp="1"/>
          </p:cNvSpPr>
          <p:nvPr>
            <p:ph type="title"/>
          </p:nvPr>
        </p:nvSpPr>
        <p:spPr/>
        <p:txBody>
          <a:bodyPr/>
          <a:lstStyle/>
          <a:p>
            <a:r>
              <a:rPr lang="en-US" dirty="0"/>
              <a:t>Key benefits of any reservation system</a:t>
            </a:r>
          </a:p>
        </p:txBody>
      </p:sp>
      <p:sp>
        <p:nvSpPr>
          <p:cNvPr id="3" name="Content Placeholder 2">
            <a:extLst>
              <a:ext uri="{FF2B5EF4-FFF2-40B4-BE49-F238E27FC236}">
                <a16:creationId xmlns:a16="http://schemas.microsoft.com/office/drawing/2014/main" id="{C179B15D-EF9E-4861-A5E7-906F71E91C72}"/>
              </a:ext>
            </a:extLst>
          </p:cNvPr>
          <p:cNvSpPr>
            <a:spLocks noGrp="1"/>
          </p:cNvSpPr>
          <p:nvPr>
            <p:ph idx="1"/>
          </p:nvPr>
        </p:nvSpPr>
        <p:spPr>
          <a:xfrm>
            <a:off x="4387610" y="185530"/>
            <a:ext cx="7658615" cy="6672470"/>
          </a:xfrm>
        </p:spPr>
        <p:txBody>
          <a:bodyPr/>
          <a:lstStyle/>
          <a:p>
            <a:r>
              <a:rPr lang="en-US" b="1" dirty="0"/>
              <a:t>No More Booking Mistakes</a:t>
            </a:r>
          </a:p>
          <a:p>
            <a:pPr lvl="1"/>
            <a:r>
              <a:rPr lang="en-US" dirty="0"/>
              <a:t>Hotel booking systems provide an effective mechanism that does not allow two guests to book the same room at the same time, which makes the reservation process more efficient. To err is human and an online reservation system is a must-have for hotels these days. </a:t>
            </a:r>
          </a:p>
          <a:p>
            <a:r>
              <a:rPr lang="en-US" b="1" dirty="0"/>
              <a:t>Never Lose Track of Your Bookings</a:t>
            </a:r>
          </a:p>
          <a:p>
            <a:pPr lvl="1"/>
            <a:r>
              <a:rPr lang="en-US" dirty="0"/>
              <a:t>The solution lies in the successful implementation of a central reservation system (CRS). It will allow you, as well as your hotel personnel, to not only book travel arrangements with guests, but also to view these details across all computers in the same system. This will eliminate booking problems and confusion and at the same time will enable you to see when your busy season is and when people tend to book less often.</a:t>
            </a:r>
          </a:p>
          <a:p>
            <a:pPr lvl="1"/>
            <a:r>
              <a:rPr lang="en-US" dirty="0"/>
              <a:t>if you have hotels around the globe, you will still be able to connect all of them to a single central web-based reservation system so that you can see how many rooms guests have booked no matter the distance. </a:t>
            </a:r>
          </a:p>
          <a:p>
            <a:endParaRPr lang="en-US" dirty="0"/>
          </a:p>
        </p:txBody>
      </p:sp>
    </p:spTree>
    <p:extLst>
      <p:ext uri="{BB962C8B-B14F-4D97-AF65-F5344CB8AC3E}">
        <p14:creationId xmlns:p14="http://schemas.microsoft.com/office/powerpoint/2010/main" val="19298587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7A5D0-7355-47D5-B31A-A836CBC001C6}"/>
              </a:ext>
            </a:extLst>
          </p:cNvPr>
          <p:cNvSpPr>
            <a:spLocks noGrp="1"/>
          </p:cNvSpPr>
          <p:nvPr>
            <p:ph type="title"/>
          </p:nvPr>
        </p:nvSpPr>
        <p:spPr/>
        <p:txBody>
          <a:bodyPr>
            <a:normAutofit/>
          </a:bodyPr>
          <a:lstStyle/>
          <a:p>
            <a:r>
              <a:rPr lang="en-US" dirty="0"/>
              <a:t>Key benefits of any reservation system(</a:t>
            </a:r>
            <a:r>
              <a:rPr lang="en-US" sz="2700" dirty="0"/>
              <a:t>Continued</a:t>
            </a:r>
            <a:r>
              <a:rPr lang="en-US" dirty="0"/>
              <a:t>)</a:t>
            </a:r>
          </a:p>
        </p:txBody>
      </p:sp>
      <p:sp>
        <p:nvSpPr>
          <p:cNvPr id="3" name="Content Placeholder 2">
            <a:extLst>
              <a:ext uri="{FF2B5EF4-FFF2-40B4-BE49-F238E27FC236}">
                <a16:creationId xmlns:a16="http://schemas.microsoft.com/office/drawing/2014/main" id="{6948C5C9-FFAF-4631-A52D-D473F8BB7EF0}"/>
              </a:ext>
            </a:extLst>
          </p:cNvPr>
          <p:cNvSpPr>
            <a:spLocks noGrp="1"/>
          </p:cNvSpPr>
          <p:nvPr>
            <p:ph idx="1"/>
          </p:nvPr>
        </p:nvSpPr>
        <p:spPr>
          <a:xfrm>
            <a:off x="4558748" y="265043"/>
            <a:ext cx="7633251" cy="6592957"/>
          </a:xfrm>
        </p:spPr>
        <p:txBody>
          <a:bodyPr>
            <a:normAutofit/>
          </a:bodyPr>
          <a:lstStyle/>
          <a:p>
            <a:r>
              <a:rPr lang="en-US" b="1" dirty="0"/>
              <a:t>Get to Know Your Customers</a:t>
            </a:r>
          </a:p>
          <a:p>
            <a:pPr lvl="1"/>
            <a:r>
              <a:rPr lang="en-US" dirty="0"/>
              <a:t>Identifying the buying patterns of your guests can be crucial when developing a better relationship with them. The building blocks of the hospitality industry are mostly services and long-term relationships with guests.</a:t>
            </a:r>
          </a:p>
          <a:p>
            <a:r>
              <a:rPr lang="en-US" dirty="0"/>
              <a:t>Less operation cost and profit as compared to a manual system</a:t>
            </a:r>
          </a:p>
          <a:p>
            <a:pPr lvl="1"/>
            <a:r>
              <a:rPr lang="en-US" dirty="0"/>
              <a:t>A reservation software for hotels that is compatible with all kinds of distribution systems offers a great advantage to the hospitality industry:</a:t>
            </a:r>
          </a:p>
          <a:p>
            <a:pPr lvl="1"/>
            <a:r>
              <a:rPr lang="en-US" dirty="0"/>
              <a:t>hotel CRS can reduce the burden on the management of the hotels. </a:t>
            </a:r>
          </a:p>
          <a:p>
            <a:pPr lvl="1"/>
            <a:r>
              <a:rPr lang="en-US" dirty="0"/>
              <a:t>you can now easily track the reservations made months ahead and feel confident that you will not lose them as some client will pay upfront.</a:t>
            </a:r>
          </a:p>
          <a:p>
            <a:r>
              <a:rPr lang="en-US" dirty="0"/>
              <a:t>Beneficial to customers</a:t>
            </a:r>
          </a:p>
          <a:p>
            <a:pPr lvl="1"/>
            <a:r>
              <a:rPr lang="en-US" dirty="0"/>
              <a:t>A central reservation system is an effective and time-saving tool. Your guests can take advantage of your special offers and promotions, and add extras to their stay.</a:t>
            </a:r>
          </a:p>
          <a:p>
            <a:pPr lvl="1"/>
            <a:r>
              <a:rPr lang="en-US" dirty="0"/>
              <a:t>User friendliness in terms of changing checking </a:t>
            </a:r>
            <a:r>
              <a:rPr lang="en-US" dirty="0" err="1"/>
              <a:t>time,dates</a:t>
            </a:r>
            <a:r>
              <a:rPr lang="en-US" dirty="0"/>
              <a:t> or cancelation. Most booking facilities will offer such key options at a click of a mouse.</a:t>
            </a:r>
          </a:p>
        </p:txBody>
      </p:sp>
    </p:spTree>
    <p:extLst>
      <p:ext uri="{BB962C8B-B14F-4D97-AF65-F5344CB8AC3E}">
        <p14:creationId xmlns:p14="http://schemas.microsoft.com/office/powerpoint/2010/main" val="12770307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4418C-FE96-4B3C-A5B7-A451B3F6CC36}"/>
              </a:ext>
            </a:extLst>
          </p:cNvPr>
          <p:cNvSpPr>
            <a:spLocks noGrp="1"/>
          </p:cNvSpPr>
          <p:nvPr>
            <p:ph type="title"/>
          </p:nvPr>
        </p:nvSpPr>
        <p:spPr/>
        <p:txBody>
          <a:bodyPr/>
          <a:lstStyle/>
          <a:p>
            <a:r>
              <a:rPr lang="en-US" dirty="0"/>
              <a:t>references</a:t>
            </a:r>
          </a:p>
        </p:txBody>
      </p:sp>
      <p:sp>
        <p:nvSpPr>
          <p:cNvPr id="3" name="Content Placeholder 2">
            <a:extLst>
              <a:ext uri="{FF2B5EF4-FFF2-40B4-BE49-F238E27FC236}">
                <a16:creationId xmlns:a16="http://schemas.microsoft.com/office/drawing/2014/main" id="{CF4CA8A8-E6D2-43DD-8B48-69CF8EB764E0}"/>
              </a:ext>
            </a:extLst>
          </p:cNvPr>
          <p:cNvSpPr>
            <a:spLocks noGrp="1"/>
          </p:cNvSpPr>
          <p:nvPr>
            <p:ph idx="1"/>
          </p:nvPr>
        </p:nvSpPr>
        <p:spPr/>
        <p:txBody>
          <a:bodyPr/>
          <a:lstStyle/>
          <a:p>
            <a:r>
              <a:rPr lang="en-US" dirty="0"/>
              <a:t>ETTSA (2010). Technology and Independent Distribution in the European Travel Industry. </a:t>
            </a:r>
            <a:r>
              <a:rPr lang="en-US" dirty="0" err="1"/>
              <a:t>PhoCusWright</a:t>
            </a:r>
            <a:r>
              <a:rPr lang="en-US" dirty="0"/>
              <a:t> . Available at: http://www.ettsa.eu/uploads/documents/ETTSA_Study_2010_Single_Pages.pdf (accessed </a:t>
            </a:r>
            <a:r>
              <a:rPr lang="en-US"/>
              <a:t>18.07.2013)</a:t>
            </a:r>
          </a:p>
          <a:p>
            <a:r>
              <a:rPr lang="en-US"/>
              <a:t> </a:t>
            </a:r>
            <a:r>
              <a:rPr lang="en-US" dirty="0" err="1"/>
              <a:t>TechTuners</a:t>
            </a:r>
            <a:r>
              <a:rPr lang="en-US" dirty="0"/>
              <a:t> (2013). T-RES. Available at: http://www.techtuners.com/TRES.aspx (accessed 18.07.2013)</a:t>
            </a:r>
          </a:p>
        </p:txBody>
      </p:sp>
    </p:spTree>
    <p:extLst>
      <p:ext uri="{BB962C8B-B14F-4D97-AF65-F5344CB8AC3E}">
        <p14:creationId xmlns:p14="http://schemas.microsoft.com/office/powerpoint/2010/main" val="1211051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0A6C89-6657-478C-9E90-25F3F7FBAAEC}"/>
              </a:ext>
            </a:extLst>
          </p:cNvPr>
          <p:cNvSpPr>
            <a:spLocks noGrp="1"/>
          </p:cNvSpPr>
          <p:nvPr>
            <p:ph type="title"/>
          </p:nvPr>
        </p:nvSpPr>
        <p:spPr/>
        <p:txBody>
          <a:bodyPr/>
          <a:lstStyle/>
          <a:p>
            <a:r>
              <a:rPr lang="en-US" dirty="0"/>
              <a:t>End of presentation</a:t>
            </a:r>
          </a:p>
        </p:txBody>
      </p:sp>
      <p:sp>
        <p:nvSpPr>
          <p:cNvPr id="3" name="Content Placeholder 2">
            <a:extLst>
              <a:ext uri="{FF2B5EF4-FFF2-40B4-BE49-F238E27FC236}">
                <a16:creationId xmlns:a16="http://schemas.microsoft.com/office/drawing/2014/main" id="{A199F394-0989-4D0E-88CF-AE6DC0B1BA2E}"/>
              </a:ext>
            </a:extLst>
          </p:cNvPr>
          <p:cNvSpPr>
            <a:spLocks noGrp="1"/>
          </p:cNvSpPr>
          <p:nvPr>
            <p:ph idx="1"/>
          </p:nvPr>
        </p:nvSpPr>
        <p:spPr/>
        <p:txBody>
          <a:bodyPr/>
          <a:lstStyle/>
          <a:p>
            <a:r>
              <a:rPr lang="en-US" dirty="0"/>
              <a:t>Any questions ?</a:t>
            </a:r>
          </a:p>
        </p:txBody>
      </p:sp>
    </p:spTree>
    <p:extLst>
      <p:ext uri="{BB962C8B-B14F-4D97-AF65-F5344CB8AC3E}">
        <p14:creationId xmlns:p14="http://schemas.microsoft.com/office/powerpoint/2010/main" val="3742130582"/>
      </p:ext>
    </p:extLst>
  </p:cSld>
  <p:clrMapOvr>
    <a:masterClrMapping/>
  </p:clrMapOvr>
</p:sld>
</file>

<file path=ppt/theme/theme1.xml><?xml version="1.0" encoding="utf-8"?>
<a:theme xmlns:a="http://schemas.openxmlformats.org/drawingml/2006/main" name="Atlas">
  <a:themeElements>
    <a:clrScheme name="Atlas">
      <a:dk1>
        <a:sysClr val="windowText" lastClr="000000"/>
      </a:dk1>
      <a:lt1>
        <a:sysClr val="window" lastClr="FFFFFF"/>
      </a:lt1>
      <a:dk2>
        <a:srgbClr val="454545"/>
      </a:dk2>
      <a:lt2>
        <a:srgbClr val="E0E0E0"/>
      </a:lt2>
      <a:accent1>
        <a:srgbClr val="F81B02"/>
      </a:accent1>
      <a:accent2>
        <a:srgbClr val="FC7715"/>
      </a:accent2>
      <a:accent3>
        <a:srgbClr val="AFBF41"/>
      </a:accent3>
      <a:accent4>
        <a:srgbClr val="50C49F"/>
      </a:accent4>
      <a:accent5>
        <a:srgbClr val="3B95C4"/>
      </a:accent5>
      <a:accent6>
        <a:srgbClr val="B560D4"/>
      </a:accent6>
      <a:hlink>
        <a:srgbClr val="FC5A1A"/>
      </a:hlink>
      <a:folHlink>
        <a:srgbClr val="B49E74"/>
      </a:folHlink>
    </a:clrScheme>
    <a:fontScheme name="Atlas">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ockwell" panose="020606030202050204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Atlas">
      <a:fillStyleLst>
        <a:solidFill>
          <a:schemeClr val="phClr"/>
        </a:solidFill>
        <a:gradFill rotWithShape="1">
          <a:gsLst>
            <a:gs pos="0">
              <a:schemeClr val="phClr">
                <a:tint val="62000"/>
                <a:alpha val="60000"/>
                <a:satMod val="109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4000"/>
                <a:satMod val="130000"/>
                <a:lumMod val="92000"/>
              </a:schemeClr>
            </a:gs>
            <a:gs pos="100000">
              <a:schemeClr val="phClr">
                <a:shade val="76000"/>
                <a:satMod val="130000"/>
                <a:lumMod val="88000"/>
              </a:schemeClr>
            </a:gs>
          </a:gsLst>
          <a:lin ang="5400000" scaled="0"/>
        </a:gradFill>
      </a:fillStyleLst>
      <a:lnStyleLst>
        <a:ln w="9525" cap="flat" cmpd="sng" algn="ctr">
          <a:solidFill>
            <a:schemeClr val="phClr">
              <a:shade val="90000"/>
            </a:schemeClr>
          </a:solidFill>
          <a:prstDash val="solid"/>
        </a:ln>
        <a:ln w="15875" cap="flat" cmpd="sng" algn="ctr">
          <a:solidFill>
            <a:schemeClr val="phClr">
              <a:shade val="90000"/>
            </a:schemeClr>
          </a:solidFill>
          <a:prstDash val="solid"/>
        </a:ln>
        <a:ln w="25400" cap="flat" cmpd="sng" algn="ctr">
          <a:solidFill>
            <a:schemeClr val="phClr"/>
          </a:solidFill>
          <a:prstDash val="solid"/>
        </a:ln>
      </a:lnStyleLst>
      <a:effectStyleLst>
        <a:effectStyle>
          <a:effectLst/>
        </a:effectStyle>
        <a:effectStyle>
          <a:effectLst/>
        </a:effectStyle>
        <a:effectStyle>
          <a:effectLst>
            <a:outerShdw blurRad="38100" dist="25400" dir="5400000" rotWithShape="0">
              <a:srgbClr val="000000">
                <a:alpha val="75000"/>
              </a:srgbClr>
            </a:outerShdw>
          </a:effectLst>
          <a:scene3d>
            <a:camera prst="orthographicFront">
              <a:rot lat="0" lon="0" rev="0"/>
            </a:camera>
            <a:lightRig rig="threePt" dir="tl"/>
          </a:scene3d>
          <a:sp3d>
            <a:bevelT w="0" h="0"/>
          </a:sp3d>
        </a:effectStyle>
      </a:effectStyleLst>
      <a:bgFillStyleLst>
        <a:solidFill>
          <a:schemeClr val="phClr"/>
        </a:solidFill>
        <a:solidFill>
          <a:schemeClr val="phClr"/>
        </a:solidFill>
        <a:gradFill rotWithShape="1">
          <a:gsLst>
            <a:gs pos="10000">
              <a:schemeClr val="phClr">
                <a:tint val="94000"/>
                <a:lumMod val="116000"/>
              </a:schemeClr>
            </a:gs>
            <a:gs pos="100000">
              <a:schemeClr val="phClr">
                <a:tint val="98000"/>
                <a:shade val="86000"/>
                <a:satMod val="90000"/>
                <a:lumMod val="88000"/>
              </a:schemeClr>
            </a:gs>
          </a:gsLst>
          <a:path path="circle">
            <a:fillToRect l="50000" t="15000" r="50000" b="169000"/>
          </a:path>
        </a:gradFill>
      </a:bgFillStyleLst>
    </a:fmtScheme>
  </a:themeElements>
  <a:objectDefaults/>
  <a:extraClrSchemeLst/>
  <a:extLst>
    <a:ext uri="{05A4C25C-085E-4340-85A3-A5531E510DB2}">
      <thm15:themeFamily xmlns:thm15="http://schemas.microsoft.com/office/thememl/2012/main" name="Atlas" id="{5156B0E4-0EB1-49FE-A26B-15F6F698AEC6}" vid="{508F7963-D0B5-43F7-BB2C-FCE3009C08EC}"/>
    </a:ext>
  </a:extLst>
</a:theme>
</file>

<file path=docProps/app.xml><?xml version="1.0" encoding="utf-8"?>
<Properties xmlns="http://schemas.openxmlformats.org/officeDocument/2006/extended-properties" xmlns:vt="http://schemas.openxmlformats.org/officeDocument/2006/docPropsVTypes">
  <Template>Atlas</Template>
  <TotalTime>1267</TotalTime>
  <Words>1197</Words>
  <Application>Microsoft Office PowerPoint</Application>
  <PresentationFormat>Widescreen</PresentationFormat>
  <Paragraphs>122</Paragraphs>
  <Slides>21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Calibri Light</vt:lpstr>
      <vt:lpstr>Rockwell</vt:lpstr>
      <vt:lpstr>Wingdings</vt:lpstr>
      <vt:lpstr>Atlas</vt:lpstr>
      <vt:lpstr> Computer Based Reservation System </vt:lpstr>
      <vt:lpstr>Introduction to reservation systems</vt:lpstr>
      <vt:lpstr>CRS History COntinued</vt:lpstr>
      <vt:lpstr>CRS Functions (in the Airline)</vt:lpstr>
      <vt:lpstr>Global Distribution System</vt:lpstr>
      <vt:lpstr>GDS continued</vt:lpstr>
      <vt:lpstr>Major GDS in use today.</vt:lpstr>
      <vt:lpstr>GDS Organisations</vt:lpstr>
      <vt:lpstr>PowerPoint Presentation</vt:lpstr>
      <vt:lpstr>GDS Advantages</vt:lpstr>
      <vt:lpstr>GDS Disadvantages</vt:lpstr>
      <vt:lpstr>references</vt:lpstr>
      <vt:lpstr>Inter sell agencies</vt:lpstr>
      <vt:lpstr>Affiliate and non-affiliate systems</vt:lpstr>
      <vt:lpstr>Non affiliate reservation systems</vt:lpstr>
      <vt:lpstr> Property Level Reservation Systems  </vt:lpstr>
      <vt:lpstr>New developments in computer based reservation systems (Hotels and tourism centers)</vt:lpstr>
      <vt:lpstr>Key benefits of any reservation system</vt:lpstr>
      <vt:lpstr>Key benefits of any reservation system(Continued)</vt:lpstr>
      <vt:lpstr>references</vt:lpstr>
      <vt:lpstr>End of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Hotel reservation systems</dc:title>
  <dc:creator>www.ibitconsult.com</dc:creator>
  <cp:lastModifiedBy>www.ibitconsult.com</cp:lastModifiedBy>
  <cp:revision>37</cp:revision>
  <dcterms:created xsi:type="dcterms:W3CDTF">2019-06-04T16:19:22Z</dcterms:created>
  <dcterms:modified xsi:type="dcterms:W3CDTF">2019-06-25T16:00:38Z</dcterms:modified>
</cp:coreProperties>
</file>