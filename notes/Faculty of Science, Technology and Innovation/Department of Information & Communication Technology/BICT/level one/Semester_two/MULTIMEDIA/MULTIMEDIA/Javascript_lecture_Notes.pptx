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62"/>
  </p:notesMasterIdLst>
  <p:sldIdLst>
    <p:sldId id="256" r:id="rId2"/>
    <p:sldId id="257" r:id="rId3"/>
    <p:sldId id="258" r:id="rId4"/>
    <p:sldId id="280" r:id="rId5"/>
    <p:sldId id="259" r:id="rId6"/>
    <p:sldId id="260"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1" r:id="rId25"/>
    <p:sldId id="282" r:id="rId26"/>
    <p:sldId id="283" r:id="rId27"/>
    <p:sldId id="284" r:id="rId28"/>
    <p:sldId id="285" r:id="rId29"/>
    <p:sldId id="287" r:id="rId30"/>
    <p:sldId id="288" r:id="rId31"/>
    <p:sldId id="286" r:id="rId32"/>
    <p:sldId id="289" r:id="rId33"/>
    <p:sldId id="290" r:id="rId34"/>
    <p:sldId id="291" r:id="rId35"/>
    <p:sldId id="292" r:id="rId36"/>
    <p:sldId id="293" r:id="rId37"/>
    <p:sldId id="295" r:id="rId38"/>
    <p:sldId id="294"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5A83AF-D4A6-43A8-9F6B-C4F334BC450F}" type="datetimeFigureOut">
              <a:rPr lang="en-US" smtClean="0"/>
              <a:pPr/>
              <a:t>6/19/2017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0E1B94-5156-4706-97C8-78772F9EFB82}" type="slidenum">
              <a:rPr lang="en-US" smtClean="0"/>
              <a:pPr/>
              <a:t>‹#›</a:t>
            </a:fld>
            <a:endParaRPr lang="en-US"/>
          </a:p>
        </p:txBody>
      </p:sp>
    </p:spTree>
    <p:extLst>
      <p:ext uri="{BB962C8B-B14F-4D97-AF65-F5344CB8AC3E}">
        <p14:creationId xmlns:p14="http://schemas.microsoft.com/office/powerpoint/2010/main" val="2728178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AF333772-8B44-4D8B-B99A-3412F3DFD6E2}" type="datetime1">
              <a:rPr lang="en-US" smtClean="0"/>
              <a:pPr/>
              <a:t>6/19/2017</a:t>
            </a:fld>
            <a:endParaRPr lang="en-US"/>
          </a:p>
        </p:txBody>
      </p:sp>
      <p:sp>
        <p:nvSpPr>
          <p:cNvPr id="5" name="Footer Placeholder 4"/>
          <p:cNvSpPr>
            <a:spLocks noGrp="1"/>
          </p:cNvSpPr>
          <p:nvPr>
            <p:ph type="ftr" sz="quarter" idx="11"/>
          </p:nvPr>
        </p:nvSpPr>
        <p:spPr>
          <a:xfrm>
            <a:off x="1921934" y="5054602"/>
            <a:ext cx="4064860" cy="279400"/>
          </a:xfrm>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DD7D388F-F931-4AE3-A47C-3D1C0CA83083}" type="slidenum">
              <a:rPr lang="en-US" smtClean="0"/>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8485614"/>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spTree>
    <p:extLst>
      <p:ext uri="{BB962C8B-B14F-4D97-AF65-F5344CB8AC3E}">
        <p14:creationId xmlns:p14="http://schemas.microsoft.com/office/powerpoint/2010/main" val="2275843104"/>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057B76-49E8-4EEB-8170-8CD5BF3B1318}"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918415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4EE289E-B7A1-4237-900F-EB637E4091C1}" type="datetime1">
              <a:rPr lang="en-US" smtClean="0"/>
              <a:pPr/>
              <a:t>6/19/2017</a:t>
            </a:fld>
            <a:endParaRPr lang="en-US"/>
          </a:p>
        </p:txBody>
      </p:sp>
      <p:sp>
        <p:nvSpPr>
          <p:cNvPr id="6" name="Footer Placeholder 5"/>
          <p:cNvSpPr>
            <a:spLocks noGrp="1"/>
          </p:cNvSpPr>
          <p:nvPr>
            <p:ph type="ftr" sz="quarter" idx="11"/>
          </p:nvPr>
        </p:nvSpPr>
        <p:spPr/>
        <p:txBody>
          <a:bodyPr/>
          <a:lstStyle/>
          <a:p>
            <a:r>
              <a:rPr lang="en-US" smtClean="0"/>
              <a:t>Adapted from http://www.tizag.com</a:t>
            </a:r>
            <a:endParaRPr lang="en-US"/>
          </a:p>
        </p:txBody>
      </p:sp>
      <p:sp>
        <p:nvSpPr>
          <p:cNvPr id="7" name="Slide Number Placeholder 6"/>
          <p:cNvSpPr>
            <a:spLocks noGrp="1"/>
          </p:cNvSpPr>
          <p:nvPr>
            <p:ph type="sldNum" sz="quarter" idx="12"/>
          </p:nvPr>
        </p:nvSpPr>
        <p:spPr/>
        <p:txBody>
          <a:bodyPr/>
          <a:lstStyle/>
          <a:p>
            <a:fld id="{DD7D388F-F931-4AE3-A47C-3D1C0CA83083}" type="slidenum">
              <a:rPr lang="en-US" smtClean="0"/>
              <a:pPr/>
              <a:t>‹#›</a:t>
            </a:fld>
            <a:endParaRPr lang="en-US"/>
          </a:p>
        </p:txBody>
      </p:sp>
    </p:spTree>
    <p:extLst>
      <p:ext uri="{BB962C8B-B14F-4D97-AF65-F5344CB8AC3E}">
        <p14:creationId xmlns:p14="http://schemas.microsoft.com/office/powerpoint/2010/main" val="400222940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3F009CE-2856-43E9-BF42-CA77BFD553CF}" type="datetime1">
              <a:rPr lang="en-US" smtClean="0"/>
              <a:pPr/>
              <a:t>6/19/2017</a:t>
            </a:fld>
            <a:endParaRPr lang="en-US"/>
          </a:p>
        </p:txBody>
      </p:sp>
      <p:sp>
        <p:nvSpPr>
          <p:cNvPr id="8" name="Footer Placeholder 7"/>
          <p:cNvSpPr>
            <a:spLocks noGrp="1"/>
          </p:cNvSpPr>
          <p:nvPr>
            <p:ph type="ftr" sz="quarter" idx="11"/>
          </p:nvPr>
        </p:nvSpPr>
        <p:spPr/>
        <p:txBody>
          <a:bodyPr/>
          <a:lstStyle/>
          <a:p>
            <a:r>
              <a:rPr lang="en-US" smtClean="0"/>
              <a:t>Adapted from http://www.tizag.com</a:t>
            </a:r>
            <a:endParaRPr lang="en-US"/>
          </a:p>
        </p:txBody>
      </p:sp>
      <p:sp>
        <p:nvSpPr>
          <p:cNvPr id="9" name="Slide Number Placeholder 8"/>
          <p:cNvSpPr>
            <a:spLocks noGrp="1"/>
          </p:cNvSpPr>
          <p:nvPr>
            <p:ph type="sldNum" sz="quarter" idx="12"/>
          </p:nvPr>
        </p:nvSpPr>
        <p:spPr/>
        <p:txBody>
          <a:bodyPr/>
          <a:lstStyle/>
          <a:p>
            <a:fld id="{DD7D388F-F931-4AE3-A47C-3D1C0CA83083}" type="slidenum">
              <a:rPr lang="en-US" smtClean="0"/>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689534"/>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F3301DB-80F1-4965-87E2-95489D9BD130}" type="datetime1">
              <a:rPr lang="en-US" smtClean="0"/>
              <a:pPr/>
              <a:t>6/19/2017</a:t>
            </a:fld>
            <a:endParaRPr lang="en-US"/>
          </a:p>
        </p:txBody>
      </p:sp>
      <p:sp>
        <p:nvSpPr>
          <p:cNvPr id="4" name="Footer Placeholder 3"/>
          <p:cNvSpPr>
            <a:spLocks noGrp="1"/>
          </p:cNvSpPr>
          <p:nvPr>
            <p:ph type="ftr" sz="quarter" idx="11"/>
          </p:nvPr>
        </p:nvSpPr>
        <p:spPr/>
        <p:txBody>
          <a:bodyPr/>
          <a:lstStyle/>
          <a:p>
            <a:r>
              <a:rPr lang="en-US" smtClean="0"/>
              <a:t>Adapted from http://www.tizag.com</a:t>
            </a:r>
            <a:endParaRPr lang="en-US"/>
          </a:p>
        </p:txBody>
      </p:sp>
      <p:sp>
        <p:nvSpPr>
          <p:cNvPr id="5" name="Slide Number Placeholder 4"/>
          <p:cNvSpPr>
            <a:spLocks noGrp="1"/>
          </p:cNvSpPr>
          <p:nvPr>
            <p:ph type="sldNum" sz="quarter" idx="12"/>
          </p:nvPr>
        </p:nvSpPr>
        <p:spPr/>
        <p:txBody>
          <a:bodyPr/>
          <a:lstStyle/>
          <a:p>
            <a:fld id="{DD7D388F-F931-4AE3-A47C-3D1C0CA83083}" type="slidenum">
              <a:rPr lang="en-US" smtClean="0"/>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4224644"/>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B1A17-A67E-4231-959D-164F16EE3881}" type="datetime1">
              <a:rPr lang="en-US" smtClean="0"/>
              <a:pPr/>
              <a:t>6/19/2017</a:t>
            </a:fld>
            <a:endParaRPr lang="en-US"/>
          </a:p>
        </p:txBody>
      </p:sp>
      <p:sp>
        <p:nvSpPr>
          <p:cNvPr id="3" name="Footer Placeholder 2"/>
          <p:cNvSpPr>
            <a:spLocks noGrp="1"/>
          </p:cNvSpPr>
          <p:nvPr>
            <p:ph type="ftr" sz="quarter" idx="11"/>
          </p:nvPr>
        </p:nvSpPr>
        <p:spPr/>
        <p:txBody>
          <a:bodyPr/>
          <a:lstStyle/>
          <a:p>
            <a:r>
              <a:rPr lang="en-US" smtClean="0"/>
              <a:t>Adapted from http://www.tizag.com</a:t>
            </a:r>
            <a:endParaRPr lang="en-US"/>
          </a:p>
        </p:txBody>
      </p:sp>
      <p:sp>
        <p:nvSpPr>
          <p:cNvPr id="4" name="Slide Number Placeholder 3"/>
          <p:cNvSpPr>
            <a:spLocks noGrp="1"/>
          </p:cNvSpPr>
          <p:nvPr>
            <p:ph type="sldNum" sz="quarter" idx="12"/>
          </p:nvPr>
        </p:nvSpPr>
        <p:spPr/>
        <p:txBody>
          <a:bodyPr/>
          <a:lstStyle/>
          <a:p>
            <a:fld id="{DD7D388F-F931-4AE3-A47C-3D1C0CA83083}" type="slidenum">
              <a:rPr lang="en-US" smtClean="0"/>
              <a:pPr/>
              <a:t>‹#›</a:t>
            </a:fld>
            <a:endParaRPr lang="en-US"/>
          </a:p>
        </p:txBody>
      </p:sp>
    </p:spTree>
    <p:extLst>
      <p:ext uri="{BB962C8B-B14F-4D97-AF65-F5344CB8AC3E}">
        <p14:creationId xmlns:p14="http://schemas.microsoft.com/office/powerpoint/2010/main" val="2290364571"/>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96DE1F-606E-497A-92A8-2AA4CB5E8554}" type="datetime1">
              <a:rPr lang="en-US" smtClean="0"/>
              <a:pPr/>
              <a:t>6/19/2017</a:t>
            </a:fld>
            <a:endParaRPr lang="en-US"/>
          </a:p>
        </p:txBody>
      </p:sp>
      <p:sp>
        <p:nvSpPr>
          <p:cNvPr id="6" name="Footer Placeholder 5"/>
          <p:cNvSpPr>
            <a:spLocks noGrp="1"/>
          </p:cNvSpPr>
          <p:nvPr>
            <p:ph type="ftr" sz="quarter" idx="11"/>
          </p:nvPr>
        </p:nvSpPr>
        <p:spPr/>
        <p:txBody>
          <a:bodyPr/>
          <a:lstStyle/>
          <a:p>
            <a:r>
              <a:rPr lang="en-US" smtClean="0"/>
              <a:t>Adapted from http://www.tizag.com</a:t>
            </a:r>
            <a:endParaRPr lang="en-US"/>
          </a:p>
        </p:txBody>
      </p:sp>
      <p:sp>
        <p:nvSpPr>
          <p:cNvPr id="7" name="Slide Number Placeholder 6"/>
          <p:cNvSpPr>
            <a:spLocks noGrp="1"/>
          </p:cNvSpPr>
          <p:nvPr>
            <p:ph type="sldNum" sz="quarter" idx="12"/>
          </p:nvPr>
        </p:nvSpPr>
        <p:spPr/>
        <p:txBody>
          <a:bodyPr/>
          <a:lstStyle/>
          <a:p>
            <a:fld id="{DD7D388F-F931-4AE3-A47C-3D1C0CA83083}" type="slidenum">
              <a:rPr lang="en-US" smtClean="0"/>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6775996"/>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F901EC-93A1-45C1-ACDC-34F2D5B3D3F7}" type="datetime1">
              <a:rPr lang="en-US" smtClean="0"/>
              <a:pPr/>
              <a:t>6/19/2017</a:t>
            </a:fld>
            <a:endParaRPr lang="en-US"/>
          </a:p>
        </p:txBody>
      </p:sp>
      <p:sp>
        <p:nvSpPr>
          <p:cNvPr id="6" name="Footer Placeholder 5"/>
          <p:cNvSpPr>
            <a:spLocks noGrp="1"/>
          </p:cNvSpPr>
          <p:nvPr>
            <p:ph type="ftr" sz="quarter" idx="11"/>
          </p:nvPr>
        </p:nvSpPr>
        <p:spPr/>
        <p:txBody>
          <a:bodyPr/>
          <a:lstStyle/>
          <a:p>
            <a:r>
              <a:rPr lang="en-US" smtClean="0"/>
              <a:t>Adapted from http://www.tizag.com</a:t>
            </a:r>
            <a:endParaRPr lang="en-US"/>
          </a:p>
        </p:txBody>
      </p:sp>
      <p:sp>
        <p:nvSpPr>
          <p:cNvPr id="7" name="Slide Number Placeholder 6"/>
          <p:cNvSpPr>
            <a:spLocks noGrp="1"/>
          </p:cNvSpPr>
          <p:nvPr>
            <p:ph type="sldNum" sz="quarter" idx="12"/>
          </p:nvPr>
        </p:nvSpPr>
        <p:spPr/>
        <p:txBody>
          <a:bodyPr/>
          <a:lstStyle/>
          <a:p>
            <a:fld id="{DD7D388F-F931-4AE3-A47C-3D1C0CA83083}" type="slidenum">
              <a:rPr lang="en-US" smtClean="0"/>
              <a:pPr/>
              <a:t>‹#›</a:t>
            </a:fld>
            <a:endParaRPr lang="en-US"/>
          </a:p>
        </p:txBody>
      </p:sp>
    </p:spTree>
    <p:extLst>
      <p:ext uri="{BB962C8B-B14F-4D97-AF65-F5344CB8AC3E}">
        <p14:creationId xmlns:p14="http://schemas.microsoft.com/office/powerpoint/2010/main" val="4246208503"/>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511FB3-1229-4814-8B16-8B1C267AB1DA}" type="datetime1">
              <a:rPr lang="en-US" smtClean="0"/>
              <a:pPr/>
              <a:t>6/19/2017</a:t>
            </a:fld>
            <a:endParaRPr lang="en-US"/>
          </a:p>
        </p:txBody>
      </p:sp>
      <p:sp>
        <p:nvSpPr>
          <p:cNvPr id="6" name="Footer Placeholder 5"/>
          <p:cNvSpPr>
            <a:spLocks noGrp="1"/>
          </p:cNvSpPr>
          <p:nvPr>
            <p:ph type="ftr" sz="quarter" idx="11"/>
          </p:nvPr>
        </p:nvSpPr>
        <p:spPr/>
        <p:txBody>
          <a:bodyPr/>
          <a:lstStyle/>
          <a:p>
            <a:r>
              <a:rPr lang="en-US" smtClean="0"/>
              <a:t>Adapted from http://www.tizag.com</a:t>
            </a:r>
            <a:endParaRPr lang="en-US"/>
          </a:p>
        </p:txBody>
      </p:sp>
      <p:sp>
        <p:nvSpPr>
          <p:cNvPr id="7" name="Slide Number Placeholder 6"/>
          <p:cNvSpPr>
            <a:spLocks noGrp="1"/>
          </p:cNvSpPr>
          <p:nvPr>
            <p:ph type="sldNum" sz="quarter" idx="12"/>
          </p:nvPr>
        </p:nvSpPr>
        <p:spPr/>
        <p:txBody>
          <a:bodyPr/>
          <a:lstStyle/>
          <a:p>
            <a:fld id="{DD7D388F-F931-4AE3-A47C-3D1C0CA83083}" type="slidenum">
              <a:rPr lang="en-US" smtClean="0"/>
              <a:pPr/>
              <a:t>‹#›</a:t>
            </a:fld>
            <a:endParaRPr lang="en-US"/>
          </a:p>
        </p:txBody>
      </p:sp>
    </p:spTree>
    <p:extLst>
      <p:ext uri="{BB962C8B-B14F-4D97-AF65-F5344CB8AC3E}">
        <p14:creationId xmlns:p14="http://schemas.microsoft.com/office/powerpoint/2010/main" val="2669095689"/>
      </p:ext>
    </p:extLst>
  </p:cSld>
  <p:clrMapOvr>
    <a:masterClrMapping/>
  </p:clrMapOvr>
  <p:timing>
    <p:tnLst>
      <p:par>
        <p:cTn id="1" dur="indefinite" restart="never" nodeType="tmRoot"/>
      </p:par>
    </p:tnLst>
  </p:timing>
  <p:hf sldNum="0"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D511FB3-1229-4814-8B16-8B1C267AB1DA}"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4181192"/>
      </p:ext>
    </p:extLst>
  </p:cSld>
  <p:clrMapOvr>
    <a:masterClrMapping/>
  </p:clrMapOvr>
  <p:timing>
    <p:tnLst>
      <p:par>
        <p:cTn id="1" dur="indefinite" restart="never" nodeType="tmRoot"/>
      </p:par>
    </p:tnLst>
  </p:timing>
  <p:hf sldNum="0"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D511FB3-1229-4814-8B16-8B1C267AB1DA}"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228876"/>
      </p:ext>
    </p:extLst>
  </p:cSld>
  <p:clrMapOvr>
    <a:masterClrMapping/>
  </p:clrMapOvr>
  <p:timing>
    <p:tnLst>
      <p:par>
        <p:cTn id="1" dur="indefinite" restart="never" nodeType="tmRoot"/>
      </p:par>
    </p:tnLst>
  </p:timing>
  <p:hf sldNum="0"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D511FB3-1229-4814-8B16-8B1C267AB1DA}"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spTree>
    <p:extLst>
      <p:ext uri="{BB962C8B-B14F-4D97-AF65-F5344CB8AC3E}">
        <p14:creationId xmlns:p14="http://schemas.microsoft.com/office/powerpoint/2010/main" val="2910154115"/>
      </p:ext>
    </p:extLst>
  </p:cSld>
  <p:clrMapOvr>
    <a:masterClrMapping/>
  </p:clrMapOvr>
  <p:timing>
    <p:tnLst>
      <p:par>
        <p:cTn id="1" dur="indefinite" restart="never" nodeType="tmRoot"/>
      </p:par>
    </p:tnLst>
  </p:timing>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D511FB3-1229-4814-8B16-8B1C267AB1DA}"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3068433"/>
      </p:ext>
    </p:extLst>
  </p:cSld>
  <p:clrMapOvr>
    <a:masterClrMapping/>
  </p:clrMapOvr>
  <p:hf sldNum="0"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D511FB3-1229-4814-8B16-8B1C267AB1DA}"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0574090"/>
      </p:ext>
    </p:extLst>
  </p:cSld>
  <p:clrMapOvr>
    <a:masterClrMapping/>
  </p:clrMapOvr>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9ACABD-450A-4E3D-AF02-161DE1F17086}"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6340587"/>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CB7E2D-2EC7-4E18-B2A6-C0A07B767FA6}" type="datetime1">
              <a:rPr lang="en-US" smtClean="0"/>
              <a:pPr/>
              <a:t>6/19/2017</a:t>
            </a:fld>
            <a:endParaRPr lang="en-US"/>
          </a:p>
        </p:txBody>
      </p:sp>
      <p:sp>
        <p:nvSpPr>
          <p:cNvPr id="5" name="Footer Placeholder 4"/>
          <p:cNvSpPr>
            <a:spLocks noGrp="1"/>
          </p:cNvSpPr>
          <p:nvPr>
            <p:ph type="ftr" sz="quarter" idx="11"/>
          </p:nvPr>
        </p:nvSpPr>
        <p:spPr/>
        <p:txBody>
          <a:bodyPr/>
          <a:lstStyle/>
          <a:p>
            <a:r>
              <a:rPr lang="en-US" smtClean="0"/>
              <a:t>Adapted from http://www.tizag.com</a:t>
            </a:r>
            <a:endParaRPr lang="en-US"/>
          </a:p>
        </p:txBody>
      </p:sp>
      <p:sp>
        <p:nvSpPr>
          <p:cNvPr id="6" name="Slide Number Placeholder 5"/>
          <p:cNvSpPr>
            <a:spLocks noGrp="1"/>
          </p:cNvSpPr>
          <p:nvPr>
            <p:ph type="sldNum" sz="quarter" idx="12"/>
          </p:nvPr>
        </p:nvSpPr>
        <p:spPr/>
        <p:txBody>
          <a:bodyPr/>
          <a:lstStyle/>
          <a:p>
            <a:fld id="{DD7D388F-F931-4AE3-A47C-3D1C0CA83083}" type="slidenum">
              <a:rPr lang="en-US" smtClean="0"/>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1492978"/>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511FB3-1229-4814-8B16-8B1C267AB1DA}" type="datetime1">
              <a:rPr lang="en-US" smtClean="0"/>
              <a:pPr/>
              <a:t>6/19/2017</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smtClean="0"/>
              <a:t>Adapted from http://www.tizag.com</a:t>
            </a:r>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D7D388F-F931-4AE3-A47C-3D1C0CA83083}" type="slidenum">
              <a:rPr lang="en-US" smtClean="0"/>
              <a:pPr/>
              <a:t>‹#›</a:t>
            </a:fld>
            <a:endParaRPr lang="en-US"/>
          </a:p>
        </p:txBody>
      </p:sp>
    </p:spTree>
    <p:extLst>
      <p:ext uri="{BB962C8B-B14F-4D97-AF65-F5344CB8AC3E}">
        <p14:creationId xmlns:p14="http://schemas.microsoft.com/office/powerpoint/2010/main" val="409442417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hf sldNum="0" hdr="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www.devguru.com/Technologies/ecmascript/quickref/array.html" TargetMode="External"/><Relationship Id="rId2" Type="http://schemas.openxmlformats.org/officeDocument/2006/relationships/hyperlink" Target="http://www.comptechdoc.org/independent/web/cgi/javamanual/javaarray.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2401"/>
            <a:ext cx="7620000" cy="1219200"/>
          </a:xfrm>
        </p:spPr>
        <p:txBody>
          <a:bodyPr>
            <a:noAutofit/>
          </a:bodyPr>
          <a:lstStyle/>
          <a:p>
            <a:pPr algn="ctr"/>
            <a:r>
              <a:rPr lang="en-US" sz="6600" dirty="0" smtClean="0"/>
              <a:t>Javascript</a:t>
            </a:r>
            <a:endParaRPr lang="en-US" sz="6600" dirty="0"/>
          </a:p>
        </p:txBody>
      </p:sp>
      <p:sp>
        <p:nvSpPr>
          <p:cNvPr id="3" name="Subtitle 2"/>
          <p:cNvSpPr>
            <a:spLocks noGrp="1"/>
          </p:cNvSpPr>
          <p:nvPr>
            <p:ph type="subTitle" idx="1"/>
          </p:nvPr>
        </p:nvSpPr>
        <p:spPr>
          <a:xfrm>
            <a:off x="838200" y="1447800"/>
            <a:ext cx="8077200" cy="4800600"/>
          </a:xfrm>
        </p:spPr>
        <p:txBody>
          <a:bodyPr>
            <a:normAutofit fontScale="40000" lnSpcReduction="20000"/>
          </a:bodyPr>
          <a:lstStyle/>
          <a:p>
            <a:pPr algn="l"/>
            <a:endParaRPr lang="en-US" sz="2000" i="1" dirty="0" smtClean="0">
              <a:solidFill>
                <a:schemeClr val="tx1"/>
              </a:solidFill>
            </a:endParaRPr>
          </a:p>
          <a:p>
            <a:pPr algn="ctr"/>
            <a:r>
              <a:rPr lang="en-US" sz="3300" dirty="0" smtClean="0">
                <a:solidFill>
                  <a:schemeClr val="tx1"/>
                </a:solidFill>
              </a:rPr>
              <a:t>By:</a:t>
            </a:r>
          </a:p>
          <a:p>
            <a:pPr algn="ctr"/>
            <a:endParaRPr lang="en-US" sz="3300" dirty="0" smtClean="0">
              <a:solidFill>
                <a:schemeClr val="tx1"/>
              </a:solidFill>
            </a:endParaRPr>
          </a:p>
          <a:p>
            <a:pPr algn="ctr"/>
            <a:r>
              <a:rPr lang="en-US" sz="3300" dirty="0" smtClean="0">
                <a:solidFill>
                  <a:schemeClr val="tx1"/>
                </a:solidFill>
              </a:rPr>
              <a:t>John Kaira</a:t>
            </a:r>
            <a:endParaRPr lang="en-US" sz="3300" dirty="0">
              <a:solidFill>
                <a:schemeClr val="tx1"/>
              </a:solidFill>
            </a:endParaRPr>
          </a:p>
          <a:p>
            <a:pPr algn="ctr"/>
            <a:endParaRPr lang="en-US" sz="3300" dirty="0" smtClean="0">
              <a:solidFill>
                <a:schemeClr val="tx1"/>
              </a:solidFill>
            </a:endParaRPr>
          </a:p>
          <a:p>
            <a:pPr algn="ctr"/>
            <a:r>
              <a:rPr lang="en-US" sz="3300" dirty="0" smtClean="0">
                <a:solidFill>
                  <a:schemeClr val="tx1"/>
                </a:solidFill>
              </a:rPr>
              <a:t>Dept. Information and Communication Technology,</a:t>
            </a:r>
          </a:p>
          <a:p>
            <a:pPr algn="ctr"/>
            <a:endParaRPr lang="en-US" sz="3300" dirty="0" smtClean="0">
              <a:solidFill>
                <a:schemeClr val="tx1"/>
              </a:solidFill>
            </a:endParaRPr>
          </a:p>
          <a:p>
            <a:pPr algn="ctr"/>
            <a:r>
              <a:rPr lang="en-US" sz="3300" dirty="0" smtClean="0">
                <a:solidFill>
                  <a:schemeClr val="tx1"/>
                </a:solidFill>
              </a:rPr>
              <a:t>Mzuzu University</a:t>
            </a:r>
          </a:p>
          <a:p>
            <a:pPr algn="ctr"/>
            <a:r>
              <a:rPr lang="en-US" sz="3300" dirty="0" smtClean="0">
                <a:solidFill>
                  <a:schemeClr val="tx1"/>
                </a:solidFill>
              </a:rPr>
              <a:t>johnkaira2002@yahoo.com</a:t>
            </a:r>
          </a:p>
          <a:p>
            <a:pPr algn="l"/>
            <a:endParaRPr lang="en-US" sz="2000" i="1" dirty="0">
              <a:solidFill>
                <a:schemeClr val="tx1"/>
              </a:solidFill>
            </a:endParaRPr>
          </a:p>
          <a:p>
            <a:pPr algn="l"/>
            <a:endParaRPr lang="en-US" sz="2000" i="1" dirty="0" smtClean="0">
              <a:solidFill>
                <a:schemeClr val="tx1"/>
              </a:solidFill>
            </a:endParaRPr>
          </a:p>
          <a:p>
            <a:pPr algn="l"/>
            <a:endParaRPr lang="en-US" sz="2000" i="1" dirty="0">
              <a:solidFill>
                <a:schemeClr val="tx1"/>
              </a:solidFill>
            </a:endParaRPr>
          </a:p>
          <a:p>
            <a:pPr algn="l"/>
            <a:endParaRPr lang="en-US" sz="2000" i="1" dirty="0" smtClean="0">
              <a:solidFill>
                <a:schemeClr val="tx1"/>
              </a:solidFill>
            </a:endParaRPr>
          </a:p>
          <a:p>
            <a:pPr algn="l"/>
            <a:r>
              <a:rPr lang="en-US" sz="3300" i="1" dirty="0" smtClean="0">
                <a:solidFill>
                  <a:schemeClr val="tx1"/>
                </a:solidFill>
              </a:rPr>
              <a:t>I do not enlighten those who are not eager to learn, nor arouse those who are not anxious to give an explanation themselves. If I have presented one corner of the square and they cannot come back to me with the other three, I should not go over the points again.</a:t>
            </a:r>
            <a:br>
              <a:rPr lang="en-US" sz="3300" i="1" dirty="0" smtClean="0">
                <a:solidFill>
                  <a:schemeClr val="tx1"/>
                </a:solidFill>
              </a:rPr>
            </a:br>
            <a:r>
              <a:rPr lang="en-US" sz="3300" i="1" dirty="0" smtClean="0">
                <a:solidFill>
                  <a:schemeClr val="tx1"/>
                </a:solidFill>
              </a:rPr>
              <a:t/>
            </a:r>
            <a:br>
              <a:rPr lang="en-US" sz="3300" i="1" dirty="0" smtClean="0">
                <a:solidFill>
                  <a:schemeClr val="tx1"/>
                </a:solidFill>
              </a:rPr>
            </a:br>
            <a:r>
              <a:rPr lang="en-US" sz="3300" i="1" dirty="0" smtClean="0">
                <a:solidFill>
                  <a:schemeClr val="tx1"/>
                </a:solidFill>
              </a:rPr>
              <a:t>― Confucius</a:t>
            </a:r>
          </a:p>
          <a:p>
            <a:pPr algn="l"/>
            <a:endParaRPr lang="en-US" sz="2000" i="1" dirty="0">
              <a:solidFill>
                <a:schemeClr val="tx1"/>
              </a:solidFill>
            </a:endParaRPr>
          </a:p>
          <a:p>
            <a:pPr algn="l"/>
            <a:endParaRPr lang="en-US" sz="2000" i="1" dirty="0">
              <a:solidFill>
                <a:schemeClr val="tx1"/>
              </a:solidFill>
            </a:endParaRPr>
          </a:p>
        </p:txBody>
      </p:sp>
      <p:sp>
        <p:nvSpPr>
          <p:cNvPr id="4" name="Date Placeholder 3"/>
          <p:cNvSpPr>
            <a:spLocks noGrp="1"/>
          </p:cNvSpPr>
          <p:nvPr>
            <p:ph type="dt" sz="half" idx="10"/>
          </p:nvPr>
        </p:nvSpPr>
        <p:spPr/>
        <p:txBody>
          <a:bodyPr/>
          <a:lstStyle/>
          <a:p>
            <a:fld id="{45FAB17B-5C95-437D-AF41-547E2EF631F9}"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Overview</a:t>
            </a:r>
          </a:p>
        </p:txBody>
      </p:sp>
      <p:sp>
        <p:nvSpPr>
          <p:cNvPr id="3" name="Content Placeholder 2"/>
          <p:cNvSpPr>
            <a:spLocks noGrp="1"/>
          </p:cNvSpPr>
          <p:nvPr>
            <p:ph idx="1"/>
          </p:nvPr>
        </p:nvSpPr>
        <p:spPr/>
        <p:txBody>
          <a:bodyPr/>
          <a:lstStyle/>
          <a:p>
            <a:pPr>
              <a:buNone/>
            </a:pPr>
            <a:endParaRPr lang="en-US" dirty="0" smtClean="0"/>
          </a:p>
          <a:p>
            <a:pPr>
              <a:buNone/>
            </a:pPr>
            <a:endParaRPr lang="en-US" dirty="0"/>
          </a:p>
          <a:p>
            <a:pPr lvl="3">
              <a:buNone/>
            </a:pPr>
            <a:r>
              <a:rPr lang="en-US" sz="3200" dirty="0" smtClean="0"/>
              <a:t>• </a:t>
            </a:r>
            <a:r>
              <a:rPr lang="en-US" sz="3200" dirty="0"/>
              <a:t>JavaScript Basic</a:t>
            </a:r>
          </a:p>
          <a:p>
            <a:pPr lvl="3">
              <a:buNone/>
            </a:pPr>
            <a:r>
              <a:rPr lang="en-US" sz="3200" dirty="0"/>
              <a:t>• JavaScript Objects</a:t>
            </a:r>
          </a:p>
          <a:p>
            <a:pPr lvl="3">
              <a:buNone/>
            </a:pPr>
            <a:r>
              <a:rPr lang="en-US" sz="3200" dirty="0"/>
              <a:t>• JavaScript Advanced</a:t>
            </a:r>
          </a:p>
        </p:txBody>
      </p:sp>
      <p:sp>
        <p:nvSpPr>
          <p:cNvPr id="4" name="Date Placeholder 3"/>
          <p:cNvSpPr>
            <a:spLocks noGrp="1"/>
          </p:cNvSpPr>
          <p:nvPr>
            <p:ph type="dt" sz="half" idx="10"/>
          </p:nvPr>
        </p:nvSpPr>
        <p:spPr/>
        <p:txBody>
          <a:bodyPr/>
          <a:lstStyle/>
          <a:p>
            <a:fld id="{6F55007F-8CBB-42F1-ADC1-53A7254A2AB9}" type="datetime1">
              <a:rPr lang="en-US" smtClean="0"/>
              <a:pPr/>
              <a:t>6/19/2017</a:t>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990600" y="1447800"/>
            <a:ext cx="7943088" cy="4800600"/>
          </a:xfrm>
        </p:spPr>
        <p:txBody>
          <a:bodyPr>
            <a:normAutofit fontScale="85000" lnSpcReduction="10000"/>
          </a:bodyPr>
          <a:lstStyle/>
          <a:p>
            <a:pPr>
              <a:buNone/>
            </a:pPr>
            <a:endParaRPr lang="en-US" dirty="0" smtClean="0"/>
          </a:p>
          <a:p>
            <a:pPr>
              <a:buNone/>
            </a:pPr>
            <a:r>
              <a:rPr lang="en-US" dirty="0" smtClean="0"/>
              <a:t>• </a:t>
            </a:r>
            <a:r>
              <a:rPr lang="en-US" dirty="0"/>
              <a:t>HTML pages are usually static</a:t>
            </a:r>
          </a:p>
          <a:p>
            <a:pPr>
              <a:buNone/>
            </a:pPr>
            <a:r>
              <a:rPr lang="en-US" dirty="0"/>
              <a:t>• Scripts are used to add interactivity and perform many </a:t>
            </a:r>
            <a:r>
              <a:rPr lang="en-US" dirty="0" smtClean="0"/>
              <a:t>other tasks</a:t>
            </a:r>
          </a:p>
          <a:p>
            <a:pPr>
              <a:buNone/>
            </a:pPr>
            <a:endParaRPr lang="en-US" dirty="0"/>
          </a:p>
          <a:p>
            <a:pPr>
              <a:buNone/>
            </a:pPr>
            <a:r>
              <a:rPr lang="en-US" dirty="0"/>
              <a:t>• Two major kinds of </a:t>
            </a:r>
            <a:r>
              <a:rPr lang="en-US" dirty="0" smtClean="0"/>
              <a:t>scripting</a:t>
            </a:r>
          </a:p>
          <a:p>
            <a:pPr>
              <a:buNone/>
            </a:pPr>
            <a:endParaRPr lang="en-US" dirty="0"/>
          </a:p>
          <a:p>
            <a:pPr lvl="1">
              <a:buNone/>
            </a:pPr>
            <a:r>
              <a:rPr lang="en-US" dirty="0"/>
              <a:t>– Client-side scripting, also called browser scripting (uses JavaScript,</a:t>
            </a:r>
          </a:p>
          <a:p>
            <a:pPr lvl="1">
              <a:buNone/>
            </a:pPr>
            <a:r>
              <a:rPr lang="en-US" dirty="0"/>
              <a:t>VBScript, etc)</a:t>
            </a:r>
          </a:p>
          <a:p>
            <a:pPr lvl="1">
              <a:buNone/>
            </a:pPr>
            <a:r>
              <a:rPr lang="en-US" dirty="0"/>
              <a:t>– Server-side scripting (uses CGI scripts, Java </a:t>
            </a:r>
            <a:r>
              <a:rPr lang="en-US" dirty="0" err="1"/>
              <a:t>servelets</a:t>
            </a:r>
            <a:r>
              <a:rPr lang="en-US" dirty="0"/>
              <a:t>, Active Server</a:t>
            </a:r>
          </a:p>
          <a:p>
            <a:pPr lvl="1">
              <a:buNone/>
            </a:pPr>
            <a:r>
              <a:rPr lang="en-US" dirty="0"/>
              <a:t>Pages, etc.)</a:t>
            </a:r>
          </a:p>
          <a:p>
            <a:pPr>
              <a:buNone/>
            </a:pPr>
            <a:endParaRPr lang="en-US" b="1" dirty="0"/>
          </a:p>
          <a:p>
            <a:pPr>
              <a:buNone/>
            </a:pPr>
            <a:r>
              <a:rPr lang="en-US" dirty="0"/>
              <a:t>• JavaScript is considered THE scripting language of the </a:t>
            </a:r>
            <a:r>
              <a:rPr lang="en-US" dirty="0" smtClean="0"/>
              <a:t>Web (w3schools</a:t>
            </a:r>
            <a:r>
              <a:rPr lang="en-US" dirty="0"/>
              <a:t>)</a:t>
            </a:r>
          </a:p>
        </p:txBody>
      </p:sp>
      <p:sp>
        <p:nvSpPr>
          <p:cNvPr id="4" name="Date Placeholder 3"/>
          <p:cNvSpPr>
            <a:spLocks noGrp="1"/>
          </p:cNvSpPr>
          <p:nvPr>
            <p:ph type="dt" sz="half" idx="10"/>
          </p:nvPr>
        </p:nvSpPr>
        <p:spPr/>
        <p:txBody>
          <a:bodyPr/>
          <a:lstStyle/>
          <a:p>
            <a:fld id="{93FB8F36-7A87-49B1-A5C1-119085C7B5F7}"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dirty="0" smtClean="0"/>
              <a:t>The Evolution to the Web</a:t>
            </a:r>
            <a:endParaRPr lang="en-US" dirty="0"/>
          </a:p>
        </p:txBody>
      </p:sp>
      <p:sp>
        <p:nvSpPr>
          <p:cNvPr id="3" name="Content Placeholder 2"/>
          <p:cNvSpPr>
            <a:spLocks noGrp="1"/>
          </p:cNvSpPr>
          <p:nvPr>
            <p:ph idx="1"/>
          </p:nvPr>
        </p:nvSpPr>
        <p:spPr>
          <a:xfrm>
            <a:off x="990600" y="1447800"/>
            <a:ext cx="7943088" cy="4800600"/>
          </a:xfrm>
        </p:spPr>
        <p:txBody>
          <a:bodyPr>
            <a:normAutofit/>
          </a:bodyPr>
          <a:lstStyle/>
          <a:p>
            <a:r>
              <a:rPr lang="en-US" sz="2400" dirty="0" smtClean="0"/>
              <a:t>Static Web Pages = HTML</a:t>
            </a:r>
          </a:p>
          <a:p>
            <a:r>
              <a:rPr lang="en-US" sz="2400" dirty="0" smtClean="0"/>
              <a:t>Web Pages with CGI scripts = HTML + Programming Language X (e.g., Perl or C)</a:t>
            </a:r>
          </a:p>
          <a:p>
            <a:r>
              <a:rPr lang="en-US" sz="2400" dirty="0" smtClean="0"/>
              <a:t>Dynamic HTML = XML + CSS + Programming Language X (e.g., Javascript) + DOM</a:t>
            </a:r>
          </a:p>
          <a:p>
            <a:r>
              <a:rPr lang="en-US" sz="2400" dirty="0" smtClean="0"/>
              <a:t>Database-Driven Web Pages = HTML +  Programming Language X + ODBC/JDBC</a:t>
            </a:r>
          </a:p>
          <a:p>
            <a:r>
              <a:rPr lang="en-US" sz="2400" dirty="0" smtClean="0"/>
              <a:t>Web Services</a:t>
            </a:r>
          </a:p>
          <a:p>
            <a:r>
              <a:rPr lang="en-US" sz="2400" dirty="0" smtClean="0"/>
              <a:t>Semantic Web (currently)</a:t>
            </a:r>
          </a:p>
          <a:p>
            <a:endParaRPr lang="en-US" sz="2400" dirty="0"/>
          </a:p>
        </p:txBody>
      </p:sp>
      <p:sp>
        <p:nvSpPr>
          <p:cNvPr id="4" name="Date Placeholder 3"/>
          <p:cNvSpPr>
            <a:spLocks noGrp="1"/>
          </p:cNvSpPr>
          <p:nvPr>
            <p:ph type="dt" sz="half" idx="10"/>
          </p:nvPr>
        </p:nvSpPr>
        <p:spPr/>
        <p:txBody>
          <a:bodyPr/>
          <a:lstStyle/>
          <a:p>
            <a:fld id="{93FB8F36-7A87-49B1-A5C1-119085C7B5F7}"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552688" cy="1143000"/>
          </a:xfrm>
        </p:spPr>
        <p:txBody>
          <a:bodyPr/>
          <a:lstStyle/>
          <a:p>
            <a:r>
              <a:rPr lang="en-US" dirty="0" smtClean="0"/>
              <a:t>JavaScript – Example 1</a:t>
            </a:r>
            <a:endParaRPr lang="en-US" dirty="0"/>
          </a:p>
        </p:txBody>
      </p:sp>
      <p:sp>
        <p:nvSpPr>
          <p:cNvPr id="3" name="Content Placeholder 2"/>
          <p:cNvSpPr>
            <a:spLocks noGrp="1"/>
          </p:cNvSpPr>
          <p:nvPr>
            <p:ph idx="1"/>
          </p:nvPr>
        </p:nvSpPr>
        <p:spPr>
          <a:xfrm>
            <a:off x="304800" y="1219200"/>
            <a:ext cx="8534400" cy="5410200"/>
          </a:xfrm>
        </p:spPr>
        <p:txBody>
          <a:bodyPr>
            <a:normAutofit fontScale="55000" lnSpcReduction="20000"/>
          </a:bodyPr>
          <a:lstStyle/>
          <a:p>
            <a:pPr>
              <a:buNone/>
            </a:pPr>
            <a:endParaRPr lang="en-US" b="1" dirty="0" smtClean="0"/>
          </a:p>
          <a:p>
            <a:pPr>
              <a:buNone/>
            </a:pPr>
            <a:r>
              <a:rPr lang="en-US" sz="3800" b="1" dirty="0" smtClean="0"/>
              <a:t>Using </a:t>
            </a:r>
            <a:r>
              <a:rPr lang="en-US" sz="3800" b="1" dirty="0"/>
              <a:t>Javascript to write text on a </a:t>
            </a:r>
            <a:r>
              <a:rPr lang="en-US" sz="3800" b="1" dirty="0" smtClean="0"/>
              <a:t>page</a:t>
            </a:r>
          </a:p>
          <a:p>
            <a:pPr>
              <a:buNone/>
            </a:pPr>
            <a:endParaRPr lang="en-US" b="1" dirty="0" smtClean="0"/>
          </a:p>
          <a:p>
            <a:pPr>
              <a:buNone/>
            </a:pPr>
            <a:r>
              <a:rPr lang="en-US" sz="2400" dirty="0"/>
              <a:t>&lt;HTML&gt;</a:t>
            </a:r>
          </a:p>
          <a:p>
            <a:pPr>
              <a:buNone/>
            </a:pPr>
            <a:r>
              <a:rPr lang="en-US" sz="2400" dirty="0" smtClean="0"/>
              <a:t>	&lt;</a:t>
            </a:r>
            <a:r>
              <a:rPr lang="en-US" sz="2400" dirty="0"/>
              <a:t>BODY&gt;</a:t>
            </a:r>
          </a:p>
          <a:p>
            <a:pPr>
              <a:buNone/>
            </a:pPr>
            <a:r>
              <a:rPr lang="en-US" sz="2400" dirty="0" smtClean="0"/>
              <a:t>		&lt;</a:t>
            </a:r>
            <a:r>
              <a:rPr lang="en-US" sz="2400" dirty="0"/>
              <a:t>SCRIPT TYPE=“text/</a:t>
            </a:r>
            <a:r>
              <a:rPr lang="en-US" sz="2400" dirty="0" err="1"/>
              <a:t>javascript</a:t>
            </a:r>
            <a:r>
              <a:rPr lang="en-US" sz="2400" dirty="0"/>
              <a:t>”&gt;</a:t>
            </a:r>
          </a:p>
          <a:p>
            <a:pPr>
              <a:buNone/>
            </a:pPr>
            <a:r>
              <a:rPr lang="en-US" sz="2400" dirty="0" smtClean="0"/>
              <a:t>			</a:t>
            </a:r>
            <a:r>
              <a:rPr lang="en-US" sz="2400" dirty="0" err="1" smtClean="0"/>
              <a:t>document.write</a:t>
            </a:r>
            <a:r>
              <a:rPr lang="en-US" sz="2400" dirty="0"/>
              <a:t>(“Welcome to </a:t>
            </a:r>
            <a:r>
              <a:rPr lang="en-US" sz="2400" dirty="0" err="1"/>
              <a:t>javascript</a:t>
            </a:r>
            <a:r>
              <a:rPr lang="en-US" sz="2400" dirty="0"/>
              <a:t>!”);</a:t>
            </a:r>
          </a:p>
          <a:p>
            <a:pPr>
              <a:buNone/>
            </a:pPr>
            <a:r>
              <a:rPr lang="en-US" sz="2400" dirty="0" smtClean="0"/>
              <a:t>		&lt;/</a:t>
            </a:r>
            <a:r>
              <a:rPr lang="en-US" sz="2400" dirty="0"/>
              <a:t>SCRIPT&gt;</a:t>
            </a:r>
          </a:p>
          <a:p>
            <a:pPr>
              <a:buNone/>
            </a:pPr>
            <a:r>
              <a:rPr lang="en-US" sz="2400" dirty="0" smtClean="0"/>
              <a:t>	&lt;/</a:t>
            </a:r>
            <a:r>
              <a:rPr lang="en-US" sz="2400" dirty="0"/>
              <a:t>BODY&gt;</a:t>
            </a:r>
          </a:p>
          <a:p>
            <a:pPr>
              <a:buNone/>
            </a:pPr>
            <a:r>
              <a:rPr lang="en-US" sz="2400" dirty="0"/>
              <a:t>&lt;/HTML</a:t>
            </a:r>
            <a:r>
              <a:rPr lang="en-US" sz="2400" dirty="0" smtClean="0"/>
              <a:t>&gt;</a:t>
            </a:r>
          </a:p>
          <a:p>
            <a:pPr>
              <a:buNone/>
            </a:pPr>
            <a:endParaRPr lang="en-US" sz="2400" dirty="0" smtClean="0"/>
          </a:p>
          <a:p>
            <a:r>
              <a:rPr lang="en-US" sz="2400" dirty="0"/>
              <a:t>We use a &lt;SCRIPT&gt; tag, and inside the &lt;SCRIPT&gt; tag we use</a:t>
            </a:r>
          </a:p>
          <a:p>
            <a:pPr>
              <a:buNone/>
            </a:pPr>
            <a:r>
              <a:rPr lang="en-US" sz="2400" dirty="0"/>
              <a:t>the TYPE attribute to define the scripting language.</a:t>
            </a:r>
          </a:p>
          <a:p>
            <a:endParaRPr lang="en-US" sz="2400" dirty="0"/>
          </a:p>
          <a:p>
            <a:r>
              <a:rPr lang="en-US" sz="2400" dirty="0" smtClean="0"/>
              <a:t>Thus</a:t>
            </a:r>
            <a:r>
              <a:rPr lang="en-US" sz="2400" dirty="0"/>
              <a:t>, the &lt;SCRIPT TYPE=“text/</a:t>
            </a:r>
            <a:r>
              <a:rPr lang="en-US" sz="2400" dirty="0" err="1"/>
              <a:t>javascript</a:t>
            </a:r>
            <a:r>
              <a:rPr lang="en-US" sz="2400" dirty="0"/>
              <a:t>”&gt; and &lt;/script&gt; tells</a:t>
            </a:r>
          </a:p>
          <a:p>
            <a:pPr>
              <a:buNone/>
            </a:pPr>
            <a:r>
              <a:rPr lang="en-US" sz="2400" dirty="0"/>
              <a:t>where the JavaScript starts and </a:t>
            </a:r>
            <a:r>
              <a:rPr lang="en-US" sz="2400" dirty="0" smtClean="0"/>
              <a:t>ends.</a:t>
            </a:r>
          </a:p>
          <a:p>
            <a:endParaRPr lang="en-US" sz="2400" dirty="0" smtClean="0"/>
          </a:p>
          <a:p>
            <a:r>
              <a:rPr lang="en-US" sz="2400" dirty="0" smtClean="0"/>
              <a:t>The </a:t>
            </a:r>
            <a:r>
              <a:rPr lang="en-US" sz="2400" dirty="0" err="1"/>
              <a:t>document.write</a:t>
            </a:r>
            <a:r>
              <a:rPr lang="en-US" sz="2400" dirty="0"/>
              <a:t> command is a standard JavaScript</a:t>
            </a:r>
          </a:p>
          <a:p>
            <a:pPr>
              <a:buNone/>
            </a:pPr>
            <a:r>
              <a:rPr lang="en-US" sz="2400" dirty="0"/>
              <a:t>command for writing output to a </a:t>
            </a:r>
            <a:r>
              <a:rPr lang="en-US" sz="2400" dirty="0" smtClean="0"/>
              <a:t>page.</a:t>
            </a:r>
            <a:endParaRPr lang="en-US" sz="2400" dirty="0"/>
          </a:p>
        </p:txBody>
      </p:sp>
      <p:sp>
        <p:nvSpPr>
          <p:cNvPr id="4" name="Date Placeholder 3"/>
          <p:cNvSpPr>
            <a:spLocks noGrp="1"/>
          </p:cNvSpPr>
          <p:nvPr>
            <p:ph type="dt" sz="half" idx="10"/>
          </p:nvPr>
        </p:nvSpPr>
        <p:spPr/>
        <p:txBody>
          <a:bodyPr/>
          <a:lstStyle/>
          <a:p>
            <a:fld id="{7CDB5EBC-958A-4D93-B659-BD08355E7C0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lstStyle/>
          <a:p>
            <a:r>
              <a:rPr lang="en-US" dirty="0" smtClean="0"/>
              <a:t>Javascript – Example II</a:t>
            </a:r>
            <a:endParaRPr lang="en-US" dirty="0"/>
          </a:p>
        </p:txBody>
      </p:sp>
      <p:sp>
        <p:nvSpPr>
          <p:cNvPr id="3" name="Content Placeholder 2"/>
          <p:cNvSpPr>
            <a:spLocks noGrp="1"/>
          </p:cNvSpPr>
          <p:nvPr>
            <p:ph idx="1"/>
          </p:nvPr>
        </p:nvSpPr>
        <p:spPr>
          <a:xfrm>
            <a:off x="990600" y="1600200"/>
            <a:ext cx="7498080" cy="4800600"/>
          </a:xfrm>
        </p:spPr>
        <p:txBody>
          <a:bodyPr>
            <a:normAutofit/>
          </a:bodyPr>
          <a:lstStyle/>
          <a:p>
            <a:pPr>
              <a:buNone/>
            </a:pPr>
            <a:r>
              <a:rPr lang="en-US" dirty="0"/>
              <a:t>Adding HTML tags to Javascript</a:t>
            </a:r>
          </a:p>
          <a:p>
            <a:pPr>
              <a:buNone/>
            </a:pPr>
            <a:r>
              <a:rPr lang="en-US" sz="2400" dirty="0"/>
              <a:t>&lt;HTML&gt;</a:t>
            </a:r>
          </a:p>
          <a:p>
            <a:pPr>
              <a:buNone/>
            </a:pPr>
            <a:r>
              <a:rPr lang="en-US" sz="2400" dirty="0" smtClean="0"/>
              <a:t>	&lt;</a:t>
            </a:r>
            <a:r>
              <a:rPr lang="en-US" sz="2400" dirty="0"/>
              <a:t>BODY&gt;</a:t>
            </a:r>
          </a:p>
          <a:p>
            <a:pPr>
              <a:buNone/>
            </a:pPr>
            <a:r>
              <a:rPr lang="en-US" sz="2400" dirty="0" smtClean="0"/>
              <a:t>		&lt;</a:t>
            </a:r>
            <a:r>
              <a:rPr lang="en-US" sz="2400" dirty="0"/>
              <a:t>SCRIPT TYPE=“text/</a:t>
            </a:r>
            <a:r>
              <a:rPr lang="en-US" sz="2400" dirty="0" err="1"/>
              <a:t>javascript</a:t>
            </a:r>
            <a:r>
              <a:rPr lang="en-US" sz="2400" dirty="0"/>
              <a:t>”&gt;</a:t>
            </a:r>
          </a:p>
          <a:p>
            <a:pPr>
              <a:buNone/>
            </a:pPr>
            <a:r>
              <a:rPr lang="pt-BR" sz="2400" dirty="0" smtClean="0"/>
              <a:t>		document.write</a:t>
            </a:r>
            <a:r>
              <a:rPr lang="pt-BR" sz="2400" dirty="0"/>
              <a:t>(“&lt;H2&gt;Welcome to javascript!&lt;/H2&gt;”);</a:t>
            </a:r>
          </a:p>
          <a:p>
            <a:pPr>
              <a:buNone/>
            </a:pPr>
            <a:r>
              <a:rPr lang="en-US" sz="2400" dirty="0" smtClean="0"/>
              <a:t>		&lt;/</a:t>
            </a:r>
            <a:r>
              <a:rPr lang="en-US" sz="2400" dirty="0"/>
              <a:t>SCRIPT</a:t>
            </a:r>
            <a:r>
              <a:rPr lang="en-US" sz="2400" dirty="0" smtClean="0"/>
              <a:t>&gt;</a:t>
            </a:r>
          </a:p>
          <a:p>
            <a:pPr>
              <a:buNone/>
            </a:pPr>
            <a:r>
              <a:rPr lang="en-US" sz="2400" dirty="0"/>
              <a:t>	</a:t>
            </a:r>
            <a:r>
              <a:rPr lang="en-US" sz="2400" dirty="0" smtClean="0"/>
              <a:t> &lt;/BODY&gt;</a:t>
            </a:r>
            <a:endParaRPr lang="en-US" sz="2400" dirty="0"/>
          </a:p>
          <a:p>
            <a:pPr>
              <a:buNone/>
            </a:pPr>
            <a:r>
              <a:rPr lang="en-US" sz="2400" dirty="0"/>
              <a:t>&lt;/HTML&gt;</a:t>
            </a:r>
          </a:p>
        </p:txBody>
      </p:sp>
      <p:sp>
        <p:nvSpPr>
          <p:cNvPr id="4" name="Date Placeholder 3"/>
          <p:cNvSpPr>
            <a:spLocks noGrp="1"/>
          </p:cNvSpPr>
          <p:nvPr>
            <p:ph type="dt" sz="half" idx="10"/>
          </p:nvPr>
        </p:nvSpPr>
        <p:spPr/>
        <p:txBody>
          <a:bodyPr/>
          <a:lstStyle/>
          <a:p>
            <a:fld id="{1A52F576-126E-4DE9-B5E7-8F71EE9799FA}"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8171688" cy="1143000"/>
          </a:xfrm>
        </p:spPr>
        <p:txBody>
          <a:bodyPr>
            <a:normAutofit fontScale="90000"/>
          </a:bodyPr>
          <a:lstStyle/>
          <a:p>
            <a:r>
              <a:rPr lang="en-US" b="1" dirty="0" smtClean="0"/>
              <a:t>Where to Place JavaScript</a:t>
            </a:r>
            <a:br>
              <a:rPr lang="en-US" b="1" dirty="0" smtClean="0"/>
            </a:br>
            <a:endParaRPr lang="en-US" dirty="0"/>
          </a:p>
        </p:txBody>
      </p:sp>
      <p:sp>
        <p:nvSpPr>
          <p:cNvPr id="3" name="Content Placeholder 2"/>
          <p:cNvSpPr>
            <a:spLocks noGrp="1"/>
          </p:cNvSpPr>
          <p:nvPr>
            <p:ph idx="1"/>
          </p:nvPr>
        </p:nvSpPr>
        <p:spPr>
          <a:xfrm>
            <a:off x="838200" y="914400"/>
            <a:ext cx="8077200" cy="5791200"/>
          </a:xfrm>
        </p:spPr>
        <p:txBody>
          <a:bodyPr>
            <a:noAutofit/>
          </a:bodyPr>
          <a:lstStyle/>
          <a:p>
            <a:r>
              <a:rPr lang="en-US" sz="2400" dirty="0" smtClean="0"/>
              <a:t>There are three general areas that JavaScript can be placed for use in a webpage.</a:t>
            </a:r>
          </a:p>
          <a:p>
            <a:endParaRPr lang="en-US" sz="2400" dirty="0" smtClean="0"/>
          </a:p>
          <a:p>
            <a:pPr marL="859536" lvl="1" indent="-457200">
              <a:buFont typeface="+mj-lt"/>
              <a:buAutoNum type="arabicPeriod"/>
            </a:pPr>
            <a:r>
              <a:rPr lang="en-US" sz="2400" dirty="0" smtClean="0"/>
              <a:t>Inside the head tag</a:t>
            </a:r>
          </a:p>
          <a:p>
            <a:pPr marL="859536" lvl="1" indent="-457200">
              <a:buFont typeface="+mj-lt"/>
              <a:buAutoNum type="arabicPeriod"/>
            </a:pPr>
            <a:r>
              <a:rPr lang="en-US" sz="2400" dirty="0" smtClean="0"/>
              <a:t>Within the body tag</a:t>
            </a:r>
          </a:p>
          <a:p>
            <a:pPr marL="859536" lvl="1" indent="-457200">
              <a:buFont typeface="+mj-lt"/>
              <a:buAutoNum type="arabicPeriod"/>
            </a:pPr>
            <a:r>
              <a:rPr lang="en-US" sz="2400" dirty="0" smtClean="0"/>
              <a:t>In an external file</a:t>
            </a:r>
          </a:p>
          <a:p>
            <a:pPr marL="859536" lvl="1" indent="-457200">
              <a:buNone/>
            </a:pPr>
            <a:endParaRPr lang="en-US" sz="2400" dirty="0" smtClean="0"/>
          </a:p>
          <a:p>
            <a:pPr marL="585216" indent="-457200">
              <a:buNone/>
            </a:pPr>
            <a:r>
              <a:rPr lang="en-US" sz="2400" dirty="0" smtClean="0"/>
              <a:t>	</a:t>
            </a:r>
            <a:r>
              <a:rPr lang="en-US" sz="2200" dirty="0" smtClean="0"/>
              <a:t>The location choice of </a:t>
            </a:r>
            <a:r>
              <a:rPr lang="en-US" sz="2200" i="1" dirty="0" smtClean="0"/>
              <a:t>head</a:t>
            </a:r>
            <a:r>
              <a:rPr lang="en-US" sz="2200" dirty="0" smtClean="0"/>
              <a:t> or </a:t>
            </a:r>
            <a:r>
              <a:rPr lang="en-US" sz="2200" i="1" dirty="0" smtClean="0"/>
              <a:t>body</a:t>
            </a:r>
            <a:r>
              <a:rPr lang="en-US" sz="2200" dirty="0" smtClean="0"/>
              <a:t> is very simple. If you want to have a script run on some event, such as when a user clicks somewhere, then you will place that script in the </a:t>
            </a:r>
            <a:r>
              <a:rPr lang="en-US" sz="2200" i="1" dirty="0" smtClean="0"/>
              <a:t>head</a:t>
            </a:r>
            <a:r>
              <a:rPr lang="en-US" sz="2200" dirty="0" smtClean="0"/>
              <a:t>. If you want the script to run when the page loads, like our "Welcome to </a:t>
            </a:r>
            <a:r>
              <a:rPr lang="en-US" sz="2200" dirty="0" err="1" smtClean="0"/>
              <a:t>javascript</a:t>
            </a:r>
            <a:r>
              <a:rPr lang="en-US" sz="2200" dirty="0" smtClean="0"/>
              <a:t>!" example in the previous slide, then you will want to place the script within the </a:t>
            </a:r>
            <a:r>
              <a:rPr lang="en-US" sz="2200" i="1" dirty="0" smtClean="0"/>
              <a:t>body</a:t>
            </a:r>
            <a:r>
              <a:rPr lang="en-US" sz="2200" dirty="0" smtClean="0"/>
              <a:t> tag. External JavaScript files and their uses will be discussed later</a:t>
            </a:r>
          </a:p>
        </p:txBody>
      </p:sp>
      <p:sp>
        <p:nvSpPr>
          <p:cNvPr id="4" name="Date Placeholder 3"/>
          <p:cNvSpPr>
            <a:spLocks noGrp="1"/>
          </p:cNvSpPr>
          <p:nvPr>
            <p:ph type="dt" sz="half" idx="10"/>
          </p:nvPr>
        </p:nvSpPr>
        <p:spPr/>
        <p:txBody>
          <a:bodyPr/>
          <a:lstStyle/>
          <a:p>
            <a:fld id="{B6592643-E38B-40A9-A0F5-2BBA6AED15D6}"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498080" cy="1143000"/>
          </a:xfrm>
        </p:spPr>
        <p:txBody>
          <a:bodyPr>
            <a:normAutofit fontScale="90000"/>
          </a:bodyPr>
          <a:lstStyle/>
          <a:p>
            <a:r>
              <a:rPr lang="en-US" b="1" dirty="0" smtClean="0"/>
              <a:t>An Example Head Script</a:t>
            </a:r>
            <a:br>
              <a:rPr lang="en-US" b="1" dirty="0" smtClean="0"/>
            </a:br>
            <a:endParaRPr lang="en-US" dirty="0"/>
          </a:p>
        </p:txBody>
      </p:sp>
      <p:sp>
        <p:nvSpPr>
          <p:cNvPr id="3" name="Content Placeholder 2"/>
          <p:cNvSpPr>
            <a:spLocks noGrp="1"/>
          </p:cNvSpPr>
          <p:nvPr>
            <p:ph idx="1"/>
          </p:nvPr>
        </p:nvSpPr>
        <p:spPr>
          <a:xfrm>
            <a:off x="914400" y="838200"/>
            <a:ext cx="4572000" cy="5791200"/>
          </a:xfrm>
        </p:spPr>
        <p:txBody>
          <a:bodyPr>
            <a:normAutofit fontScale="77500" lnSpcReduction="20000"/>
          </a:bodyPr>
          <a:lstStyle/>
          <a:p>
            <a:pPr>
              <a:buNone/>
            </a:pPr>
            <a:r>
              <a:rPr lang="en-US" sz="2400" dirty="0" smtClean="0"/>
              <a:t>&lt;html&gt; </a:t>
            </a:r>
          </a:p>
          <a:p>
            <a:pPr>
              <a:buNone/>
            </a:pPr>
            <a:r>
              <a:rPr lang="en-US" sz="2400" dirty="0" smtClean="0"/>
              <a:t>&lt;head&gt; </a:t>
            </a:r>
          </a:p>
          <a:p>
            <a:pPr>
              <a:buNone/>
            </a:pPr>
            <a:r>
              <a:rPr lang="en-US" sz="2400" dirty="0" smtClean="0"/>
              <a:t>&lt;script type="text/JavaScript"&gt;</a:t>
            </a:r>
          </a:p>
          <a:p>
            <a:pPr>
              <a:buNone/>
            </a:pPr>
            <a:r>
              <a:rPr lang="en-US" sz="2400" dirty="0" smtClean="0"/>
              <a:t> &lt;!--</a:t>
            </a:r>
          </a:p>
          <a:p>
            <a:pPr>
              <a:buNone/>
            </a:pPr>
            <a:r>
              <a:rPr lang="en-US" sz="2400" dirty="0" smtClean="0"/>
              <a:t>function popup() </a:t>
            </a:r>
          </a:p>
          <a:p>
            <a:pPr>
              <a:buNone/>
            </a:pPr>
            <a:r>
              <a:rPr lang="en-US" sz="2400" dirty="0" smtClean="0"/>
              <a:t>	{ </a:t>
            </a:r>
          </a:p>
          <a:p>
            <a:pPr>
              <a:buNone/>
            </a:pPr>
            <a:r>
              <a:rPr lang="en-US" sz="2400" dirty="0" smtClean="0"/>
              <a:t>		alert("Hello World")</a:t>
            </a:r>
          </a:p>
          <a:p>
            <a:pPr>
              <a:buNone/>
            </a:pPr>
            <a:r>
              <a:rPr lang="en-US" sz="2400" dirty="0" smtClean="0"/>
              <a:t>	 }</a:t>
            </a:r>
          </a:p>
          <a:p>
            <a:pPr>
              <a:buNone/>
            </a:pPr>
            <a:r>
              <a:rPr lang="en-US" sz="2400" dirty="0" smtClean="0"/>
              <a:t> //--&gt; </a:t>
            </a:r>
          </a:p>
          <a:p>
            <a:pPr>
              <a:buNone/>
            </a:pPr>
            <a:r>
              <a:rPr lang="en-US" sz="2400" dirty="0" smtClean="0"/>
              <a:t>&lt;/script&gt; </a:t>
            </a:r>
          </a:p>
          <a:p>
            <a:pPr>
              <a:buNone/>
            </a:pPr>
            <a:r>
              <a:rPr lang="en-US" sz="2400" dirty="0" smtClean="0"/>
              <a:t>&lt;/head&gt; </a:t>
            </a:r>
          </a:p>
          <a:p>
            <a:pPr>
              <a:buNone/>
            </a:pPr>
            <a:r>
              <a:rPr lang="en-US" sz="2400" dirty="0" smtClean="0"/>
              <a:t>&lt;body&gt; </a:t>
            </a:r>
          </a:p>
          <a:p>
            <a:pPr>
              <a:buNone/>
            </a:pPr>
            <a:r>
              <a:rPr lang="en-US" sz="2400" dirty="0" smtClean="0"/>
              <a:t>&lt;input type="button" </a:t>
            </a:r>
            <a:r>
              <a:rPr lang="en-US" sz="2400" dirty="0" err="1" smtClean="0"/>
              <a:t>onclick</a:t>
            </a:r>
            <a:r>
              <a:rPr lang="en-US" sz="2400" dirty="0" smtClean="0"/>
              <a:t>="popup()" value="popup"&gt;</a:t>
            </a:r>
          </a:p>
          <a:p>
            <a:pPr>
              <a:buNone/>
            </a:pPr>
            <a:r>
              <a:rPr lang="en-US" sz="2400" dirty="0" smtClean="0"/>
              <a:t>&lt;/body&gt; </a:t>
            </a:r>
          </a:p>
          <a:p>
            <a:pPr>
              <a:buNone/>
            </a:pPr>
            <a:r>
              <a:rPr lang="en-US" sz="2400" dirty="0" smtClean="0"/>
              <a:t>&lt;/html&gt; </a:t>
            </a:r>
            <a:endParaRPr lang="en-US" sz="2400" dirty="0"/>
          </a:p>
        </p:txBody>
      </p:sp>
      <p:sp>
        <p:nvSpPr>
          <p:cNvPr id="5" name="Date Placeholder 4"/>
          <p:cNvSpPr>
            <a:spLocks noGrp="1"/>
          </p:cNvSpPr>
          <p:nvPr>
            <p:ph type="dt" sz="half" idx="10"/>
          </p:nvPr>
        </p:nvSpPr>
        <p:spPr/>
        <p:txBody>
          <a:bodyPr/>
          <a:lstStyle/>
          <a:p>
            <a:fld id="{B6D7A289-D008-409B-A7F6-6DF5D6BF6845}" type="datetime1">
              <a:rPr lang="en-US" smtClean="0"/>
              <a:pPr/>
              <a:t>6/19/2017</a:t>
            </a:fld>
            <a:endParaRPr lang="en-US"/>
          </a:p>
        </p:txBody>
      </p:sp>
      <p:sp>
        <p:nvSpPr>
          <p:cNvPr id="4" name="TextBox 3"/>
          <p:cNvSpPr txBox="1"/>
          <p:nvPr/>
        </p:nvSpPr>
        <p:spPr>
          <a:xfrm>
            <a:off x="5486400" y="1219200"/>
            <a:ext cx="3352800" cy="2031325"/>
          </a:xfrm>
          <a:prstGeom prst="rect">
            <a:avLst/>
          </a:prstGeom>
          <a:noFill/>
        </p:spPr>
        <p:txBody>
          <a:bodyPr wrap="square" rtlCol="0">
            <a:spAutoFit/>
          </a:bodyPr>
          <a:lstStyle/>
          <a:p>
            <a:r>
              <a:rPr lang="en-US" dirty="0" smtClean="0">
                <a:solidFill>
                  <a:srgbClr val="00B050"/>
                </a:solidFill>
              </a:rPr>
              <a:t>We created a function called </a:t>
            </a:r>
            <a:r>
              <a:rPr lang="en-US" i="1" dirty="0" smtClean="0">
                <a:solidFill>
                  <a:srgbClr val="00B050"/>
                </a:solidFill>
              </a:rPr>
              <a:t>popup</a:t>
            </a:r>
            <a:r>
              <a:rPr lang="en-US" dirty="0" smtClean="0">
                <a:solidFill>
                  <a:srgbClr val="00B050"/>
                </a:solidFill>
              </a:rPr>
              <a:t> and placed it in the </a:t>
            </a:r>
            <a:r>
              <a:rPr lang="en-US" i="1" dirty="0" smtClean="0">
                <a:solidFill>
                  <a:srgbClr val="00B050"/>
                </a:solidFill>
              </a:rPr>
              <a:t>head</a:t>
            </a:r>
            <a:r>
              <a:rPr lang="en-US" dirty="0" smtClean="0">
                <a:solidFill>
                  <a:srgbClr val="00B050"/>
                </a:solidFill>
              </a:rPr>
              <a:t> of the HTML document. Now every time someone clicks on the button (this is an event), an alert will pop up with "Hello World!".</a:t>
            </a:r>
          </a:p>
          <a:p>
            <a:endParaRPr lang="en-US" dirty="0">
              <a:solidFill>
                <a:srgbClr val="00B050"/>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
            </a:r>
            <a:br>
              <a:rPr lang="en-US" b="1" dirty="0" smtClean="0"/>
            </a:br>
            <a:r>
              <a:rPr lang="en-US" b="1" dirty="0" smtClean="0"/>
              <a:t>Importing an External JavaScript File</a:t>
            </a:r>
            <a:br>
              <a:rPr lang="en-US" b="1" dirty="0" smtClean="0"/>
            </a:br>
            <a:endParaRPr lang="en-US" dirty="0"/>
          </a:p>
        </p:txBody>
      </p:sp>
      <p:sp>
        <p:nvSpPr>
          <p:cNvPr id="3" name="Content Placeholder 2"/>
          <p:cNvSpPr>
            <a:spLocks noGrp="1"/>
          </p:cNvSpPr>
          <p:nvPr>
            <p:ph idx="1"/>
          </p:nvPr>
        </p:nvSpPr>
        <p:spPr>
          <a:xfrm>
            <a:off x="914400" y="1447800"/>
            <a:ext cx="8019288" cy="5029200"/>
          </a:xfrm>
        </p:spPr>
        <p:txBody>
          <a:bodyPr>
            <a:normAutofit/>
          </a:bodyPr>
          <a:lstStyle/>
          <a:p>
            <a:r>
              <a:rPr lang="en-US" sz="2000" dirty="0" smtClean="0"/>
              <a:t>Importing an external file is relatively painless. First, the file you are importing must be valid JavaScript, and </a:t>
            </a:r>
            <a:r>
              <a:rPr lang="en-US" sz="2000" b="1" dirty="0" smtClean="0"/>
              <a:t>only</a:t>
            </a:r>
            <a:r>
              <a:rPr lang="en-US" sz="2000" dirty="0" smtClean="0"/>
              <a:t> JavaScript.</a:t>
            </a:r>
          </a:p>
          <a:p>
            <a:endParaRPr lang="en-US" sz="2000" dirty="0" smtClean="0"/>
          </a:p>
          <a:p>
            <a:r>
              <a:rPr lang="en-US" sz="2000" dirty="0" smtClean="0"/>
              <a:t>S</a:t>
            </a:r>
            <a:r>
              <a:rPr lang="en-US" sz="1800" dirty="0" smtClean="0"/>
              <a:t>econd, the file must have the file extension ".</a:t>
            </a:r>
            <a:r>
              <a:rPr lang="en-US" sz="1800" dirty="0" err="1" smtClean="0"/>
              <a:t>js</a:t>
            </a:r>
            <a:r>
              <a:rPr lang="en-US" sz="1800" dirty="0" smtClean="0"/>
              <a:t>".  Lastly, you must know the location of the file.</a:t>
            </a:r>
          </a:p>
          <a:p>
            <a:pPr>
              <a:buNone/>
            </a:pPr>
            <a:endParaRPr lang="en-US" sz="1800" dirty="0" smtClean="0"/>
          </a:p>
          <a:p>
            <a:r>
              <a:rPr lang="en-US" sz="1800" dirty="0" smtClean="0"/>
              <a:t>Let us assume we have a file "myjs.js" that contains a one line Hello World alert function.</a:t>
            </a:r>
          </a:p>
          <a:p>
            <a:pPr>
              <a:buNone/>
            </a:pPr>
            <a:endParaRPr lang="en-US" sz="1800" dirty="0" smtClean="0"/>
          </a:p>
          <a:p>
            <a:r>
              <a:rPr lang="en-US" sz="1800" dirty="0" smtClean="0"/>
              <a:t>let us also assume that the file is the same directory as the HTML file we are going to code up.</a:t>
            </a:r>
          </a:p>
          <a:p>
            <a:pPr>
              <a:buNone/>
            </a:pPr>
            <a:endParaRPr lang="en-US" sz="1800" dirty="0" smtClean="0"/>
          </a:p>
          <a:p>
            <a:r>
              <a:rPr lang="en-US" sz="1800" dirty="0" smtClean="0"/>
              <a:t>To import the file you would do the following in your HTML document.</a:t>
            </a:r>
            <a:endParaRPr lang="en-US" sz="1800" dirty="0"/>
          </a:p>
        </p:txBody>
      </p:sp>
      <p:sp>
        <p:nvSpPr>
          <p:cNvPr id="4" name="Date Placeholder 3"/>
          <p:cNvSpPr>
            <a:spLocks noGrp="1"/>
          </p:cNvSpPr>
          <p:nvPr>
            <p:ph type="dt" sz="half" idx="10"/>
          </p:nvPr>
        </p:nvSpPr>
        <p:spPr/>
        <p:txBody>
          <a:bodyPr/>
          <a:lstStyle/>
          <a:p>
            <a:fld id="{632C1192-7667-4BED-BED1-64A98E803264}"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
            </a:r>
            <a:br>
              <a:rPr lang="en-US" b="1" dirty="0" smtClean="0"/>
            </a:br>
            <a:r>
              <a:rPr lang="en-US" b="1" dirty="0" smtClean="0"/>
              <a:t>Importing an External JavaScript File</a:t>
            </a:r>
            <a:br>
              <a:rPr lang="en-US" b="1" dirty="0" smtClean="0"/>
            </a:br>
            <a:endParaRPr lang="en-US" dirty="0"/>
          </a:p>
        </p:txBody>
      </p:sp>
      <p:sp>
        <p:nvSpPr>
          <p:cNvPr id="9" name="Date Placeholder 8"/>
          <p:cNvSpPr>
            <a:spLocks noGrp="1"/>
          </p:cNvSpPr>
          <p:nvPr>
            <p:ph type="dt" sz="half" idx="10"/>
          </p:nvPr>
        </p:nvSpPr>
        <p:spPr/>
        <p:txBody>
          <a:bodyPr/>
          <a:lstStyle/>
          <a:p>
            <a:fld id="{2009F6F8-DDBA-4983-9191-7476E6B60978}" type="datetime1">
              <a:rPr lang="en-US" smtClean="0"/>
              <a:pPr/>
              <a:t>6/19/2017</a:t>
            </a:fld>
            <a:endParaRPr lang="en-US"/>
          </a:p>
        </p:txBody>
      </p:sp>
      <p:sp>
        <p:nvSpPr>
          <p:cNvPr id="4" name="TextBox 3"/>
          <p:cNvSpPr txBox="1"/>
          <p:nvPr/>
        </p:nvSpPr>
        <p:spPr>
          <a:xfrm>
            <a:off x="990600" y="2362200"/>
            <a:ext cx="7620000" cy="923330"/>
          </a:xfrm>
          <a:prstGeom prst="rect">
            <a:avLst/>
          </a:prstGeom>
          <a:noFill/>
        </p:spPr>
        <p:txBody>
          <a:bodyPr wrap="square" rtlCol="0">
            <a:spAutoFit/>
          </a:bodyPr>
          <a:lstStyle/>
          <a:p>
            <a:r>
              <a:rPr lang="en-US" dirty="0" smtClean="0"/>
              <a:t>function popup() { </a:t>
            </a:r>
          </a:p>
          <a:p>
            <a:r>
              <a:rPr lang="en-US" dirty="0" smtClean="0"/>
              <a:t>alert("Hello World") </a:t>
            </a:r>
          </a:p>
          <a:p>
            <a:r>
              <a:rPr lang="en-US" dirty="0" smtClean="0"/>
              <a:t>} </a:t>
            </a:r>
            <a:endParaRPr lang="en-US" dirty="0"/>
          </a:p>
        </p:txBody>
      </p:sp>
      <p:sp>
        <p:nvSpPr>
          <p:cNvPr id="6" name="TextBox 5"/>
          <p:cNvSpPr txBox="1"/>
          <p:nvPr/>
        </p:nvSpPr>
        <p:spPr>
          <a:xfrm>
            <a:off x="990600" y="4114800"/>
            <a:ext cx="7543800" cy="2308324"/>
          </a:xfrm>
          <a:prstGeom prst="rect">
            <a:avLst/>
          </a:prstGeom>
          <a:noFill/>
        </p:spPr>
        <p:txBody>
          <a:bodyPr wrap="square" rtlCol="0">
            <a:spAutoFit/>
          </a:bodyPr>
          <a:lstStyle/>
          <a:p>
            <a:r>
              <a:rPr lang="en-US" dirty="0" smtClean="0"/>
              <a:t>&lt;html&gt; </a:t>
            </a:r>
          </a:p>
          <a:p>
            <a:r>
              <a:rPr lang="en-US" dirty="0" smtClean="0"/>
              <a:t>&lt;head&gt; </a:t>
            </a:r>
          </a:p>
          <a:p>
            <a:r>
              <a:rPr lang="en-US" dirty="0" smtClean="0"/>
              <a:t>	&lt;script </a:t>
            </a:r>
            <a:r>
              <a:rPr lang="en-US" dirty="0" err="1" smtClean="0"/>
              <a:t>src</a:t>
            </a:r>
            <a:r>
              <a:rPr lang="en-US" dirty="0" smtClean="0"/>
              <a:t>="myjs.js"&gt; &lt;/script&gt; </a:t>
            </a:r>
          </a:p>
          <a:p>
            <a:r>
              <a:rPr lang="en-US" dirty="0" smtClean="0"/>
              <a:t>&lt;/head&gt; </a:t>
            </a:r>
          </a:p>
          <a:p>
            <a:r>
              <a:rPr lang="en-US" dirty="0" smtClean="0"/>
              <a:t>&lt;body&gt; </a:t>
            </a:r>
          </a:p>
          <a:p>
            <a:r>
              <a:rPr lang="en-US" dirty="0" smtClean="0"/>
              <a:t>	&lt;input type="button" </a:t>
            </a:r>
            <a:r>
              <a:rPr lang="en-US" dirty="0" err="1" smtClean="0"/>
              <a:t>onclick</a:t>
            </a:r>
            <a:r>
              <a:rPr lang="en-US" dirty="0" smtClean="0"/>
              <a:t>="popup()" value="Click Me!"&gt; </a:t>
            </a:r>
          </a:p>
          <a:p>
            <a:r>
              <a:rPr lang="en-US" dirty="0" smtClean="0"/>
              <a:t>&lt;/body&gt;</a:t>
            </a:r>
          </a:p>
          <a:p>
            <a:r>
              <a:rPr lang="en-US" dirty="0" smtClean="0"/>
              <a:t> &lt;/html&gt; </a:t>
            </a:r>
            <a:endParaRPr lang="en-US" dirty="0"/>
          </a:p>
        </p:txBody>
      </p:sp>
      <p:sp>
        <p:nvSpPr>
          <p:cNvPr id="7" name="TextBox 6"/>
          <p:cNvSpPr txBox="1"/>
          <p:nvPr/>
        </p:nvSpPr>
        <p:spPr>
          <a:xfrm>
            <a:off x="1524000" y="1676400"/>
            <a:ext cx="2971800" cy="369332"/>
          </a:xfrm>
          <a:prstGeom prst="rect">
            <a:avLst/>
          </a:prstGeom>
          <a:noFill/>
        </p:spPr>
        <p:txBody>
          <a:bodyPr wrap="square" rtlCol="0">
            <a:spAutoFit/>
          </a:bodyPr>
          <a:lstStyle/>
          <a:p>
            <a:r>
              <a:rPr lang="en-US" b="1" dirty="0" smtClean="0"/>
              <a:t>File myjs.js</a:t>
            </a:r>
          </a:p>
        </p:txBody>
      </p:sp>
      <p:sp>
        <p:nvSpPr>
          <p:cNvPr id="8" name="TextBox 7"/>
          <p:cNvSpPr txBox="1"/>
          <p:nvPr/>
        </p:nvSpPr>
        <p:spPr>
          <a:xfrm>
            <a:off x="1447800" y="3581400"/>
            <a:ext cx="3962400" cy="369332"/>
          </a:xfrm>
          <a:prstGeom prst="rect">
            <a:avLst/>
          </a:prstGeom>
          <a:noFill/>
        </p:spPr>
        <p:txBody>
          <a:bodyPr wrap="square" rtlCol="0">
            <a:spAutoFit/>
          </a:bodyPr>
          <a:lstStyle/>
          <a:p>
            <a:r>
              <a:rPr lang="en-US" b="1" dirty="0" smtClean="0"/>
              <a:t>HTML and JavaScript  code</a:t>
            </a:r>
            <a:endParaRPr lang="en-US" b="1"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
            </a:r>
            <a:br>
              <a:rPr lang="en-US" b="1" dirty="0" smtClean="0"/>
            </a:br>
            <a:r>
              <a:rPr lang="en-US" b="1" dirty="0" smtClean="0"/>
              <a:t>Importing an External JavaScript File</a:t>
            </a:r>
            <a:br>
              <a:rPr lang="en-US" b="1" dirty="0" smtClean="0"/>
            </a:br>
            <a:endParaRPr lang="en-US" dirty="0"/>
          </a:p>
        </p:txBody>
      </p:sp>
      <p:sp>
        <p:nvSpPr>
          <p:cNvPr id="10" name="Date Placeholder 9"/>
          <p:cNvSpPr>
            <a:spLocks noGrp="1"/>
          </p:cNvSpPr>
          <p:nvPr>
            <p:ph type="dt" sz="half" idx="10"/>
          </p:nvPr>
        </p:nvSpPr>
        <p:spPr/>
        <p:txBody>
          <a:bodyPr/>
          <a:lstStyle/>
          <a:p>
            <a:fld id="{4B4E7CDA-6AB3-41D5-8922-E05561181462}" type="datetime1">
              <a:rPr lang="en-US" smtClean="0"/>
              <a:pPr/>
              <a:t>6/19/2017</a:t>
            </a:fld>
            <a:endParaRPr lang="en-US"/>
          </a:p>
        </p:txBody>
      </p:sp>
      <p:sp>
        <p:nvSpPr>
          <p:cNvPr id="7" name="TextBox 6"/>
          <p:cNvSpPr txBox="1"/>
          <p:nvPr/>
        </p:nvSpPr>
        <p:spPr>
          <a:xfrm>
            <a:off x="990600" y="1676400"/>
            <a:ext cx="4419600" cy="523220"/>
          </a:xfrm>
          <a:prstGeom prst="rect">
            <a:avLst/>
          </a:prstGeom>
          <a:noFill/>
        </p:spPr>
        <p:txBody>
          <a:bodyPr wrap="square" rtlCol="0">
            <a:spAutoFit/>
          </a:bodyPr>
          <a:lstStyle/>
          <a:p>
            <a:r>
              <a:rPr lang="en-US" sz="2800" b="1" dirty="0" smtClean="0"/>
              <a:t>External File Tips </a:t>
            </a:r>
            <a:endParaRPr lang="en-US" sz="2800" b="1" dirty="0"/>
          </a:p>
        </p:txBody>
      </p:sp>
      <p:sp>
        <p:nvSpPr>
          <p:cNvPr id="9" name="TextBox 8"/>
          <p:cNvSpPr txBox="1"/>
          <p:nvPr/>
        </p:nvSpPr>
        <p:spPr>
          <a:xfrm>
            <a:off x="990600" y="2209800"/>
            <a:ext cx="7924800" cy="4524315"/>
          </a:xfrm>
          <a:prstGeom prst="rect">
            <a:avLst/>
          </a:prstGeom>
          <a:noFill/>
        </p:spPr>
        <p:txBody>
          <a:bodyPr wrap="square" rtlCol="0">
            <a:spAutoFit/>
          </a:bodyPr>
          <a:lstStyle/>
          <a:p>
            <a:pPr>
              <a:buFont typeface="Arial" pitchFamily="34" charset="0"/>
              <a:buChar char="•"/>
            </a:pPr>
            <a:r>
              <a:rPr lang="en-US" sz="2400" dirty="0" smtClean="0"/>
              <a:t>Use external JavaScript files when you want to use the same script on many pages, but don't want to have to rewrite the code on every page!</a:t>
            </a:r>
          </a:p>
          <a:p>
            <a:endParaRPr lang="en-US" sz="2400" dirty="0"/>
          </a:p>
          <a:p>
            <a:pPr>
              <a:buFont typeface="Arial" pitchFamily="34" charset="0"/>
              <a:buChar char="•"/>
            </a:pPr>
            <a:r>
              <a:rPr lang="en-US" sz="2400" dirty="0" smtClean="0"/>
              <a:t>Use external JavaScript files for including both types of scripts: the type that you place in the </a:t>
            </a:r>
            <a:r>
              <a:rPr lang="en-US" sz="2400" i="1" dirty="0" smtClean="0"/>
              <a:t>head</a:t>
            </a:r>
            <a:r>
              <a:rPr lang="en-US" sz="2400" dirty="0" smtClean="0"/>
              <a:t> (functions) and the type you place in the </a:t>
            </a:r>
            <a:r>
              <a:rPr lang="en-US" sz="2400" i="1" dirty="0" smtClean="0"/>
              <a:t>body</a:t>
            </a:r>
            <a:r>
              <a:rPr lang="en-US" sz="2400" dirty="0" smtClean="0"/>
              <a:t> (scripts you want to run when the page loads).</a:t>
            </a:r>
          </a:p>
          <a:p>
            <a:pPr>
              <a:buFont typeface="Arial" pitchFamily="34" charset="0"/>
              <a:buChar char="•"/>
            </a:pPr>
            <a:endParaRPr lang="en-US" sz="2400" dirty="0"/>
          </a:p>
          <a:p>
            <a:pPr>
              <a:buFont typeface="Arial" pitchFamily="34" charset="0"/>
              <a:buChar char="•"/>
            </a:pPr>
            <a:r>
              <a:rPr lang="en-US" sz="2400" dirty="0" smtClean="0"/>
              <a:t>Be sure that your JavaScript files (.</a:t>
            </a:r>
            <a:r>
              <a:rPr lang="en-US" sz="2400" dirty="0" err="1" smtClean="0"/>
              <a:t>js</a:t>
            </a:r>
            <a:r>
              <a:rPr lang="en-US" sz="2400" dirty="0" smtClean="0"/>
              <a:t>) do not include the &lt;script&gt; tag. They should only contain HTML commenting and JavaScript code -- nothing more!</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fontScale="90000"/>
          </a:bodyPr>
          <a:lstStyle/>
          <a:p>
            <a:r>
              <a:rPr lang="en-US" b="1" dirty="0" smtClean="0"/>
              <a:t/>
            </a:r>
            <a:br>
              <a:rPr lang="en-US" b="1" dirty="0" smtClean="0"/>
            </a:br>
            <a:r>
              <a:rPr lang="en-US" b="1" dirty="0" smtClean="0"/>
              <a:t>Great JavaScript Repositories</a:t>
            </a:r>
            <a:br>
              <a:rPr lang="en-US" b="1" dirty="0" smtClean="0"/>
            </a:br>
            <a:endParaRPr lang="en-US" dirty="0"/>
          </a:p>
        </p:txBody>
      </p:sp>
      <p:sp>
        <p:nvSpPr>
          <p:cNvPr id="3" name="Content Placeholder 2"/>
          <p:cNvSpPr>
            <a:spLocks noGrp="1"/>
          </p:cNvSpPr>
          <p:nvPr>
            <p:ph idx="1"/>
          </p:nvPr>
        </p:nvSpPr>
        <p:spPr>
          <a:xfrm>
            <a:off x="990600" y="1447800"/>
            <a:ext cx="7943088" cy="4800600"/>
          </a:xfrm>
        </p:spPr>
        <p:txBody>
          <a:bodyPr>
            <a:normAutofit/>
          </a:bodyPr>
          <a:lstStyle/>
          <a:p>
            <a:r>
              <a:rPr lang="en-US" dirty="0" smtClean="0"/>
              <a:t>There is a ton of great stuff you can do with JavaScript, if you know how to code like Paul Allen and Bill Gates, but for the rest of us, it is nice to get incredible JavaScript tools without having to write them ourselves.</a:t>
            </a:r>
          </a:p>
          <a:p>
            <a:r>
              <a:rPr lang="en-US" dirty="0" smtClean="0"/>
              <a:t>Below are some of the better JavaScript resources on the web these days.</a:t>
            </a:r>
          </a:p>
          <a:p>
            <a:pPr lvl="1"/>
            <a:r>
              <a:rPr lang="en-US" dirty="0" smtClean="0"/>
              <a:t>JavaFile.com</a:t>
            </a:r>
          </a:p>
          <a:p>
            <a:pPr lvl="1"/>
            <a:r>
              <a:rPr lang="en-US" dirty="0" smtClean="0"/>
              <a:t>Java-Scripts.com</a:t>
            </a:r>
          </a:p>
          <a:p>
            <a:pPr lvl="1"/>
            <a:r>
              <a:rPr lang="en-US" dirty="0" smtClean="0"/>
              <a:t>Drop Down JavaScript Menus</a:t>
            </a:r>
          </a:p>
          <a:p>
            <a:pPr lvl="2"/>
            <a:endParaRPr lang="en-US" dirty="0" smtClean="0"/>
          </a:p>
        </p:txBody>
      </p:sp>
      <p:sp>
        <p:nvSpPr>
          <p:cNvPr id="4" name="Date Placeholder 3"/>
          <p:cNvSpPr>
            <a:spLocks noGrp="1"/>
          </p:cNvSpPr>
          <p:nvPr>
            <p:ph type="dt" sz="half" idx="10"/>
          </p:nvPr>
        </p:nvSpPr>
        <p:spPr/>
        <p:txBody>
          <a:bodyPr/>
          <a:lstStyle/>
          <a:p>
            <a:fld id="{BB5CDAE1-19B0-4A30-B118-1650ED85E1F4}"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US" b="1" dirty="0" smtClean="0"/>
              <a:t>JavaScript Operators</a:t>
            </a:r>
            <a:endParaRPr lang="en-US" dirty="0"/>
          </a:p>
        </p:txBody>
      </p:sp>
      <p:sp>
        <p:nvSpPr>
          <p:cNvPr id="3" name="Content Placeholder 2"/>
          <p:cNvSpPr>
            <a:spLocks noGrp="1"/>
          </p:cNvSpPr>
          <p:nvPr>
            <p:ph idx="1"/>
          </p:nvPr>
        </p:nvSpPr>
        <p:spPr>
          <a:xfrm>
            <a:off x="990600" y="1447800"/>
            <a:ext cx="3352800" cy="4800600"/>
          </a:xfrm>
        </p:spPr>
        <p:txBody>
          <a:bodyPr>
            <a:normAutofit fontScale="92500" lnSpcReduction="10000"/>
          </a:bodyPr>
          <a:lstStyle/>
          <a:p>
            <a:r>
              <a:rPr lang="en-US" sz="2400" dirty="0" smtClean="0"/>
              <a:t>Operators in JavaScript are very similar to operators that appear in other programming languages.</a:t>
            </a:r>
          </a:p>
          <a:p>
            <a:pPr>
              <a:buNone/>
            </a:pPr>
            <a:endParaRPr lang="en-US" sz="2400" dirty="0" smtClean="0"/>
          </a:p>
          <a:p>
            <a:r>
              <a:rPr lang="en-US" sz="2400" dirty="0" smtClean="0"/>
              <a:t>The definition of an operator is a symbol that is used to perform an operation. Most often these operations are arithmetic (addition, subtraction, etc), but not always</a:t>
            </a:r>
          </a:p>
        </p:txBody>
      </p:sp>
      <p:sp>
        <p:nvSpPr>
          <p:cNvPr id="4" name="Date Placeholder 3"/>
          <p:cNvSpPr>
            <a:spLocks noGrp="1"/>
          </p:cNvSpPr>
          <p:nvPr>
            <p:ph type="dt" sz="half" idx="10"/>
          </p:nvPr>
        </p:nvSpPr>
        <p:spPr/>
        <p:txBody>
          <a:bodyPr/>
          <a:lstStyle/>
          <a:p>
            <a:fld id="{BB5CDAE1-19B0-4A30-B118-1650ED85E1F4}" type="datetime1">
              <a:rPr lang="en-US" smtClean="0"/>
              <a:pPr/>
              <a:t>6/19/2017</a:t>
            </a:fld>
            <a:endParaRPr lang="en-US"/>
          </a:p>
        </p:txBody>
      </p:sp>
      <p:cxnSp>
        <p:nvCxnSpPr>
          <p:cNvPr id="10" name="Straight Connector 9"/>
          <p:cNvCxnSpPr/>
          <p:nvPr/>
        </p:nvCxnSpPr>
        <p:spPr>
          <a:xfrm rot="5400000">
            <a:off x="2286000" y="3733800"/>
            <a:ext cx="457200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1" name="Table 10"/>
          <p:cNvGraphicFramePr>
            <a:graphicFrameLocks noGrp="1"/>
          </p:cNvGraphicFramePr>
          <p:nvPr/>
        </p:nvGraphicFramePr>
        <p:xfrm>
          <a:off x="5029200" y="2057400"/>
          <a:ext cx="3657600" cy="3962400"/>
        </p:xfrm>
        <a:graphic>
          <a:graphicData uri="http://schemas.openxmlformats.org/drawingml/2006/table">
            <a:tbl>
              <a:tblPr/>
              <a:tblGrid>
                <a:gridCol w="1219200"/>
                <a:gridCol w="1219200"/>
                <a:gridCol w="1219200"/>
              </a:tblGrid>
              <a:tr h="528320">
                <a:tc>
                  <a:txBody>
                    <a:bodyPr/>
                    <a:lstStyle/>
                    <a:p>
                      <a:r>
                        <a:rPr lang="en-US" dirty="0"/>
                        <a:t>Operator</a:t>
                      </a:r>
                    </a:p>
                  </a:txBody>
                  <a:tcPr anchor="ctr">
                    <a:lnL>
                      <a:noFill/>
                    </a:lnL>
                    <a:lnR>
                      <a:noFill/>
                    </a:lnR>
                    <a:lnT>
                      <a:noFill/>
                    </a:lnT>
                    <a:lnB>
                      <a:noFill/>
                    </a:lnB>
                  </a:tcPr>
                </a:tc>
                <a:tc>
                  <a:txBody>
                    <a:bodyPr/>
                    <a:lstStyle/>
                    <a:p>
                      <a:r>
                        <a:rPr lang="en-US" dirty="0"/>
                        <a:t>English</a:t>
                      </a:r>
                    </a:p>
                  </a:txBody>
                  <a:tcPr anchor="ctr">
                    <a:lnL>
                      <a:noFill/>
                    </a:lnL>
                    <a:lnR>
                      <a:noFill/>
                    </a:lnR>
                    <a:lnT>
                      <a:noFill/>
                    </a:lnT>
                    <a:lnB>
                      <a:noFill/>
                    </a:lnB>
                  </a:tcPr>
                </a:tc>
                <a:tc>
                  <a:txBody>
                    <a:bodyPr/>
                    <a:lstStyle/>
                    <a:p>
                      <a:r>
                        <a:rPr lang="en-US"/>
                        <a:t>Example</a:t>
                      </a:r>
                    </a:p>
                  </a:txBody>
                  <a:tcPr anchor="ctr">
                    <a:lnL>
                      <a:noFill/>
                    </a:lnL>
                    <a:lnR>
                      <a:noFill/>
                    </a:lnR>
                    <a:lnT>
                      <a:noFill/>
                    </a:lnT>
                    <a:lnB>
                      <a:noFill/>
                    </a:lnB>
                  </a:tcPr>
                </a:tc>
              </a:tr>
              <a:tr h="528320">
                <a:tc>
                  <a:txBody>
                    <a:bodyPr/>
                    <a:lstStyle/>
                    <a:p>
                      <a:r>
                        <a:rPr lang="en-US"/>
                        <a:t>+</a:t>
                      </a:r>
                    </a:p>
                  </a:txBody>
                  <a:tcPr anchor="ctr">
                    <a:lnL>
                      <a:noFill/>
                    </a:lnL>
                    <a:lnR>
                      <a:noFill/>
                    </a:lnR>
                    <a:lnT>
                      <a:noFill/>
                    </a:lnT>
                    <a:lnB>
                      <a:noFill/>
                    </a:lnB>
                  </a:tcPr>
                </a:tc>
                <a:tc>
                  <a:txBody>
                    <a:bodyPr/>
                    <a:lstStyle/>
                    <a:p>
                      <a:r>
                        <a:rPr lang="en-US"/>
                        <a:t>Addition</a:t>
                      </a:r>
                    </a:p>
                  </a:txBody>
                  <a:tcPr anchor="ctr">
                    <a:lnL>
                      <a:noFill/>
                    </a:lnL>
                    <a:lnR>
                      <a:noFill/>
                    </a:lnR>
                    <a:lnT>
                      <a:noFill/>
                    </a:lnT>
                    <a:lnB>
                      <a:noFill/>
                    </a:lnB>
                  </a:tcPr>
                </a:tc>
                <a:tc>
                  <a:txBody>
                    <a:bodyPr/>
                    <a:lstStyle/>
                    <a:p>
                      <a:r>
                        <a:rPr lang="en-US"/>
                        <a:t>2 + 4</a:t>
                      </a:r>
                    </a:p>
                  </a:txBody>
                  <a:tcPr anchor="ctr">
                    <a:lnL>
                      <a:noFill/>
                    </a:lnL>
                    <a:lnR>
                      <a:noFill/>
                    </a:lnR>
                    <a:lnT>
                      <a:noFill/>
                    </a:lnT>
                    <a:lnB>
                      <a:noFill/>
                    </a:lnB>
                  </a:tcPr>
                </a:tc>
              </a:tr>
              <a:tr h="924560">
                <a:tc>
                  <a:txBody>
                    <a:bodyPr/>
                    <a:lstStyle/>
                    <a:p>
                      <a:r>
                        <a:rPr lang="en-US"/>
                        <a:t>-</a:t>
                      </a:r>
                    </a:p>
                  </a:txBody>
                  <a:tcPr anchor="ctr">
                    <a:lnL>
                      <a:noFill/>
                    </a:lnL>
                    <a:lnR>
                      <a:noFill/>
                    </a:lnR>
                    <a:lnT>
                      <a:noFill/>
                    </a:lnT>
                    <a:lnB>
                      <a:noFill/>
                    </a:lnB>
                  </a:tcPr>
                </a:tc>
                <a:tc>
                  <a:txBody>
                    <a:bodyPr/>
                    <a:lstStyle/>
                    <a:p>
                      <a:r>
                        <a:rPr lang="en-US"/>
                        <a:t>Subtraction</a:t>
                      </a:r>
                    </a:p>
                  </a:txBody>
                  <a:tcPr anchor="ctr">
                    <a:lnL>
                      <a:noFill/>
                    </a:lnL>
                    <a:lnR>
                      <a:noFill/>
                    </a:lnR>
                    <a:lnT>
                      <a:noFill/>
                    </a:lnT>
                    <a:lnB>
                      <a:noFill/>
                    </a:lnB>
                  </a:tcPr>
                </a:tc>
                <a:tc>
                  <a:txBody>
                    <a:bodyPr/>
                    <a:lstStyle/>
                    <a:p>
                      <a:r>
                        <a:rPr lang="en-US"/>
                        <a:t>6 - 2</a:t>
                      </a:r>
                    </a:p>
                  </a:txBody>
                  <a:tcPr anchor="ctr">
                    <a:lnL>
                      <a:noFill/>
                    </a:lnL>
                    <a:lnR>
                      <a:noFill/>
                    </a:lnR>
                    <a:lnT>
                      <a:noFill/>
                    </a:lnT>
                    <a:lnB>
                      <a:noFill/>
                    </a:lnB>
                  </a:tcPr>
                </a:tc>
              </a:tr>
              <a:tr h="924560">
                <a:tc>
                  <a:txBody>
                    <a:bodyPr/>
                    <a:lstStyle/>
                    <a:p>
                      <a:r>
                        <a:rPr lang="en-US"/>
                        <a:t>*</a:t>
                      </a:r>
                    </a:p>
                  </a:txBody>
                  <a:tcPr anchor="ctr">
                    <a:lnL>
                      <a:noFill/>
                    </a:lnL>
                    <a:lnR>
                      <a:noFill/>
                    </a:lnR>
                    <a:lnT>
                      <a:noFill/>
                    </a:lnT>
                    <a:lnB>
                      <a:noFill/>
                    </a:lnB>
                  </a:tcPr>
                </a:tc>
                <a:tc>
                  <a:txBody>
                    <a:bodyPr/>
                    <a:lstStyle/>
                    <a:p>
                      <a:r>
                        <a:rPr lang="en-US"/>
                        <a:t>Multiplication</a:t>
                      </a:r>
                    </a:p>
                  </a:txBody>
                  <a:tcPr anchor="ctr">
                    <a:lnL>
                      <a:noFill/>
                    </a:lnL>
                    <a:lnR>
                      <a:noFill/>
                    </a:lnR>
                    <a:lnT>
                      <a:noFill/>
                    </a:lnT>
                    <a:lnB>
                      <a:noFill/>
                    </a:lnB>
                  </a:tcPr>
                </a:tc>
                <a:tc>
                  <a:txBody>
                    <a:bodyPr/>
                    <a:lstStyle/>
                    <a:p>
                      <a:r>
                        <a:rPr lang="en-US"/>
                        <a:t>5 * 3</a:t>
                      </a:r>
                    </a:p>
                  </a:txBody>
                  <a:tcPr anchor="ctr">
                    <a:lnL>
                      <a:noFill/>
                    </a:lnL>
                    <a:lnR>
                      <a:noFill/>
                    </a:lnR>
                    <a:lnT>
                      <a:noFill/>
                    </a:lnT>
                    <a:lnB>
                      <a:noFill/>
                    </a:lnB>
                  </a:tcPr>
                </a:tc>
              </a:tr>
              <a:tr h="528320">
                <a:tc>
                  <a:txBody>
                    <a:bodyPr/>
                    <a:lstStyle/>
                    <a:p>
                      <a:r>
                        <a:rPr lang="en-US"/>
                        <a:t>/</a:t>
                      </a:r>
                    </a:p>
                  </a:txBody>
                  <a:tcPr anchor="ctr">
                    <a:lnL>
                      <a:noFill/>
                    </a:lnL>
                    <a:lnR>
                      <a:noFill/>
                    </a:lnR>
                    <a:lnT>
                      <a:noFill/>
                    </a:lnT>
                    <a:lnB>
                      <a:noFill/>
                    </a:lnB>
                  </a:tcPr>
                </a:tc>
                <a:tc>
                  <a:txBody>
                    <a:bodyPr/>
                    <a:lstStyle/>
                    <a:p>
                      <a:r>
                        <a:rPr lang="en-US"/>
                        <a:t>Division</a:t>
                      </a:r>
                    </a:p>
                  </a:txBody>
                  <a:tcPr anchor="ctr">
                    <a:lnL>
                      <a:noFill/>
                    </a:lnL>
                    <a:lnR>
                      <a:noFill/>
                    </a:lnR>
                    <a:lnT>
                      <a:noFill/>
                    </a:lnT>
                    <a:lnB>
                      <a:noFill/>
                    </a:lnB>
                  </a:tcPr>
                </a:tc>
                <a:tc>
                  <a:txBody>
                    <a:bodyPr/>
                    <a:lstStyle/>
                    <a:p>
                      <a:r>
                        <a:rPr lang="en-US"/>
                        <a:t>15 / 3</a:t>
                      </a:r>
                    </a:p>
                  </a:txBody>
                  <a:tcPr anchor="ctr">
                    <a:lnL>
                      <a:noFill/>
                    </a:lnL>
                    <a:lnR>
                      <a:noFill/>
                    </a:lnR>
                    <a:lnT>
                      <a:noFill/>
                    </a:lnT>
                    <a:lnB>
                      <a:noFill/>
                    </a:lnB>
                  </a:tcPr>
                </a:tc>
              </a:tr>
              <a:tr h="528320">
                <a:tc>
                  <a:txBody>
                    <a:bodyPr/>
                    <a:lstStyle/>
                    <a:p>
                      <a:r>
                        <a:rPr lang="en-US" dirty="0"/>
                        <a:t>%</a:t>
                      </a:r>
                    </a:p>
                  </a:txBody>
                  <a:tcPr anchor="ctr">
                    <a:lnL>
                      <a:noFill/>
                    </a:lnL>
                    <a:lnR>
                      <a:noFill/>
                    </a:lnR>
                    <a:lnT>
                      <a:noFill/>
                    </a:lnT>
                    <a:lnB>
                      <a:noFill/>
                    </a:lnB>
                  </a:tcPr>
                </a:tc>
                <a:tc>
                  <a:txBody>
                    <a:bodyPr/>
                    <a:lstStyle/>
                    <a:p>
                      <a:r>
                        <a:rPr lang="en-US"/>
                        <a:t>Modulus</a:t>
                      </a:r>
                    </a:p>
                  </a:txBody>
                  <a:tcPr anchor="ctr">
                    <a:lnL>
                      <a:noFill/>
                    </a:lnL>
                    <a:lnR>
                      <a:noFill/>
                    </a:lnR>
                    <a:lnT>
                      <a:noFill/>
                    </a:lnT>
                    <a:lnB>
                      <a:noFill/>
                    </a:lnB>
                  </a:tcPr>
                </a:tc>
                <a:tc>
                  <a:txBody>
                    <a:bodyPr/>
                    <a:lstStyle/>
                    <a:p>
                      <a:r>
                        <a:rPr lang="en-US" dirty="0"/>
                        <a:t>43 % 10</a:t>
                      </a:r>
                    </a:p>
                  </a:txBody>
                  <a:tcPr anchor="ctr">
                    <a:lnL>
                      <a:noFill/>
                    </a:lnL>
                    <a:lnR>
                      <a:noFill/>
                    </a:lnR>
                    <a:lnT>
                      <a:noFill/>
                    </a:lnT>
                    <a:lnB>
                      <a:noFill/>
                    </a:lnB>
                  </a:tcPr>
                </a:tc>
              </a:tr>
            </a:tbl>
          </a:graphicData>
        </a:graphic>
      </p:graphicFrame>
      <p:sp>
        <p:nvSpPr>
          <p:cNvPr id="12" name="TextBox 11"/>
          <p:cNvSpPr txBox="1"/>
          <p:nvPr/>
        </p:nvSpPr>
        <p:spPr>
          <a:xfrm>
            <a:off x="5181600" y="1295400"/>
            <a:ext cx="3200400" cy="923330"/>
          </a:xfrm>
          <a:prstGeom prst="rect">
            <a:avLst/>
          </a:prstGeom>
          <a:noFill/>
        </p:spPr>
        <p:txBody>
          <a:bodyPr wrap="square" rtlCol="0">
            <a:spAutoFit/>
          </a:bodyPr>
          <a:lstStyle/>
          <a:p>
            <a:r>
              <a:rPr lang="en-US" b="1" dirty="0" smtClean="0"/>
              <a:t>JavaScript Arithmetic Operator Chart</a:t>
            </a: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US" b="1" dirty="0" smtClean="0"/>
              <a:t>JavaScript Operators</a:t>
            </a:r>
            <a:endParaRPr lang="en-US" dirty="0"/>
          </a:p>
        </p:txBody>
      </p:sp>
      <p:sp>
        <p:nvSpPr>
          <p:cNvPr id="4" name="Date Placeholder 3"/>
          <p:cNvSpPr>
            <a:spLocks noGrp="1"/>
          </p:cNvSpPr>
          <p:nvPr>
            <p:ph type="dt" sz="half" idx="10"/>
          </p:nvPr>
        </p:nvSpPr>
        <p:spPr/>
        <p:txBody>
          <a:bodyPr/>
          <a:lstStyle/>
          <a:p>
            <a:fld id="{BB5CDAE1-19B0-4A30-B118-1650ED85E1F4}" type="datetime1">
              <a:rPr lang="en-US" smtClean="0"/>
              <a:pPr/>
              <a:t>6/19/2017</a:t>
            </a:fld>
            <a:endParaRPr lang="en-US"/>
          </a:p>
        </p:txBody>
      </p:sp>
      <p:sp>
        <p:nvSpPr>
          <p:cNvPr id="13" name="Rectangle 12"/>
          <p:cNvSpPr/>
          <p:nvPr/>
        </p:nvSpPr>
        <p:spPr>
          <a:xfrm>
            <a:off x="838200" y="1752601"/>
            <a:ext cx="7924800" cy="3046988"/>
          </a:xfrm>
          <a:prstGeom prst="rect">
            <a:avLst/>
          </a:prstGeom>
        </p:spPr>
        <p:txBody>
          <a:bodyPr wrap="square">
            <a:spAutoFit/>
          </a:bodyPr>
          <a:lstStyle/>
          <a:p>
            <a:pPr>
              <a:buFont typeface="Arial" pitchFamily="34" charset="0"/>
              <a:buChar char="•"/>
            </a:pPr>
            <a:r>
              <a:rPr lang="en-US" sz="2400" i="1" dirty="0" smtClean="0"/>
              <a:t>Modulus</a:t>
            </a:r>
            <a:r>
              <a:rPr lang="en-US" sz="2400" dirty="0" smtClean="0"/>
              <a:t> </a:t>
            </a:r>
            <a:r>
              <a:rPr lang="en-US" sz="2400" b="1" dirty="0" smtClean="0"/>
              <a:t>%</a:t>
            </a:r>
            <a:r>
              <a:rPr lang="en-US" sz="2400" dirty="0" smtClean="0"/>
              <a:t> may be a new operation to you, but it's just a special way of saying "finding the remainder“</a:t>
            </a:r>
          </a:p>
          <a:p>
            <a:pPr>
              <a:buFont typeface="Arial" pitchFamily="34" charset="0"/>
              <a:buChar char="•"/>
            </a:pPr>
            <a:endParaRPr lang="en-US" sz="2400" dirty="0"/>
          </a:p>
          <a:p>
            <a:pPr>
              <a:buFont typeface="Arial" pitchFamily="34" charset="0"/>
              <a:buChar char="•"/>
            </a:pPr>
            <a:r>
              <a:rPr lang="en-US" sz="2400" dirty="0" smtClean="0"/>
              <a:t>Performing operations on variables that contain values is very common and easy to do.</a:t>
            </a:r>
          </a:p>
          <a:p>
            <a:pPr>
              <a:buFont typeface="Arial" pitchFamily="34" charset="0"/>
              <a:buChar char="•"/>
            </a:pPr>
            <a:endParaRPr lang="en-US" sz="2400" dirty="0"/>
          </a:p>
          <a:p>
            <a:pPr>
              <a:buFont typeface="Arial" pitchFamily="34" charset="0"/>
              <a:buChar char="•"/>
            </a:pPr>
            <a:r>
              <a:rPr lang="en-US" sz="2400" dirty="0" smtClean="0"/>
              <a:t>The simple script that performs all the basic arithmetic operations.  </a:t>
            </a:r>
            <a:r>
              <a:rPr lang="en-US" sz="2400" i="1" dirty="0" smtClean="0"/>
              <a:t>Next Slide</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792162"/>
          </a:xfrm>
        </p:spPr>
        <p:txBody>
          <a:bodyPr>
            <a:normAutofit/>
          </a:bodyPr>
          <a:lstStyle/>
          <a:p>
            <a:r>
              <a:rPr lang="en-US" b="1" dirty="0" smtClean="0"/>
              <a:t>JavaScript Operators</a:t>
            </a:r>
            <a:endParaRPr lang="en-US" dirty="0"/>
          </a:p>
        </p:txBody>
      </p:sp>
      <p:sp>
        <p:nvSpPr>
          <p:cNvPr id="4" name="Date Placeholder 3"/>
          <p:cNvSpPr>
            <a:spLocks noGrp="1"/>
          </p:cNvSpPr>
          <p:nvPr>
            <p:ph type="dt" sz="half" idx="10"/>
          </p:nvPr>
        </p:nvSpPr>
        <p:spPr/>
        <p:txBody>
          <a:bodyPr/>
          <a:lstStyle/>
          <a:p>
            <a:fld id="{BB5CDAE1-19B0-4A30-B118-1650ED85E1F4}" type="datetime1">
              <a:rPr lang="en-US" smtClean="0"/>
              <a:pPr/>
              <a:t>6/19/2017</a:t>
            </a:fld>
            <a:endParaRPr lang="en-US"/>
          </a:p>
        </p:txBody>
      </p:sp>
      <p:sp>
        <p:nvSpPr>
          <p:cNvPr id="13" name="Rectangle 12"/>
          <p:cNvSpPr/>
          <p:nvPr/>
        </p:nvSpPr>
        <p:spPr>
          <a:xfrm>
            <a:off x="990600" y="1066801"/>
            <a:ext cx="3581400" cy="5816977"/>
          </a:xfrm>
          <a:prstGeom prst="rect">
            <a:avLst/>
          </a:prstGeom>
        </p:spPr>
        <p:txBody>
          <a:bodyPr wrap="square">
            <a:spAutoFit/>
          </a:bodyPr>
          <a:lstStyle/>
          <a:p>
            <a:r>
              <a:rPr lang="en-US" sz="1600" b="1" u="sng" dirty="0" smtClean="0"/>
              <a:t>HTML and JavaScript code</a:t>
            </a:r>
            <a:endParaRPr lang="en-US" sz="1600" b="1" u="sng" dirty="0"/>
          </a:p>
          <a:p>
            <a:r>
              <a:rPr lang="en-US" sz="1600" dirty="0" smtClean="0"/>
              <a:t>&lt;body&gt;</a:t>
            </a:r>
          </a:p>
          <a:p>
            <a:r>
              <a:rPr lang="en-US" sz="1600" dirty="0" smtClean="0"/>
              <a:t> &lt;script type="text/JavaScript"&gt; </a:t>
            </a:r>
          </a:p>
          <a:p>
            <a:r>
              <a:rPr lang="en-US" sz="1600" dirty="0" smtClean="0"/>
              <a:t>&lt;! --</a:t>
            </a:r>
          </a:p>
          <a:p>
            <a:r>
              <a:rPr lang="en-US" sz="1600" dirty="0" err="1" smtClean="0"/>
              <a:t>var</a:t>
            </a:r>
            <a:r>
              <a:rPr lang="en-US" sz="1600" dirty="0" smtClean="0"/>
              <a:t> two = 2 </a:t>
            </a:r>
          </a:p>
          <a:p>
            <a:r>
              <a:rPr lang="en-US" sz="1600" dirty="0" err="1" smtClean="0"/>
              <a:t>var</a:t>
            </a:r>
            <a:r>
              <a:rPr lang="en-US" sz="1600" dirty="0" smtClean="0"/>
              <a:t> ten = 10 </a:t>
            </a:r>
          </a:p>
          <a:p>
            <a:r>
              <a:rPr lang="en-US" sz="1600" dirty="0" err="1" smtClean="0"/>
              <a:t>var</a:t>
            </a:r>
            <a:r>
              <a:rPr lang="en-US" sz="1600" dirty="0" smtClean="0"/>
              <a:t> </a:t>
            </a:r>
            <a:r>
              <a:rPr lang="en-US" sz="1600" dirty="0" err="1" smtClean="0"/>
              <a:t>linebreak</a:t>
            </a:r>
            <a:r>
              <a:rPr lang="en-US" sz="1600" dirty="0" smtClean="0"/>
              <a:t> = "&lt;</a:t>
            </a:r>
            <a:r>
              <a:rPr lang="en-US" sz="1600" dirty="0" err="1" smtClean="0"/>
              <a:t>br</a:t>
            </a:r>
            <a:r>
              <a:rPr lang="en-US" sz="1600" dirty="0" smtClean="0"/>
              <a:t> /&gt;“</a:t>
            </a:r>
          </a:p>
          <a:p>
            <a:endParaRPr lang="en-US" sz="1600" dirty="0"/>
          </a:p>
          <a:p>
            <a:r>
              <a:rPr lang="en-US" sz="1600" dirty="0" smtClean="0"/>
              <a:t> </a:t>
            </a:r>
            <a:r>
              <a:rPr lang="en-US" sz="1600" dirty="0" err="1" smtClean="0"/>
              <a:t>document.write</a:t>
            </a:r>
            <a:r>
              <a:rPr lang="en-US" sz="1600" dirty="0" smtClean="0"/>
              <a:t>("two plus ten = ")</a:t>
            </a:r>
          </a:p>
          <a:p>
            <a:r>
              <a:rPr lang="en-US" sz="1600" dirty="0" smtClean="0"/>
              <a:t> </a:t>
            </a:r>
            <a:r>
              <a:rPr lang="en-US" sz="1600" dirty="0" err="1" smtClean="0"/>
              <a:t>var</a:t>
            </a:r>
            <a:r>
              <a:rPr lang="en-US" sz="1600" dirty="0" smtClean="0"/>
              <a:t> result = </a:t>
            </a:r>
            <a:r>
              <a:rPr lang="en-US" sz="1600" dirty="0" err="1" smtClean="0"/>
              <a:t>two+ten</a:t>
            </a:r>
            <a:r>
              <a:rPr lang="en-US" sz="1600" dirty="0" smtClean="0"/>
              <a:t> </a:t>
            </a:r>
          </a:p>
          <a:p>
            <a:r>
              <a:rPr lang="en-US" sz="1600" dirty="0" err="1" smtClean="0"/>
              <a:t>document.write</a:t>
            </a:r>
            <a:r>
              <a:rPr lang="en-US" sz="1600" dirty="0" smtClean="0"/>
              <a:t>(result) </a:t>
            </a:r>
          </a:p>
          <a:p>
            <a:r>
              <a:rPr lang="en-US" sz="1600" dirty="0" err="1" smtClean="0"/>
              <a:t>document.write</a:t>
            </a:r>
            <a:r>
              <a:rPr lang="en-US" sz="1600" dirty="0" smtClean="0"/>
              <a:t>(</a:t>
            </a:r>
            <a:r>
              <a:rPr lang="en-US" sz="1600" dirty="0" err="1" smtClean="0"/>
              <a:t>linebreak</a:t>
            </a:r>
            <a:r>
              <a:rPr lang="en-US" sz="1600" dirty="0" smtClean="0"/>
              <a:t>)</a:t>
            </a:r>
          </a:p>
          <a:p>
            <a:endParaRPr lang="en-US" sz="1600" dirty="0"/>
          </a:p>
          <a:p>
            <a:r>
              <a:rPr lang="en-US" sz="1600" dirty="0" smtClean="0"/>
              <a:t> </a:t>
            </a:r>
            <a:r>
              <a:rPr lang="en-US" sz="1600" dirty="0" err="1" smtClean="0"/>
              <a:t>document.write</a:t>
            </a:r>
            <a:r>
              <a:rPr lang="en-US" sz="1600" dirty="0" smtClean="0"/>
              <a:t>("ten*ten = ") </a:t>
            </a:r>
          </a:p>
          <a:p>
            <a:r>
              <a:rPr lang="en-US" sz="1600" dirty="0" smtClean="0"/>
              <a:t>result = ten * ten </a:t>
            </a:r>
          </a:p>
          <a:p>
            <a:r>
              <a:rPr lang="en-US" sz="1600" dirty="0" err="1" smtClean="0"/>
              <a:t>document.write</a:t>
            </a:r>
            <a:r>
              <a:rPr lang="en-US" sz="1600" dirty="0" smtClean="0"/>
              <a:t>(result)</a:t>
            </a:r>
          </a:p>
          <a:p>
            <a:r>
              <a:rPr lang="en-US" sz="1600" dirty="0" smtClean="0"/>
              <a:t> </a:t>
            </a:r>
            <a:r>
              <a:rPr lang="en-US" sz="1600" dirty="0" err="1" smtClean="0"/>
              <a:t>document.write</a:t>
            </a:r>
            <a:r>
              <a:rPr lang="en-US" sz="1600" dirty="0" smtClean="0"/>
              <a:t>(</a:t>
            </a:r>
            <a:r>
              <a:rPr lang="en-US" sz="1600" dirty="0" err="1" smtClean="0"/>
              <a:t>linebreak</a:t>
            </a:r>
            <a:r>
              <a:rPr lang="en-US" sz="1600" dirty="0" smtClean="0"/>
              <a:t>) </a:t>
            </a:r>
          </a:p>
          <a:p>
            <a:r>
              <a:rPr lang="en-US" sz="1600" dirty="0" err="1" smtClean="0"/>
              <a:t>document.write</a:t>
            </a:r>
            <a:r>
              <a:rPr lang="en-US" sz="1600" dirty="0" smtClean="0"/>
              <a:t>("ten / two = ")</a:t>
            </a:r>
          </a:p>
          <a:p>
            <a:r>
              <a:rPr lang="en-US" sz="1600" dirty="0" smtClean="0"/>
              <a:t> result = ten/two</a:t>
            </a:r>
          </a:p>
          <a:p>
            <a:r>
              <a:rPr lang="en-US" sz="1600" dirty="0" smtClean="0"/>
              <a:t> </a:t>
            </a:r>
            <a:r>
              <a:rPr lang="en-US" sz="1600" dirty="0" err="1" smtClean="0"/>
              <a:t>document.write</a:t>
            </a:r>
            <a:r>
              <a:rPr lang="en-US" sz="1600" dirty="0" smtClean="0"/>
              <a:t>(result) </a:t>
            </a:r>
          </a:p>
          <a:p>
            <a:r>
              <a:rPr lang="en-US" sz="1600" dirty="0" smtClean="0"/>
              <a:t>//--&gt;</a:t>
            </a:r>
          </a:p>
          <a:p>
            <a:r>
              <a:rPr lang="en-US" sz="1600" dirty="0" smtClean="0"/>
              <a:t> &lt;/script&gt; </a:t>
            </a:r>
          </a:p>
          <a:p>
            <a:r>
              <a:rPr lang="en-US" sz="1600" dirty="0" smtClean="0"/>
              <a:t>&lt;/body</a:t>
            </a:r>
            <a:r>
              <a:rPr lang="en-US" sz="2000" dirty="0" smtClean="0"/>
              <a:t>&gt; </a:t>
            </a:r>
            <a:endParaRPr lang="en-US" sz="2000" dirty="0"/>
          </a:p>
        </p:txBody>
      </p:sp>
      <p:sp>
        <p:nvSpPr>
          <p:cNvPr id="8" name="TextBox 7"/>
          <p:cNvSpPr txBox="1"/>
          <p:nvPr/>
        </p:nvSpPr>
        <p:spPr>
          <a:xfrm>
            <a:off x="5943600" y="1524000"/>
            <a:ext cx="2590800" cy="1754326"/>
          </a:xfrm>
          <a:prstGeom prst="rect">
            <a:avLst/>
          </a:prstGeom>
          <a:noFill/>
        </p:spPr>
        <p:txBody>
          <a:bodyPr wrap="square" rtlCol="0">
            <a:spAutoFit/>
          </a:bodyPr>
          <a:lstStyle/>
          <a:p>
            <a:endParaRPr lang="en-US" dirty="0" smtClean="0"/>
          </a:p>
          <a:p>
            <a:r>
              <a:rPr lang="en-US" b="1" dirty="0" smtClean="0"/>
              <a:t>Display</a:t>
            </a:r>
          </a:p>
          <a:p>
            <a:endParaRPr lang="en-US" dirty="0" smtClean="0"/>
          </a:p>
          <a:p>
            <a:r>
              <a:rPr lang="pl-PL" dirty="0" smtClean="0"/>
              <a:t>two plus ten = 12</a:t>
            </a:r>
            <a:br>
              <a:rPr lang="pl-PL" dirty="0" smtClean="0"/>
            </a:br>
            <a:r>
              <a:rPr lang="pl-PL" dirty="0" smtClean="0"/>
              <a:t>ten * ten = 100</a:t>
            </a:r>
            <a:br>
              <a:rPr lang="pl-PL" dirty="0" smtClean="0"/>
            </a:br>
            <a:r>
              <a:rPr lang="pl-PL" dirty="0" smtClean="0"/>
              <a:t>ten / two = 5</a:t>
            </a:r>
            <a:endParaRPr lang="en-US" dirty="0"/>
          </a:p>
        </p:txBody>
      </p:sp>
      <p:cxnSp>
        <p:nvCxnSpPr>
          <p:cNvPr id="10" name="Straight Connector 9"/>
          <p:cNvCxnSpPr>
            <a:endCxn id="4" idx="2"/>
          </p:cNvCxnSpPr>
          <p:nvPr/>
        </p:nvCxnSpPr>
        <p:spPr>
          <a:xfrm rot="5400000">
            <a:off x="1866900" y="4000500"/>
            <a:ext cx="55626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b="1" dirty="0" smtClean="0"/>
              <a:t>Comparison Operators</a:t>
            </a:r>
            <a:endParaRPr lang="en-US" dirty="0"/>
          </a:p>
        </p:txBody>
      </p:sp>
      <p:sp>
        <p:nvSpPr>
          <p:cNvPr id="3" name="Content Placeholder 2"/>
          <p:cNvSpPr>
            <a:spLocks noGrp="1"/>
          </p:cNvSpPr>
          <p:nvPr>
            <p:ph idx="1"/>
          </p:nvPr>
        </p:nvSpPr>
        <p:spPr>
          <a:xfrm>
            <a:off x="838200" y="1447800"/>
            <a:ext cx="8095488" cy="5029200"/>
          </a:xfrm>
        </p:spPr>
        <p:txBody>
          <a:bodyPr>
            <a:normAutofit/>
          </a:bodyPr>
          <a:lstStyle/>
          <a:p>
            <a:r>
              <a:rPr lang="en-US" sz="2400" dirty="0" smtClean="0"/>
              <a:t>Comparisons are used to check the relationship between variables and/or values. A single equal sign sets a value while a double equal sign (==) compares two values. </a:t>
            </a:r>
          </a:p>
          <a:p>
            <a:r>
              <a:rPr lang="en-US" sz="2400" dirty="0" smtClean="0"/>
              <a:t>Comparison operators are used inside conditional statements and evaluate to either </a:t>
            </a:r>
            <a:r>
              <a:rPr lang="en-US" sz="2400" i="1" dirty="0" smtClean="0"/>
              <a:t>true</a:t>
            </a:r>
            <a:r>
              <a:rPr lang="en-US" sz="2400" dirty="0" smtClean="0"/>
              <a:t> or </a:t>
            </a:r>
            <a:r>
              <a:rPr lang="en-US" sz="2400" i="1" dirty="0" smtClean="0"/>
              <a:t>false</a:t>
            </a:r>
            <a:r>
              <a:rPr lang="en-US" sz="2400" dirty="0" smtClean="0"/>
              <a:t>. Examples</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graphicFrame>
        <p:nvGraphicFramePr>
          <p:cNvPr id="6" name="Table 5"/>
          <p:cNvGraphicFramePr>
            <a:graphicFrameLocks noGrp="1"/>
          </p:cNvGraphicFramePr>
          <p:nvPr/>
        </p:nvGraphicFramePr>
        <p:xfrm>
          <a:off x="1905000" y="3505200"/>
          <a:ext cx="6172200" cy="3108960"/>
        </p:xfrm>
        <a:graphic>
          <a:graphicData uri="http://schemas.openxmlformats.org/drawingml/2006/table">
            <a:tbl>
              <a:tblPr/>
              <a:tblGrid>
                <a:gridCol w="1543050"/>
                <a:gridCol w="1509866"/>
                <a:gridCol w="1576234"/>
                <a:gridCol w="1543050"/>
              </a:tblGrid>
              <a:tr h="311972">
                <a:tc>
                  <a:txBody>
                    <a:bodyPr/>
                    <a:lstStyle/>
                    <a:p>
                      <a:r>
                        <a:rPr lang="en-US" dirty="0"/>
                        <a:t>Operator</a:t>
                      </a:r>
                    </a:p>
                  </a:txBody>
                  <a:tcPr anchor="ctr">
                    <a:lnL>
                      <a:noFill/>
                    </a:lnL>
                    <a:lnR>
                      <a:noFill/>
                    </a:lnR>
                    <a:lnT>
                      <a:noFill/>
                    </a:lnT>
                    <a:lnB>
                      <a:noFill/>
                    </a:lnB>
                  </a:tcPr>
                </a:tc>
                <a:tc>
                  <a:txBody>
                    <a:bodyPr/>
                    <a:lstStyle/>
                    <a:p>
                      <a:r>
                        <a:rPr lang="en-US"/>
                        <a:t>English</a:t>
                      </a:r>
                    </a:p>
                  </a:txBody>
                  <a:tcPr anchor="ctr">
                    <a:lnL>
                      <a:noFill/>
                    </a:lnL>
                    <a:lnR>
                      <a:noFill/>
                    </a:lnR>
                    <a:lnT>
                      <a:noFill/>
                    </a:lnT>
                    <a:lnB>
                      <a:noFill/>
                    </a:lnB>
                  </a:tcPr>
                </a:tc>
                <a:tc>
                  <a:txBody>
                    <a:bodyPr/>
                    <a:lstStyle/>
                    <a:p>
                      <a:r>
                        <a:rPr lang="en-US"/>
                        <a:t>Example</a:t>
                      </a:r>
                    </a:p>
                  </a:txBody>
                  <a:tcPr anchor="ctr">
                    <a:lnL>
                      <a:noFill/>
                    </a:lnL>
                    <a:lnR>
                      <a:noFill/>
                    </a:lnR>
                    <a:lnT>
                      <a:noFill/>
                    </a:lnT>
                    <a:lnB>
                      <a:noFill/>
                    </a:lnB>
                  </a:tcPr>
                </a:tc>
                <a:tc>
                  <a:txBody>
                    <a:bodyPr/>
                    <a:lstStyle/>
                    <a:p>
                      <a:r>
                        <a:rPr lang="en-US"/>
                        <a:t>Result</a:t>
                      </a:r>
                    </a:p>
                  </a:txBody>
                  <a:tcPr anchor="ctr">
                    <a:lnL>
                      <a:noFill/>
                    </a:lnL>
                    <a:lnR>
                      <a:noFill/>
                    </a:lnR>
                    <a:lnT>
                      <a:noFill/>
                    </a:lnT>
                    <a:lnB>
                      <a:noFill/>
                    </a:lnB>
                  </a:tcPr>
                </a:tc>
              </a:tr>
              <a:tr h="311972">
                <a:tc>
                  <a:txBody>
                    <a:bodyPr/>
                    <a:lstStyle/>
                    <a:p>
                      <a:r>
                        <a:rPr lang="en-US" dirty="0"/>
                        <a:t>== </a:t>
                      </a:r>
                    </a:p>
                  </a:txBody>
                  <a:tcPr anchor="ctr">
                    <a:lnL>
                      <a:noFill/>
                    </a:lnL>
                    <a:lnR>
                      <a:noFill/>
                    </a:lnR>
                    <a:lnT>
                      <a:noFill/>
                    </a:lnT>
                    <a:lnB>
                      <a:noFill/>
                    </a:lnB>
                  </a:tcPr>
                </a:tc>
                <a:tc>
                  <a:txBody>
                    <a:bodyPr/>
                    <a:lstStyle/>
                    <a:p>
                      <a:r>
                        <a:rPr lang="en-US"/>
                        <a:t>Equal To</a:t>
                      </a:r>
                    </a:p>
                  </a:txBody>
                  <a:tcPr anchor="ctr">
                    <a:lnL>
                      <a:noFill/>
                    </a:lnL>
                    <a:lnR>
                      <a:noFill/>
                    </a:lnR>
                    <a:lnT>
                      <a:noFill/>
                    </a:lnT>
                    <a:lnB>
                      <a:noFill/>
                    </a:lnB>
                  </a:tcPr>
                </a:tc>
                <a:tc>
                  <a:txBody>
                    <a:bodyPr/>
                    <a:lstStyle/>
                    <a:p>
                      <a:r>
                        <a:rPr lang="en-US"/>
                        <a:t>x == y</a:t>
                      </a:r>
                    </a:p>
                  </a:txBody>
                  <a:tcPr anchor="ctr">
                    <a:lnL>
                      <a:noFill/>
                    </a:lnL>
                    <a:lnR>
                      <a:noFill/>
                    </a:lnR>
                    <a:lnT>
                      <a:noFill/>
                    </a:lnT>
                    <a:lnB>
                      <a:noFill/>
                    </a:lnB>
                  </a:tcPr>
                </a:tc>
                <a:tc>
                  <a:txBody>
                    <a:bodyPr/>
                    <a:lstStyle/>
                    <a:p>
                      <a:r>
                        <a:rPr lang="en-US"/>
                        <a:t>false</a:t>
                      </a:r>
                    </a:p>
                  </a:txBody>
                  <a:tcPr anchor="ctr">
                    <a:lnL>
                      <a:noFill/>
                    </a:lnL>
                    <a:lnR>
                      <a:noFill/>
                    </a:lnR>
                    <a:lnT>
                      <a:noFill/>
                    </a:lnT>
                    <a:lnB>
                      <a:noFill/>
                    </a:lnB>
                  </a:tcPr>
                </a:tc>
              </a:tr>
              <a:tr h="311972">
                <a:tc>
                  <a:txBody>
                    <a:bodyPr/>
                    <a:lstStyle/>
                    <a:p>
                      <a:r>
                        <a:rPr lang="en-US" dirty="0"/>
                        <a:t>!= </a:t>
                      </a:r>
                    </a:p>
                  </a:txBody>
                  <a:tcPr anchor="ctr">
                    <a:lnL>
                      <a:noFill/>
                    </a:lnL>
                    <a:lnR>
                      <a:noFill/>
                    </a:lnR>
                    <a:lnT>
                      <a:noFill/>
                    </a:lnT>
                    <a:lnB>
                      <a:noFill/>
                    </a:lnB>
                  </a:tcPr>
                </a:tc>
                <a:tc>
                  <a:txBody>
                    <a:bodyPr/>
                    <a:lstStyle/>
                    <a:p>
                      <a:r>
                        <a:rPr lang="en-US"/>
                        <a:t>Not Equal To</a:t>
                      </a:r>
                    </a:p>
                  </a:txBody>
                  <a:tcPr anchor="ctr">
                    <a:lnL>
                      <a:noFill/>
                    </a:lnL>
                    <a:lnR>
                      <a:noFill/>
                    </a:lnR>
                    <a:lnT>
                      <a:noFill/>
                    </a:lnT>
                    <a:lnB>
                      <a:noFill/>
                    </a:lnB>
                  </a:tcPr>
                </a:tc>
                <a:tc>
                  <a:txBody>
                    <a:bodyPr/>
                    <a:lstStyle/>
                    <a:p>
                      <a:r>
                        <a:rPr lang="en-US"/>
                        <a:t>x != y</a:t>
                      </a:r>
                    </a:p>
                  </a:txBody>
                  <a:tcPr anchor="ctr">
                    <a:lnL>
                      <a:noFill/>
                    </a:lnL>
                    <a:lnR>
                      <a:noFill/>
                    </a:lnR>
                    <a:lnT>
                      <a:noFill/>
                    </a:lnT>
                    <a:lnB>
                      <a:noFill/>
                    </a:lnB>
                  </a:tcPr>
                </a:tc>
                <a:tc>
                  <a:txBody>
                    <a:bodyPr/>
                    <a:lstStyle/>
                    <a:p>
                      <a:r>
                        <a:rPr lang="en-US"/>
                        <a:t>true</a:t>
                      </a:r>
                    </a:p>
                  </a:txBody>
                  <a:tcPr anchor="ctr">
                    <a:lnL>
                      <a:noFill/>
                    </a:lnL>
                    <a:lnR>
                      <a:noFill/>
                    </a:lnR>
                    <a:lnT>
                      <a:noFill/>
                    </a:lnT>
                    <a:lnB>
                      <a:noFill/>
                    </a:lnB>
                  </a:tcPr>
                </a:tc>
              </a:tr>
              <a:tr h="311972">
                <a:tc>
                  <a:txBody>
                    <a:bodyPr/>
                    <a:lstStyle/>
                    <a:p>
                      <a:r>
                        <a:rPr lang="en-US"/>
                        <a:t>&lt; </a:t>
                      </a:r>
                    </a:p>
                  </a:txBody>
                  <a:tcPr anchor="ctr">
                    <a:lnL>
                      <a:noFill/>
                    </a:lnL>
                    <a:lnR>
                      <a:noFill/>
                    </a:lnR>
                    <a:lnT>
                      <a:noFill/>
                    </a:lnT>
                    <a:lnB>
                      <a:noFill/>
                    </a:lnB>
                  </a:tcPr>
                </a:tc>
                <a:tc>
                  <a:txBody>
                    <a:bodyPr/>
                    <a:lstStyle/>
                    <a:p>
                      <a:r>
                        <a:rPr lang="en-US"/>
                        <a:t>Less Than</a:t>
                      </a:r>
                    </a:p>
                  </a:txBody>
                  <a:tcPr anchor="ctr">
                    <a:lnL>
                      <a:noFill/>
                    </a:lnL>
                    <a:lnR>
                      <a:noFill/>
                    </a:lnR>
                    <a:lnT>
                      <a:noFill/>
                    </a:lnT>
                    <a:lnB>
                      <a:noFill/>
                    </a:lnB>
                  </a:tcPr>
                </a:tc>
                <a:tc>
                  <a:txBody>
                    <a:bodyPr/>
                    <a:lstStyle/>
                    <a:p>
                      <a:r>
                        <a:rPr lang="en-US"/>
                        <a:t>x &lt; y </a:t>
                      </a:r>
                    </a:p>
                  </a:txBody>
                  <a:tcPr anchor="ctr">
                    <a:lnL>
                      <a:noFill/>
                    </a:lnL>
                    <a:lnR>
                      <a:noFill/>
                    </a:lnR>
                    <a:lnT>
                      <a:noFill/>
                    </a:lnT>
                    <a:lnB>
                      <a:noFill/>
                    </a:lnB>
                  </a:tcPr>
                </a:tc>
                <a:tc>
                  <a:txBody>
                    <a:bodyPr/>
                    <a:lstStyle/>
                    <a:p>
                      <a:r>
                        <a:rPr lang="en-US"/>
                        <a:t>true</a:t>
                      </a:r>
                    </a:p>
                  </a:txBody>
                  <a:tcPr anchor="ctr">
                    <a:lnL>
                      <a:noFill/>
                    </a:lnL>
                    <a:lnR>
                      <a:noFill/>
                    </a:lnR>
                    <a:lnT>
                      <a:noFill/>
                    </a:lnT>
                    <a:lnB>
                      <a:noFill/>
                    </a:lnB>
                  </a:tcPr>
                </a:tc>
              </a:tr>
              <a:tr h="311972">
                <a:tc>
                  <a:txBody>
                    <a:bodyPr/>
                    <a:lstStyle/>
                    <a:p>
                      <a:r>
                        <a:rPr lang="en-US"/>
                        <a:t>&gt;</a:t>
                      </a:r>
                    </a:p>
                  </a:txBody>
                  <a:tcPr anchor="ctr">
                    <a:lnL>
                      <a:noFill/>
                    </a:lnL>
                    <a:lnR>
                      <a:noFill/>
                    </a:lnR>
                    <a:lnT>
                      <a:noFill/>
                    </a:lnT>
                    <a:lnB>
                      <a:noFill/>
                    </a:lnB>
                  </a:tcPr>
                </a:tc>
                <a:tc>
                  <a:txBody>
                    <a:bodyPr/>
                    <a:lstStyle/>
                    <a:p>
                      <a:r>
                        <a:rPr lang="en-US"/>
                        <a:t>Greater Than</a:t>
                      </a:r>
                    </a:p>
                  </a:txBody>
                  <a:tcPr anchor="ctr">
                    <a:lnL>
                      <a:noFill/>
                    </a:lnL>
                    <a:lnR>
                      <a:noFill/>
                    </a:lnR>
                    <a:lnT>
                      <a:noFill/>
                    </a:lnT>
                    <a:lnB>
                      <a:noFill/>
                    </a:lnB>
                  </a:tcPr>
                </a:tc>
                <a:tc>
                  <a:txBody>
                    <a:bodyPr/>
                    <a:lstStyle/>
                    <a:p>
                      <a:r>
                        <a:rPr lang="en-US"/>
                        <a:t>x &gt; y </a:t>
                      </a:r>
                    </a:p>
                  </a:txBody>
                  <a:tcPr anchor="ctr">
                    <a:lnL>
                      <a:noFill/>
                    </a:lnL>
                    <a:lnR>
                      <a:noFill/>
                    </a:lnR>
                    <a:lnT>
                      <a:noFill/>
                    </a:lnT>
                    <a:lnB>
                      <a:noFill/>
                    </a:lnB>
                  </a:tcPr>
                </a:tc>
                <a:tc>
                  <a:txBody>
                    <a:bodyPr/>
                    <a:lstStyle/>
                    <a:p>
                      <a:r>
                        <a:rPr lang="en-US"/>
                        <a:t>false</a:t>
                      </a:r>
                    </a:p>
                  </a:txBody>
                  <a:tcPr anchor="ctr">
                    <a:lnL>
                      <a:noFill/>
                    </a:lnL>
                    <a:lnR>
                      <a:noFill/>
                    </a:lnR>
                    <a:lnT>
                      <a:noFill/>
                    </a:lnT>
                    <a:lnB>
                      <a:noFill/>
                    </a:lnB>
                  </a:tcPr>
                </a:tc>
              </a:tr>
              <a:tr h="545951">
                <a:tc>
                  <a:txBody>
                    <a:bodyPr/>
                    <a:lstStyle/>
                    <a:p>
                      <a:r>
                        <a:rPr lang="en-US"/>
                        <a:t>&lt;= </a:t>
                      </a:r>
                    </a:p>
                  </a:txBody>
                  <a:tcPr anchor="ctr">
                    <a:lnL>
                      <a:noFill/>
                    </a:lnL>
                    <a:lnR>
                      <a:noFill/>
                    </a:lnR>
                    <a:lnT>
                      <a:noFill/>
                    </a:lnT>
                    <a:lnB>
                      <a:noFill/>
                    </a:lnB>
                  </a:tcPr>
                </a:tc>
                <a:tc>
                  <a:txBody>
                    <a:bodyPr/>
                    <a:lstStyle/>
                    <a:p>
                      <a:r>
                        <a:rPr lang="en-US"/>
                        <a:t>Less Than or Equal To</a:t>
                      </a:r>
                    </a:p>
                  </a:txBody>
                  <a:tcPr anchor="ctr">
                    <a:lnL>
                      <a:noFill/>
                    </a:lnL>
                    <a:lnR>
                      <a:noFill/>
                    </a:lnR>
                    <a:lnT>
                      <a:noFill/>
                    </a:lnT>
                    <a:lnB>
                      <a:noFill/>
                    </a:lnB>
                  </a:tcPr>
                </a:tc>
                <a:tc>
                  <a:txBody>
                    <a:bodyPr/>
                    <a:lstStyle/>
                    <a:p>
                      <a:r>
                        <a:rPr lang="en-US"/>
                        <a:t>x &lt;= y </a:t>
                      </a:r>
                    </a:p>
                  </a:txBody>
                  <a:tcPr anchor="ctr">
                    <a:lnL>
                      <a:noFill/>
                    </a:lnL>
                    <a:lnR>
                      <a:noFill/>
                    </a:lnR>
                    <a:lnT>
                      <a:noFill/>
                    </a:lnT>
                    <a:lnB>
                      <a:noFill/>
                    </a:lnB>
                  </a:tcPr>
                </a:tc>
                <a:tc>
                  <a:txBody>
                    <a:bodyPr/>
                    <a:lstStyle/>
                    <a:p>
                      <a:r>
                        <a:rPr lang="en-US"/>
                        <a:t>true</a:t>
                      </a:r>
                    </a:p>
                  </a:txBody>
                  <a:tcPr anchor="ctr">
                    <a:lnL>
                      <a:noFill/>
                    </a:lnL>
                    <a:lnR>
                      <a:noFill/>
                    </a:lnR>
                    <a:lnT>
                      <a:noFill/>
                    </a:lnT>
                    <a:lnB>
                      <a:noFill/>
                    </a:lnB>
                  </a:tcPr>
                </a:tc>
              </a:tr>
              <a:tr h="545951">
                <a:tc>
                  <a:txBody>
                    <a:bodyPr/>
                    <a:lstStyle/>
                    <a:p>
                      <a:r>
                        <a:rPr lang="en-US"/>
                        <a:t>&gt;= </a:t>
                      </a:r>
                    </a:p>
                  </a:txBody>
                  <a:tcPr anchor="ctr">
                    <a:lnL>
                      <a:noFill/>
                    </a:lnL>
                    <a:lnR>
                      <a:noFill/>
                    </a:lnR>
                    <a:lnT>
                      <a:noFill/>
                    </a:lnT>
                    <a:lnB>
                      <a:noFill/>
                    </a:lnB>
                  </a:tcPr>
                </a:tc>
                <a:tc>
                  <a:txBody>
                    <a:bodyPr/>
                    <a:lstStyle/>
                    <a:p>
                      <a:r>
                        <a:rPr lang="en-US"/>
                        <a:t>Greater Than or Equal To</a:t>
                      </a:r>
                    </a:p>
                  </a:txBody>
                  <a:tcPr anchor="ctr">
                    <a:lnL>
                      <a:noFill/>
                    </a:lnL>
                    <a:lnR>
                      <a:noFill/>
                    </a:lnR>
                    <a:lnT>
                      <a:noFill/>
                    </a:lnT>
                    <a:lnB>
                      <a:noFill/>
                    </a:lnB>
                  </a:tcPr>
                </a:tc>
                <a:tc>
                  <a:txBody>
                    <a:bodyPr/>
                    <a:lstStyle/>
                    <a:p>
                      <a:r>
                        <a:rPr lang="en-US"/>
                        <a:t>x &gt;= y </a:t>
                      </a:r>
                    </a:p>
                  </a:txBody>
                  <a:tcPr anchor="ctr">
                    <a:lnL>
                      <a:noFill/>
                    </a:lnL>
                    <a:lnR>
                      <a:noFill/>
                    </a:lnR>
                    <a:lnT>
                      <a:noFill/>
                    </a:lnT>
                    <a:lnB>
                      <a:noFill/>
                    </a:lnB>
                  </a:tcPr>
                </a:tc>
                <a:tc>
                  <a:txBody>
                    <a:bodyPr/>
                    <a:lstStyle/>
                    <a:p>
                      <a:r>
                        <a:rPr lang="en-US" dirty="0"/>
                        <a:t>false</a:t>
                      </a:r>
                    </a:p>
                  </a:txBody>
                  <a:tcPr anchor="ctr">
                    <a:lnL>
                      <a:noFill/>
                    </a:lnL>
                    <a:lnR>
                      <a:noFill/>
                    </a:lnR>
                    <a:lnT>
                      <a:noFill/>
                    </a:lnT>
                    <a:lnB>
                      <a:noFill/>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b="1" dirty="0" smtClean="0"/>
              <a:t>JavaScript Variables</a:t>
            </a:r>
            <a:endParaRPr lang="en-US" b="1" dirty="0"/>
          </a:p>
        </p:txBody>
      </p:sp>
      <p:sp>
        <p:nvSpPr>
          <p:cNvPr id="3" name="Content Placeholder 2"/>
          <p:cNvSpPr>
            <a:spLocks noGrp="1"/>
          </p:cNvSpPr>
          <p:nvPr>
            <p:ph idx="1"/>
          </p:nvPr>
        </p:nvSpPr>
        <p:spPr>
          <a:xfrm>
            <a:off x="838200" y="1447800"/>
            <a:ext cx="8095488" cy="5029200"/>
          </a:xfrm>
        </p:spPr>
        <p:txBody>
          <a:bodyPr>
            <a:normAutofit/>
          </a:bodyPr>
          <a:lstStyle/>
          <a:p>
            <a:r>
              <a:rPr lang="en-US" sz="2400" dirty="0" smtClean="0"/>
              <a:t>Variables in JavaScript behave the same as variables in most popular programming languages (C, C++, etc) do, but in JavaScript you don't have to declare variables before you use them.</a:t>
            </a:r>
          </a:p>
          <a:p>
            <a:r>
              <a:rPr lang="en-US" sz="2400" dirty="0" smtClean="0"/>
              <a:t>A variable's purpose is to store information so that it can be used later. </a:t>
            </a:r>
          </a:p>
          <a:p>
            <a:r>
              <a:rPr lang="en-US" sz="2400" dirty="0" smtClean="0"/>
              <a:t>A variable is a symbolic name that represents some data that you set.</a:t>
            </a:r>
          </a:p>
          <a:p>
            <a:r>
              <a:rPr lang="en-US" sz="2400" dirty="0" smtClean="0"/>
              <a:t>The name wraps up the data so you can move it around a lot easier, but the name is not the data!</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b="1" dirty="0" smtClean="0"/>
              <a:t>Variable Example</a:t>
            </a:r>
            <a:endParaRPr lang="en-US" b="1" dirty="0"/>
          </a:p>
        </p:txBody>
      </p:sp>
      <p:sp>
        <p:nvSpPr>
          <p:cNvPr id="3" name="Content Placeholder 2"/>
          <p:cNvSpPr>
            <a:spLocks noGrp="1"/>
          </p:cNvSpPr>
          <p:nvPr>
            <p:ph idx="1"/>
          </p:nvPr>
        </p:nvSpPr>
        <p:spPr>
          <a:xfrm>
            <a:off x="838200" y="1447800"/>
            <a:ext cx="8095488" cy="5029200"/>
          </a:xfrm>
        </p:spPr>
        <p:txBody>
          <a:bodyPr>
            <a:normAutofit/>
          </a:bodyPr>
          <a:lstStyle/>
          <a:p>
            <a:r>
              <a:rPr lang="en-US" sz="2400" dirty="0" smtClean="0"/>
              <a:t>When using a variable for the first time it is not necessary to use "</a:t>
            </a:r>
            <a:r>
              <a:rPr lang="en-US" sz="2400" dirty="0" err="1" smtClean="0"/>
              <a:t>var</a:t>
            </a:r>
            <a:r>
              <a:rPr lang="en-US" sz="2400" dirty="0" smtClean="0"/>
              <a:t>" before the variable name, but it is a good programming practice to make it crystal clear when a variable is being used for the first time in the program. </a:t>
            </a:r>
          </a:p>
          <a:p>
            <a:endParaRPr lang="en-US" sz="2400" dirty="0" smtClean="0"/>
          </a:p>
          <a:p>
            <a:r>
              <a:rPr lang="en-US" sz="2400" dirty="0" smtClean="0"/>
              <a:t>Example showing how the same variable can take on different values throughout a script:-  </a:t>
            </a:r>
            <a:r>
              <a:rPr lang="en-US" sz="2400" i="1" dirty="0" smtClean="0"/>
              <a:t>Next Slide</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3810000" cy="6248400"/>
          </a:xfrm>
        </p:spPr>
        <p:txBody>
          <a:bodyPr>
            <a:normAutofit fontScale="85000" lnSpcReduction="20000"/>
          </a:bodyPr>
          <a:lstStyle/>
          <a:p>
            <a:pPr>
              <a:buNone/>
            </a:pPr>
            <a:r>
              <a:rPr lang="en-US" sz="2000" dirty="0" smtClean="0"/>
              <a:t>&lt;body&gt;</a:t>
            </a:r>
          </a:p>
          <a:p>
            <a:pPr>
              <a:buNone/>
            </a:pPr>
            <a:r>
              <a:rPr lang="en-US" sz="2000" dirty="0" smtClean="0"/>
              <a:t> &lt;script type="text/JavaScript"&gt;</a:t>
            </a:r>
          </a:p>
          <a:p>
            <a:pPr>
              <a:buNone/>
            </a:pPr>
            <a:r>
              <a:rPr lang="en-US" sz="2000" dirty="0" smtClean="0"/>
              <a:t> &lt;!-- </a:t>
            </a:r>
          </a:p>
          <a:p>
            <a:pPr>
              <a:buNone/>
            </a:pPr>
            <a:r>
              <a:rPr lang="en-US" sz="2000" dirty="0" err="1" smtClean="0"/>
              <a:t>var</a:t>
            </a:r>
            <a:r>
              <a:rPr lang="en-US" sz="2000" dirty="0" smtClean="0"/>
              <a:t> </a:t>
            </a:r>
            <a:r>
              <a:rPr lang="en-US" sz="2000" dirty="0" err="1" smtClean="0"/>
              <a:t>linebreak</a:t>
            </a:r>
            <a:r>
              <a:rPr lang="en-US" sz="2000" dirty="0" smtClean="0"/>
              <a:t> = "&lt;</a:t>
            </a:r>
            <a:r>
              <a:rPr lang="en-US" sz="2000" dirty="0" err="1" smtClean="0"/>
              <a:t>br</a:t>
            </a:r>
            <a:r>
              <a:rPr lang="en-US" sz="2000" dirty="0" smtClean="0"/>
              <a:t> /&gt;“</a:t>
            </a:r>
          </a:p>
          <a:p>
            <a:pPr>
              <a:buNone/>
            </a:pPr>
            <a:r>
              <a:rPr lang="en-US" sz="2000" dirty="0" smtClean="0"/>
              <a:t> </a:t>
            </a:r>
            <a:r>
              <a:rPr lang="en-US" sz="2000" dirty="0" err="1" smtClean="0"/>
              <a:t>var</a:t>
            </a:r>
            <a:r>
              <a:rPr lang="en-US" sz="2000" dirty="0" smtClean="0"/>
              <a:t> </a:t>
            </a:r>
            <a:r>
              <a:rPr lang="en-US" sz="2000" dirty="0" err="1" smtClean="0"/>
              <a:t>my_var</a:t>
            </a:r>
            <a:r>
              <a:rPr lang="en-US" sz="2000" dirty="0" smtClean="0"/>
              <a:t> = "Hello World!“</a:t>
            </a:r>
          </a:p>
          <a:p>
            <a:pPr>
              <a:buNone/>
            </a:pPr>
            <a:endParaRPr lang="en-US" sz="2000" dirty="0" smtClean="0"/>
          </a:p>
          <a:p>
            <a:pPr>
              <a:buNone/>
            </a:pPr>
            <a:r>
              <a:rPr lang="en-US" sz="2000" dirty="0" smtClean="0"/>
              <a:t> </a:t>
            </a:r>
            <a:r>
              <a:rPr lang="en-US" sz="2000" dirty="0" err="1" smtClean="0"/>
              <a:t>document.write</a:t>
            </a:r>
            <a:r>
              <a:rPr lang="en-US" sz="2000" dirty="0" smtClean="0"/>
              <a:t>(</a:t>
            </a:r>
            <a:r>
              <a:rPr lang="en-US" sz="2000" dirty="0" err="1" smtClean="0"/>
              <a:t>my_var</a:t>
            </a:r>
            <a:r>
              <a:rPr lang="en-US" sz="2000" dirty="0" smtClean="0"/>
              <a:t>) </a:t>
            </a:r>
          </a:p>
          <a:p>
            <a:pPr>
              <a:buNone/>
            </a:pPr>
            <a:r>
              <a:rPr lang="en-US" sz="2000" dirty="0" err="1" smtClean="0"/>
              <a:t>document.write</a:t>
            </a:r>
            <a:r>
              <a:rPr lang="en-US" sz="2000" dirty="0" smtClean="0"/>
              <a:t>(</a:t>
            </a:r>
            <a:r>
              <a:rPr lang="en-US" sz="2000" dirty="0" err="1" smtClean="0"/>
              <a:t>linebreak</a:t>
            </a:r>
            <a:r>
              <a:rPr lang="en-US" sz="2000" dirty="0" smtClean="0"/>
              <a:t>) </a:t>
            </a:r>
          </a:p>
          <a:p>
            <a:pPr>
              <a:buNone/>
            </a:pPr>
            <a:endParaRPr lang="en-US" sz="2000" dirty="0" smtClean="0"/>
          </a:p>
          <a:p>
            <a:pPr>
              <a:buNone/>
            </a:pPr>
            <a:r>
              <a:rPr lang="en-US" sz="2000" dirty="0" err="1" smtClean="0"/>
              <a:t>my_var</a:t>
            </a:r>
            <a:r>
              <a:rPr lang="en-US" sz="2000" dirty="0" smtClean="0"/>
              <a:t> = "I am learning JavaScript!" </a:t>
            </a:r>
          </a:p>
          <a:p>
            <a:pPr>
              <a:buNone/>
            </a:pPr>
            <a:r>
              <a:rPr lang="en-US" sz="2000" dirty="0" err="1" smtClean="0"/>
              <a:t>document.write</a:t>
            </a:r>
            <a:r>
              <a:rPr lang="en-US" sz="2000" dirty="0" smtClean="0"/>
              <a:t>(</a:t>
            </a:r>
            <a:r>
              <a:rPr lang="en-US" sz="2000" dirty="0" err="1" smtClean="0"/>
              <a:t>my_var</a:t>
            </a:r>
            <a:r>
              <a:rPr lang="en-US" sz="2000" dirty="0" smtClean="0"/>
              <a:t>)</a:t>
            </a:r>
          </a:p>
          <a:p>
            <a:pPr>
              <a:buNone/>
            </a:pPr>
            <a:r>
              <a:rPr lang="en-US" sz="2000" dirty="0" smtClean="0"/>
              <a:t> </a:t>
            </a:r>
            <a:r>
              <a:rPr lang="en-US" sz="2000" dirty="0" err="1" smtClean="0"/>
              <a:t>document.write</a:t>
            </a:r>
            <a:r>
              <a:rPr lang="en-US" sz="2000" dirty="0" smtClean="0"/>
              <a:t>(</a:t>
            </a:r>
            <a:r>
              <a:rPr lang="en-US" sz="2000" dirty="0" err="1" smtClean="0"/>
              <a:t>linebreak</a:t>
            </a:r>
            <a:r>
              <a:rPr lang="en-US" sz="2000" dirty="0" smtClean="0"/>
              <a:t>) </a:t>
            </a:r>
          </a:p>
          <a:p>
            <a:pPr>
              <a:buNone/>
            </a:pPr>
            <a:endParaRPr lang="en-US" sz="2000" dirty="0" smtClean="0"/>
          </a:p>
          <a:p>
            <a:pPr>
              <a:buNone/>
            </a:pPr>
            <a:r>
              <a:rPr lang="en-US" sz="2000" dirty="0" err="1" smtClean="0"/>
              <a:t>my_var</a:t>
            </a:r>
            <a:r>
              <a:rPr lang="en-US" sz="2000" dirty="0" smtClean="0"/>
              <a:t> = "Script is Finishing up..." </a:t>
            </a:r>
          </a:p>
          <a:p>
            <a:pPr>
              <a:buNone/>
            </a:pPr>
            <a:r>
              <a:rPr lang="en-US" sz="2000" dirty="0" err="1" smtClean="0"/>
              <a:t>document.write</a:t>
            </a:r>
            <a:r>
              <a:rPr lang="en-US" sz="2000" dirty="0" smtClean="0"/>
              <a:t>(</a:t>
            </a:r>
            <a:r>
              <a:rPr lang="en-US" sz="2000" dirty="0" err="1" smtClean="0"/>
              <a:t>my_var</a:t>
            </a:r>
            <a:r>
              <a:rPr lang="en-US" sz="2000" dirty="0" smtClean="0"/>
              <a:t>) </a:t>
            </a:r>
          </a:p>
          <a:p>
            <a:pPr>
              <a:buNone/>
            </a:pPr>
            <a:r>
              <a:rPr lang="en-US" sz="2000" dirty="0" smtClean="0"/>
              <a:t>//--&gt; </a:t>
            </a:r>
          </a:p>
          <a:p>
            <a:pPr>
              <a:buNone/>
            </a:pPr>
            <a:r>
              <a:rPr lang="en-US" sz="2000" dirty="0" smtClean="0"/>
              <a:t>&lt;/script&gt; </a:t>
            </a:r>
          </a:p>
          <a:p>
            <a:pPr>
              <a:buNone/>
            </a:pPr>
            <a:r>
              <a:rPr lang="en-US" sz="2000" dirty="0" smtClean="0"/>
              <a:t>&lt;/body&gt; </a:t>
            </a:r>
            <a:endParaRPr lang="en-US" sz="20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6" name="Rectangle 5"/>
          <p:cNvSpPr/>
          <p:nvPr/>
        </p:nvSpPr>
        <p:spPr>
          <a:xfrm>
            <a:off x="5410200" y="990600"/>
            <a:ext cx="3200400" cy="1676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486400" y="1066800"/>
            <a:ext cx="3048000" cy="1477328"/>
          </a:xfrm>
          <a:prstGeom prst="rect">
            <a:avLst/>
          </a:prstGeom>
          <a:noFill/>
        </p:spPr>
        <p:txBody>
          <a:bodyPr wrap="square" rtlCol="0">
            <a:spAutoFit/>
          </a:bodyPr>
          <a:lstStyle/>
          <a:p>
            <a:r>
              <a:rPr lang="en-US" b="1" dirty="0" smtClean="0"/>
              <a:t>Display Output</a:t>
            </a:r>
          </a:p>
          <a:p>
            <a:endParaRPr lang="en-US" b="1" dirty="0"/>
          </a:p>
          <a:p>
            <a:r>
              <a:rPr lang="en-US" dirty="0" smtClean="0"/>
              <a:t>Hello World!</a:t>
            </a:r>
            <a:br>
              <a:rPr lang="en-US" dirty="0" smtClean="0"/>
            </a:br>
            <a:r>
              <a:rPr lang="en-US" dirty="0" smtClean="0"/>
              <a:t>I am learning JavaScript!</a:t>
            </a:r>
            <a:br>
              <a:rPr lang="en-US" dirty="0" smtClean="0"/>
            </a:br>
            <a:r>
              <a:rPr lang="en-US" dirty="0" smtClean="0"/>
              <a:t>Script is Finishing up...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b="1" dirty="0" smtClean="0"/>
              <a:t>Variable Example Explanation</a:t>
            </a:r>
            <a:endParaRPr lang="en-US" b="1" dirty="0"/>
          </a:p>
        </p:txBody>
      </p:sp>
      <p:sp>
        <p:nvSpPr>
          <p:cNvPr id="3" name="Content Placeholder 2"/>
          <p:cNvSpPr>
            <a:spLocks noGrp="1"/>
          </p:cNvSpPr>
          <p:nvPr>
            <p:ph idx="1"/>
          </p:nvPr>
        </p:nvSpPr>
        <p:spPr>
          <a:xfrm>
            <a:off x="838200" y="1447800"/>
            <a:ext cx="8095488" cy="5029200"/>
          </a:xfrm>
        </p:spPr>
        <p:txBody>
          <a:bodyPr>
            <a:normAutofit lnSpcReduction="10000"/>
          </a:bodyPr>
          <a:lstStyle/>
          <a:p>
            <a:r>
              <a:rPr lang="en-US" sz="2400" dirty="0" smtClean="0"/>
              <a:t>We made two variables in this example--one to hold the </a:t>
            </a:r>
            <a:r>
              <a:rPr lang="en-US" sz="2400" i="1" dirty="0" smtClean="0"/>
              <a:t>HTML for a line break </a:t>
            </a:r>
            <a:r>
              <a:rPr lang="en-US" sz="2400" dirty="0" smtClean="0"/>
              <a:t>and the other for a dynamic variable that had a total of three </a:t>
            </a:r>
            <a:r>
              <a:rPr lang="en-US" sz="2400" i="1" dirty="0" smtClean="0"/>
              <a:t>different values </a:t>
            </a:r>
            <a:r>
              <a:rPr lang="en-US" sz="2400" dirty="0" smtClean="0"/>
              <a:t>throughout the script.</a:t>
            </a:r>
          </a:p>
          <a:p>
            <a:r>
              <a:rPr lang="en-US" sz="2400" dirty="0" smtClean="0"/>
              <a:t>To assign a value to a variable, you use the equal sign (=) with the variable on the left and the value to be assigned on the right. If you swap the order, your script will not work correctly! In English, the JavaScript "</a:t>
            </a:r>
            <a:r>
              <a:rPr lang="en-US" sz="2400" dirty="0" err="1" smtClean="0"/>
              <a:t>myVar</a:t>
            </a:r>
            <a:r>
              <a:rPr lang="en-US" sz="2400" dirty="0" smtClean="0"/>
              <a:t> = 'Hello World!'" would be: </a:t>
            </a:r>
            <a:r>
              <a:rPr lang="en-US" sz="2400" dirty="0" err="1" smtClean="0"/>
              <a:t>myVar</a:t>
            </a:r>
            <a:r>
              <a:rPr lang="en-US" sz="2400" dirty="0" smtClean="0"/>
              <a:t> equals 'Hello World!'.</a:t>
            </a:r>
          </a:p>
          <a:p>
            <a:r>
              <a:rPr lang="en-US" sz="2400" dirty="0" smtClean="0"/>
              <a:t>The first time we used a variable, we placed </a:t>
            </a:r>
            <a:r>
              <a:rPr lang="en-US" sz="2400" i="1" dirty="0" err="1" smtClean="0"/>
              <a:t>var</a:t>
            </a:r>
            <a:r>
              <a:rPr lang="en-US" sz="2400" dirty="0" smtClean="0"/>
              <a:t> in front to signify its first use. This is an easy way to organize the variables in your code and see when they came into existence. In subsequent assignments of the same variable, we did not need the var.</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Variable Naming Conventions (Rules)</a:t>
            </a:r>
            <a:endParaRPr lang="en-US" b="1" dirty="0"/>
          </a:p>
        </p:txBody>
      </p:sp>
      <p:sp>
        <p:nvSpPr>
          <p:cNvPr id="3" name="Content Placeholder 2"/>
          <p:cNvSpPr>
            <a:spLocks noGrp="1"/>
          </p:cNvSpPr>
          <p:nvPr>
            <p:ph idx="1"/>
          </p:nvPr>
        </p:nvSpPr>
        <p:spPr>
          <a:xfrm>
            <a:off x="838200" y="1447800"/>
            <a:ext cx="8095488" cy="5029200"/>
          </a:xfrm>
        </p:spPr>
        <p:txBody>
          <a:bodyPr>
            <a:normAutofit lnSpcReduction="10000"/>
          </a:bodyPr>
          <a:lstStyle/>
          <a:p>
            <a:r>
              <a:rPr lang="en-US" sz="2400" dirty="0" smtClean="0"/>
              <a:t>When choosing a variable name, you must first be sure that you do not use any of the JavaScript reserved names. </a:t>
            </a:r>
          </a:p>
          <a:p>
            <a:r>
              <a:rPr lang="en-US" sz="2400" dirty="0" smtClean="0"/>
              <a:t>Another good practice is choosing variable names that are descriptive of what the variable holds. If you have a variable that holds the size of a shoe, then name it "</a:t>
            </a:r>
            <a:r>
              <a:rPr lang="en-US" sz="2400" dirty="0" err="1" smtClean="0"/>
              <a:t>shoe_size</a:t>
            </a:r>
            <a:r>
              <a:rPr lang="en-US" sz="2400" dirty="0" smtClean="0"/>
              <a:t>" to make your JavaScript more readable.</a:t>
            </a:r>
          </a:p>
          <a:p>
            <a:r>
              <a:rPr lang="en-US" sz="2400" dirty="0" smtClean="0"/>
              <a:t>Finally, JavaScript variable names may not start with a numeral (0-9). These variable names would be illegal: 7lucky, 99bottlesofbeer, and 3zacharm.</a:t>
            </a:r>
          </a:p>
          <a:p>
            <a:r>
              <a:rPr lang="en-US" sz="2400" dirty="0" smtClean="0"/>
              <a:t>A good rule of thumb is to have your variable names start with a lowercase letter (a-z) and use underscores to separate a name with multiple words (i.e. </a:t>
            </a:r>
            <a:r>
              <a:rPr lang="en-US" sz="2400" dirty="0" err="1" smtClean="0"/>
              <a:t>my_var</a:t>
            </a:r>
            <a:r>
              <a:rPr lang="en-US" sz="2400" dirty="0" smtClean="0"/>
              <a:t>, </a:t>
            </a:r>
            <a:r>
              <a:rPr lang="en-US" sz="2400" dirty="0" err="1" smtClean="0"/>
              <a:t>strong_man</a:t>
            </a:r>
            <a:r>
              <a:rPr lang="en-US" sz="2400" dirty="0" smtClean="0"/>
              <a:t>, </a:t>
            </a:r>
            <a:r>
              <a:rPr lang="en-US" sz="2400" dirty="0" err="1" smtClean="0"/>
              <a:t>happy_coder</a:t>
            </a:r>
            <a:r>
              <a:rPr lang="en-US" sz="2400" dirty="0" smtClean="0"/>
              <a:t>, etc).</a:t>
            </a:r>
          </a:p>
          <a:p>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944562"/>
          </a:xfrm>
        </p:spPr>
        <p:txBody>
          <a:bodyPr>
            <a:normAutofit/>
          </a:bodyPr>
          <a:lstStyle/>
          <a:p>
            <a:r>
              <a:rPr lang="en-US" b="1" dirty="0" smtClean="0"/>
              <a:t>List of JavaScript Reserved Words</a:t>
            </a: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graphicFrame>
        <p:nvGraphicFramePr>
          <p:cNvPr id="7" name="Table 6"/>
          <p:cNvGraphicFramePr>
            <a:graphicFrameLocks noGrp="1"/>
          </p:cNvGraphicFramePr>
          <p:nvPr/>
        </p:nvGraphicFramePr>
        <p:xfrm>
          <a:off x="1066799" y="1371600"/>
          <a:ext cx="6781802" cy="5100066"/>
        </p:xfrm>
        <a:graphic>
          <a:graphicData uri="http://schemas.openxmlformats.org/drawingml/2006/table">
            <a:tbl>
              <a:tblPr/>
              <a:tblGrid>
                <a:gridCol w="1966928"/>
                <a:gridCol w="2253771"/>
                <a:gridCol w="2561103"/>
              </a:tblGrid>
              <a:tr h="5029200">
                <a:tc>
                  <a:txBody>
                    <a:bodyPr/>
                    <a:lstStyle/>
                    <a:p>
                      <a:pPr marL="0" marR="0">
                        <a:lnSpc>
                          <a:spcPct val="115000"/>
                        </a:lnSpc>
                        <a:spcBef>
                          <a:spcPts val="0"/>
                        </a:spcBef>
                        <a:spcAft>
                          <a:spcPts val="0"/>
                        </a:spcAft>
                      </a:pPr>
                      <a:endParaRPr lang="en-US" sz="1100" dirty="0" smtClean="0">
                        <a:latin typeface="Calibri"/>
                        <a:ea typeface="Calibri"/>
                        <a:cs typeface="Times New Roman"/>
                      </a:endParaRPr>
                    </a:p>
                    <a:p>
                      <a:pPr marL="0" marR="0">
                        <a:lnSpc>
                          <a:spcPct val="115000"/>
                        </a:lnSpc>
                        <a:spcBef>
                          <a:spcPts val="0"/>
                        </a:spcBef>
                        <a:spcAft>
                          <a:spcPts val="0"/>
                        </a:spcAft>
                      </a:pPr>
                      <a:r>
                        <a:rPr lang="en-US" sz="1400" dirty="0" smtClean="0">
                          <a:latin typeface="Calibri"/>
                          <a:ea typeface="Calibri"/>
                          <a:cs typeface="Times New Roman"/>
                        </a:rPr>
                        <a:t>abstract</a:t>
                      </a:r>
                      <a:r>
                        <a:rPr lang="en-US" sz="1400" dirty="0">
                          <a:latin typeface="Calibri"/>
                          <a:ea typeface="Calibri"/>
                          <a:cs typeface="Times New Roman"/>
                        </a:rPr>
                        <a:t/>
                      </a:r>
                      <a:br>
                        <a:rPr lang="en-US" sz="1400" dirty="0">
                          <a:latin typeface="Calibri"/>
                          <a:ea typeface="Calibri"/>
                          <a:cs typeface="Times New Roman"/>
                        </a:rPr>
                      </a:br>
                      <a:r>
                        <a:rPr lang="en-US" sz="1400" dirty="0" err="1">
                          <a:latin typeface="Calibri"/>
                          <a:ea typeface="Calibri"/>
                          <a:cs typeface="Times New Roman"/>
                        </a:rPr>
                        <a:t>boolean</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break</a:t>
                      </a:r>
                      <a:br>
                        <a:rPr lang="en-US" sz="1400" dirty="0">
                          <a:latin typeface="Calibri"/>
                          <a:ea typeface="Calibri"/>
                          <a:cs typeface="Times New Roman"/>
                        </a:rPr>
                      </a:br>
                      <a:r>
                        <a:rPr lang="en-US" sz="1400" dirty="0">
                          <a:latin typeface="Calibri"/>
                          <a:ea typeface="Calibri"/>
                          <a:cs typeface="Times New Roman"/>
                        </a:rPr>
                        <a:t>byte</a:t>
                      </a:r>
                      <a:br>
                        <a:rPr lang="en-US" sz="1400" dirty="0">
                          <a:latin typeface="Calibri"/>
                          <a:ea typeface="Calibri"/>
                          <a:cs typeface="Times New Roman"/>
                        </a:rPr>
                      </a:br>
                      <a:r>
                        <a:rPr lang="en-US" sz="1400" dirty="0">
                          <a:latin typeface="Calibri"/>
                          <a:ea typeface="Calibri"/>
                          <a:cs typeface="Times New Roman"/>
                        </a:rPr>
                        <a:t>case</a:t>
                      </a:r>
                      <a:br>
                        <a:rPr lang="en-US" sz="1400" dirty="0">
                          <a:latin typeface="Calibri"/>
                          <a:ea typeface="Calibri"/>
                          <a:cs typeface="Times New Roman"/>
                        </a:rPr>
                      </a:br>
                      <a:r>
                        <a:rPr lang="en-US" sz="1400" dirty="0">
                          <a:latin typeface="Calibri"/>
                          <a:ea typeface="Calibri"/>
                          <a:cs typeface="Times New Roman"/>
                        </a:rPr>
                        <a:t>catch</a:t>
                      </a:r>
                      <a:br>
                        <a:rPr lang="en-US" sz="1400" dirty="0">
                          <a:latin typeface="Calibri"/>
                          <a:ea typeface="Calibri"/>
                          <a:cs typeface="Times New Roman"/>
                        </a:rPr>
                      </a:br>
                      <a:r>
                        <a:rPr lang="en-US" sz="1400" dirty="0">
                          <a:latin typeface="Calibri"/>
                          <a:ea typeface="Calibri"/>
                          <a:cs typeface="Times New Roman"/>
                        </a:rPr>
                        <a:t>char</a:t>
                      </a:r>
                      <a:br>
                        <a:rPr lang="en-US" sz="1400" dirty="0">
                          <a:latin typeface="Calibri"/>
                          <a:ea typeface="Calibri"/>
                          <a:cs typeface="Times New Roman"/>
                        </a:rPr>
                      </a:br>
                      <a:r>
                        <a:rPr lang="en-US" sz="1400" dirty="0">
                          <a:latin typeface="Calibri"/>
                          <a:ea typeface="Calibri"/>
                          <a:cs typeface="Times New Roman"/>
                        </a:rPr>
                        <a:t>class</a:t>
                      </a:r>
                      <a:br>
                        <a:rPr lang="en-US" sz="1400" dirty="0">
                          <a:latin typeface="Calibri"/>
                          <a:ea typeface="Calibri"/>
                          <a:cs typeface="Times New Roman"/>
                        </a:rPr>
                      </a:br>
                      <a:r>
                        <a:rPr lang="en-US" sz="1400" dirty="0">
                          <a:latin typeface="Calibri"/>
                          <a:ea typeface="Calibri"/>
                          <a:cs typeface="Times New Roman"/>
                        </a:rPr>
                        <a:t>const</a:t>
                      </a:r>
                      <a:br>
                        <a:rPr lang="en-US" sz="1400" dirty="0">
                          <a:latin typeface="Calibri"/>
                          <a:ea typeface="Calibri"/>
                          <a:cs typeface="Times New Roman"/>
                        </a:rPr>
                      </a:br>
                      <a:r>
                        <a:rPr lang="en-US" sz="1400" dirty="0">
                          <a:latin typeface="Calibri"/>
                          <a:ea typeface="Calibri"/>
                          <a:cs typeface="Times New Roman"/>
                        </a:rPr>
                        <a:t>continue</a:t>
                      </a:r>
                      <a:br>
                        <a:rPr lang="en-US" sz="1400" dirty="0">
                          <a:latin typeface="Calibri"/>
                          <a:ea typeface="Calibri"/>
                          <a:cs typeface="Times New Roman"/>
                        </a:rPr>
                      </a:br>
                      <a:r>
                        <a:rPr lang="en-US" sz="1400" dirty="0">
                          <a:latin typeface="Calibri"/>
                          <a:ea typeface="Calibri"/>
                          <a:cs typeface="Times New Roman"/>
                        </a:rPr>
                        <a:t>debugger</a:t>
                      </a:r>
                      <a:br>
                        <a:rPr lang="en-US" sz="1400" dirty="0">
                          <a:latin typeface="Calibri"/>
                          <a:ea typeface="Calibri"/>
                          <a:cs typeface="Times New Roman"/>
                        </a:rPr>
                      </a:br>
                      <a:r>
                        <a:rPr lang="en-US" sz="1400" dirty="0">
                          <a:latin typeface="Calibri"/>
                          <a:ea typeface="Calibri"/>
                          <a:cs typeface="Times New Roman"/>
                        </a:rPr>
                        <a:t>default</a:t>
                      </a:r>
                      <a:br>
                        <a:rPr lang="en-US" sz="1400" dirty="0">
                          <a:latin typeface="Calibri"/>
                          <a:ea typeface="Calibri"/>
                          <a:cs typeface="Times New Roman"/>
                        </a:rPr>
                      </a:br>
                      <a:r>
                        <a:rPr lang="en-US" sz="1400" dirty="0">
                          <a:latin typeface="Calibri"/>
                          <a:ea typeface="Calibri"/>
                          <a:cs typeface="Times New Roman"/>
                        </a:rPr>
                        <a:t>delete</a:t>
                      </a:r>
                      <a:br>
                        <a:rPr lang="en-US" sz="1400" dirty="0">
                          <a:latin typeface="Calibri"/>
                          <a:ea typeface="Calibri"/>
                          <a:cs typeface="Times New Roman"/>
                        </a:rPr>
                      </a:br>
                      <a:r>
                        <a:rPr lang="en-US" sz="1400" dirty="0">
                          <a:latin typeface="Calibri"/>
                          <a:ea typeface="Calibri"/>
                          <a:cs typeface="Times New Roman"/>
                        </a:rPr>
                        <a:t>do</a:t>
                      </a:r>
                      <a:br>
                        <a:rPr lang="en-US" sz="1400" dirty="0">
                          <a:latin typeface="Calibri"/>
                          <a:ea typeface="Calibri"/>
                          <a:cs typeface="Times New Roman"/>
                        </a:rPr>
                      </a:br>
                      <a:r>
                        <a:rPr lang="en-US" sz="1400" dirty="0">
                          <a:latin typeface="Calibri"/>
                          <a:ea typeface="Calibri"/>
                          <a:cs typeface="Times New Roman"/>
                        </a:rPr>
                        <a:t>double</a:t>
                      </a:r>
                    </a:p>
                    <a:p>
                      <a:pPr marL="0" marR="0">
                        <a:lnSpc>
                          <a:spcPct val="115000"/>
                        </a:lnSpc>
                        <a:spcBef>
                          <a:spcPts val="0"/>
                        </a:spcBef>
                        <a:spcAft>
                          <a:spcPts val="0"/>
                        </a:spcAft>
                      </a:pPr>
                      <a:r>
                        <a:rPr lang="en-US" sz="1400" dirty="0">
                          <a:latin typeface="Calibri"/>
                          <a:ea typeface="Calibri"/>
                          <a:cs typeface="Times New Roman"/>
                        </a:rPr>
                        <a:t>else</a:t>
                      </a:r>
                      <a:br>
                        <a:rPr lang="en-US" sz="1400" dirty="0">
                          <a:latin typeface="Calibri"/>
                          <a:ea typeface="Calibri"/>
                          <a:cs typeface="Times New Roman"/>
                        </a:rPr>
                      </a:br>
                      <a:r>
                        <a:rPr lang="en-US" sz="1400" dirty="0" err="1">
                          <a:latin typeface="Calibri"/>
                          <a:ea typeface="Calibri"/>
                          <a:cs typeface="Times New Roman"/>
                        </a:rPr>
                        <a:t>enum</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export</a:t>
                      </a:r>
                      <a:br>
                        <a:rPr lang="en-US" sz="1400" dirty="0">
                          <a:latin typeface="Calibri"/>
                          <a:ea typeface="Calibri"/>
                          <a:cs typeface="Times New Roman"/>
                        </a:rPr>
                      </a:br>
                      <a:r>
                        <a:rPr lang="en-US" sz="1400" dirty="0">
                          <a:latin typeface="Calibri"/>
                          <a:ea typeface="Calibri"/>
                          <a:cs typeface="Times New Roman"/>
                        </a:rPr>
                        <a:t>extends</a:t>
                      </a:r>
                      <a:br>
                        <a:rPr lang="en-US" sz="1400" dirty="0">
                          <a:latin typeface="Calibri"/>
                          <a:ea typeface="Calibri"/>
                          <a:cs typeface="Times New Roman"/>
                        </a:rPr>
                      </a:br>
                      <a:r>
                        <a:rPr lang="en-US" sz="1400" dirty="0">
                          <a:latin typeface="Calibri"/>
                          <a:ea typeface="Calibri"/>
                          <a:cs typeface="Times New Roman"/>
                        </a:rPr>
                        <a:t>false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100" dirty="0" smtClean="0">
                        <a:latin typeface="Calibri"/>
                        <a:ea typeface="Calibri"/>
                        <a:cs typeface="Times New Roman"/>
                      </a:endParaRPr>
                    </a:p>
                    <a:p>
                      <a:pPr marL="0" marR="0">
                        <a:lnSpc>
                          <a:spcPct val="115000"/>
                        </a:lnSpc>
                        <a:spcBef>
                          <a:spcPts val="0"/>
                        </a:spcBef>
                        <a:spcAft>
                          <a:spcPts val="0"/>
                        </a:spcAft>
                      </a:pPr>
                      <a:r>
                        <a:rPr lang="en-US" sz="1400" dirty="0" smtClean="0">
                          <a:latin typeface="Calibri"/>
                          <a:ea typeface="Calibri"/>
                          <a:cs typeface="Times New Roman"/>
                        </a:rPr>
                        <a:t>final</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finally</a:t>
                      </a:r>
                      <a:br>
                        <a:rPr lang="en-US" sz="1400" dirty="0">
                          <a:latin typeface="Calibri"/>
                          <a:ea typeface="Calibri"/>
                          <a:cs typeface="Times New Roman"/>
                        </a:rPr>
                      </a:br>
                      <a:r>
                        <a:rPr lang="en-US" sz="1400" dirty="0">
                          <a:latin typeface="Calibri"/>
                          <a:ea typeface="Calibri"/>
                          <a:cs typeface="Times New Roman"/>
                        </a:rPr>
                        <a:t>float</a:t>
                      </a:r>
                      <a:br>
                        <a:rPr lang="en-US" sz="1400" dirty="0">
                          <a:latin typeface="Calibri"/>
                          <a:ea typeface="Calibri"/>
                          <a:cs typeface="Times New Roman"/>
                        </a:rPr>
                      </a:br>
                      <a:r>
                        <a:rPr lang="en-US" sz="1400" dirty="0">
                          <a:latin typeface="Calibri"/>
                          <a:ea typeface="Calibri"/>
                          <a:cs typeface="Times New Roman"/>
                        </a:rPr>
                        <a:t>for</a:t>
                      </a:r>
                      <a:br>
                        <a:rPr lang="en-US" sz="1400" dirty="0">
                          <a:latin typeface="Calibri"/>
                          <a:ea typeface="Calibri"/>
                          <a:cs typeface="Times New Roman"/>
                        </a:rPr>
                      </a:br>
                      <a:r>
                        <a:rPr lang="en-US" sz="1400" dirty="0">
                          <a:latin typeface="Calibri"/>
                          <a:ea typeface="Calibri"/>
                          <a:cs typeface="Times New Roman"/>
                        </a:rPr>
                        <a:t>function</a:t>
                      </a:r>
                      <a:br>
                        <a:rPr lang="en-US" sz="1400" dirty="0">
                          <a:latin typeface="Calibri"/>
                          <a:ea typeface="Calibri"/>
                          <a:cs typeface="Times New Roman"/>
                        </a:rPr>
                      </a:br>
                      <a:r>
                        <a:rPr lang="en-US" sz="1400" dirty="0" err="1">
                          <a:latin typeface="Calibri"/>
                          <a:ea typeface="Calibri"/>
                          <a:cs typeface="Times New Roman"/>
                        </a:rPr>
                        <a:t>goto</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if</a:t>
                      </a:r>
                      <a:br>
                        <a:rPr lang="en-US" sz="1400" dirty="0">
                          <a:latin typeface="Calibri"/>
                          <a:ea typeface="Calibri"/>
                          <a:cs typeface="Times New Roman"/>
                        </a:rPr>
                      </a:br>
                      <a:r>
                        <a:rPr lang="en-US" sz="1400" dirty="0">
                          <a:latin typeface="Calibri"/>
                          <a:ea typeface="Calibri"/>
                          <a:cs typeface="Times New Roman"/>
                        </a:rPr>
                        <a:t>implements</a:t>
                      </a:r>
                      <a:br>
                        <a:rPr lang="en-US" sz="1400" dirty="0">
                          <a:latin typeface="Calibri"/>
                          <a:ea typeface="Calibri"/>
                          <a:cs typeface="Times New Roman"/>
                        </a:rPr>
                      </a:br>
                      <a:r>
                        <a:rPr lang="en-US" sz="1400" dirty="0">
                          <a:latin typeface="Calibri"/>
                          <a:ea typeface="Calibri"/>
                          <a:cs typeface="Times New Roman"/>
                        </a:rPr>
                        <a:t>import</a:t>
                      </a:r>
                      <a:br>
                        <a:rPr lang="en-US" sz="1400" dirty="0">
                          <a:latin typeface="Calibri"/>
                          <a:ea typeface="Calibri"/>
                          <a:cs typeface="Times New Roman"/>
                        </a:rPr>
                      </a:br>
                      <a:r>
                        <a:rPr lang="en-US" sz="1400" dirty="0">
                          <a:latin typeface="Calibri"/>
                          <a:ea typeface="Calibri"/>
                          <a:cs typeface="Times New Roman"/>
                        </a:rPr>
                        <a:t>in</a:t>
                      </a:r>
                    </a:p>
                    <a:p>
                      <a:pPr marL="0" marR="0">
                        <a:lnSpc>
                          <a:spcPct val="115000"/>
                        </a:lnSpc>
                        <a:spcBef>
                          <a:spcPts val="0"/>
                        </a:spcBef>
                        <a:spcAft>
                          <a:spcPts val="0"/>
                        </a:spcAft>
                      </a:pPr>
                      <a:r>
                        <a:rPr lang="en-US" sz="1400" dirty="0" err="1">
                          <a:latin typeface="Calibri"/>
                          <a:ea typeface="Calibri"/>
                          <a:cs typeface="Times New Roman"/>
                        </a:rPr>
                        <a:t>instanceof</a:t>
                      </a:r>
                      <a:r>
                        <a:rPr lang="en-US" sz="1400" dirty="0">
                          <a:latin typeface="Calibri"/>
                          <a:ea typeface="Calibri"/>
                          <a:cs typeface="Times New Roman"/>
                        </a:rPr>
                        <a:t/>
                      </a:r>
                      <a:br>
                        <a:rPr lang="en-US" sz="1400" dirty="0">
                          <a:latin typeface="Calibri"/>
                          <a:ea typeface="Calibri"/>
                          <a:cs typeface="Times New Roman"/>
                        </a:rPr>
                      </a:br>
                      <a:r>
                        <a:rPr lang="en-US" sz="1400" dirty="0" err="1">
                          <a:latin typeface="Calibri"/>
                          <a:ea typeface="Calibri"/>
                          <a:cs typeface="Times New Roman"/>
                        </a:rPr>
                        <a:t>int</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interface</a:t>
                      </a:r>
                      <a:br>
                        <a:rPr lang="en-US" sz="1400" dirty="0">
                          <a:latin typeface="Calibri"/>
                          <a:ea typeface="Calibri"/>
                          <a:cs typeface="Times New Roman"/>
                        </a:rPr>
                      </a:br>
                      <a:r>
                        <a:rPr lang="en-US" sz="1400" dirty="0">
                          <a:latin typeface="Calibri"/>
                          <a:ea typeface="Calibri"/>
                          <a:cs typeface="Times New Roman"/>
                        </a:rPr>
                        <a:t>long</a:t>
                      </a:r>
                      <a:br>
                        <a:rPr lang="en-US" sz="1400" dirty="0">
                          <a:latin typeface="Calibri"/>
                          <a:ea typeface="Calibri"/>
                          <a:cs typeface="Times New Roman"/>
                        </a:rPr>
                      </a:br>
                      <a:r>
                        <a:rPr lang="en-US" sz="1400" dirty="0">
                          <a:latin typeface="Calibri"/>
                          <a:ea typeface="Calibri"/>
                          <a:cs typeface="Times New Roman"/>
                        </a:rPr>
                        <a:t>native</a:t>
                      </a:r>
                      <a:br>
                        <a:rPr lang="en-US" sz="1400" dirty="0">
                          <a:latin typeface="Calibri"/>
                          <a:ea typeface="Calibri"/>
                          <a:cs typeface="Times New Roman"/>
                        </a:rPr>
                      </a:br>
                      <a:r>
                        <a:rPr lang="en-US" sz="1400" dirty="0">
                          <a:latin typeface="Calibri"/>
                          <a:ea typeface="Calibri"/>
                          <a:cs typeface="Times New Roman"/>
                        </a:rPr>
                        <a:t>new</a:t>
                      </a:r>
                      <a:br>
                        <a:rPr lang="en-US" sz="1400" dirty="0">
                          <a:latin typeface="Calibri"/>
                          <a:ea typeface="Calibri"/>
                          <a:cs typeface="Times New Roman"/>
                        </a:rPr>
                      </a:br>
                      <a:r>
                        <a:rPr lang="en-US" sz="1400" dirty="0">
                          <a:latin typeface="Calibri"/>
                          <a:ea typeface="Calibri"/>
                          <a:cs typeface="Times New Roman"/>
                        </a:rPr>
                        <a:t>null</a:t>
                      </a:r>
                      <a:br>
                        <a:rPr lang="en-US" sz="1400" dirty="0">
                          <a:latin typeface="Calibri"/>
                          <a:ea typeface="Calibri"/>
                          <a:cs typeface="Times New Roman"/>
                        </a:rPr>
                      </a:br>
                      <a:r>
                        <a:rPr lang="en-US" sz="1400" dirty="0">
                          <a:latin typeface="Calibri"/>
                          <a:ea typeface="Calibri"/>
                          <a:cs typeface="Times New Roman"/>
                        </a:rPr>
                        <a:t>package</a:t>
                      </a:r>
                    </a:p>
                    <a:p>
                      <a:pPr marL="0" marR="0">
                        <a:lnSpc>
                          <a:spcPct val="115000"/>
                        </a:lnSpc>
                        <a:spcBef>
                          <a:spcPts val="0"/>
                        </a:spcBef>
                        <a:spcAft>
                          <a:spcPts val="0"/>
                        </a:spcAft>
                      </a:pPr>
                      <a:r>
                        <a:rPr lang="en-US" sz="1400" dirty="0">
                          <a:latin typeface="Calibri"/>
                          <a:ea typeface="Calibri"/>
                          <a:cs typeface="Times New Roman"/>
                        </a:rPr>
                        <a:t>private</a:t>
                      </a:r>
                      <a:br>
                        <a:rPr lang="en-US" sz="1400" dirty="0">
                          <a:latin typeface="Calibri"/>
                          <a:ea typeface="Calibri"/>
                          <a:cs typeface="Times New Roman"/>
                        </a:rPr>
                      </a:br>
                      <a:r>
                        <a:rPr lang="en-US" sz="1400" dirty="0">
                          <a:latin typeface="Calibri"/>
                          <a:ea typeface="Calibri"/>
                          <a:cs typeface="Times New Roman"/>
                        </a:rPr>
                        <a:t>protected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100" dirty="0" smtClean="0">
                        <a:latin typeface="Calibri"/>
                        <a:ea typeface="Calibri"/>
                        <a:cs typeface="Times New Roman"/>
                      </a:endParaRPr>
                    </a:p>
                    <a:p>
                      <a:pPr marL="0" marR="0">
                        <a:lnSpc>
                          <a:spcPct val="115000"/>
                        </a:lnSpc>
                        <a:spcBef>
                          <a:spcPts val="0"/>
                        </a:spcBef>
                        <a:spcAft>
                          <a:spcPts val="0"/>
                        </a:spcAft>
                      </a:pPr>
                      <a:r>
                        <a:rPr lang="en-US" sz="1400" dirty="0" smtClean="0">
                          <a:latin typeface="Calibri"/>
                          <a:ea typeface="Calibri"/>
                          <a:cs typeface="Times New Roman"/>
                        </a:rPr>
                        <a:t>public</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return</a:t>
                      </a:r>
                      <a:br>
                        <a:rPr lang="en-US" sz="1400" dirty="0">
                          <a:latin typeface="Calibri"/>
                          <a:ea typeface="Calibri"/>
                          <a:cs typeface="Times New Roman"/>
                        </a:rPr>
                      </a:br>
                      <a:r>
                        <a:rPr lang="en-US" sz="1400" dirty="0">
                          <a:latin typeface="Calibri"/>
                          <a:ea typeface="Calibri"/>
                          <a:cs typeface="Times New Roman"/>
                        </a:rPr>
                        <a:t>short</a:t>
                      </a:r>
                      <a:br>
                        <a:rPr lang="en-US" sz="1400" dirty="0">
                          <a:latin typeface="Calibri"/>
                          <a:ea typeface="Calibri"/>
                          <a:cs typeface="Times New Roman"/>
                        </a:rPr>
                      </a:br>
                      <a:r>
                        <a:rPr lang="en-US" sz="1400" dirty="0">
                          <a:latin typeface="Calibri"/>
                          <a:ea typeface="Calibri"/>
                          <a:cs typeface="Times New Roman"/>
                        </a:rPr>
                        <a:t>static</a:t>
                      </a:r>
                      <a:br>
                        <a:rPr lang="en-US" sz="1400" dirty="0">
                          <a:latin typeface="Calibri"/>
                          <a:ea typeface="Calibri"/>
                          <a:cs typeface="Times New Roman"/>
                        </a:rPr>
                      </a:br>
                      <a:r>
                        <a:rPr lang="en-US" sz="1400" dirty="0" err="1">
                          <a:latin typeface="Calibri"/>
                          <a:ea typeface="Calibri"/>
                          <a:cs typeface="Times New Roman"/>
                        </a:rPr>
                        <a:t>supe</a:t>
                      </a:r>
                      <a:endParaRPr lang="en-US" sz="1400" dirty="0">
                        <a:latin typeface="Calibri"/>
                        <a:ea typeface="Calibri"/>
                        <a:cs typeface="Times New Roman"/>
                      </a:endParaRPr>
                    </a:p>
                    <a:p>
                      <a:pPr marL="0" marR="0">
                        <a:lnSpc>
                          <a:spcPct val="115000"/>
                        </a:lnSpc>
                        <a:spcBef>
                          <a:spcPts val="0"/>
                        </a:spcBef>
                        <a:spcAft>
                          <a:spcPts val="0"/>
                        </a:spcAft>
                      </a:pPr>
                      <a:r>
                        <a:rPr lang="en-US" sz="1400" dirty="0">
                          <a:latin typeface="Calibri"/>
                          <a:ea typeface="Calibri"/>
                          <a:cs typeface="Times New Roman"/>
                        </a:rPr>
                        <a:t>switch</a:t>
                      </a:r>
                      <a:br>
                        <a:rPr lang="en-US" sz="1400" dirty="0">
                          <a:latin typeface="Calibri"/>
                          <a:ea typeface="Calibri"/>
                          <a:cs typeface="Times New Roman"/>
                        </a:rPr>
                      </a:br>
                      <a:r>
                        <a:rPr lang="en-US" sz="1400" dirty="0">
                          <a:latin typeface="Calibri"/>
                          <a:ea typeface="Calibri"/>
                          <a:cs typeface="Times New Roman"/>
                        </a:rPr>
                        <a:t>synchronized</a:t>
                      </a:r>
                      <a:br>
                        <a:rPr lang="en-US" sz="1400" dirty="0">
                          <a:latin typeface="Calibri"/>
                          <a:ea typeface="Calibri"/>
                          <a:cs typeface="Times New Roman"/>
                        </a:rPr>
                      </a:br>
                      <a:r>
                        <a:rPr lang="en-US" sz="1400" dirty="0">
                          <a:latin typeface="Calibri"/>
                          <a:ea typeface="Calibri"/>
                          <a:cs typeface="Times New Roman"/>
                        </a:rPr>
                        <a:t>this</a:t>
                      </a:r>
                      <a:br>
                        <a:rPr lang="en-US" sz="1400" dirty="0">
                          <a:latin typeface="Calibri"/>
                          <a:ea typeface="Calibri"/>
                          <a:cs typeface="Times New Roman"/>
                        </a:rPr>
                      </a:br>
                      <a:r>
                        <a:rPr lang="en-US" sz="1400" dirty="0">
                          <a:latin typeface="Calibri"/>
                          <a:ea typeface="Calibri"/>
                          <a:cs typeface="Times New Roman"/>
                        </a:rPr>
                        <a:t>throw</a:t>
                      </a:r>
                      <a:br>
                        <a:rPr lang="en-US" sz="1400" dirty="0">
                          <a:latin typeface="Calibri"/>
                          <a:ea typeface="Calibri"/>
                          <a:cs typeface="Times New Roman"/>
                        </a:rPr>
                      </a:br>
                      <a:r>
                        <a:rPr lang="en-US" sz="1400" dirty="0">
                          <a:latin typeface="Calibri"/>
                          <a:ea typeface="Calibri"/>
                          <a:cs typeface="Times New Roman"/>
                        </a:rPr>
                        <a:t>throws</a:t>
                      </a:r>
                      <a:br>
                        <a:rPr lang="en-US" sz="1400" dirty="0">
                          <a:latin typeface="Calibri"/>
                          <a:ea typeface="Calibri"/>
                          <a:cs typeface="Times New Roman"/>
                        </a:rPr>
                      </a:br>
                      <a:r>
                        <a:rPr lang="en-US" sz="1400" dirty="0">
                          <a:latin typeface="Calibri"/>
                          <a:ea typeface="Calibri"/>
                          <a:cs typeface="Times New Roman"/>
                        </a:rPr>
                        <a:t>transient</a:t>
                      </a:r>
                      <a:br>
                        <a:rPr lang="en-US" sz="1400" dirty="0">
                          <a:latin typeface="Calibri"/>
                          <a:ea typeface="Calibri"/>
                          <a:cs typeface="Times New Roman"/>
                        </a:rPr>
                      </a:br>
                      <a:r>
                        <a:rPr lang="en-US" sz="1400" dirty="0">
                          <a:latin typeface="Calibri"/>
                          <a:ea typeface="Calibri"/>
                          <a:cs typeface="Times New Roman"/>
                        </a:rPr>
                        <a:t>true</a:t>
                      </a:r>
                      <a:br>
                        <a:rPr lang="en-US" sz="1400" dirty="0">
                          <a:latin typeface="Calibri"/>
                          <a:ea typeface="Calibri"/>
                          <a:cs typeface="Times New Roman"/>
                        </a:rPr>
                      </a:br>
                      <a:r>
                        <a:rPr lang="en-US" sz="1400" dirty="0">
                          <a:latin typeface="Calibri"/>
                          <a:ea typeface="Calibri"/>
                          <a:cs typeface="Times New Roman"/>
                        </a:rPr>
                        <a:t>try</a:t>
                      </a:r>
                      <a:br>
                        <a:rPr lang="en-US" sz="1400" dirty="0">
                          <a:latin typeface="Calibri"/>
                          <a:ea typeface="Calibri"/>
                          <a:cs typeface="Times New Roman"/>
                        </a:rPr>
                      </a:br>
                      <a:r>
                        <a:rPr lang="en-US" sz="1400" dirty="0" err="1">
                          <a:latin typeface="Calibri"/>
                          <a:ea typeface="Calibri"/>
                          <a:cs typeface="Times New Roman"/>
                        </a:rPr>
                        <a:t>typeof</a:t>
                      </a:r>
                      <a:r>
                        <a:rPr lang="en-US" sz="1400" dirty="0">
                          <a:latin typeface="Calibri"/>
                          <a:ea typeface="Calibri"/>
                          <a:cs typeface="Times New Roman"/>
                        </a:rPr>
                        <a:t/>
                      </a:r>
                      <a:br>
                        <a:rPr lang="en-US" sz="1400" dirty="0">
                          <a:latin typeface="Calibri"/>
                          <a:ea typeface="Calibri"/>
                          <a:cs typeface="Times New Roman"/>
                        </a:rPr>
                      </a:br>
                      <a:r>
                        <a:rPr lang="en-US" sz="1400" dirty="0" err="1">
                          <a:latin typeface="Calibri"/>
                          <a:ea typeface="Calibri"/>
                          <a:cs typeface="Times New Roman"/>
                        </a:rPr>
                        <a:t>var</a:t>
                      </a:r>
                      <a:r>
                        <a:rPr lang="en-US" sz="1400" dirty="0">
                          <a:latin typeface="Calibri"/>
                          <a:ea typeface="Calibri"/>
                          <a:cs typeface="Times New Roman"/>
                        </a:rPr>
                        <a:t/>
                      </a:r>
                      <a:br>
                        <a:rPr lang="en-US" sz="1400" dirty="0">
                          <a:latin typeface="Calibri"/>
                          <a:ea typeface="Calibri"/>
                          <a:cs typeface="Times New Roman"/>
                        </a:rPr>
                      </a:br>
                      <a:r>
                        <a:rPr lang="en-US" sz="1400" dirty="0">
                          <a:latin typeface="Calibri"/>
                          <a:ea typeface="Calibri"/>
                          <a:cs typeface="Times New Roman"/>
                        </a:rPr>
                        <a:t>void</a:t>
                      </a:r>
                      <a:br>
                        <a:rPr lang="en-US" sz="1400" dirty="0">
                          <a:latin typeface="Calibri"/>
                          <a:ea typeface="Calibri"/>
                          <a:cs typeface="Times New Roman"/>
                        </a:rPr>
                      </a:br>
                      <a:r>
                        <a:rPr lang="en-US" sz="1400" dirty="0">
                          <a:latin typeface="Calibri"/>
                          <a:ea typeface="Calibri"/>
                          <a:cs typeface="Times New Roman"/>
                        </a:rPr>
                        <a:t>volatile</a:t>
                      </a:r>
                      <a:br>
                        <a:rPr lang="en-US" sz="1400" dirty="0">
                          <a:latin typeface="Calibri"/>
                          <a:ea typeface="Calibri"/>
                          <a:cs typeface="Times New Roman"/>
                        </a:rPr>
                      </a:br>
                      <a:r>
                        <a:rPr lang="en-US" sz="1400" dirty="0">
                          <a:latin typeface="Calibri"/>
                          <a:ea typeface="Calibri"/>
                          <a:cs typeface="Times New Roman"/>
                        </a:rPr>
                        <a:t>while</a:t>
                      </a:r>
                      <a:br>
                        <a:rPr lang="en-US" sz="1400" dirty="0">
                          <a:latin typeface="Calibri"/>
                          <a:ea typeface="Calibri"/>
                          <a:cs typeface="Times New Roman"/>
                        </a:rPr>
                      </a:br>
                      <a:r>
                        <a:rPr lang="en-US" sz="1400" dirty="0">
                          <a:latin typeface="Calibri"/>
                          <a:ea typeface="Calibri"/>
                          <a:cs typeface="Times New Roman"/>
                        </a:rPr>
                        <a:t>with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324088" cy="944562"/>
          </a:xfrm>
        </p:spPr>
        <p:txBody>
          <a:bodyPr>
            <a:normAutofit/>
          </a:bodyPr>
          <a:lstStyle/>
          <a:p>
            <a:r>
              <a:rPr lang="en-US" b="1" dirty="0" smtClean="0"/>
              <a:t>JavaScript Functions</a:t>
            </a:r>
            <a:endParaRPr lang="en-US" b="1"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6" name="TextBox 5"/>
          <p:cNvSpPr txBox="1"/>
          <p:nvPr/>
        </p:nvSpPr>
        <p:spPr>
          <a:xfrm>
            <a:off x="838200" y="1066800"/>
            <a:ext cx="7924800" cy="6370975"/>
          </a:xfrm>
          <a:prstGeom prst="rect">
            <a:avLst/>
          </a:prstGeom>
          <a:noFill/>
        </p:spPr>
        <p:txBody>
          <a:bodyPr wrap="square" rtlCol="0">
            <a:spAutoFit/>
          </a:bodyPr>
          <a:lstStyle/>
          <a:p>
            <a:r>
              <a:rPr lang="en-US" sz="2400" dirty="0" smtClean="0"/>
              <a:t>Functions in JavaScript behave similarly to numerous programming languages (Pascal, C, C++, PHP, etc).</a:t>
            </a:r>
          </a:p>
          <a:p>
            <a:endParaRPr lang="en-US" sz="2400" dirty="0" smtClean="0"/>
          </a:p>
          <a:p>
            <a:r>
              <a:rPr lang="en-US" sz="2400" b="1" dirty="0" smtClean="0"/>
              <a:t>What's a Function?</a:t>
            </a:r>
          </a:p>
          <a:p>
            <a:endParaRPr lang="en-US" sz="2400" dirty="0" smtClean="0"/>
          </a:p>
          <a:p>
            <a:r>
              <a:rPr lang="en-US" sz="2400" dirty="0" smtClean="0"/>
              <a:t>A function is a piece of code that sits dormant until it is referenced or called upon to do its "function". In addition to controllable execution, functions are also a great time saver for doing repetitive tasks.</a:t>
            </a:r>
          </a:p>
          <a:p>
            <a:endParaRPr lang="en-US" sz="2400" dirty="0" smtClean="0"/>
          </a:p>
          <a:p>
            <a:r>
              <a:rPr lang="en-US" sz="2400" dirty="0" smtClean="0"/>
              <a:t>Instead of having to type out the code every time you want something done, you can simply call the function multiple times to get the same effect. This benefit is also known as "code reusability".</a:t>
            </a:r>
          </a:p>
          <a:p>
            <a:endParaRPr lang="en-US" dirty="0" smtClean="0"/>
          </a:p>
          <a:p>
            <a:endParaRPr lang="en-US" dirty="0" smtClean="0"/>
          </a:p>
          <a:p>
            <a:endParaRPr lang="en-US" dirty="0" smtClean="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Example Function in JavaScript</a:t>
            </a:r>
            <a:br>
              <a:rPr lang="en-US" b="1" dirty="0" smtClean="0"/>
            </a:br>
            <a:endParaRPr lang="en-US" dirty="0"/>
          </a:p>
        </p:txBody>
      </p:sp>
      <p:sp>
        <p:nvSpPr>
          <p:cNvPr id="3" name="Content Placeholder 2"/>
          <p:cNvSpPr>
            <a:spLocks noGrp="1"/>
          </p:cNvSpPr>
          <p:nvPr>
            <p:ph idx="1"/>
          </p:nvPr>
        </p:nvSpPr>
        <p:spPr>
          <a:xfrm>
            <a:off x="914400" y="1447800"/>
            <a:ext cx="8019288" cy="4800600"/>
          </a:xfrm>
        </p:spPr>
        <p:txBody>
          <a:bodyPr>
            <a:normAutofit/>
          </a:bodyPr>
          <a:lstStyle/>
          <a:p>
            <a:r>
              <a:rPr lang="en-US" sz="2400" dirty="0" smtClean="0"/>
              <a:t>A function that does not execute when a page loads should be placed inside the </a:t>
            </a:r>
            <a:r>
              <a:rPr lang="en-US" sz="2400" i="1" dirty="0" smtClean="0"/>
              <a:t>head</a:t>
            </a:r>
            <a:r>
              <a:rPr lang="en-US" sz="2400" dirty="0" smtClean="0"/>
              <a:t> of your HTML document.</a:t>
            </a:r>
          </a:p>
          <a:p>
            <a:pPr>
              <a:buNone/>
            </a:pPr>
            <a:endParaRPr lang="en-US" sz="2400" dirty="0" smtClean="0"/>
          </a:p>
          <a:p>
            <a:r>
              <a:rPr lang="en-US" sz="2400" dirty="0" smtClean="0"/>
              <a:t>Creating a function is really quite easy. All you have to do is tell the browser you're making a function, give the function a name, and then write the JavaScript like normal.</a:t>
            </a:r>
          </a:p>
          <a:p>
            <a:pPr>
              <a:buNone/>
            </a:pPr>
            <a:endParaRPr lang="en-US" sz="2400" dirty="0" smtClean="0"/>
          </a:p>
          <a:p>
            <a:r>
              <a:rPr lang="en-US" sz="2400" dirty="0" smtClean="0"/>
              <a:t>Example alert function. Next Slides</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57200"/>
            <a:ext cx="8019288" cy="5791200"/>
          </a:xfrm>
        </p:spPr>
        <p:txBody>
          <a:bodyPr>
            <a:normAutofit fontScale="92500" lnSpcReduction="20000"/>
          </a:bodyPr>
          <a:lstStyle/>
          <a:p>
            <a:pPr>
              <a:buNone/>
            </a:pPr>
            <a:r>
              <a:rPr lang="en-US" sz="2400" dirty="0" smtClean="0"/>
              <a:t>&lt;html&gt; </a:t>
            </a:r>
          </a:p>
          <a:p>
            <a:pPr>
              <a:buNone/>
            </a:pPr>
            <a:r>
              <a:rPr lang="en-US" sz="2400" dirty="0" smtClean="0"/>
              <a:t>&lt;head&gt; </a:t>
            </a:r>
          </a:p>
          <a:p>
            <a:pPr>
              <a:buNone/>
            </a:pPr>
            <a:r>
              <a:rPr lang="en-US" sz="2400" dirty="0" smtClean="0"/>
              <a:t>&lt;script type="text/</a:t>
            </a:r>
            <a:r>
              <a:rPr lang="en-US" sz="2400" dirty="0" err="1" smtClean="0"/>
              <a:t>javascript</a:t>
            </a:r>
            <a:r>
              <a:rPr lang="en-US" sz="2400" dirty="0" smtClean="0"/>
              <a:t>"&gt; </a:t>
            </a:r>
          </a:p>
          <a:p>
            <a:pPr>
              <a:buNone/>
            </a:pPr>
            <a:r>
              <a:rPr lang="en-US" sz="2400" dirty="0" smtClean="0"/>
              <a:t>&lt;!--</a:t>
            </a:r>
          </a:p>
          <a:p>
            <a:pPr>
              <a:buNone/>
            </a:pPr>
            <a:r>
              <a:rPr lang="en-US" sz="2400" dirty="0" smtClean="0"/>
              <a:t>	function popup() { </a:t>
            </a:r>
          </a:p>
          <a:p>
            <a:pPr>
              <a:buNone/>
            </a:pPr>
            <a:r>
              <a:rPr lang="en-US" sz="2400" dirty="0" smtClean="0"/>
              <a:t>		alert("Hello World")</a:t>
            </a:r>
          </a:p>
          <a:p>
            <a:pPr>
              <a:buNone/>
            </a:pPr>
            <a:r>
              <a:rPr lang="en-US" sz="2400" dirty="0" smtClean="0"/>
              <a:t>		 } </a:t>
            </a:r>
          </a:p>
          <a:p>
            <a:pPr>
              <a:buNone/>
            </a:pPr>
            <a:r>
              <a:rPr lang="en-US" sz="2400" dirty="0" smtClean="0"/>
              <a:t>//--&gt; </a:t>
            </a:r>
          </a:p>
          <a:p>
            <a:pPr>
              <a:buNone/>
            </a:pPr>
            <a:r>
              <a:rPr lang="en-US" sz="2400" dirty="0" smtClean="0"/>
              <a:t>&lt;/script&gt; </a:t>
            </a:r>
          </a:p>
          <a:p>
            <a:pPr>
              <a:buNone/>
            </a:pPr>
            <a:r>
              <a:rPr lang="en-US" sz="2400" dirty="0" smtClean="0"/>
              <a:t>&lt;/head&gt; </a:t>
            </a:r>
          </a:p>
          <a:p>
            <a:pPr>
              <a:buNone/>
            </a:pPr>
            <a:r>
              <a:rPr lang="en-US" sz="2400" dirty="0" smtClean="0"/>
              <a:t>&lt;body&gt; </a:t>
            </a:r>
          </a:p>
          <a:p>
            <a:pPr>
              <a:buNone/>
            </a:pPr>
            <a:r>
              <a:rPr lang="en-US" sz="2400" dirty="0" smtClean="0"/>
              <a:t>&lt;input type="button" </a:t>
            </a:r>
            <a:r>
              <a:rPr lang="en-US" sz="2400" dirty="0" err="1" smtClean="0"/>
              <a:t>onclick</a:t>
            </a:r>
            <a:r>
              <a:rPr lang="en-US" sz="2400" dirty="0" smtClean="0"/>
              <a:t>="popup()" value="popup"&gt;</a:t>
            </a:r>
          </a:p>
          <a:p>
            <a:pPr>
              <a:buNone/>
            </a:pPr>
            <a:r>
              <a:rPr lang="en-US" sz="2400" dirty="0" smtClean="0"/>
              <a:t>&lt;/body&gt; </a:t>
            </a:r>
          </a:p>
          <a:p>
            <a:pPr>
              <a:buNone/>
            </a:pPr>
            <a:r>
              <a:rPr lang="en-US" sz="2400" dirty="0" smtClean="0"/>
              <a:t>&lt;/html&gt; </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Example Function in JavaScript</a:t>
            </a:r>
            <a:br>
              <a:rPr lang="en-US" b="1" dirty="0" smtClean="0"/>
            </a:br>
            <a:endParaRPr lang="en-US" dirty="0"/>
          </a:p>
        </p:txBody>
      </p:sp>
      <p:sp>
        <p:nvSpPr>
          <p:cNvPr id="3" name="Content Placeholder 2"/>
          <p:cNvSpPr>
            <a:spLocks noGrp="1"/>
          </p:cNvSpPr>
          <p:nvPr>
            <p:ph idx="1"/>
          </p:nvPr>
        </p:nvSpPr>
        <p:spPr>
          <a:xfrm>
            <a:off x="914400" y="914400"/>
            <a:ext cx="8019288" cy="5638800"/>
          </a:xfrm>
        </p:spPr>
        <p:txBody>
          <a:bodyPr>
            <a:normAutofit fontScale="92500" lnSpcReduction="20000"/>
          </a:bodyPr>
          <a:lstStyle/>
          <a:p>
            <a:r>
              <a:rPr lang="en-US" sz="2400" dirty="0" smtClean="0"/>
              <a:t>We first told the browser we were going to be using a function by typing "function". </a:t>
            </a:r>
          </a:p>
          <a:p>
            <a:endParaRPr lang="en-US" sz="2400" dirty="0" smtClean="0"/>
          </a:p>
          <a:p>
            <a:r>
              <a:rPr lang="en-US" sz="2400" dirty="0" smtClean="0"/>
              <a:t>Next, we gave our function a name, so that we could use it later. Since we are making a pop up alert, we called our function “popup” </a:t>
            </a:r>
          </a:p>
          <a:p>
            <a:pPr>
              <a:buNone/>
            </a:pPr>
            <a:endParaRPr lang="en-US" sz="2400" dirty="0" smtClean="0"/>
          </a:p>
          <a:p>
            <a:r>
              <a:rPr lang="en-US" sz="2400" dirty="0" smtClean="0"/>
              <a:t>The curly braces "{,}" define the boundaries of our function code. All popup function code must be contained within the curly braces.</a:t>
            </a:r>
          </a:p>
          <a:p>
            <a:pPr>
              <a:buNone/>
            </a:pPr>
            <a:endParaRPr lang="en-US" sz="2400" dirty="0" smtClean="0"/>
          </a:p>
          <a:p>
            <a:r>
              <a:rPr lang="en-US" sz="2400" dirty="0" smtClean="0"/>
              <a:t>Something that might be slightly confusing is that within our "</a:t>
            </a:r>
            <a:r>
              <a:rPr lang="en-US" sz="2400" b="1" dirty="0" smtClean="0"/>
              <a:t>popup" </a:t>
            </a:r>
            <a:r>
              <a:rPr lang="en-US" sz="2400" dirty="0" smtClean="0"/>
              <a:t>function, we use </a:t>
            </a:r>
            <a:r>
              <a:rPr lang="en-US" sz="2400" b="1" dirty="0" smtClean="0"/>
              <a:t>another</a:t>
            </a:r>
            <a:r>
              <a:rPr lang="en-US" sz="2400" dirty="0" smtClean="0"/>
              <a:t> function called "alert," which brings up a popup box with the text that we supply it.</a:t>
            </a:r>
          </a:p>
          <a:p>
            <a:pPr>
              <a:buNone/>
            </a:pPr>
            <a:endParaRPr lang="en-US" sz="2400" dirty="0" smtClean="0"/>
          </a:p>
          <a:p>
            <a:r>
              <a:rPr lang="en-US" sz="2400" dirty="0" smtClean="0"/>
              <a:t>It is perfectly OK to use functions within functions, like we have done here. Furthermore, this is one of the great things about using functions</a:t>
            </a:r>
          </a:p>
          <a:p>
            <a:endParaRPr lang="en-US" sz="2400" dirty="0" smtClean="0"/>
          </a:p>
          <a:p>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fontScale="90000"/>
          </a:bodyPr>
          <a:lstStyle/>
          <a:p>
            <a:r>
              <a:rPr lang="en-US" b="1" dirty="0" smtClean="0"/>
              <a:t>Events in JavaScript</a:t>
            </a:r>
            <a:br>
              <a:rPr lang="en-US" b="1" dirty="0" smtClean="0"/>
            </a:br>
            <a:endParaRPr lang="en-US" dirty="0"/>
          </a:p>
        </p:txBody>
      </p:sp>
      <p:sp>
        <p:nvSpPr>
          <p:cNvPr id="3" name="Content Placeholder 2"/>
          <p:cNvSpPr>
            <a:spLocks noGrp="1"/>
          </p:cNvSpPr>
          <p:nvPr>
            <p:ph idx="1"/>
          </p:nvPr>
        </p:nvSpPr>
        <p:spPr>
          <a:xfrm>
            <a:off x="990600" y="1447800"/>
            <a:ext cx="7943088" cy="5029200"/>
          </a:xfrm>
        </p:spPr>
        <p:txBody>
          <a:bodyPr>
            <a:normAutofit fontScale="85000" lnSpcReduction="20000"/>
          </a:bodyPr>
          <a:lstStyle/>
          <a:p>
            <a:r>
              <a:rPr lang="en-US" sz="2600" dirty="0" smtClean="0"/>
              <a:t>The absolute coolest thing about JavaScript is its ability to help you create dynamic web pages that increase user interaction, making the visitor feel like the website is almost coming alive right before her eyes.</a:t>
            </a:r>
          </a:p>
          <a:p>
            <a:endParaRPr lang="en-US" sz="2600" dirty="0" smtClean="0"/>
          </a:p>
          <a:p>
            <a:r>
              <a:rPr lang="en-US" sz="2600" dirty="0" smtClean="0"/>
              <a:t>The building blocks of an interactive web page is the JavaScript event system. An event in JavaScript is something that happens with or on the webpage.</a:t>
            </a:r>
          </a:p>
          <a:p>
            <a:pPr lvl="2"/>
            <a:r>
              <a:rPr lang="en-US" sz="2600" dirty="0" smtClean="0"/>
              <a:t>A mouse click</a:t>
            </a:r>
          </a:p>
          <a:p>
            <a:pPr lvl="2"/>
            <a:r>
              <a:rPr lang="en-US" sz="2600" dirty="0" smtClean="0"/>
              <a:t>The webpage loading</a:t>
            </a:r>
          </a:p>
          <a:p>
            <a:pPr lvl="2"/>
            <a:r>
              <a:rPr lang="en-US" sz="2600" dirty="0" err="1" smtClean="0"/>
              <a:t>Mousing</a:t>
            </a:r>
            <a:r>
              <a:rPr lang="en-US" sz="2600" dirty="0" smtClean="0"/>
              <a:t> over a hot spot on the webpage, also known as hovering</a:t>
            </a:r>
          </a:p>
          <a:p>
            <a:pPr lvl="2"/>
            <a:r>
              <a:rPr lang="en-US" sz="2600" dirty="0" smtClean="0"/>
              <a:t>Selecting an input box in an HTML form</a:t>
            </a:r>
          </a:p>
          <a:p>
            <a:pPr lvl="2"/>
            <a:r>
              <a:rPr lang="en-US" sz="2600" dirty="0" smtClean="0"/>
              <a:t>A keystroke</a:t>
            </a:r>
          </a:p>
          <a:p>
            <a:pPr lvl="2">
              <a:buNone/>
            </a:pP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Examples Using Events</a:t>
            </a:r>
            <a:br>
              <a:rPr lang="en-US" b="1" dirty="0" smtClean="0"/>
            </a:br>
            <a:endParaRPr lang="en-US" dirty="0"/>
          </a:p>
        </p:txBody>
      </p:sp>
      <p:sp>
        <p:nvSpPr>
          <p:cNvPr id="3" name="Content Placeholder 2"/>
          <p:cNvSpPr>
            <a:spLocks noGrp="1"/>
          </p:cNvSpPr>
          <p:nvPr>
            <p:ph idx="1"/>
          </p:nvPr>
        </p:nvSpPr>
        <p:spPr>
          <a:xfrm>
            <a:off x="685800" y="1447800"/>
            <a:ext cx="8247888" cy="5029200"/>
          </a:xfrm>
        </p:spPr>
        <p:txBody>
          <a:bodyPr>
            <a:normAutofit lnSpcReduction="10000"/>
          </a:bodyPr>
          <a:lstStyle/>
          <a:p>
            <a:r>
              <a:rPr lang="en-US" sz="2400" dirty="0" smtClean="0"/>
              <a:t>JavaScript has predefined names that cover numerous events that can occur, including the ones listed in the previous slide.</a:t>
            </a:r>
          </a:p>
          <a:p>
            <a:r>
              <a:rPr lang="en-US" sz="2400" dirty="0" smtClean="0"/>
              <a:t>To capture an event and make something happen when that event occurs, you must specify </a:t>
            </a:r>
            <a:r>
              <a:rPr lang="en-US" sz="2400" i="1" dirty="0" smtClean="0"/>
              <a:t>the event</a:t>
            </a:r>
            <a:r>
              <a:rPr lang="en-US" sz="2400" dirty="0" smtClean="0"/>
              <a:t>, the </a:t>
            </a:r>
            <a:r>
              <a:rPr lang="en-US" sz="2400" i="1" dirty="0" smtClean="0"/>
              <a:t>HTML element that will be waiting for the event</a:t>
            </a:r>
            <a:r>
              <a:rPr lang="en-US" sz="2400" dirty="0" smtClean="0"/>
              <a:t>, and </a:t>
            </a:r>
            <a:r>
              <a:rPr lang="en-US" sz="2400" i="1" dirty="0" smtClean="0"/>
              <a:t>the function(s) </a:t>
            </a:r>
            <a:r>
              <a:rPr lang="en-US" sz="2400" dirty="0" smtClean="0"/>
              <a:t>that will be run when the event occurs.</a:t>
            </a:r>
          </a:p>
          <a:p>
            <a:pPr>
              <a:buNone/>
            </a:pPr>
            <a:endParaRPr lang="en-US" sz="2400" dirty="0" smtClean="0"/>
          </a:p>
          <a:p>
            <a:r>
              <a:rPr lang="en-US" sz="2400" dirty="0" smtClean="0"/>
              <a:t>In the previous example, we had an alert popup when the button was clicked. This was an </a:t>
            </a:r>
            <a:r>
              <a:rPr lang="en-US" sz="2400" i="1" dirty="0" smtClean="0"/>
              <a:t>"</a:t>
            </a:r>
            <a:r>
              <a:rPr lang="en-US" sz="2400" i="1" dirty="0" err="1" smtClean="0"/>
              <a:t>onclick</a:t>
            </a:r>
            <a:r>
              <a:rPr lang="en-US" sz="2400" i="1" dirty="0" smtClean="0"/>
              <a:t>" </a:t>
            </a:r>
            <a:r>
              <a:rPr lang="en-US" sz="2400" dirty="0" smtClean="0"/>
              <a:t>JavaScript event.</a:t>
            </a:r>
          </a:p>
          <a:p>
            <a:endParaRPr lang="en-US" sz="2400" dirty="0" smtClean="0"/>
          </a:p>
          <a:p>
            <a:r>
              <a:rPr lang="en-US" sz="2400" dirty="0" smtClean="0"/>
              <a:t>We will look at that same example again, as well as the </a:t>
            </a:r>
            <a:r>
              <a:rPr lang="en-US" sz="2400" i="1" dirty="0" err="1" smtClean="0"/>
              <a:t>mouseover</a:t>
            </a:r>
            <a:r>
              <a:rPr lang="en-US" sz="2400" dirty="0" smtClean="0"/>
              <a:t> and </a:t>
            </a:r>
            <a:r>
              <a:rPr lang="en-US" sz="2400" i="1" dirty="0" err="1" smtClean="0"/>
              <a:t>mouseout</a:t>
            </a:r>
            <a:r>
              <a:rPr lang="en-US" sz="2400" dirty="0" smtClean="0"/>
              <a:t> events.</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57200"/>
            <a:ext cx="8019288" cy="6019800"/>
          </a:xfrm>
        </p:spPr>
        <p:txBody>
          <a:bodyPr>
            <a:normAutofit fontScale="85000" lnSpcReduction="20000"/>
          </a:bodyPr>
          <a:lstStyle/>
          <a:p>
            <a:pPr>
              <a:buNone/>
            </a:pPr>
            <a:r>
              <a:rPr lang="en-US" sz="2400" dirty="0" smtClean="0"/>
              <a:t>&lt;html&gt; </a:t>
            </a:r>
          </a:p>
          <a:p>
            <a:pPr>
              <a:buNone/>
            </a:pPr>
            <a:r>
              <a:rPr lang="en-US" sz="2400" dirty="0" smtClean="0"/>
              <a:t>&lt;head&gt; </a:t>
            </a:r>
          </a:p>
          <a:p>
            <a:pPr>
              <a:buNone/>
            </a:pPr>
            <a:r>
              <a:rPr lang="en-US" sz="2400" dirty="0" smtClean="0"/>
              <a:t>&lt;script type="text/</a:t>
            </a:r>
            <a:r>
              <a:rPr lang="en-US" sz="2400" dirty="0" err="1" smtClean="0"/>
              <a:t>javascript</a:t>
            </a:r>
            <a:r>
              <a:rPr lang="en-US" sz="2400" dirty="0" smtClean="0"/>
              <a:t>"&gt; </a:t>
            </a:r>
          </a:p>
          <a:p>
            <a:pPr>
              <a:buNone/>
            </a:pPr>
            <a:r>
              <a:rPr lang="en-US" sz="2400" dirty="0" smtClean="0"/>
              <a:t>&lt;!--</a:t>
            </a:r>
          </a:p>
          <a:p>
            <a:pPr>
              <a:buNone/>
            </a:pPr>
            <a:r>
              <a:rPr lang="en-US" sz="2400" dirty="0" smtClean="0"/>
              <a:t>	function popup() { </a:t>
            </a:r>
          </a:p>
          <a:p>
            <a:pPr>
              <a:buNone/>
            </a:pPr>
            <a:r>
              <a:rPr lang="en-US" sz="2400" dirty="0" smtClean="0"/>
              <a:t>		alert("Hello World")</a:t>
            </a:r>
          </a:p>
          <a:p>
            <a:pPr>
              <a:buNone/>
            </a:pPr>
            <a:r>
              <a:rPr lang="en-US" sz="2400" dirty="0" smtClean="0"/>
              <a:t>		 } </a:t>
            </a:r>
          </a:p>
          <a:p>
            <a:pPr>
              <a:buNone/>
            </a:pPr>
            <a:r>
              <a:rPr lang="en-US" sz="2400" dirty="0" smtClean="0"/>
              <a:t>//--&gt; </a:t>
            </a:r>
          </a:p>
          <a:p>
            <a:pPr>
              <a:buNone/>
            </a:pPr>
            <a:r>
              <a:rPr lang="en-US" sz="2400" dirty="0" smtClean="0"/>
              <a:t>&lt;/script&gt; </a:t>
            </a:r>
          </a:p>
          <a:p>
            <a:pPr>
              <a:buNone/>
            </a:pPr>
            <a:r>
              <a:rPr lang="en-US" sz="2400" dirty="0" smtClean="0"/>
              <a:t>&lt;/head&gt; </a:t>
            </a:r>
          </a:p>
          <a:p>
            <a:pPr>
              <a:buNone/>
            </a:pPr>
            <a:r>
              <a:rPr lang="en-US" sz="2600" dirty="0" smtClean="0"/>
              <a:t>&lt;body&gt; </a:t>
            </a:r>
          </a:p>
          <a:p>
            <a:pPr>
              <a:buNone/>
            </a:pPr>
            <a:r>
              <a:rPr lang="en-US" sz="2400" dirty="0" smtClean="0"/>
              <a:t>&lt;input type="button" value="Click Me!" </a:t>
            </a:r>
            <a:r>
              <a:rPr lang="en-US" sz="2400" dirty="0" err="1" smtClean="0"/>
              <a:t>onclick</a:t>
            </a:r>
            <a:r>
              <a:rPr lang="en-US" sz="2400" dirty="0" smtClean="0"/>
              <a:t>="popup()"&gt;&lt;</a:t>
            </a:r>
            <a:r>
              <a:rPr lang="en-US" sz="2400" dirty="0" err="1" smtClean="0"/>
              <a:t>br</a:t>
            </a:r>
            <a:r>
              <a:rPr lang="en-US" sz="2400" dirty="0" smtClean="0"/>
              <a:t> /&gt; </a:t>
            </a:r>
          </a:p>
          <a:p>
            <a:pPr>
              <a:buNone/>
            </a:pPr>
            <a:r>
              <a:rPr lang="en-US" sz="2400" dirty="0" smtClean="0"/>
              <a:t>&lt;a </a:t>
            </a:r>
            <a:r>
              <a:rPr lang="en-US" sz="2400" dirty="0" err="1" smtClean="0"/>
              <a:t>href</a:t>
            </a:r>
            <a:r>
              <a:rPr lang="en-US" sz="2400" dirty="0" smtClean="0"/>
              <a:t>="#" </a:t>
            </a:r>
            <a:r>
              <a:rPr lang="en-US" sz="2400" dirty="0" err="1" smtClean="0"/>
              <a:t>onmouseover</a:t>
            </a:r>
            <a:r>
              <a:rPr lang="en-US" sz="2400" dirty="0" smtClean="0"/>
              <a:t>=" " </a:t>
            </a:r>
            <a:r>
              <a:rPr lang="en-US" sz="2400" dirty="0" err="1" smtClean="0"/>
              <a:t>onMouseout</a:t>
            </a:r>
            <a:r>
              <a:rPr lang="en-US" sz="2400" dirty="0" smtClean="0"/>
              <a:t>="popup()"&gt; Hover Me!&lt;/a&gt; </a:t>
            </a:r>
          </a:p>
          <a:p>
            <a:pPr>
              <a:buNone/>
            </a:pPr>
            <a:r>
              <a:rPr lang="en-US" sz="2600" dirty="0" smtClean="0"/>
              <a:t>&lt;/body&gt; </a:t>
            </a:r>
          </a:p>
          <a:p>
            <a:pPr>
              <a:buNone/>
            </a:pPr>
            <a:r>
              <a:rPr lang="en-US" sz="2600" dirty="0" smtClean="0"/>
              <a:t>&lt;/html&gt; </a:t>
            </a:r>
            <a:endParaRPr lang="en-US" sz="26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Examples Using Events</a:t>
            </a:r>
            <a:br>
              <a:rPr lang="en-US" b="1" dirty="0" smtClean="0"/>
            </a:br>
            <a:endParaRPr lang="en-US" dirty="0"/>
          </a:p>
        </p:txBody>
      </p:sp>
      <p:sp>
        <p:nvSpPr>
          <p:cNvPr id="3" name="Content Placeholder 2"/>
          <p:cNvSpPr>
            <a:spLocks noGrp="1"/>
          </p:cNvSpPr>
          <p:nvPr>
            <p:ph idx="1"/>
          </p:nvPr>
        </p:nvSpPr>
        <p:spPr>
          <a:xfrm>
            <a:off x="685800" y="1447800"/>
            <a:ext cx="8247888" cy="5029200"/>
          </a:xfrm>
        </p:spPr>
        <p:txBody>
          <a:bodyPr>
            <a:normAutofit/>
          </a:bodyPr>
          <a:lstStyle/>
          <a:p>
            <a:r>
              <a:rPr lang="en-US" sz="2400" dirty="0" smtClean="0"/>
              <a:t>With the button we used the event </a:t>
            </a:r>
            <a:r>
              <a:rPr lang="en-US" sz="2400" i="1" dirty="0" err="1" smtClean="0"/>
              <a:t>onClick</a:t>
            </a:r>
            <a:r>
              <a:rPr lang="en-US" sz="2400" dirty="0" smtClean="0"/>
              <a:t> event as our desired action and told it to call our popup function that is defined in our header.</a:t>
            </a:r>
          </a:p>
          <a:p>
            <a:endParaRPr lang="en-US" sz="2400" dirty="0" smtClean="0"/>
          </a:p>
          <a:p>
            <a:r>
              <a:rPr lang="en-US" sz="2400" dirty="0" smtClean="0"/>
              <a:t>To call a function you must give the </a:t>
            </a:r>
            <a:r>
              <a:rPr lang="en-US" sz="2400" i="1" dirty="0" smtClean="0"/>
              <a:t>function name</a:t>
            </a:r>
            <a:r>
              <a:rPr lang="en-US" sz="2400" dirty="0" smtClean="0"/>
              <a:t> followed up with parenthesis </a:t>
            </a:r>
            <a:r>
              <a:rPr lang="en-US" sz="2400" i="1" dirty="0" smtClean="0"/>
              <a:t>"()“</a:t>
            </a:r>
          </a:p>
          <a:p>
            <a:pPr>
              <a:buNone/>
            </a:pPr>
            <a:endParaRPr lang="en-US" sz="2400" dirty="0" smtClean="0"/>
          </a:p>
          <a:p>
            <a:r>
              <a:rPr lang="en-US" sz="2400" dirty="0" smtClean="0"/>
              <a:t>Our </a:t>
            </a:r>
            <a:r>
              <a:rPr lang="en-US" sz="2400" i="1" dirty="0" err="1" smtClean="0"/>
              <a:t>mouseover</a:t>
            </a:r>
            <a:r>
              <a:rPr lang="en-US" sz="2400" dirty="0" smtClean="0"/>
              <a:t> and </a:t>
            </a:r>
            <a:r>
              <a:rPr lang="en-US" sz="2400" i="1" dirty="0" err="1" smtClean="0"/>
              <a:t>mouseout</a:t>
            </a:r>
            <a:r>
              <a:rPr lang="en-US" sz="2400" dirty="0" smtClean="0"/>
              <a:t> events were combined on one HTML element--</a:t>
            </a:r>
            <a:r>
              <a:rPr lang="en-US" sz="2400" b="1" dirty="0" smtClean="0"/>
              <a:t>a link</a:t>
            </a:r>
            <a:r>
              <a:rPr lang="en-US" sz="2400" dirty="0" smtClean="0"/>
              <a:t>. We wanted to do nothing when someone put their mouse on the link, but when the mouse moves off the link (</a:t>
            </a:r>
            <a:r>
              <a:rPr lang="en-US" sz="2400" i="1" dirty="0" err="1" smtClean="0"/>
              <a:t>onMouseout</a:t>
            </a:r>
            <a:r>
              <a:rPr lang="en-US" sz="2400" dirty="0" smtClean="0"/>
              <a:t>), we displayed a popup.</a:t>
            </a:r>
          </a:p>
          <a:p>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Statements</a:t>
            </a:r>
            <a:br>
              <a:rPr lang="en-US" b="1" dirty="0" smtClean="0"/>
            </a:br>
            <a:endParaRPr lang="en-US" dirty="0"/>
          </a:p>
        </p:txBody>
      </p:sp>
      <p:sp>
        <p:nvSpPr>
          <p:cNvPr id="3" name="Content Placeholder 2"/>
          <p:cNvSpPr>
            <a:spLocks noGrp="1"/>
          </p:cNvSpPr>
          <p:nvPr>
            <p:ph idx="1"/>
          </p:nvPr>
        </p:nvSpPr>
        <p:spPr>
          <a:xfrm>
            <a:off x="914400" y="990600"/>
            <a:ext cx="8019288" cy="5486400"/>
          </a:xfrm>
        </p:spPr>
        <p:txBody>
          <a:bodyPr>
            <a:normAutofit lnSpcReduction="10000"/>
          </a:bodyPr>
          <a:lstStyle/>
          <a:p>
            <a:r>
              <a:rPr lang="en-US" sz="2400" dirty="0" smtClean="0"/>
              <a:t>All the JavaScript code that you will write will, for the most part, be comprised of many separate statements.</a:t>
            </a:r>
          </a:p>
          <a:p>
            <a:r>
              <a:rPr lang="en-US" sz="2400" dirty="0" smtClean="0"/>
              <a:t>A statement can set a variable equal to a value.  A statement can also be a function call, i.e. </a:t>
            </a:r>
            <a:r>
              <a:rPr lang="en-US" sz="2400" i="1" dirty="0" err="1" smtClean="0"/>
              <a:t>document.write</a:t>
            </a:r>
            <a:r>
              <a:rPr lang="en-US" sz="2400" i="1" dirty="0" smtClean="0"/>
              <a:t>()</a:t>
            </a:r>
            <a:r>
              <a:rPr lang="en-US" sz="2400" dirty="0" smtClean="0"/>
              <a:t>.</a:t>
            </a:r>
          </a:p>
          <a:p>
            <a:r>
              <a:rPr lang="en-US" sz="2400" dirty="0" smtClean="0"/>
              <a:t>Statements define what the script will do and how it will be done.</a:t>
            </a:r>
          </a:p>
          <a:p>
            <a:pPr>
              <a:buNone/>
            </a:pPr>
            <a:r>
              <a:rPr lang="en-US" sz="2400" b="1" dirty="0" smtClean="0"/>
              <a:t>Typical Ending of a Statement</a:t>
            </a:r>
          </a:p>
          <a:p>
            <a:pPr>
              <a:buNone/>
            </a:pPr>
            <a:endParaRPr lang="en-US" sz="2400" dirty="0" smtClean="0"/>
          </a:p>
          <a:p>
            <a:r>
              <a:rPr lang="en-US" sz="2400" dirty="0" smtClean="0"/>
              <a:t>In typical programming languages like C and PHP, the end of a statement is marked with a semicolon(;), but in JavaScript the semicolon is optional.</a:t>
            </a:r>
          </a:p>
          <a:p>
            <a:r>
              <a:rPr lang="en-US" sz="2400" dirty="0" smtClean="0"/>
              <a:t>In JavaScript, the end of a statement is most often marked by pressing return and starting a new line</a:t>
            </a:r>
          </a:p>
          <a:p>
            <a:endParaRPr lang="en-US" sz="2400" dirty="0" smtClean="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Statements</a:t>
            </a:r>
            <a:br>
              <a:rPr lang="en-US" b="1" dirty="0" smtClean="0"/>
            </a:br>
            <a:endParaRPr lang="en-US" dirty="0"/>
          </a:p>
        </p:txBody>
      </p:sp>
      <p:sp>
        <p:nvSpPr>
          <p:cNvPr id="3" name="Content Placeholder 2"/>
          <p:cNvSpPr>
            <a:spLocks noGrp="1"/>
          </p:cNvSpPr>
          <p:nvPr>
            <p:ph idx="1"/>
          </p:nvPr>
        </p:nvSpPr>
        <p:spPr>
          <a:xfrm>
            <a:off x="914400" y="990600"/>
            <a:ext cx="8019288" cy="5486400"/>
          </a:xfrm>
        </p:spPr>
        <p:txBody>
          <a:bodyPr>
            <a:normAutofit/>
          </a:bodyPr>
          <a:lstStyle/>
          <a:p>
            <a:pPr>
              <a:buNone/>
            </a:pPr>
            <a:r>
              <a:rPr lang="en-US" sz="2400" b="1" dirty="0" smtClean="0"/>
              <a:t>Categories of Statements</a:t>
            </a:r>
            <a:endParaRPr lang="en-US" sz="2400" dirty="0" smtClean="0"/>
          </a:p>
          <a:p>
            <a:r>
              <a:rPr lang="en-US" sz="2400" dirty="0" smtClean="0"/>
              <a:t>In addition to standard statements like changing a variable's value, assigning a new value, or calling a function, there are groups of statements that are distinct in their purpose.</a:t>
            </a:r>
          </a:p>
          <a:p>
            <a:r>
              <a:rPr lang="en-US" sz="2400" dirty="0" smtClean="0"/>
              <a:t>These distinct groups of statements include: </a:t>
            </a:r>
          </a:p>
          <a:p>
            <a:pPr>
              <a:buNone/>
            </a:pPr>
            <a:endParaRPr lang="en-US" sz="2400" dirty="0" smtClean="0"/>
          </a:p>
          <a:p>
            <a:pPr lvl="1"/>
            <a:r>
              <a:rPr lang="en-US" sz="2000" b="1" dirty="0" smtClean="0"/>
              <a:t>Conditional Statements</a:t>
            </a:r>
          </a:p>
          <a:p>
            <a:pPr lvl="1"/>
            <a:r>
              <a:rPr lang="en-US" sz="2000" dirty="0" smtClean="0"/>
              <a:t> </a:t>
            </a:r>
            <a:r>
              <a:rPr lang="en-US" sz="2000" b="1" dirty="0" smtClean="0"/>
              <a:t>Loop Statements</a:t>
            </a:r>
          </a:p>
          <a:p>
            <a:pPr lvl="1"/>
            <a:r>
              <a:rPr lang="en-US" sz="2000" dirty="0" smtClean="0"/>
              <a:t> </a:t>
            </a:r>
            <a:r>
              <a:rPr lang="en-US" sz="2000" b="1" dirty="0" smtClean="0"/>
              <a:t>Object Manipulation Statements</a:t>
            </a:r>
            <a:r>
              <a:rPr lang="en-US" sz="2000" dirty="0" smtClean="0"/>
              <a:t> </a:t>
            </a:r>
          </a:p>
          <a:p>
            <a:pPr lvl="1"/>
            <a:r>
              <a:rPr lang="en-US" sz="2000" b="1" dirty="0" smtClean="0"/>
              <a:t>Comment Statements</a:t>
            </a:r>
            <a:r>
              <a:rPr lang="en-US" sz="2000" dirty="0" smtClean="0"/>
              <a:t> </a:t>
            </a:r>
          </a:p>
          <a:p>
            <a:pPr lvl="1"/>
            <a:r>
              <a:rPr lang="en-US" sz="2000" b="1" dirty="0" smtClean="0"/>
              <a:t>Exception Handling Statements</a:t>
            </a:r>
            <a:endParaRPr lang="en-US" sz="2000" dirty="0" smtClean="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Statements</a:t>
            </a:r>
            <a:br>
              <a:rPr lang="en-US" b="1" dirty="0" smtClean="0"/>
            </a:br>
            <a:endParaRPr lang="en-US" dirty="0"/>
          </a:p>
        </p:txBody>
      </p:sp>
      <p:sp>
        <p:nvSpPr>
          <p:cNvPr id="3" name="Content Placeholder 2"/>
          <p:cNvSpPr>
            <a:spLocks noGrp="1"/>
          </p:cNvSpPr>
          <p:nvPr>
            <p:ph idx="1"/>
          </p:nvPr>
        </p:nvSpPr>
        <p:spPr>
          <a:xfrm>
            <a:off x="914400" y="990600"/>
            <a:ext cx="8019288" cy="5486400"/>
          </a:xfrm>
        </p:spPr>
        <p:txBody>
          <a:bodyPr>
            <a:normAutofit/>
          </a:bodyPr>
          <a:lstStyle/>
          <a:p>
            <a:pPr>
              <a:buNone/>
            </a:pPr>
            <a:r>
              <a:rPr lang="en-US" sz="2400" b="1" dirty="0" smtClean="0"/>
              <a:t>Conditional Statements</a:t>
            </a:r>
          </a:p>
          <a:p>
            <a:pPr>
              <a:buNone/>
            </a:pPr>
            <a:endParaRPr lang="en-US" sz="2400" dirty="0" smtClean="0"/>
          </a:p>
          <a:p>
            <a:r>
              <a:rPr lang="en-US" sz="2400" dirty="0" smtClean="0"/>
              <a:t>Conditional statements are used to perform different actions based on different conditions</a:t>
            </a:r>
          </a:p>
          <a:p>
            <a:r>
              <a:rPr lang="en-US" sz="2400" dirty="0" smtClean="0"/>
              <a:t>In JavaScript we have the following conditional statements</a:t>
            </a:r>
          </a:p>
          <a:p>
            <a:pPr lvl="1">
              <a:buNone/>
            </a:pPr>
            <a:r>
              <a:rPr lang="en-US" sz="2000" dirty="0" smtClean="0"/>
              <a:t>– </a:t>
            </a:r>
            <a:r>
              <a:rPr lang="en-US" sz="2000" b="1" dirty="0" smtClean="0"/>
              <a:t>if statement </a:t>
            </a:r>
            <a:r>
              <a:rPr lang="en-US" sz="2000" dirty="0" smtClean="0"/>
              <a:t>– use this statement to execute some code only if a specified condition is true</a:t>
            </a:r>
          </a:p>
          <a:p>
            <a:pPr lvl="1">
              <a:buNone/>
            </a:pPr>
            <a:r>
              <a:rPr lang="en-US" sz="2000" dirty="0" smtClean="0"/>
              <a:t>– </a:t>
            </a:r>
            <a:r>
              <a:rPr lang="en-US" sz="2000" b="1" dirty="0" smtClean="0"/>
              <a:t>if … else statement </a:t>
            </a:r>
            <a:r>
              <a:rPr lang="en-US" sz="2000" dirty="0" smtClean="0"/>
              <a:t>– use this statement to execute some code if the condition is true and another code if the condition is false</a:t>
            </a:r>
          </a:p>
          <a:p>
            <a:pPr lvl="1">
              <a:buNone/>
            </a:pPr>
            <a:r>
              <a:rPr lang="en-US" sz="2000" dirty="0" smtClean="0"/>
              <a:t>– </a:t>
            </a:r>
            <a:r>
              <a:rPr lang="en-US" sz="2000" b="1" dirty="0" smtClean="0"/>
              <a:t>if … else if … else statement </a:t>
            </a:r>
            <a:r>
              <a:rPr lang="en-US" sz="2000" dirty="0" smtClean="0"/>
              <a:t>– use this statement to select one of many blocks of code to be executed</a:t>
            </a:r>
          </a:p>
          <a:p>
            <a:pPr lvl="1">
              <a:buNone/>
            </a:pPr>
            <a:r>
              <a:rPr lang="en-US" sz="2000" dirty="0" smtClean="0"/>
              <a:t>– </a:t>
            </a:r>
            <a:r>
              <a:rPr lang="en-US" sz="2000" b="1" dirty="0" smtClean="0"/>
              <a:t>switch statement</a:t>
            </a:r>
            <a:r>
              <a:rPr lang="en-US" sz="2000" dirty="0" smtClean="0"/>
              <a:t> – use this statement to select one of many blocks of code to be executed</a:t>
            </a:r>
            <a:endParaRPr lang="en-US" sz="20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dirty="0" smtClean="0"/>
              <a:t>JavaScript If... Statements</a:t>
            </a:r>
            <a:r>
              <a:rPr lang="en-US" b="1" dirty="0" smtClean="0"/>
              <a:t/>
            </a:r>
            <a:br>
              <a:rPr lang="en-US" b="1" dirty="0" smtClean="0"/>
            </a:br>
            <a:endParaRPr lang="en-US" dirty="0"/>
          </a:p>
        </p:txBody>
      </p:sp>
      <p:sp>
        <p:nvSpPr>
          <p:cNvPr id="3" name="Content Placeholder 2"/>
          <p:cNvSpPr>
            <a:spLocks noGrp="1"/>
          </p:cNvSpPr>
          <p:nvPr>
            <p:ph idx="1"/>
          </p:nvPr>
        </p:nvSpPr>
        <p:spPr>
          <a:xfrm>
            <a:off x="914400" y="990600"/>
            <a:ext cx="8019288" cy="4876800"/>
          </a:xfrm>
        </p:spPr>
        <p:txBody>
          <a:bodyPr>
            <a:normAutofit fontScale="92500" lnSpcReduction="20000"/>
          </a:bodyPr>
          <a:lstStyle/>
          <a:p>
            <a:pPr>
              <a:buNone/>
            </a:pPr>
            <a:r>
              <a:rPr lang="en-US" sz="2400" b="1" dirty="0" smtClean="0"/>
              <a:t>If Statement</a:t>
            </a:r>
          </a:p>
          <a:p>
            <a:pPr>
              <a:buNone/>
            </a:pPr>
            <a:endParaRPr lang="en-US" sz="2400" dirty="0" smtClean="0"/>
          </a:p>
          <a:p>
            <a:pPr>
              <a:buNone/>
            </a:pPr>
            <a:r>
              <a:rPr lang="en-US" sz="2400" dirty="0" smtClean="0"/>
              <a:t>&lt;SCRIPT TYPE= “text/</a:t>
            </a:r>
            <a:r>
              <a:rPr lang="en-US" sz="2400" dirty="0" err="1" smtClean="0"/>
              <a:t>javascript</a:t>
            </a:r>
            <a:r>
              <a:rPr lang="en-US" sz="2400" dirty="0" smtClean="0"/>
              <a:t>”&gt;</a:t>
            </a:r>
          </a:p>
          <a:p>
            <a:pPr>
              <a:buNone/>
            </a:pPr>
            <a:r>
              <a:rPr lang="en-US" sz="2400" dirty="0" smtClean="0">
                <a:solidFill>
                  <a:srgbClr val="00B0F0"/>
                </a:solidFill>
              </a:rPr>
              <a:t>//Write a good morning greeting if time is less than 12</a:t>
            </a:r>
          </a:p>
          <a:p>
            <a:pPr>
              <a:buNone/>
            </a:pPr>
            <a:r>
              <a:rPr lang="en-US" sz="2400" dirty="0" err="1" smtClean="0"/>
              <a:t>var</a:t>
            </a:r>
            <a:r>
              <a:rPr lang="en-US" sz="2400" dirty="0" smtClean="0"/>
              <a:t> d = new Date();</a:t>
            </a:r>
          </a:p>
          <a:p>
            <a:pPr>
              <a:buNone/>
            </a:pPr>
            <a:r>
              <a:rPr lang="en-US" sz="2400" dirty="0" err="1" smtClean="0"/>
              <a:t>var</a:t>
            </a:r>
            <a:r>
              <a:rPr lang="en-US" sz="2400" dirty="0" smtClean="0"/>
              <a:t> time = </a:t>
            </a:r>
            <a:r>
              <a:rPr lang="en-US" sz="2400" dirty="0" err="1" smtClean="0"/>
              <a:t>d.getHours</a:t>
            </a:r>
            <a:r>
              <a:rPr lang="en-US" sz="2400" dirty="0" smtClean="0"/>
              <a:t>();</a:t>
            </a:r>
          </a:p>
          <a:p>
            <a:pPr>
              <a:buNone/>
            </a:pPr>
            <a:r>
              <a:rPr lang="en-US" sz="2400" dirty="0" smtClean="0"/>
              <a:t>if (time &lt; 12)</a:t>
            </a:r>
          </a:p>
          <a:p>
            <a:pPr>
              <a:buNone/>
            </a:pPr>
            <a:r>
              <a:rPr lang="en-US" sz="2400" dirty="0" smtClean="0"/>
              <a:t>{</a:t>
            </a:r>
          </a:p>
          <a:p>
            <a:pPr>
              <a:buNone/>
            </a:pPr>
            <a:r>
              <a:rPr lang="en-US" sz="2400" dirty="0" err="1" smtClean="0"/>
              <a:t>document.write</a:t>
            </a:r>
            <a:r>
              <a:rPr lang="en-US" sz="2400" dirty="0" smtClean="0"/>
              <a:t>(“&lt;b&gt;Good Morning&lt;/b&gt;”);</a:t>
            </a:r>
          </a:p>
          <a:p>
            <a:pPr>
              <a:buNone/>
            </a:pPr>
            <a:r>
              <a:rPr lang="en-US" sz="2400" dirty="0" smtClean="0"/>
              <a:t>}</a:t>
            </a:r>
          </a:p>
          <a:p>
            <a:pPr>
              <a:buNone/>
            </a:pPr>
            <a:r>
              <a:rPr lang="en-US" sz="2400" dirty="0" smtClean="0"/>
              <a:t>&lt;/SCRIPT&gt;</a:t>
            </a:r>
          </a:p>
          <a:p>
            <a:pPr>
              <a:buNone/>
            </a:pP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6" name="TextBox 5"/>
          <p:cNvSpPr txBox="1"/>
          <p:nvPr/>
        </p:nvSpPr>
        <p:spPr>
          <a:xfrm>
            <a:off x="990600" y="5943600"/>
            <a:ext cx="7467600" cy="646331"/>
          </a:xfrm>
          <a:prstGeom prst="rect">
            <a:avLst/>
          </a:prstGeom>
          <a:noFill/>
        </p:spPr>
        <p:txBody>
          <a:bodyPr wrap="square" rtlCol="0">
            <a:spAutoFit/>
          </a:bodyPr>
          <a:lstStyle/>
          <a:p>
            <a:r>
              <a:rPr lang="en-US" b="1" dirty="0" smtClean="0"/>
              <a:t>Note that there is no …else … in this code. The browser is told to execute some code only if the specified condition is true</a:t>
            </a:r>
            <a:endParaRPr lang="en-US" b="1"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dirty="0" smtClean="0"/>
              <a:t>JavaScript If...Else Statements</a:t>
            </a:r>
            <a:r>
              <a:rPr lang="en-US" b="1" dirty="0" smtClean="0"/>
              <a:t/>
            </a:r>
            <a:br>
              <a:rPr lang="en-US" b="1" dirty="0" smtClean="0"/>
            </a:br>
            <a:endParaRPr lang="en-US" dirty="0"/>
          </a:p>
        </p:txBody>
      </p:sp>
      <p:sp>
        <p:nvSpPr>
          <p:cNvPr id="3" name="Content Placeholder 2"/>
          <p:cNvSpPr>
            <a:spLocks noGrp="1"/>
          </p:cNvSpPr>
          <p:nvPr>
            <p:ph idx="1"/>
          </p:nvPr>
        </p:nvSpPr>
        <p:spPr>
          <a:xfrm>
            <a:off x="914400" y="1371600"/>
            <a:ext cx="8019288" cy="5029200"/>
          </a:xfrm>
        </p:spPr>
        <p:txBody>
          <a:bodyPr>
            <a:normAutofit fontScale="92500" lnSpcReduction="20000"/>
          </a:bodyPr>
          <a:lstStyle/>
          <a:p>
            <a:pPr>
              <a:buNone/>
            </a:pPr>
            <a:r>
              <a:rPr lang="en-US" sz="2400" b="1" dirty="0" smtClean="0"/>
              <a:t>If … else Statement</a:t>
            </a:r>
          </a:p>
          <a:p>
            <a:pPr>
              <a:buNone/>
            </a:pPr>
            <a:endParaRPr lang="en-US" sz="2400" b="1" dirty="0" smtClean="0"/>
          </a:p>
          <a:p>
            <a:pPr>
              <a:buNone/>
            </a:pPr>
            <a:r>
              <a:rPr lang="en-US" sz="2400" dirty="0" smtClean="0"/>
              <a:t>&lt;SCRIPT TYPE= “text/</a:t>
            </a:r>
            <a:r>
              <a:rPr lang="en-US" sz="2400" dirty="0" err="1" smtClean="0"/>
              <a:t>javascript</a:t>
            </a:r>
            <a:r>
              <a:rPr lang="en-US" sz="2400" dirty="0" smtClean="0"/>
              <a:t>”&gt;</a:t>
            </a:r>
          </a:p>
          <a:p>
            <a:pPr>
              <a:buNone/>
            </a:pPr>
            <a:r>
              <a:rPr lang="en-US" sz="2400" dirty="0" smtClean="0">
                <a:solidFill>
                  <a:srgbClr val="00B0F0"/>
                </a:solidFill>
              </a:rPr>
              <a:t>//if the time is less than 12, you will get a “Good Morning” greeting</a:t>
            </a:r>
          </a:p>
          <a:p>
            <a:pPr>
              <a:buNone/>
            </a:pPr>
            <a:r>
              <a:rPr lang="en-US" sz="2400" dirty="0" smtClean="0">
                <a:solidFill>
                  <a:srgbClr val="00B0F0"/>
                </a:solidFill>
              </a:rPr>
              <a:t>//otherwise you will get a “Good day” greeting.</a:t>
            </a:r>
          </a:p>
          <a:p>
            <a:pPr>
              <a:buNone/>
            </a:pPr>
            <a:r>
              <a:rPr lang="en-US" sz="2400" dirty="0" err="1" smtClean="0"/>
              <a:t>var</a:t>
            </a:r>
            <a:r>
              <a:rPr lang="en-US" sz="2400" dirty="0" smtClean="0"/>
              <a:t> d = new Date();</a:t>
            </a:r>
          </a:p>
          <a:p>
            <a:pPr>
              <a:buNone/>
            </a:pPr>
            <a:r>
              <a:rPr lang="en-US" sz="2400" dirty="0" err="1" smtClean="0"/>
              <a:t>var</a:t>
            </a:r>
            <a:r>
              <a:rPr lang="en-US" sz="2400" dirty="0" smtClean="0"/>
              <a:t> time = </a:t>
            </a:r>
            <a:r>
              <a:rPr lang="en-US" sz="2400" dirty="0" err="1" smtClean="0"/>
              <a:t>d.getHours</a:t>
            </a:r>
            <a:r>
              <a:rPr lang="en-US" sz="2400" dirty="0" smtClean="0"/>
              <a:t>();</a:t>
            </a:r>
          </a:p>
          <a:p>
            <a:pPr>
              <a:buNone/>
            </a:pPr>
            <a:r>
              <a:rPr lang="en-US" sz="2400" dirty="0" smtClean="0"/>
              <a:t>if (time &lt; 10)</a:t>
            </a:r>
          </a:p>
          <a:p>
            <a:pPr>
              <a:buNone/>
            </a:pPr>
            <a:r>
              <a:rPr lang="en-US" sz="2400" dirty="0" smtClean="0"/>
              <a:t>{ </a:t>
            </a:r>
            <a:r>
              <a:rPr lang="en-US" sz="2400" dirty="0" err="1" smtClean="0"/>
              <a:t>document.write</a:t>
            </a:r>
            <a:r>
              <a:rPr lang="en-US" sz="2400" dirty="0" smtClean="0"/>
              <a:t>(“&lt;b&gt;Good Morning&lt;/b&gt;”); }</a:t>
            </a:r>
          </a:p>
          <a:p>
            <a:pPr>
              <a:buNone/>
            </a:pPr>
            <a:r>
              <a:rPr lang="en-US" sz="2400" dirty="0" smtClean="0"/>
              <a:t>else</a:t>
            </a:r>
          </a:p>
          <a:p>
            <a:pPr>
              <a:buNone/>
            </a:pPr>
            <a:r>
              <a:rPr lang="en-US" sz="2400" dirty="0" smtClean="0"/>
              <a:t>{ </a:t>
            </a:r>
            <a:r>
              <a:rPr lang="en-US" sz="2400" dirty="0" err="1" smtClean="0"/>
              <a:t>document.write</a:t>
            </a:r>
            <a:r>
              <a:rPr lang="en-US" sz="2400" dirty="0" smtClean="0"/>
              <a:t>(“&lt;b&gt;Good day!&lt;/b&gt;”); }</a:t>
            </a:r>
          </a:p>
          <a:p>
            <a:pPr>
              <a:buNone/>
            </a:pPr>
            <a:r>
              <a:rPr lang="en-US" sz="2400" dirty="0" smtClean="0"/>
              <a:t>&lt;/SCRIPT&gt;</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dirty="0" smtClean="0"/>
              <a:t>JavaScript If...else if …else Statements</a:t>
            </a:r>
            <a:r>
              <a:rPr lang="en-US" b="1" dirty="0" smtClean="0"/>
              <a:t/>
            </a:r>
            <a:br>
              <a:rPr lang="en-US" b="1" dirty="0" smtClean="0"/>
            </a:br>
            <a:endParaRPr lang="en-US" dirty="0"/>
          </a:p>
        </p:txBody>
      </p:sp>
      <p:sp>
        <p:nvSpPr>
          <p:cNvPr id="3" name="Content Placeholder 2"/>
          <p:cNvSpPr>
            <a:spLocks noGrp="1"/>
          </p:cNvSpPr>
          <p:nvPr>
            <p:ph idx="1"/>
          </p:nvPr>
        </p:nvSpPr>
        <p:spPr>
          <a:xfrm>
            <a:off x="914400" y="990600"/>
            <a:ext cx="8019288" cy="5486400"/>
          </a:xfrm>
        </p:spPr>
        <p:txBody>
          <a:bodyPr>
            <a:normAutofit fontScale="85000" lnSpcReduction="20000"/>
          </a:bodyPr>
          <a:lstStyle/>
          <a:p>
            <a:pPr>
              <a:buNone/>
            </a:pPr>
            <a:r>
              <a:rPr lang="en-US" sz="2400" b="1" dirty="0" smtClean="0"/>
              <a:t>If … else if … else Statement</a:t>
            </a:r>
          </a:p>
          <a:p>
            <a:pPr>
              <a:buNone/>
            </a:pPr>
            <a:endParaRPr lang="en-US" sz="2400" dirty="0" smtClean="0"/>
          </a:p>
          <a:p>
            <a:pPr>
              <a:buNone/>
            </a:pPr>
            <a:r>
              <a:rPr lang="en-US" sz="2400" dirty="0" smtClean="0"/>
              <a:t>&lt;SCRIPT TYPE= “text/</a:t>
            </a:r>
            <a:r>
              <a:rPr lang="en-US" sz="2400" dirty="0" err="1" smtClean="0"/>
              <a:t>javascript</a:t>
            </a:r>
            <a:r>
              <a:rPr lang="en-US" sz="2400" dirty="0" smtClean="0"/>
              <a:t>”&gt;</a:t>
            </a:r>
          </a:p>
          <a:p>
            <a:pPr>
              <a:buNone/>
            </a:pPr>
            <a:r>
              <a:rPr lang="en-US" sz="2400" dirty="0" smtClean="0">
                <a:solidFill>
                  <a:srgbClr val="00B0F0"/>
                </a:solidFill>
              </a:rPr>
              <a:t>//if the time is less than 12, you will get a “Good Morning” greeting</a:t>
            </a:r>
          </a:p>
          <a:p>
            <a:pPr>
              <a:buNone/>
            </a:pPr>
            <a:r>
              <a:rPr lang="en-US" sz="2400" dirty="0" smtClean="0">
                <a:solidFill>
                  <a:srgbClr val="00B0F0"/>
                </a:solidFill>
              </a:rPr>
              <a:t>//otherwise you will get a “Good day” greeting.</a:t>
            </a:r>
          </a:p>
          <a:p>
            <a:pPr>
              <a:buNone/>
            </a:pPr>
            <a:r>
              <a:rPr lang="en-US" sz="2400" dirty="0" err="1" smtClean="0"/>
              <a:t>var</a:t>
            </a:r>
            <a:r>
              <a:rPr lang="en-US" sz="2400" dirty="0" smtClean="0"/>
              <a:t> d = new Date();</a:t>
            </a:r>
          </a:p>
          <a:p>
            <a:pPr>
              <a:buNone/>
            </a:pPr>
            <a:r>
              <a:rPr lang="en-US" sz="2400" dirty="0" err="1" smtClean="0"/>
              <a:t>var</a:t>
            </a:r>
            <a:r>
              <a:rPr lang="en-US" sz="2400" dirty="0" smtClean="0"/>
              <a:t> time = </a:t>
            </a:r>
            <a:r>
              <a:rPr lang="en-US" sz="2400" dirty="0" err="1" smtClean="0"/>
              <a:t>d.getHours</a:t>
            </a:r>
            <a:r>
              <a:rPr lang="en-US" sz="2400" dirty="0" smtClean="0"/>
              <a:t>();</a:t>
            </a:r>
          </a:p>
          <a:p>
            <a:pPr>
              <a:buNone/>
            </a:pPr>
            <a:r>
              <a:rPr lang="en-US" sz="2400" dirty="0" smtClean="0"/>
              <a:t>if (time &lt; 12)</a:t>
            </a:r>
          </a:p>
          <a:p>
            <a:pPr>
              <a:buNone/>
            </a:pPr>
            <a:r>
              <a:rPr lang="en-US" sz="2400" dirty="0" smtClean="0"/>
              <a:t>{ </a:t>
            </a:r>
            <a:r>
              <a:rPr lang="en-US" sz="2400" dirty="0" err="1" smtClean="0"/>
              <a:t>document.write</a:t>
            </a:r>
            <a:r>
              <a:rPr lang="en-US" sz="2400" dirty="0" smtClean="0"/>
              <a:t>(“&lt;b&gt;Good Morning&lt;/b&gt;”); }</a:t>
            </a:r>
          </a:p>
          <a:p>
            <a:pPr>
              <a:buNone/>
            </a:pPr>
            <a:r>
              <a:rPr lang="en-US" sz="2400" dirty="0" smtClean="0"/>
              <a:t>else if (time&gt;12 &amp;&amp; time&lt;16)</a:t>
            </a:r>
          </a:p>
          <a:p>
            <a:pPr>
              <a:buNone/>
            </a:pPr>
            <a:r>
              <a:rPr lang="en-US" sz="2400" dirty="0" smtClean="0"/>
              <a:t>{ </a:t>
            </a:r>
            <a:r>
              <a:rPr lang="en-US" sz="2400" dirty="0" err="1" smtClean="0"/>
              <a:t>document.write</a:t>
            </a:r>
            <a:r>
              <a:rPr lang="en-US" sz="2400" dirty="0" smtClean="0"/>
              <a:t>(“&lt;b&gt;Good day!&lt;/b&gt;”); }</a:t>
            </a:r>
          </a:p>
          <a:p>
            <a:pPr>
              <a:buNone/>
            </a:pPr>
            <a:r>
              <a:rPr lang="en-US" sz="2400" dirty="0" smtClean="0"/>
              <a:t>else</a:t>
            </a:r>
          </a:p>
          <a:p>
            <a:pPr>
              <a:buNone/>
            </a:pPr>
            <a:r>
              <a:rPr lang="en-US" sz="2400" dirty="0" smtClean="0"/>
              <a:t>{ </a:t>
            </a:r>
            <a:r>
              <a:rPr lang="en-US" sz="2400" dirty="0" err="1" smtClean="0"/>
              <a:t>document.write</a:t>
            </a:r>
            <a:r>
              <a:rPr lang="en-US" sz="2400" dirty="0" smtClean="0"/>
              <a:t>(“&lt;b&gt;Good evening!&lt;/b&gt;”); }</a:t>
            </a:r>
          </a:p>
          <a:p>
            <a:pPr>
              <a:buNone/>
            </a:pPr>
            <a:r>
              <a:rPr lang="en-US" sz="2400" dirty="0" smtClean="0"/>
              <a:t>&lt;/SCRIPT&gt;</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While Loop</a:t>
            </a:r>
            <a:br>
              <a:rPr lang="en-US" b="1" dirty="0" smtClean="0"/>
            </a:br>
            <a:endParaRPr lang="en-US" dirty="0"/>
          </a:p>
        </p:txBody>
      </p:sp>
      <p:sp>
        <p:nvSpPr>
          <p:cNvPr id="3" name="Content Placeholder 2"/>
          <p:cNvSpPr>
            <a:spLocks noGrp="1"/>
          </p:cNvSpPr>
          <p:nvPr>
            <p:ph idx="1"/>
          </p:nvPr>
        </p:nvSpPr>
        <p:spPr>
          <a:xfrm>
            <a:off x="914400" y="990600"/>
            <a:ext cx="8019288" cy="5486400"/>
          </a:xfrm>
        </p:spPr>
        <p:txBody>
          <a:bodyPr>
            <a:normAutofit/>
          </a:bodyPr>
          <a:lstStyle/>
          <a:p>
            <a:r>
              <a:rPr lang="en-US" sz="2400" dirty="0" smtClean="0"/>
              <a:t>The while loop is an advanced programming technique that allows you to do something over and over </a:t>
            </a:r>
            <a:r>
              <a:rPr lang="en-US" sz="2400" i="1" dirty="0" smtClean="0"/>
              <a:t>while</a:t>
            </a:r>
            <a:r>
              <a:rPr lang="en-US" sz="2400" dirty="0" smtClean="0"/>
              <a:t> a conditional statement is true.</a:t>
            </a:r>
          </a:p>
          <a:p>
            <a:r>
              <a:rPr lang="en-US" sz="2400" dirty="0" smtClean="0"/>
              <a:t>There are two key parts to a JavaScript </a:t>
            </a:r>
            <a:r>
              <a:rPr lang="en-US" sz="2400" i="1" dirty="0" smtClean="0"/>
              <a:t>while loop</a:t>
            </a:r>
            <a:r>
              <a:rPr lang="en-US" sz="2400" dirty="0" smtClean="0"/>
              <a:t>:</a:t>
            </a:r>
          </a:p>
          <a:p>
            <a:pPr lvl="2"/>
            <a:r>
              <a:rPr lang="en-US" sz="2000" dirty="0" smtClean="0"/>
              <a:t>The conditional statement which must be </a:t>
            </a:r>
            <a:r>
              <a:rPr lang="en-US" sz="2000" i="1" dirty="0" smtClean="0"/>
              <a:t>True</a:t>
            </a:r>
            <a:r>
              <a:rPr lang="en-US" sz="2000" dirty="0" smtClean="0"/>
              <a:t> for the </a:t>
            </a:r>
            <a:r>
              <a:rPr lang="en-US" sz="2000" i="1" dirty="0" smtClean="0"/>
              <a:t>while loop's</a:t>
            </a:r>
            <a:r>
              <a:rPr lang="en-US" sz="2000" dirty="0" smtClean="0"/>
              <a:t> code to be executed.</a:t>
            </a:r>
          </a:p>
          <a:p>
            <a:pPr lvl="2"/>
            <a:r>
              <a:rPr lang="en-US" sz="2000" dirty="0" smtClean="0"/>
              <a:t>The </a:t>
            </a:r>
            <a:r>
              <a:rPr lang="en-US" sz="2000" i="1" dirty="0" smtClean="0"/>
              <a:t>while loop's</a:t>
            </a:r>
            <a:r>
              <a:rPr lang="en-US" sz="2000" dirty="0" smtClean="0"/>
              <a:t> code that is contained in curly braces "{ and }" will be executed if the condition is </a:t>
            </a:r>
            <a:r>
              <a:rPr lang="en-US" sz="2000" i="1" dirty="0" smtClean="0"/>
              <a:t>True</a:t>
            </a:r>
            <a:r>
              <a:rPr lang="en-US" sz="2000" dirty="0" smtClean="0"/>
              <a:t>.</a:t>
            </a:r>
          </a:p>
          <a:p>
            <a:r>
              <a:rPr lang="en-US" sz="2400" dirty="0" smtClean="0"/>
              <a:t>The example in the next slide shows how to create a basic </a:t>
            </a:r>
            <a:r>
              <a:rPr lang="en-US" sz="2400" i="1" dirty="0" smtClean="0"/>
              <a:t>while loop</a:t>
            </a:r>
            <a:r>
              <a:rPr lang="en-US" sz="2400" dirty="0" smtClean="0"/>
              <a:t> that will execute a </a:t>
            </a:r>
            <a:r>
              <a:rPr lang="en-US" sz="2400" i="1" dirty="0" err="1" smtClean="0"/>
              <a:t>document.write</a:t>
            </a:r>
            <a:r>
              <a:rPr lang="en-US" sz="2400" dirty="0" smtClean="0"/>
              <a:t> 10 times and then exit the loop statement.</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While Loop</a:t>
            </a:r>
            <a:br>
              <a:rPr lang="en-US" b="1" dirty="0" smtClean="0"/>
            </a:br>
            <a:endParaRPr lang="en-US" dirty="0"/>
          </a:p>
        </p:txBody>
      </p:sp>
      <p:sp>
        <p:nvSpPr>
          <p:cNvPr id="3" name="Content Placeholder 2"/>
          <p:cNvSpPr>
            <a:spLocks noGrp="1"/>
          </p:cNvSpPr>
          <p:nvPr>
            <p:ph idx="1"/>
          </p:nvPr>
        </p:nvSpPr>
        <p:spPr>
          <a:xfrm>
            <a:off x="914400" y="990600"/>
            <a:ext cx="5257800" cy="5638800"/>
          </a:xfrm>
        </p:spPr>
        <p:txBody>
          <a:bodyPr>
            <a:normAutofit fontScale="92500"/>
          </a:bodyPr>
          <a:lstStyle/>
          <a:p>
            <a:pPr>
              <a:buNone/>
            </a:pPr>
            <a:r>
              <a:rPr lang="en-US" sz="2400" dirty="0" smtClean="0"/>
              <a:t>&lt;script type="text/</a:t>
            </a:r>
            <a:r>
              <a:rPr lang="en-US" sz="2400" dirty="0" err="1" smtClean="0"/>
              <a:t>javascript</a:t>
            </a:r>
            <a:r>
              <a:rPr lang="en-US" sz="2400" dirty="0" smtClean="0"/>
              <a:t>"&gt; </a:t>
            </a:r>
          </a:p>
          <a:p>
            <a:pPr>
              <a:buNone/>
            </a:pPr>
            <a:r>
              <a:rPr lang="en-US" sz="2400" dirty="0" err="1" smtClean="0"/>
              <a:t>var</a:t>
            </a:r>
            <a:r>
              <a:rPr lang="en-US" sz="2400" dirty="0" smtClean="0"/>
              <a:t> </a:t>
            </a:r>
            <a:r>
              <a:rPr lang="en-US" sz="2400" dirty="0" err="1" smtClean="0"/>
              <a:t>myCounter</a:t>
            </a:r>
            <a:r>
              <a:rPr lang="en-US" sz="2400" dirty="0" smtClean="0"/>
              <a:t> = 0; </a:t>
            </a:r>
          </a:p>
          <a:p>
            <a:pPr>
              <a:buNone/>
            </a:pPr>
            <a:r>
              <a:rPr lang="en-US" sz="2400" dirty="0" err="1" smtClean="0"/>
              <a:t>var</a:t>
            </a:r>
            <a:r>
              <a:rPr lang="en-US" sz="2400" dirty="0" smtClean="0"/>
              <a:t> </a:t>
            </a:r>
            <a:r>
              <a:rPr lang="en-US" sz="2400" dirty="0" err="1" smtClean="0"/>
              <a:t>linebreak</a:t>
            </a:r>
            <a:r>
              <a:rPr lang="en-US" sz="2400" dirty="0" smtClean="0"/>
              <a:t> = "&lt;</a:t>
            </a:r>
            <a:r>
              <a:rPr lang="en-US" sz="2400" dirty="0" err="1" smtClean="0"/>
              <a:t>br</a:t>
            </a:r>
            <a:r>
              <a:rPr lang="en-US" sz="2400" dirty="0" smtClean="0"/>
              <a:t> /&gt;"; </a:t>
            </a:r>
          </a:p>
          <a:p>
            <a:pPr>
              <a:buNone/>
            </a:pPr>
            <a:r>
              <a:rPr lang="en-US" sz="2400" dirty="0" err="1" smtClean="0"/>
              <a:t>document.write</a:t>
            </a:r>
            <a:r>
              <a:rPr lang="en-US" sz="2400" dirty="0" smtClean="0"/>
              <a:t>("While loop is beginning"); </a:t>
            </a:r>
          </a:p>
          <a:p>
            <a:pPr>
              <a:buNone/>
            </a:pPr>
            <a:r>
              <a:rPr lang="en-US" sz="2400" dirty="0" err="1" smtClean="0"/>
              <a:t>document.write</a:t>
            </a:r>
            <a:r>
              <a:rPr lang="en-US" sz="2400" dirty="0" smtClean="0"/>
              <a:t>(</a:t>
            </a:r>
            <a:r>
              <a:rPr lang="en-US" sz="2400" dirty="0" err="1" smtClean="0"/>
              <a:t>linebreak</a:t>
            </a:r>
            <a:r>
              <a:rPr lang="en-US" sz="2400" dirty="0" smtClean="0"/>
              <a:t>); </a:t>
            </a:r>
          </a:p>
          <a:p>
            <a:pPr>
              <a:buNone/>
            </a:pPr>
            <a:r>
              <a:rPr lang="en-US" sz="2400" dirty="0" smtClean="0"/>
              <a:t>while(</a:t>
            </a:r>
            <a:r>
              <a:rPr lang="en-US" sz="2400" dirty="0" err="1" smtClean="0"/>
              <a:t>myCounter</a:t>
            </a:r>
            <a:r>
              <a:rPr lang="en-US" sz="2400" dirty="0" smtClean="0"/>
              <a:t> &lt; 10){</a:t>
            </a:r>
          </a:p>
          <a:p>
            <a:pPr>
              <a:buNone/>
            </a:pPr>
            <a:r>
              <a:rPr lang="en-US" sz="2400" dirty="0" smtClean="0"/>
              <a:t>	 </a:t>
            </a:r>
            <a:r>
              <a:rPr lang="en-US" sz="2400" dirty="0" err="1" smtClean="0"/>
              <a:t>document.write</a:t>
            </a:r>
            <a:r>
              <a:rPr lang="en-US" sz="2400" dirty="0" smtClean="0"/>
              <a:t>("</a:t>
            </a:r>
            <a:r>
              <a:rPr lang="en-US" sz="2400" dirty="0" err="1" smtClean="0"/>
              <a:t>myCounter</a:t>
            </a:r>
            <a:r>
              <a:rPr lang="en-US" sz="2400" dirty="0" smtClean="0"/>
              <a:t> = " + </a:t>
            </a:r>
            <a:r>
              <a:rPr lang="en-US" sz="2400" dirty="0" err="1" smtClean="0"/>
              <a:t>myCounter</a:t>
            </a:r>
            <a:r>
              <a:rPr lang="en-US" sz="2400" dirty="0" smtClean="0"/>
              <a:t>); </a:t>
            </a:r>
            <a:r>
              <a:rPr lang="en-US" sz="2400" dirty="0" err="1" smtClean="0"/>
              <a:t>document.write</a:t>
            </a:r>
            <a:r>
              <a:rPr lang="en-US" sz="2400" dirty="0" smtClean="0"/>
              <a:t>(</a:t>
            </a:r>
            <a:r>
              <a:rPr lang="en-US" sz="2400" dirty="0" err="1" smtClean="0"/>
              <a:t>linebreak</a:t>
            </a:r>
            <a:r>
              <a:rPr lang="en-US" sz="2400" dirty="0" smtClean="0"/>
              <a:t>); </a:t>
            </a:r>
            <a:r>
              <a:rPr lang="en-US" sz="2400" dirty="0" err="1" smtClean="0"/>
              <a:t>myCounter</a:t>
            </a:r>
            <a:r>
              <a:rPr lang="en-US" sz="2400" dirty="0" smtClean="0"/>
              <a:t>++; </a:t>
            </a:r>
          </a:p>
          <a:p>
            <a:pPr>
              <a:buNone/>
            </a:pPr>
            <a:r>
              <a:rPr lang="en-US" sz="2400" dirty="0" smtClean="0"/>
              <a:t>		} </a:t>
            </a:r>
          </a:p>
          <a:p>
            <a:pPr>
              <a:buNone/>
            </a:pPr>
            <a:r>
              <a:rPr lang="en-US" sz="2400" dirty="0" err="1" smtClean="0"/>
              <a:t>document.write</a:t>
            </a:r>
            <a:r>
              <a:rPr lang="en-US" sz="2400" dirty="0" smtClean="0"/>
              <a:t>("While loop is finished!"); </a:t>
            </a:r>
          </a:p>
          <a:p>
            <a:pPr>
              <a:buNone/>
            </a:pPr>
            <a:r>
              <a:rPr lang="en-US" sz="2400" dirty="0" smtClean="0"/>
              <a:t>&lt;/script&gt; </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5" name="TextBox 4"/>
          <p:cNvSpPr txBox="1"/>
          <p:nvPr/>
        </p:nvSpPr>
        <p:spPr>
          <a:xfrm>
            <a:off x="6553200" y="990600"/>
            <a:ext cx="2438400" cy="3970318"/>
          </a:xfrm>
          <a:prstGeom prst="rect">
            <a:avLst/>
          </a:prstGeom>
          <a:noFill/>
          <a:ln>
            <a:solidFill>
              <a:schemeClr val="tx1"/>
            </a:solidFill>
            <a:prstDash val="solid"/>
          </a:ln>
        </p:spPr>
        <p:txBody>
          <a:bodyPr wrap="square" rtlCol="0">
            <a:spAutoFit/>
          </a:bodyPr>
          <a:lstStyle/>
          <a:p>
            <a:pPr algn="ctr"/>
            <a:r>
              <a:rPr lang="en-US" dirty="0" smtClean="0"/>
              <a:t> Display</a:t>
            </a:r>
          </a:p>
          <a:p>
            <a:pPr algn="ctr"/>
            <a:endParaRPr lang="en-US" dirty="0" smtClean="0"/>
          </a:p>
          <a:p>
            <a:r>
              <a:rPr lang="en-US" dirty="0" smtClean="0"/>
              <a:t>While loop is beginning</a:t>
            </a:r>
            <a:br>
              <a:rPr lang="en-US" dirty="0" smtClean="0"/>
            </a:br>
            <a:r>
              <a:rPr lang="en-US" dirty="0" err="1" smtClean="0"/>
              <a:t>myCounter</a:t>
            </a:r>
            <a:r>
              <a:rPr lang="en-US" dirty="0" smtClean="0"/>
              <a:t> = 0</a:t>
            </a:r>
            <a:br>
              <a:rPr lang="en-US" dirty="0" smtClean="0"/>
            </a:br>
            <a:r>
              <a:rPr lang="en-US" dirty="0" err="1" smtClean="0"/>
              <a:t>myCounter</a:t>
            </a:r>
            <a:r>
              <a:rPr lang="en-US" dirty="0" smtClean="0"/>
              <a:t> = 1</a:t>
            </a:r>
            <a:br>
              <a:rPr lang="en-US" dirty="0" smtClean="0"/>
            </a:br>
            <a:r>
              <a:rPr lang="en-US" dirty="0" err="1" smtClean="0"/>
              <a:t>myCounter</a:t>
            </a:r>
            <a:r>
              <a:rPr lang="en-US" dirty="0" smtClean="0"/>
              <a:t> = 2</a:t>
            </a:r>
            <a:br>
              <a:rPr lang="en-US" dirty="0" smtClean="0"/>
            </a:br>
            <a:r>
              <a:rPr lang="en-US" dirty="0" err="1" smtClean="0"/>
              <a:t>myCounter</a:t>
            </a:r>
            <a:r>
              <a:rPr lang="en-US" dirty="0" smtClean="0"/>
              <a:t> = 3</a:t>
            </a:r>
            <a:br>
              <a:rPr lang="en-US" dirty="0" smtClean="0"/>
            </a:br>
            <a:r>
              <a:rPr lang="en-US" dirty="0" err="1" smtClean="0"/>
              <a:t>myCounter</a:t>
            </a:r>
            <a:r>
              <a:rPr lang="en-US" dirty="0" smtClean="0"/>
              <a:t> = 4</a:t>
            </a:r>
            <a:br>
              <a:rPr lang="en-US" dirty="0" smtClean="0"/>
            </a:br>
            <a:r>
              <a:rPr lang="en-US" dirty="0" err="1" smtClean="0"/>
              <a:t>myCounter</a:t>
            </a:r>
            <a:r>
              <a:rPr lang="en-US" dirty="0" smtClean="0"/>
              <a:t> = 5</a:t>
            </a:r>
            <a:br>
              <a:rPr lang="en-US" dirty="0" smtClean="0"/>
            </a:br>
            <a:r>
              <a:rPr lang="en-US" dirty="0" err="1" smtClean="0"/>
              <a:t>myCounter</a:t>
            </a:r>
            <a:r>
              <a:rPr lang="en-US" dirty="0" smtClean="0"/>
              <a:t> = 6</a:t>
            </a:r>
            <a:br>
              <a:rPr lang="en-US" dirty="0" smtClean="0"/>
            </a:br>
            <a:r>
              <a:rPr lang="en-US" dirty="0" err="1" smtClean="0"/>
              <a:t>myCounter</a:t>
            </a:r>
            <a:r>
              <a:rPr lang="en-US" dirty="0" smtClean="0"/>
              <a:t> = 7</a:t>
            </a:r>
            <a:br>
              <a:rPr lang="en-US" dirty="0" smtClean="0"/>
            </a:br>
            <a:r>
              <a:rPr lang="en-US" dirty="0" err="1" smtClean="0"/>
              <a:t>myCounter</a:t>
            </a:r>
            <a:r>
              <a:rPr lang="en-US" dirty="0" smtClean="0"/>
              <a:t> = 8</a:t>
            </a:r>
            <a:br>
              <a:rPr lang="en-US" dirty="0" smtClean="0"/>
            </a:br>
            <a:r>
              <a:rPr lang="en-US" dirty="0" err="1" smtClean="0"/>
              <a:t>myCounter</a:t>
            </a:r>
            <a:r>
              <a:rPr lang="en-US" dirty="0" smtClean="0"/>
              <a:t> = 9</a:t>
            </a:r>
            <a:br>
              <a:rPr lang="en-US" dirty="0" smtClean="0"/>
            </a:br>
            <a:r>
              <a:rPr lang="en-US" dirty="0" smtClean="0"/>
              <a:t>While loop is finished!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For Loop</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fontScale="92500" lnSpcReduction="10000"/>
          </a:bodyPr>
          <a:lstStyle/>
          <a:p>
            <a:r>
              <a:rPr lang="en-US" sz="2400" dirty="0" smtClean="0"/>
              <a:t>The JavaScript </a:t>
            </a:r>
            <a:r>
              <a:rPr lang="en-US" sz="2400" i="1" dirty="0" smtClean="0"/>
              <a:t>For Loop</a:t>
            </a:r>
            <a:r>
              <a:rPr lang="en-US" sz="2400" dirty="0" smtClean="0"/>
              <a:t> resembles the for loop you may have seen in many other programming languages</a:t>
            </a:r>
          </a:p>
          <a:p>
            <a:r>
              <a:rPr lang="en-US" sz="2400" dirty="0" smtClean="0"/>
              <a:t>It is used when you need to do a set of operations many times, with an increment of some kind after each run through the block of code. </a:t>
            </a:r>
          </a:p>
          <a:p>
            <a:r>
              <a:rPr lang="en-US" sz="2400" dirty="0" smtClean="0"/>
              <a:t>There are four important aspects of a JavaScript </a:t>
            </a:r>
            <a:r>
              <a:rPr lang="en-US" sz="2400" i="1" dirty="0" smtClean="0"/>
              <a:t>for loop</a:t>
            </a:r>
            <a:r>
              <a:rPr lang="en-US" sz="2400" dirty="0" smtClean="0"/>
              <a:t>:</a:t>
            </a:r>
          </a:p>
          <a:p>
            <a:pPr lvl="2"/>
            <a:r>
              <a:rPr lang="en-US" sz="1800" dirty="0" smtClean="0"/>
              <a:t>The </a:t>
            </a:r>
            <a:r>
              <a:rPr lang="en-US" sz="1800" i="1" dirty="0" smtClean="0"/>
              <a:t>counter</a:t>
            </a:r>
            <a:r>
              <a:rPr lang="en-US" sz="1800" dirty="0" smtClean="0"/>
              <a:t> variable is something that is created and usually used only in the </a:t>
            </a:r>
            <a:r>
              <a:rPr lang="en-US" sz="1800" i="1" dirty="0" smtClean="0"/>
              <a:t>for loop</a:t>
            </a:r>
            <a:r>
              <a:rPr lang="en-US" sz="1800" dirty="0" smtClean="0"/>
              <a:t> to count how many times the </a:t>
            </a:r>
            <a:r>
              <a:rPr lang="en-US" sz="1800" i="1" dirty="0" smtClean="0"/>
              <a:t>for loop</a:t>
            </a:r>
            <a:r>
              <a:rPr lang="en-US" sz="1800" dirty="0" smtClean="0"/>
              <a:t> has </a:t>
            </a:r>
            <a:r>
              <a:rPr lang="en-US" sz="1800" i="1" dirty="0" smtClean="0"/>
              <a:t>looped</a:t>
            </a:r>
            <a:r>
              <a:rPr lang="en-US" sz="1800" dirty="0" smtClean="0"/>
              <a:t>.  It is the normal label for this counter variable and what we will be using.</a:t>
            </a:r>
          </a:p>
          <a:p>
            <a:pPr lvl="2">
              <a:buNone/>
            </a:pPr>
            <a:endParaRPr lang="en-US" sz="1800" dirty="0" smtClean="0"/>
          </a:p>
          <a:p>
            <a:pPr lvl="2"/>
            <a:r>
              <a:rPr lang="en-US" sz="1800" dirty="0" smtClean="0"/>
              <a:t>The conditional statement. It is what decides whether the </a:t>
            </a:r>
            <a:r>
              <a:rPr lang="en-US" sz="1800" i="1" dirty="0" smtClean="0"/>
              <a:t>for loop</a:t>
            </a:r>
            <a:r>
              <a:rPr lang="en-US" sz="1800" dirty="0" smtClean="0"/>
              <a:t> continues executing or not. This check usually includes the </a:t>
            </a:r>
            <a:r>
              <a:rPr lang="en-US" sz="1800" i="1" dirty="0" smtClean="0"/>
              <a:t>counter</a:t>
            </a:r>
            <a:r>
              <a:rPr lang="en-US" sz="1800" dirty="0" smtClean="0"/>
              <a:t> variable in some way.</a:t>
            </a:r>
          </a:p>
          <a:p>
            <a:pPr lvl="2"/>
            <a:endParaRPr lang="en-US" sz="1800" dirty="0" smtClean="0"/>
          </a:p>
          <a:p>
            <a:pPr lvl="2"/>
            <a:r>
              <a:rPr lang="en-US" sz="1800" dirty="0" smtClean="0"/>
              <a:t>The counter variable is incremented after every loop in the </a:t>
            </a:r>
            <a:r>
              <a:rPr lang="en-US" sz="1800" i="1" dirty="0" smtClean="0"/>
              <a:t>increment</a:t>
            </a:r>
            <a:r>
              <a:rPr lang="en-US" sz="1800" dirty="0" smtClean="0"/>
              <a:t> section of the </a:t>
            </a:r>
            <a:r>
              <a:rPr lang="en-US" sz="1800" i="1" dirty="0" smtClean="0"/>
              <a:t>for loop</a:t>
            </a:r>
            <a:r>
              <a:rPr lang="en-US" sz="1800" dirty="0" smtClean="0"/>
              <a:t>.</a:t>
            </a:r>
          </a:p>
          <a:p>
            <a:pPr lvl="2"/>
            <a:endParaRPr lang="en-US" sz="1800" dirty="0" smtClean="0"/>
          </a:p>
          <a:p>
            <a:pPr lvl="2"/>
            <a:r>
              <a:rPr lang="en-US" sz="1800" dirty="0" smtClean="0"/>
              <a:t>The code that is executed for each loop through the </a:t>
            </a:r>
            <a:r>
              <a:rPr lang="en-US" sz="1800" i="1" dirty="0" smtClean="0"/>
              <a:t>for loop</a:t>
            </a:r>
            <a:r>
              <a:rPr lang="en-US" sz="1800" dirty="0" smtClean="0"/>
              <a:t>.</a:t>
            </a:r>
          </a:p>
          <a:p>
            <a:pPr lvl="2"/>
            <a:endParaRPr lang="en-US" sz="16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For Loop</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lnSpcReduction="10000"/>
          </a:bodyPr>
          <a:lstStyle/>
          <a:p>
            <a:r>
              <a:rPr lang="en-US" sz="2400" dirty="0" smtClean="0"/>
              <a:t>Example of a for loop;</a:t>
            </a:r>
          </a:p>
          <a:p>
            <a:pPr lvl="2"/>
            <a:endParaRPr lang="en-US" sz="1600" dirty="0" smtClean="0"/>
          </a:p>
          <a:p>
            <a:pPr lvl="2">
              <a:buNone/>
            </a:pPr>
            <a:r>
              <a:rPr lang="en-US" sz="2000" dirty="0" smtClean="0"/>
              <a:t>&lt;script type="text/</a:t>
            </a:r>
            <a:r>
              <a:rPr lang="en-US" sz="2000" dirty="0" err="1" smtClean="0"/>
              <a:t>javascript</a:t>
            </a:r>
            <a:r>
              <a:rPr lang="en-US" sz="2000" dirty="0" smtClean="0"/>
              <a:t>"&gt;</a:t>
            </a:r>
          </a:p>
          <a:p>
            <a:pPr lvl="2">
              <a:buNone/>
            </a:pPr>
            <a:r>
              <a:rPr lang="en-US" sz="2000" dirty="0" smtClean="0"/>
              <a:t> &lt;! - -</a:t>
            </a:r>
          </a:p>
          <a:p>
            <a:pPr lvl="2">
              <a:buNone/>
            </a:pPr>
            <a:r>
              <a:rPr lang="en-US" sz="2000" dirty="0" err="1" smtClean="0"/>
              <a:t>var</a:t>
            </a:r>
            <a:r>
              <a:rPr lang="en-US" sz="2000" dirty="0" smtClean="0"/>
              <a:t> </a:t>
            </a:r>
            <a:r>
              <a:rPr lang="en-US" sz="2000" dirty="0" err="1" smtClean="0"/>
              <a:t>linebreak</a:t>
            </a:r>
            <a:r>
              <a:rPr lang="en-US" sz="2000" dirty="0" smtClean="0"/>
              <a:t> = "&lt;</a:t>
            </a:r>
            <a:r>
              <a:rPr lang="en-US" sz="2000" dirty="0" err="1" smtClean="0"/>
              <a:t>br</a:t>
            </a:r>
            <a:r>
              <a:rPr lang="en-US" sz="2000" dirty="0" smtClean="0"/>
              <a:t> /&gt;"; </a:t>
            </a:r>
          </a:p>
          <a:p>
            <a:pPr lvl="2">
              <a:buNone/>
            </a:pPr>
            <a:r>
              <a:rPr lang="en-US" sz="2000" dirty="0" err="1" smtClean="0"/>
              <a:t>document.write</a:t>
            </a:r>
            <a:r>
              <a:rPr lang="en-US" sz="2000" dirty="0" smtClean="0"/>
              <a:t>("For loop code is beginning"); </a:t>
            </a:r>
          </a:p>
          <a:p>
            <a:pPr lvl="2">
              <a:buNone/>
            </a:pPr>
            <a:r>
              <a:rPr lang="en-US" sz="2000" dirty="0" err="1" smtClean="0"/>
              <a:t>document.write</a:t>
            </a:r>
            <a:r>
              <a:rPr lang="en-US" sz="2000" dirty="0" smtClean="0"/>
              <a:t>(</a:t>
            </a:r>
            <a:r>
              <a:rPr lang="en-US" sz="2000" dirty="0" err="1" smtClean="0"/>
              <a:t>linebreak</a:t>
            </a:r>
            <a:r>
              <a:rPr lang="en-US" sz="2000" dirty="0" smtClean="0"/>
              <a:t>); </a:t>
            </a:r>
          </a:p>
          <a:p>
            <a:pPr lvl="2">
              <a:buNone/>
            </a:pPr>
            <a:r>
              <a:rPr lang="en-US" sz="2000" dirty="0" smtClean="0"/>
              <a:t>for(</a:t>
            </a:r>
            <a:r>
              <a:rPr lang="en-US" sz="2000" dirty="0" err="1" smtClean="0"/>
              <a:t>i</a:t>
            </a:r>
            <a:r>
              <a:rPr lang="en-US" sz="2000" dirty="0" smtClean="0"/>
              <a:t> = 0; </a:t>
            </a:r>
            <a:r>
              <a:rPr lang="en-US" sz="2000" dirty="0" err="1" smtClean="0"/>
              <a:t>i</a:t>
            </a:r>
            <a:r>
              <a:rPr lang="en-US" sz="2000" dirty="0" smtClean="0"/>
              <a:t> &lt; 5; </a:t>
            </a:r>
            <a:r>
              <a:rPr lang="en-US" sz="2000" dirty="0" err="1" smtClean="0"/>
              <a:t>i</a:t>
            </a:r>
            <a:r>
              <a:rPr lang="en-US" sz="2000" dirty="0" smtClean="0"/>
              <a:t>++){ </a:t>
            </a:r>
          </a:p>
          <a:p>
            <a:pPr lvl="2">
              <a:buNone/>
            </a:pPr>
            <a:r>
              <a:rPr lang="en-US" sz="2000" dirty="0" err="1" smtClean="0"/>
              <a:t>document.write</a:t>
            </a:r>
            <a:r>
              <a:rPr lang="en-US" sz="2000" dirty="0" smtClean="0"/>
              <a:t>("Counter </a:t>
            </a:r>
            <a:r>
              <a:rPr lang="en-US" sz="2000" dirty="0" err="1" smtClean="0"/>
              <a:t>i</a:t>
            </a:r>
            <a:r>
              <a:rPr lang="en-US" sz="2000" dirty="0" smtClean="0"/>
              <a:t> = " + </a:t>
            </a:r>
            <a:r>
              <a:rPr lang="en-US" sz="2000" dirty="0" err="1" smtClean="0"/>
              <a:t>i</a:t>
            </a:r>
            <a:r>
              <a:rPr lang="en-US" sz="2000" dirty="0" smtClean="0"/>
              <a:t>); </a:t>
            </a:r>
            <a:r>
              <a:rPr lang="en-US" sz="2000" dirty="0" err="1" smtClean="0"/>
              <a:t>document.write</a:t>
            </a:r>
            <a:r>
              <a:rPr lang="en-US" sz="2000" dirty="0" smtClean="0"/>
              <a:t>(</a:t>
            </a:r>
            <a:r>
              <a:rPr lang="en-US" sz="2000" dirty="0" err="1" smtClean="0"/>
              <a:t>linebreak</a:t>
            </a:r>
            <a:r>
              <a:rPr lang="en-US" sz="2000" dirty="0" smtClean="0"/>
              <a:t>); </a:t>
            </a:r>
          </a:p>
          <a:p>
            <a:pPr lvl="2">
              <a:buNone/>
            </a:pPr>
            <a:r>
              <a:rPr lang="en-US" sz="2000" dirty="0" smtClean="0"/>
              <a:t>}</a:t>
            </a:r>
          </a:p>
          <a:p>
            <a:pPr lvl="2">
              <a:buNone/>
            </a:pPr>
            <a:r>
              <a:rPr lang="en-US" sz="2000" dirty="0" smtClean="0"/>
              <a:t> </a:t>
            </a:r>
            <a:r>
              <a:rPr lang="en-US" sz="2000" dirty="0" err="1" smtClean="0"/>
              <a:t>document.write</a:t>
            </a:r>
            <a:r>
              <a:rPr lang="en-US" sz="2000" dirty="0" smtClean="0"/>
              <a:t>("For loop code is finished!"); </a:t>
            </a:r>
          </a:p>
          <a:p>
            <a:pPr lvl="2">
              <a:buNone/>
            </a:pPr>
            <a:r>
              <a:rPr lang="en-US" sz="2000" dirty="0" smtClean="0"/>
              <a:t>//-- &gt;</a:t>
            </a:r>
          </a:p>
          <a:p>
            <a:pPr lvl="2">
              <a:buNone/>
            </a:pPr>
            <a:r>
              <a:rPr lang="en-US" sz="2000" dirty="0" smtClean="0"/>
              <a:t>&lt;/script&gt; </a:t>
            </a:r>
          </a:p>
          <a:p>
            <a:pPr lvl="2">
              <a:buNone/>
            </a:pPr>
            <a:endParaRPr lang="en-US" dirty="0" smtClean="0"/>
          </a:p>
          <a:p>
            <a:pPr lvl="2">
              <a:buNone/>
            </a:pP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5" name="TextBox 4"/>
          <p:cNvSpPr txBox="1"/>
          <p:nvPr/>
        </p:nvSpPr>
        <p:spPr>
          <a:xfrm>
            <a:off x="6324600" y="0"/>
            <a:ext cx="2667000" cy="2308324"/>
          </a:xfrm>
          <a:prstGeom prst="rect">
            <a:avLst/>
          </a:prstGeom>
          <a:noFill/>
          <a:ln>
            <a:solidFill>
              <a:schemeClr val="tx1"/>
            </a:solidFill>
            <a:prstDash val="solid"/>
          </a:ln>
        </p:spPr>
        <p:txBody>
          <a:bodyPr wrap="square" rtlCol="0">
            <a:spAutoFit/>
          </a:bodyPr>
          <a:lstStyle/>
          <a:p>
            <a:pPr algn="ctr"/>
            <a:r>
              <a:rPr lang="en-US" b="1" dirty="0" smtClean="0"/>
              <a:t>Display</a:t>
            </a:r>
          </a:p>
          <a:p>
            <a:r>
              <a:rPr lang="en-US" dirty="0" smtClean="0"/>
              <a:t>For loop code is beginning</a:t>
            </a:r>
            <a:br>
              <a:rPr lang="en-US" dirty="0" smtClean="0"/>
            </a:br>
            <a:r>
              <a:rPr lang="en-US" dirty="0" smtClean="0"/>
              <a:t>Counter </a:t>
            </a:r>
            <a:r>
              <a:rPr lang="en-US" dirty="0" err="1" smtClean="0"/>
              <a:t>i</a:t>
            </a:r>
            <a:r>
              <a:rPr lang="en-US" dirty="0" smtClean="0"/>
              <a:t> = 0</a:t>
            </a:r>
            <a:br>
              <a:rPr lang="en-US" dirty="0" smtClean="0"/>
            </a:br>
            <a:r>
              <a:rPr lang="en-US" dirty="0" smtClean="0"/>
              <a:t>Counter </a:t>
            </a:r>
            <a:r>
              <a:rPr lang="en-US" dirty="0" err="1" smtClean="0"/>
              <a:t>i</a:t>
            </a:r>
            <a:r>
              <a:rPr lang="en-US" dirty="0" smtClean="0"/>
              <a:t> = 1</a:t>
            </a:r>
            <a:br>
              <a:rPr lang="en-US" dirty="0" smtClean="0"/>
            </a:br>
            <a:r>
              <a:rPr lang="en-US" dirty="0" smtClean="0"/>
              <a:t>Counter </a:t>
            </a:r>
            <a:r>
              <a:rPr lang="en-US" dirty="0" err="1" smtClean="0"/>
              <a:t>i</a:t>
            </a:r>
            <a:r>
              <a:rPr lang="en-US" dirty="0" smtClean="0"/>
              <a:t> = 2</a:t>
            </a:r>
            <a:br>
              <a:rPr lang="en-US" dirty="0" smtClean="0"/>
            </a:br>
            <a:r>
              <a:rPr lang="en-US" dirty="0" smtClean="0"/>
              <a:t>Counter </a:t>
            </a:r>
            <a:r>
              <a:rPr lang="en-US" dirty="0" err="1" smtClean="0"/>
              <a:t>i</a:t>
            </a:r>
            <a:r>
              <a:rPr lang="en-US" dirty="0" smtClean="0"/>
              <a:t> = 3</a:t>
            </a:r>
            <a:br>
              <a:rPr lang="en-US" dirty="0" smtClean="0"/>
            </a:br>
            <a:r>
              <a:rPr lang="en-US" dirty="0" smtClean="0"/>
              <a:t>Counter </a:t>
            </a:r>
            <a:r>
              <a:rPr lang="en-US" dirty="0" err="1" smtClean="0"/>
              <a:t>i</a:t>
            </a:r>
            <a:r>
              <a:rPr lang="en-US" dirty="0" smtClean="0"/>
              <a:t> = 4</a:t>
            </a:r>
            <a:br>
              <a:rPr lang="en-US" dirty="0" smtClean="0"/>
            </a:br>
            <a:r>
              <a:rPr lang="en-US" dirty="0" smtClean="0"/>
              <a:t>For loop code is finished!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JavaScript  Arrays</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lnSpcReduction="10000"/>
          </a:bodyPr>
          <a:lstStyle/>
          <a:p>
            <a:r>
              <a:rPr lang="en-US" sz="2400" dirty="0" smtClean="0"/>
              <a:t>An array is a variable that can store many variables within it.</a:t>
            </a:r>
          </a:p>
          <a:p>
            <a:r>
              <a:rPr lang="en-US" sz="2400" dirty="0" smtClean="0"/>
              <a:t>The following points should always be remembered when using arrays in JavaScript:</a:t>
            </a:r>
          </a:p>
          <a:p>
            <a:pPr lvl="3"/>
            <a:r>
              <a:rPr lang="en-US" sz="2400" dirty="0" smtClean="0"/>
              <a:t>The array is a special type of variable.</a:t>
            </a:r>
          </a:p>
          <a:p>
            <a:pPr lvl="3"/>
            <a:r>
              <a:rPr lang="en-US" sz="2400" dirty="0" smtClean="0"/>
              <a:t>Values are stored into an array by using the array name and by stating the location in the array you wish to store the value in brackets. Example: </a:t>
            </a:r>
            <a:r>
              <a:rPr lang="en-US" sz="2400" dirty="0" err="1" smtClean="0"/>
              <a:t>myArray</a:t>
            </a:r>
            <a:r>
              <a:rPr lang="en-US" sz="2400" dirty="0" smtClean="0"/>
              <a:t>[2] = "Hello World";</a:t>
            </a:r>
          </a:p>
          <a:p>
            <a:pPr lvl="3"/>
            <a:r>
              <a:rPr lang="en-US" sz="2400" dirty="0" smtClean="0"/>
              <a:t>Values in an array are accessed by the array name and location of the value. Example: </a:t>
            </a:r>
            <a:r>
              <a:rPr lang="en-US" sz="2400" dirty="0" err="1" smtClean="0"/>
              <a:t>myArray</a:t>
            </a:r>
            <a:r>
              <a:rPr lang="en-US" sz="2400" dirty="0" smtClean="0"/>
              <a:t>[2];</a:t>
            </a:r>
          </a:p>
          <a:p>
            <a:pPr lvl="3"/>
            <a:r>
              <a:rPr lang="en-US" sz="2400" dirty="0" smtClean="0"/>
              <a:t>JavaScript has built-in functions for arrays, so check out these built-in array functions before writing the code yourself!</a:t>
            </a:r>
          </a:p>
          <a:p>
            <a:endParaRPr lang="en-US" sz="2400" dirty="0" smtClean="0"/>
          </a:p>
          <a:p>
            <a:pPr lvl="1"/>
            <a:endParaRPr lang="en-US" sz="2000" dirty="0" smtClean="0"/>
          </a:p>
          <a:p>
            <a:pPr lvl="2">
              <a:buNone/>
            </a:pP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Creating JavaScript  Arrays</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a:bodyPr>
          <a:lstStyle/>
          <a:p>
            <a:r>
              <a:rPr lang="en-US" sz="2400" dirty="0" smtClean="0"/>
              <a:t>Creating an array is slightly different from creating a normal variable.</a:t>
            </a:r>
          </a:p>
          <a:p>
            <a:r>
              <a:rPr lang="en-US" sz="2400" dirty="0" smtClean="0"/>
              <a:t>Because JavaScript has variables and properties associated with arrays, you have to use a special function to create a new array.</a:t>
            </a:r>
          </a:p>
          <a:p>
            <a:r>
              <a:rPr lang="en-US" sz="2400" dirty="0" smtClean="0"/>
              <a:t>The example in the next slide shows how you would create a simple array, store values to it, and access these values.</a:t>
            </a:r>
          </a:p>
          <a:p>
            <a:pPr lvl="1"/>
            <a:endParaRPr lang="en-US" sz="2000" dirty="0" smtClean="0"/>
          </a:p>
          <a:p>
            <a:pPr lvl="2">
              <a:buNone/>
            </a:pP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Creating JavaScript  Arrays</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a:bodyPr>
          <a:lstStyle/>
          <a:p>
            <a:pPr lvl="1">
              <a:buNone/>
            </a:pPr>
            <a:endParaRPr lang="en-US" dirty="0" smtClean="0"/>
          </a:p>
          <a:p>
            <a:pPr lvl="1">
              <a:buNone/>
            </a:pPr>
            <a:r>
              <a:rPr lang="en-US" dirty="0" smtClean="0"/>
              <a:t>&lt;script type="text/</a:t>
            </a:r>
            <a:r>
              <a:rPr lang="en-US" dirty="0" err="1" smtClean="0"/>
              <a:t>javascript</a:t>
            </a:r>
            <a:r>
              <a:rPr lang="en-US" dirty="0" smtClean="0"/>
              <a:t>"&gt; </a:t>
            </a:r>
          </a:p>
          <a:p>
            <a:pPr lvl="1">
              <a:buNone/>
            </a:pPr>
            <a:r>
              <a:rPr lang="en-US" dirty="0" smtClean="0"/>
              <a:t>	&lt;!- -</a:t>
            </a:r>
          </a:p>
          <a:p>
            <a:pPr lvl="1">
              <a:buNone/>
            </a:pPr>
            <a:r>
              <a:rPr lang="en-US" dirty="0" smtClean="0"/>
              <a:t>	</a:t>
            </a:r>
            <a:r>
              <a:rPr lang="en-US" dirty="0" err="1" smtClean="0"/>
              <a:t>var</a:t>
            </a:r>
            <a:r>
              <a:rPr lang="en-US" dirty="0" smtClean="0"/>
              <a:t> </a:t>
            </a:r>
            <a:r>
              <a:rPr lang="en-US" dirty="0" err="1" smtClean="0"/>
              <a:t>myArray</a:t>
            </a:r>
            <a:r>
              <a:rPr lang="en-US" dirty="0" smtClean="0"/>
              <a:t> = new Array(); </a:t>
            </a:r>
          </a:p>
          <a:p>
            <a:pPr lvl="1">
              <a:buNone/>
            </a:pPr>
            <a:r>
              <a:rPr lang="en-US" dirty="0" smtClean="0"/>
              <a:t>	</a:t>
            </a:r>
            <a:r>
              <a:rPr lang="en-US" dirty="0" err="1" smtClean="0"/>
              <a:t>myArray</a:t>
            </a:r>
            <a:r>
              <a:rPr lang="en-US" dirty="0" smtClean="0"/>
              <a:t>[0] = "Football"; </a:t>
            </a:r>
          </a:p>
          <a:p>
            <a:pPr lvl="1">
              <a:buNone/>
            </a:pPr>
            <a:r>
              <a:rPr lang="en-US" dirty="0" smtClean="0"/>
              <a:t>	</a:t>
            </a:r>
            <a:r>
              <a:rPr lang="en-US" dirty="0" err="1" smtClean="0"/>
              <a:t>myArray</a:t>
            </a:r>
            <a:r>
              <a:rPr lang="en-US" dirty="0" smtClean="0"/>
              <a:t>[1] = "Baseball"; </a:t>
            </a:r>
          </a:p>
          <a:p>
            <a:pPr lvl="1">
              <a:buNone/>
            </a:pPr>
            <a:r>
              <a:rPr lang="en-US" dirty="0" smtClean="0"/>
              <a:t>	</a:t>
            </a:r>
            <a:r>
              <a:rPr lang="en-US" dirty="0" err="1" smtClean="0"/>
              <a:t>myArray</a:t>
            </a:r>
            <a:r>
              <a:rPr lang="en-US" dirty="0" smtClean="0"/>
              <a:t>[2] = "Cricket"; </a:t>
            </a:r>
          </a:p>
          <a:p>
            <a:pPr lvl="1">
              <a:buNone/>
            </a:pPr>
            <a:r>
              <a:rPr lang="en-US" dirty="0" smtClean="0"/>
              <a:t>	</a:t>
            </a:r>
            <a:r>
              <a:rPr lang="en-US" dirty="0" err="1" smtClean="0"/>
              <a:t>document.write</a:t>
            </a:r>
            <a:r>
              <a:rPr lang="en-US" dirty="0" smtClean="0"/>
              <a:t>(</a:t>
            </a:r>
            <a:r>
              <a:rPr lang="en-US" dirty="0" err="1" smtClean="0"/>
              <a:t>myArray</a:t>
            </a:r>
            <a:r>
              <a:rPr lang="en-US" dirty="0" smtClean="0"/>
              <a:t>[0] + </a:t>
            </a:r>
            <a:r>
              <a:rPr lang="en-US" dirty="0" err="1" smtClean="0"/>
              <a:t>myArray</a:t>
            </a:r>
            <a:r>
              <a:rPr lang="en-US" dirty="0" smtClean="0"/>
              <a:t>[1] + </a:t>
            </a:r>
            <a:r>
              <a:rPr lang="en-US" dirty="0" err="1" smtClean="0"/>
              <a:t>myArray</a:t>
            </a:r>
            <a:r>
              <a:rPr lang="en-US" dirty="0" smtClean="0"/>
              <a:t>[2]); </a:t>
            </a:r>
          </a:p>
          <a:p>
            <a:pPr lvl="1">
              <a:buNone/>
            </a:pPr>
            <a:r>
              <a:rPr lang="en-US" dirty="0" smtClean="0"/>
              <a:t>	//--&gt; </a:t>
            </a:r>
          </a:p>
          <a:p>
            <a:pPr lvl="1">
              <a:buNone/>
            </a:pPr>
            <a:r>
              <a:rPr lang="en-US" dirty="0" smtClean="0"/>
              <a:t>&lt;/script&gt; </a:t>
            </a:r>
          </a:p>
          <a:p>
            <a:pPr lvl="2">
              <a:buNone/>
            </a:pPr>
            <a:endParaRPr lang="en-US"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5" name="TextBox 4"/>
          <p:cNvSpPr txBox="1"/>
          <p:nvPr/>
        </p:nvSpPr>
        <p:spPr>
          <a:xfrm>
            <a:off x="5867400" y="990600"/>
            <a:ext cx="3276600" cy="923330"/>
          </a:xfrm>
          <a:prstGeom prst="rect">
            <a:avLst/>
          </a:prstGeom>
          <a:noFill/>
          <a:ln>
            <a:solidFill>
              <a:schemeClr val="accent1"/>
            </a:solidFill>
          </a:ln>
        </p:spPr>
        <p:txBody>
          <a:bodyPr wrap="square" rtlCol="0">
            <a:spAutoFit/>
          </a:bodyPr>
          <a:lstStyle/>
          <a:p>
            <a:pPr algn="ctr"/>
            <a:r>
              <a:rPr lang="en-US" b="1" dirty="0" smtClean="0"/>
              <a:t>Output</a:t>
            </a:r>
          </a:p>
          <a:p>
            <a:pPr algn="ctr"/>
            <a:endParaRPr lang="en-US" b="1" dirty="0" smtClean="0"/>
          </a:p>
          <a:p>
            <a:r>
              <a:rPr lang="en-US" dirty="0" err="1" smtClean="0"/>
              <a:t>FootballBaseballCricket</a:t>
            </a:r>
            <a:r>
              <a:rPr lang="en-US"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b="1" dirty="0" smtClean="0"/>
              <a:t>Creating JavaScript  Arrays</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a:bodyPr>
          <a:lstStyle/>
          <a:p>
            <a:r>
              <a:rPr lang="en-US" sz="2400" dirty="0" smtClean="0"/>
              <a:t>Notice that you set values and get values from an array by specifying the position, in brackets, of the value you want to use.</a:t>
            </a:r>
          </a:p>
          <a:p>
            <a:pPr>
              <a:buNone/>
            </a:pPr>
            <a:r>
              <a:rPr lang="en-US" sz="2400" b="1" dirty="0" smtClean="0"/>
              <a:t>JavaScript Array Sorting</a:t>
            </a:r>
            <a:endParaRPr lang="en-US" sz="2400" dirty="0" smtClean="0"/>
          </a:p>
          <a:p>
            <a:r>
              <a:rPr lang="en-US" sz="2400" dirty="0" smtClean="0"/>
              <a:t>Suppose you want to sort an array alphabetically before you wrote the array to the browser.</a:t>
            </a:r>
          </a:p>
          <a:p>
            <a:r>
              <a:rPr lang="en-US" sz="2400" dirty="0" smtClean="0"/>
              <a:t>Well, this code has already been written and can be accessed by using the Array's </a:t>
            </a:r>
            <a:r>
              <a:rPr lang="en-US" sz="2400" i="1" dirty="0" smtClean="0"/>
              <a:t>sort</a:t>
            </a:r>
            <a:r>
              <a:rPr lang="en-US" sz="2400" dirty="0" smtClean="0"/>
              <a:t> method.</a:t>
            </a:r>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fontScale="90000"/>
          </a:bodyPr>
          <a:lstStyle/>
          <a:p>
            <a:r>
              <a:rPr lang="en-US" sz="4400" b="1" dirty="0" smtClean="0"/>
              <a:t>JavaScript Array Sorting</a:t>
            </a:r>
            <a:r>
              <a:rPr lang="en-US" b="1" dirty="0" smtClean="0"/>
              <a:t/>
            </a:r>
            <a:br>
              <a:rPr lang="en-US" b="1" dirty="0" smtClean="0"/>
            </a:br>
            <a:endParaRPr lang="en-US" dirty="0"/>
          </a:p>
        </p:txBody>
      </p:sp>
      <p:sp>
        <p:nvSpPr>
          <p:cNvPr id="3" name="Content Placeholder 2"/>
          <p:cNvSpPr>
            <a:spLocks noGrp="1"/>
          </p:cNvSpPr>
          <p:nvPr>
            <p:ph idx="1"/>
          </p:nvPr>
        </p:nvSpPr>
        <p:spPr>
          <a:xfrm>
            <a:off x="914400" y="990600"/>
            <a:ext cx="8001000" cy="5638800"/>
          </a:xfrm>
        </p:spPr>
        <p:txBody>
          <a:bodyPr>
            <a:normAutofit fontScale="92500" lnSpcReduction="10000"/>
          </a:bodyPr>
          <a:lstStyle/>
          <a:p>
            <a:pPr>
              <a:buNone/>
            </a:pPr>
            <a:r>
              <a:rPr lang="en-US" sz="2400" dirty="0" smtClean="0"/>
              <a:t>&lt;script type="text/</a:t>
            </a:r>
            <a:r>
              <a:rPr lang="en-US" sz="2400" dirty="0" err="1" smtClean="0"/>
              <a:t>javascript</a:t>
            </a:r>
            <a:r>
              <a:rPr lang="en-US" sz="2400" dirty="0" smtClean="0"/>
              <a:t>"&gt;</a:t>
            </a:r>
          </a:p>
          <a:p>
            <a:pPr>
              <a:buNone/>
            </a:pPr>
            <a:r>
              <a:rPr lang="en-US" sz="2400" dirty="0" smtClean="0"/>
              <a:t> &lt;! - -</a:t>
            </a:r>
          </a:p>
          <a:p>
            <a:pPr>
              <a:buNone/>
            </a:pPr>
            <a:r>
              <a:rPr lang="en-US" sz="2400" dirty="0" smtClean="0"/>
              <a:t>	</a:t>
            </a:r>
            <a:r>
              <a:rPr lang="en-US" sz="2400" dirty="0" err="1" smtClean="0"/>
              <a:t>var</a:t>
            </a:r>
            <a:r>
              <a:rPr lang="en-US" sz="2400" dirty="0" smtClean="0"/>
              <a:t> myArray2= new Array(); </a:t>
            </a:r>
          </a:p>
          <a:p>
            <a:pPr>
              <a:buNone/>
            </a:pPr>
            <a:r>
              <a:rPr lang="en-US" sz="2400" dirty="0" smtClean="0"/>
              <a:t>	myArray2[0] = "Football"; </a:t>
            </a:r>
          </a:p>
          <a:p>
            <a:pPr>
              <a:buNone/>
            </a:pPr>
            <a:r>
              <a:rPr lang="en-US" sz="2400" dirty="0" smtClean="0"/>
              <a:t>	myArray2[1] = "Baseball"; </a:t>
            </a:r>
          </a:p>
          <a:p>
            <a:pPr>
              <a:buNone/>
            </a:pPr>
            <a:r>
              <a:rPr lang="en-US" sz="2400" dirty="0" smtClean="0"/>
              <a:t>	myArray2[2] = "Cricket"; </a:t>
            </a:r>
          </a:p>
          <a:p>
            <a:pPr>
              <a:buNone/>
            </a:pPr>
            <a:endParaRPr lang="en-US" sz="2400" dirty="0" smtClean="0"/>
          </a:p>
          <a:p>
            <a:pPr>
              <a:buNone/>
            </a:pPr>
            <a:r>
              <a:rPr lang="en-US" sz="2400" dirty="0" smtClean="0"/>
              <a:t>	myArray2.sort(); </a:t>
            </a:r>
          </a:p>
          <a:p>
            <a:pPr>
              <a:buNone/>
            </a:pPr>
            <a:endParaRPr lang="en-US" sz="2400" dirty="0" smtClean="0"/>
          </a:p>
          <a:p>
            <a:pPr>
              <a:buNone/>
            </a:pPr>
            <a:r>
              <a:rPr lang="en-US" sz="2400" dirty="0" smtClean="0"/>
              <a:t>	</a:t>
            </a:r>
            <a:r>
              <a:rPr lang="en-US" sz="2400" dirty="0" err="1" smtClean="0"/>
              <a:t>document.write</a:t>
            </a:r>
            <a:r>
              <a:rPr lang="en-US" sz="2400" dirty="0" smtClean="0"/>
              <a:t>(myArray2[0] + myArray2[1] + myArray2[2]);</a:t>
            </a:r>
          </a:p>
          <a:p>
            <a:pPr>
              <a:buNone/>
            </a:pPr>
            <a:r>
              <a:rPr lang="en-US" sz="2400" dirty="0" smtClean="0"/>
              <a:t>	//--&gt;</a:t>
            </a:r>
          </a:p>
          <a:p>
            <a:pPr>
              <a:buNone/>
            </a:pPr>
            <a:r>
              <a:rPr lang="en-US" sz="2400" dirty="0" smtClean="0"/>
              <a:t>&lt;/script&gt; </a:t>
            </a:r>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
        <p:nvSpPr>
          <p:cNvPr id="8" name="TextBox 7"/>
          <p:cNvSpPr txBox="1"/>
          <p:nvPr/>
        </p:nvSpPr>
        <p:spPr>
          <a:xfrm>
            <a:off x="5638800" y="1066800"/>
            <a:ext cx="2667000" cy="923330"/>
          </a:xfrm>
          <a:prstGeom prst="rect">
            <a:avLst/>
          </a:prstGeom>
          <a:noFill/>
          <a:ln>
            <a:solidFill>
              <a:schemeClr val="accent1">
                <a:shade val="50000"/>
              </a:schemeClr>
            </a:solidFill>
          </a:ln>
        </p:spPr>
        <p:txBody>
          <a:bodyPr wrap="square" rtlCol="0">
            <a:spAutoFit/>
          </a:bodyPr>
          <a:lstStyle/>
          <a:p>
            <a:endParaRPr lang="en-US" dirty="0" smtClean="0"/>
          </a:p>
          <a:p>
            <a:r>
              <a:rPr lang="en-US" dirty="0" err="1" smtClean="0"/>
              <a:t>BaseballCricketFootball</a:t>
            </a:r>
            <a:endParaRPr lang="en-US" dirty="0" smtClean="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b="1" dirty="0" smtClean="0"/>
              <a:t>JavaScript Array: Other Resources</a:t>
            </a:r>
            <a:endParaRPr lang="en-US" dirty="0"/>
          </a:p>
        </p:txBody>
      </p:sp>
      <p:sp>
        <p:nvSpPr>
          <p:cNvPr id="3" name="Content Placeholder 2"/>
          <p:cNvSpPr>
            <a:spLocks noGrp="1"/>
          </p:cNvSpPr>
          <p:nvPr>
            <p:ph idx="1"/>
          </p:nvPr>
        </p:nvSpPr>
        <p:spPr>
          <a:xfrm>
            <a:off x="914400" y="1447800"/>
            <a:ext cx="8019288" cy="4800600"/>
          </a:xfrm>
        </p:spPr>
        <p:txBody>
          <a:bodyPr>
            <a:normAutofit/>
          </a:bodyPr>
          <a:lstStyle/>
          <a:p>
            <a:r>
              <a:rPr lang="en-US" sz="2400" dirty="0" smtClean="0"/>
              <a:t>Arrays are a very complex area of programming, especially in JavaScript.</a:t>
            </a:r>
          </a:p>
          <a:p>
            <a:r>
              <a:rPr lang="en-US" sz="2400" dirty="0" smtClean="0"/>
              <a:t>This lesson cannot possibly cover all the areas of JavaScript arrays, but there are some useful resources for you to check out:</a:t>
            </a:r>
          </a:p>
          <a:p>
            <a:pPr marL="539496" indent="-457200">
              <a:buFont typeface="+mj-lt"/>
              <a:buAutoNum type="arabicPeriod"/>
            </a:pPr>
            <a:r>
              <a:rPr lang="en-US" sz="2400" dirty="0" smtClean="0">
                <a:hlinkClick r:id="rId2"/>
              </a:rPr>
              <a:t>http://www.comptechdoc.org/independent/web/cgi/javamanual/javaarray.html</a:t>
            </a:r>
            <a:r>
              <a:rPr lang="en-US" sz="2400" dirty="0" smtClean="0"/>
              <a:t> - General information about the JavaScript Array Object.</a:t>
            </a:r>
          </a:p>
          <a:p>
            <a:pPr marL="539496" indent="-457200">
              <a:buFont typeface="+mj-lt"/>
              <a:buAutoNum type="arabicPeriod"/>
            </a:pPr>
            <a:r>
              <a:rPr lang="en-US" sz="2400" dirty="0" smtClean="0">
                <a:hlinkClick r:id="rId3"/>
              </a:rPr>
              <a:t>http://www.devguru.com/Technologies/ecmascript/quickref/array.html</a:t>
            </a:r>
            <a:r>
              <a:rPr lang="en-US" sz="2400" dirty="0" smtClean="0"/>
              <a:t> - A large collection of all the things you shouldn't program for an array because they have all been done for you!</a:t>
            </a:r>
            <a:endParaRPr lang="en-US" sz="2400" dirty="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b="1" dirty="0" smtClean="0"/>
              <a:t>JavaScript Alert - What is it?</a:t>
            </a:r>
            <a:endParaRPr lang="en-US" dirty="0"/>
          </a:p>
        </p:txBody>
      </p:sp>
      <p:sp>
        <p:nvSpPr>
          <p:cNvPr id="3" name="Content Placeholder 2"/>
          <p:cNvSpPr>
            <a:spLocks noGrp="1"/>
          </p:cNvSpPr>
          <p:nvPr>
            <p:ph idx="1"/>
          </p:nvPr>
        </p:nvSpPr>
        <p:spPr>
          <a:xfrm>
            <a:off x="914400" y="1447800"/>
            <a:ext cx="8019288" cy="4800600"/>
          </a:xfrm>
        </p:spPr>
        <p:txBody>
          <a:bodyPr>
            <a:normAutofit/>
          </a:bodyPr>
          <a:lstStyle/>
          <a:p>
            <a:r>
              <a:rPr lang="en-US" sz="2400" dirty="0" smtClean="0"/>
              <a:t>If you do not have JavaScript enabled on your web browser, then you may have been able to avoid "alerts" in your internet adventures.</a:t>
            </a:r>
          </a:p>
          <a:p>
            <a:r>
              <a:rPr lang="en-US" sz="2400" dirty="0" smtClean="0"/>
              <a:t>The JavaScript alert is a dialogue box that pops up and takes the focus away from the current window and forces the web browser to read the message.</a:t>
            </a:r>
          </a:p>
          <a:p>
            <a:pPr>
              <a:buNone/>
            </a:pPr>
            <a:endParaRPr lang="en-US" sz="2400" dirty="0" smtClean="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sz="4400" b="1" dirty="0" smtClean="0"/>
              <a:t>When to Use </a:t>
            </a:r>
            <a:r>
              <a:rPr lang="en-US" sz="4400" b="1" dirty="0" err="1" smtClean="0"/>
              <a:t>Popups</a:t>
            </a:r>
            <a:r>
              <a:rPr lang="en-US" sz="4400" b="1" dirty="0" smtClean="0"/>
              <a:t> / Alerts</a:t>
            </a:r>
          </a:p>
        </p:txBody>
      </p:sp>
      <p:sp>
        <p:nvSpPr>
          <p:cNvPr id="3" name="Content Placeholder 2"/>
          <p:cNvSpPr>
            <a:spLocks noGrp="1"/>
          </p:cNvSpPr>
          <p:nvPr>
            <p:ph idx="1"/>
          </p:nvPr>
        </p:nvSpPr>
        <p:spPr>
          <a:xfrm>
            <a:off x="914400" y="1447800"/>
            <a:ext cx="8019288" cy="4800600"/>
          </a:xfrm>
        </p:spPr>
        <p:txBody>
          <a:bodyPr>
            <a:normAutofit lnSpcReduction="10000"/>
          </a:bodyPr>
          <a:lstStyle/>
          <a:p>
            <a:pPr>
              <a:buNone/>
            </a:pPr>
            <a:r>
              <a:rPr lang="en-US" sz="2400" dirty="0" smtClean="0"/>
              <a:t>JavaScript alerts are ideal for the following situations:</a:t>
            </a:r>
          </a:p>
          <a:p>
            <a:r>
              <a:rPr lang="en-US" sz="2400" dirty="0" smtClean="0"/>
              <a:t>If you want to be absolutely sure they see a message before doing anything on the website.</a:t>
            </a:r>
          </a:p>
          <a:p>
            <a:r>
              <a:rPr lang="en-US" sz="2400" dirty="0" smtClean="0"/>
              <a:t>You would like to warn the user about something. For example "the following page contains humor not suitable for those under the age of 14”.</a:t>
            </a:r>
          </a:p>
          <a:p>
            <a:r>
              <a:rPr lang="en-US" sz="2400" dirty="0" smtClean="0"/>
              <a:t>An error has occurred and you want to inform the user of the problem.</a:t>
            </a:r>
          </a:p>
          <a:p>
            <a:r>
              <a:rPr lang="en-US" sz="2400" dirty="0" smtClean="0"/>
              <a:t>When asking users for confirmation of some action. For example, if they have just agreed to sign over the deed to their house and you want to ask them again if they are absolutely positive they want to go through with this decision!</a:t>
            </a:r>
          </a:p>
          <a:p>
            <a:endParaRPr lang="en-US" sz="2400" dirty="0" smtClean="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sz="4400" b="1" dirty="0" smtClean="0"/>
              <a:t>Coding a Simple JavaScript Alert</a:t>
            </a:r>
            <a:endParaRPr lang="en-US" sz="4400" b="1" dirty="0"/>
          </a:p>
        </p:txBody>
      </p:sp>
      <p:sp>
        <p:nvSpPr>
          <p:cNvPr id="3" name="Content Placeholder 2"/>
          <p:cNvSpPr>
            <a:spLocks noGrp="1"/>
          </p:cNvSpPr>
          <p:nvPr>
            <p:ph idx="1"/>
          </p:nvPr>
        </p:nvSpPr>
        <p:spPr>
          <a:xfrm>
            <a:off x="914400" y="1447800"/>
            <a:ext cx="8019288" cy="5181600"/>
          </a:xfrm>
        </p:spPr>
        <p:txBody>
          <a:bodyPr>
            <a:normAutofit/>
          </a:bodyPr>
          <a:lstStyle/>
          <a:p>
            <a:r>
              <a:rPr lang="en-US" sz="2400" dirty="0" smtClean="0"/>
              <a:t>Suppose that we are making an alert for some website that asks people to hand over the deed to their house.</a:t>
            </a:r>
          </a:p>
          <a:p>
            <a:r>
              <a:rPr lang="en-US" sz="2400" dirty="0" smtClean="0"/>
              <a:t>We need to add an alert to be sure these people are in agreement. </a:t>
            </a:r>
          </a:p>
          <a:p>
            <a:r>
              <a:rPr lang="en-US" sz="2400" dirty="0" smtClean="0"/>
              <a:t>The following code will add an alert by using an HTML button and the </a:t>
            </a:r>
            <a:r>
              <a:rPr lang="en-US" sz="2400" i="1" dirty="0" err="1" smtClean="0"/>
              <a:t>onClick</a:t>
            </a:r>
            <a:r>
              <a:rPr lang="en-US" sz="2400" dirty="0" smtClean="0"/>
              <a:t> event.</a:t>
            </a:r>
          </a:p>
          <a:p>
            <a:pPr>
              <a:buNone/>
            </a:pPr>
            <a:r>
              <a:rPr lang="en-US" sz="2400" i="1" dirty="0" smtClean="0"/>
              <a:t>&lt;form&gt; </a:t>
            </a:r>
          </a:p>
          <a:p>
            <a:pPr>
              <a:buNone/>
            </a:pPr>
            <a:r>
              <a:rPr lang="en-US" sz="2400" i="1" dirty="0" smtClean="0"/>
              <a:t>&lt;input type="button" </a:t>
            </a:r>
            <a:r>
              <a:rPr lang="en-US" sz="2400" i="1" dirty="0" err="1" smtClean="0"/>
              <a:t>onclick</a:t>
            </a:r>
            <a:r>
              <a:rPr lang="en-US" sz="2400" i="1" dirty="0" smtClean="0"/>
              <a:t>= "alert('Are you sure you want to give us the deed to your house?')" value="Confirmation Alert"&gt; </a:t>
            </a:r>
          </a:p>
          <a:p>
            <a:pPr>
              <a:buNone/>
            </a:pPr>
            <a:r>
              <a:rPr lang="en-US" sz="2400" i="1" dirty="0" smtClean="0"/>
              <a:t>&lt;/form&gt; </a:t>
            </a:r>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sz="4400" b="1" dirty="0" smtClean="0"/>
              <a:t>Coding a Simple JavaScript Alert</a:t>
            </a:r>
            <a:endParaRPr lang="en-US" sz="4400" b="1" dirty="0"/>
          </a:p>
        </p:txBody>
      </p:sp>
      <p:sp>
        <p:nvSpPr>
          <p:cNvPr id="3" name="Content Placeholder 2"/>
          <p:cNvSpPr>
            <a:spLocks noGrp="1"/>
          </p:cNvSpPr>
          <p:nvPr>
            <p:ph idx="1"/>
          </p:nvPr>
        </p:nvSpPr>
        <p:spPr>
          <a:xfrm>
            <a:off x="914400" y="1447800"/>
            <a:ext cx="8019288" cy="5181600"/>
          </a:xfrm>
        </p:spPr>
        <p:txBody>
          <a:bodyPr>
            <a:normAutofit/>
          </a:bodyPr>
          <a:lstStyle/>
          <a:p>
            <a:r>
              <a:rPr lang="en-US" sz="2400" dirty="0" smtClean="0"/>
              <a:t>Suppose that we are making an alert for some website that asks people to hand over the deed to their house.</a:t>
            </a:r>
          </a:p>
          <a:p>
            <a:r>
              <a:rPr lang="en-US" sz="2400" dirty="0" smtClean="0"/>
              <a:t>We need to add an alert to be sure these people are in agreement. </a:t>
            </a:r>
          </a:p>
          <a:p>
            <a:r>
              <a:rPr lang="en-US" sz="2400" dirty="0" smtClean="0"/>
              <a:t>The following code will add an alert by using an HTML button and the </a:t>
            </a:r>
            <a:r>
              <a:rPr lang="en-US" sz="2400" i="1" dirty="0" err="1" smtClean="0"/>
              <a:t>onClick</a:t>
            </a:r>
            <a:r>
              <a:rPr lang="en-US" sz="2400" dirty="0" smtClean="0"/>
              <a:t> event.</a:t>
            </a:r>
          </a:p>
          <a:p>
            <a:pPr>
              <a:buNone/>
            </a:pPr>
            <a:r>
              <a:rPr lang="en-US" sz="2400" i="1" dirty="0" smtClean="0"/>
              <a:t>&lt;form&gt; </a:t>
            </a:r>
          </a:p>
          <a:p>
            <a:pPr>
              <a:buNone/>
            </a:pPr>
            <a:r>
              <a:rPr lang="en-US" sz="2400" i="1" dirty="0" smtClean="0"/>
              <a:t>&lt;input type="button" </a:t>
            </a:r>
            <a:r>
              <a:rPr lang="en-US" sz="2400" i="1" dirty="0" err="1" smtClean="0"/>
              <a:t>onclick</a:t>
            </a:r>
            <a:r>
              <a:rPr lang="en-US" sz="2400" i="1" dirty="0" smtClean="0"/>
              <a:t>= "alert('Are you sure you want to give us the deed to your house?')" value="Confirmation Alert"&gt; </a:t>
            </a:r>
          </a:p>
          <a:p>
            <a:pPr>
              <a:buNone/>
            </a:pPr>
            <a:r>
              <a:rPr lang="en-US" sz="2400" i="1" dirty="0" smtClean="0"/>
              <a:t>&lt;/form&gt; </a:t>
            </a:r>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sz="4400" b="1" dirty="0" smtClean="0"/>
              <a:t>Coding a Simple JavaScript Alert</a:t>
            </a:r>
            <a:endParaRPr lang="en-US" sz="4400" b="1" dirty="0"/>
          </a:p>
        </p:txBody>
      </p:sp>
      <p:sp>
        <p:nvSpPr>
          <p:cNvPr id="3" name="Content Placeholder 2"/>
          <p:cNvSpPr>
            <a:spLocks noGrp="1"/>
          </p:cNvSpPr>
          <p:nvPr>
            <p:ph idx="1"/>
          </p:nvPr>
        </p:nvSpPr>
        <p:spPr>
          <a:xfrm>
            <a:off x="914400" y="1447800"/>
            <a:ext cx="8019288" cy="5181600"/>
          </a:xfrm>
        </p:spPr>
        <p:txBody>
          <a:bodyPr>
            <a:normAutofit/>
          </a:bodyPr>
          <a:lstStyle/>
          <a:p>
            <a:r>
              <a:rPr lang="en-US" sz="2400" dirty="0" smtClean="0"/>
              <a:t>The string that appears between the single quotes is what will be printed inside the alert box when the user clicks on the button.</a:t>
            </a:r>
          </a:p>
          <a:p>
            <a:r>
              <a:rPr lang="en-US" sz="2400" dirty="0" smtClean="0"/>
              <a:t>If the HTML Forms are confusing to you, brush up on </a:t>
            </a:r>
            <a:r>
              <a:rPr lang="en-US" sz="2400" i="1" dirty="0" smtClean="0"/>
              <a:t>HTML Forms </a:t>
            </a:r>
            <a:r>
              <a:rPr lang="en-US" sz="2400" dirty="0" smtClean="0"/>
              <a:t>from </a:t>
            </a:r>
            <a:r>
              <a:rPr lang="en-US" sz="2400" u="sng" dirty="0" smtClean="0"/>
              <a:t>w3c schools website</a:t>
            </a:r>
          </a:p>
          <a:p>
            <a:pPr>
              <a:buNone/>
            </a:pPr>
            <a:endParaRPr lang="en-US" sz="2400" dirty="0" smtClean="0"/>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sz="4000" b="1" dirty="0" smtClean="0"/>
              <a:t>JavaScript Confirm</a:t>
            </a:r>
            <a:endParaRPr lang="en-US" sz="4000" b="1" dirty="0"/>
          </a:p>
        </p:txBody>
      </p:sp>
      <p:sp>
        <p:nvSpPr>
          <p:cNvPr id="3" name="Content Placeholder 2"/>
          <p:cNvSpPr>
            <a:spLocks noGrp="1"/>
          </p:cNvSpPr>
          <p:nvPr>
            <p:ph idx="1"/>
          </p:nvPr>
        </p:nvSpPr>
        <p:spPr>
          <a:xfrm>
            <a:off x="914400" y="1447800"/>
            <a:ext cx="8019288" cy="5181600"/>
          </a:xfrm>
        </p:spPr>
        <p:txBody>
          <a:bodyPr>
            <a:normAutofit lnSpcReduction="10000"/>
          </a:bodyPr>
          <a:lstStyle/>
          <a:p>
            <a:r>
              <a:rPr lang="en-US" sz="2400" dirty="0" smtClean="0"/>
              <a:t>The JavaScript </a:t>
            </a:r>
            <a:r>
              <a:rPr lang="en-US" sz="2400" i="1" dirty="0" smtClean="0"/>
              <a:t>confirm</a:t>
            </a:r>
            <a:r>
              <a:rPr lang="en-US" sz="2400" dirty="0" smtClean="0"/>
              <a:t> function is very similar to the JavaScript </a:t>
            </a:r>
            <a:r>
              <a:rPr lang="en-US" sz="2400" i="1" dirty="0" smtClean="0"/>
              <a:t>alert</a:t>
            </a:r>
            <a:r>
              <a:rPr lang="en-US" sz="2400" dirty="0" smtClean="0"/>
              <a:t> function. </a:t>
            </a:r>
          </a:p>
          <a:p>
            <a:r>
              <a:rPr lang="en-US" sz="2400" dirty="0" smtClean="0"/>
              <a:t>A small dialogue box pops up and appears in front of the web page currently in focus. </a:t>
            </a:r>
          </a:p>
          <a:p>
            <a:r>
              <a:rPr lang="en-US" sz="2400" dirty="0" smtClean="0"/>
              <a:t>The confirm box is different from the alert box. It supplies the user with a choice; they can either press OK to confirm the </a:t>
            </a:r>
            <a:r>
              <a:rPr lang="en-US" sz="2400" dirty="0" err="1" smtClean="0"/>
              <a:t>popup's</a:t>
            </a:r>
            <a:r>
              <a:rPr lang="en-US" sz="2400" dirty="0" smtClean="0"/>
              <a:t> message or they can press cancel and not agree to the </a:t>
            </a:r>
            <a:r>
              <a:rPr lang="en-US" sz="2400" dirty="0" err="1" smtClean="0"/>
              <a:t>popup's</a:t>
            </a:r>
            <a:r>
              <a:rPr lang="en-US" sz="2400" dirty="0" smtClean="0"/>
              <a:t> request.</a:t>
            </a:r>
          </a:p>
          <a:p>
            <a:pPr>
              <a:buNone/>
            </a:pPr>
            <a:r>
              <a:rPr lang="en-US" sz="2400" b="1" dirty="0" smtClean="0"/>
              <a:t>JavaScript Confirm Example</a:t>
            </a:r>
          </a:p>
          <a:p>
            <a:pPr>
              <a:buNone/>
            </a:pPr>
            <a:endParaRPr lang="en-US" sz="2400" dirty="0" smtClean="0"/>
          </a:p>
          <a:p>
            <a:r>
              <a:rPr lang="en-US" sz="2400" dirty="0" smtClean="0"/>
              <a:t>The next slide is an example of how you would use a confirm dialogue box to warn users about something, giving them the option to either continue on or stay put.</a:t>
            </a:r>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JavaScript Confirm</a:t>
            </a:r>
            <a:endParaRPr lang="en-US" sz="4000" b="1" dirty="0"/>
          </a:p>
        </p:txBody>
      </p:sp>
      <p:sp>
        <p:nvSpPr>
          <p:cNvPr id="3" name="Content Placeholder 2"/>
          <p:cNvSpPr>
            <a:spLocks noGrp="1"/>
          </p:cNvSpPr>
          <p:nvPr>
            <p:ph idx="1"/>
          </p:nvPr>
        </p:nvSpPr>
        <p:spPr>
          <a:xfrm>
            <a:off x="914400" y="838200"/>
            <a:ext cx="8019288" cy="6019800"/>
          </a:xfrm>
        </p:spPr>
        <p:txBody>
          <a:bodyPr>
            <a:noAutofit/>
          </a:bodyPr>
          <a:lstStyle/>
          <a:p>
            <a:pPr>
              <a:buNone/>
            </a:pPr>
            <a:r>
              <a:rPr lang="en-US" sz="1400" dirty="0" smtClean="0"/>
              <a:t>&lt;html&gt;</a:t>
            </a:r>
          </a:p>
          <a:p>
            <a:pPr>
              <a:buNone/>
            </a:pPr>
            <a:r>
              <a:rPr lang="en-US" sz="1400" dirty="0" smtClean="0"/>
              <a:t> &lt;head&gt; </a:t>
            </a:r>
          </a:p>
          <a:p>
            <a:pPr>
              <a:buNone/>
            </a:pPr>
            <a:r>
              <a:rPr lang="en-US" sz="1400" dirty="0" smtClean="0"/>
              <a:t>&lt;script type="text/</a:t>
            </a:r>
            <a:r>
              <a:rPr lang="en-US" sz="1400" dirty="0" err="1" smtClean="0"/>
              <a:t>javascript</a:t>
            </a:r>
            <a:r>
              <a:rPr lang="en-US" sz="1400" dirty="0" smtClean="0"/>
              <a:t>"&gt; </a:t>
            </a:r>
          </a:p>
          <a:p>
            <a:pPr>
              <a:buNone/>
            </a:pPr>
            <a:r>
              <a:rPr lang="en-US" sz="1400" dirty="0" smtClean="0"/>
              <a:t>&lt;!– </a:t>
            </a:r>
          </a:p>
          <a:p>
            <a:pPr>
              <a:buNone/>
            </a:pPr>
            <a:r>
              <a:rPr lang="en-US" sz="1400" dirty="0" smtClean="0"/>
              <a:t>function confirmation() { </a:t>
            </a:r>
          </a:p>
          <a:p>
            <a:pPr>
              <a:buNone/>
            </a:pPr>
            <a:r>
              <a:rPr lang="en-US" sz="1400" dirty="0" smtClean="0"/>
              <a:t>	</a:t>
            </a:r>
            <a:r>
              <a:rPr lang="en-US" sz="1400" dirty="0" err="1" smtClean="0"/>
              <a:t>var</a:t>
            </a:r>
            <a:r>
              <a:rPr lang="en-US" sz="1400" dirty="0" smtClean="0"/>
              <a:t> answer = confirm("Leave poly.com?") </a:t>
            </a:r>
          </a:p>
          <a:p>
            <a:pPr>
              <a:buNone/>
            </a:pPr>
            <a:r>
              <a:rPr lang="en-US" sz="1400" dirty="0" smtClean="0"/>
              <a:t>	if (answer){ </a:t>
            </a:r>
          </a:p>
          <a:p>
            <a:pPr>
              <a:buNone/>
            </a:pPr>
            <a:r>
              <a:rPr lang="en-US" sz="1400" dirty="0" smtClean="0"/>
              <a:t>		alert("Bye </a:t>
            </a:r>
            <a:r>
              <a:rPr lang="en-US" sz="1400" dirty="0" err="1" smtClean="0"/>
              <a:t>bye</a:t>
            </a:r>
            <a:r>
              <a:rPr lang="en-US" sz="1400" dirty="0" smtClean="0"/>
              <a:t>!") </a:t>
            </a:r>
          </a:p>
          <a:p>
            <a:pPr>
              <a:buNone/>
            </a:pPr>
            <a:r>
              <a:rPr lang="en-US" sz="1400" dirty="0" smtClean="0"/>
              <a:t>		</a:t>
            </a:r>
            <a:r>
              <a:rPr lang="en-US" sz="1400" dirty="0" err="1" smtClean="0"/>
              <a:t>window.location</a:t>
            </a:r>
            <a:r>
              <a:rPr lang="en-US" sz="1400" dirty="0" smtClean="0"/>
              <a:t> = "http://www.google.com/"; </a:t>
            </a:r>
          </a:p>
          <a:p>
            <a:pPr>
              <a:buNone/>
            </a:pPr>
            <a:r>
              <a:rPr lang="en-US" sz="1400" dirty="0" smtClean="0"/>
              <a:t>	} </a:t>
            </a:r>
          </a:p>
          <a:p>
            <a:pPr>
              <a:buNone/>
            </a:pPr>
            <a:r>
              <a:rPr lang="en-US" sz="1400" dirty="0" smtClean="0"/>
              <a:t>	else{ </a:t>
            </a:r>
          </a:p>
          <a:p>
            <a:pPr>
              <a:buNone/>
            </a:pPr>
            <a:r>
              <a:rPr lang="en-US" sz="1400" dirty="0" smtClean="0"/>
              <a:t>		alert("Thanks for sticking around!") </a:t>
            </a:r>
          </a:p>
          <a:p>
            <a:pPr>
              <a:buNone/>
            </a:pPr>
            <a:r>
              <a:rPr lang="en-US" sz="1400" dirty="0" smtClean="0"/>
              <a:t>	} </a:t>
            </a:r>
          </a:p>
          <a:p>
            <a:pPr>
              <a:buNone/>
            </a:pPr>
            <a:r>
              <a:rPr lang="en-US" sz="1400" dirty="0" smtClean="0"/>
              <a:t>} </a:t>
            </a:r>
          </a:p>
          <a:p>
            <a:pPr>
              <a:buNone/>
            </a:pPr>
            <a:r>
              <a:rPr lang="en-US" sz="1400" dirty="0" smtClean="0"/>
              <a:t>//--&gt;</a:t>
            </a:r>
          </a:p>
          <a:p>
            <a:pPr>
              <a:buNone/>
            </a:pPr>
            <a:r>
              <a:rPr lang="en-US" sz="1400" dirty="0" smtClean="0"/>
              <a:t> &lt;/script&gt; </a:t>
            </a:r>
          </a:p>
          <a:p>
            <a:pPr>
              <a:buNone/>
            </a:pPr>
            <a:r>
              <a:rPr lang="en-US" sz="1400" dirty="0" smtClean="0"/>
              <a:t>&lt;/head&gt; </a:t>
            </a:r>
          </a:p>
          <a:p>
            <a:pPr>
              <a:buNone/>
            </a:pPr>
            <a:r>
              <a:rPr lang="en-US" sz="1400" dirty="0" smtClean="0"/>
              <a:t>&lt;body&gt; </a:t>
            </a:r>
          </a:p>
          <a:p>
            <a:pPr>
              <a:buNone/>
            </a:pPr>
            <a:r>
              <a:rPr lang="en-US" sz="1400" dirty="0" smtClean="0"/>
              <a:t>&lt;form&gt; &lt;input type="button" </a:t>
            </a:r>
            <a:r>
              <a:rPr lang="en-US" sz="1400" dirty="0" err="1" smtClean="0"/>
              <a:t>onclick</a:t>
            </a:r>
            <a:r>
              <a:rPr lang="en-US" sz="1400" dirty="0" smtClean="0"/>
              <a:t>="confirmation()" value="Leave poly.com"&gt; &lt;/form&gt; &lt;/body&gt;</a:t>
            </a:r>
          </a:p>
          <a:p>
            <a:pPr>
              <a:buNone/>
            </a:pPr>
            <a:r>
              <a:rPr lang="en-US" sz="1400" dirty="0" smtClean="0"/>
              <a:t>&lt;/html&gt; </a:t>
            </a:r>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019288" cy="1143000"/>
          </a:xfrm>
        </p:spPr>
        <p:txBody>
          <a:bodyPr>
            <a:normAutofit/>
          </a:bodyPr>
          <a:lstStyle/>
          <a:p>
            <a:r>
              <a:rPr lang="en-US" sz="4000" b="1" dirty="0" smtClean="0"/>
              <a:t>JavaScript Prompt</a:t>
            </a:r>
            <a:endParaRPr lang="en-US" sz="4000" b="1" dirty="0"/>
          </a:p>
        </p:txBody>
      </p:sp>
      <p:sp>
        <p:nvSpPr>
          <p:cNvPr id="3" name="Content Placeholder 2"/>
          <p:cNvSpPr>
            <a:spLocks noGrp="1"/>
          </p:cNvSpPr>
          <p:nvPr>
            <p:ph idx="1"/>
          </p:nvPr>
        </p:nvSpPr>
        <p:spPr>
          <a:xfrm>
            <a:off x="914400" y="1447800"/>
            <a:ext cx="8019288" cy="5181600"/>
          </a:xfrm>
        </p:spPr>
        <p:txBody>
          <a:bodyPr>
            <a:normAutofit/>
          </a:bodyPr>
          <a:lstStyle/>
          <a:p>
            <a:r>
              <a:rPr lang="en-US" sz="2400" dirty="0" smtClean="0"/>
              <a:t>The JavaScript prompt is used for gathering information from the user so that a visitor personalized feel. </a:t>
            </a:r>
          </a:p>
          <a:p>
            <a:pPr>
              <a:buNone/>
            </a:pPr>
            <a:endParaRPr lang="en-US" sz="2400" dirty="0" smtClean="0"/>
          </a:p>
          <a:p>
            <a:pPr>
              <a:buNone/>
            </a:pPr>
            <a:r>
              <a:rPr lang="en-US" sz="2400" dirty="0" smtClean="0"/>
              <a:t> </a:t>
            </a:r>
            <a:r>
              <a:rPr lang="en-US" sz="2400" b="1" dirty="0" smtClean="0"/>
              <a:t>JavaScript Confirm Example</a:t>
            </a:r>
          </a:p>
          <a:p>
            <a:pPr>
              <a:buNone/>
            </a:pPr>
            <a:endParaRPr lang="en-US" sz="2400" dirty="0" smtClean="0"/>
          </a:p>
          <a:p>
            <a:r>
              <a:rPr lang="en-US" sz="2400" dirty="0" smtClean="0"/>
              <a:t>The next slide is an example of how you would use a </a:t>
            </a:r>
            <a:r>
              <a:rPr lang="en-US" sz="2400" dirty="0" err="1" smtClean="0"/>
              <a:t>promt</a:t>
            </a:r>
            <a:r>
              <a:rPr lang="en-US" sz="2400" dirty="0" smtClean="0"/>
              <a:t> function.</a:t>
            </a:r>
          </a:p>
        </p:txBody>
      </p:sp>
      <p:sp>
        <p:nvSpPr>
          <p:cNvPr id="4" name="Date Placeholder 3"/>
          <p:cNvSpPr>
            <a:spLocks noGrp="1"/>
          </p:cNvSpPr>
          <p:nvPr>
            <p:ph type="dt" sz="half" idx="10"/>
          </p:nvPr>
        </p:nvSpPr>
        <p:spPr/>
        <p:txBody>
          <a:bodyPr/>
          <a:lstStyle/>
          <a:p>
            <a:fld id="{A24E8B17-96FC-473C-8E85-7F91E9202818}" type="datetime1">
              <a:rPr lang="en-US" smtClean="0"/>
              <a:pP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JavaScript Prompt Function</a:t>
            </a:r>
            <a:endParaRPr lang="en-US" sz="4000" b="1" dirty="0"/>
          </a:p>
        </p:txBody>
      </p:sp>
      <p:sp>
        <p:nvSpPr>
          <p:cNvPr id="3" name="Content Placeholder 2"/>
          <p:cNvSpPr>
            <a:spLocks noGrp="1"/>
          </p:cNvSpPr>
          <p:nvPr>
            <p:ph idx="1"/>
          </p:nvPr>
        </p:nvSpPr>
        <p:spPr>
          <a:xfrm>
            <a:off x="914400" y="838200"/>
            <a:ext cx="8019288" cy="6019800"/>
          </a:xfrm>
        </p:spPr>
        <p:txBody>
          <a:bodyPr>
            <a:noAutofit/>
          </a:bodyPr>
          <a:lstStyle/>
          <a:p>
            <a:pPr>
              <a:buNone/>
            </a:pPr>
            <a:r>
              <a:rPr lang="en-US" sz="1800" dirty="0" smtClean="0"/>
              <a:t>&lt;html&gt;</a:t>
            </a:r>
          </a:p>
          <a:p>
            <a:pPr>
              <a:buNone/>
            </a:pPr>
            <a:r>
              <a:rPr lang="en-US" sz="1800" dirty="0" smtClean="0"/>
              <a:t> &lt;head&gt; </a:t>
            </a:r>
          </a:p>
          <a:p>
            <a:pPr>
              <a:buNone/>
            </a:pPr>
            <a:r>
              <a:rPr lang="en-US" sz="1800" dirty="0" smtClean="0"/>
              <a:t>&lt;script type="text/</a:t>
            </a:r>
            <a:r>
              <a:rPr lang="en-US" sz="1800" dirty="0" err="1" smtClean="0"/>
              <a:t>javascript</a:t>
            </a:r>
            <a:r>
              <a:rPr lang="en-US" sz="1800" dirty="0" smtClean="0"/>
              <a:t>"&gt; </a:t>
            </a:r>
          </a:p>
          <a:p>
            <a:pPr>
              <a:buNone/>
            </a:pPr>
            <a:r>
              <a:rPr lang="en-US" sz="1800" dirty="0" smtClean="0"/>
              <a:t>&lt;!- -</a:t>
            </a:r>
          </a:p>
          <a:p>
            <a:pPr>
              <a:buNone/>
            </a:pPr>
            <a:r>
              <a:rPr lang="en-US" sz="1800" dirty="0" smtClean="0"/>
              <a:t>function prompter() { </a:t>
            </a:r>
          </a:p>
          <a:p>
            <a:pPr>
              <a:buNone/>
            </a:pPr>
            <a:r>
              <a:rPr lang="en-US" sz="1800" dirty="0" err="1" smtClean="0"/>
              <a:t>var</a:t>
            </a:r>
            <a:r>
              <a:rPr lang="en-US" sz="1800" dirty="0" smtClean="0"/>
              <a:t> reply = prompt("Hey there, good looking stranger! What's your name?", "") </a:t>
            </a:r>
          </a:p>
          <a:p>
            <a:pPr>
              <a:buNone/>
            </a:pPr>
            <a:r>
              <a:rPr lang="en-US" sz="1800" dirty="0" smtClean="0"/>
              <a:t>alert ( "Nice to see you around these parts " + reply + "!") </a:t>
            </a:r>
          </a:p>
          <a:p>
            <a:pPr>
              <a:buNone/>
            </a:pPr>
            <a:r>
              <a:rPr lang="en-US" sz="1800" dirty="0" smtClean="0"/>
              <a:t>} </a:t>
            </a:r>
          </a:p>
          <a:p>
            <a:pPr>
              <a:buNone/>
            </a:pPr>
            <a:r>
              <a:rPr lang="en-US" sz="1800" dirty="0" smtClean="0"/>
              <a:t>//--&gt;</a:t>
            </a:r>
          </a:p>
          <a:p>
            <a:pPr>
              <a:buNone/>
            </a:pPr>
            <a:r>
              <a:rPr lang="en-US" sz="1800" dirty="0" smtClean="0"/>
              <a:t> &lt;/script&gt; </a:t>
            </a:r>
          </a:p>
          <a:p>
            <a:pPr>
              <a:buNone/>
            </a:pPr>
            <a:r>
              <a:rPr lang="en-US" sz="1800" dirty="0" smtClean="0"/>
              <a:t>&lt;/head&gt; </a:t>
            </a:r>
          </a:p>
          <a:p>
            <a:pPr>
              <a:buNone/>
            </a:pPr>
            <a:r>
              <a:rPr lang="en-US" sz="1800" dirty="0" smtClean="0"/>
              <a:t>&lt;body&gt; </a:t>
            </a:r>
          </a:p>
          <a:p>
            <a:pPr>
              <a:buNone/>
            </a:pPr>
            <a:r>
              <a:rPr lang="en-US" sz="1800" dirty="0" smtClean="0"/>
              <a:t>&lt;form&gt; &lt;input type="button" </a:t>
            </a:r>
            <a:r>
              <a:rPr lang="en-US" sz="1800" dirty="0" err="1" smtClean="0"/>
              <a:t>onclick</a:t>
            </a:r>
            <a:r>
              <a:rPr lang="en-US" sz="1800" dirty="0" smtClean="0"/>
              <a:t>=“prompter()" value=“Say my name"&gt; </a:t>
            </a:r>
          </a:p>
          <a:p>
            <a:pPr>
              <a:buNone/>
            </a:pPr>
            <a:r>
              <a:rPr lang="en-US" sz="1800" dirty="0" smtClean="0"/>
              <a:t>&lt;/form&gt; </a:t>
            </a:r>
          </a:p>
          <a:p>
            <a:pPr>
              <a:buNone/>
            </a:pPr>
            <a:r>
              <a:rPr lang="en-US" sz="1800" dirty="0" smtClean="0"/>
              <a:t>&lt;/body&gt;</a:t>
            </a:r>
          </a:p>
          <a:p>
            <a:pPr>
              <a:buNone/>
            </a:pPr>
            <a:r>
              <a:rPr lang="en-US" sz="1800" dirty="0" smtClean="0"/>
              <a:t>&lt;/html&gt; </a:t>
            </a:r>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JavaScript Print Function</a:t>
            </a:r>
            <a:endParaRPr lang="en-US" sz="4000" b="1" dirty="0"/>
          </a:p>
        </p:txBody>
      </p:sp>
      <p:sp>
        <p:nvSpPr>
          <p:cNvPr id="3" name="Content Placeholder 2"/>
          <p:cNvSpPr>
            <a:spLocks noGrp="1"/>
          </p:cNvSpPr>
          <p:nvPr>
            <p:ph idx="1"/>
          </p:nvPr>
        </p:nvSpPr>
        <p:spPr>
          <a:xfrm>
            <a:off x="914400" y="1219200"/>
            <a:ext cx="8019288" cy="5181600"/>
          </a:xfrm>
        </p:spPr>
        <p:txBody>
          <a:bodyPr>
            <a:noAutofit/>
          </a:bodyPr>
          <a:lstStyle/>
          <a:p>
            <a:r>
              <a:rPr lang="en-US" sz="2400" dirty="0" smtClean="0"/>
              <a:t>The JavaScript print function performs the same operation as the print option that you see at the top of your browser window or in your browser's "File" menu. </a:t>
            </a:r>
          </a:p>
          <a:p>
            <a:r>
              <a:rPr lang="en-US" sz="2400" dirty="0" smtClean="0"/>
              <a:t>The JavaScript print function will send the contents of the webpage to the user's printer.</a:t>
            </a:r>
          </a:p>
          <a:p>
            <a:r>
              <a:rPr lang="en-US" sz="2400" dirty="0" smtClean="0"/>
              <a:t>Many believe this function to be worthless, but there are many computer users who do not know their way around a computer well, and helpful features such as this function can some times create a more user-friendly environment.</a:t>
            </a:r>
          </a:p>
          <a:p>
            <a:r>
              <a:rPr lang="en-US" sz="2400" dirty="0" smtClean="0"/>
              <a:t>Example Next slide.</a:t>
            </a:r>
          </a:p>
          <a:p>
            <a:endParaRPr lang="en-US" sz="2400" dirty="0" smtClean="0"/>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JavaScript Print Function</a:t>
            </a:r>
            <a:endParaRPr lang="en-US" sz="4000" b="1" dirty="0"/>
          </a:p>
        </p:txBody>
      </p:sp>
      <p:sp>
        <p:nvSpPr>
          <p:cNvPr id="3" name="Content Placeholder 2"/>
          <p:cNvSpPr>
            <a:spLocks noGrp="1"/>
          </p:cNvSpPr>
          <p:nvPr>
            <p:ph idx="1"/>
          </p:nvPr>
        </p:nvSpPr>
        <p:spPr>
          <a:xfrm>
            <a:off x="914400" y="2286000"/>
            <a:ext cx="8019288" cy="3657600"/>
          </a:xfrm>
        </p:spPr>
        <p:txBody>
          <a:bodyPr>
            <a:noAutofit/>
          </a:bodyPr>
          <a:lstStyle/>
          <a:p>
            <a:pPr>
              <a:buNone/>
            </a:pPr>
            <a:r>
              <a:rPr lang="en-US" sz="1800" dirty="0" smtClean="0"/>
              <a:t>&lt;form&gt; </a:t>
            </a:r>
          </a:p>
          <a:p>
            <a:pPr>
              <a:buNone/>
            </a:pPr>
            <a:r>
              <a:rPr lang="en-US" sz="1800" dirty="0" smtClean="0"/>
              <a:t>&lt;input type="button" value="Print This Page“ </a:t>
            </a:r>
            <a:r>
              <a:rPr lang="en-US" sz="1800" dirty="0" err="1" smtClean="0"/>
              <a:t>onClick</a:t>
            </a:r>
            <a:r>
              <a:rPr lang="en-US" sz="1800" dirty="0" smtClean="0"/>
              <a:t>="</a:t>
            </a:r>
            <a:r>
              <a:rPr lang="en-US" sz="1800" dirty="0" err="1" smtClean="0"/>
              <a:t>window.print</a:t>
            </a:r>
            <a:r>
              <a:rPr lang="en-US" sz="1800" dirty="0" smtClean="0"/>
              <a:t>()" /&gt;</a:t>
            </a:r>
          </a:p>
          <a:p>
            <a:pPr>
              <a:buNone/>
            </a:pPr>
            <a:r>
              <a:rPr lang="en-US" sz="1800" dirty="0" smtClean="0"/>
              <a:t>&lt;/form&gt; </a:t>
            </a:r>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JavaScript Redirect</a:t>
            </a:r>
            <a:endParaRPr lang="en-US" sz="4000" b="1" dirty="0"/>
          </a:p>
        </p:txBody>
      </p:sp>
      <p:sp>
        <p:nvSpPr>
          <p:cNvPr id="3" name="Content Placeholder 2"/>
          <p:cNvSpPr>
            <a:spLocks noGrp="1"/>
          </p:cNvSpPr>
          <p:nvPr>
            <p:ph idx="1"/>
          </p:nvPr>
        </p:nvSpPr>
        <p:spPr>
          <a:xfrm>
            <a:off x="914400" y="1219200"/>
            <a:ext cx="8019288" cy="5334000"/>
          </a:xfrm>
        </p:spPr>
        <p:txBody>
          <a:bodyPr>
            <a:noAutofit/>
          </a:bodyPr>
          <a:lstStyle/>
          <a:p>
            <a:r>
              <a:rPr lang="en-US" sz="2400" dirty="0" smtClean="0"/>
              <a:t>When your webpage is moved, you'd probably want to notify your visitors of the change.</a:t>
            </a:r>
          </a:p>
          <a:p>
            <a:r>
              <a:rPr lang="en-US" sz="2400" dirty="0" smtClean="0"/>
              <a:t>One good way to redirect  users is to use the JavaScript property </a:t>
            </a:r>
            <a:r>
              <a:rPr lang="en-US" sz="2400" i="1" dirty="0" err="1" smtClean="0"/>
              <a:t>window.location</a:t>
            </a:r>
            <a:r>
              <a:rPr lang="en-US" sz="2400" dirty="0" smtClean="0"/>
              <a:t>.</a:t>
            </a:r>
          </a:p>
          <a:p>
            <a:r>
              <a:rPr lang="en-US" sz="2400" dirty="0" smtClean="0"/>
              <a:t>By setting </a:t>
            </a:r>
            <a:r>
              <a:rPr lang="en-US" sz="2400" i="1" dirty="0" err="1" smtClean="0"/>
              <a:t>window.location</a:t>
            </a:r>
            <a:r>
              <a:rPr lang="en-US" sz="2400" dirty="0" smtClean="0"/>
              <a:t> equal to a new URL, you will in turn change the current webpage to the one that is specified.</a:t>
            </a:r>
          </a:p>
          <a:p>
            <a:r>
              <a:rPr lang="en-US" sz="2400" dirty="0" smtClean="0"/>
              <a:t>Example:  If you wanted to redirect all your visitors to www.google.com when they arrived at your site, you would just need the script next page:</a:t>
            </a:r>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JavaScript Redirect</a:t>
            </a:r>
            <a:endParaRPr lang="en-US" sz="4000" b="1" dirty="0"/>
          </a:p>
        </p:txBody>
      </p:sp>
      <p:sp>
        <p:nvSpPr>
          <p:cNvPr id="3" name="Content Placeholder 2"/>
          <p:cNvSpPr>
            <a:spLocks noGrp="1"/>
          </p:cNvSpPr>
          <p:nvPr>
            <p:ph idx="1"/>
          </p:nvPr>
        </p:nvSpPr>
        <p:spPr>
          <a:xfrm>
            <a:off x="914400" y="1219200"/>
            <a:ext cx="8019288" cy="5334000"/>
          </a:xfrm>
        </p:spPr>
        <p:txBody>
          <a:bodyPr>
            <a:noAutofit/>
          </a:bodyPr>
          <a:lstStyle/>
          <a:p>
            <a:pPr>
              <a:buNone/>
            </a:pPr>
            <a:r>
              <a:rPr lang="en-US" sz="2400" dirty="0" smtClean="0"/>
              <a:t>&lt;script type="text/</a:t>
            </a:r>
            <a:r>
              <a:rPr lang="en-US" sz="2400" dirty="0" err="1" smtClean="0"/>
              <a:t>javascript</a:t>
            </a:r>
            <a:r>
              <a:rPr lang="en-US" sz="2400" dirty="0" smtClean="0"/>
              <a:t>"&gt;</a:t>
            </a:r>
          </a:p>
          <a:p>
            <a:pPr>
              <a:buNone/>
            </a:pPr>
            <a:r>
              <a:rPr lang="en-US" sz="2400" dirty="0" smtClean="0"/>
              <a:t> &lt;!--</a:t>
            </a:r>
          </a:p>
          <a:p>
            <a:pPr>
              <a:buNone/>
            </a:pPr>
            <a:r>
              <a:rPr lang="en-US" sz="2400" dirty="0" err="1" smtClean="0"/>
              <a:t>window.location</a:t>
            </a:r>
            <a:r>
              <a:rPr lang="en-US" sz="2400" dirty="0" smtClean="0"/>
              <a:t> = "http://www.google.com/" </a:t>
            </a:r>
          </a:p>
          <a:p>
            <a:pPr>
              <a:buNone/>
            </a:pPr>
            <a:r>
              <a:rPr lang="en-US" sz="2400" dirty="0" smtClean="0"/>
              <a:t>//--&gt;</a:t>
            </a:r>
          </a:p>
          <a:p>
            <a:pPr>
              <a:buNone/>
            </a:pPr>
            <a:r>
              <a:rPr lang="en-US" sz="2400" dirty="0" smtClean="0"/>
              <a:t>&lt;/script&gt; </a:t>
            </a:r>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288" cy="1143000"/>
          </a:xfrm>
        </p:spPr>
        <p:txBody>
          <a:bodyPr>
            <a:normAutofit/>
          </a:bodyPr>
          <a:lstStyle/>
          <a:p>
            <a:r>
              <a:rPr lang="en-US" sz="4000" b="1" dirty="0" smtClean="0"/>
              <a:t>Reading Exercise</a:t>
            </a:r>
            <a:endParaRPr lang="en-US" sz="4000" b="1" dirty="0"/>
          </a:p>
        </p:txBody>
      </p:sp>
      <p:sp>
        <p:nvSpPr>
          <p:cNvPr id="3" name="Content Placeholder 2"/>
          <p:cNvSpPr>
            <a:spLocks noGrp="1"/>
          </p:cNvSpPr>
          <p:nvPr>
            <p:ph idx="1"/>
          </p:nvPr>
        </p:nvSpPr>
        <p:spPr>
          <a:xfrm>
            <a:off x="914400" y="990600"/>
            <a:ext cx="8019288" cy="5334000"/>
          </a:xfrm>
        </p:spPr>
        <p:txBody>
          <a:bodyPr>
            <a:noAutofit/>
          </a:bodyPr>
          <a:lstStyle/>
          <a:p>
            <a:pPr>
              <a:buNone/>
            </a:pPr>
            <a:endParaRPr lang="en-US" sz="2400" b="1" dirty="0" smtClean="0"/>
          </a:p>
          <a:p>
            <a:r>
              <a:rPr lang="en-US" sz="2400" b="1" dirty="0" smtClean="0"/>
              <a:t>JavaScript Time Delay</a:t>
            </a:r>
          </a:p>
          <a:p>
            <a:r>
              <a:rPr lang="en-US" sz="2400" b="1" dirty="0" smtClean="0"/>
              <a:t>JavaScript </a:t>
            </a:r>
            <a:r>
              <a:rPr lang="en-US" sz="2400" b="1" dirty="0" err="1" smtClean="0"/>
              <a:t>Popups</a:t>
            </a:r>
            <a:endParaRPr lang="en-US" sz="2400" b="1" dirty="0" smtClean="0"/>
          </a:p>
          <a:p>
            <a:r>
              <a:rPr lang="en-US" sz="2400" b="1" dirty="0" smtClean="0"/>
              <a:t>JavaScript Date and Time Object</a:t>
            </a:r>
          </a:p>
          <a:p>
            <a:r>
              <a:rPr lang="en-US" sz="2400" b="1" dirty="0" smtClean="0"/>
              <a:t>JavaScript Form Validation</a:t>
            </a:r>
          </a:p>
          <a:p>
            <a:r>
              <a:rPr lang="en-US" sz="2400" b="1" dirty="0" smtClean="0"/>
              <a:t>JavaScript Void 0</a:t>
            </a:r>
            <a:endParaRPr lang="en-US" sz="2400" dirty="0" smtClean="0"/>
          </a:p>
          <a:p>
            <a:pPr>
              <a:buNone/>
            </a:pPr>
            <a:r>
              <a:rPr lang="en-US" sz="2400" dirty="0" smtClean="0"/>
              <a:t>Visit the following WebPages to accomplish the exercise</a:t>
            </a:r>
          </a:p>
          <a:p>
            <a:r>
              <a:rPr lang="en-US" sz="2400" dirty="0" smtClean="0"/>
              <a:t>http://www.tizag.com/javascriptT/javascriptredirect.php</a:t>
            </a:r>
          </a:p>
          <a:p>
            <a:r>
              <a:rPr lang="en-US" sz="2400" dirty="0" smtClean="0"/>
              <a:t>http://www.tizag.com/javascriptT/javascriptpopups.php</a:t>
            </a:r>
          </a:p>
          <a:p>
            <a:r>
              <a:rPr lang="en-US" sz="2400" dirty="0" smtClean="0"/>
              <a:t>http://www.tizag.com/javascriptT/javascriptdate.php</a:t>
            </a:r>
          </a:p>
          <a:p>
            <a:r>
              <a:rPr lang="en-US" sz="2400" dirty="0" smtClean="0"/>
              <a:t>http://www.tizag.com/javascriptT/javascriptform.php</a:t>
            </a:r>
          </a:p>
          <a:p>
            <a:r>
              <a:rPr lang="en-US" sz="2400" dirty="0" smtClean="0"/>
              <a:t>http://www.tizag.com/javascriptT/javascriptvoid.php</a:t>
            </a:r>
          </a:p>
        </p:txBody>
      </p:sp>
      <p:sp>
        <p:nvSpPr>
          <p:cNvPr id="4" name="Date Placeholder 3"/>
          <p:cNvSpPr>
            <a:spLocks noGrp="1"/>
          </p:cNvSpPr>
          <p:nvPr>
            <p:ph type="dt" sz="half" idx="10"/>
          </p:nvPr>
        </p:nvSpPr>
        <p:spPr>
          <a:xfrm>
            <a:off x="3962400" y="6381750"/>
            <a:ext cx="2133600" cy="476250"/>
          </a:xfrm>
        </p:spPr>
        <p:txBody>
          <a:bodyPr/>
          <a:lstStyle/>
          <a:p>
            <a:pPr algn="ctr"/>
            <a:fld id="{A24E8B17-96FC-473C-8E85-7F91E9202818}" type="datetime1">
              <a:rPr lang="en-US" smtClean="0"/>
              <a:pPr algn="ctr"/>
              <a:t>6/19/2017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1200</TotalTime>
  <Words>4432</Words>
  <Application>Microsoft Office PowerPoint</Application>
  <PresentationFormat>On-screen Show (4:3)</PresentationFormat>
  <Paragraphs>683</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Garamond</vt:lpstr>
      <vt:lpstr>Times New Roman</vt:lpstr>
      <vt:lpstr>Organic</vt:lpstr>
      <vt:lpstr>Javascript</vt:lpstr>
      <vt:lpstr>JavaScript Overview</vt:lpstr>
      <vt:lpstr>Introduction</vt:lpstr>
      <vt:lpstr>The Evolution to the Web</vt:lpstr>
      <vt:lpstr>JavaScript – Example 1</vt:lpstr>
      <vt:lpstr>Javascript – Example II</vt:lpstr>
      <vt:lpstr>Where to Place JavaScript </vt:lpstr>
      <vt:lpstr>An Example Head Script </vt:lpstr>
      <vt:lpstr> Importing an External JavaScript File </vt:lpstr>
      <vt:lpstr> Importing an External JavaScript File </vt:lpstr>
      <vt:lpstr> Importing an External JavaScript File </vt:lpstr>
      <vt:lpstr> Great JavaScript Repositories </vt:lpstr>
      <vt:lpstr>JavaScript Operators</vt:lpstr>
      <vt:lpstr>JavaScript Operators</vt:lpstr>
      <vt:lpstr>JavaScript Operators</vt:lpstr>
      <vt:lpstr>Comparison Operators</vt:lpstr>
      <vt:lpstr>JavaScript Variables</vt:lpstr>
      <vt:lpstr>Variable Example</vt:lpstr>
      <vt:lpstr>PowerPoint Presentation</vt:lpstr>
      <vt:lpstr>Variable Example Explanation</vt:lpstr>
      <vt:lpstr>JavaScript Variable Naming Conventions (Rules)</vt:lpstr>
      <vt:lpstr>List of JavaScript Reserved Words</vt:lpstr>
      <vt:lpstr>JavaScript Functions</vt:lpstr>
      <vt:lpstr>Example Function in JavaScript </vt:lpstr>
      <vt:lpstr>PowerPoint Presentation</vt:lpstr>
      <vt:lpstr>Example Function in JavaScript </vt:lpstr>
      <vt:lpstr>Events in JavaScript </vt:lpstr>
      <vt:lpstr>Examples Using Events </vt:lpstr>
      <vt:lpstr>PowerPoint Presentation</vt:lpstr>
      <vt:lpstr>Examples Using Events </vt:lpstr>
      <vt:lpstr>JavaScript Statements </vt:lpstr>
      <vt:lpstr>JavaScript Statements </vt:lpstr>
      <vt:lpstr>JavaScript Statements </vt:lpstr>
      <vt:lpstr>JavaScript If... Statements </vt:lpstr>
      <vt:lpstr>JavaScript If...Else Statements </vt:lpstr>
      <vt:lpstr>JavaScript If...else if …else Statements </vt:lpstr>
      <vt:lpstr>JavaScript While Loop </vt:lpstr>
      <vt:lpstr>JavaScript While Loop </vt:lpstr>
      <vt:lpstr>JavaScript For Loop </vt:lpstr>
      <vt:lpstr>JavaScript For Loop </vt:lpstr>
      <vt:lpstr>JavaScript  Arrays </vt:lpstr>
      <vt:lpstr>Creating JavaScript  Arrays </vt:lpstr>
      <vt:lpstr>Creating JavaScript  Arrays </vt:lpstr>
      <vt:lpstr>Creating JavaScript  Arrays </vt:lpstr>
      <vt:lpstr>JavaScript Array Sorting </vt:lpstr>
      <vt:lpstr>JavaScript Array: Other Resources</vt:lpstr>
      <vt:lpstr>JavaScript Alert - What is it?</vt:lpstr>
      <vt:lpstr>When to Use Popups / Alerts</vt:lpstr>
      <vt:lpstr>Coding a Simple JavaScript Alert</vt:lpstr>
      <vt:lpstr>Coding a Simple JavaScript Alert</vt:lpstr>
      <vt:lpstr>Coding a Simple JavaScript Alert</vt:lpstr>
      <vt:lpstr>JavaScript Confirm</vt:lpstr>
      <vt:lpstr>JavaScript Confirm</vt:lpstr>
      <vt:lpstr>JavaScript Prompt</vt:lpstr>
      <vt:lpstr>JavaScript Prompt Function</vt:lpstr>
      <vt:lpstr>JavaScript Print Function</vt:lpstr>
      <vt:lpstr>JavaScript Print Function</vt:lpstr>
      <vt:lpstr>JavaScript Redirect</vt:lpstr>
      <vt:lpstr>JavaScript Redirect</vt:lpstr>
      <vt:lpstr>Reading Exercise</vt:lpstr>
    </vt:vector>
  </TitlesOfParts>
  <Company>mzuni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dc:title>
  <dc:creator>kuchezga</dc:creator>
  <cp:lastModifiedBy>STUDENT</cp:lastModifiedBy>
  <cp:revision>76</cp:revision>
  <dcterms:created xsi:type="dcterms:W3CDTF">2010-05-30T19:50:17Z</dcterms:created>
  <dcterms:modified xsi:type="dcterms:W3CDTF">2017-06-19T17:11:46Z</dcterms:modified>
</cp:coreProperties>
</file>