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72" r:id="rId5"/>
    <p:sldId id="261" r:id="rId6"/>
    <p:sldId id="264" r:id="rId7"/>
    <p:sldId id="262" r:id="rId8"/>
    <p:sldId id="259" r:id="rId9"/>
    <p:sldId id="267" r:id="rId10"/>
    <p:sldId id="300" r:id="rId11"/>
    <p:sldId id="277" r:id="rId12"/>
    <p:sldId id="269" r:id="rId13"/>
    <p:sldId id="270" r:id="rId14"/>
    <p:sldId id="260" r:id="rId15"/>
    <p:sldId id="273" r:id="rId16"/>
    <p:sldId id="299" r:id="rId17"/>
    <p:sldId id="276" r:id="rId18"/>
    <p:sldId id="279" r:id="rId19"/>
    <p:sldId id="298" r:id="rId20"/>
    <p:sldId id="280" r:id="rId21"/>
    <p:sldId id="282" r:id="rId22"/>
    <p:sldId id="283" r:id="rId23"/>
    <p:sldId id="285" r:id="rId24"/>
    <p:sldId id="286" r:id="rId25"/>
    <p:sldId id="288" r:id="rId26"/>
    <p:sldId id="289" r:id="rId27"/>
    <p:sldId id="291" r:id="rId28"/>
    <p:sldId id="293" r:id="rId29"/>
    <p:sldId id="294" r:id="rId30"/>
    <p:sldId id="296" r:id="rId31"/>
    <p:sldId id="295" r:id="rId32"/>
    <p:sldId id="29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2" d="100"/>
          <a:sy n="72" d="100"/>
        </p:scale>
        <p:origin x="66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US"/>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dirty="0"/>
              <a:pPr/>
              <a:t>6/17/2019</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dirty="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6/17/2019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dirty="0"/>
              <a:pPr/>
              <a:t>6/17/2019</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dirty="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dirty="0"/>
              <a:t>6/17/2019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mod="1">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dirty="0"/>
              <a:t>6/17/2019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mod="1">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dirty="0"/>
              <a:t>6/17/2019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dirty="0"/>
              <a:t>6/17/2019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US"/>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dirty="0"/>
              <a:t>6/17/2019</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dirty="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mod="1">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US"/>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dirty="0"/>
              <a:t>6/17/2019</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6/17/2019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6/17/2019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dirty="0"/>
              <a:pPr/>
              <a:t>6/17/2019</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dirty="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ecomputernotes.com/fundamental/introduction-to-computer/what-is-computer"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D51510B-E76F-43FC-A0D1-31B0B6140761}"/>
              </a:ext>
            </a:extLst>
          </p:cNvPr>
          <p:cNvPicPr>
            <a:picLocks noChangeAspect="1"/>
          </p:cNvPicPr>
          <p:nvPr/>
        </p:nvPicPr>
        <p:blipFill>
          <a:blip r:embed="rId2"/>
          <a:stretch>
            <a:fillRect/>
          </a:stretch>
        </p:blipFill>
        <p:spPr>
          <a:xfrm>
            <a:off x="3125275" y="96769"/>
            <a:ext cx="5941449" cy="5840632"/>
          </a:xfrm>
          <a:prstGeom prst="rect">
            <a:avLst/>
          </a:prstGeom>
        </p:spPr>
      </p:pic>
      <p:sp>
        <p:nvSpPr>
          <p:cNvPr id="2" name="Title 1">
            <a:extLst>
              <a:ext uri="{FF2B5EF4-FFF2-40B4-BE49-F238E27FC236}">
                <a16:creationId xmlns:a16="http://schemas.microsoft.com/office/drawing/2014/main" id="{B8CA5753-D19B-41A7-B0BE-D999A21163E6}"/>
              </a:ext>
            </a:extLst>
          </p:cNvPr>
          <p:cNvSpPr>
            <a:spLocks noGrp="1"/>
          </p:cNvSpPr>
          <p:nvPr>
            <p:ph type="ctrTitle"/>
          </p:nvPr>
        </p:nvSpPr>
        <p:spPr/>
        <p:txBody>
          <a:bodyPr/>
          <a:lstStyle/>
          <a:p>
            <a:r>
              <a:rPr lang="en-US" dirty="0"/>
              <a:t>Mis </a:t>
            </a:r>
          </a:p>
        </p:txBody>
      </p:sp>
      <p:sp>
        <p:nvSpPr>
          <p:cNvPr id="3" name="Subtitle 2">
            <a:extLst>
              <a:ext uri="{FF2B5EF4-FFF2-40B4-BE49-F238E27FC236}">
                <a16:creationId xmlns:a16="http://schemas.microsoft.com/office/drawing/2014/main" id="{8BEA6F4C-E7FC-42ED-A9BB-5C75C3B689FB}"/>
              </a:ext>
            </a:extLst>
          </p:cNvPr>
          <p:cNvSpPr>
            <a:spLocks noGrp="1"/>
          </p:cNvSpPr>
          <p:nvPr>
            <p:ph type="subTitle" idx="1"/>
          </p:nvPr>
        </p:nvSpPr>
        <p:spPr>
          <a:xfrm>
            <a:off x="2215045" y="5759612"/>
            <a:ext cx="8045373" cy="961863"/>
          </a:xfrm>
        </p:spPr>
        <p:txBody>
          <a:bodyPr>
            <a:normAutofit/>
          </a:bodyPr>
          <a:lstStyle/>
          <a:p>
            <a:r>
              <a:rPr lang="en-US" dirty="0" err="1"/>
              <a:t>Mwayi</a:t>
            </a:r>
            <a:r>
              <a:rPr lang="en-US" dirty="0"/>
              <a:t> </a:t>
            </a:r>
            <a:r>
              <a:rPr lang="en-US" dirty="0" err="1"/>
              <a:t>mchuchu</a:t>
            </a:r>
            <a:endParaRPr lang="en-US" dirty="0"/>
          </a:p>
          <a:p>
            <a:r>
              <a:rPr lang="en-US" dirty="0"/>
              <a:t>Adjunct staff associate</a:t>
            </a:r>
          </a:p>
        </p:txBody>
      </p:sp>
    </p:spTree>
    <p:extLst>
      <p:ext uri="{BB962C8B-B14F-4D97-AF65-F5344CB8AC3E}">
        <p14:creationId xmlns:p14="http://schemas.microsoft.com/office/powerpoint/2010/main" val="2892201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48410-D025-4A44-951B-B1F9824C6160}"/>
              </a:ext>
            </a:extLst>
          </p:cNvPr>
          <p:cNvSpPr>
            <a:spLocks noGrp="1"/>
          </p:cNvSpPr>
          <p:nvPr>
            <p:ph type="title"/>
          </p:nvPr>
        </p:nvSpPr>
        <p:spPr/>
        <p:txBody>
          <a:bodyPr/>
          <a:lstStyle/>
          <a:p>
            <a:pPr algn="ctr"/>
            <a:r>
              <a:rPr lang="en-US" dirty="0"/>
              <a:t>scope </a:t>
            </a:r>
          </a:p>
        </p:txBody>
      </p:sp>
      <p:sp>
        <p:nvSpPr>
          <p:cNvPr id="3" name="Content Placeholder 2">
            <a:extLst>
              <a:ext uri="{FF2B5EF4-FFF2-40B4-BE49-F238E27FC236}">
                <a16:creationId xmlns:a16="http://schemas.microsoft.com/office/drawing/2014/main" id="{2A845053-EECF-4ACF-83CE-17CD04CE52CC}"/>
              </a:ext>
            </a:extLst>
          </p:cNvPr>
          <p:cNvSpPr>
            <a:spLocks noGrp="1"/>
          </p:cNvSpPr>
          <p:nvPr>
            <p:ph idx="1"/>
          </p:nvPr>
        </p:nvSpPr>
        <p:spPr/>
        <p:txBody>
          <a:bodyPr/>
          <a:lstStyle/>
          <a:p>
            <a:r>
              <a:rPr lang="en-US" dirty="0"/>
              <a:t>Understanding a system and defining MIS </a:t>
            </a:r>
          </a:p>
          <a:p>
            <a:r>
              <a:rPr lang="en-US" dirty="0"/>
              <a:t>Main Concepts of MIS</a:t>
            </a:r>
          </a:p>
          <a:p>
            <a:r>
              <a:rPr lang="en-US" dirty="0"/>
              <a:t>The role of MIS and its application in business</a:t>
            </a:r>
          </a:p>
          <a:p>
            <a:r>
              <a:rPr lang="en-US" dirty="0"/>
              <a:t> MIS Designs and functions </a:t>
            </a:r>
          </a:p>
          <a:p>
            <a:endParaRPr lang="en-US" dirty="0"/>
          </a:p>
          <a:p>
            <a:endParaRPr lang="en-US" dirty="0"/>
          </a:p>
          <a:p>
            <a:endParaRPr lang="en-US" dirty="0"/>
          </a:p>
        </p:txBody>
      </p:sp>
    </p:spTree>
    <p:extLst>
      <p:ext uri="{BB962C8B-B14F-4D97-AF65-F5344CB8AC3E}">
        <p14:creationId xmlns:p14="http://schemas.microsoft.com/office/powerpoint/2010/main" val="929456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E2B59-19E2-47E0-93B6-73D6EE0699BF}"/>
              </a:ext>
            </a:extLst>
          </p:cNvPr>
          <p:cNvSpPr>
            <a:spLocks noGrp="1"/>
          </p:cNvSpPr>
          <p:nvPr>
            <p:ph type="title"/>
          </p:nvPr>
        </p:nvSpPr>
        <p:spPr/>
        <p:txBody>
          <a:bodyPr/>
          <a:lstStyle/>
          <a:p>
            <a:pPr algn="ctr"/>
            <a:r>
              <a:rPr lang="en-US" dirty="0"/>
              <a:t>What is a system</a:t>
            </a:r>
          </a:p>
        </p:txBody>
      </p:sp>
      <p:sp>
        <p:nvSpPr>
          <p:cNvPr id="3" name="Content Placeholder 2">
            <a:extLst>
              <a:ext uri="{FF2B5EF4-FFF2-40B4-BE49-F238E27FC236}">
                <a16:creationId xmlns:a16="http://schemas.microsoft.com/office/drawing/2014/main" id="{52BAA25C-0ACB-44B8-A053-85EDE1B9BB75}"/>
              </a:ext>
            </a:extLst>
          </p:cNvPr>
          <p:cNvSpPr>
            <a:spLocks noGrp="1"/>
          </p:cNvSpPr>
          <p:nvPr>
            <p:ph idx="1"/>
          </p:nvPr>
        </p:nvSpPr>
        <p:spPr>
          <a:xfrm>
            <a:off x="1251678" y="1537253"/>
            <a:ext cx="10178322" cy="4664764"/>
          </a:xfrm>
        </p:spPr>
        <p:txBody>
          <a:bodyPr/>
          <a:lstStyle/>
          <a:p>
            <a:r>
              <a:rPr lang="en-US" dirty="0"/>
              <a:t>A system is an ordinary grouping of interdependent components linked together according to a plan to achieve an object or objectives.</a:t>
            </a:r>
          </a:p>
          <a:p>
            <a:r>
              <a:rPr lang="en-US" dirty="0"/>
              <a:t>A system comprise of</a:t>
            </a:r>
          </a:p>
          <a:p>
            <a:pPr lvl="1"/>
            <a:r>
              <a:rPr lang="en-US" dirty="0"/>
              <a:t>A design to achieve intended objective</a:t>
            </a:r>
          </a:p>
          <a:p>
            <a:pPr lvl="1"/>
            <a:r>
              <a:rPr lang="en-US" dirty="0"/>
              <a:t>Components must be interrelated and interdependent </a:t>
            </a:r>
          </a:p>
          <a:p>
            <a:pPr lvl="1"/>
            <a:r>
              <a:rPr lang="en-US" dirty="0"/>
              <a:t>Concentrate on the objectives of the organization than that of sub system</a:t>
            </a:r>
          </a:p>
          <a:p>
            <a:pPr lvl="1"/>
            <a:r>
              <a:rPr lang="en-US" dirty="0"/>
              <a:t>System structure</a:t>
            </a:r>
          </a:p>
          <a:p>
            <a:pPr lvl="1"/>
            <a:r>
              <a:rPr lang="en-US" dirty="0"/>
              <a:t>Behavior (input, processing then output)</a:t>
            </a:r>
          </a:p>
          <a:p>
            <a:pPr lvl="1"/>
            <a:r>
              <a:rPr lang="en-US" dirty="0"/>
              <a:t>Interconnectivity of the elements</a:t>
            </a:r>
          </a:p>
          <a:p>
            <a:pPr lvl="1"/>
            <a:r>
              <a:rPr lang="en-US" dirty="0"/>
              <a:t>Functions or group of functions</a:t>
            </a:r>
          </a:p>
          <a:p>
            <a:pPr marL="457200" lvl="1" indent="0">
              <a:buNone/>
            </a:pPr>
            <a:endParaRPr lang="en-US" dirty="0"/>
          </a:p>
          <a:p>
            <a:pPr lvl="1"/>
            <a:endParaRPr lang="en-US" dirty="0"/>
          </a:p>
        </p:txBody>
      </p:sp>
    </p:spTree>
    <p:extLst>
      <p:ext uri="{BB962C8B-B14F-4D97-AF65-F5344CB8AC3E}">
        <p14:creationId xmlns:p14="http://schemas.microsoft.com/office/powerpoint/2010/main" val="1275529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ACFD8-8C15-47D8-8E6F-A7AEEC481421}"/>
              </a:ext>
            </a:extLst>
          </p:cNvPr>
          <p:cNvSpPr>
            <a:spLocks noGrp="1"/>
          </p:cNvSpPr>
          <p:nvPr>
            <p:ph type="title"/>
          </p:nvPr>
        </p:nvSpPr>
        <p:spPr/>
        <p:txBody>
          <a:bodyPr/>
          <a:lstStyle/>
          <a:p>
            <a:r>
              <a:rPr lang="en-US" dirty="0"/>
              <a:t>Elements of a computer system</a:t>
            </a:r>
          </a:p>
        </p:txBody>
      </p:sp>
      <p:sp>
        <p:nvSpPr>
          <p:cNvPr id="3" name="Content Placeholder 2">
            <a:extLst>
              <a:ext uri="{FF2B5EF4-FFF2-40B4-BE49-F238E27FC236}">
                <a16:creationId xmlns:a16="http://schemas.microsoft.com/office/drawing/2014/main" id="{97244C0F-7C49-4805-9922-E96A56373BE5}"/>
              </a:ext>
            </a:extLst>
          </p:cNvPr>
          <p:cNvSpPr>
            <a:spLocks noGrp="1"/>
          </p:cNvSpPr>
          <p:nvPr>
            <p:ph idx="1"/>
          </p:nvPr>
        </p:nvSpPr>
        <p:spPr>
          <a:xfrm>
            <a:off x="1251678" y="2286001"/>
            <a:ext cx="10178322" cy="4022034"/>
          </a:xfrm>
        </p:spPr>
        <p:txBody>
          <a:bodyPr>
            <a:normAutofit/>
          </a:bodyPr>
          <a:lstStyle/>
          <a:p>
            <a:r>
              <a:rPr lang="en-US" dirty="0"/>
              <a:t>Elements or components of a system </a:t>
            </a:r>
          </a:p>
          <a:p>
            <a:r>
              <a:rPr lang="en-US" dirty="0"/>
              <a:t> Input - Capturing and assembling (Logical presentation)</a:t>
            </a:r>
          </a:p>
          <a:p>
            <a:r>
              <a:rPr lang="en-US" dirty="0"/>
              <a:t> Processor - transformation </a:t>
            </a:r>
          </a:p>
          <a:p>
            <a:r>
              <a:rPr lang="en-US" dirty="0"/>
              <a:t> Outputs - value to user </a:t>
            </a:r>
          </a:p>
          <a:p>
            <a:r>
              <a:rPr lang="en-US" dirty="0"/>
              <a:t> Controls - guides the system (</a:t>
            </a:r>
            <a:r>
              <a:rPr lang="en-US" dirty="0" err="1"/>
              <a:t>eg</a:t>
            </a:r>
            <a:r>
              <a:rPr lang="en-US" dirty="0"/>
              <a:t> max min value in a number field)</a:t>
            </a:r>
          </a:p>
          <a:p>
            <a:r>
              <a:rPr lang="en-US" dirty="0"/>
              <a:t> Feedback - actual against standard </a:t>
            </a:r>
          </a:p>
          <a:p>
            <a:r>
              <a:rPr lang="en-US" dirty="0"/>
              <a:t> Environment (</a:t>
            </a:r>
            <a:r>
              <a:rPr lang="en-US" dirty="0" err="1"/>
              <a:t>eg</a:t>
            </a:r>
            <a:r>
              <a:rPr lang="en-US" dirty="0"/>
              <a:t> if it’s a cloud based system it will work on the internet network environment)</a:t>
            </a:r>
          </a:p>
          <a:p>
            <a:r>
              <a:rPr lang="en-US" dirty="0"/>
              <a:t> Boundaries (system limitations in relation to the organization and environment)</a:t>
            </a:r>
          </a:p>
        </p:txBody>
      </p:sp>
    </p:spTree>
    <p:extLst>
      <p:ext uri="{BB962C8B-B14F-4D97-AF65-F5344CB8AC3E}">
        <p14:creationId xmlns:p14="http://schemas.microsoft.com/office/powerpoint/2010/main" val="1920510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7FE57-8A04-449E-AFD9-B91BA6350143}"/>
              </a:ext>
            </a:extLst>
          </p:cNvPr>
          <p:cNvSpPr>
            <a:spLocks noGrp="1"/>
          </p:cNvSpPr>
          <p:nvPr>
            <p:ph type="title"/>
          </p:nvPr>
        </p:nvSpPr>
        <p:spPr/>
        <p:txBody>
          <a:bodyPr/>
          <a:lstStyle/>
          <a:p>
            <a:pPr algn="ctr"/>
            <a:r>
              <a:rPr lang="en-US" dirty="0"/>
              <a:t>MIS DEFINED </a:t>
            </a:r>
          </a:p>
        </p:txBody>
      </p:sp>
      <p:sp>
        <p:nvSpPr>
          <p:cNvPr id="3" name="Content Placeholder 2">
            <a:extLst>
              <a:ext uri="{FF2B5EF4-FFF2-40B4-BE49-F238E27FC236}">
                <a16:creationId xmlns:a16="http://schemas.microsoft.com/office/drawing/2014/main" id="{7A016FF1-31BD-4927-90EC-7D9456D4E4B2}"/>
              </a:ext>
            </a:extLst>
          </p:cNvPr>
          <p:cNvSpPr>
            <a:spLocks noGrp="1"/>
          </p:cNvSpPr>
          <p:nvPr>
            <p:ph idx="1"/>
          </p:nvPr>
        </p:nvSpPr>
        <p:spPr>
          <a:xfrm>
            <a:off x="1251678" y="1484243"/>
            <a:ext cx="10178322" cy="4757531"/>
          </a:xfrm>
        </p:spPr>
        <p:txBody>
          <a:bodyPr/>
          <a:lstStyle/>
          <a:p>
            <a:r>
              <a:rPr lang="en-US" dirty="0"/>
              <a:t>MIS is a computer based system that helps the organization, especially the managers, to organize and evaluate information and data, and provide information in a timely and efficient manner. </a:t>
            </a:r>
          </a:p>
          <a:p>
            <a:r>
              <a:rPr lang="en-US" dirty="0"/>
              <a:t>Management Information Systems (MIS) is the study of people, technology, organizations, and the relationships among them.</a:t>
            </a:r>
          </a:p>
          <a:p>
            <a:r>
              <a:rPr lang="en-US" dirty="0"/>
              <a:t> help firms realize maximum benefit from investment in personnel, equipment, and business processes.</a:t>
            </a:r>
          </a:p>
          <a:p>
            <a:r>
              <a:rPr lang="en-US" dirty="0"/>
              <a:t>a people-oriented field with an emphasis on service through technology.</a:t>
            </a:r>
          </a:p>
          <a:p>
            <a:r>
              <a:rPr lang="en-US" dirty="0"/>
              <a:t>If you have an interest in technology and have the desire to use technology to improve people’s lives, a degree in MIS may be for you. (but here in our ICT for tourism we only apply)</a:t>
            </a:r>
          </a:p>
          <a:p>
            <a:r>
              <a:rPr lang="en-US" dirty="0"/>
              <a:t>Basically a collective name referring to systems that harness the value of information</a:t>
            </a:r>
          </a:p>
          <a:p>
            <a:endParaRPr lang="en-US" dirty="0"/>
          </a:p>
        </p:txBody>
      </p:sp>
    </p:spTree>
    <p:extLst>
      <p:ext uri="{BB962C8B-B14F-4D97-AF65-F5344CB8AC3E}">
        <p14:creationId xmlns:p14="http://schemas.microsoft.com/office/powerpoint/2010/main" val="31264882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544AD-9DAA-4F85-9882-9F043DC015AB}"/>
              </a:ext>
            </a:extLst>
          </p:cNvPr>
          <p:cNvSpPr>
            <a:spLocks noGrp="1"/>
          </p:cNvSpPr>
          <p:nvPr>
            <p:ph type="title"/>
          </p:nvPr>
        </p:nvSpPr>
        <p:spPr>
          <a:xfrm>
            <a:off x="1251678" y="382385"/>
            <a:ext cx="10178322" cy="1101858"/>
          </a:xfrm>
        </p:spPr>
        <p:txBody>
          <a:bodyPr/>
          <a:lstStyle/>
          <a:p>
            <a:pPr algn="ctr"/>
            <a:r>
              <a:rPr lang="en-US" dirty="0"/>
              <a:t>MIS THE KEY WORDS </a:t>
            </a:r>
          </a:p>
        </p:txBody>
      </p:sp>
      <p:sp>
        <p:nvSpPr>
          <p:cNvPr id="3" name="Content Placeholder 2">
            <a:extLst>
              <a:ext uri="{FF2B5EF4-FFF2-40B4-BE49-F238E27FC236}">
                <a16:creationId xmlns:a16="http://schemas.microsoft.com/office/drawing/2014/main" id="{8B11B8AE-6A56-42D8-B712-504DB07242BE}"/>
              </a:ext>
            </a:extLst>
          </p:cNvPr>
          <p:cNvSpPr>
            <a:spLocks noGrp="1"/>
          </p:cNvSpPr>
          <p:nvPr>
            <p:ph idx="1"/>
          </p:nvPr>
        </p:nvSpPr>
        <p:spPr>
          <a:xfrm>
            <a:off x="1755260" y="1808923"/>
            <a:ext cx="8886235" cy="3593591"/>
          </a:xfrm>
        </p:spPr>
        <p:txBody>
          <a:bodyPr/>
          <a:lstStyle/>
          <a:p>
            <a:r>
              <a:rPr lang="en-US" b="1" dirty="0"/>
              <a:t>Management focusing on the ultimate use of such information systems for managerial decision making</a:t>
            </a:r>
          </a:p>
          <a:p>
            <a:r>
              <a:rPr lang="en-US" b="1" dirty="0"/>
              <a:t>Information stressing on processed data in the context in which it is used by end users;</a:t>
            </a:r>
          </a:p>
          <a:p>
            <a:r>
              <a:rPr lang="en-US" b="1" dirty="0"/>
              <a:t>System emphasizing a fair degree of integration and a holistic view;</a:t>
            </a:r>
          </a:p>
          <a:p>
            <a:endParaRPr lang="en-US" b="1" dirty="0"/>
          </a:p>
          <a:p>
            <a:r>
              <a:rPr lang="en-US" b="1" dirty="0"/>
              <a:t>IN SIMPLE WORDS MIS CAN BE DEFINED AS</a:t>
            </a:r>
          </a:p>
          <a:p>
            <a:r>
              <a:rPr lang="en-US" b="1" dirty="0"/>
              <a:t>A system or process that provides information necessary to manage organizations effectively. </a:t>
            </a:r>
          </a:p>
          <a:p>
            <a:pPr marL="0" indent="0">
              <a:buNone/>
            </a:pPr>
            <a:endParaRPr lang="en-US" b="1" dirty="0"/>
          </a:p>
          <a:p>
            <a:endParaRPr lang="en-US" b="1" dirty="0"/>
          </a:p>
        </p:txBody>
      </p:sp>
    </p:spTree>
    <p:extLst>
      <p:ext uri="{BB962C8B-B14F-4D97-AF65-F5344CB8AC3E}">
        <p14:creationId xmlns:p14="http://schemas.microsoft.com/office/powerpoint/2010/main" val="10994768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FA608-7906-4712-BD6A-5050EF79BDF9}"/>
              </a:ext>
            </a:extLst>
          </p:cNvPr>
          <p:cNvSpPr>
            <a:spLocks noGrp="1"/>
          </p:cNvSpPr>
          <p:nvPr>
            <p:ph type="title"/>
          </p:nvPr>
        </p:nvSpPr>
        <p:spPr/>
        <p:txBody>
          <a:bodyPr/>
          <a:lstStyle/>
          <a:p>
            <a:pPr algn="ctr"/>
            <a:r>
              <a:rPr lang="en-US" dirty="0"/>
              <a:t>Mis concepts</a:t>
            </a:r>
          </a:p>
        </p:txBody>
      </p:sp>
      <p:sp>
        <p:nvSpPr>
          <p:cNvPr id="3" name="Content Placeholder 2">
            <a:extLst>
              <a:ext uri="{FF2B5EF4-FFF2-40B4-BE49-F238E27FC236}">
                <a16:creationId xmlns:a16="http://schemas.microsoft.com/office/drawing/2014/main" id="{2CF15707-899E-4FDA-8F98-6F4EC294DA4C}"/>
              </a:ext>
            </a:extLst>
          </p:cNvPr>
          <p:cNvSpPr>
            <a:spLocks noGrp="1"/>
          </p:cNvSpPr>
          <p:nvPr>
            <p:ph idx="1"/>
          </p:nvPr>
        </p:nvSpPr>
        <p:spPr>
          <a:xfrm>
            <a:off x="762000" y="1523999"/>
            <a:ext cx="11125200" cy="5088835"/>
          </a:xfrm>
        </p:spPr>
        <p:txBody>
          <a:bodyPr>
            <a:normAutofit/>
          </a:bodyPr>
          <a:lstStyle/>
          <a:p>
            <a:r>
              <a:rPr lang="en-US" dirty="0"/>
              <a:t>MIS is not new, only the computerization part is new , before computers MIS techniques existed to supply managers with the information that would permit them to plan and control business operations. The computer has added on more dimensions such as speed, accuracy and increased volume of data that permit the consideration of more alternatives in decision-making process.</a:t>
            </a:r>
          </a:p>
          <a:p>
            <a:r>
              <a:rPr lang="en-US" dirty="0"/>
              <a:t>MIS as a computer system it includes;</a:t>
            </a:r>
          </a:p>
          <a:p>
            <a:r>
              <a:rPr lang="en-US" dirty="0"/>
              <a:t>Data banks (databases), </a:t>
            </a:r>
          </a:p>
          <a:p>
            <a:r>
              <a:rPr lang="en-US" dirty="0"/>
              <a:t>users (managers, Operators), </a:t>
            </a:r>
          </a:p>
          <a:p>
            <a:r>
              <a:rPr lang="en-US" dirty="0"/>
              <a:t>software (that processes data and produce reports to help make the decisions), </a:t>
            </a:r>
          </a:p>
          <a:p>
            <a:r>
              <a:rPr lang="en-US" dirty="0"/>
              <a:t>All hardware necessary (computer and network plus machinery hardware)</a:t>
            </a:r>
          </a:p>
          <a:p>
            <a:r>
              <a:rPr lang="en-US" dirty="0"/>
              <a:t>Combination of the above will enable MIS to scientifically collect, store, process and communicate information relating to various activities across the organization.</a:t>
            </a:r>
          </a:p>
          <a:p>
            <a:endParaRPr lang="en-US" dirty="0"/>
          </a:p>
        </p:txBody>
      </p:sp>
    </p:spTree>
    <p:extLst>
      <p:ext uri="{BB962C8B-B14F-4D97-AF65-F5344CB8AC3E}">
        <p14:creationId xmlns:p14="http://schemas.microsoft.com/office/powerpoint/2010/main" val="2643141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326AF-01BC-489D-A7E5-5E504D9D23A6}"/>
              </a:ext>
            </a:extLst>
          </p:cNvPr>
          <p:cNvSpPr>
            <a:spLocks noGrp="1"/>
          </p:cNvSpPr>
          <p:nvPr>
            <p:ph type="title"/>
          </p:nvPr>
        </p:nvSpPr>
        <p:spPr/>
        <p:txBody>
          <a:bodyPr/>
          <a:lstStyle/>
          <a:p>
            <a:r>
              <a:rPr lang="en-US" dirty="0"/>
              <a:t>MIS and the business industry</a:t>
            </a:r>
          </a:p>
        </p:txBody>
      </p:sp>
      <p:sp>
        <p:nvSpPr>
          <p:cNvPr id="3" name="Content Placeholder 2">
            <a:extLst>
              <a:ext uri="{FF2B5EF4-FFF2-40B4-BE49-F238E27FC236}">
                <a16:creationId xmlns:a16="http://schemas.microsoft.com/office/drawing/2014/main" id="{58B8F103-0E0F-4B95-BEB0-FE9787B95E4F}"/>
              </a:ext>
            </a:extLst>
          </p:cNvPr>
          <p:cNvSpPr>
            <a:spLocks noGrp="1"/>
          </p:cNvSpPr>
          <p:nvPr>
            <p:ph idx="1"/>
          </p:nvPr>
        </p:nvSpPr>
        <p:spPr>
          <a:xfrm>
            <a:off x="762001" y="1311964"/>
            <a:ext cx="11164956" cy="5546035"/>
          </a:xfrm>
        </p:spPr>
        <p:txBody>
          <a:bodyPr>
            <a:normAutofit lnSpcReduction="10000"/>
          </a:bodyPr>
          <a:lstStyle/>
          <a:p>
            <a:r>
              <a:rPr lang="en-US" dirty="0"/>
              <a:t>As a business grows in size, the management of information and the decisions based on such data get more complicated.</a:t>
            </a:r>
          </a:p>
          <a:p>
            <a:r>
              <a:rPr lang="en-US" dirty="0"/>
              <a:t>Businesses use information systems at all levels of operation to collect, process, and store data. Management aggregates and disseminates this data in the form of information needed to carry out the daily operations of business.</a:t>
            </a:r>
          </a:p>
          <a:p>
            <a:r>
              <a:rPr lang="en-US" dirty="0"/>
              <a:t>A travel agent may use a web based MIS for customer booking,  and use the same MIS to plan for specialized services based on the data on the most frequent  booked trips and customer type.</a:t>
            </a:r>
          </a:p>
          <a:p>
            <a:r>
              <a:rPr lang="en-US" dirty="0"/>
              <a:t>Businesses concentrate on the alignment of MIS with business goals to achieve competitive advantage over other businesses. What is a competitive advantage?</a:t>
            </a:r>
          </a:p>
          <a:p>
            <a:r>
              <a:rPr lang="en-US" dirty="0"/>
              <a:t>MIS professionals create information systems for data management (i.e., storing, searching, and analyzing data). In other words these are key basic processes of each MIS to ensure business synergy </a:t>
            </a:r>
          </a:p>
          <a:p>
            <a:r>
              <a:rPr lang="en-US" dirty="0"/>
              <a:t>MIS Consolidates desperate data into meaningful information that aides decision making bottom up or reverse. (collective summarized reports)</a:t>
            </a:r>
          </a:p>
          <a:p>
            <a:r>
              <a:rPr lang="en-US" dirty="0"/>
              <a:t>helps managers evaluate progress and delegate work more efficiently, raising the overall efficiency of the organization.</a:t>
            </a:r>
          </a:p>
        </p:txBody>
      </p:sp>
    </p:spTree>
    <p:extLst>
      <p:ext uri="{BB962C8B-B14F-4D97-AF65-F5344CB8AC3E}">
        <p14:creationId xmlns:p14="http://schemas.microsoft.com/office/powerpoint/2010/main" val="870614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7B71395-A37F-4464-A932-1D05ABF56CB3}"/>
              </a:ext>
            </a:extLst>
          </p:cNvPr>
          <p:cNvPicPr/>
          <p:nvPr/>
        </p:nvPicPr>
        <p:blipFill rotWithShape="1">
          <a:blip r:embed="rId2"/>
          <a:srcRect l="24840" t="34778" r="22916" b="20753"/>
          <a:stretch/>
        </p:blipFill>
        <p:spPr bwMode="auto">
          <a:xfrm>
            <a:off x="1656195" y="3186688"/>
            <a:ext cx="9369288" cy="3593591"/>
          </a:xfrm>
          <a:prstGeom prst="rect">
            <a:avLst/>
          </a:prstGeom>
          <a:ln>
            <a:noFill/>
          </a:ln>
          <a:extLst>
            <a:ext uri="{53640926-AAD7-44D8-BBD7-CCE9431645EC}">
              <a14:shadowObscured xmlns:a14="http://schemas.microsoft.com/office/drawing/2010/main"/>
            </a:ext>
          </a:extLst>
        </p:spPr>
      </p:pic>
      <p:sp>
        <p:nvSpPr>
          <p:cNvPr id="2" name="Title 1">
            <a:extLst>
              <a:ext uri="{FF2B5EF4-FFF2-40B4-BE49-F238E27FC236}">
                <a16:creationId xmlns:a16="http://schemas.microsoft.com/office/drawing/2014/main" id="{BC198AFF-0B1B-4A48-B26F-AA15AC486BCB}"/>
              </a:ext>
            </a:extLst>
          </p:cNvPr>
          <p:cNvSpPr>
            <a:spLocks noGrp="1"/>
          </p:cNvSpPr>
          <p:nvPr>
            <p:ph type="title"/>
          </p:nvPr>
        </p:nvSpPr>
        <p:spPr>
          <a:xfrm>
            <a:off x="1251678" y="274577"/>
            <a:ext cx="10178322" cy="783806"/>
          </a:xfrm>
        </p:spPr>
        <p:txBody>
          <a:bodyPr>
            <a:normAutofit fontScale="90000"/>
          </a:bodyPr>
          <a:lstStyle/>
          <a:p>
            <a:r>
              <a:rPr lang="en-US" dirty="0"/>
              <a:t>Mis and the business industry </a:t>
            </a:r>
            <a:r>
              <a:rPr lang="en-US" sz="1600" dirty="0"/>
              <a:t>continued</a:t>
            </a:r>
            <a:endParaRPr lang="en-US" dirty="0"/>
          </a:p>
        </p:txBody>
      </p:sp>
      <p:sp>
        <p:nvSpPr>
          <p:cNvPr id="3" name="Content Placeholder 2">
            <a:extLst>
              <a:ext uri="{FF2B5EF4-FFF2-40B4-BE49-F238E27FC236}">
                <a16:creationId xmlns:a16="http://schemas.microsoft.com/office/drawing/2014/main" id="{56BD84CA-6F68-4496-A639-4E2A778CE7D1}"/>
              </a:ext>
            </a:extLst>
          </p:cNvPr>
          <p:cNvSpPr>
            <a:spLocks noGrp="1"/>
          </p:cNvSpPr>
          <p:nvPr>
            <p:ph idx="1"/>
          </p:nvPr>
        </p:nvSpPr>
        <p:spPr>
          <a:xfrm>
            <a:off x="1251678" y="1338471"/>
            <a:ext cx="10178322" cy="4541122"/>
          </a:xfrm>
        </p:spPr>
        <p:txBody>
          <a:bodyPr/>
          <a:lstStyle/>
          <a:p>
            <a:r>
              <a:rPr lang="en-US" dirty="0"/>
              <a:t>Technological Revolution (catch up with technology) everyone is going digital MIS is the current and future of business management. Future businesses won’t be able to run without MIS. In Malawi how can u run a big company without MIS (think of paying employs, keeping financial records, tax and other regulations) If its hard in Malawi think of a cashless country.</a:t>
            </a:r>
          </a:p>
          <a:p>
            <a:r>
              <a:rPr lang="en-US" dirty="0"/>
              <a:t>Explosion of Information (Too much information hard to make a decision)</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41628487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E471D9-24BF-4902-8E07-DD062988B2BE}"/>
              </a:ext>
            </a:extLst>
          </p:cNvPr>
          <p:cNvSpPr>
            <a:spLocks noGrp="1"/>
          </p:cNvSpPr>
          <p:nvPr>
            <p:ph type="title"/>
          </p:nvPr>
        </p:nvSpPr>
        <p:spPr>
          <a:xfrm>
            <a:off x="1251678" y="382385"/>
            <a:ext cx="10178322" cy="916328"/>
          </a:xfrm>
        </p:spPr>
        <p:txBody>
          <a:bodyPr/>
          <a:lstStyle/>
          <a:p>
            <a:r>
              <a:rPr lang="en-US" dirty="0"/>
              <a:t>Functions of mis</a:t>
            </a:r>
          </a:p>
        </p:txBody>
      </p:sp>
      <p:sp>
        <p:nvSpPr>
          <p:cNvPr id="3" name="Content Placeholder 2">
            <a:extLst>
              <a:ext uri="{FF2B5EF4-FFF2-40B4-BE49-F238E27FC236}">
                <a16:creationId xmlns:a16="http://schemas.microsoft.com/office/drawing/2014/main" id="{0C0A05AF-9CCD-4568-8AF4-F64C2B2C5094}"/>
              </a:ext>
            </a:extLst>
          </p:cNvPr>
          <p:cNvSpPr>
            <a:spLocks noGrp="1"/>
          </p:cNvSpPr>
          <p:nvPr>
            <p:ph idx="1"/>
          </p:nvPr>
        </p:nvSpPr>
        <p:spPr>
          <a:xfrm>
            <a:off x="761999" y="1139687"/>
            <a:ext cx="11085443" cy="5817704"/>
          </a:xfrm>
        </p:spPr>
        <p:txBody>
          <a:bodyPr/>
          <a:lstStyle/>
          <a:p>
            <a:r>
              <a:rPr lang="en-US" b="1" dirty="0"/>
              <a:t>Data Capturing:</a:t>
            </a:r>
          </a:p>
          <a:p>
            <a:pPr lvl="1"/>
            <a:r>
              <a:rPr lang="en-US" dirty="0"/>
              <a:t>MIS captures data from various internal and external sources of an organization. Data capturing may be manual or through </a:t>
            </a:r>
            <a:r>
              <a:rPr lang="en-US" dirty="0">
                <a:hlinkClick r:id="rId2" tooltip="Computer is an electronic device that is designed to work with Information."/>
              </a:rPr>
              <a:t>computer</a:t>
            </a:r>
            <a:r>
              <a:rPr lang="en-US" dirty="0"/>
              <a:t> terminals. End users, typically record data about transactions on some physical medium such as paper form or enter it directly into a computer system.</a:t>
            </a:r>
          </a:p>
          <a:p>
            <a:r>
              <a:rPr lang="en-US" b="1" dirty="0"/>
              <a:t>Processing of data:</a:t>
            </a:r>
          </a:p>
          <a:p>
            <a:pPr lvl="1"/>
            <a:r>
              <a:rPr lang="en-US" dirty="0"/>
              <a:t>The captured data is processed to convert it into the required management information. Processing of data is done by such activities as calculating, comparing, sorting, classifying and summarizing. </a:t>
            </a:r>
          </a:p>
          <a:p>
            <a:r>
              <a:rPr lang="en-US" b="1" dirty="0"/>
              <a:t>Storage of information:</a:t>
            </a:r>
          </a:p>
          <a:p>
            <a:pPr lvl="1"/>
            <a:r>
              <a:rPr lang="en-US" dirty="0"/>
              <a:t>MIS stores processed or unprocessed data for future use. If any information is not immediately required, it is saved as an organizational record.</a:t>
            </a:r>
          </a:p>
          <a:p>
            <a:r>
              <a:rPr lang="en-US" b="1" dirty="0"/>
              <a:t>Retrieval of information:</a:t>
            </a:r>
          </a:p>
          <a:p>
            <a:pPr lvl="1"/>
            <a:r>
              <a:rPr lang="en-US" dirty="0"/>
              <a:t>MIS retrieves information from its stores as and when required by various users. (usually on demand or as set)</a:t>
            </a:r>
          </a:p>
          <a:p>
            <a:r>
              <a:rPr lang="en-US" b="1" dirty="0"/>
              <a:t>Dissemination of Analyzed Management Information</a:t>
            </a:r>
          </a:p>
          <a:p>
            <a:pPr lvl="1"/>
            <a:r>
              <a:rPr lang="en-US" dirty="0"/>
              <a:t>Management information, which is a finished product of MIS, is disseminated to the users in the organization. It could be periodic, usually through reports.</a:t>
            </a:r>
          </a:p>
        </p:txBody>
      </p:sp>
    </p:spTree>
    <p:extLst>
      <p:ext uri="{BB962C8B-B14F-4D97-AF65-F5344CB8AC3E}">
        <p14:creationId xmlns:p14="http://schemas.microsoft.com/office/powerpoint/2010/main" val="10125006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4FEEF-0A0E-444D-8D7E-5DF66C022C9A}"/>
              </a:ext>
            </a:extLst>
          </p:cNvPr>
          <p:cNvSpPr>
            <a:spLocks noGrp="1"/>
          </p:cNvSpPr>
          <p:nvPr>
            <p:ph type="title"/>
          </p:nvPr>
        </p:nvSpPr>
        <p:spPr/>
        <p:txBody>
          <a:bodyPr/>
          <a:lstStyle/>
          <a:p>
            <a:r>
              <a:rPr lang="en-US"/>
              <a:t>Mis information </a:t>
            </a:r>
            <a:r>
              <a:rPr lang="en-US" dirty="0"/>
              <a:t>processing functions</a:t>
            </a:r>
          </a:p>
        </p:txBody>
      </p:sp>
      <p:sp>
        <p:nvSpPr>
          <p:cNvPr id="3" name="Content Placeholder 2">
            <a:extLst>
              <a:ext uri="{FF2B5EF4-FFF2-40B4-BE49-F238E27FC236}">
                <a16:creationId xmlns:a16="http://schemas.microsoft.com/office/drawing/2014/main" id="{D45F9C89-5290-4156-9930-47B798A3088D}"/>
              </a:ext>
            </a:extLst>
          </p:cNvPr>
          <p:cNvSpPr>
            <a:spLocks noGrp="1"/>
          </p:cNvSpPr>
          <p:nvPr>
            <p:ph idx="1"/>
          </p:nvPr>
        </p:nvSpPr>
        <p:spPr/>
        <p:txBody>
          <a:bodyPr/>
          <a:lstStyle/>
          <a:p>
            <a:pPr marL="0" indent="0">
              <a:buNone/>
            </a:pPr>
            <a:r>
              <a:rPr lang="en-US" dirty="0"/>
              <a:t>Information System Processing functions is part of the MIS design structure, responsible for</a:t>
            </a:r>
          </a:p>
          <a:p>
            <a:r>
              <a:rPr lang="en-US" dirty="0"/>
              <a:t> processing of transactions (payments, billing and invoices)</a:t>
            </a:r>
          </a:p>
          <a:p>
            <a:r>
              <a:rPr lang="en-US" dirty="0"/>
              <a:t> maintain master files (ensure all data is secured, and correlated in the master file)</a:t>
            </a:r>
          </a:p>
          <a:p>
            <a:r>
              <a:rPr lang="en-US" dirty="0"/>
              <a:t> produce reports (on demand and structured reports)</a:t>
            </a:r>
          </a:p>
          <a:p>
            <a:r>
              <a:rPr lang="en-US" dirty="0"/>
              <a:t> process enquiries (prospectus profiling </a:t>
            </a:r>
            <a:r>
              <a:rPr lang="en-US" dirty="0" err="1"/>
              <a:t>eg</a:t>
            </a:r>
            <a:r>
              <a:rPr lang="en-US" dirty="0"/>
              <a:t> by region, age group, product or service line which   products are within the most enquired)</a:t>
            </a:r>
          </a:p>
          <a:p>
            <a:r>
              <a:rPr lang="en-US" dirty="0"/>
              <a:t> process interactive support applications (such as feedback forms )</a:t>
            </a:r>
          </a:p>
        </p:txBody>
      </p:sp>
    </p:spTree>
    <p:extLst>
      <p:ext uri="{BB962C8B-B14F-4D97-AF65-F5344CB8AC3E}">
        <p14:creationId xmlns:p14="http://schemas.microsoft.com/office/powerpoint/2010/main" val="11424647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DDB9A-F5B9-44CB-9B48-0459AD287D8C}"/>
              </a:ext>
            </a:extLst>
          </p:cNvPr>
          <p:cNvSpPr>
            <a:spLocks noGrp="1"/>
          </p:cNvSpPr>
          <p:nvPr>
            <p:ph type="title"/>
          </p:nvPr>
        </p:nvSpPr>
        <p:spPr/>
        <p:txBody>
          <a:bodyPr/>
          <a:lstStyle/>
          <a:p>
            <a:r>
              <a:rPr lang="en-US" dirty="0"/>
              <a:t>Functional uses of mis</a:t>
            </a:r>
          </a:p>
        </p:txBody>
      </p:sp>
      <p:sp>
        <p:nvSpPr>
          <p:cNvPr id="3" name="Content Placeholder 2">
            <a:extLst>
              <a:ext uri="{FF2B5EF4-FFF2-40B4-BE49-F238E27FC236}">
                <a16:creationId xmlns:a16="http://schemas.microsoft.com/office/drawing/2014/main" id="{93D0003D-150E-40D3-8EEE-627467729C06}"/>
              </a:ext>
            </a:extLst>
          </p:cNvPr>
          <p:cNvSpPr>
            <a:spLocks noGrp="1"/>
          </p:cNvSpPr>
          <p:nvPr>
            <p:ph idx="1"/>
          </p:nvPr>
        </p:nvSpPr>
        <p:spPr>
          <a:xfrm>
            <a:off x="1251678" y="1974575"/>
            <a:ext cx="10178322" cy="3905018"/>
          </a:xfrm>
        </p:spPr>
        <p:txBody>
          <a:bodyPr/>
          <a:lstStyle/>
          <a:p>
            <a:r>
              <a:rPr lang="en-US" dirty="0"/>
              <a:t>Enhance :</a:t>
            </a:r>
          </a:p>
          <a:p>
            <a:pPr lvl="1"/>
            <a:r>
              <a:rPr lang="en-US" dirty="0"/>
              <a:t> Quality of our operations</a:t>
            </a:r>
          </a:p>
          <a:p>
            <a:pPr lvl="1"/>
            <a:r>
              <a:rPr lang="en-US" dirty="0"/>
              <a:t> Quality of our services</a:t>
            </a:r>
          </a:p>
          <a:p>
            <a:r>
              <a:rPr lang="en-US" dirty="0"/>
              <a:t>We achieve :</a:t>
            </a:r>
          </a:p>
          <a:p>
            <a:pPr lvl="1"/>
            <a:r>
              <a:rPr lang="en-US" dirty="0"/>
              <a:t> Efficiency</a:t>
            </a:r>
          </a:p>
          <a:p>
            <a:pPr lvl="1"/>
            <a:r>
              <a:rPr lang="en-US" dirty="0"/>
              <a:t> Transparency</a:t>
            </a:r>
          </a:p>
          <a:p>
            <a:pPr lvl="1"/>
            <a:r>
              <a:rPr lang="en-US" dirty="0"/>
              <a:t> Speedy Decision making</a:t>
            </a:r>
          </a:p>
        </p:txBody>
      </p:sp>
    </p:spTree>
    <p:extLst>
      <p:ext uri="{BB962C8B-B14F-4D97-AF65-F5344CB8AC3E}">
        <p14:creationId xmlns:p14="http://schemas.microsoft.com/office/powerpoint/2010/main" val="399013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5B0F7-2568-44E6-9B7D-88F66C2AF4BD}"/>
              </a:ext>
            </a:extLst>
          </p:cNvPr>
          <p:cNvSpPr>
            <a:spLocks noGrp="1"/>
          </p:cNvSpPr>
          <p:nvPr>
            <p:ph type="title"/>
          </p:nvPr>
        </p:nvSpPr>
        <p:spPr/>
        <p:txBody>
          <a:bodyPr/>
          <a:lstStyle/>
          <a:p>
            <a:r>
              <a:rPr lang="en-US" dirty="0"/>
              <a:t>Strategic Uses of MIS</a:t>
            </a:r>
            <a:br>
              <a:rPr lang="en-US" dirty="0"/>
            </a:br>
            <a:endParaRPr lang="en-US" dirty="0"/>
          </a:p>
        </p:txBody>
      </p:sp>
      <p:sp>
        <p:nvSpPr>
          <p:cNvPr id="3" name="Content Placeholder 2">
            <a:extLst>
              <a:ext uri="{FF2B5EF4-FFF2-40B4-BE49-F238E27FC236}">
                <a16:creationId xmlns:a16="http://schemas.microsoft.com/office/drawing/2014/main" id="{AA6057FA-C841-4FE4-A4F2-EE92598758A9}"/>
              </a:ext>
            </a:extLst>
          </p:cNvPr>
          <p:cNvSpPr>
            <a:spLocks noGrp="1"/>
          </p:cNvSpPr>
          <p:nvPr>
            <p:ph idx="1"/>
          </p:nvPr>
        </p:nvSpPr>
        <p:spPr>
          <a:xfrm>
            <a:off x="1251678" y="1874517"/>
            <a:ext cx="10178322" cy="4005075"/>
          </a:xfrm>
        </p:spPr>
        <p:txBody>
          <a:bodyPr>
            <a:normAutofit lnSpcReduction="10000"/>
          </a:bodyPr>
          <a:lstStyle/>
          <a:p>
            <a:r>
              <a:rPr lang="en-US" dirty="0"/>
              <a:t>Precise development of strategies, ( Can help organization set business growth strategies ) </a:t>
            </a:r>
            <a:r>
              <a:rPr lang="en-US" dirty="0" err="1"/>
              <a:t>eg</a:t>
            </a:r>
            <a:r>
              <a:rPr lang="en-US" dirty="0"/>
              <a:t> targets in terms of sales and or market share.  Based on financial performance reports trends for a number of previous years.</a:t>
            </a:r>
          </a:p>
          <a:p>
            <a:r>
              <a:rPr lang="en-US" dirty="0"/>
              <a:t>right information in right time to right people</a:t>
            </a:r>
          </a:p>
          <a:p>
            <a:pPr lvl="1"/>
            <a:r>
              <a:rPr lang="en-US" dirty="0"/>
              <a:t>planning, forecasting and monitoring (</a:t>
            </a:r>
            <a:r>
              <a:rPr lang="en-US" dirty="0" err="1"/>
              <a:t>eg</a:t>
            </a:r>
            <a:r>
              <a:rPr lang="en-US" dirty="0"/>
              <a:t> if sunbird have advanced 3months booking for 50% of all its services, it would easily forecast quarterly profit margin)</a:t>
            </a:r>
          </a:p>
          <a:p>
            <a:pPr lvl="1"/>
            <a:r>
              <a:rPr lang="en-US" dirty="0"/>
              <a:t> Problem solving (it is easy to solve a problem if you know the source) MIS will provide you with information on various business aspects. </a:t>
            </a:r>
            <a:r>
              <a:rPr lang="en-US" dirty="0" err="1"/>
              <a:t>Eg</a:t>
            </a:r>
            <a:r>
              <a:rPr lang="en-US" dirty="0"/>
              <a:t> Suppose MIS annual reports shows that the sales department fell short with 20% of the financial year target and that you had staff turnover of 30% within the marketing and sales department what would be your impression? </a:t>
            </a:r>
          </a:p>
          <a:p>
            <a:pPr lvl="1"/>
            <a:r>
              <a:rPr lang="en-US" dirty="0"/>
              <a:t> Decision-making (based on the above example report what possible strategic decisions would be put in place to ensure sales staff reach their target goals) </a:t>
            </a:r>
          </a:p>
          <a:p>
            <a:pPr marL="457200" lvl="1" indent="0">
              <a:buNone/>
            </a:pPr>
            <a:endParaRPr lang="en-US" dirty="0"/>
          </a:p>
        </p:txBody>
      </p:sp>
    </p:spTree>
    <p:extLst>
      <p:ext uri="{BB962C8B-B14F-4D97-AF65-F5344CB8AC3E}">
        <p14:creationId xmlns:p14="http://schemas.microsoft.com/office/powerpoint/2010/main" val="2820434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57618-887E-4323-A808-370B395FCDD6}"/>
              </a:ext>
            </a:extLst>
          </p:cNvPr>
          <p:cNvSpPr>
            <a:spLocks noGrp="1"/>
          </p:cNvSpPr>
          <p:nvPr>
            <p:ph type="title"/>
          </p:nvPr>
        </p:nvSpPr>
        <p:spPr>
          <a:xfrm>
            <a:off x="1251678" y="325106"/>
            <a:ext cx="10178322" cy="1492132"/>
          </a:xfrm>
        </p:spPr>
        <p:txBody>
          <a:bodyPr/>
          <a:lstStyle/>
          <a:p>
            <a:pPr algn="ctr"/>
            <a:r>
              <a:rPr lang="en-US" dirty="0"/>
              <a:t>Designs OF MIS</a:t>
            </a:r>
          </a:p>
        </p:txBody>
      </p:sp>
      <p:sp>
        <p:nvSpPr>
          <p:cNvPr id="3" name="Content Placeholder 2">
            <a:extLst>
              <a:ext uri="{FF2B5EF4-FFF2-40B4-BE49-F238E27FC236}">
                <a16:creationId xmlns:a16="http://schemas.microsoft.com/office/drawing/2014/main" id="{B7133CD7-40BE-41D0-A333-97631F6207C8}"/>
              </a:ext>
            </a:extLst>
          </p:cNvPr>
          <p:cNvSpPr>
            <a:spLocks noGrp="1"/>
          </p:cNvSpPr>
          <p:nvPr>
            <p:ph idx="1"/>
          </p:nvPr>
        </p:nvSpPr>
        <p:spPr>
          <a:xfrm>
            <a:off x="861391" y="1683026"/>
            <a:ext cx="5645426" cy="5174973"/>
          </a:xfrm>
        </p:spPr>
        <p:txBody>
          <a:bodyPr>
            <a:normAutofit/>
          </a:bodyPr>
          <a:lstStyle/>
          <a:p>
            <a:r>
              <a:rPr lang="en-US" dirty="0"/>
              <a:t>Before going into the design lets have a look at the system development cycle</a:t>
            </a:r>
          </a:p>
          <a:p>
            <a:r>
              <a:rPr lang="en-US" dirty="0"/>
              <a:t>MIS are designed to provide past, present, and future routine information appropriate for planning, organizing, and controlling the operations of a functional area in an organization </a:t>
            </a:r>
          </a:p>
          <a:p>
            <a:r>
              <a:rPr lang="en-US" dirty="0"/>
              <a:t>MIS is made up of 5 main components</a:t>
            </a:r>
          </a:p>
          <a:p>
            <a:r>
              <a:rPr lang="en-US" dirty="0"/>
              <a:t>Hardware,</a:t>
            </a:r>
          </a:p>
          <a:p>
            <a:r>
              <a:rPr lang="en-US" dirty="0"/>
              <a:t>Software </a:t>
            </a:r>
          </a:p>
          <a:p>
            <a:r>
              <a:rPr lang="en-US" dirty="0"/>
              <a:t>Data</a:t>
            </a:r>
          </a:p>
          <a:p>
            <a:r>
              <a:rPr lang="en-US" dirty="0"/>
              <a:t>Procedures </a:t>
            </a:r>
          </a:p>
          <a:p>
            <a:r>
              <a:rPr lang="en-US" dirty="0"/>
              <a:t>People</a:t>
            </a:r>
          </a:p>
        </p:txBody>
      </p:sp>
      <p:pic>
        <p:nvPicPr>
          <p:cNvPr id="5" name="Picture 4">
            <a:extLst>
              <a:ext uri="{FF2B5EF4-FFF2-40B4-BE49-F238E27FC236}">
                <a16:creationId xmlns:a16="http://schemas.microsoft.com/office/drawing/2014/main" id="{715381B3-4DFB-40B3-90D0-7BA112192380}"/>
              </a:ext>
            </a:extLst>
          </p:cNvPr>
          <p:cNvPicPr/>
          <p:nvPr/>
        </p:nvPicPr>
        <p:blipFill rotWithShape="1">
          <a:blip r:embed="rId2"/>
          <a:srcRect l="30128" t="38483" r="26443" b="17902"/>
          <a:stretch/>
        </p:blipFill>
        <p:spPr bwMode="auto">
          <a:xfrm>
            <a:off x="6506817" y="1696278"/>
            <a:ext cx="5313470" cy="4849868"/>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1670090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A1767-89EE-437D-A9CD-31B371ACAC69}"/>
              </a:ext>
            </a:extLst>
          </p:cNvPr>
          <p:cNvSpPr>
            <a:spLocks noGrp="1"/>
          </p:cNvSpPr>
          <p:nvPr>
            <p:ph type="title"/>
          </p:nvPr>
        </p:nvSpPr>
        <p:spPr/>
        <p:txBody>
          <a:bodyPr/>
          <a:lstStyle/>
          <a:p>
            <a:pPr algn="ctr"/>
            <a:r>
              <a:rPr lang="en-US" dirty="0"/>
              <a:t>The MIS DESIGN THEORY</a:t>
            </a:r>
          </a:p>
        </p:txBody>
      </p:sp>
      <p:sp>
        <p:nvSpPr>
          <p:cNvPr id="3" name="Content Placeholder 2">
            <a:extLst>
              <a:ext uri="{FF2B5EF4-FFF2-40B4-BE49-F238E27FC236}">
                <a16:creationId xmlns:a16="http://schemas.microsoft.com/office/drawing/2014/main" id="{4F4BB4A1-0599-4083-B655-78F3C8D3E9AD}"/>
              </a:ext>
            </a:extLst>
          </p:cNvPr>
          <p:cNvSpPr>
            <a:spLocks noGrp="1"/>
          </p:cNvSpPr>
          <p:nvPr>
            <p:ph idx="1"/>
          </p:nvPr>
        </p:nvSpPr>
        <p:spPr>
          <a:xfrm>
            <a:off x="914400" y="1696277"/>
            <a:ext cx="5844209" cy="4996071"/>
          </a:xfrm>
        </p:spPr>
        <p:txBody>
          <a:bodyPr>
            <a:normAutofit fontScale="92500" lnSpcReduction="20000"/>
          </a:bodyPr>
          <a:lstStyle/>
          <a:p>
            <a:r>
              <a:rPr lang="en-US" dirty="0"/>
              <a:t>A management information system (MIS) is designed to provide information for use by different types of managers. </a:t>
            </a:r>
          </a:p>
          <a:p>
            <a:r>
              <a:rPr lang="en-US" dirty="0"/>
              <a:t>This type of system can create reports that meet the needs of managers at different levels. </a:t>
            </a:r>
          </a:p>
          <a:p>
            <a:r>
              <a:rPr lang="en-US" dirty="0"/>
              <a:t> Senior-level managers need different types of information than mid- or low-level managers. These people may need entirely different types of information, or to view the same type of information in unique ways.</a:t>
            </a:r>
          </a:p>
          <a:p>
            <a:r>
              <a:rPr lang="en-US" dirty="0"/>
              <a:t>Senior managers might be interested at business overall performance, (profit / loss)</a:t>
            </a:r>
          </a:p>
          <a:p>
            <a:r>
              <a:rPr lang="en-US" dirty="0"/>
              <a:t>Line manager (quality) assurance will be interested in number of complaints and product returns against number of complements or positive product / service rating.</a:t>
            </a:r>
          </a:p>
        </p:txBody>
      </p:sp>
      <p:sp>
        <p:nvSpPr>
          <p:cNvPr id="4" name="TextBox 3">
            <a:extLst>
              <a:ext uri="{FF2B5EF4-FFF2-40B4-BE49-F238E27FC236}">
                <a16:creationId xmlns:a16="http://schemas.microsoft.com/office/drawing/2014/main" id="{83BFE64B-B139-4687-8D8B-6E88CB25E011}"/>
              </a:ext>
            </a:extLst>
          </p:cNvPr>
          <p:cNvSpPr txBox="1"/>
          <p:nvPr/>
        </p:nvSpPr>
        <p:spPr>
          <a:xfrm>
            <a:off x="6758609" y="1497496"/>
            <a:ext cx="5008669" cy="3785652"/>
          </a:xfrm>
          <a:prstGeom prst="rect">
            <a:avLst/>
          </a:prstGeom>
          <a:noFill/>
        </p:spPr>
        <p:txBody>
          <a:bodyPr wrap="square" rtlCol="0">
            <a:spAutoFit/>
          </a:bodyPr>
          <a:lstStyle/>
          <a:p>
            <a:r>
              <a:rPr lang="en-US" sz="4000" dirty="0"/>
              <a:t> Right Information </a:t>
            </a:r>
          </a:p>
          <a:p>
            <a:r>
              <a:rPr lang="en-US" sz="4000" dirty="0"/>
              <a:t> To the right person </a:t>
            </a:r>
          </a:p>
          <a:p>
            <a:r>
              <a:rPr lang="en-US" sz="4000" dirty="0"/>
              <a:t> At the right place</a:t>
            </a:r>
          </a:p>
          <a:p>
            <a:r>
              <a:rPr lang="en-US" sz="4000" dirty="0"/>
              <a:t> At the right time </a:t>
            </a:r>
          </a:p>
          <a:p>
            <a:r>
              <a:rPr lang="en-US" sz="4000" dirty="0"/>
              <a:t> In the right form </a:t>
            </a:r>
          </a:p>
          <a:p>
            <a:r>
              <a:rPr lang="en-US" sz="4000" dirty="0"/>
              <a:t> At the right cost</a:t>
            </a:r>
          </a:p>
        </p:txBody>
      </p:sp>
    </p:spTree>
    <p:extLst>
      <p:ext uri="{BB962C8B-B14F-4D97-AF65-F5344CB8AC3E}">
        <p14:creationId xmlns:p14="http://schemas.microsoft.com/office/powerpoint/2010/main" val="51051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71AAA-6AED-4629-825B-9F893B41E7A9}"/>
              </a:ext>
            </a:extLst>
          </p:cNvPr>
          <p:cNvSpPr>
            <a:spLocks noGrp="1"/>
          </p:cNvSpPr>
          <p:nvPr>
            <p:ph type="title"/>
          </p:nvPr>
        </p:nvSpPr>
        <p:spPr/>
        <p:txBody>
          <a:bodyPr/>
          <a:lstStyle/>
          <a:p>
            <a:r>
              <a:rPr lang="en-US" dirty="0"/>
              <a:t>Mis design theory </a:t>
            </a:r>
            <a:r>
              <a:rPr lang="en-US" sz="1800" dirty="0"/>
              <a:t>continued</a:t>
            </a:r>
          </a:p>
        </p:txBody>
      </p:sp>
      <p:sp>
        <p:nvSpPr>
          <p:cNvPr id="3" name="Content Placeholder 2">
            <a:extLst>
              <a:ext uri="{FF2B5EF4-FFF2-40B4-BE49-F238E27FC236}">
                <a16:creationId xmlns:a16="http://schemas.microsoft.com/office/drawing/2014/main" id="{AF69D4BE-0B1C-43B5-9117-41FC75768486}"/>
              </a:ext>
            </a:extLst>
          </p:cNvPr>
          <p:cNvSpPr>
            <a:spLocks noGrp="1"/>
          </p:cNvSpPr>
          <p:nvPr>
            <p:ph idx="1"/>
          </p:nvPr>
        </p:nvSpPr>
        <p:spPr>
          <a:xfrm>
            <a:off x="1251678" y="1987827"/>
            <a:ext cx="10178322" cy="3891766"/>
          </a:xfrm>
        </p:spPr>
        <p:txBody>
          <a:bodyPr>
            <a:normAutofit/>
          </a:bodyPr>
          <a:lstStyle/>
          <a:p>
            <a:r>
              <a:rPr lang="en-US" dirty="0"/>
              <a:t>The MIS Design should be;</a:t>
            </a:r>
          </a:p>
          <a:p>
            <a:pPr lvl="1"/>
            <a:r>
              <a:rPr lang="en-US" dirty="0"/>
              <a:t>Management oriented </a:t>
            </a:r>
          </a:p>
          <a:p>
            <a:pPr lvl="1"/>
            <a:r>
              <a:rPr lang="en-US" dirty="0"/>
              <a:t>Management directed (control)</a:t>
            </a:r>
          </a:p>
          <a:p>
            <a:pPr lvl="1"/>
            <a:r>
              <a:rPr lang="en-US" dirty="0"/>
              <a:t>Integrated system</a:t>
            </a:r>
          </a:p>
          <a:p>
            <a:pPr lvl="1"/>
            <a:r>
              <a:rPr lang="en-US" dirty="0"/>
              <a:t>customizable, scalable</a:t>
            </a:r>
          </a:p>
          <a:p>
            <a:pPr lvl="1"/>
            <a:r>
              <a:rPr lang="en-US" dirty="0"/>
              <a:t>Design should Involve large planning (a greater perspective of what if scenario to involve multiple operating environments) Think of cloud based systems and our internet plus power </a:t>
            </a:r>
            <a:r>
              <a:rPr lang="en-US" dirty="0" err="1"/>
              <a:t>interuptions</a:t>
            </a:r>
            <a:r>
              <a:rPr lang="en-US" dirty="0"/>
              <a:t>.</a:t>
            </a:r>
          </a:p>
          <a:p>
            <a:pPr lvl="1"/>
            <a:r>
              <a:rPr lang="en-US" dirty="0"/>
              <a:t>Sub systems (individual working components which are part of the system but can function and be evaluated separately)</a:t>
            </a:r>
          </a:p>
          <a:p>
            <a:pPr lvl="1"/>
            <a:r>
              <a:rPr lang="en-US" dirty="0"/>
              <a:t>User-machine system that is flexible to use</a:t>
            </a:r>
          </a:p>
          <a:p>
            <a:endParaRPr lang="en-US" dirty="0"/>
          </a:p>
        </p:txBody>
      </p:sp>
    </p:spTree>
    <p:extLst>
      <p:ext uri="{BB962C8B-B14F-4D97-AF65-F5344CB8AC3E}">
        <p14:creationId xmlns:p14="http://schemas.microsoft.com/office/powerpoint/2010/main" val="31232807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1BDC1CF9-F651-4192-926E-7901124E4063}"/>
              </a:ext>
            </a:extLst>
          </p:cNvPr>
          <p:cNvPicPr>
            <a:picLocks noChangeAspect="1"/>
          </p:cNvPicPr>
          <p:nvPr/>
        </p:nvPicPr>
        <p:blipFill>
          <a:blip r:embed="rId2"/>
          <a:stretch>
            <a:fillRect/>
          </a:stretch>
        </p:blipFill>
        <p:spPr>
          <a:xfrm>
            <a:off x="6096000" y="1260972"/>
            <a:ext cx="5923720" cy="5426429"/>
          </a:xfrm>
          <a:prstGeom prst="rect">
            <a:avLst/>
          </a:prstGeom>
        </p:spPr>
      </p:pic>
      <p:sp>
        <p:nvSpPr>
          <p:cNvPr id="2" name="Title 1">
            <a:extLst>
              <a:ext uri="{FF2B5EF4-FFF2-40B4-BE49-F238E27FC236}">
                <a16:creationId xmlns:a16="http://schemas.microsoft.com/office/drawing/2014/main" id="{B6665E12-82DB-41CB-B9FC-AD98BC999D36}"/>
              </a:ext>
            </a:extLst>
          </p:cNvPr>
          <p:cNvSpPr>
            <a:spLocks noGrp="1"/>
          </p:cNvSpPr>
          <p:nvPr>
            <p:ph type="title"/>
          </p:nvPr>
        </p:nvSpPr>
        <p:spPr/>
        <p:txBody>
          <a:bodyPr/>
          <a:lstStyle/>
          <a:p>
            <a:r>
              <a:rPr lang="en-US" dirty="0"/>
              <a:t>Mis general physical structure </a:t>
            </a:r>
          </a:p>
        </p:txBody>
      </p:sp>
      <p:sp>
        <p:nvSpPr>
          <p:cNvPr id="3" name="Content Placeholder 2">
            <a:extLst>
              <a:ext uri="{FF2B5EF4-FFF2-40B4-BE49-F238E27FC236}">
                <a16:creationId xmlns:a16="http://schemas.microsoft.com/office/drawing/2014/main" id="{DBA5868E-8B73-400F-BDF1-FB2D83F31C56}"/>
              </a:ext>
            </a:extLst>
          </p:cNvPr>
          <p:cNvSpPr>
            <a:spLocks noGrp="1"/>
          </p:cNvSpPr>
          <p:nvPr>
            <p:ph idx="1"/>
          </p:nvPr>
        </p:nvSpPr>
        <p:spPr/>
        <p:txBody>
          <a:bodyPr/>
          <a:lstStyle/>
          <a:p>
            <a:r>
              <a:rPr lang="en-US" dirty="0"/>
              <a:t>Hardware (CPU, and all of its support equipment's)</a:t>
            </a:r>
          </a:p>
          <a:p>
            <a:r>
              <a:rPr lang="en-US" dirty="0"/>
              <a:t>Software  (computer programs and the manuals )</a:t>
            </a:r>
          </a:p>
          <a:p>
            <a:r>
              <a:rPr lang="en-US" dirty="0"/>
              <a:t>Database (facts used by programs to produce useful information.)</a:t>
            </a:r>
          </a:p>
          <a:p>
            <a:r>
              <a:rPr lang="en-US" dirty="0"/>
              <a:t>Procedures (policies that govern the operation of a computer system)</a:t>
            </a:r>
          </a:p>
          <a:p>
            <a:r>
              <a:rPr lang="en-US" dirty="0"/>
              <a:t>Operating personnel (end user of the Systems.)</a:t>
            </a:r>
          </a:p>
          <a:p>
            <a:r>
              <a:rPr lang="en-US" dirty="0"/>
              <a:t>Input and output ( data output information)</a:t>
            </a:r>
          </a:p>
        </p:txBody>
      </p:sp>
    </p:spTree>
    <p:extLst>
      <p:ext uri="{BB962C8B-B14F-4D97-AF65-F5344CB8AC3E}">
        <p14:creationId xmlns:p14="http://schemas.microsoft.com/office/powerpoint/2010/main" val="18289226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3">
            <a:extLst>
              <a:ext uri="{FF2B5EF4-FFF2-40B4-BE49-F238E27FC236}">
                <a16:creationId xmlns:a16="http://schemas.microsoft.com/office/drawing/2014/main" id="{B3989E53-E214-4632-8673-BE28A52424F8}"/>
              </a:ext>
            </a:extLst>
          </p:cNvPr>
          <p:cNvPicPr>
            <a:picLocks/>
          </p:cNvPicPr>
          <p:nvPr/>
        </p:nvPicPr>
        <p:blipFill rotWithShape="1">
          <a:blip r:embed="rId2"/>
          <a:srcRect l="15385" t="10832" r="16026" b="9635"/>
          <a:stretch/>
        </p:blipFill>
        <p:spPr bwMode="auto">
          <a:xfrm>
            <a:off x="4558748" y="1510748"/>
            <a:ext cx="7056782" cy="5194853"/>
          </a:xfrm>
          <a:prstGeom prst="rect">
            <a:avLst/>
          </a:prstGeom>
          <a:ln>
            <a:noFill/>
          </a:ln>
          <a:extLst>
            <a:ext uri="{53640926-AAD7-44D8-BBD7-CCE9431645EC}">
              <a14:shadowObscured xmlns:a14="http://schemas.microsoft.com/office/drawing/2010/main"/>
            </a:ext>
          </a:extLst>
        </p:spPr>
      </p:pic>
      <p:sp>
        <p:nvSpPr>
          <p:cNvPr id="2" name="Title 1">
            <a:extLst>
              <a:ext uri="{FF2B5EF4-FFF2-40B4-BE49-F238E27FC236}">
                <a16:creationId xmlns:a16="http://schemas.microsoft.com/office/drawing/2014/main" id="{E292A945-A0A7-4F49-BFDD-EEE5844270BF}"/>
              </a:ext>
            </a:extLst>
          </p:cNvPr>
          <p:cNvSpPr>
            <a:spLocks noGrp="1"/>
          </p:cNvSpPr>
          <p:nvPr>
            <p:ph type="title"/>
          </p:nvPr>
        </p:nvSpPr>
        <p:spPr/>
        <p:txBody>
          <a:bodyPr/>
          <a:lstStyle/>
          <a:p>
            <a:r>
              <a:rPr lang="en-US" dirty="0"/>
              <a:t>Mis functional based structure </a:t>
            </a:r>
          </a:p>
        </p:txBody>
      </p:sp>
      <p:sp>
        <p:nvSpPr>
          <p:cNvPr id="5" name="Content Placeholder 4">
            <a:extLst>
              <a:ext uri="{FF2B5EF4-FFF2-40B4-BE49-F238E27FC236}">
                <a16:creationId xmlns:a16="http://schemas.microsoft.com/office/drawing/2014/main" id="{C966B856-79D1-473B-9381-25B01A33BB81}"/>
              </a:ext>
            </a:extLst>
          </p:cNvPr>
          <p:cNvSpPr>
            <a:spLocks noGrp="1"/>
          </p:cNvSpPr>
          <p:nvPr>
            <p:ph idx="1"/>
          </p:nvPr>
        </p:nvSpPr>
        <p:spPr>
          <a:xfrm>
            <a:off x="887897" y="1630017"/>
            <a:ext cx="4134678" cy="4845598"/>
          </a:xfrm>
        </p:spPr>
        <p:txBody>
          <a:bodyPr>
            <a:normAutofit lnSpcReduction="10000"/>
          </a:bodyPr>
          <a:lstStyle/>
          <a:p>
            <a:pPr marL="0" indent="0">
              <a:buNone/>
            </a:pPr>
            <a:endParaRPr lang="en-US" dirty="0"/>
          </a:p>
          <a:p>
            <a:pPr marL="0" indent="0">
              <a:buNone/>
            </a:pPr>
            <a:r>
              <a:rPr lang="en-US" dirty="0"/>
              <a:t>External data</a:t>
            </a:r>
          </a:p>
          <a:p>
            <a:pPr marL="0" indent="0">
              <a:buNone/>
            </a:pPr>
            <a:r>
              <a:rPr lang="en-US" dirty="0"/>
              <a:t>(research &amp; dev)</a:t>
            </a:r>
          </a:p>
          <a:p>
            <a:pPr marL="0" indent="0">
              <a:buNone/>
            </a:pPr>
            <a:r>
              <a:rPr lang="en-US" dirty="0"/>
              <a:t>Competitors</a:t>
            </a:r>
          </a:p>
          <a:p>
            <a:pPr marL="0" indent="0">
              <a:buNone/>
            </a:pPr>
            <a:r>
              <a:rPr lang="en-US" dirty="0"/>
              <a:t>System Setup is usually based</a:t>
            </a:r>
          </a:p>
          <a:p>
            <a:pPr marL="0" indent="0">
              <a:buNone/>
            </a:pPr>
            <a:r>
              <a:rPr lang="en-US" dirty="0"/>
              <a:t>On high level Functional requirements</a:t>
            </a:r>
          </a:p>
          <a:p>
            <a:pPr marL="0" indent="0">
              <a:buNone/>
            </a:pPr>
            <a:r>
              <a:rPr lang="en-US" dirty="0"/>
              <a:t>Internet Transaction(Clients booking and paying services online, providing feedback online </a:t>
            </a:r>
            <a:r>
              <a:rPr lang="en-US" dirty="0" err="1"/>
              <a:t>etc</a:t>
            </a:r>
            <a:r>
              <a:rPr lang="en-US" dirty="0"/>
              <a:t>)</a:t>
            </a:r>
          </a:p>
          <a:p>
            <a:pPr marL="0" indent="0">
              <a:buNone/>
            </a:pPr>
            <a:r>
              <a:rPr lang="en-US" dirty="0"/>
              <a:t>Extranet (Stores manager working from home </a:t>
            </a:r>
            <a:r>
              <a:rPr lang="en-US" dirty="0" err="1"/>
              <a:t>eg</a:t>
            </a:r>
            <a:r>
              <a:rPr lang="en-US" dirty="0"/>
              <a:t> authorizing internal stock order, to ensure operations continuity )</a:t>
            </a:r>
          </a:p>
          <a:p>
            <a:pPr marL="0" indent="0">
              <a:buNone/>
            </a:pPr>
            <a:endParaRPr lang="en-US" dirty="0"/>
          </a:p>
        </p:txBody>
      </p:sp>
    </p:spTree>
    <p:extLst>
      <p:ext uri="{BB962C8B-B14F-4D97-AF65-F5344CB8AC3E}">
        <p14:creationId xmlns:p14="http://schemas.microsoft.com/office/powerpoint/2010/main" val="17975491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19365-D784-4EAA-89DD-D17B16273F36}"/>
              </a:ext>
            </a:extLst>
          </p:cNvPr>
          <p:cNvSpPr>
            <a:spLocks noGrp="1"/>
          </p:cNvSpPr>
          <p:nvPr>
            <p:ph type="title"/>
          </p:nvPr>
        </p:nvSpPr>
        <p:spPr>
          <a:xfrm>
            <a:off x="1251678" y="231913"/>
            <a:ext cx="10178322" cy="836815"/>
          </a:xfrm>
        </p:spPr>
        <p:txBody>
          <a:bodyPr/>
          <a:lstStyle/>
          <a:p>
            <a:pPr algn="ctr"/>
            <a:r>
              <a:rPr lang="en-US" dirty="0"/>
              <a:t>Mis modules</a:t>
            </a:r>
          </a:p>
        </p:txBody>
      </p:sp>
      <p:sp>
        <p:nvSpPr>
          <p:cNvPr id="3" name="Content Placeholder 2">
            <a:extLst>
              <a:ext uri="{FF2B5EF4-FFF2-40B4-BE49-F238E27FC236}">
                <a16:creationId xmlns:a16="http://schemas.microsoft.com/office/drawing/2014/main" id="{F84ECBD2-AD74-4B37-B73D-686EF18697F0}"/>
              </a:ext>
            </a:extLst>
          </p:cNvPr>
          <p:cNvSpPr>
            <a:spLocks noGrp="1"/>
          </p:cNvSpPr>
          <p:nvPr>
            <p:ph idx="1"/>
          </p:nvPr>
        </p:nvSpPr>
        <p:spPr>
          <a:xfrm>
            <a:off x="762000" y="1219200"/>
            <a:ext cx="10668000" cy="5406887"/>
          </a:xfrm>
        </p:spPr>
        <p:txBody>
          <a:bodyPr>
            <a:normAutofit lnSpcReduction="10000"/>
          </a:bodyPr>
          <a:lstStyle/>
          <a:p>
            <a:r>
              <a:rPr lang="en-US" dirty="0"/>
              <a:t>MIS Has a set of Core Functional Sub systems discrete to specific organization’s department operations,  All the modules can work as separate unit while being integrated within the main system’s architecture. These are most common MIS modules.</a:t>
            </a:r>
          </a:p>
          <a:p>
            <a:r>
              <a:rPr lang="en-US" dirty="0"/>
              <a:t>Management Reporting System. A management reporting system is a database designed to report on the finances and operations of all levels of management in an organization.</a:t>
            </a:r>
          </a:p>
          <a:p>
            <a:r>
              <a:rPr lang="en-US" dirty="0"/>
              <a:t>Accounting and Finance. </a:t>
            </a:r>
          </a:p>
          <a:p>
            <a:r>
              <a:rPr lang="en-US" dirty="0"/>
              <a:t>Sales and Marketing. (promotions evaluation, suggesting best sales or marketing channels based on environment or external research data)</a:t>
            </a:r>
          </a:p>
          <a:p>
            <a:r>
              <a:rPr lang="en-US" dirty="0"/>
              <a:t>Inventory Control. </a:t>
            </a:r>
          </a:p>
          <a:p>
            <a:r>
              <a:rPr lang="en-US" dirty="0"/>
              <a:t>Human Resources.  </a:t>
            </a:r>
          </a:p>
          <a:p>
            <a:r>
              <a:rPr lang="en-US" dirty="0"/>
              <a:t>Office Automation/Enterprise Collaboration.(preset customizable templates for other frequent communications such as memos letters </a:t>
            </a:r>
            <a:r>
              <a:rPr lang="en-US" dirty="0" err="1"/>
              <a:t>etc</a:t>
            </a:r>
            <a:r>
              <a:rPr lang="en-US" dirty="0"/>
              <a:t> easy letter merge for clients communications </a:t>
            </a:r>
            <a:r>
              <a:rPr lang="en-US" dirty="0" err="1"/>
              <a:t>etc</a:t>
            </a:r>
            <a:r>
              <a:rPr lang="en-US" dirty="0"/>
              <a:t>)</a:t>
            </a:r>
          </a:p>
          <a:p>
            <a:r>
              <a:rPr lang="en-US" dirty="0"/>
              <a:t>Process Control (maintain a process at the desired operating conditions, think of this like how  baking and temperature control goes in hand) That process can be automated</a:t>
            </a:r>
          </a:p>
          <a:p>
            <a:endParaRPr lang="en-US" dirty="0"/>
          </a:p>
          <a:p>
            <a:endParaRPr lang="en-US" dirty="0"/>
          </a:p>
        </p:txBody>
      </p:sp>
    </p:spTree>
    <p:extLst>
      <p:ext uri="{BB962C8B-B14F-4D97-AF65-F5344CB8AC3E}">
        <p14:creationId xmlns:p14="http://schemas.microsoft.com/office/powerpoint/2010/main" val="15654303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CCB90-C03F-4AB6-B7BF-FA4D6E44448D}"/>
              </a:ext>
            </a:extLst>
          </p:cNvPr>
          <p:cNvSpPr>
            <a:spLocks noGrp="1"/>
          </p:cNvSpPr>
          <p:nvPr>
            <p:ph type="title"/>
          </p:nvPr>
        </p:nvSpPr>
        <p:spPr/>
        <p:txBody>
          <a:bodyPr/>
          <a:lstStyle/>
          <a:p>
            <a:pPr algn="ctr"/>
            <a:r>
              <a:rPr lang="en-US" dirty="0"/>
              <a:t>Mis financial module </a:t>
            </a:r>
          </a:p>
        </p:txBody>
      </p:sp>
      <p:sp>
        <p:nvSpPr>
          <p:cNvPr id="3" name="Content Placeholder 2">
            <a:extLst>
              <a:ext uri="{FF2B5EF4-FFF2-40B4-BE49-F238E27FC236}">
                <a16:creationId xmlns:a16="http://schemas.microsoft.com/office/drawing/2014/main" id="{230909D5-261B-4093-9F71-8B195177C158}"/>
              </a:ext>
            </a:extLst>
          </p:cNvPr>
          <p:cNvSpPr>
            <a:spLocks noGrp="1"/>
          </p:cNvSpPr>
          <p:nvPr>
            <p:ph idx="1"/>
          </p:nvPr>
        </p:nvSpPr>
        <p:spPr>
          <a:xfrm>
            <a:off x="914400" y="1722783"/>
            <a:ext cx="10515600" cy="4170062"/>
          </a:xfrm>
        </p:spPr>
        <p:txBody>
          <a:bodyPr/>
          <a:lstStyle/>
          <a:p>
            <a:r>
              <a:rPr lang="en-US" dirty="0"/>
              <a:t>Provides financial information to all financial managers within an organization. </a:t>
            </a:r>
          </a:p>
          <a:p>
            <a:r>
              <a:rPr lang="en-US" dirty="0"/>
              <a:t>MIS has many responsibilities to the accounting function. Payroll processing and reporting, as well as tax accountability are major functions for the MIS department. </a:t>
            </a:r>
          </a:p>
          <a:p>
            <a:r>
              <a:rPr lang="en-US" dirty="0"/>
              <a:t>In addition, all reporting and documentation for payroll and tax matters fall to MIS. </a:t>
            </a:r>
          </a:p>
          <a:p>
            <a:r>
              <a:rPr lang="en-US" dirty="0"/>
              <a:t>Weekly, monthly, quarterly and year-end reporting to management are also important duties for MIS. Compliance with all federal, state and local agencies </a:t>
            </a:r>
            <a:r>
              <a:rPr lang="en-US" dirty="0" err="1"/>
              <a:t>eg</a:t>
            </a:r>
            <a:r>
              <a:rPr lang="en-US" dirty="0"/>
              <a:t> tax, city rates, as well as reports to both governmental agencies and management are also vital for your MIS department. </a:t>
            </a:r>
          </a:p>
        </p:txBody>
      </p:sp>
    </p:spTree>
    <p:extLst>
      <p:ext uri="{BB962C8B-B14F-4D97-AF65-F5344CB8AC3E}">
        <p14:creationId xmlns:p14="http://schemas.microsoft.com/office/powerpoint/2010/main" val="5920201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FB1CB-A762-49D1-9621-F156A57FCE60}"/>
              </a:ext>
            </a:extLst>
          </p:cNvPr>
          <p:cNvSpPr>
            <a:spLocks noGrp="1"/>
          </p:cNvSpPr>
          <p:nvPr>
            <p:ph type="title"/>
          </p:nvPr>
        </p:nvSpPr>
        <p:spPr/>
        <p:txBody>
          <a:bodyPr/>
          <a:lstStyle/>
          <a:p>
            <a:r>
              <a:rPr lang="en-US" dirty="0"/>
              <a:t>Inputs and outputs of the mis financial module</a:t>
            </a:r>
          </a:p>
        </p:txBody>
      </p:sp>
      <p:sp>
        <p:nvSpPr>
          <p:cNvPr id="3" name="Content Placeholder 2">
            <a:extLst>
              <a:ext uri="{FF2B5EF4-FFF2-40B4-BE49-F238E27FC236}">
                <a16:creationId xmlns:a16="http://schemas.microsoft.com/office/drawing/2014/main" id="{81AA65CB-6F91-4052-B725-9B077A4A9528}"/>
              </a:ext>
            </a:extLst>
          </p:cNvPr>
          <p:cNvSpPr>
            <a:spLocks noGrp="1"/>
          </p:cNvSpPr>
          <p:nvPr>
            <p:ph idx="1"/>
          </p:nvPr>
        </p:nvSpPr>
        <p:spPr>
          <a:xfrm>
            <a:off x="755375" y="2286001"/>
            <a:ext cx="11145078" cy="4366590"/>
          </a:xfrm>
        </p:spPr>
        <p:txBody>
          <a:bodyPr>
            <a:normAutofit lnSpcReduction="10000"/>
          </a:bodyPr>
          <a:lstStyle/>
          <a:p>
            <a:r>
              <a:rPr lang="en-US" b="1" dirty="0"/>
              <a:t>Inputs may include </a:t>
            </a:r>
            <a:r>
              <a:rPr lang="en-US" dirty="0">
                <a:sym typeface="Wingdings" panose="05000000000000000000" pitchFamily="2" charset="2"/>
              </a:rPr>
              <a:t> </a:t>
            </a:r>
            <a:r>
              <a:rPr lang="en-US" dirty="0"/>
              <a:t>Strategic plan or corporate policies  Contains major financial objectives and often projects financial needs.  (profit projections, sales targets </a:t>
            </a:r>
            <a:r>
              <a:rPr lang="en-US" dirty="0" err="1"/>
              <a:t>etc</a:t>
            </a:r>
            <a:r>
              <a:rPr lang="en-US" dirty="0"/>
              <a:t>)</a:t>
            </a:r>
          </a:p>
          <a:p>
            <a:r>
              <a:rPr lang="en-US" dirty="0"/>
              <a:t> Transaction processing system (TPS) (data for each transaction, </a:t>
            </a:r>
            <a:r>
              <a:rPr lang="en-US" dirty="0" err="1"/>
              <a:t>eg</a:t>
            </a:r>
            <a:r>
              <a:rPr lang="en-US" dirty="0"/>
              <a:t> bill payments)</a:t>
            </a:r>
          </a:p>
          <a:p>
            <a:r>
              <a:rPr lang="en-US" dirty="0"/>
              <a:t> Important financial information collected from almost every TPS - payroll, inventory control, order processing, accounts payable, accounts receivable, general ledger. </a:t>
            </a:r>
          </a:p>
          <a:p>
            <a:r>
              <a:rPr lang="en-US" dirty="0"/>
              <a:t> External sources,  Annual reports and financial statements of competitors.</a:t>
            </a:r>
          </a:p>
          <a:p>
            <a:r>
              <a:rPr lang="en-US" dirty="0"/>
              <a:t> </a:t>
            </a:r>
            <a:r>
              <a:rPr lang="en-US" b="1" dirty="0"/>
              <a:t>Financial MIS Subsystems and Outputs </a:t>
            </a:r>
            <a:r>
              <a:rPr lang="en-US" dirty="0">
                <a:sym typeface="Wingdings" panose="05000000000000000000" pitchFamily="2" charset="2"/>
              </a:rPr>
              <a:t></a:t>
            </a:r>
            <a:r>
              <a:rPr lang="en-US" dirty="0"/>
              <a:t> </a:t>
            </a:r>
            <a:r>
              <a:rPr lang="en-US" b="1" dirty="0"/>
              <a:t>Financial subsystems </a:t>
            </a:r>
          </a:p>
          <a:p>
            <a:r>
              <a:rPr lang="en-US" dirty="0"/>
              <a:t> Profit/loss and cost systems , Auditing </a:t>
            </a:r>
          </a:p>
          <a:p>
            <a:r>
              <a:rPr lang="en-US" dirty="0"/>
              <a:t> Internal auditing</a:t>
            </a:r>
          </a:p>
          <a:p>
            <a:r>
              <a:rPr lang="en-US" dirty="0"/>
              <a:t> External auditing </a:t>
            </a:r>
          </a:p>
          <a:p>
            <a:r>
              <a:rPr lang="en-US" dirty="0"/>
              <a:t> Uses and management of funds</a:t>
            </a:r>
          </a:p>
        </p:txBody>
      </p:sp>
    </p:spTree>
    <p:extLst>
      <p:ext uri="{BB962C8B-B14F-4D97-AF65-F5344CB8AC3E}">
        <p14:creationId xmlns:p14="http://schemas.microsoft.com/office/powerpoint/2010/main" val="25557380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554B4-C463-41B6-9CF9-1C9DF4586061}"/>
              </a:ext>
            </a:extLst>
          </p:cNvPr>
          <p:cNvSpPr>
            <a:spLocks noGrp="1"/>
          </p:cNvSpPr>
          <p:nvPr>
            <p:ph type="title"/>
          </p:nvPr>
        </p:nvSpPr>
        <p:spPr/>
        <p:txBody>
          <a:bodyPr/>
          <a:lstStyle/>
          <a:p>
            <a:r>
              <a:rPr lang="en-US" dirty="0"/>
              <a:t>Service provision /manufacturing mis module</a:t>
            </a:r>
          </a:p>
        </p:txBody>
      </p:sp>
      <p:sp>
        <p:nvSpPr>
          <p:cNvPr id="3" name="Content Placeholder 2">
            <a:extLst>
              <a:ext uri="{FF2B5EF4-FFF2-40B4-BE49-F238E27FC236}">
                <a16:creationId xmlns:a16="http://schemas.microsoft.com/office/drawing/2014/main" id="{8AFB769E-D174-48C1-A572-A11124F5C90A}"/>
              </a:ext>
            </a:extLst>
          </p:cNvPr>
          <p:cNvSpPr>
            <a:spLocks noGrp="1"/>
          </p:cNvSpPr>
          <p:nvPr>
            <p:ph idx="1"/>
          </p:nvPr>
        </p:nvSpPr>
        <p:spPr>
          <a:xfrm>
            <a:off x="1251678" y="2286001"/>
            <a:ext cx="10178322" cy="4088295"/>
          </a:xfrm>
        </p:spPr>
        <p:txBody>
          <a:bodyPr>
            <a:normAutofit fontScale="92500" lnSpcReduction="20000"/>
          </a:bodyPr>
          <a:lstStyle/>
          <a:p>
            <a:r>
              <a:rPr lang="en-US" dirty="0"/>
              <a:t>Perhaps no other department depends on your MIS department more than operations. Sales and profits information must be received at least daily in order for your company to operate properly. Staffing decisions, including scheduling assignments, are based on reports generated through your MIS department. Monthly, quarterly and yearly financial statements, as well as expense reporting information must be received by operations from your MIS associates. </a:t>
            </a:r>
          </a:p>
          <a:p>
            <a:r>
              <a:rPr lang="en-US" dirty="0"/>
              <a:t>Without MIS input, operations is literally flying blind and cannot function properly in this highly competitive environment.</a:t>
            </a:r>
          </a:p>
          <a:p>
            <a:r>
              <a:rPr lang="en-US" dirty="0"/>
              <a:t>MRP (Manufacturing Resource Planning reports) The bill of materials is a listing of all the raw materials, component parts, subassemblies, and assemblies required to produce one unit of a specific finished product</a:t>
            </a:r>
          </a:p>
          <a:p>
            <a:r>
              <a:rPr lang="en-US" dirty="0"/>
              <a:t>JIT (Just In Time inventory reports, to ensure continuity in production) System can send restaurants inputs summary reports when inventory is equal or less than set capacity </a:t>
            </a:r>
            <a:r>
              <a:rPr lang="en-US" dirty="0" err="1"/>
              <a:t>eg</a:t>
            </a:r>
            <a:r>
              <a:rPr lang="en-US" dirty="0"/>
              <a:t> 5% minimum quantity.</a:t>
            </a:r>
          </a:p>
          <a:p>
            <a:r>
              <a:rPr lang="en-US" dirty="0"/>
              <a:t>CAD (Computer Aided Design) Ensuring output product be as designed (</a:t>
            </a:r>
            <a:r>
              <a:rPr lang="en-US" dirty="0" err="1"/>
              <a:t>eg</a:t>
            </a:r>
            <a:r>
              <a:rPr lang="en-US" dirty="0"/>
              <a:t> cars) </a:t>
            </a:r>
          </a:p>
        </p:txBody>
      </p:sp>
    </p:spTree>
    <p:extLst>
      <p:ext uri="{BB962C8B-B14F-4D97-AF65-F5344CB8AC3E}">
        <p14:creationId xmlns:p14="http://schemas.microsoft.com/office/powerpoint/2010/main" val="1777913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423C3-3A5E-4527-BCE1-AC17590C9C5D}"/>
              </a:ext>
            </a:extLst>
          </p:cNvPr>
          <p:cNvSpPr>
            <a:spLocks noGrp="1"/>
          </p:cNvSpPr>
          <p:nvPr>
            <p:ph type="title"/>
          </p:nvPr>
        </p:nvSpPr>
        <p:spPr/>
        <p:txBody>
          <a:bodyPr/>
          <a:lstStyle/>
          <a:p>
            <a:r>
              <a:rPr lang="en-US" dirty="0"/>
              <a:t>Inputs/ outputs for the mis service/ manufacturing module</a:t>
            </a:r>
          </a:p>
        </p:txBody>
      </p:sp>
      <p:sp>
        <p:nvSpPr>
          <p:cNvPr id="3" name="Content Placeholder 2">
            <a:extLst>
              <a:ext uri="{FF2B5EF4-FFF2-40B4-BE49-F238E27FC236}">
                <a16:creationId xmlns:a16="http://schemas.microsoft.com/office/drawing/2014/main" id="{8D6C8C66-C659-4C9B-8ADA-AED6117146A4}"/>
              </a:ext>
            </a:extLst>
          </p:cNvPr>
          <p:cNvSpPr>
            <a:spLocks noGrp="1"/>
          </p:cNvSpPr>
          <p:nvPr>
            <p:ph idx="1"/>
          </p:nvPr>
        </p:nvSpPr>
        <p:spPr/>
        <p:txBody>
          <a:bodyPr/>
          <a:lstStyle/>
          <a:p>
            <a:r>
              <a:rPr lang="en-US" b="1" dirty="0"/>
              <a:t>Inputs to the Manufacturing MIS </a:t>
            </a:r>
            <a:r>
              <a:rPr lang="en-US" dirty="0">
                <a:sym typeface="Wingdings" panose="05000000000000000000" pitchFamily="2" charset="2"/>
              </a:rPr>
              <a:t></a:t>
            </a:r>
            <a:r>
              <a:rPr lang="en-US" dirty="0"/>
              <a:t> Strategic plan or corporate policies., The TPS:  Order, processing, Inventory data, Receiving and inspecting data, Personnel data(clients personal data), Production process and External sources.</a:t>
            </a:r>
          </a:p>
          <a:p>
            <a:pPr marL="0" indent="0">
              <a:buNone/>
            </a:pPr>
            <a:r>
              <a:rPr lang="en-US" b="1" dirty="0"/>
              <a:t>Outputs</a:t>
            </a:r>
          </a:p>
          <a:p>
            <a:r>
              <a:rPr lang="en-US" dirty="0"/>
              <a:t>Design and engineering, Master production scheduling, Inventory control, Manufacturing resource planning, Just-in-time inventory and manufacturing, Process control, Computer-integrated manufacturing (CIM), Quality control and testing.</a:t>
            </a:r>
          </a:p>
        </p:txBody>
      </p:sp>
    </p:spTree>
    <p:extLst>
      <p:ext uri="{BB962C8B-B14F-4D97-AF65-F5344CB8AC3E}">
        <p14:creationId xmlns:p14="http://schemas.microsoft.com/office/powerpoint/2010/main" val="30084735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B6770-60BD-432E-9747-80829F59C3B7}"/>
              </a:ext>
            </a:extLst>
          </p:cNvPr>
          <p:cNvSpPr>
            <a:spLocks noGrp="1"/>
          </p:cNvSpPr>
          <p:nvPr>
            <p:ph type="title"/>
          </p:nvPr>
        </p:nvSpPr>
        <p:spPr/>
        <p:txBody>
          <a:bodyPr/>
          <a:lstStyle/>
          <a:p>
            <a:r>
              <a:rPr lang="en-US" dirty="0"/>
              <a:t>mis Marketing module </a:t>
            </a:r>
          </a:p>
        </p:txBody>
      </p:sp>
      <p:sp>
        <p:nvSpPr>
          <p:cNvPr id="3" name="Content Placeholder 2">
            <a:extLst>
              <a:ext uri="{FF2B5EF4-FFF2-40B4-BE49-F238E27FC236}">
                <a16:creationId xmlns:a16="http://schemas.microsoft.com/office/drawing/2014/main" id="{04B2F2CF-CAE0-42BF-97FB-6E1802852E9F}"/>
              </a:ext>
            </a:extLst>
          </p:cNvPr>
          <p:cNvSpPr>
            <a:spLocks noGrp="1"/>
          </p:cNvSpPr>
          <p:nvPr>
            <p:ph idx="1"/>
          </p:nvPr>
        </p:nvSpPr>
        <p:spPr>
          <a:xfrm>
            <a:off x="954157" y="2299253"/>
            <a:ext cx="10787269" cy="4273825"/>
          </a:xfrm>
        </p:spPr>
        <p:txBody>
          <a:bodyPr/>
          <a:lstStyle/>
          <a:p>
            <a:r>
              <a:rPr lang="en-US" dirty="0"/>
              <a:t>marketing function depends on MIS for many of its most important activities. </a:t>
            </a:r>
          </a:p>
          <a:p>
            <a:r>
              <a:rPr lang="en-US" dirty="0"/>
              <a:t>Sales and product analysis information is required and generated daily by your MIS. </a:t>
            </a:r>
          </a:p>
          <a:p>
            <a:r>
              <a:rPr lang="en-US" dirty="0"/>
              <a:t>Ordering information, from which product and services details are generated, must be quickly and accurately received through the function of MIS associates. </a:t>
            </a:r>
          </a:p>
          <a:p>
            <a:r>
              <a:rPr lang="en-US" dirty="0"/>
              <a:t>Decisions on product placement, as well as marketing strategies are created through the efforts of MIS reports. </a:t>
            </a:r>
          </a:p>
          <a:p>
            <a:r>
              <a:rPr lang="en-US" dirty="0"/>
              <a:t>Marketing management makes all major decisions after analysis of data generated by your MIS team.</a:t>
            </a:r>
          </a:p>
          <a:p>
            <a:r>
              <a:rPr lang="en-US" dirty="0"/>
              <a:t>It is important to ensure that the MIS Marketing module is designed inline with the core marketing functions and  trending marketing concepts. </a:t>
            </a:r>
            <a:r>
              <a:rPr lang="en-US" dirty="0" err="1"/>
              <a:t>Eg</a:t>
            </a:r>
            <a:r>
              <a:rPr lang="en-US" dirty="0"/>
              <a:t> if a company decides to run a marketing campaign online the MIS should also be able to separately aggregate all new services enquiries and sales leads to assess the marketing campaign effectiveness.</a:t>
            </a:r>
          </a:p>
        </p:txBody>
      </p:sp>
    </p:spTree>
    <p:extLst>
      <p:ext uri="{BB962C8B-B14F-4D97-AF65-F5344CB8AC3E}">
        <p14:creationId xmlns:p14="http://schemas.microsoft.com/office/powerpoint/2010/main" val="32038676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1B54F-D50C-49BB-8B6A-11520182D33A}"/>
              </a:ext>
            </a:extLst>
          </p:cNvPr>
          <p:cNvSpPr>
            <a:spLocks noGrp="1"/>
          </p:cNvSpPr>
          <p:nvPr>
            <p:ph type="title"/>
          </p:nvPr>
        </p:nvSpPr>
        <p:spPr>
          <a:xfrm>
            <a:off x="940904" y="382385"/>
            <a:ext cx="10489096" cy="1492132"/>
          </a:xfrm>
        </p:spPr>
        <p:txBody>
          <a:bodyPr/>
          <a:lstStyle/>
          <a:p>
            <a:r>
              <a:rPr lang="en-US" dirty="0"/>
              <a:t>Inputs and outputs in a Marketing MIS</a:t>
            </a:r>
          </a:p>
        </p:txBody>
      </p:sp>
      <p:sp>
        <p:nvSpPr>
          <p:cNvPr id="3" name="Content Placeholder 2">
            <a:extLst>
              <a:ext uri="{FF2B5EF4-FFF2-40B4-BE49-F238E27FC236}">
                <a16:creationId xmlns:a16="http://schemas.microsoft.com/office/drawing/2014/main" id="{84ADA777-5273-408F-B1C3-7F1F79E35889}"/>
              </a:ext>
            </a:extLst>
          </p:cNvPr>
          <p:cNvSpPr>
            <a:spLocks noGrp="1"/>
          </p:cNvSpPr>
          <p:nvPr>
            <p:ph idx="1"/>
          </p:nvPr>
        </p:nvSpPr>
        <p:spPr>
          <a:xfrm>
            <a:off x="1251678" y="2014330"/>
            <a:ext cx="10178322" cy="4598505"/>
          </a:xfrm>
        </p:spPr>
        <p:txBody>
          <a:bodyPr/>
          <a:lstStyle/>
          <a:p>
            <a:pPr marL="0" indent="0">
              <a:buNone/>
            </a:pPr>
            <a:r>
              <a:rPr lang="en-US" b="1" dirty="0"/>
              <a:t>Inputs</a:t>
            </a:r>
          </a:p>
          <a:p>
            <a:r>
              <a:rPr lang="en-US" dirty="0"/>
              <a:t>Strategic plan and corporate policies </a:t>
            </a:r>
          </a:p>
          <a:p>
            <a:r>
              <a:rPr lang="en-US" dirty="0"/>
              <a:t>The TPS  </a:t>
            </a:r>
          </a:p>
          <a:p>
            <a:r>
              <a:rPr lang="en-US" dirty="0"/>
              <a:t>External sources: </a:t>
            </a:r>
          </a:p>
          <a:p>
            <a:pPr lvl="1"/>
            <a:r>
              <a:rPr lang="en-US" dirty="0"/>
              <a:t> The competition ( Competitor analysis)</a:t>
            </a:r>
          </a:p>
          <a:p>
            <a:pPr lvl="1"/>
            <a:r>
              <a:rPr lang="en-US" dirty="0"/>
              <a:t>The market (marketing research findings) Online system can populate such data</a:t>
            </a:r>
          </a:p>
          <a:p>
            <a:pPr marL="0" indent="0">
              <a:buNone/>
            </a:pPr>
            <a:r>
              <a:rPr lang="en-US" b="1" dirty="0"/>
              <a:t>Marketing MIS Subsystems and Outputs</a:t>
            </a:r>
          </a:p>
          <a:p>
            <a:r>
              <a:rPr lang="en-US" dirty="0"/>
              <a:t>Marketing research (analyzed report, )</a:t>
            </a:r>
          </a:p>
          <a:p>
            <a:r>
              <a:rPr lang="en-US" dirty="0"/>
              <a:t>Product development (for example need for health eating = more organic meals local chicken)</a:t>
            </a:r>
          </a:p>
          <a:p>
            <a:r>
              <a:rPr lang="en-US" dirty="0"/>
              <a:t>Promotion and advertising  (right service promotion, channel to the right customer )</a:t>
            </a:r>
          </a:p>
          <a:p>
            <a:r>
              <a:rPr lang="en-US" dirty="0"/>
              <a:t>Product pricing (how are our competitors pricing similar services)</a:t>
            </a:r>
          </a:p>
        </p:txBody>
      </p:sp>
    </p:spTree>
    <p:extLst>
      <p:ext uri="{BB962C8B-B14F-4D97-AF65-F5344CB8AC3E}">
        <p14:creationId xmlns:p14="http://schemas.microsoft.com/office/powerpoint/2010/main" val="4429582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41D6B-D5D2-4E5C-B4F2-55AA7464989E}"/>
              </a:ext>
            </a:extLst>
          </p:cNvPr>
          <p:cNvSpPr>
            <a:spLocks noGrp="1"/>
          </p:cNvSpPr>
          <p:nvPr>
            <p:ph type="title"/>
          </p:nvPr>
        </p:nvSpPr>
        <p:spPr/>
        <p:txBody>
          <a:bodyPr/>
          <a:lstStyle/>
          <a:p>
            <a:r>
              <a:rPr lang="en-US" dirty="0"/>
              <a:t>Human Resource MIS module </a:t>
            </a:r>
          </a:p>
        </p:txBody>
      </p:sp>
      <p:sp>
        <p:nvSpPr>
          <p:cNvPr id="3" name="Content Placeholder 2">
            <a:extLst>
              <a:ext uri="{FF2B5EF4-FFF2-40B4-BE49-F238E27FC236}">
                <a16:creationId xmlns:a16="http://schemas.microsoft.com/office/drawing/2014/main" id="{BB533CE6-D6C2-470E-B137-920F4207F44E}"/>
              </a:ext>
            </a:extLst>
          </p:cNvPr>
          <p:cNvSpPr>
            <a:spLocks noGrp="1"/>
          </p:cNvSpPr>
          <p:nvPr>
            <p:ph idx="1"/>
          </p:nvPr>
        </p:nvSpPr>
        <p:spPr/>
        <p:txBody>
          <a:bodyPr/>
          <a:lstStyle/>
          <a:p>
            <a:r>
              <a:rPr lang="en-US" dirty="0"/>
              <a:t>Human Resources relies heavily on your MIS department. </a:t>
            </a:r>
          </a:p>
          <a:p>
            <a:r>
              <a:rPr lang="en-US" dirty="0"/>
              <a:t>All benefits information, from program administration fall to the MIS department to implement and track. </a:t>
            </a:r>
          </a:p>
          <a:p>
            <a:r>
              <a:rPr lang="en-US" dirty="0"/>
              <a:t>In addition, the training and development department relies on MIS to enroll and monitor participants in their training program through their learning management systems. (who went for training, who is next, costs and performance implications)</a:t>
            </a:r>
          </a:p>
          <a:p>
            <a:r>
              <a:rPr lang="en-US" dirty="0"/>
              <a:t>Performance reviews and salary administration also must be managed through your MIS department. All reports for all employees also are a major accountability for the MIS team.</a:t>
            </a:r>
          </a:p>
        </p:txBody>
      </p:sp>
    </p:spTree>
    <p:extLst>
      <p:ext uri="{BB962C8B-B14F-4D97-AF65-F5344CB8AC3E}">
        <p14:creationId xmlns:p14="http://schemas.microsoft.com/office/powerpoint/2010/main" val="1202547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7F5E7-26AD-48CA-AD8B-7276528BE7FA}"/>
              </a:ext>
            </a:extLst>
          </p:cNvPr>
          <p:cNvSpPr>
            <a:spLocks noGrp="1"/>
          </p:cNvSpPr>
          <p:nvPr>
            <p:ph type="title"/>
          </p:nvPr>
        </p:nvSpPr>
        <p:spPr>
          <a:xfrm>
            <a:off x="1105904" y="0"/>
            <a:ext cx="10178322" cy="1492132"/>
          </a:xfrm>
        </p:spPr>
        <p:txBody>
          <a:bodyPr/>
          <a:lstStyle/>
          <a:p>
            <a:r>
              <a:rPr lang="en-US" dirty="0"/>
              <a:t>Inputs and outputs in the Human Resource MIS module</a:t>
            </a:r>
          </a:p>
        </p:txBody>
      </p:sp>
      <p:sp>
        <p:nvSpPr>
          <p:cNvPr id="3" name="Content Placeholder 2">
            <a:extLst>
              <a:ext uri="{FF2B5EF4-FFF2-40B4-BE49-F238E27FC236}">
                <a16:creationId xmlns:a16="http://schemas.microsoft.com/office/drawing/2014/main" id="{1ED1F725-9F24-4E83-AE61-226FDCCE5CF4}"/>
              </a:ext>
            </a:extLst>
          </p:cNvPr>
          <p:cNvSpPr>
            <a:spLocks noGrp="1"/>
          </p:cNvSpPr>
          <p:nvPr>
            <p:ph idx="1"/>
          </p:nvPr>
        </p:nvSpPr>
        <p:spPr>
          <a:xfrm>
            <a:off x="834887" y="1492133"/>
            <a:ext cx="11052313" cy="5365868"/>
          </a:xfrm>
        </p:spPr>
        <p:txBody>
          <a:bodyPr>
            <a:normAutofit fontScale="92500" lnSpcReduction="10000"/>
          </a:bodyPr>
          <a:lstStyle/>
          <a:p>
            <a:pPr marL="457200" lvl="1" indent="0">
              <a:buNone/>
            </a:pPr>
            <a:r>
              <a:rPr lang="en-US" dirty="0"/>
              <a:t>      </a:t>
            </a:r>
            <a:r>
              <a:rPr lang="en-US" b="1" dirty="0"/>
              <a:t>Inputs</a:t>
            </a:r>
          </a:p>
          <a:p>
            <a:r>
              <a:rPr lang="en-US" dirty="0"/>
              <a:t>Strategic plan or corporate policies, employee handbooks</a:t>
            </a:r>
          </a:p>
          <a:p>
            <a:r>
              <a:rPr lang="en-US" dirty="0"/>
              <a:t>Discrete TPS (</a:t>
            </a:r>
            <a:r>
              <a:rPr lang="en-US" dirty="0" err="1"/>
              <a:t>eg</a:t>
            </a:r>
            <a:r>
              <a:rPr lang="en-US" dirty="0"/>
              <a:t> employee based TPS data)</a:t>
            </a:r>
          </a:p>
          <a:p>
            <a:r>
              <a:rPr lang="en-US" dirty="0"/>
              <a:t>Payroll data </a:t>
            </a:r>
          </a:p>
          <a:p>
            <a:r>
              <a:rPr lang="en-US" dirty="0"/>
              <a:t>Employee's professional conduct</a:t>
            </a:r>
          </a:p>
          <a:p>
            <a:r>
              <a:rPr lang="en-US" dirty="0"/>
              <a:t>Personnel data </a:t>
            </a:r>
          </a:p>
          <a:p>
            <a:r>
              <a:rPr lang="en-US" dirty="0"/>
              <a:t>External sources (labor laws on minimum wage,  )</a:t>
            </a:r>
          </a:p>
          <a:p>
            <a:pPr marL="0" indent="0">
              <a:buNone/>
            </a:pPr>
            <a:r>
              <a:rPr lang="en-US" dirty="0"/>
              <a:t>	</a:t>
            </a:r>
            <a:r>
              <a:rPr lang="en-US" b="1" dirty="0"/>
              <a:t>Human Resource MIS Subsystems and Outputs </a:t>
            </a:r>
          </a:p>
          <a:p>
            <a:r>
              <a:rPr lang="en-US" dirty="0"/>
              <a:t>Human resource planning (based on strategic plans will we need more staff or downsize)</a:t>
            </a:r>
          </a:p>
          <a:p>
            <a:r>
              <a:rPr lang="en-US" dirty="0"/>
              <a:t> Personnel selection and recruiting (are we understaffed? )</a:t>
            </a:r>
          </a:p>
          <a:p>
            <a:r>
              <a:rPr lang="en-US" dirty="0"/>
              <a:t> Training and skills inventory (which staff needs training, what skills do we have in house)</a:t>
            </a:r>
          </a:p>
          <a:p>
            <a:r>
              <a:rPr lang="en-US" dirty="0"/>
              <a:t>Scheduling and job placement (shifts, short long term placements)</a:t>
            </a:r>
          </a:p>
          <a:p>
            <a:r>
              <a:rPr lang="en-US" dirty="0"/>
              <a:t>Wage and salary administration reports</a:t>
            </a:r>
          </a:p>
          <a:p>
            <a:r>
              <a:rPr lang="en-US" dirty="0"/>
              <a:t>System recommended automated decision (</a:t>
            </a:r>
            <a:r>
              <a:rPr lang="en-US"/>
              <a:t>warning,suspend, </a:t>
            </a:r>
            <a:r>
              <a:rPr lang="en-US" dirty="0"/>
              <a:t>fire / short list, hire, promote)</a:t>
            </a:r>
          </a:p>
        </p:txBody>
      </p:sp>
    </p:spTree>
    <p:extLst>
      <p:ext uri="{BB962C8B-B14F-4D97-AF65-F5344CB8AC3E}">
        <p14:creationId xmlns:p14="http://schemas.microsoft.com/office/powerpoint/2010/main" val="32017319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A505A-ADDD-4810-9D36-5D22FB89429A}"/>
              </a:ext>
            </a:extLst>
          </p:cNvPr>
          <p:cNvSpPr>
            <a:spLocks noGrp="1"/>
          </p:cNvSpPr>
          <p:nvPr>
            <p:ph type="title"/>
          </p:nvPr>
        </p:nvSpPr>
        <p:spPr/>
        <p:txBody>
          <a:bodyPr/>
          <a:lstStyle/>
          <a:p>
            <a:r>
              <a:rPr lang="en-US" dirty="0"/>
              <a:t>Decision support systems (DSS)</a:t>
            </a:r>
          </a:p>
        </p:txBody>
      </p:sp>
      <p:sp>
        <p:nvSpPr>
          <p:cNvPr id="3" name="Content Placeholder 2">
            <a:extLst>
              <a:ext uri="{FF2B5EF4-FFF2-40B4-BE49-F238E27FC236}">
                <a16:creationId xmlns:a16="http://schemas.microsoft.com/office/drawing/2014/main" id="{D2A1A657-2AE0-4430-B3E5-65BECF440BA8}"/>
              </a:ext>
            </a:extLst>
          </p:cNvPr>
          <p:cNvSpPr>
            <a:spLocks noGrp="1"/>
          </p:cNvSpPr>
          <p:nvPr>
            <p:ph idx="1"/>
          </p:nvPr>
        </p:nvSpPr>
        <p:spPr>
          <a:xfrm>
            <a:off x="1251678" y="2040835"/>
            <a:ext cx="10178322" cy="4448032"/>
          </a:xfrm>
        </p:spPr>
        <p:txBody>
          <a:bodyPr>
            <a:normAutofit/>
          </a:bodyPr>
          <a:lstStyle/>
          <a:p>
            <a:r>
              <a:rPr lang="en-US" dirty="0"/>
              <a:t>A decision support system is a computer application that helps users analyze problems and make business decisions more confidently.  </a:t>
            </a:r>
          </a:p>
          <a:p>
            <a:r>
              <a:rPr lang="en-US" dirty="0"/>
              <a:t>This can be an independent system or essential part of the MIS</a:t>
            </a:r>
          </a:p>
          <a:p>
            <a:r>
              <a:rPr lang="en-US" dirty="0"/>
              <a:t>It uses data routinely collected in organizations and special analysis tools to provide information support to complex decisions. </a:t>
            </a:r>
          </a:p>
          <a:p>
            <a:r>
              <a:rPr lang="en-US" dirty="0"/>
              <a:t>DSS is more suited to handling unique and non-routine decision problems. </a:t>
            </a:r>
          </a:p>
          <a:p>
            <a:r>
              <a:rPr lang="en-US" dirty="0"/>
              <a:t>Each problem might require a different approach to problem definition, analysis and resolution.</a:t>
            </a:r>
          </a:p>
          <a:p>
            <a:r>
              <a:rPr lang="en-US" dirty="0"/>
              <a:t>Decision support systems (DSS) are computer-based information systems that are designed with the express purpose of improving the process and outcome of decision making.</a:t>
            </a:r>
          </a:p>
          <a:p>
            <a:endParaRPr lang="en-US" dirty="0"/>
          </a:p>
        </p:txBody>
      </p:sp>
    </p:spTree>
    <p:extLst>
      <p:ext uri="{BB962C8B-B14F-4D97-AF65-F5344CB8AC3E}">
        <p14:creationId xmlns:p14="http://schemas.microsoft.com/office/powerpoint/2010/main" val="22560488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A7DA2-34C4-4928-B5C1-1D53D5174A4A}"/>
              </a:ext>
            </a:extLst>
          </p:cNvPr>
          <p:cNvSpPr>
            <a:spLocks noGrp="1"/>
          </p:cNvSpPr>
          <p:nvPr>
            <p:ph type="title"/>
          </p:nvPr>
        </p:nvSpPr>
        <p:spPr/>
        <p:txBody>
          <a:bodyPr/>
          <a:lstStyle/>
          <a:p>
            <a:pPr algn="ctr"/>
            <a:r>
              <a:rPr lang="en-US" dirty="0"/>
              <a:t>Decision making with DSS</a:t>
            </a:r>
          </a:p>
        </p:txBody>
      </p:sp>
      <p:sp>
        <p:nvSpPr>
          <p:cNvPr id="3" name="Content Placeholder 2">
            <a:extLst>
              <a:ext uri="{FF2B5EF4-FFF2-40B4-BE49-F238E27FC236}">
                <a16:creationId xmlns:a16="http://schemas.microsoft.com/office/drawing/2014/main" id="{A0FBF453-8593-4A9A-BC52-75611DE8A469}"/>
              </a:ext>
            </a:extLst>
          </p:cNvPr>
          <p:cNvSpPr>
            <a:spLocks noGrp="1"/>
          </p:cNvSpPr>
          <p:nvPr>
            <p:ph idx="1"/>
          </p:nvPr>
        </p:nvSpPr>
        <p:spPr>
          <a:xfrm>
            <a:off x="1251678" y="1364974"/>
            <a:ext cx="10178322" cy="5247861"/>
          </a:xfrm>
        </p:spPr>
        <p:txBody>
          <a:bodyPr>
            <a:normAutofit/>
          </a:bodyPr>
          <a:lstStyle/>
          <a:p>
            <a:r>
              <a:rPr lang="en-US" dirty="0"/>
              <a:t>DSS is designed to support managerial decision-making, usually, at middle and top levels of management. </a:t>
            </a:r>
          </a:p>
          <a:p>
            <a:r>
              <a:rPr lang="en-US" dirty="0"/>
              <a:t>There two main types of decision making approaches Futuristic and Programmable</a:t>
            </a:r>
          </a:p>
          <a:p>
            <a:r>
              <a:rPr lang="en-US" dirty="0"/>
              <a:t>Decisions made at the top level are mostly futuristic and nonrepetitive in nature. </a:t>
            </a:r>
          </a:p>
          <a:p>
            <a:pPr lvl="1"/>
            <a:r>
              <a:rPr lang="en-US" dirty="0"/>
              <a:t>Such decision situations are highly uncertain and even specification of information requirements for decisions are difficult. </a:t>
            </a:r>
          </a:p>
          <a:p>
            <a:pPr lvl="1"/>
            <a:r>
              <a:rPr lang="en-US" dirty="0"/>
              <a:t> They are classified as non-programmable or unstructured decision situations. The cost of a wrong decision is usually very high, for example a decision to sell off a line of business. </a:t>
            </a:r>
          </a:p>
          <a:p>
            <a:r>
              <a:rPr lang="en-US" dirty="0"/>
              <a:t>This is in sharp contrast to programmable or structured decisions where the decision procedure can be well defined and every information requirement can be pre-specified. Most of the decisions taken at lower levels of management fall into this category.</a:t>
            </a:r>
          </a:p>
        </p:txBody>
      </p:sp>
    </p:spTree>
    <p:extLst>
      <p:ext uri="{BB962C8B-B14F-4D97-AF65-F5344CB8AC3E}">
        <p14:creationId xmlns:p14="http://schemas.microsoft.com/office/powerpoint/2010/main" val="30425881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9558-6406-4592-A3C6-02699EF8035F}"/>
              </a:ext>
            </a:extLst>
          </p:cNvPr>
          <p:cNvSpPr>
            <a:spLocks noGrp="1"/>
          </p:cNvSpPr>
          <p:nvPr>
            <p:ph type="title"/>
          </p:nvPr>
        </p:nvSpPr>
        <p:spPr/>
        <p:txBody>
          <a:bodyPr/>
          <a:lstStyle/>
          <a:p>
            <a:r>
              <a:rPr lang="en-US" dirty="0" err="1"/>
              <a:t>Dss</a:t>
            </a:r>
            <a:r>
              <a:rPr lang="en-US" dirty="0"/>
              <a:t> Design approach</a:t>
            </a:r>
          </a:p>
        </p:txBody>
      </p:sp>
      <p:sp>
        <p:nvSpPr>
          <p:cNvPr id="3" name="Content Placeholder 2">
            <a:extLst>
              <a:ext uri="{FF2B5EF4-FFF2-40B4-BE49-F238E27FC236}">
                <a16:creationId xmlns:a16="http://schemas.microsoft.com/office/drawing/2014/main" id="{58D4FB1B-7458-4BAC-BC6D-AD701592E6D7}"/>
              </a:ext>
            </a:extLst>
          </p:cNvPr>
          <p:cNvSpPr>
            <a:spLocks noGrp="1"/>
          </p:cNvSpPr>
          <p:nvPr>
            <p:ph idx="1"/>
          </p:nvPr>
        </p:nvSpPr>
        <p:spPr>
          <a:xfrm>
            <a:off x="1251678" y="2286001"/>
            <a:ext cx="10178322" cy="3796747"/>
          </a:xfrm>
        </p:spPr>
        <p:txBody>
          <a:bodyPr>
            <a:normAutofit/>
          </a:bodyPr>
          <a:lstStyle/>
          <a:p>
            <a:r>
              <a:rPr lang="en-US" dirty="0"/>
              <a:t>The physical design of a successful DSS must follow a logical design, which in turn must be guided by the decision-making process. In particular, designers should ask the same fundamental questions as those on which reporters rely:</a:t>
            </a:r>
          </a:p>
          <a:p>
            <a:r>
              <a:rPr lang="en-US" i="1" dirty="0"/>
              <a:t>Who</a:t>
            </a:r>
            <a:r>
              <a:rPr lang="en-US" dirty="0"/>
              <a:t> needs the DSS?</a:t>
            </a:r>
          </a:p>
          <a:p>
            <a:r>
              <a:rPr lang="en-US" i="1" dirty="0"/>
              <a:t>What</a:t>
            </a:r>
            <a:r>
              <a:rPr lang="en-US" dirty="0"/>
              <a:t> advantages does the user expect by using the DSS?</a:t>
            </a:r>
          </a:p>
          <a:p>
            <a:r>
              <a:rPr lang="en-US" i="1" dirty="0"/>
              <a:t>When</a:t>
            </a:r>
            <a:r>
              <a:rPr lang="en-US" dirty="0"/>
              <a:t> will the DSS be used?</a:t>
            </a:r>
          </a:p>
          <a:p>
            <a:r>
              <a:rPr lang="en-US" i="1" dirty="0"/>
              <a:t>Where</a:t>
            </a:r>
            <a:r>
              <a:rPr lang="en-US" dirty="0"/>
              <a:t> does this system fit into the general business process?</a:t>
            </a:r>
          </a:p>
          <a:p>
            <a:r>
              <a:rPr lang="en-US" i="1" dirty="0"/>
              <a:t>Why</a:t>
            </a:r>
            <a:r>
              <a:rPr lang="en-US" dirty="0"/>
              <a:t> is a DSS needed?</a:t>
            </a:r>
          </a:p>
          <a:p>
            <a:r>
              <a:rPr lang="en-US" i="1" dirty="0"/>
              <a:t>How</a:t>
            </a:r>
            <a:r>
              <a:rPr lang="en-US" dirty="0"/>
              <a:t> will the DSS be used?</a:t>
            </a:r>
          </a:p>
          <a:p>
            <a:endParaRPr lang="en-US" dirty="0"/>
          </a:p>
        </p:txBody>
      </p:sp>
    </p:spTree>
    <p:extLst>
      <p:ext uri="{BB962C8B-B14F-4D97-AF65-F5344CB8AC3E}">
        <p14:creationId xmlns:p14="http://schemas.microsoft.com/office/powerpoint/2010/main" val="40310045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3577F-A6D3-487A-ADCD-2DD92DFE1612}"/>
              </a:ext>
            </a:extLst>
          </p:cNvPr>
          <p:cNvSpPr>
            <a:spLocks noGrp="1"/>
          </p:cNvSpPr>
          <p:nvPr>
            <p:ph type="title"/>
          </p:nvPr>
        </p:nvSpPr>
        <p:spPr/>
        <p:txBody>
          <a:bodyPr/>
          <a:lstStyle/>
          <a:p>
            <a:r>
              <a:rPr lang="en-US" dirty="0"/>
              <a:t>Characteristics of </a:t>
            </a:r>
            <a:r>
              <a:rPr lang="en-US" dirty="0" err="1"/>
              <a:t>dss</a:t>
            </a:r>
            <a:endParaRPr lang="en-US" dirty="0"/>
          </a:p>
        </p:txBody>
      </p:sp>
      <p:sp>
        <p:nvSpPr>
          <p:cNvPr id="3" name="Content Placeholder 2">
            <a:extLst>
              <a:ext uri="{FF2B5EF4-FFF2-40B4-BE49-F238E27FC236}">
                <a16:creationId xmlns:a16="http://schemas.microsoft.com/office/drawing/2014/main" id="{F8EF6DEE-589B-4E32-A520-AB63FBEB9F75}"/>
              </a:ext>
            </a:extLst>
          </p:cNvPr>
          <p:cNvSpPr>
            <a:spLocks noGrp="1"/>
          </p:cNvSpPr>
          <p:nvPr>
            <p:ph idx="1"/>
          </p:nvPr>
        </p:nvSpPr>
        <p:spPr>
          <a:xfrm>
            <a:off x="1060173" y="1709531"/>
            <a:ext cx="10588487" cy="4664765"/>
          </a:xfrm>
        </p:spPr>
        <p:txBody>
          <a:bodyPr>
            <a:normAutofit/>
          </a:bodyPr>
          <a:lstStyle/>
          <a:p>
            <a:r>
              <a:rPr lang="en-US" dirty="0"/>
              <a:t>It is designed and run by managers.  (obviously most crucial decisions are made by managers)</a:t>
            </a:r>
          </a:p>
          <a:p>
            <a:r>
              <a:rPr lang="en-US" dirty="0"/>
              <a:t>It contains a database drawn from internal files and external environment. </a:t>
            </a:r>
          </a:p>
          <a:p>
            <a:r>
              <a:rPr lang="en-US" dirty="0"/>
              <a:t>It focuses on decision processes rather than on transaction processing. </a:t>
            </a:r>
          </a:p>
          <a:p>
            <a:r>
              <a:rPr lang="en-US" dirty="0"/>
              <a:t>It is concerned with a small area of managerial activity or a small part of a large problem. </a:t>
            </a:r>
          </a:p>
          <a:p>
            <a:r>
              <a:rPr lang="en-US" dirty="0"/>
              <a:t>It permits managers to test the probable results of alternative decisions. </a:t>
            </a:r>
          </a:p>
          <a:p>
            <a:r>
              <a:rPr lang="en-US" dirty="0"/>
              <a:t>It supports decision-making, usually in solving semi-structured complex problems. </a:t>
            </a:r>
          </a:p>
          <a:p>
            <a:r>
              <a:rPr lang="en-US" dirty="0"/>
              <a:t>It helps in refining managerial judgment applied to problem solving. </a:t>
            </a:r>
          </a:p>
          <a:p>
            <a:r>
              <a:rPr lang="en-US" dirty="0"/>
              <a:t>It improves managerial decisions and thereby managerial effectiveness. </a:t>
            </a:r>
          </a:p>
          <a:p>
            <a:r>
              <a:rPr lang="en-US" dirty="0"/>
              <a:t> The decision maker retains control over decisions throughout the decision process.</a:t>
            </a:r>
          </a:p>
        </p:txBody>
      </p:sp>
    </p:spTree>
    <p:extLst>
      <p:ext uri="{BB962C8B-B14F-4D97-AF65-F5344CB8AC3E}">
        <p14:creationId xmlns:p14="http://schemas.microsoft.com/office/powerpoint/2010/main" val="6638178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8A14C-B26D-4D29-AAD9-A5A6BE4C9666}"/>
              </a:ext>
            </a:extLst>
          </p:cNvPr>
          <p:cNvSpPr>
            <a:spLocks noGrp="1"/>
          </p:cNvSpPr>
          <p:nvPr>
            <p:ph type="title"/>
          </p:nvPr>
        </p:nvSpPr>
        <p:spPr/>
        <p:txBody>
          <a:bodyPr/>
          <a:lstStyle/>
          <a:p>
            <a:r>
              <a:rPr lang="en-US" dirty="0"/>
              <a:t>End of presentation</a:t>
            </a:r>
          </a:p>
        </p:txBody>
      </p:sp>
      <p:sp>
        <p:nvSpPr>
          <p:cNvPr id="3" name="Content Placeholder 2">
            <a:extLst>
              <a:ext uri="{FF2B5EF4-FFF2-40B4-BE49-F238E27FC236}">
                <a16:creationId xmlns:a16="http://schemas.microsoft.com/office/drawing/2014/main" id="{6D76806A-ECF9-4A8C-A891-D71938585DF5}"/>
              </a:ext>
            </a:extLst>
          </p:cNvPr>
          <p:cNvSpPr>
            <a:spLocks noGrp="1"/>
          </p:cNvSpPr>
          <p:nvPr>
            <p:ph idx="1"/>
          </p:nvPr>
        </p:nvSpPr>
        <p:spPr/>
        <p:txBody>
          <a:bodyPr/>
          <a:lstStyle/>
          <a:p>
            <a:pPr marL="0" indent="0">
              <a:buNone/>
            </a:pPr>
            <a:endParaRPr lang="en-US" dirty="0"/>
          </a:p>
          <a:p>
            <a:pPr marL="0" indent="0">
              <a:buNone/>
            </a:pPr>
            <a:r>
              <a:rPr lang="en-US"/>
              <a:t>		any questions?</a:t>
            </a:r>
            <a:endParaRPr lang="en-US" dirty="0"/>
          </a:p>
        </p:txBody>
      </p:sp>
    </p:spTree>
    <p:extLst>
      <p:ext uri="{BB962C8B-B14F-4D97-AF65-F5344CB8AC3E}">
        <p14:creationId xmlns:p14="http://schemas.microsoft.com/office/powerpoint/2010/main" val="3336421144"/>
      </p:ext>
    </p:extLst>
  </p:cSld>
  <p:clrMapOvr>
    <a:masterClrMapping/>
  </p:clrMapOvr>
</p:sld>
</file>

<file path=ppt/theme/theme1.xml><?xml version="1.0" encoding="utf-8"?>
<a:theme xmlns:a="http://schemas.openxmlformats.org/drawingml/2006/main" name="Badge">
  <a:themeElements>
    <a:clrScheme name="Badge">
      <a:dk1>
        <a:sysClr val="windowText" lastClr="000000"/>
      </a:dk1>
      <a:lt1>
        <a:sysClr val="window" lastClr="FFFFFF"/>
      </a:lt1>
      <a:dk2>
        <a:srgbClr val="2A1A00"/>
      </a:dk2>
      <a:lt2>
        <a:srgbClr val="F3F3F2"/>
      </a:lt2>
      <a:accent1>
        <a:srgbClr val="F8B323"/>
      </a:accent1>
      <a:accent2>
        <a:srgbClr val="656A59"/>
      </a:accent2>
      <a:accent3>
        <a:srgbClr val="46B2B5"/>
      </a:accent3>
      <a:accent4>
        <a:srgbClr val="8CAA7E"/>
      </a:accent4>
      <a:accent5>
        <a:srgbClr val="D36F68"/>
      </a:accent5>
      <a:accent6>
        <a:srgbClr val="826276"/>
      </a:accent6>
      <a:hlink>
        <a:srgbClr val="46B2B5"/>
      </a:hlink>
      <a:folHlink>
        <a:srgbClr val="A46694"/>
      </a:folHlink>
    </a:clrScheme>
    <a:fontScheme name="Badge">
      <a:majorFont>
        <a:latin typeface="Impact" panose="020B080603090205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ill Sans MT" panose="020B0502020104020203"/>
        <a:ea typeface=""/>
        <a:cs typeface=""/>
        <a:font script="Grek" typeface="Corbel"/>
        <a:font script="Cyrl" typeface="Corbel"/>
        <a:font script="Jpan" typeface="メイリオ"/>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771EA782-DFA6-45B1-AEA3-661F1715B310}"/>
    </a:ext>
  </a:extLst>
</a:theme>
</file>

<file path=docProps/app.xml><?xml version="1.0" encoding="utf-8"?>
<Properties xmlns="http://schemas.openxmlformats.org/officeDocument/2006/extended-properties" xmlns:vt="http://schemas.openxmlformats.org/officeDocument/2006/docPropsVTypes">
  <Template>TM10001106[[fn=Badge]]</Template>
  <TotalTime>16733</TotalTime>
  <Words>2899</Words>
  <Application>Microsoft Office PowerPoint</Application>
  <PresentationFormat>Widescreen</PresentationFormat>
  <Paragraphs>247</Paragraphs>
  <Slides>32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Gill Sans MT</vt:lpstr>
      <vt:lpstr>Impact</vt:lpstr>
      <vt:lpstr>Badge</vt:lpstr>
      <vt:lpstr>Mis </vt:lpstr>
      <vt:lpstr>scope </vt:lpstr>
      <vt:lpstr>What is a system</vt:lpstr>
      <vt:lpstr>Elements of a computer system</vt:lpstr>
      <vt:lpstr>MIS DEFINED </vt:lpstr>
      <vt:lpstr>MIS THE KEY WORDS </vt:lpstr>
      <vt:lpstr>Mis concepts</vt:lpstr>
      <vt:lpstr>MIS and the business industry</vt:lpstr>
      <vt:lpstr>Mis and the business industry continued</vt:lpstr>
      <vt:lpstr>Functions of mis</vt:lpstr>
      <vt:lpstr>Mis information processing functions</vt:lpstr>
      <vt:lpstr>Functional uses of mis</vt:lpstr>
      <vt:lpstr>Strategic Uses of MIS </vt:lpstr>
      <vt:lpstr>Designs OF MIS</vt:lpstr>
      <vt:lpstr>The MIS DESIGN THEORY</vt:lpstr>
      <vt:lpstr>Mis design theory continued</vt:lpstr>
      <vt:lpstr>Mis general physical structure </vt:lpstr>
      <vt:lpstr>Mis functional based structure </vt:lpstr>
      <vt:lpstr>Mis modules</vt:lpstr>
      <vt:lpstr>Mis financial module </vt:lpstr>
      <vt:lpstr>Inputs and outputs of the mis financial module</vt:lpstr>
      <vt:lpstr>Service provision /manufacturing mis module</vt:lpstr>
      <vt:lpstr>Inputs/ outputs for the mis service/ manufacturing module</vt:lpstr>
      <vt:lpstr>mis Marketing module </vt:lpstr>
      <vt:lpstr>Inputs and outputs in a Marketing MIS</vt:lpstr>
      <vt:lpstr>Human Resource MIS module </vt:lpstr>
      <vt:lpstr>Inputs and outputs in the Human Resource MIS module</vt:lpstr>
      <vt:lpstr>Decision support systems (DSS)</vt:lpstr>
      <vt:lpstr>Decision making with DSS</vt:lpstr>
      <vt:lpstr>Dss Design approach</vt:lpstr>
      <vt:lpstr>Characteristics of dss</vt:lpstr>
      <vt:lpstr>End of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 </dc:title>
  <dc:creator>www.ibitconsult.com</dc:creator>
  <cp:lastModifiedBy>www.ibitconsult.com</cp:lastModifiedBy>
  <cp:revision>195</cp:revision>
  <dcterms:created xsi:type="dcterms:W3CDTF">2019-05-01T18:00:25Z</dcterms:created>
  <dcterms:modified xsi:type="dcterms:W3CDTF">2019-06-19T12:57:46Z</dcterms:modified>
</cp:coreProperties>
</file>