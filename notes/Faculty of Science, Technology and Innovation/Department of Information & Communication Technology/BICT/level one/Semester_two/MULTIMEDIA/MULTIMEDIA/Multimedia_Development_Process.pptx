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37" autoAdjust="0"/>
  </p:normalViewPr>
  <p:slideViewPr>
    <p:cSldViewPr>
      <p:cViewPr>
        <p:scale>
          <a:sx n="90" d="100"/>
          <a:sy n="90" d="100"/>
        </p:scale>
        <p:origin x="-594" y="288"/>
      </p:cViewPr>
      <p:guideLst>
        <p:guide orient="horz" pos="2160"/>
        <p:guide pos="2880"/>
      </p:guideLst>
    </p:cSldViewPr>
  </p:slideViewPr>
  <p:outlineViewPr>
    <p:cViewPr>
      <p:scale>
        <a:sx n="33" d="100"/>
        <a:sy n="33" d="100"/>
      </p:scale>
      <p:origin x="0" y="6174"/>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0F593ADC-6DFB-4F76-B112-5A0440230528}" type="datetimeFigureOut">
              <a:rPr lang="en-US" smtClean="0"/>
              <a:t>1/1/1988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F593ADC-6DFB-4F76-B112-5A0440230528}" type="datetimeFigureOut">
              <a:rPr lang="en-US" smtClean="0"/>
              <a:t>1/1/1988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F593ADC-6DFB-4F76-B112-5A0440230528}" type="datetimeFigureOut">
              <a:rPr lang="en-US" smtClean="0"/>
              <a:t>1/1/1988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0F593ADC-6DFB-4F76-B112-5A0440230528}" type="datetimeFigureOut">
              <a:rPr lang="en-US" smtClean="0"/>
              <a:t>1/1/1988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0F593ADC-6DFB-4F76-B112-5A0440230528}" type="datetimeFigureOut">
              <a:rPr lang="en-US" smtClean="0"/>
              <a:t>1/1/1988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0F593ADC-6DFB-4F76-B112-5A0440230528}" type="datetimeFigureOut">
              <a:rPr lang="en-US" smtClean="0"/>
              <a:t>1/1/1988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F593ADC-6DFB-4F76-B112-5A0440230528}" type="datetimeFigureOut">
              <a:rPr lang="en-US" smtClean="0"/>
              <a:t>1/1/1988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F593ADC-6DFB-4F76-B112-5A0440230528}" type="datetimeFigureOut">
              <a:rPr lang="en-US" smtClean="0"/>
              <a:t>1/1/1988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F593ADC-6DFB-4F76-B112-5A0440230528}" type="datetimeFigureOut">
              <a:rPr lang="en-US" smtClean="0"/>
              <a:t>1/1/1988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F593ADC-6DFB-4F76-B112-5A0440230528}" type="datetimeFigureOut">
              <a:rPr lang="en-US" smtClean="0"/>
              <a:t>1/1/1988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0F593ADC-6DFB-4F76-B112-5A0440230528}" type="datetimeFigureOut">
              <a:rPr lang="en-US" smtClean="0"/>
              <a:t>1/1/1988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D52E9B8-DA5D-4CC2-BB71-93694BD6EBD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F593ADC-6DFB-4F76-B112-5A0440230528}" type="datetimeFigureOut">
              <a:rPr lang="en-US" smtClean="0"/>
              <a:t>1/1/1988</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52E9B8-DA5D-4CC2-BB71-93694BD6EBD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b="1" dirty="0" smtClean="0"/>
              <a:t>Multimedia Development Process</a:t>
            </a:r>
            <a:br>
              <a:rPr lang="en-US" b="1" dirty="0" smtClean="0"/>
            </a:br>
            <a:endParaRPr lang="en-US" dirty="0"/>
          </a:p>
        </p:txBody>
      </p:sp>
      <p:sp>
        <p:nvSpPr>
          <p:cNvPr id="3" name="Subtitle 2"/>
          <p:cNvSpPr>
            <a:spLocks noGrp="1"/>
          </p:cNvSpPr>
          <p:nvPr>
            <p:ph type="subTitle" idx="1"/>
          </p:nvPr>
        </p:nvSpPr>
        <p:spPr/>
        <p:txBody>
          <a:bodyPr/>
          <a:lstStyle/>
          <a:p>
            <a:endParaRPr lang="en-US"/>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Phases of Multimedia Development Process</a:t>
            </a:r>
            <a:endParaRPr lang="en-US" dirty="0"/>
          </a:p>
        </p:txBody>
      </p:sp>
      <p:sp>
        <p:nvSpPr>
          <p:cNvPr id="3" name="Content Placeholder 2"/>
          <p:cNvSpPr>
            <a:spLocks noGrp="1"/>
          </p:cNvSpPr>
          <p:nvPr>
            <p:ph idx="1"/>
          </p:nvPr>
        </p:nvSpPr>
        <p:spPr/>
        <p:txBody>
          <a:bodyPr>
            <a:normAutofit lnSpcReduction="10000"/>
          </a:bodyPr>
          <a:lstStyle/>
          <a:p>
            <a:r>
              <a:rPr lang="en-US" dirty="0" smtClean="0"/>
              <a:t>The </a:t>
            </a:r>
            <a:r>
              <a:rPr lang="en-US" dirty="0"/>
              <a:t>multimedia development process consists of six main phases:</a:t>
            </a:r>
          </a:p>
          <a:p>
            <a:r>
              <a:rPr lang="en-US" dirty="0"/>
              <a:t>(a) funding</a:t>
            </a:r>
          </a:p>
          <a:p>
            <a:r>
              <a:rPr lang="en-US" dirty="0"/>
              <a:t>(b) planning</a:t>
            </a:r>
          </a:p>
          <a:p>
            <a:r>
              <a:rPr lang="en-US" dirty="0"/>
              <a:t>(c) designing</a:t>
            </a:r>
          </a:p>
          <a:p>
            <a:r>
              <a:rPr lang="en-US" dirty="0"/>
              <a:t>(d) producing</a:t>
            </a:r>
          </a:p>
          <a:p>
            <a:r>
              <a:rPr lang="en-US" dirty="0"/>
              <a:t>(e) testing</a:t>
            </a:r>
          </a:p>
          <a:p>
            <a:r>
              <a:rPr lang="en-US" dirty="0"/>
              <a:t>(f) marketing</a:t>
            </a:r>
          </a:p>
          <a:p>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Phases of Multimedia Development Process</a:t>
            </a:r>
            <a:endParaRPr lang="en-US" dirty="0"/>
          </a:p>
        </p:txBody>
      </p:sp>
      <p:sp>
        <p:nvSpPr>
          <p:cNvPr id="3" name="Content Placeholder 2"/>
          <p:cNvSpPr>
            <a:spLocks noGrp="1"/>
          </p:cNvSpPr>
          <p:nvPr>
            <p:ph idx="1"/>
          </p:nvPr>
        </p:nvSpPr>
        <p:spPr/>
        <p:txBody>
          <a:bodyPr>
            <a:normAutofit/>
          </a:bodyPr>
          <a:lstStyle/>
          <a:p>
            <a:r>
              <a:rPr lang="en-US" dirty="0" smtClean="0"/>
              <a:t>Each phase has a number of activities associated with it and has its own characteristics.</a:t>
            </a:r>
          </a:p>
          <a:p>
            <a:r>
              <a:rPr lang="en-US" dirty="0" smtClean="0"/>
              <a:t> These phases represent the process from the inception of an idea to the finished product. </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Phases of Multimedia Development Process</a:t>
            </a:r>
            <a:endParaRPr lang="en-US" dirty="0"/>
          </a:p>
        </p:txBody>
      </p:sp>
      <p:sp>
        <p:nvSpPr>
          <p:cNvPr id="3" name="Content Placeholder 2"/>
          <p:cNvSpPr>
            <a:spLocks noGrp="1"/>
          </p:cNvSpPr>
          <p:nvPr>
            <p:ph idx="1"/>
          </p:nvPr>
        </p:nvSpPr>
        <p:spPr/>
        <p:txBody>
          <a:bodyPr/>
          <a:lstStyle/>
          <a:p>
            <a:r>
              <a:rPr lang="en-US" dirty="0" smtClean="0"/>
              <a:t>Companies very often work on several projects simultaneously. </a:t>
            </a:r>
          </a:p>
          <a:p>
            <a:r>
              <a:rPr lang="en-US" dirty="0" smtClean="0"/>
              <a:t>The projects are at different phases for predetermined periods of time.</a:t>
            </a:r>
          </a:p>
          <a:p>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Funding</a:t>
            </a:r>
            <a:br>
              <a:rPr lang="en-US" b="1" dirty="0" smtClean="0"/>
            </a:br>
            <a:endParaRPr lang="en-US" dirty="0"/>
          </a:p>
        </p:txBody>
      </p:sp>
      <p:sp>
        <p:nvSpPr>
          <p:cNvPr id="3" name="Content Placeholder 2"/>
          <p:cNvSpPr>
            <a:spLocks noGrp="1"/>
          </p:cNvSpPr>
          <p:nvPr>
            <p:ph idx="1"/>
          </p:nvPr>
        </p:nvSpPr>
        <p:spPr/>
        <p:txBody>
          <a:bodyPr>
            <a:normAutofit/>
          </a:bodyPr>
          <a:lstStyle/>
          <a:p>
            <a:r>
              <a:rPr lang="en-US" dirty="0" smtClean="0"/>
              <a:t>Obtaining </a:t>
            </a:r>
            <a:r>
              <a:rPr lang="en-US" dirty="0"/>
              <a:t>funding is a critical phase for most multimedia companies</a:t>
            </a:r>
            <a:r>
              <a:rPr lang="en-US" dirty="0" smtClean="0"/>
              <a:t>.</a:t>
            </a:r>
          </a:p>
          <a:p>
            <a:r>
              <a:rPr lang="en-US" dirty="0" smtClean="0"/>
              <a:t> </a:t>
            </a:r>
            <a:r>
              <a:rPr lang="en-US" dirty="0"/>
              <a:t>There are a number of </a:t>
            </a:r>
            <a:r>
              <a:rPr lang="en-US" dirty="0" smtClean="0"/>
              <a:t>ways they </a:t>
            </a:r>
            <a:r>
              <a:rPr lang="en-US" dirty="0"/>
              <a:t>get funding:</a:t>
            </a:r>
          </a:p>
          <a:p>
            <a:r>
              <a:rPr lang="en-US" dirty="0"/>
              <a:t>(a) writing proposals to get a grant from public or private sources</a:t>
            </a:r>
          </a:p>
          <a:p>
            <a:r>
              <a:rPr lang="en-US" dirty="0"/>
              <a:t>(b) responding to "Request for Proposals" (RFP)</a:t>
            </a:r>
          </a:p>
          <a:p>
            <a:r>
              <a:rPr lang="en-US" dirty="0"/>
              <a:t>(c) joining </a:t>
            </a:r>
            <a:r>
              <a:rPr lang="en-US" dirty="0" smtClean="0"/>
              <a:t>competitions</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Funding</a:t>
            </a:r>
            <a:endParaRPr lang="en-US" dirty="0"/>
          </a:p>
        </p:txBody>
      </p:sp>
      <p:sp>
        <p:nvSpPr>
          <p:cNvPr id="3" name="Content Placeholder 2"/>
          <p:cNvSpPr>
            <a:spLocks noGrp="1"/>
          </p:cNvSpPr>
          <p:nvPr>
            <p:ph idx="1"/>
          </p:nvPr>
        </p:nvSpPr>
        <p:spPr/>
        <p:txBody>
          <a:bodyPr>
            <a:normAutofit/>
          </a:bodyPr>
          <a:lstStyle/>
          <a:p>
            <a:r>
              <a:rPr lang="en-US" dirty="0" smtClean="0"/>
              <a:t>(d) (4) obtaining contracts through personal contacts and/or referrals</a:t>
            </a:r>
          </a:p>
          <a:p>
            <a:r>
              <a:rPr lang="en-US" dirty="0" smtClean="0"/>
              <a:t>(e) creating a prototype and then finding a company interested in developing it.</a:t>
            </a:r>
          </a:p>
          <a:p>
            <a:endParaRPr lang="en-US" dirty="0" smtClean="0"/>
          </a:p>
          <a:p>
            <a:r>
              <a:rPr lang="en-US" dirty="0" smtClean="0"/>
              <a:t>For most companies their work is through a contract with a client obtained by one or more of the means mentioned above. </a:t>
            </a:r>
          </a:p>
          <a:p>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Funding</a:t>
            </a:r>
            <a:endParaRPr lang="en-US" dirty="0"/>
          </a:p>
        </p:txBody>
      </p:sp>
      <p:sp>
        <p:nvSpPr>
          <p:cNvPr id="3" name="Content Placeholder 2"/>
          <p:cNvSpPr>
            <a:spLocks noGrp="1"/>
          </p:cNvSpPr>
          <p:nvPr>
            <p:ph idx="1"/>
          </p:nvPr>
        </p:nvSpPr>
        <p:spPr/>
        <p:txBody>
          <a:bodyPr>
            <a:normAutofit/>
          </a:bodyPr>
          <a:lstStyle/>
          <a:p>
            <a:r>
              <a:rPr lang="en-US" dirty="0" smtClean="0"/>
              <a:t>The client can be a major publisher, a state or federal agency, or a company. </a:t>
            </a:r>
          </a:p>
          <a:p>
            <a:r>
              <a:rPr lang="en-US" dirty="0" smtClean="0"/>
              <a:t>The project managers, executive producers, or owners often spend a considerable amount of time writing proposals to respond to "Request for Proposals" and networking with other interested parties. </a:t>
            </a:r>
          </a:p>
          <a:p>
            <a:endParaRPr lang="en-US" dirty="0" smtClean="0"/>
          </a:p>
          <a:p>
            <a:endParaRPr 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Funding</a:t>
            </a:r>
            <a:endParaRPr lang="en-US" dirty="0"/>
          </a:p>
        </p:txBody>
      </p:sp>
      <p:sp>
        <p:nvSpPr>
          <p:cNvPr id="3" name="Content Placeholder 2"/>
          <p:cNvSpPr>
            <a:spLocks noGrp="1"/>
          </p:cNvSpPr>
          <p:nvPr>
            <p:ph idx="1"/>
          </p:nvPr>
        </p:nvSpPr>
        <p:spPr/>
        <p:txBody>
          <a:bodyPr/>
          <a:lstStyle/>
          <a:p>
            <a:r>
              <a:rPr lang="en-US" dirty="0" smtClean="0"/>
              <a:t>A well-written proposal not only presents a match between the goal of a funding source and the developer, but also outlines a detailed plan and demonstrates a proven track record</a:t>
            </a:r>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Important factors that could contribute to successful funding</a:t>
            </a:r>
            <a:br>
              <a:rPr lang="en-US" b="1" dirty="0" smtClean="0"/>
            </a:br>
            <a:endParaRPr lang="en-US" dirty="0"/>
          </a:p>
        </p:txBody>
      </p:sp>
      <p:sp>
        <p:nvSpPr>
          <p:cNvPr id="3" name="Content Placeholder 2"/>
          <p:cNvSpPr>
            <a:spLocks noGrp="1"/>
          </p:cNvSpPr>
          <p:nvPr>
            <p:ph idx="1"/>
          </p:nvPr>
        </p:nvSpPr>
        <p:spPr/>
        <p:txBody>
          <a:bodyPr>
            <a:normAutofit lnSpcReduction="10000"/>
          </a:bodyPr>
          <a:lstStyle/>
          <a:p>
            <a:r>
              <a:rPr lang="en-US" dirty="0" smtClean="0"/>
              <a:t>(</a:t>
            </a:r>
            <a:r>
              <a:rPr lang="en-US" dirty="0"/>
              <a:t>a) Small businesses often engage in publicizing their capabilities to promote their business.</a:t>
            </a:r>
          </a:p>
          <a:p>
            <a:r>
              <a:rPr lang="en-US" dirty="0"/>
              <a:t>(b) If a business finds a need for a particular product, it should take the initiative to contact </a:t>
            </a:r>
            <a:r>
              <a:rPr lang="en-US" dirty="0" smtClean="0"/>
              <a:t>relevant companies</a:t>
            </a:r>
            <a:r>
              <a:rPr lang="en-US" dirty="0"/>
              <a:t>, museums, or agencies to promote their ideas and get potential clients interested.</a:t>
            </a:r>
          </a:p>
          <a:p>
            <a:r>
              <a:rPr lang="en-US" dirty="0"/>
              <a:t>(c) You need to get the word out</a:t>
            </a:r>
            <a:r>
              <a:rPr lang="en-US" dirty="0" smtClean="0"/>
              <a:t>.</a:t>
            </a: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Important factors that could contribute to successful funding</a:t>
            </a:r>
            <a:endParaRPr lang="en-US" dirty="0"/>
          </a:p>
        </p:txBody>
      </p:sp>
      <p:sp>
        <p:nvSpPr>
          <p:cNvPr id="3" name="Content Placeholder 2"/>
          <p:cNvSpPr>
            <a:spLocks noGrp="1"/>
          </p:cNvSpPr>
          <p:nvPr>
            <p:ph idx="1"/>
          </p:nvPr>
        </p:nvSpPr>
        <p:spPr/>
        <p:txBody>
          <a:bodyPr>
            <a:normAutofit/>
          </a:bodyPr>
          <a:lstStyle/>
          <a:p>
            <a:r>
              <a:rPr lang="en-US" dirty="0" smtClean="0"/>
              <a:t>(d) Get to know people in the business and let them know that you are interested if a project comes up.</a:t>
            </a:r>
          </a:p>
          <a:p>
            <a:r>
              <a:rPr lang="en-US" dirty="0" smtClean="0"/>
              <a:t>(e) Producing quality work helps to establish a reputation so that the client may return in the future, it is certainly advantageous when the product wins an award.</a:t>
            </a:r>
          </a:p>
          <a:p>
            <a:endParaRPr lang="en-US"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Planning</a:t>
            </a:r>
            <a:endParaRPr lang="en-US" dirty="0"/>
          </a:p>
        </p:txBody>
      </p:sp>
      <p:sp>
        <p:nvSpPr>
          <p:cNvPr id="3" name="Content Placeholder 2"/>
          <p:cNvSpPr>
            <a:spLocks noGrp="1"/>
          </p:cNvSpPr>
          <p:nvPr>
            <p:ph idx="1"/>
          </p:nvPr>
        </p:nvSpPr>
        <p:spPr/>
        <p:txBody>
          <a:bodyPr>
            <a:normAutofit fontScale="92500"/>
          </a:bodyPr>
          <a:lstStyle/>
          <a:p>
            <a:r>
              <a:rPr lang="en-US" dirty="0" smtClean="0"/>
              <a:t>Once </a:t>
            </a:r>
            <a:r>
              <a:rPr lang="en-US" dirty="0"/>
              <a:t>a contract is secured, a series of negotiations begins between the developer and the client.</a:t>
            </a:r>
          </a:p>
          <a:p>
            <a:r>
              <a:rPr lang="en-US" dirty="0"/>
              <a:t>(a) It is very important to discuss the ownership of the content, the project schedule, and </a:t>
            </a:r>
            <a:r>
              <a:rPr lang="en-US" dirty="0" smtClean="0"/>
              <a:t>payment during </a:t>
            </a:r>
            <a:r>
              <a:rPr lang="en-US" dirty="0"/>
              <a:t>the negotiation phase.</a:t>
            </a:r>
          </a:p>
          <a:p>
            <a:r>
              <a:rPr lang="en-US" dirty="0"/>
              <a:t>(b) The negotiation phase clearly defines the roles of a client and a developer from initial contact</a:t>
            </a:r>
            <a:r>
              <a:rPr lang="en-US" dirty="0" smtClean="0"/>
              <a:t>.</a:t>
            </a:r>
            <a:endParaRPr lang="en-US"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Planning</a:t>
            </a:r>
            <a:endParaRPr lang="en-US" dirty="0"/>
          </a:p>
        </p:txBody>
      </p:sp>
      <p:sp>
        <p:nvSpPr>
          <p:cNvPr id="3" name="Content Placeholder 2"/>
          <p:cNvSpPr>
            <a:spLocks noGrp="1"/>
          </p:cNvSpPr>
          <p:nvPr>
            <p:ph idx="1"/>
          </p:nvPr>
        </p:nvSpPr>
        <p:spPr/>
        <p:txBody>
          <a:bodyPr>
            <a:normAutofit fontScale="92500"/>
          </a:bodyPr>
          <a:lstStyle/>
          <a:p>
            <a:r>
              <a:rPr lang="en-US" dirty="0" smtClean="0"/>
              <a:t>(c) Sometimes, the developer will receive the content from the client who owns the copyright of </a:t>
            </a:r>
            <a:r>
              <a:rPr lang="en-US" dirty="0" smtClean="0"/>
              <a:t>the materials </a:t>
            </a:r>
            <a:r>
              <a:rPr lang="en-US" dirty="0" smtClean="0"/>
              <a:t>and other times the developer has to generate new materials from scratch</a:t>
            </a:r>
            <a:r>
              <a:rPr lang="en-US" dirty="0" smtClean="0"/>
              <a:t>.</a:t>
            </a:r>
            <a:endParaRPr lang="en-US" dirty="0" smtClean="0"/>
          </a:p>
          <a:p>
            <a:r>
              <a:rPr lang="en-US" dirty="0" smtClean="0"/>
              <a:t>(d) The developer and the client need to agree on the completion dates or milestones for </a:t>
            </a:r>
            <a:r>
              <a:rPr lang="en-US" dirty="0" smtClean="0"/>
              <a:t>various phases </a:t>
            </a:r>
            <a:r>
              <a:rPr lang="en-US" dirty="0" smtClean="0"/>
              <a:t>to ensure the feasibility of the intended amount of work. The budget is discussed </a:t>
            </a:r>
            <a:r>
              <a:rPr lang="en-US" smtClean="0"/>
              <a:t>at </a:t>
            </a:r>
            <a:r>
              <a:rPr lang="en-US" smtClean="0"/>
              <a:t>this point</a:t>
            </a:r>
            <a:r>
              <a:rPr lang="en-US" dirty="0" smtClean="0"/>
              <a:t>.</a:t>
            </a:r>
          </a:p>
          <a:p>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Planning</a:t>
            </a:r>
            <a:endParaRPr lang="en-US" dirty="0"/>
          </a:p>
        </p:txBody>
      </p:sp>
      <p:sp>
        <p:nvSpPr>
          <p:cNvPr id="3" name="Content Placeholder 2"/>
          <p:cNvSpPr>
            <a:spLocks noGrp="1"/>
          </p:cNvSpPr>
          <p:nvPr>
            <p:ph idx="1"/>
          </p:nvPr>
        </p:nvSpPr>
        <p:spPr/>
        <p:txBody>
          <a:bodyPr>
            <a:normAutofit/>
          </a:bodyPr>
          <a:lstStyle/>
          <a:p>
            <a:r>
              <a:rPr lang="en-US" dirty="0" smtClean="0"/>
              <a:t>(e) The ultimate goal of a contract is to help maintain a favorable working relationship between the client and the developer and to agree on roles and division of responsibilities.</a:t>
            </a:r>
          </a:p>
          <a:p>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Planning</a:t>
            </a:r>
            <a:endParaRPr lang="en-US" dirty="0"/>
          </a:p>
        </p:txBody>
      </p:sp>
      <p:sp>
        <p:nvSpPr>
          <p:cNvPr id="3" name="Content Placeholder 2"/>
          <p:cNvSpPr>
            <a:spLocks noGrp="1"/>
          </p:cNvSpPr>
          <p:nvPr>
            <p:ph idx="1"/>
          </p:nvPr>
        </p:nvSpPr>
        <p:spPr/>
        <p:txBody>
          <a:bodyPr>
            <a:normAutofit/>
          </a:bodyPr>
          <a:lstStyle/>
          <a:p>
            <a:r>
              <a:rPr lang="en-US" dirty="0" smtClean="0"/>
              <a:t>(f) Based upon what the client wants, the development team begins to brainstorm, outline the objectives, and decide on the presentation style, the delivery platform, and the approach to turn the content into an interactive multimedia product. Often, these ideas are  implemented in a prototype, which is reviewed by the client to see if it satisfies its needs.</a:t>
            </a:r>
          </a:p>
          <a:p>
            <a:endParaRPr lang="en-US"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Designing</a:t>
            </a:r>
            <a:endParaRPr lang="en-US" dirty="0"/>
          </a:p>
        </p:txBody>
      </p:sp>
      <p:sp>
        <p:nvSpPr>
          <p:cNvPr id="3" name="Content Placeholder 2"/>
          <p:cNvSpPr>
            <a:spLocks noGrp="1"/>
          </p:cNvSpPr>
          <p:nvPr>
            <p:ph idx="1"/>
          </p:nvPr>
        </p:nvSpPr>
        <p:spPr/>
        <p:txBody>
          <a:bodyPr>
            <a:normAutofit fontScale="92500" lnSpcReduction="10000"/>
          </a:bodyPr>
          <a:lstStyle/>
          <a:p>
            <a:r>
              <a:rPr lang="en-US" dirty="0" smtClean="0"/>
              <a:t>Based </a:t>
            </a:r>
            <a:r>
              <a:rPr lang="en-US" dirty="0"/>
              <a:t>upon the client's feedback of the prototype, various specification documents are </a:t>
            </a:r>
            <a:r>
              <a:rPr lang="en-US" dirty="0" smtClean="0"/>
              <a:t>developed which </a:t>
            </a:r>
            <a:r>
              <a:rPr lang="en-US" dirty="0"/>
              <a:t>provide detailed information on content, design, interface, and functions of the product.</a:t>
            </a:r>
          </a:p>
          <a:p>
            <a:r>
              <a:rPr lang="en-US" dirty="0"/>
              <a:t>Terms such as design document, functional specifications, and content script are used to refer </a:t>
            </a:r>
            <a:r>
              <a:rPr lang="en-US" dirty="0" smtClean="0"/>
              <a:t>to different </a:t>
            </a:r>
            <a:r>
              <a:rPr lang="en-US" dirty="0"/>
              <a:t>specification documents depending on the information and format provided by </a:t>
            </a:r>
            <a:r>
              <a:rPr lang="en-US" dirty="0" smtClean="0"/>
              <a:t>the document.</a:t>
            </a:r>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Designing</a:t>
            </a:r>
            <a:endParaRPr lang="en-US" dirty="0"/>
          </a:p>
        </p:txBody>
      </p:sp>
      <p:sp>
        <p:nvSpPr>
          <p:cNvPr id="3" name="Content Placeholder 2"/>
          <p:cNvSpPr>
            <a:spLocks noGrp="1"/>
          </p:cNvSpPr>
          <p:nvPr>
            <p:ph idx="1"/>
          </p:nvPr>
        </p:nvSpPr>
        <p:spPr/>
        <p:txBody>
          <a:bodyPr>
            <a:normAutofit lnSpcReduction="10000"/>
          </a:bodyPr>
          <a:lstStyle/>
          <a:p>
            <a:r>
              <a:rPr lang="en-US" dirty="0" smtClean="0"/>
              <a:t>(a) During the design phase, the objectives, presentation style, delivery platform, and the overall approach are finalized.</a:t>
            </a:r>
          </a:p>
          <a:p>
            <a:r>
              <a:rPr lang="en-US" dirty="0" smtClean="0"/>
              <a:t>(b) Details such as the design of each screen, the type of navigation to be used, and the interactive characteristics of the interface are worked out.</a:t>
            </a:r>
          </a:p>
          <a:p>
            <a:r>
              <a:rPr lang="en-US" dirty="0" smtClean="0"/>
              <a:t>(c) Flowcharts and storyboards are created to reflect these specifications.</a:t>
            </a:r>
          </a:p>
          <a:p>
            <a:endParaRPr 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Designing</a:t>
            </a:r>
            <a:endParaRPr lang="en-US" dirty="0"/>
          </a:p>
        </p:txBody>
      </p:sp>
      <p:sp>
        <p:nvSpPr>
          <p:cNvPr id="3" name="Content Placeholder 2"/>
          <p:cNvSpPr>
            <a:spLocks noGrp="1"/>
          </p:cNvSpPr>
          <p:nvPr>
            <p:ph idx="1"/>
          </p:nvPr>
        </p:nvSpPr>
        <p:spPr/>
        <p:txBody>
          <a:bodyPr/>
          <a:lstStyle/>
          <a:p>
            <a:r>
              <a:rPr lang="en-US" dirty="0" smtClean="0"/>
              <a:t>(d) Detailed timelines are created and major milestones are established for the critical phases of the project.</a:t>
            </a:r>
          </a:p>
          <a:p>
            <a:r>
              <a:rPr lang="en-US" dirty="0" smtClean="0"/>
              <a:t>(e) The work is then distributed among various roles such as designers, programmers, graphic artists, animators, videographers, </a:t>
            </a:r>
            <a:r>
              <a:rPr lang="en-US" dirty="0" err="1" smtClean="0"/>
              <a:t>audiographers</a:t>
            </a:r>
            <a:r>
              <a:rPr lang="en-US" dirty="0" smtClean="0"/>
              <a:t>, and permission specialists.</a:t>
            </a:r>
          </a:p>
          <a:p>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t>Producing</a:t>
            </a:r>
            <a:br>
              <a:rPr lang="en-US" b="1" dirty="0" smtClean="0"/>
            </a:br>
            <a:endParaRPr lang="en-US" dirty="0"/>
          </a:p>
        </p:txBody>
      </p:sp>
      <p:sp>
        <p:nvSpPr>
          <p:cNvPr id="3" name="Content Placeholder 2"/>
          <p:cNvSpPr>
            <a:spLocks noGrp="1"/>
          </p:cNvSpPr>
          <p:nvPr>
            <p:ph idx="1"/>
          </p:nvPr>
        </p:nvSpPr>
        <p:spPr/>
        <p:txBody>
          <a:bodyPr>
            <a:normAutofit/>
          </a:bodyPr>
          <a:lstStyle/>
          <a:p>
            <a:r>
              <a:rPr lang="en-US" dirty="0" smtClean="0"/>
              <a:t>During </a:t>
            </a:r>
            <a:r>
              <a:rPr lang="en-US" dirty="0"/>
              <a:t>the production phase instructional designers, graphic artists, animators, videographers</a:t>
            </a:r>
            <a:r>
              <a:rPr lang="en-US" dirty="0" smtClean="0"/>
              <a:t>, </a:t>
            </a:r>
            <a:r>
              <a:rPr lang="en-US" dirty="0" err="1" smtClean="0"/>
              <a:t>audiographers</a:t>
            </a:r>
            <a:r>
              <a:rPr lang="en-US" dirty="0"/>
              <a:t>, and permission specialists begin to develop scripts, artwork, animation, video, audio</a:t>
            </a:r>
            <a:r>
              <a:rPr lang="en-US" dirty="0" smtClean="0"/>
              <a:t>, and </a:t>
            </a:r>
            <a:r>
              <a:rPr lang="en-US" dirty="0"/>
              <a:t>interface. </a:t>
            </a: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Producing</a:t>
            </a:r>
            <a:endParaRPr lang="en-US" dirty="0"/>
          </a:p>
        </p:txBody>
      </p:sp>
      <p:sp>
        <p:nvSpPr>
          <p:cNvPr id="3" name="Content Placeholder 2"/>
          <p:cNvSpPr>
            <a:spLocks noGrp="1"/>
          </p:cNvSpPr>
          <p:nvPr>
            <p:ph idx="1"/>
          </p:nvPr>
        </p:nvSpPr>
        <p:spPr/>
        <p:txBody>
          <a:bodyPr>
            <a:normAutofit/>
          </a:bodyPr>
          <a:lstStyle/>
          <a:p>
            <a:r>
              <a:rPr lang="en-US" dirty="0" smtClean="0"/>
              <a:t>The production phase will run smoothly if the project manager has carefully selected the team members, distributed responsibilities, and created realistic milestones in the production schedule. </a:t>
            </a:r>
          </a:p>
          <a:p>
            <a:r>
              <a:rPr lang="en-US" dirty="0" smtClean="0"/>
              <a:t>Programmers begin to generate codes to put all the pieces together. </a:t>
            </a:r>
          </a:p>
          <a:p>
            <a:endParaRPr lang="en-US"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Producing</a:t>
            </a:r>
            <a:endParaRPr lang="en-US" dirty="0"/>
          </a:p>
        </p:txBody>
      </p:sp>
      <p:sp>
        <p:nvSpPr>
          <p:cNvPr id="3" name="Content Placeholder 2"/>
          <p:cNvSpPr>
            <a:spLocks noGrp="1"/>
          </p:cNvSpPr>
          <p:nvPr>
            <p:ph idx="1"/>
          </p:nvPr>
        </p:nvSpPr>
        <p:spPr/>
        <p:txBody>
          <a:bodyPr/>
          <a:lstStyle/>
          <a:p>
            <a:r>
              <a:rPr lang="en-US" dirty="0" smtClean="0"/>
              <a:t>Group discussions are more common and frequent during the planning and designing phases; whereas, in the production phase different roles will focus on their production tasks and meet only with the lead instructional designer and project manager to evaluate what has been created.</a:t>
            </a:r>
          </a:p>
          <a:p>
            <a:endParaRPr lang="en-US"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Testing</a:t>
            </a:r>
            <a:endParaRPr lang="en-US" dirty="0"/>
          </a:p>
        </p:txBody>
      </p:sp>
      <p:sp>
        <p:nvSpPr>
          <p:cNvPr id="3" name="Content Placeholder 2"/>
          <p:cNvSpPr>
            <a:spLocks noGrp="1"/>
          </p:cNvSpPr>
          <p:nvPr>
            <p:ph idx="1"/>
          </p:nvPr>
        </p:nvSpPr>
        <p:spPr/>
        <p:txBody>
          <a:bodyPr>
            <a:normAutofit lnSpcReduction="10000"/>
          </a:bodyPr>
          <a:lstStyle/>
          <a:p>
            <a:r>
              <a:rPr lang="en-US" dirty="0" smtClean="0"/>
              <a:t>Unlike </a:t>
            </a:r>
            <a:r>
              <a:rPr lang="en-US" dirty="0"/>
              <a:t>some traditional instructional design models in which evaluation occurs at the end of </a:t>
            </a:r>
            <a:r>
              <a:rPr lang="en-US" dirty="0" smtClean="0"/>
              <a:t>the process</a:t>
            </a:r>
            <a:r>
              <a:rPr lang="en-US" dirty="0"/>
              <a:t>, the phase of testing is usually continuous and repetitive. </a:t>
            </a:r>
            <a:endParaRPr lang="en-US" dirty="0" smtClean="0"/>
          </a:p>
          <a:p>
            <a:r>
              <a:rPr lang="en-US" dirty="0" smtClean="0"/>
              <a:t>Formative </a:t>
            </a:r>
            <a:r>
              <a:rPr lang="en-US" dirty="0"/>
              <a:t>evaluation occurs </a:t>
            </a:r>
            <a:r>
              <a:rPr lang="en-US" dirty="0" smtClean="0"/>
              <a:t>at every </a:t>
            </a:r>
            <a:r>
              <a:rPr lang="en-US" dirty="0"/>
              <a:t>phase and multiple times. </a:t>
            </a:r>
            <a:endParaRPr lang="en-US" dirty="0" smtClean="0"/>
          </a:p>
          <a:p>
            <a:r>
              <a:rPr lang="en-US" dirty="0" smtClean="0"/>
              <a:t>The </a:t>
            </a:r>
            <a:r>
              <a:rPr lang="en-US" dirty="0"/>
              <a:t>importance of having such continuous evaluation as a </a:t>
            </a:r>
            <a:r>
              <a:rPr lang="en-US" dirty="0" smtClean="0"/>
              <a:t>key factor </a:t>
            </a:r>
            <a:r>
              <a:rPr lang="en-US" dirty="0"/>
              <a:t>for ensuring the quality of the product is often stresses. </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Testing</a:t>
            </a:r>
            <a:endParaRPr lang="en-US" dirty="0"/>
          </a:p>
        </p:txBody>
      </p:sp>
      <p:sp>
        <p:nvSpPr>
          <p:cNvPr id="3" name="Content Placeholder 2"/>
          <p:cNvSpPr>
            <a:spLocks noGrp="1"/>
          </p:cNvSpPr>
          <p:nvPr>
            <p:ph idx="1"/>
          </p:nvPr>
        </p:nvSpPr>
        <p:spPr/>
        <p:txBody>
          <a:bodyPr>
            <a:normAutofit fontScale="92500"/>
          </a:bodyPr>
          <a:lstStyle/>
          <a:p>
            <a:r>
              <a:rPr lang="en-US" dirty="0" smtClean="0"/>
              <a:t>Evaluation takes on different forms.</a:t>
            </a:r>
          </a:p>
          <a:p>
            <a:r>
              <a:rPr lang="en-US" dirty="0" smtClean="0"/>
              <a:t>(a) Some forms used by developers include informal critiquing by members within and across the teams within the company, on-going evaluation by the clients, and using focus groups and surveys to get feedback from the end users.</a:t>
            </a:r>
          </a:p>
          <a:p>
            <a:r>
              <a:rPr lang="en-US" dirty="0" smtClean="0"/>
              <a:t>(b) Depending on the nature of the product and the type of audience, different forms are used. </a:t>
            </a:r>
          </a:p>
          <a:p>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Testing</a:t>
            </a:r>
            <a:endParaRPr lang="en-US" dirty="0"/>
          </a:p>
        </p:txBody>
      </p:sp>
      <p:sp>
        <p:nvSpPr>
          <p:cNvPr id="3" name="Content Placeholder 2"/>
          <p:cNvSpPr>
            <a:spLocks noGrp="1"/>
          </p:cNvSpPr>
          <p:nvPr>
            <p:ph idx="1"/>
          </p:nvPr>
        </p:nvSpPr>
        <p:spPr/>
        <p:txBody>
          <a:bodyPr>
            <a:normAutofit fontScale="85000" lnSpcReduction="10000"/>
          </a:bodyPr>
          <a:lstStyle/>
          <a:p>
            <a:r>
              <a:rPr lang="en-US" dirty="0" smtClean="0"/>
              <a:t>It is just invaluable to get feedback. </a:t>
            </a:r>
          </a:p>
          <a:p>
            <a:r>
              <a:rPr lang="en-US" dirty="0" smtClean="0"/>
              <a:t>Constant evaluation within the company and with the client occurs more often than with the end users.</a:t>
            </a:r>
          </a:p>
          <a:p>
            <a:r>
              <a:rPr lang="en-US" dirty="0" smtClean="0"/>
              <a:t>(c) Some companies use a four-step evaluation to measure major milestones for quality assurance:</a:t>
            </a:r>
          </a:p>
          <a:p>
            <a:r>
              <a:rPr lang="en-US" dirty="0" smtClean="0"/>
              <a:t>prototype, beta, alpha, and final testing.</a:t>
            </a:r>
          </a:p>
          <a:p>
            <a:r>
              <a:rPr lang="en-US" dirty="0" smtClean="0"/>
              <a:t>(d) Some clients tend to hire developers who know how to test for instructional value and who tend</a:t>
            </a:r>
          </a:p>
          <a:p>
            <a:r>
              <a:rPr lang="en-US" dirty="0" smtClean="0"/>
              <a:t>to build testing into their budget in response to a RFP.</a:t>
            </a:r>
          </a:p>
          <a:p>
            <a:endParaRPr 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Testing</a:t>
            </a:r>
            <a:endParaRPr lang="en-US" dirty="0"/>
          </a:p>
        </p:txBody>
      </p:sp>
      <p:sp>
        <p:nvSpPr>
          <p:cNvPr id="3" name="Content Placeholder 2"/>
          <p:cNvSpPr>
            <a:spLocks noGrp="1"/>
          </p:cNvSpPr>
          <p:nvPr>
            <p:ph idx="1"/>
          </p:nvPr>
        </p:nvSpPr>
        <p:spPr/>
        <p:txBody>
          <a:bodyPr>
            <a:normAutofit fontScale="92500"/>
          </a:bodyPr>
          <a:lstStyle/>
          <a:p>
            <a:r>
              <a:rPr lang="en-US" dirty="0" smtClean="0"/>
              <a:t>Because multimedia development is a complex process involving many skills and people, on-going evaluation and revisions are critical steps that help ensure the success of the product. </a:t>
            </a:r>
          </a:p>
          <a:p>
            <a:r>
              <a:rPr lang="en-US" dirty="0" smtClean="0"/>
              <a:t>Although multiple cycles of formative evaluation are used, summative evaluation seldom occurs. </a:t>
            </a:r>
          </a:p>
          <a:p>
            <a:r>
              <a:rPr lang="en-US" dirty="0" smtClean="0"/>
              <a:t>A lack of funding and a lack of control over the product once delivered to the client are reasons given for an absence of summative evaluation.</a:t>
            </a:r>
          </a:p>
          <a:p>
            <a:endParaRPr lang="en-US" dirty="0"/>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smtClean="0"/>
              <a:t>Marketing</a:t>
            </a:r>
            <a:endParaRPr lang="en-US" dirty="0"/>
          </a:p>
        </p:txBody>
      </p:sp>
      <p:sp>
        <p:nvSpPr>
          <p:cNvPr id="3" name="Content Placeholder 2"/>
          <p:cNvSpPr>
            <a:spLocks noGrp="1"/>
          </p:cNvSpPr>
          <p:nvPr>
            <p:ph idx="1"/>
          </p:nvPr>
        </p:nvSpPr>
        <p:spPr/>
        <p:txBody>
          <a:bodyPr>
            <a:normAutofit/>
          </a:bodyPr>
          <a:lstStyle/>
          <a:p>
            <a:r>
              <a:rPr lang="en-US" dirty="0" smtClean="0"/>
              <a:t>Marketing </a:t>
            </a:r>
            <a:r>
              <a:rPr lang="en-US" dirty="0"/>
              <a:t>and support is important to the success of a product. </a:t>
            </a:r>
            <a:endParaRPr lang="en-US" dirty="0" smtClean="0"/>
          </a:p>
          <a:p>
            <a:r>
              <a:rPr lang="en-US" dirty="0" smtClean="0"/>
              <a:t>The </a:t>
            </a:r>
            <a:r>
              <a:rPr lang="en-US" dirty="0"/>
              <a:t>survival of a </a:t>
            </a:r>
            <a:r>
              <a:rPr lang="en-US" dirty="0" smtClean="0"/>
              <a:t>company depends </a:t>
            </a:r>
            <a:r>
              <a:rPr lang="en-US" dirty="0"/>
              <a:t>on the product reaching the audience.</a:t>
            </a:r>
          </a:p>
          <a:p>
            <a:r>
              <a:rPr lang="en-US" dirty="0"/>
              <a:t>(a) The elements of marketing include researching the industry, the audience, and the competition</a:t>
            </a:r>
            <a:r>
              <a:rPr lang="en-US" dirty="0" smtClean="0"/>
              <a:t>.</a:t>
            </a:r>
            <a:endParaRPr 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Marketing</a:t>
            </a:r>
            <a:endParaRPr lang="en-US" dirty="0"/>
          </a:p>
        </p:txBody>
      </p:sp>
      <p:sp>
        <p:nvSpPr>
          <p:cNvPr id="3" name="Content Placeholder 2"/>
          <p:cNvSpPr>
            <a:spLocks noGrp="1"/>
          </p:cNvSpPr>
          <p:nvPr>
            <p:ph idx="1"/>
          </p:nvPr>
        </p:nvSpPr>
        <p:spPr/>
        <p:txBody>
          <a:bodyPr>
            <a:normAutofit fontScale="92500"/>
          </a:bodyPr>
          <a:lstStyle/>
          <a:p>
            <a:r>
              <a:rPr lang="en-US" dirty="0" smtClean="0"/>
              <a:t>(b) Marketing also includes the responsibility for determining the pricing and coordinating the</a:t>
            </a:r>
          </a:p>
          <a:p>
            <a:r>
              <a:rPr lang="en-US" dirty="0" smtClean="0"/>
              <a:t>advertising and public relations for the product.</a:t>
            </a:r>
          </a:p>
          <a:p>
            <a:r>
              <a:rPr lang="en-US" dirty="0" smtClean="0"/>
              <a:t>(c) Practices for marketing and distributing the products vary from company to company.</a:t>
            </a:r>
          </a:p>
          <a:p>
            <a:r>
              <a:rPr lang="en-US" dirty="0" smtClean="0"/>
              <a:t>(d) Most companies are not concerned with marketing because their clients usually hire them to develop a product. </a:t>
            </a:r>
            <a:endParaRPr lang="en-US"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smtClean="0"/>
              <a:t>Marketing</a:t>
            </a:r>
            <a:endParaRPr lang="en-US" dirty="0"/>
          </a:p>
        </p:txBody>
      </p:sp>
      <p:sp>
        <p:nvSpPr>
          <p:cNvPr id="3" name="Content Placeholder 2"/>
          <p:cNvSpPr>
            <a:spLocks noGrp="1"/>
          </p:cNvSpPr>
          <p:nvPr>
            <p:ph idx="1"/>
          </p:nvPr>
        </p:nvSpPr>
        <p:spPr/>
        <p:txBody>
          <a:bodyPr>
            <a:normAutofit/>
          </a:bodyPr>
          <a:lstStyle/>
          <a:p>
            <a:r>
              <a:rPr lang="en-US" dirty="0" smtClean="0"/>
              <a:t>When the product is completed, they deliver the product to their clients, who are responsible for marketing and distributing the products. </a:t>
            </a:r>
          </a:p>
          <a:p>
            <a:r>
              <a:rPr lang="en-US" dirty="0" smtClean="0"/>
              <a:t>In such cases, the need for such a product is presumably established by the clients and the distribution channels for the product have been determined.</a:t>
            </a:r>
          </a:p>
          <a:p>
            <a:endParaRPr lang="en-US"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TotalTime>
  <Words>1431</Words>
  <Application>Microsoft Office PowerPoint</Application>
  <PresentationFormat>On-screen Show (4:3)</PresentationFormat>
  <Paragraphs>97</Paragraphs>
  <Slides>27</Slides>
  <Notes>0</Notes>
  <HiddenSlides>0</HiddenSlides>
  <MMClips>0</MMClip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Office Theme</vt:lpstr>
      <vt:lpstr>Multimedia Development Process </vt:lpstr>
      <vt:lpstr>Phases of Multimedia Development Process</vt:lpstr>
      <vt:lpstr>Phases of Multimedia Development Process</vt:lpstr>
      <vt:lpstr>Phases of Multimedia Development Process</vt:lpstr>
      <vt:lpstr>Funding </vt:lpstr>
      <vt:lpstr>Funding</vt:lpstr>
      <vt:lpstr>Funding</vt:lpstr>
      <vt:lpstr>Funding</vt:lpstr>
      <vt:lpstr>Important factors that could contribute to successful funding </vt:lpstr>
      <vt:lpstr>Important factors that could contribute to successful funding</vt:lpstr>
      <vt:lpstr>Planning</vt:lpstr>
      <vt:lpstr>Planning</vt:lpstr>
      <vt:lpstr>Planning</vt:lpstr>
      <vt:lpstr>Planning</vt:lpstr>
      <vt:lpstr>Designing</vt:lpstr>
      <vt:lpstr>Designing</vt:lpstr>
      <vt:lpstr>Designing</vt:lpstr>
      <vt:lpstr>Producing </vt:lpstr>
      <vt:lpstr>Producing</vt:lpstr>
      <vt:lpstr>Producing</vt:lpstr>
      <vt:lpstr>Testing</vt:lpstr>
      <vt:lpstr>Testing</vt:lpstr>
      <vt:lpstr>Testing</vt:lpstr>
      <vt:lpstr>Testing</vt:lpstr>
      <vt:lpstr>Marketing</vt:lpstr>
      <vt:lpstr>Marketing</vt:lpstr>
      <vt:lpstr>Marketing</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Multimedia Development Process </dc:title>
  <dc:creator>user</dc:creator>
  <cp:lastModifiedBy>Mwayi-Mchuchu</cp:lastModifiedBy>
  <cp:revision>2</cp:revision>
  <dcterms:created xsi:type="dcterms:W3CDTF">2014-06-12T07:45:04Z</dcterms:created>
  <dcterms:modified xsi:type="dcterms:W3CDTF">1987-12-31T23:15:16Z</dcterms:modified>
</cp:coreProperties>
</file>