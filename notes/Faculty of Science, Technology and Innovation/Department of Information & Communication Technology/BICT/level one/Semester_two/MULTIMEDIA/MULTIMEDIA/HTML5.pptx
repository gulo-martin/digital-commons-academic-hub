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74" r:id="rId4"/>
    <p:sldId id="258" r:id="rId5"/>
    <p:sldId id="259" r:id="rId6"/>
    <p:sldId id="260" r:id="rId7"/>
    <p:sldId id="261" r:id="rId8"/>
    <p:sldId id="262" r:id="rId9"/>
    <p:sldId id="264" r:id="rId10"/>
    <p:sldId id="263" r:id="rId11"/>
    <p:sldId id="269" r:id="rId12"/>
    <p:sldId id="266" r:id="rId13"/>
    <p:sldId id="267" r:id="rId14"/>
    <p:sldId id="270" r:id="rId15"/>
    <p:sldId id="272" r:id="rId16"/>
    <p:sldId id="271" r:id="rId17"/>
    <p:sldId id="268" r:id="rId18"/>
    <p:sldId id="273" r:id="rId19"/>
    <p:sldId id="275" r:id="rId20"/>
    <p:sldId id="276" r:id="rId21"/>
    <p:sldId id="280" r:id="rId22"/>
    <p:sldId id="278" r:id="rId23"/>
    <p:sldId id="27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2" d="100"/>
          <a:sy n="72" d="100"/>
        </p:scale>
        <p:origin x="66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3284890-85D2-4D7B-8EF5-15A9C1DB8F42}" type="datetimeFigureOut">
              <a:rPr lang="en-US" dirty="0"/>
              <a:t>6/21/2019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F5661D-6934-4B32-B92C-470368BF1EC6}" type="datetimeFigureOut">
              <a:rPr lang="en-US" dirty="0"/>
              <a:t>6/21/2019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p>
            <a:fld id="{C6F822A4-8DA6-4447-9B1F-C5DB58435268}" type="datetimeFigureOut">
              <a:rPr lang="en-US" dirty="0"/>
              <a:t>6/21/2019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548D31E-DCDA-41A7-9C67-C4B11B94D21D}" type="datetimeFigureOut">
              <a:rPr lang="en-US" dirty="0"/>
              <a:t>6/21/2019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B3762C0-B258-48F1-ADE6-176B4174CCDD}" type="datetimeFigureOut">
              <a:rPr lang="en-US" dirty="0"/>
              <a:t>6/21/2019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77919A6-33EB-49BD-A62F-1FA56B9F9712}" type="datetimeFigureOut">
              <a:rPr lang="en-US" dirty="0"/>
              <a:t>6/21/2019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A4E7D1B-D673-4CF6-8672-009D42ABD2A0}" type="datetimeFigureOut">
              <a:rPr lang="en-US" dirty="0"/>
              <a:t>6/21/2019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A16AA21-1863-4931-97CB-99D0A168701B}" type="datetimeFigureOut">
              <a:rPr lang="en-US" dirty="0"/>
              <a:t>6/21/2019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72C379-9A7C-4C87-A116-CBE9F58B04C5}" type="datetimeFigureOut">
              <a:rPr lang="en-US" dirty="0"/>
              <a:t>6/21/2019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157CC2-0FC8-4686-B024-99790E0F5162}" type="datetimeFigureOut">
              <a:rPr lang="en-US" dirty="0"/>
              <a:t>6/21/2019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6764DA5-CD3D-4590-A511-FCD3BC7A793E}" type="datetimeFigureOut">
              <a:rPr lang="en-US" dirty="0"/>
              <a:t>6/21/2019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664C608-40B1-4030-A28D-5B74BC98ADCE}" type="datetimeFigureOut">
              <a:rPr lang="en-US" dirty="0"/>
              <a:t>6/21/2019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ironspider.ca/format_text/hyperlinks.htm"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w3.org/TR/html5/syntax.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developer.mozilla.org/en-US/docs/HTML/Inline_element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www.w3schools.com/tags/tag_br.asp" TargetMode="External"/><Relationship Id="rId13" Type="http://schemas.openxmlformats.org/officeDocument/2006/relationships/hyperlink" Target="https://www.w3schools.com/tags/tag_em.asp" TargetMode="External"/><Relationship Id="rId3" Type="http://schemas.openxmlformats.org/officeDocument/2006/relationships/hyperlink" Target="https://www.w3schools.com/tags/tag_abbr.asp" TargetMode="External"/><Relationship Id="rId7" Type="http://schemas.openxmlformats.org/officeDocument/2006/relationships/hyperlink" Target="https://www.w3schools.com/tags/tag_big.asp" TargetMode="External"/><Relationship Id="rId12" Type="http://schemas.openxmlformats.org/officeDocument/2006/relationships/hyperlink" Target="https://www.w3schools.com/tags/tag_dfn.asp" TargetMode="External"/><Relationship Id="rId2" Type="http://schemas.openxmlformats.org/officeDocument/2006/relationships/hyperlink" Target="https://www.w3schools.com/tags/tag_a.asp" TargetMode="External"/><Relationship Id="rId1" Type="http://schemas.openxmlformats.org/officeDocument/2006/relationships/slideLayout" Target="../slideLayouts/slideLayout2.xml"/><Relationship Id="rId6" Type="http://schemas.openxmlformats.org/officeDocument/2006/relationships/hyperlink" Target="https://www.w3schools.com/tags/tag_bdo.asp" TargetMode="External"/><Relationship Id="rId11" Type="http://schemas.openxmlformats.org/officeDocument/2006/relationships/hyperlink" Target="https://www.w3schools.com/tags/tag_code.asp" TargetMode="External"/><Relationship Id="rId5" Type="http://schemas.openxmlformats.org/officeDocument/2006/relationships/hyperlink" Target="https://www.w3schools.com/tags/tag_b.asp" TargetMode="External"/><Relationship Id="rId15" Type="http://schemas.openxmlformats.org/officeDocument/2006/relationships/hyperlink" Target="https://www.w3schools.com/tags/tag_img.asp" TargetMode="External"/><Relationship Id="rId10" Type="http://schemas.openxmlformats.org/officeDocument/2006/relationships/hyperlink" Target="https://www.w3schools.com/tags/tag_cite.asp" TargetMode="External"/><Relationship Id="rId4" Type="http://schemas.openxmlformats.org/officeDocument/2006/relationships/hyperlink" Target="https://www.w3schools.com/tags/tag_acronym.asp" TargetMode="External"/><Relationship Id="rId9" Type="http://schemas.openxmlformats.org/officeDocument/2006/relationships/hyperlink" Target="https://www.w3schools.com/tags/tag_button.asp" TargetMode="External"/><Relationship Id="rId14" Type="http://schemas.openxmlformats.org/officeDocument/2006/relationships/hyperlink" Target="https://www.w3schools.com/tags/tag_i.as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html.com/global/"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w3schools.com/html/html5_semantic_elements.asp" TargetMode="External"/><Relationship Id="rId2" Type="http://schemas.openxmlformats.org/officeDocument/2006/relationships/hyperlink" Target="https://www.bitdegree.org/learn/html5-tags" TargetMode="External"/><Relationship Id="rId1" Type="http://schemas.openxmlformats.org/officeDocument/2006/relationships/slideLayout" Target="../slideLayouts/slideLayout2.xml"/><Relationship Id="rId4" Type="http://schemas.openxmlformats.org/officeDocument/2006/relationships/hyperlink" Target="https://developer.mozilla.org/en-US/docs/Web/HTML/Elemen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51B31-0FAF-4D77-A701-E046243530AA}"/>
              </a:ext>
            </a:extLst>
          </p:cNvPr>
          <p:cNvSpPr>
            <a:spLocks noGrp="1"/>
          </p:cNvSpPr>
          <p:nvPr>
            <p:ph type="ctrTitle"/>
          </p:nvPr>
        </p:nvSpPr>
        <p:spPr>
          <a:xfrm>
            <a:off x="0" y="1432223"/>
            <a:ext cx="12192000" cy="3035808"/>
          </a:xfrm>
        </p:spPr>
        <p:txBody>
          <a:bodyPr/>
          <a:lstStyle/>
          <a:p>
            <a:r>
              <a:rPr lang="en-US" sz="8000" dirty="0"/>
              <a:t>&lt;h1&gt;Html5 the basics&lt;/h1&gt;</a:t>
            </a:r>
          </a:p>
        </p:txBody>
      </p:sp>
      <p:sp>
        <p:nvSpPr>
          <p:cNvPr id="3" name="Subtitle 2">
            <a:extLst>
              <a:ext uri="{FF2B5EF4-FFF2-40B4-BE49-F238E27FC236}">
                <a16:creationId xmlns:a16="http://schemas.microsoft.com/office/drawing/2014/main" id="{C0F943AB-76FD-43DA-9630-45E07D2EECBD}"/>
              </a:ext>
            </a:extLst>
          </p:cNvPr>
          <p:cNvSpPr>
            <a:spLocks noGrp="1"/>
          </p:cNvSpPr>
          <p:nvPr>
            <p:ph type="subTitle" idx="1"/>
          </p:nvPr>
        </p:nvSpPr>
        <p:spPr/>
        <p:txBody>
          <a:bodyPr/>
          <a:lstStyle/>
          <a:p>
            <a:r>
              <a:rPr lang="en-US" dirty="0" err="1"/>
              <a:t>Mwayi</a:t>
            </a:r>
            <a:r>
              <a:rPr lang="en-US" dirty="0"/>
              <a:t> </a:t>
            </a:r>
            <a:r>
              <a:rPr lang="en-US" dirty="0" err="1"/>
              <a:t>Mchuchu</a:t>
            </a:r>
            <a:r>
              <a:rPr lang="en-US" dirty="0"/>
              <a:t> (Adjunct Staff Associate)</a:t>
            </a:r>
          </a:p>
        </p:txBody>
      </p:sp>
    </p:spTree>
    <p:extLst>
      <p:ext uri="{BB962C8B-B14F-4D97-AF65-F5344CB8AC3E}">
        <p14:creationId xmlns:p14="http://schemas.microsoft.com/office/powerpoint/2010/main" val="1792765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858FC-1771-45E8-B74A-BEAFB3DE2EA6}"/>
              </a:ext>
            </a:extLst>
          </p:cNvPr>
          <p:cNvSpPr>
            <a:spLocks noGrp="1"/>
          </p:cNvSpPr>
          <p:nvPr>
            <p:ph type="title"/>
          </p:nvPr>
        </p:nvSpPr>
        <p:spPr/>
        <p:txBody>
          <a:bodyPr/>
          <a:lstStyle/>
          <a:p>
            <a:r>
              <a:rPr lang="en-US" dirty="0"/>
              <a:t>Introducing Html </a:t>
            </a:r>
          </a:p>
        </p:txBody>
      </p:sp>
      <p:sp>
        <p:nvSpPr>
          <p:cNvPr id="3" name="Content Placeholder 2">
            <a:extLst>
              <a:ext uri="{FF2B5EF4-FFF2-40B4-BE49-F238E27FC236}">
                <a16:creationId xmlns:a16="http://schemas.microsoft.com/office/drawing/2014/main" id="{2827130B-BE20-49AF-A882-80B372170566}"/>
              </a:ext>
            </a:extLst>
          </p:cNvPr>
          <p:cNvSpPr>
            <a:spLocks noGrp="1"/>
          </p:cNvSpPr>
          <p:nvPr>
            <p:ph idx="1"/>
          </p:nvPr>
        </p:nvSpPr>
        <p:spPr>
          <a:xfrm>
            <a:off x="0" y="1828800"/>
            <a:ext cx="12192000" cy="5029200"/>
          </a:xfrm>
        </p:spPr>
        <p:txBody>
          <a:bodyPr>
            <a:normAutofit lnSpcReduction="10000"/>
          </a:bodyPr>
          <a:lstStyle/>
          <a:p>
            <a:r>
              <a:rPr lang="en-US" dirty="0" err="1"/>
              <a:t>Hypertex</a:t>
            </a:r>
            <a:r>
              <a:rPr lang="en-US" dirty="0"/>
              <a:t> Markup Language 5 (HTML)</a:t>
            </a:r>
          </a:p>
          <a:p>
            <a:r>
              <a:rPr lang="en-US" dirty="0"/>
              <a:t>A markup language combines text as well as coded instructions on how to format that text and the term "markup" originates from the traditional practice of 'marking up' the margins of a paper manuscript with printer's instructions.</a:t>
            </a:r>
          </a:p>
          <a:p>
            <a:pPr lvl="1"/>
            <a:r>
              <a:rPr lang="en-US" dirty="0"/>
              <a:t>Nowadays, if you mention the term 'markup' to any knowledgeable web author, the first thing they are likely to think of is 'HTML’. </a:t>
            </a:r>
          </a:p>
          <a:p>
            <a:r>
              <a:rPr lang="en-US" dirty="0"/>
              <a:t>History</a:t>
            </a:r>
          </a:p>
          <a:p>
            <a:pPr lvl="1"/>
            <a:r>
              <a:rPr lang="en-US" dirty="0"/>
              <a:t>product of SGML (Standard Generalized Markup Language) which is a complex, technical specification describing markup languages, especially those used in electronic document exchange, document management, and document publishing.</a:t>
            </a:r>
          </a:p>
          <a:p>
            <a:pPr lvl="1"/>
            <a:r>
              <a:rPr lang="en-US" dirty="0"/>
              <a:t>official language of the World Wide Web and was first conceived in 1990.</a:t>
            </a:r>
          </a:p>
          <a:p>
            <a:pPr lvl="1"/>
            <a:r>
              <a:rPr lang="en-US" dirty="0"/>
              <a:t>Developed to foster science publications for those who couldn’t use SGML, HTML had added feature of linking documents electronically using </a:t>
            </a:r>
            <a:r>
              <a:rPr lang="en-US" i="1" u="sng" dirty="0">
                <a:hlinkClick r:id="rId2" tooltip="How to create hyperlinks. (Internal link)"/>
              </a:rPr>
              <a:t>hyper</a:t>
            </a:r>
            <a:r>
              <a:rPr lang="en-US" u="sng" dirty="0">
                <a:hlinkClick r:id="rId2" tooltip="How to create hyperlinks. (Internal link)"/>
              </a:rPr>
              <a:t>links</a:t>
            </a:r>
            <a:r>
              <a:rPr lang="en-US" dirty="0"/>
              <a:t>. Thus the name </a:t>
            </a:r>
            <a:r>
              <a:rPr lang="en-US" i="1" dirty="0"/>
              <a:t>Hyper</a:t>
            </a:r>
            <a:r>
              <a:rPr lang="en-US" dirty="0"/>
              <a:t>text Markup Language.</a:t>
            </a:r>
          </a:p>
          <a:p>
            <a:pPr lvl="1"/>
            <a:r>
              <a:rPr lang="en-US" dirty="0"/>
              <a:t>With the evolution of the World Wide Web, HTML began to proliferate and quickly spilled over into the mainstream, as it was discovered to be self contained and easy to learn.</a:t>
            </a:r>
          </a:p>
          <a:p>
            <a:r>
              <a:rPr lang="en-US" dirty="0"/>
              <a:t>Several versions in between Most Current acceptable HTML Standard (HTML5).</a:t>
            </a:r>
          </a:p>
          <a:p>
            <a:pPr lvl="1"/>
            <a:endParaRPr lang="en-US" dirty="0"/>
          </a:p>
          <a:p>
            <a:endParaRPr lang="en-US" dirty="0"/>
          </a:p>
        </p:txBody>
      </p:sp>
    </p:spTree>
    <p:extLst>
      <p:ext uri="{BB962C8B-B14F-4D97-AF65-F5344CB8AC3E}">
        <p14:creationId xmlns:p14="http://schemas.microsoft.com/office/powerpoint/2010/main" val="31258002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EB889-D873-477E-9C30-8577A1C2DBB0}"/>
              </a:ext>
            </a:extLst>
          </p:cNvPr>
          <p:cNvSpPr>
            <a:spLocks noGrp="1"/>
          </p:cNvSpPr>
          <p:nvPr>
            <p:ph type="title"/>
          </p:nvPr>
        </p:nvSpPr>
        <p:spPr>
          <a:xfrm>
            <a:off x="2133600" y="0"/>
            <a:ext cx="10058400" cy="979733"/>
          </a:xfrm>
        </p:spPr>
        <p:txBody>
          <a:bodyPr/>
          <a:lstStyle/>
          <a:p>
            <a:r>
              <a:rPr lang="en-US" dirty="0"/>
              <a:t>Html development timeline</a:t>
            </a:r>
          </a:p>
        </p:txBody>
      </p:sp>
      <p:pic>
        <p:nvPicPr>
          <p:cNvPr id="4" name="Content Placeholder 3">
            <a:extLst>
              <a:ext uri="{FF2B5EF4-FFF2-40B4-BE49-F238E27FC236}">
                <a16:creationId xmlns:a16="http://schemas.microsoft.com/office/drawing/2014/main" id="{95460007-0D5A-4E98-8402-0165F4753A81}"/>
              </a:ext>
            </a:extLst>
          </p:cNvPr>
          <p:cNvPicPr>
            <a:picLocks noGrp="1" noChangeAspect="1"/>
          </p:cNvPicPr>
          <p:nvPr>
            <p:ph idx="1"/>
          </p:nvPr>
        </p:nvPicPr>
        <p:blipFill rotWithShape="1">
          <a:blip r:embed="rId2"/>
          <a:srcRect l="17220" t="15360" r="26320" b="7115"/>
          <a:stretch/>
        </p:blipFill>
        <p:spPr>
          <a:xfrm>
            <a:off x="1272209" y="768627"/>
            <a:ext cx="9740347" cy="6089374"/>
          </a:xfrm>
          <a:prstGeom prst="rect">
            <a:avLst/>
          </a:prstGeom>
        </p:spPr>
      </p:pic>
    </p:spTree>
    <p:extLst>
      <p:ext uri="{BB962C8B-B14F-4D97-AF65-F5344CB8AC3E}">
        <p14:creationId xmlns:p14="http://schemas.microsoft.com/office/powerpoint/2010/main" val="3880282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1827A-2F27-45E9-BAA7-48AAE343AF3A}"/>
              </a:ext>
            </a:extLst>
          </p:cNvPr>
          <p:cNvSpPr>
            <a:spLocks noGrp="1"/>
          </p:cNvSpPr>
          <p:nvPr>
            <p:ph type="title"/>
          </p:nvPr>
        </p:nvSpPr>
        <p:spPr/>
        <p:txBody>
          <a:bodyPr/>
          <a:lstStyle/>
          <a:p>
            <a:r>
              <a:rPr lang="en-US" dirty="0"/>
              <a:t>Html 5 technologies</a:t>
            </a:r>
          </a:p>
        </p:txBody>
      </p:sp>
      <p:sp>
        <p:nvSpPr>
          <p:cNvPr id="3" name="Content Placeholder 2">
            <a:extLst>
              <a:ext uri="{FF2B5EF4-FFF2-40B4-BE49-F238E27FC236}">
                <a16:creationId xmlns:a16="http://schemas.microsoft.com/office/drawing/2014/main" id="{D3863C12-F7F9-48C9-AEBF-F34A999E960C}"/>
              </a:ext>
            </a:extLst>
          </p:cNvPr>
          <p:cNvSpPr>
            <a:spLocks noGrp="1"/>
          </p:cNvSpPr>
          <p:nvPr>
            <p:ph idx="1"/>
          </p:nvPr>
        </p:nvSpPr>
        <p:spPr/>
        <p:txBody>
          <a:bodyPr/>
          <a:lstStyle/>
          <a:p>
            <a:r>
              <a:rPr lang="en-US" dirty="0"/>
              <a:t>The term HTML5 encompasses a broad spectrum of technologies that together provide a compelling platform for building great web applications. These can be organized into three areas:</a:t>
            </a:r>
          </a:p>
          <a:p>
            <a:r>
              <a:rPr lang="en-US" dirty="0"/>
              <a:t>1) HTML 5– the web content, including markup instructions. (Framing)</a:t>
            </a:r>
          </a:p>
          <a:p>
            <a:pPr lvl="1"/>
            <a:r>
              <a:rPr lang="en-US" dirty="0"/>
              <a:t>HTML5 introduces more descriptive HTML tag elements. These include </a:t>
            </a:r>
            <a:r>
              <a:rPr lang="en-US" b="1" dirty="0"/>
              <a:t>header, footer, nav, video, article, section </a:t>
            </a:r>
            <a:r>
              <a:rPr lang="en-US" dirty="0"/>
              <a:t>and others.</a:t>
            </a:r>
          </a:p>
          <a:p>
            <a:r>
              <a:rPr lang="en-US" dirty="0"/>
              <a:t>2) CSS – the styling rules that define how the content is presented.  (presentability, beauty, conceivable)</a:t>
            </a:r>
          </a:p>
          <a:p>
            <a:r>
              <a:rPr lang="en-US" dirty="0"/>
              <a:t>3) JavaScript – provides client-side scripting and advanced capabilities. (interactivity)</a:t>
            </a:r>
          </a:p>
          <a:p>
            <a:r>
              <a:rPr lang="en-US" dirty="0"/>
              <a:t>This presentation introduces the basics of html(5)</a:t>
            </a:r>
          </a:p>
        </p:txBody>
      </p:sp>
    </p:spTree>
    <p:extLst>
      <p:ext uri="{BB962C8B-B14F-4D97-AF65-F5344CB8AC3E}">
        <p14:creationId xmlns:p14="http://schemas.microsoft.com/office/powerpoint/2010/main" val="2947802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F4EB4-F5E8-4F24-87CA-AC64B005CC9D}"/>
              </a:ext>
            </a:extLst>
          </p:cNvPr>
          <p:cNvSpPr>
            <a:spLocks noGrp="1"/>
          </p:cNvSpPr>
          <p:nvPr>
            <p:ph type="title"/>
          </p:nvPr>
        </p:nvSpPr>
        <p:spPr/>
        <p:txBody>
          <a:bodyPr/>
          <a:lstStyle/>
          <a:p>
            <a:r>
              <a:rPr lang="en-US" dirty="0"/>
              <a:t>HTML 5</a:t>
            </a:r>
          </a:p>
        </p:txBody>
      </p:sp>
      <p:sp>
        <p:nvSpPr>
          <p:cNvPr id="3" name="Content Placeholder 2">
            <a:extLst>
              <a:ext uri="{FF2B5EF4-FFF2-40B4-BE49-F238E27FC236}">
                <a16:creationId xmlns:a16="http://schemas.microsoft.com/office/drawing/2014/main" id="{64628BC1-2E65-4D63-826F-37F77D38E0BA}"/>
              </a:ext>
            </a:extLst>
          </p:cNvPr>
          <p:cNvSpPr>
            <a:spLocks noGrp="1"/>
          </p:cNvSpPr>
          <p:nvPr>
            <p:ph idx="1"/>
          </p:nvPr>
        </p:nvSpPr>
        <p:spPr/>
        <p:txBody>
          <a:bodyPr>
            <a:normAutofit lnSpcReduction="10000"/>
          </a:bodyPr>
          <a:lstStyle/>
          <a:p>
            <a:r>
              <a:rPr lang="en-US" dirty="0"/>
              <a:t>a markup language is used to call out parts of the document and provide instructions or background information.</a:t>
            </a:r>
          </a:p>
          <a:p>
            <a:r>
              <a:rPr lang="en-US" dirty="0"/>
              <a:t>Instructs the browser how to render (extract and display) information</a:t>
            </a:r>
          </a:p>
          <a:p>
            <a:r>
              <a:rPr lang="en-US" dirty="0"/>
              <a:t>HTML5 is a relatively mature standard, or more accurately, a set of standards that is managed by the World Wide Web Consortium (W3C). For example, the overall HTML syntax is defined in </a:t>
            </a:r>
            <a:r>
              <a:rPr lang="en-US" dirty="0">
                <a:hlinkClick r:id="rId2"/>
              </a:rPr>
              <a:t>https://www.w3.org/TR/html5/syntax.html</a:t>
            </a:r>
            <a:r>
              <a:rPr lang="en-US" dirty="0"/>
              <a:t>.</a:t>
            </a:r>
          </a:p>
          <a:p>
            <a:r>
              <a:rPr lang="en-US" dirty="0"/>
              <a:t>Web browsers receive HTML documents from a web server (URL the hosting  machine) or from local storage and render the documents into multimedia web pages.</a:t>
            </a:r>
          </a:p>
          <a:p>
            <a:r>
              <a:rPr lang="en-US" dirty="0"/>
              <a:t>A basic webpage is built with html tags, elements as the building blocks and content nested in the html tag elements.</a:t>
            </a:r>
          </a:p>
          <a:p>
            <a:r>
              <a:rPr lang="en-US" dirty="0"/>
              <a:t>Html pages can also be known as html document</a:t>
            </a:r>
          </a:p>
        </p:txBody>
      </p:sp>
    </p:spTree>
    <p:extLst>
      <p:ext uri="{BB962C8B-B14F-4D97-AF65-F5344CB8AC3E}">
        <p14:creationId xmlns:p14="http://schemas.microsoft.com/office/powerpoint/2010/main" val="33243087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242C15-0211-4AF7-A3B9-11AD646E293C}"/>
              </a:ext>
            </a:extLst>
          </p:cNvPr>
          <p:cNvSpPr>
            <a:spLocks noGrp="1"/>
          </p:cNvSpPr>
          <p:nvPr>
            <p:ph type="title"/>
          </p:nvPr>
        </p:nvSpPr>
        <p:spPr>
          <a:xfrm>
            <a:off x="897570" y="245166"/>
            <a:ext cx="10058400" cy="1238151"/>
          </a:xfrm>
        </p:spPr>
        <p:txBody>
          <a:bodyPr/>
          <a:lstStyle/>
          <a:p>
            <a:r>
              <a:rPr lang="en-US" dirty="0"/>
              <a:t>Html 5 (tags and elements)</a:t>
            </a:r>
          </a:p>
        </p:txBody>
      </p:sp>
      <p:sp>
        <p:nvSpPr>
          <p:cNvPr id="3" name="Content Placeholder 2">
            <a:extLst>
              <a:ext uri="{FF2B5EF4-FFF2-40B4-BE49-F238E27FC236}">
                <a16:creationId xmlns:a16="http://schemas.microsoft.com/office/drawing/2014/main" id="{7B6345D8-948C-458E-ABB6-A32732426BAD}"/>
              </a:ext>
            </a:extLst>
          </p:cNvPr>
          <p:cNvSpPr>
            <a:spLocks noGrp="1"/>
          </p:cNvSpPr>
          <p:nvPr>
            <p:ph idx="1"/>
          </p:nvPr>
        </p:nvSpPr>
        <p:spPr>
          <a:xfrm>
            <a:off x="-1" y="1483317"/>
            <a:ext cx="12099235" cy="5374683"/>
          </a:xfrm>
        </p:spPr>
        <p:txBody>
          <a:bodyPr>
            <a:normAutofit lnSpcReduction="10000"/>
          </a:bodyPr>
          <a:lstStyle/>
          <a:p>
            <a:r>
              <a:rPr lang="en-US" b="1" dirty="0"/>
              <a:t>HTML</a:t>
            </a:r>
            <a:r>
              <a:rPr lang="en-US" dirty="0"/>
              <a:t> page or documents are made up of tags and elements that are nested in a hierarchical fashion</a:t>
            </a:r>
          </a:p>
          <a:p>
            <a:r>
              <a:rPr lang="en-US" dirty="0"/>
              <a:t>Tag</a:t>
            </a:r>
          </a:p>
          <a:p>
            <a:pPr lvl="1"/>
            <a:r>
              <a:rPr lang="en-US" b="1" dirty="0"/>
              <a:t>HTML tag</a:t>
            </a:r>
            <a:r>
              <a:rPr lang="en-US" dirty="0"/>
              <a:t>. </a:t>
            </a:r>
            <a:r>
              <a:rPr lang="en-US" b="1" dirty="0"/>
              <a:t>HTML tag</a:t>
            </a:r>
            <a:r>
              <a:rPr lang="en-US" dirty="0"/>
              <a:t>. An </a:t>
            </a:r>
            <a:r>
              <a:rPr lang="en-US" b="1" dirty="0"/>
              <a:t>HTML</a:t>
            </a:r>
            <a:r>
              <a:rPr lang="en-US" dirty="0"/>
              <a:t> code that defines every structure on an </a:t>
            </a:r>
            <a:r>
              <a:rPr lang="en-US" b="1" dirty="0"/>
              <a:t>HTML</a:t>
            </a:r>
            <a:r>
              <a:rPr lang="en-US" dirty="0"/>
              <a:t> page, including the placement of text and images and hypertext links.</a:t>
            </a:r>
            <a:r>
              <a:rPr lang="en-US" b="1" dirty="0"/>
              <a:t>HTML tags</a:t>
            </a:r>
            <a:r>
              <a:rPr lang="en-US" dirty="0"/>
              <a:t> begin with the less-than (&lt;) character and end with greater-than (&gt;). These symbols are also called "angle brackets.</a:t>
            </a:r>
          </a:p>
          <a:p>
            <a:pPr lvl="1"/>
            <a:r>
              <a:rPr lang="en-US" dirty="0"/>
              <a:t> Tags have an opening tag and a closing tag differentiated by a forward slash in the closing tag. </a:t>
            </a:r>
            <a:r>
              <a:rPr lang="en-US" dirty="0" err="1"/>
              <a:t>Eg</a:t>
            </a:r>
            <a:r>
              <a:rPr lang="en-US" dirty="0"/>
              <a:t> &lt;&gt;&lt;/&gt;. The first is an opening tag the second beginning with a / is a closing tag.</a:t>
            </a:r>
          </a:p>
          <a:p>
            <a:r>
              <a:rPr lang="en-US" dirty="0"/>
              <a:t>Element</a:t>
            </a:r>
          </a:p>
          <a:p>
            <a:pPr lvl="1"/>
            <a:r>
              <a:rPr lang="en-US" dirty="0"/>
              <a:t>An HTML element is an individual component of an HTML (Hypertext Markup Language) document or web page. HTML is composed of a tree of HTML nodes (character based semantic representation), such as </a:t>
            </a:r>
            <a:r>
              <a:rPr lang="en-US" b="1" dirty="0"/>
              <a:t>text nodes</a:t>
            </a:r>
            <a:r>
              <a:rPr lang="en-US" dirty="0"/>
              <a:t>. Each node can have HTML attributes specified. Nodes can also have content, including other nodes and </a:t>
            </a:r>
            <a:r>
              <a:rPr lang="en-US" b="1" dirty="0"/>
              <a:t>text</a:t>
            </a:r>
            <a:r>
              <a:rPr lang="en-US" dirty="0"/>
              <a:t>.</a:t>
            </a:r>
          </a:p>
          <a:p>
            <a:pPr lvl="1"/>
            <a:r>
              <a:rPr lang="en-US" dirty="0"/>
              <a:t>The basic elements of an HTML page are: A text header, </a:t>
            </a:r>
            <a:r>
              <a:rPr lang="en-US" b="1" dirty="0"/>
              <a:t>denoted</a:t>
            </a:r>
            <a:r>
              <a:rPr lang="en-US" dirty="0"/>
              <a:t> using the &lt;h1&gt;&lt;/h1&gt; biggest to &lt;h5&gt;&lt;/h5&gt; smallest, elements are nested in tags with a corresponding start and ending tag.</a:t>
            </a:r>
          </a:p>
          <a:p>
            <a:pPr lvl="1"/>
            <a:r>
              <a:rPr lang="en-US" dirty="0"/>
              <a:t>How ever there other distinct elements that do not follow the logical opening or closing there denoted with just one opening tag. These are called empty tag </a:t>
            </a:r>
            <a:r>
              <a:rPr lang="en-US" dirty="0" err="1"/>
              <a:t>eg</a:t>
            </a:r>
            <a:r>
              <a:rPr lang="en-US" dirty="0"/>
              <a:t> &lt;</a:t>
            </a:r>
            <a:r>
              <a:rPr lang="en-US" dirty="0" err="1"/>
              <a:t>br</a:t>
            </a:r>
            <a:r>
              <a:rPr lang="en-US" dirty="0"/>
              <a:t>&gt; representing break line, (jump one line below).</a:t>
            </a:r>
          </a:p>
          <a:p>
            <a:pPr lvl="1"/>
            <a:r>
              <a:rPr lang="en-US" dirty="0"/>
              <a:t>The term tag and elements are used interchangeably and often confused but its more less the same thing.</a:t>
            </a:r>
          </a:p>
          <a:p>
            <a:pPr lvl="1"/>
            <a:endParaRPr lang="en-US" dirty="0"/>
          </a:p>
        </p:txBody>
      </p:sp>
    </p:spTree>
    <p:extLst>
      <p:ext uri="{BB962C8B-B14F-4D97-AF65-F5344CB8AC3E}">
        <p14:creationId xmlns:p14="http://schemas.microsoft.com/office/powerpoint/2010/main" val="74002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34FBD-CA43-4854-8A19-7B87F27F953C}"/>
              </a:ext>
            </a:extLst>
          </p:cNvPr>
          <p:cNvSpPr>
            <a:spLocks noGrp="1"/>
          </p:cNvSpPr>
          <p:nvPr>
            <p:ph type="title"/>
          </p:nvPr>
        </p:nvSpPr>
        <p:spPr/>
        <p:txBody>
          <a:bodyPr/>
          <a:lstStyle/>
          <a:p>
            <a:r>
              <a:rPr lang="en-US" dirty="0"/>
              <a:t>Html elements continued</a:t>
            </a:r>
          </a:p>
        </p:txBody>
      </p:sp>
      <p:sp>
        <p:nvSpPr>
          <p:cNvPr id="3" name="Content Placeholder 2">
            <a:extLst>
              <a:ext uri="{FF2B5EF4-FFF2-40B4-BE49-F238E27FC236}">
                <a16:creationId xmlns:a16="http://schemas.microsoft.com/office/drawing/2014/main" id="{96482536-E361-445A-90A8-46D8AAEDE438}"/>
              </a:ext>
            </a:extLst>
          </p:cNvPr>
          <p:cNvSpPr>
            <a:spLocks noGrp="1"/>
          </p:cNvSpPr>
          <p:nvPr>
            <p:ph idx="1"/>
          </p:nvPr>
        </p:nvSpPr>
        <p:spPr>
          <a:xfrm>
            <a:off x="0" y="1908313"/>
            <a:ext cx="12192000" cy="4949687"/>
          </a:xfrm>
        </p:spPr>
        <p:txBody>
          <a:bodyPr>
            <a:normAutofit/>
          </a:bodyPr>
          <a:lstStyle/>
          <a:p>
            <a:r>
              <a:rPr lang="en-US" dirty="0"/>
              <a:t>There is a growing number of HTML elements I cant list them all in this presentation. Below are the main points to note. </a:t>
            </a:r>
          </a:p>
          <a:p>
            <a:r>
              <a:rPr lang="en-US" dirty="0"/>
              <a:t>HTML elements are easy to remember as they represent the everyday text based language of the document structure. Below are some of the examples. </a:t>
            </a:r>
          </a:p>
          <a:p>
            <a:r>
              <a:rPr lang="en-US" dirty="0"/>
              <a:t>&lt;p&gt; for paragraph</a:t>
            </a:r>
          </a:p>
          <a:p>
            <a:r>
              <a:rPr lang="en-US" dirty="0"/>
              <a:t>&lt;ul&gt; For unordered list</a:t>
            </a:r>
          </a:p>
          <a:p>
            <a:r>
              <a:rPr lang="en-US" dirty="0"/>
              <a:t>&lt;div&gt; for dividing a section</a:t>
            </a:r>
          </a:p>
          <a:p>
            <a:r>
              <a:rPr lang="en-US" dirty="0"/>
              <a:t>&lt;head&gt; for </a:t>
            </a:r>
            <a:r>
              <a:rPr lang="en-US" dirty="0" err="1"/>
              <a:t>degining</a:t>
            </a:r>
            <a:r>
              <a:rPr lang="en-US" dirty="0"/>
              <a:t> webpage’s head, &lt;body&gt; likewise, &lt;footer&gt; for page footer</a:t>
            </a:r>
          </a:p>
          <a:p>
            <a:r>
              <a:rPr lang="en-US" dirty="0"/>
              <a:t>&lt;video&gt; for adding video </a:t>
            </a:r>
          </a:p>
          <a:p>
            <a:r>
              <a:rPr lang="en-US" dirty="0"/>
              <a:t>&lt;</a:t>
            </a:r>
            <a:r>
              <a:rPr lang="en-US" dirty="0" err="1"/>
              <a:t>href</a:t>
            </a:r>
            <a:r>
              <a:rPr lang="en-US" dirty="0"/>
              <a:t>&gt; denoting  hyperlink reference</a:t>
            </a:r>
          </a:p>
          <a:p>
            <a:r>
              <a:rPr lang="en-US" dirty="0"/>
              <a:t>What is cool with HTML 5 is that you can define your own elements, or mix as long as you know what your doing. But following the basic standard is advisable for future developments. What if the website is to be further developed by someone, it should be easy to follow. That’s why we have standards.</a:t>
            </a:r>
          </a:p>
        </p:txBody>
      </p:sp>
    </p:spTree>
    <p:extLst>
      <p:ext uri="{BB962C8B-B14F-4D97-AF65-F5344CB8AC3E}">
        <p14:creationId xmlns:p14="http://schemas.microsoft.com/office/powerpoint/2010/main" val="3938412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EDA16-6D82-49C8-B651-D404F80D8CE8}"/>
              </a:ext>
            </a:extLst>
          </p:cNvPr>
          <p:cNvSpPr>
            <a:spLocks noGrp="1"/>
          </p:cNvSpPr>
          <p:nvPr>
            <p:ph type="title"/>
          </p:nvPr>
        </p:nvSpPr>
        <p:spPr/>
        <p:txBody>
          <a:bodyPr/>
          <a:lstStyle/>
          <a:p>
            <a:r>
              <a:rPr lang="en-US" dirty="0"/>
              <a:t>Types of Html elements </a:t>
            </a:r>
            <a:r>
              <a:rPr lang="en-US" sz="3600" dirty="0"/>
              <a:t>(block level)</a:t>
            </a:r>
          </a:p>
        </p:txBody>
      </p:sp>
      <p:sp>
        <p:nvSpPr>
          <p:cNvPr id="3" name="Content Placeholder 2">
            <a:extLst>
              <a:ext uri="{FF2B5EF4-FFF2-40B4-BE49-F238E27FC236}">
                <a16:creationId xmlns:a16="http://schemas.microsoft.com/office/drawing/2014/main" id="{74B49F98-8972-4BA9-A5D0-B699B5B960B4}"/>
              </a:ext>
            </a:extLst>
          </p:cNvPr>
          <p:cNvSpPr>
            <a:spLocks noGrp="1"/>
          </p:cNvSpPr>
          <p:nvPr>
            <p:ph idx="1"/>
          </p:nvPr>
        </p:nvSpPr>
        <p:spPr>
          <a:xfrm>
            <a:off x="132522" y="1974574"/>
            <a:ext cx="12059478" cy="4883426"/>
          </a:xfrm>
        </p:spPr>
        <p:txBody>
          <a:bodyPr>
            <a:normAutofit/>
          </a:bodyPr>
          <a:lstStyle/>
          <a:p>
            <a:r>
              <a:rPr lang="en-US" dirty="0"/>
              <a:t>The building block elements of each html page</a:t>
            </a:r>
          </a:p>
          <a:p>
            <a:r>
              <a:rPr lang="en-US" dirty="0"/>
              <a:t>Two main types of HTML elements "block-level" elements or </a:t>
            </a:r>
            <a:r>
              <a:rPr lang="en-US" dirty="0">
                <a:hlinkClick r:id="rId2" tooltip="/en-US/docs/HTML/inline_elements"/>
              </a:rPr>
              <a:t>"inline" elements</a:t>
            </a:r>
            <a:r>
              <a:rPr lang="en-US" dirty="0"/>
              <a:t>. </a:t>
            </a:r>
          </a:p>
          <a:p>
            <a:r>
              <a:rPr lang="en-US" dirty="0"/>
              <a:t>By default, a block-level element occupies the entire space of its parent element (container), thereby creating a "block.“</a:t>
            </a:r>
          </a:p>
          <a:p>
            <a:r>
              <a:rPr lang="en-US" dirty="0"/>
              <a:t>Block elements usually starts on a new line. Examples are;</a:t>
            </a:r>
          </a:p>
          <a:p>
            <a:r>
              <a:rPr lang="en-US" dirty="0"/>
              <a:t>&lt;address&gt; &lt;article&gt; &lt;aside&gt; &lt;blockquote&gt; &lt;canvas&gt; &lt;dd&gt; &lt;div&gt; &lt;dl&gt; &lt;dt&gt; &lt;</a:t>
            </a:r>
            <a:r>
              <a:rPr lang="en-US" dirty="0" err="1"/>
              <a:t>fieldset</a:t>
            </a:r>
            <a:r>
              <a:rPr lang="en-US" dirty="0"/>
              <a:t>&gt; &lt;</a:t>
            </a:r>
            <a:r>
              <a:rPr lang="en-US" dirty="0" err="1"/>
              <a:t>figcaption</a:t>
            </a:r>
            <a:r>
              <a:rPr lang="en-US" dirty="0"/>
              <a:t>&gt; &lt;figure&gt; &lt;footer&gt; &lt;form&gt; &lt;h1&gt;-&lt;h6&gt; &lt;header&gt; &lt;</a:t>
            </a:r>
            <a:r>
              <a:rPr lang="en-US" dirty="0" err="1"/>
              <a:t>hr</a:t>
            </a:r>
            <a:r>
              <a:rPr lang="en-US" dirty="0"/>
              <a:t>&gt; &lt;li&gt; &lt;main&gt; &lt;nav&gt; &lt;</a:t>
            </a:r>
            <a:r>
              <a:rPr lang="en-US" dirty="0" err="1"/>
              <a:t>noscript</a:t>
            </a:r>
            <a:r>
              <a:rPr lang="en-US" dirty="0"/>
              <a:t>&gt; &lt;</a:t>
            </a:r>
            <a:r>
              <a:rPr lang="en-US" dirty="0" err="1"/>
              <a:t>ol</a:t>
            </a:r>
            <a:r>
              <a:rPr lang="en-US" dirty="0"/>
              <a:t>&gt; &lt;p&gt; &lt;pre&gt; &lt;section&gt; &lt;table&gt; &lt;</a:t>
            </a:r>
            <a:r>
              <a:rPr lang="en-US" dirty="0" err="1"/>
              <a:t>tfoot</a:t>
            </a:r>
            <a:r>
              <a:rPr lang="en-US" dirty="0"/>
              <a:t>&gt; &lt;ul&gt; &lt;video&gt; </a:t>
            </a:r>
            <a:r>
              <a:rPr lang="en-US" dirty="0" err="1"/>
              <a:t>etc</a:t>
            </a:r>
            <a:endParaRPr lang="en-US" dirty="0"/>
          </a:p>
          <a:p>
            <a:r>
              <a:rPr lang="en-US" dirty="0"/>
              <a:t>Block level elements can contain inline elements and other block level elements nested within</a:t>
            </a:r>
          </a:p>
          <a:p>
            <a:r>
              <a:rPr lang="en-US" dirty="0"/>
              <a:t>Every HTML element has a default display value depending on what type of element it is. The default display value for most elements is block or inline.</a:t>
            </a:r>
          </a:p>
          <a:p>
            <a:endParaRPr lang="en-US" dirty="0"/>
          </a:p>
        </p:txBody>
      </p:sp>
    </p:spTree>
    <p:extLst>
      <p:ext uri="{BB962C8B-B14F-4D97-AF65-F5344CB8AC3E}">
        <p14:creationId xmlns:p14="http://schemas.microsoft.com/office/powerpoint/2010/main" val="3898961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EFAA5-B98B-4742-A5DF-D85EA6CB2B23}"/>
              </a:ext>
            </a:extLst>
          </p:cNvPr>
          <p:cNvSpPr>
            <a:spLocks noGrp="1"/>
          </p:cNvSpPr>
          <p:nvPr>
            <p:ph type="title"/>
          </p:nvPr>
        </p:nvSpPr>
        <p:spPr/>
        <p:txBody>
          <a:bodyPr/>
          <a:lstStyle/>
          <a:p>
            <a:r>
              <a:rPr lang="en-US" dirty="0"/>
              <a:t>Types of Html elements </a:t>
            </a:r>
            <a:r>
              <a:rPr lang="en-US" sz="3600" dirty="0"/>
              <a:t>(inline)</a:t>
            </a:r>
            <a:endParaRPr lang="en-US" dirty="0"/>
          </a:p>
        </p:txBody>
      </p:sp>
      <p:sp>
        <p:nvSpPr>
          <p:cNvPr id="3" name="Content Placeholder 2">
            <a:extLst>
              <a:ext uri="{FF2B5EF4-FFF2-40B4-BE49-F238E27FC236}">
                <a16:creationId xmlns:a16="http://schemas.microsoft.com/office/drawing/2014/main" id="{3465F0B5-0ADE-4E91-8D7D-06857A116206}"/>
              </a:ext>
            </a:extLst>
          </p:cNvPr>
          <p:cNvSpPr>
            <a:spLocks noGrp="1"/>
          </p:cNvSpPr>
          <p:nvPr>
            <p:ph idx="1"/>
          </p:nvPr>
        </p:nvSpPr>
        <p:spPr>
          <a:xfrm>
            <a:off x="1537252" y="2187669"/>
            <a:ext cx="8772940" cy="3961340"/>
          </a:xfrm>
        </p:spPr>
        <p:txBody>
          <a:bodyPr>
            <a:normAutofit/>
          </a:bodyPr>
          <a:lstStyle/>
          <a:p>
            <a:r>
              <a:rPr lang="en-US" dirty="0"/>
              <a:t>Inline elements are those which only occupy the space bounded by the tags defining the element, instead of breaking the flow of the content.</a:t>
            </a:r>
          </a:p>
          <a:p>
            <a:r>
              <a:rPr lang="en-US" dirty="0"/>
              <a:t>Are contained within a block level element</a:t>
            </a:r>
          </a:p>
          <a:p>
            <a:r>
              <a:rPr lang="en-US" dirty="0"/>
              <a:t>Do not start a new line</a:t>
            </a:r>
          </a:p>
          <a:p>
            <a:r>
              <a:rPr lang="en-US" dirty="0">
                <a:hlinkClick r:id="rId2"/>
              </a:rPr>
              <a:t>&lt;a&gt;</a:t>
            </a:r>
            <a:r>
              <a:rPr lang="en-US" dirty="0"/>
              <a:t> </a:t>
            </a:r>
            <a:r>
              <a:rPr lang="en-US" dirty="0">
                <a:hlinkClick r:id="rId3"/>
              </a:rPr>
              <a:t>&lt;</a:t>
            </a:r>
            <a:r>
              <a:rPr lang="en-US" dirty="0" err="1">
                <a:hlinkClick r:id="rId3"/>
              </a:rPr>
              <a:t>abbr</a:t>
            </a:r>
            <a:r>
              <a:rPr lang="en-US" dirty="0">
                <a:hlinkClick r:id="rId3"/>
              </a:rPr>
              <a:t>&gt;</a:t>
            </a:r>
            <a:r>
              <a:rPr lang="en-US" dirty="0"/>
              <a:t> </a:t>
            </a:r>
            <a:r>
              <a:rPr lang="en-US" dirty="0">
                <a:hlinkClick r:id="rId4"/>
              </a:rPr>
              <a:t>&lt;acronym&gt;</a:t>
            </a:r>
            <a:r>
              <a:rPr lang="en-US" dirty="0"/>
              <a:t> </a:t>
            </a:r>
            <a:r>
              <a:rPr lang="en-US" dirty="0">
                <a:hlinkClick r:id="rId5"/>
              </a:rPr>
              <a:t>&lt;b&gt;</a:t>
            </a:r>
            <a:endParaRPr lang="en-US" dirty="0"/>
          </a:p>
          <a:p>
            <a:r>
              <a:rPr lang="en-US" dirty="0">
                <a:hlinkClick r:id="rId6"/>
              </a:rPr>
              <a:t>&lt;</a:t>
            </a:r>
            <a:r>
              <a:rPr lang="en-US" dirty="0" err="1">
                <a:hlinkClick r:id="rId6"/>
              </a:rPr>
              <a:t>bdo</a:t>
            </a:r>
            <a:r>
              <a:rPr lang="en-US" dirty="0">
                <a:hlinkClick r:id="rId6"/>
              </a:rPr>
              <a:t>&gt;</a:t>
            </a:r>
            <a:r>
              <a:rPr lang="en-US" dirty="0"/>
              <a:t> </a:t>
            </a:r>
            <a:r>
              <a:rPr lang="en-US" dirty="0">
                <a:hlinkClick r:id="rId7"/>
              </a:rPr>
              <a:t>&lt;big&gt;</a:t>
            </a:r>
            <a:r>
              <a:rPr lang="en-US" dirty="0"/>
              <a:t> </a:t>
            </a:r>
            <a:r>
              <a:rPr lang="en-US" dirty="0">
                <a:hlinkClick r:id="rId8"/>
              </a:rPr>
              <a:t>&lt;</a:t>
            </a:r>
            <a:r>
              <a:rPr lang="en-US" dirty="0" err="1">
                <a:hlinkClick r:id="rId8"/>
              </a:rPr>
              <a:t>br</a:t>
            </a:r>
            <a:r>
              <a:rPr lang="en-US" dirty="0">
                <a:hlinkClick r:id="rId8"/>
              </a:rPr>
              <a:t>&gt;</a:t>
            </a:r>
            <a:r>
              <a:rPr lang="en-US" dirty="0"/>
              <a:t> </a:t>
            </a:r>
            <a:r>
              <a:rPr lang="en-US" dirty="0">
                <a:hlinkClick r:id="rId9"/>
              </a:rPr>
              <a:t>&lt;button&gt;</a:t>
            </a:r>
            <a:endParaRPr lang="en-US" dirty="0"/>
          </a:p>
          <a:p>
            <a:r>
              <a:rPr lang="en-US" dirty="0">
                <a:hlinkClick r:id="rId10"/>
              </a:rPr>
              <a:t>&lt;cite&gt;</a:t>
            </a:r>
            <a:r>
              <a:rPr lang="en-US" dirty="0"/>
              <a:t> &lt;</a:t>
            </a:r>
            <a:r>
              <a:rPr lang="en-US" dirty="0">
                <a:hlinkClick r:id="rId11"/>
              </a:rPr>
              <a:t>code&gt;</a:t>
            </a:r>
            <a:r>
              <a:rPr lang="en-US" dirty="0"/>
              <a:t> </a:t>
            </a:r>
            <a:r>
              <a:rPr lang="en-US" dirty="0">
                <a:hlinkClick r:id="rId12"/>
              </a:rPr>
              <a:t>&lt;</a:t>
            </a:r>
            <a:r>
              <a:rPr lang="en-US" dirty="0" err="1">
                <a:hlinkClick r:id="rId12"/>
              </a:rPr>
              <a:t>dfn</a:t>
            </a:r>
            <a:r>
              <a:rPr lang="en-US" dirty="0">
                <a:hlinkClick r:id="rId12"/>
              </a:rPr>
              <a:t>&gt;</a:t>
            </a:r>
            <a:r>
              <a:rPr lang="en-US" dirty="0"/>
              <a:t> </a:t>
            </a:r>
            <a:r>
              <a:rPr lang="en-US" dirty="0">
                <a:hlinkClick r:id="rId13"/>
              </a:rPr>
              <a:t>&lt;</a:t>
            </a:r>
            <a:r>
              <a:rPr lang="en-US" dirty="0" err="1">
                <a:hlinkClick r:id="rId13"/>
              </a:rPr>
              <a:t>em</a:t>
            </a:r>
            <a:r>
              <a:rPr lang="en-US" dirty="0">
                <a:hlinkClick r:id="rId13"/>
              </a:rPr>
              <a:t>&gt;</a:t>
            </a:r>
            <a:r>
              <a:rPr lang="en-US" dirty="0"/>
              <a:t> </a:t>
            </a:r>
            <a:r>
              <a:rPr lang="en-US" dirty="0">
                <a:hlinkClick r:id="rId14"/>
              </a:rPr>
              <a:t>&lt;</a:t>
            </a:r>
            <a:r>
              <a:rPr lang="en-US" dirty="0" err="1">
                <a:hlinkClick r:id="rId14"/>
              </a:rPr>
              <a:t>i</a:t>
            </a:r>
            <a:r>
              <a:rPr lang="en-US" dirty="0">
                <a:hlinkClick r:id="rId14"/>
              </a:rPr>
              <a:t>&gt;</a:t>
            </a:r>
            <a:r>
              <a:rPr lang="en-US" dirty="0"/>
              <a:t> </a:t>
            </a:r>
            <a:r>
              <a:rPr lang="en-US" dirty="0">
                <a:hlinkClick r:id="rId15"/>
              </a:rPr>
              <a:t>&lt;</a:t>
            </a:r>
            <a:r>
              <a:rPr lang="en-US" dirty="0" err="1">
                <a:hlinkClick r:id="rId15"/>
              </a:rPr>
              <a:t>img</a:t>
            </a:r>
            <a:r>
              <a:rPr lang="en-US" dirty="0">
                <a:hlinkClick r:id="rId15"/>
              </a:rPr>
              <a:t>&gt;</a:t>
            </a:r>
            <a:endParaRPr lang="en-US" dirty="0"/>
          </a:p>
          <a:p>
            <a:endParaRPr lang="en-US" dirty="0"/>
          </a:p>
          <a:p>
            <a:endParaRPr lang="en-US" dirty="0"/>
          </a:p>
        </p:txBody>
      </p:sp>
    </p:spTree>
    <p:extLst>
      <p:ext uri="{BB962C8B-B14F-4D97-AF65-F5344CB8AC3E}">
        <p14:creationId xmlns:p14="http://schemas.microsoft.com/office/powerpoint/2010/main" val="34318357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4D2E1-1862-4F66-85AC-5524A002E5E7}"/>
              </a:ext>
            </a:extLst>
          </p:cNvPr>
          <p:cNvSpPr>
            <a:spLocks noGrp="1"/>
          </p:cNvSpPr>
          <p:nvPr>
            <p:ph type="title"/>
          </p:nvPr>
        </p:nvSpPr>
        <p:spPr/>
        <p:txBody>
          <a:bodyPr/>
          <a:lstStyle/>
          <a:p>
            <a:r>
              <a:rPr lang="en-US" dirty="0"/>
              <a:t>Html attributes</a:t>
            </a:r>
          </a:p>
        </p:txBody>
      </p:sp>
      <p:sp>
        <p:nvSpPr>
          <p:cNvPr id="3" name="Content Placeholder 2">
            <a:extLst>
              <a:ext uri="{FF2B5EF4-FFF2-40B4-BE49-F238E27FC236}">
                <a16:creationId xmlns:a16="http://schemas.microsoft.com/office/drawing/2014/main" id="{4FC4AACA-3090-44A6-9B7E-C3A88F93B0BD}"/>
              </a:ext>
            </a:extLst>
          </p:cNvPr>
          <p:cNvSpPr>
            <a:spLocks noGrp="1"/>
          </p:cNvSpPr>
          <p:nvPr>
            <p:ph idx="1"/>
          </p:nvPr>
        </p:nvSpPr>
        <p:spPr>
          <a:xfrm>
            <a:off x="344557" y="2121407"/>
            <a:ext cx="11396869" cy="4517931"/>
          </a:xfrm>
        </p:spPr>
        <p:txBody>
          <a:bodyPr>
            <a:normAutofit/>
          </a:bodyPr>
          <a:lstStyle/>
          <a:p>
            <a:r>
              <a:rPr lang="en-US" dirty="0"/>
              <a:t>All HTML elements can have </a:t>
            </a:r>
            <a:r>
              <a:rPr lang="en-US" b="1" dirty="0"/>
              <a:t>attributes</a:t>
            </a:r>
            <a:endParaRPr lang="en-US" dirty="0"/>
          </a:p>
          <a:p>
            <a:r>
              <a:rPr lang="en-US" dirty="0"/>
              <a:t>Attributes provide </a:t>
            </a:r>
            <a:r>
              <a:rPr lang="en-US" b="1" dirty="0"/>
              <a:t>additional information</a:t>
            </a:r>
            <a:r>
              <a:rPr lang="en-US" dirty="0"/>
              <a:t> about an element</a:t>
            </a:r>
          </a:p>
          <a:p>
            <a:r>
              <a:rPr lang="en-US" dirty="0"/>
              <a:t>Attributes are always specified in </a:t>
            </a:r>
            <a:r>
              <a:rPr lang="en-US" b="1" dirty="0"/>
              <a:t>the start tag</a:t>
            </a:r>
            <a:endParaRPr lang="en-US" dirty="0"/>
          </a:p>
          <a:p>
            <a:r>
              <a:rPr lang="en-US" dirty="0"/>
              <a:t>Attributes usually come in name/value pairs like: </a:t>
            </a:r>
            <a:r>
              <a:rPr lang="en-US" b="1" dirty="0"/>
              <a:t>name="value"</a:t>
            </a:r>
            <a:endParaRPr lang="en-US" dirty="0"/>
          </a:p>
          <a:p>
            <a:r>
              <a:rPr lang="en-US" dirty="0"/>
              <a:t>For example to add an image on the website you will need the &lt;</a:t>
            </a:r>
            <a:r>
              <a:rPr lang="en-US" dirty="0" err="1"/>
              <a:t>img</a:t>
            </a:r>
            <a:r>
              <a:rPr lang="en-US" dirty="0"/>
              <a:t>&gt; element then the </a:t>
            </a:r>
            <a:r>
              <a:rPr lang="en-US" b="1" dirty="0" err="1"/>
              <a:t>src</a:t>
            </a:r>
            <a:r>
              <a:rPr lang="en-US" b="1" dirty="0"/>
              <a:t> </a:t>
            </a:r>
            <a:r>
              <a:rPr lang="en-US" dirty="0"/>
              <a:t> attribute. Which defines a </a:t>
            </a:r>
            <a:r>
              <a:rPr lang="en-US" dirty="0" err="1"/>
              <a:t>url</a:t>
            </a:r>
            <a:r>
              <a:rPr lang="en-US" dirty="0"/>
              <a:t> to the image source. The </a:t>
            </a:r>
            <a:r>
              <a:rPr lang="en-US" dirty="0" err="1"/>
              <a:t>attri</a:t>
            </a:r>
            <a:endParaRPr lang="en-US" dirty="0"/>
          </a:p>
          <a:p>
            <a:r>
              <a:rPr lang="en-US" dirty="0"/>
              <a:t>As stated above the image element and its attribute would be &lt;</a:t>
            </a:r>
            <a:r>
              <a:rPr lang="en-US" dirty="0" err="1"/>
              <a:t>img</a:t>
            </a:r>
            <a:r>
              <a:rPr lang="en-US" dirty="0"/>
              <a:t> </a:t>
            </a:r>
            <a:r>
              <a:rPr lang="en-US" dirty="0" err="1"/>
              <a:t>src</a:t>
            </a:r>
            <a:r>
              <a:rPr lang="en-US" dirty="0"/>
              <a:t>=</a:t>
            </a:r>
            <a:r>
              <a:rPr lang="en-US" b="1" dirty="0"/>
              <a:t>"</a:t>
            </a:r>
            <a:r>
              <a:rPr lang="en-US" dirty="0"/>
              <a:t>/images/logo.gif</a:t>
            </a:r>
            <a:r>
              <a:rPr lang="en-US" b="1" dirty="0"/>
              <a:t>"</a:t>
            </a:r>
            <a:r>
              <a:rPr lang="en-US" dirty="0"/>
              <a:t>&gt; </a:t>
            </a:r>
          </a:p>
          <a:p>
            <a:r>
              <a:rPr lang="en-US" dirty="0"/>
              <a:t>Attributes are always presented by the equals sing set of  double quotes (</a:t>
            </a:r>
            <a:r>
              <a:rPr lang="en-US" b="1" dirty="0">
                <a:highlight>
                  <a:srgbClr val="FFFF00"/>
                </a:highlight>
              </a:rPr>
              <a:t>=""</a:t>
            </a:r>
            <a:r>
              <a:rPr lang="en-US" b="1" dirty="0"/>
              <a:t>)</a:t>
            </a:r>
            <a:endParaRPr lang="en-US" dirty="0"/>
          </a:p>
        </p:txBody>
      </p:sp>
    </p:spTree>
    <p:extLst>
      <p:ext uri="{BB962C8B-B14F-4D97-AF65-F5344CB8AC3E}">
        <p14:creationId xmlns:p14="http://schemas.microsoft.com/office/powerpoint/2010/main" val="39796387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10670-55C6-4CAD-8BC2-8526F6A892F3}"/>
              </a:ext>
            </a:extLst>
          </p:cNvPr>
          <p:cNvSpPr>
            <a:spLocks noGrp="1"/>
          </p:cNvSpPr>
          <p:nvPr>
            <p:ph type="title"/>
          </p:nvPr>
        </p:nvSpPr>
        <p:spPr/>
        <p:txBody>
          <a:bodyPr/>
          <a:lstStyle/>
          <a:p>
            <a:r>
              <a:rPr lang="en-US" dirty="0"/>
              <a:t>Html </a:t>
            </a:r>
            <a:r>
              <a:rPr lang="en-US" dirty="0" err="1"/>
              <a:t>attribues</a:t>
            </a:r>
            <a:r>
              <a:rPr lang="en-US" dirty="0"/>
              <a:t> </a:t>
            </a:r>
            <a:r>
              <a:rPr lang="en-US" sz="3600" dirty="0"/>
              <a:t>continued</a:t>
            </a:r>
          </a:p>
        </p:txBody>
      </p:sp>
      <p:sp>
        <p:nvSpPr>
          <p:cNvPr id="3" name="Content Placeholder 2">
            <a:extLst>
              <a:ext uri="{FF2B5EF4-FFF2-40B4-BE49-F238E27FC236}">
                <a16:creationId xmlns:a16="http://schemas.microsoft.com/office/drawing/2014/main" id="{6EA8779A-84CA-4763-9957-7BA0A7B37B5C}"/>
              </a:ext>
            </a:extLst>
          </p:cNvPr>
          <p:cNvSpPr>
            <a:spLocks noGrp="1"/>
          </p:cNvSpPr>
          <p:nvPr>
            <p:ph idx="1"/>
          </p:nvPr>
        </p:nvSpPr>
        <p:spPr>
          <a:xfrm>
            <a:off x="0" y="1868557"/>
            <a:ext cx="12191999" cy="4810539"/>
          </a:xfrm>
        </p:spPr>
        <p:txBody>
          <a:bodyPr>
            <a:normAutofit fontScale="92500" lnSpcReduction="20000"/>
          </a:bodyPr>
          <a:lstStyle/>
          <a:p>
            <a:r>
              <a:rPr lang="en-US" dirty="0"/>
              <a:t>Most common attributes in HTML are the </a:t>
            </a:r>
            <a:r>
              <a:rPr lang="en-US" b="1" dirty="0"/>
              <a:t>class</a:t>
            </a:r>
            <a:r>
              <a:rPr lang="en-US" dirty="0"/>
              <a:t> and </a:t>
            </a:r>
            <a:r>
              <a:rPr lang="en-US" b="1" dirty="0"/>
              <a:t>ID</a:t>
            </a:r>
            <a:r>
              <a:rPr lang="en-US" dirty="0"/>
              <a:t> attributes</a:t>
            </a:r>
          </a:p>
          <a:p>
            <a:r>
              <a:rPr lang="en-US" dirty="0"/>
              <a:t>The class attribute mostly used in applying styling, where styling presentation is declared to a given class name (it can be any name) and all elements given the class attribute of the defined value will be formatted with the declared styles of that class. </a:t>
            </a:r>
          </a:p>
          <a:p>
            <a:r>
              <a:rPr lang="en-US" dirty="0"/>
              <a:t>ID can also be used for styling and also navigation, one ID value can only applied to only one element.</a:t>
            </a:r>
          </a:p>
          <a:p>
            <a:r>
              <a:rPr lang="en-US" dirty="0"/>
              <a:t>One common Attribute is in web programing is the type attribute. For example		 &lt;button type</a:t>
            </a:r>
            <a:r>
              <a:rPr lang="en-US" b="1" dirty="0">
                <a:highlight>
                  <a:srgbClr val="FFFF00"/>
                </a:highlight>
              </a:rPr>
              <a:t>=“submit“ value=“submit"</a:t>
            </a:r>
            <a:r>
              <a:rPr lang="en-US" dirty="0"/>
              <a:t>&gt;&lt;/button&gt;</a:t>
            </a:r>
          </a:p>
          <a:p>
            <a:r>
              <a:rPr lang="en-US" dirty="0"/>
              <a:t>There is a set of attributes called </a:t>
            </a:r>
            <a:r>
              <a:rPr lang="en-US" i="1" dirty="0"/>
              <a:t>global attributes </a:t>
            </a:r>
            <a:r>
              <a:rPr lang="en-US" dirty="0"/>
              <a:t>that can be used on any HTML element. A complete list of these can be found at </a:t>
            </a:r>
            <a:r>
              <a:rPr lang="en-US" dirty="0">
                <a:hlinkClick r:id="rId2"/>
              </a:rPr>
              <a:t>https://html.com/global/</a:t>
            </a:r>
            <a:endParaRPr lang="en-US" dirty="0"/>
          </a:p>
          <a:p>
            <a:r>
              <a:rPr lang="en-US" dirty="0"/>
              <a:t>The most common ones that you’ll use are id and class. The id attribute defines a unique key for an element; it must be unique within the entire HTML document.</a:t>
            </a:r>
          </a:p>
          <a:p>
            <a:r>
              <a:rPr lang="en-US" dirty="0"/>
              <a:t>This is often used when accessing an element in JavaScript</a:t>
            </a:r>
          </a:p>
          <a:p>
            <a:r>
              <a:rPr lang="en-US" dirty="0"/>
              <a:t>The class attribute is sometimes called the CSS class, because it is often used for applying styles to an element. Unlike id,</a:t>
            </a:r>
          </a:p>
          <a:p>
            <a:r>
              <a:rPr lang="en-US" dirty="0"/>
              <a:t>the class attribute is a non-unique key; a single value is applied to elements that need to have identical formatting.</a:t>
            </a:r>
          </a:p>
        </p:txBody>
      </p:sp>
    </p:spTree>
    <p:extLst>
      <p:ext uri="{BB962C8B-B14F-4D97-AF65-F5344CB8AC3E}">
        <p14:creationId xmlns:p14="http://schemas.microsoft.com/office/powerpoint/2010/main" val="28268365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20369-EEC0-4A44-BC39-5430FBF1EB7E}"/>
              </a:ext>
            </a:extLst>
          </p:cNvPr>
          <p:cNvSpPr>
            <a:spLocks noGrp="1"/>
          </p:cNvSpPr>
          <p:nvPr>
            <p:ph type="title"/>
          </p:nvPr>
        </p:nvSpPr>
        <p:spPr>
          <a:xfrm>
            <a:off x="2040835" y="126823"/>
            <a:ext cx="10058400" cy="973107"/>
          </a:xfrm>
        </p:spPr>
        <p:txBody>
          <a:bodyPr/>
          <a:lstStyle/>
          <a:p>
            <a:r>
              <a:rPr lang="en-US" dirty="0"/>
              <a:t>Html page</a:t>
            </a:r>
          </a:p>
        </p:txBody>
      </p:sp>
      <p:sp>
        <p:nvSpPr>
          <p:cNvPr id="3" name="Content Placeholder 2">
            <a:extLst>
              <a:ext uri="{FF2B5EF4-FFF2-40B4-BE49-F238E27FC236}">
                <a16:creationId xmlns:a16="http://schemas.microsoft.com/office/drawing/2014/main" id="{53C13CD1-F1E8-491D-A2CE-8264FC4644D1}"/>
              </a:ext>
            </a:extLst>
          </p:cNvPr>
          <p:cNvSpPr>
            <a:spLocks noGrp="1"/>
          </p:cNvSpPr>
          <p:nvPr>
            <p:ph idx="1"/>
          </p:nvPr>
        </p:nvSpPr>
        <p:spPr>
          <a:xfrm>
            <a:off x="0" y="1325217"/>
            <a:ext cx="12099235" cy="5532783"/>
          </a:xfrm>
        </p:spPr>
        <p:txBody>
          <a:bodyPr>
            <a:normAutofit lnSpcReduction="10000"/>
          </a:bodyPr>
          <a:lstStyle/>
          <a:p>
            <a:r>
              <a:rPr lang="en-US" dirty="0"/>
              <a:t>Each HTML page has the defining block elements starts with the html and ends with the html tag element. &lt;html&gt;&lt;head&gt;,&lt;title&gt;&lt;/title&gt;&lt;/head&gt;&lt;body&gt;&lt;/body&gt;&lt;/html&gt;</a:t>
            </a:r>
          </a:p>
          <a:p>
            <a:r>
              <a:rPr lang="en-US" dirty="0"/>
              <a:t>HTML elements should be orderly nested to work. Inline elements close first before closing the block level</a:t>
            </a:r>
          </a:p>
          <a:p>
            <a:r>
              <a:rPr lang="en-US" dirty="0"/>
              <a:t>HTML Page Document must be saved with a .html file extension to be recognized by browsers as a document with HTML instructions</a:t>
            </a:r>
          </a:p>
          <a:p>
            <a:r>
              <a:rPr lang="en-US" dirty="0"/>
              <a:t>Simple HTML5 Document would be as below</a:t>
            </a:r>
          </a:p>
          <a:p>
            <a:r>
              <a:rPr lang="en-US" dirty="0"/>
              <a:t>&lt;!DOCTYPE html&gt;</a:t>
            </a:r>
          </a:p>
          <a:p>
            <a:r>
              <a:rPr lang="en-US" dirty="0"/>
              <a:t>&lt;html </a:t>
            </a:r>
            <a:r>
              <a:rPr lang="en-US" dirty="0" err="1"/>
              <a:t>lang</a:t>
            </a:r>
            <a:r>
              <a:rPr lang="en-US" dirty="0"/>
              <a:t>="</a:t>
            </a:r>
            <a:r>
              <a:rPr lang="en-US" dirty="0" err="1"/>
              <a:t>en</a:t>
            </a:r>
            <a:r>
              <a:rPr lang="en-US" dirty="0"/>
              <a:t>"&gt;</a:t>
            </a:r>
          </a:p>
          <a:p>
            <a:r>
              <a:rPr lang="en-US" dirty="0"/>
              <a:t>&lt;head&gt;</a:t>
            </a:r>
          </a:p>
          <a:p>
            <a:r>
              <a:rPr lang="en-US" dirty="0"/>
              <a:t>&lt;meta charset="utf-8" /&gt;</a:t>
            </a:r>
          </a:p>
          <a:p>
            <a:r>
              <a:rPr lang="en-US" dirty="0"/>
              <a:t>&lt;title&gt;HTML5 Sample Document&lt;/title&gt;</a:t>
            </a:r>
          </a:p>
          <a:p>
            <a:r>
              <a:rPr lang="en-US" dirty="0"/>
              <a:t>&lt;/head&gt;</a:t>
            </a:r>
          </a:p>
          <a:p>
            <a:r>
              <a:rPr lang="en-US" dirty="0"/>
              <a:t>&lt;body&gt;WELCOME TO WEB MULTIMEDIA&lt;/body&gt;</a:t>
            </a:r>
          </a:p>
          <a:p>
            <a:r>
              <a:rPr lang="en-US" dirty="0"/>
              <a:t>&lt;/html&gt;</a:t>
            </a:r>
          </a:p>
        </p:txBody>
      </p:sp>
    </p:spTree>
    <p:extLst>
      <p:ext uri="{BB962C8B-B14F-4D97-AF65-F5344CB8AC3E}">
        <p14:creationId xmlns:p14="http://schemas.microsoft.com/office/powerpoint/2010/main" val="876966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E569D-2BCD-4447-ADEB-D4F9F21284E9}"/>
              </a:ext>
            </a:extLst>
          </p:cNvPr>
          <p:cNvSpPr>
            <a:spLocks noGrp="1"/>
          </p:cNvSpPr>
          <p:nvPr>
            <p:ph type="title"/>
          </p:nvPr>
        </p:nvSpPr>
        <p:spPr/>
        <p:txBody>
          <a:bodyPr/>
          <a:lstStyle/>
          <a:p>
            <a:r>
              <a:rPr lang="en-US" dirty="0"/>
              <a:t>Html page </a:t>
            </a:r>
            <a:r>
              <a:rPr lang="en-US" dirty="0" err="1"/>
              <a:t>i</a:t>
            </a:r>
            <a:endParaRPr lang="en-US" sz="3600" dirty="0"/>
          </a:p>
        </p:txBody>
      </p:sp>
      <p:sp>
        <p:nvSpPr>
          <p:cNvPr id="3" name="Content Placeholder 2">
            <a:extLst>
              <a:ext uri="{FF2B5EF4-FFF2-40B4-BE49-F238E27FC236}">
                <a16:creationId xmlns:a16="http://schemas.microsoft.com/office/drawing/2014/main" id="{BF022D4E-093F-4B9C-A381-383C4C5D4477}"/>
              </a:ext>
            </a:extLst>
          </p:cNvPr>
          <p:cNvSpPr>
            <a:spLocks noGrp="1"/>
          </p:cNvSpPr>
          <p:nvPr>
            <p:ph idx="1"/>
          </p:nvPr>
        </p:nvSpPr>
        <p:spPr>
          <a:xfrm>
            <a:off x="755374" y="2121408"/>
            <a:ext cx="10694504" cy="4050792"/>
          </a:xfrm>
        </p:spPr>
        <p:txBody>
          <a:bodyPr>
            <a:normAutofit/>
          </a:bodyPr>
          <a:lstStyle/>
          <a:p>
            <a:r>
              <a:rPr lang="en-US" dirty="0"/>
              <a:t>Important to remember that all html pages must be saved with a .html extension.</a:t>
            </a:r>
          </a:p>
          <a:p>
            <a:r>
              <a:rPr lang="en-US" dirty="0"/>
              <a:t>You might have noted in the previous simple html page slide DOCTYPE.</a:t>
            </a:r>
          </a:p>
          <a:p>
            <a:r>
              <a:rPr lang="en-US" dirty="0"/>
              <a:t>The DOCTYPE element is an oddity (habit) and doesn’t fit any of the standard element formats. </a:t>
            </a:r>
          </a:p>
          <a:p>
            <a:r>
              <a:rPr lang="en-US" dirty="0"/>
              <a:t>It just signals to mention the version, was common in the previous version of HTML(XHTML). </a:t>
            </a:r>
          </a:p>
          <a:p>
            <a:r>
              <a:rPr lang="en-US" dirty="0"/>
              <a:t>Was useful then to tell browser the html type to be rendered (extracted and displayed)</a:t>
            </a:r>
          </a:p>
          <a:p>
            <a:r>
              <a:rPr lang="en-US" dirty="0"/>
              <a:t>HTML five how ever just goes with &lt;!DOCTYPE html&gt; without specifying the version.</a:t>
            </a:r>
          </a:p>
          <a:p>
            <a:r>
              <a:rPr lang="en-US" dirty="0"/>
              <a:t>Since the doc type has no actual value to the html syntax, if left out any just type &lt;html&gt; there will be no </a:t>
            </a:r>
            <a:r>
              <a:rPr lang="en-US" dirty="0" err="1"/>
              <a:t>differencew</a:t>
            </a:r>
            <a:r>
              <a:rPr lang="en-US" dirty="0"/>
              <a:t>. But since it has become a norm then its optional.</a:t>
            </a:r>
          </a:p>
          <a:p>
            <a:endParaRPr lang="en-US" dirty="0"/>
          </a:p>
          <a:p>
            <a:endParaRPr lang="en-US" dirty="0"/>
          </a:p>
        </p:txBody>
      </p:sp>
    </p:spTree>
    <p:extLst>
      <p:ext uri="{BB962C8B-B14F-4D97-AF65-F5344CB8AC3E}">
        <p14:creationId xmlns:p14="http://schemas.microsoft.com/office/powerpoint/2010/main" val="2500301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3FFE6-FFE2-435C-833D-199E478DE719}"/>
              </a:ext>
            </a:extLst>
          </p:cNvPr>
          <p:cNvSpPr>
            <a:spLocks noGrp="1"/>
          </p:cNvSpPr>
          <p:nvPr>
            <p:ph type="title"/>
          </p:nvPr>
        </p:nvSpPr>
        <p:spPr/>
        <p:txBody>
          <a:bodyPr/>
          <a:lstStyle/>
          <a:p>
            <a:r>
              <a:rPr lang="en-US" dirty="0"/>
              <a:t>Html page ii</a:t>
            </a:r>
          </a:p>
        </p:txBody>
      </p:sp>
      <p:sp>
        <p:nvSpPr>
          <p:cNvPr id="3" name="Content Placeholder 2">
            <a:extLst>
              <a:ext uri="{FF2B5EF4-FFF2-40B4-BE49-F238E27FC236}">
                <a16:creationId xmlns:a16="http://schemas.microsoft.com/office/drawing/2014/main" id="{2B978348-AFCD-4C50-A90B-1A33F354E1BB}"/>
              </a:ext>
            </a:extLst>
          </p:cNvPr>
          <p:cNvSpPr>
            <a:spLocks noGrp="1"/>
          </p:cNvSpPr>
          <p:nvPr>
            <p:ph idx="1"/>
          </p:nvPr>
        </p:nvSpPr>
        <p:spPr>
          <a:xfrm>
            <a:off x="0" y="1789043"/>
            <a:ext cx="12192000" cy="5068957"/>
          </a:xfrm>
        </p:spPr>
        <p:txBody>
          <a:bodyPr>
            <a:normAutofit lnSpcReduction="10000"/>
          </a:bodyPr>
          <a:lstStyle/>
          <a:p>
            <a:r>
              <a:rPr lang="en-US" dirty="0"/>
              <a:t>The meta element is an abbreviation for metadata, which is data that describes other data. In this case, the meta element describes the contents of the HTML document. The head element can include any number of</a:t>
            </a:r>
          </a:p>
          <a:p>
            <a:r>
              <a:rPr lang="en-US" dirty="0"/>
              <a:t>meta elements, each providing a single data point using the name/value pair construct. For example: &lt;meta name="author" content="Mark J Collins" /&gt; </a:t>
            </a:r>
            <a:r>
              <a:rPr lang="fr-FR" dirty="0"/>
              <a:t>&lt;</a:t>
            </a:r>
            <a:r>
              <a:rPr lang="fr-FR" dirty="0" err="1"/>
              <a:t>meta</a:t>
            </a:r>
            <a:r>
              <a:rPr lang="fr-FR" dirty="0"/>
              <a:t> </a:t>
            </a:r>
            <a:r>
              <a:rPr lang="fr-FR" dirty="0" err="1"/>
              <a:t>name</a:t>
            </a:r>
            <a:r>
              <a:rPr lang="fr-FR" dirty="0"/>
              <a:t>="description" content="</a:t>
            </a:r>
            <a:r>
              <a:rPr lang="fr-FR" dirty="0" err="1"/>
              <a:t>Sample</a:t>
            </a:r>
            <a:r>
              <a:rPr lang="fr-FR" dirty="0"/>
              <a:t> HTML document" /&gt;</a:t>
            </a:r>
            <a:endParaRPr lang="en-US" dirty="0"/>
          </a:p>
          <a:p>
            <a:r>
              <a:rPr lang="en-US" dirty="0"/>
              <a:t>Meta element includes a charset attribute:</a:t>
            </a:r>
          </a:p>
          <a:p>
            <a:r>
              <a:rPr lang="en-US" dirty="0"/>
              <a:t>&lt;meta charset="utf-8" /&gt;</a:t>
            </a:r>
          </a:p>
          <a:p>
            <a:r>
              <a:rPr lang="en-US" dirty="0"/>
              <a:t>The charset attribute specifies the type of character-set encoding that this page uses. You should always define the character set; however, this is particularly important if your page needs to display nonstandard characters.</a:t>
            </a:r>
          </a:p>
          <a:p>
            <a:r>
              <a:rPr lang="en-US" dirty="0"/>
              <a:t>There are some Boolean attributes that do not need a value; their existence indicates a true value and their absence means false.</a:t>
            </a:r>
          </a:p>
          <a:p>
            <a:r>
              <a:rPr lang="en-US" dirty="0"/>
              <a:t> For example, a check box has a checked attribute if checked and this attribute is removed if not checked.</a:t>
            </a:r>
          </a:p>
        </p:txBody>
      </p:sp>
    </p:spTree>
    <p:extLst>
      <p:ext uri="{BB962C8B-B14F-4D97-AF65-F5344CB8AC3E}">
        <p14:creationId xmlns:p14="http://schemas.microsoft.com/office/powerpoint/2010/main" val="370301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D7043-288B-4BE0-8B69-2D7F80170DD3}"/>
              </a:ext>
            </a:extLst>
          </p:cNvPr>
          <p:cNvSpPr>
            <a:spLocks noGrp="1"/>
          </p:cNvSpPr>
          <p:nvPr>
            <p:ph type="title"/>
          </p:nvPr>
        </p:nvSpPr>
        <p:spPr/>
        <p:txBody>
          <a:bodyPr/>
          <a:lstStyle/>
          <a:p>
            <a:r>
              <a:rPr lang="en-US" dirty="0"/>
              <a:t>Html page iii</a:t>
            </a:r>
          </a:p>
        </p:txBody>
      </p:sp>
      <p:sp>
        <p:nvSpPr>
          <p:cNvPr id="3" name="Content Placeholder 2">
            <a:extLst>
              <a:ext uri="{FF2B5EF4-FFF2-40B4-BE49-F238E27FC236}">
                <a16:creationId xmlns:a16="http://schemas.microsoft.com/office/drawing/2014/main" id="{08939041-FDEA-4AFB-9DBB-4C432688C116}"/>
              </a:ext>
            </a:extLst>
          </p:cNvPr>
          <p:cNvSpPr>
            <a:spLocks noGrp="1"/>
          </p:cNvSpPr>
          <p:nvPr>
            <p:ph idx="1"/>
          </p:nvPr>
        </p:nvSpPr>
        <p:spPr>
          <a:xfrm>
            <a:off x="344557" y="1669774"/>
            <a:ext cx="11675165" cy="4916556"/>
          </a:xfrm>
        </p:spPr>
        <p:txBody>
          <a:bodyPr>
            <a:normAutofit/>
          </a:bodyPr>
          <a:lstStyle/>
          <a:p>
            <a:r>
              <a:rPr lang="en-US" dirty="0"/>
              <a:t>The head element just denotes the page’s section that this section will hold the elements to be displayed on top. It usually nests the title and nav elements </a:t>
            </a:r>
          </a:p>
          <a:p>
            <a:r>
              <a:rPr lang="en-US" dirty="0"/>
              <a:t>Title Element</a:t>
            </a:r>
          </a:p>
          <a:p>
            <a:r>
              <a:rPr lang="en-US" dirty="0"/>
              <a:t>The title element specifies the title of this page. This shows up in a couple of places:</a:t>
            </a:r>
          </a:p>
          <a:p>
            <a:r>
              <a:rPr lang="en-US" dirty="0"/>
              <a:t>In the browser title bar or tab </a:t>
            </a:r>
          </a:p>
          <a:p>
            <a:r>
              <a:rPr lang="en-US" dirty="0"/>
              <a:t>Search engines will usually include this in the search results</a:t>
            </a:r>
          </a:p>
          <a:p>
            <a:r>
              <a:rPr lang="en-US" dirty="0"/>
              <a:t>When adding a page to your favorites or bookmark, the title is used as the name</a:t>
            </a:r>
          </a:p>
          <a:p>
            <a:r>
              <a:rPr lang="en-US" dirty="0"/>
              <a:t>Html Element</a:t>
            </a:r>
          </a:p>
          <a:p>
            <a:r>
              <a:rPr lang="en-US" dirty="0"/>
              <a:t>So, as you’ve already seen, the html element is the root node: the starting and ending point of your document. </a:t>
            </a:r>
          </a:p>
          <a:p>
            <a:r>
              <a:rPr lang="en-US" dirty="0"/>
              <a:t>The html element can contain one head element and one body element. In addition to the global attributes, it also supports the manifest attribute.</a:t>
            </a:r>
          </a:p>
        </p:txBody>
      </p:sp>
    </p:spTree>
    <p:extLst>
      <p:ext uri="{BB962C8B-B14F-4D97-AF65-F5344CB8AC3E}">
        <p14:creationId xmlns:p14="http://schemas.microsoft.com/office/powerpoint/2010/main" val="1510646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B7295-5C3F-4FB5-A1F5-1CF5EFE6BF2E}"/>
              </a:ext>
            </a:extLst>
          </p:cNvPr>
          <p:cNvSpPr>
            <a:spLocks noGrp="1"/>
          </p:cNvSpPr>
          <p:nvPr>
            <p:ph type="title"/>
          </p:nvPr>
        </p:nvSpPr>
        <p:spPr>
          <a:xfrm>
            <a:off x="0" y="484632"/>
            <a:ext cx="12192000" cy="201168"/>
          </a:xfrm>
        </p:spPr>
        <p:txBody>
          <a:bodyPr>
            <a:normAutofit fontScale="90000"/>
          </a:bodyPr>
          <a:lstStyle/>
          <a:p>
            <a:r>
              <a:rPr lang="en-US" dirty="0"/>
              <a:t>Designing website based on html5 elements </a:t>
            </a:r>
          </a:p>
        </p:txBody>
      </p:sp>
      <p:sp>
        <p:nvSpPr>
          <p:cNvPr id="5" name="Content Placeholder 4">
            <a:extLst>
              <a:ext uri="{FF2B5EF4-FFF2-40B4-BE49-F238E27FC236}">
                <a16:creationId xmlns:a16="http://schemas.microsoft.com/office/drawing/2014/main" id="{46B7CEAA-1170-4BEE-84BD-CCBC348BD41D}"/>
              </a:ext>
            </a:extLst>
          </p:cNvPr>
          <p:cNvSpPr>
            <a:spLocks noGrp="1"/>
          </p:cNvSpPr>
          <p:nvPr>
            <p:ph idx="1"/>
          </p:nvPr>
        </p:nvSpPr>
        <p:spPr>
          <a:xfrm>
            <a:off x="318052" y="886968"/>
            <a:ext cx="2941981" cy="5285232"/>
          </a:xfrm>
        </p:spPr>
        <p:txBody>
          <a:bodyPr/>
          <a:lstStyle/>
          <a:p>
            <a:r>
              <a:rPr lang="en-US" dirty="0"/>
              <a:t>Image depicts the elements of html and how what they represent based on the element /tag description.</a:t>
            </a:r>
          </a:p>
          <a:p>
            <a:endParaRPr lang="en-US" dirty="0"/>
          </a:p>
        </p:txBody>
      </p:sp>
      <p:pic>
        <p:nvPicPr>
          <p:cNvPr id="6" name="Content Placeholder 3">
            <a:extLst>
              <a:ext uri="{FF2B5EF4-FFF2-40B4-BE49-F238E27FC236}">
                <a16:creationId xmlns:a16="http://schemas.microsoft.com/office/drawing/2014/main" id="{602F0044-4C47-445A-8A35-DF10DE29FFBC}"/>
              </a:ext>
            </a:extLst>
          </p:cNvPr>
          <p:cNvPicPr>
            <a:picLocks noChangeAspect="1"/>
          </p:cNvPicPr>
          <p:nvPr/>
        </p:nvPicPr>
        <p:blipFill rotWithShape="1">
          <a:blip r:embed="rId2"/>
          <a:srcRect l="25312" t="42839" r="50044" b="8095"/>
          <a:stretch/>
        </p:blipFill>
        <p:spPr>
          <a:xfrm>
            <a:off x="4068417" y="1007165"/>
            <a:ext cx="8123582" cy="5688496"/>
          </a:xfrm>
          <a:prstGeom prst="rect">
            <a:avLst/>
          </a:prstGeom>
        </p:spPr>
      </p:pic>
    </p:spTree>
    <p:extLst>
      <p:ext uri="{BB962C8B-B14F-4D97-AF65-F5344CB8AC3E}">
        <p14:creationId xmlns:p14="http://schemas.microsoft.com/office/powerpoint/2010/main" val="13056719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D1E41-DF92-47D6-BBF4-798B4763F66C}"/>
              </a:ext>
            </a:extLst>
          </p:cNvPr>
          <p:cNvSpPr>
            <a:spLocks noGrp="1"/>
          </p:cNvSpPr>
          <p:nvPr>
            <p:ph type="title"/>
          </p:nvPr>
        </p:nvSpPr>
        <p:spPr>
          <a:xfrm>
            <a:off x="1066800" y="552881"/>
            <a:ext cx="10058400" cy="1609344"/>
          </a:xfrm>
        </p:spPr>
        <p:txBody>
          <a:bodyPr/>
          <a:lstStyle/>
          <a:p>
            <a:r>
              <a:rPr lang="en-US" dirty="0"/>
              <a:t>Nesting html tag / elements</a:t>
            </a:r>
          </a:p>
        </p:txBody>
      </p:sp>
      <p:sp>
        <p:nvSpPr>
          <p:cNvPr id="3" name="Content Placeholder 2">
            <a:extLst>
              <a:ext uri="{FF2B5EF4-FFF2-40B4-BE49-F238E27FC236}">
                <a16:creationId xmlns:a16="http://schemas.microsoft.com/office/drawing/2014/main" id="{6AB1080E-605B-4766-A4EA-0874EBF01073}"/>
              </a:ext>
            </a:extLst>
          </p:cNvPr>
          <p:cNvSpPr>
            <a:spLocks noGrp="1"/>
          </p:cNvSpPr>
          <p:nvPr>
            <p:ph idx="1"/>
          </p:nvPr>
        </p:nvSpPr>
        <p:spPr/>
        <p:txBody>
          <a:bodyPr>
            <a:normAutofit lnSpcReduction="10000"/>
          </a:bodyPr>
          <a:lstStyle/>
          <a:p>
            <a:r>
              <a:rPr lang="en-US" b="1" dirty="0"/>
              <a:t>Nesting</a:t>
            </a:r>
            <a:r>
              <a:rPr lang="en-US" dirty="0"/>
              <a:t> Tags. </a:t>
            </a:r>
            <a:r>
              <a:rPr lang="en-US" b="1" dirty="0"/>
              <a:t>HTML</a:t>
            </a:r>
            <a:r>
              <a:rPr lang="en-US" dirty="0"/>
              <a:t> tags should be “</a:t>
            </a:r>
            <a:r>
              <a:rPr lang="en-US" b="1" dirty="0"/>
              <a:t>nested</a:t>
            </a:r>
            <a:r>
              <a:rPr lang="en-US" dirty="0"/>
              <a:t>” in a proper order, meaning that the tag opened most recently is always the next tag to close. In the following example, </a:t>
            </a:r>
            <a:r>
              <a:rPr lang="en-US" dirty="0" err="1"/>
              <a:t>the</a:t>
            </a:r>
            <a:r>
              <a:rPr lang="en-US" b="1" dirty="0" err="1"/>
              <a:t>HTML</a:t>
            </a:r>
            <a:r>
              <a:rPr lang="en-US" dirty="0"/>
              <a:t> code is </a:t>
            </a:r>
            <a:r>
              <a:rPr lang="en-US" b="1" dirty="0"/>
              <a:t>nested</a:t>
            </a:r>
            <a:r>
              <a:rPr lang="en-US" dirty="0"/>
              <a:t> correctly, and we've drawn lines to connect opening and closing tags: </a:t>
            </a:r>
          </a:p>
          <a:p>
            <a:r>
              <a:rPr lang="en-US" dirty="0"/>
              <a:t>The below samples show how nesting can be done using a paragraph tag/element</a:t>
            </a:r>
          </a:p>
          <a:p>
            <a:r>
              <a:rPr lang="en-US" dirty="0"/>
              <a:t> Notice that the meta element does not have a closing tag. There are a few elements that do not have to use a closing tag, which are referred to as </a:t>
            </a:r>
            <a:r>
              <a:rPr lang="en-US" i="1" dirty="0"/>
              <a:t>self-closing </a:t>
            </a:r>
            <a:r>
              <a:rPr lang="en-US" dirty="0"/>
              <a:t>tags. </a:t>
            </a:r>
          </a:p>
          <a:p>
            <a:r>
              <a:rPr lang="en-US" dirty="0"/>
              <a:t>It may be somewhat obvious, but these elements cannot have any content since the content is placed between the opening and closing tags. The “/” character at</a:t>
            </a:r>
          </a:p>
          <a:p>
            <a:r>
              <a:rPr lang="en-US" dirty="0"/>
              <a:t>the end of the tag is technically optional, but the general consensus is that it should be included and some. For example the </a:t>
            </a:r>
            <a:r>
              <a:rPr lang="en-US" dirty="0" err="1"/>
              <a:t>img</a:t>
            </a:r>
            <a:r>
              <a:rPr lang="en-US" dirty="0"/>
              <a:t> tag &lt;</a:t>
            </a:r>
            <a:r>
              <a:rPr lang="en-US" dirty="0" err="1"/>
              <a:t>img</a:t>
            </a:r>
            <a:r>
              <a:rPr lang="en-US" dirty="0"/>
              <a:t> </a:t>
            </a:r>
            <a:r>
              <a:rPr lang="en-US" dirty="0" err="1"/>
              <a:t>src</a:t>
            </a:r>
            <a:r>
              <a:rPr lang="en-US" dirty="0"/>
              <a:t>=“chithunzi.jpg”/&gt;</a:t>
            </a:r>
          </a:p>
          <a:p>
            <a:r>
              <a:rPr lang="en-US" dirty="0"/>
              <a:t>HTML validators will flag this as a warning if it’s not there</a:t>
            </a:r>
          </a:p>
        </p:txBody>
      </p:sp>
    </p:spTree>
    <p:extLst>
      <p:ext uri="{BB962C8B-B14F-4D97-AF65-F5344CB8AC3E}">
        <p14:creationId xmlns:p14="http://schemas.microsoft.com/office/powerpoint/2010/main" val="20720411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CC94D-2C41-4030-95E0-C6779D8FBBD9}"/>
              </a:ext>
            </a:extLst>
          </p:cNvPr>
          <p:cNvSpPr>
            <a:spLocks noGrp="1"/>
          </p:cNvSpPr>
          <p:nvPr>
            <p:ph type="title"/>
          </p:nvPr>
        </p:nvSpPr>
        <p:spPr/>
        <p:txBody>
          <a:bodyPr/>
          <a:lstStyle/>
          <a:p>
            <a:r>
              <a:rPr lang="en-US" dirty="0"/>
              <a:t>Lets get our hands dirty</a:t>
            </a:r>
          </a:p>
        </p:txBody>
      </p:sp>
      <p:sp>
        <p:nvSpPr>
          <p:cNvPr id="3" name="Content Placeholder 2">
            <a:extLst>
              <a:ext uri="{FF2B5EF4-FFF2-40B4-BE49-F238E27FC236}">
                <a16:creationId xmlns:a16="http://schemas.microsoft.com/office/drawing/2014/main" id="{08C64167-E127-4BA4-B515-A8ABE364EB4C}"/>
              </a:ext>
            </a:extLst>
          </p:cNvPr>
          <p:cNvSpPr>
            <a:spLocks noGrp="1"/>
          </p:cNvSpPr>
          <p:nvPr>
            <p:ph idx="1"/>
          </p:nvPr>
        </p:nvSpPr>
        <p:spPr>
          <a:xfrm>
            <a:off x="1083100" y="2121408"/>
            <a:ext cx="10058400" cy="4050792"/>
          </a:xfrm>
        </p:spPr>
        <p:txBody>
          <a:bodyPr>
            <a:normAutofit fontScale="92500" lnSpcReduction="10000"/>
          </a:bodyPr>
          <a:lstStyle/>
          <a:p>
            <a:r>
              <a:rPr lang="en-US" dirty="0"/>
              <a:t>HTML Comments</a:t>
            </a:r>
          </a:p>
          <a:p>
            <a:pPr lvl="1"/>
            <a:r>
              <a:rPr lang="en-US" dirty="0"/>
              <a:t>A guide that helps developers remember certain aspects of the html page for future updates.</a:t>
            </a:r>
          </a:p>
          <a:p>
            <a:pPr lvl="1"/>
            <a:r>
              <a:rPr lang="en-US" dirty="0"/>
              <a:t>HTML code sections can have comments on what purpose is being served by that section</a:t>
            </a:r>
          </a:p>
          <a:p>
            <a:pPr lvl="1"/>
            <a:r>
              <a:rPr lang="en-US" dirty="0"/>
              <a:t>It can also help another developer easily maintain the page</a:t>
            </a:r>
          </a:p>
          <a:p>
            <a:pPr lvl="1"/>
            <a:r>
              <a:rPr lang="en-US" dirty="0"/>
              <a:t>Note you can type html comments using the below common html comment tags</a:t>
            </a:r>
          </a:p>
          <a:p>
            <a:pPr lvl="1"/>
            <a:r>
              <a:rPr lang="en-US" b="1" dirty="0"/>
              <a:t>&lt;!--</a:t>
            </a:r>
            <a:r>
              <a:rPr lang="en-US" dirty="0"/>
              <a:t> comment content  </a:t>
            </a:r>
            <a:r>
              <a:rPr lang="en-US" b="1" dirty="0"/>
              <a:t>--&gt;</a:t>
            </a:r>
          </a:p>
          <a:p>
            <a:pPr lvl="1"/>
            <a:r>
              <a:rPr lang="en-US" dirty="0"/>
              <a:t>It is how ever important to decide when to comment, </a:t>
            </a:r>
          </a:p>
          <a:p>
            <a:pPr lvl="2"/>
            <a:r>
              <a:rPr lang="en-US" dirty="0"/>
              <a:t>Its important to comment only important sections</a:t>
            </a:r>
          </a:p>
          <a:p>
            <a:pPr lvl="2"/>
            <a:r>
              <a:rPr lang="en-US" dirty="0"/>
              <a:t>Too many comments may just add a lot of junk to be read by a developer when trying to maintain the page</a:t>
            </a:r>
          </a:p>
          <a:p>
            <a:r>
              <a:rPr lang="en-US" dirty="0"/>
              <a:t>Now that we have the basics why don’t we start learning through practice?</a:t>
            </a:r>
          </a:p>
          <a:p>
            <a:r>
              <a:rPr lang="en-US" dirty="0"/>
              <a:t>30 minutes practice session</a:t>
            </a:r>
          </a:p>
          <a:p>
            <a:r>
              <a:rPr lang="en-US" dirty="0"/>
              <a:t>Practice makes permanent ensure your practicing the recommended standard.</a:t>
            </a:r>
          </a:p>
          <a:p>
            <a:endParaRPr lang="en-US" dirty="0"/>
          </a:p>
        </p:txBody>
      </p:sp>
    </p:spTree>
    <p:extLst>
      <p:ext uri="{BB962C8B-B14F-4D97-AF65-F5344CB8AC3E}">
        <p14:creationId xmlns:p14="http://schemas.microsoft.com/office/powerpoint/2010/main" val="3700404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8239E-9FA2-41AE-B168-43FDA7486EE4}"/>
              </a:ext>
            </a:extLst>
          </p:cNvPr>
          <p:cNvSpPr>
            <a:spLocks noGrp="1"/>
          </p:cNvSpPr>
          <p:nvPr>
            <p:ph type="title"/>
          </p:nvPr>
        </p:nvSpPr>
        <p:spPr>
          <a:xfrm>
            <a:off x="1069848" y="484632"/>
            <a:ext cx="10058400" cy="1092377"/>
          </a:xfrm>
        </p:spPr>
        <p:txBody>
          <a:bodyPr/>
          <a:lstStyle/>
          <a:p>
            <a:r>
              <a:rPr lang="en-US" dirty="0"/>
              <a:t>global ELEMENTS</a:t>
            </a:r>
          </a:p>
        </p:txBody>
      </p:sp>
      <p:sp>
        <p:nvSpPr>
          <p:cNvPr id="3" name="Content Placeholder 2">
            <a:extLst>
              <a:ext uri="{FF2B5EF4-FFF2-40B4-BE49-F238E27FC236}">
                <a16:creationId xmlns:a16="http://schemas.microsoft.com/office/drawing/2014/main" id="{FE2FF266-6249-4E8B-A1FD-BCD6AE9DE73C}"/>
              </a:ext>
            </a:extLst>
          </p:cNvPr>
          <p:cNvSpPr>
            <a:spLocks noGrp="1"/>
          </p:cNvSpPr>
          <p:nvPr>
            <p:ph idx="1"/>
          </p:nvPr>
        </p:nvSpPr>
        <p:spPr>
          <a:xfrm>
            <a:off x="0" y="1669774"/>
            <a:ext cx="12072729" cy="5062330"/>
          </a:xfrm>
        </p:spPr>
        <p:txBody>
          <a:bodyPr>
            <a:normAutofit/>
          </a:bodyPr>
          <a:lstStyle/>
          <a:p>
            <a:pPr marL="0" indent="0">
              <a:buNone/>
            </a:pPr>
            <a:r>
              <a:rPr lang="en-US" dirty="0"/>
              <a:t>The below HTML page has several meta, link and style elements explained in the next slide</a:t>
            </a:r>
          </a:p>
          <a:p>
            <a:r>
              <a:rPr lang="en-US" dirty="0"/>
              <a:t>&lt;!DOCTYPE html&gt;</a:t>
            </a:r>
          </a:p>
          <a:p>
            <a:r>
              <a:rPr lang="en-US" dirty="0"/>
              <a:t>&lt;html </a:t>
            </a:r>
            <a:r>
              <a:rPr lang="en-US" dirty="0" err="1"/>
              <a:t>lang</a:t>
            </a:r>
            <a:r>
              <a:rPr lang="en-US" dirty="0"/>
              <a:t>="</a:t>
            </a:r>
            <a:r>
              <a:rPr lang="en-US" dirty="0" err="1"/>
              <a:t>en</a:t>
            </a:r>
            <a:r>
              <a:rPr lang="en-US" dirty="0"/>
              <a:t>" manifest="</a:t>
            </a:r>
            <a:r>
              <a:rPr lang="en-US" dirty="0" err="1"/>
              <a:t>sample.appcache</a:t>
            </a:r>
            <a:r>
              <a:rPr lang="en-US" dirty="0"/>
              <a:t>"&gt;</a:t>
            </a:r>
          </a:p>
          <a:p>
            <a:r>
              <a:rPr lang="en-US" dirty="0"/>
              <a:t>&lt;head&gt; &lt;meta charset="utf-8" /&gt; &lt;meta name="author" content="Mark J Collins" /&gt; </a:t>
            </a:r>
            <a:r>
              <a:rPr lang="fr-FR" dirty="0"/>
              <a:t>&lt;</a:t>
            </a:r>
            <a:r>
              <a:rPr lang="fr-FR" dirty="0" err="1"/>
              <a:t>meta</a:t>
            </a:r>
            <a:r>
              <a:rPr lang="fr-FR" dirty="0"/>
              <a:t> </a:t>
            </a:r>
            <a:r>
              <a:rPr lang="fr-FR" dirty="0" err="1"/>
              <a:t>name</a:t>
            </a:r>
            <a:r>
              <a:rPr lang="fr-FR" dirty="0"/>
              <a:t>="description" content="</a:t>
            </a:r>
            <a:r>
              <a:rPr lang="fr-FR" dirty="0" err="1"/>
              <a:t>Sample</a:t>
            </a:r>
            <a:r>
              <a:rPr lang="fr-FR" dirty="0"/>
              <a:t> HTML document" /&gt; </a:t>
            </a:r>
            <a:r>
              <a:rPr lang="en-US" dirty="0"/>
              <a:t>&lt;title&gt;HTML5 Sample&lt;/title&gt;</a:t>
            </a:r>
          </a:p>
          <a:p>
            <a:r>
              <a:rPr lang="en-US" dirty="0"/>
              <a:t>&lt;link </a:t>
            </a:r>
            <a:r>
              <a:rPr lang="en-US" dirty="0" err="1"/>
              <a:t>rel</a:t>
            </a:r>
            <a:r>
              <a:rPr lang="en-US" dirty="0"/>
              <a:t>="icon" type="image/x-icon" </a:t>
            </a:r>
            <a:r>
              <a:rPr lang="en-US" dirty="0" err="1"/>
              <a:t>href</a:t>
            </a:r>
            <a:r>
              <a:rPr lang="en-US" dirty="0"/>
              <a:t>="HTMLBadge.ico" /&gt;</a:t>
            </a:r>
          </a:p>
          <a:p>
            <a:r>
              <a:rPr lang="en-US" dirty="0"/>
              <a:t>&lt;link </a:t>
            </a:r>
            <a:r>
              <a:rPr lang="en-US" dirty="0" err="1"/>
              <a:t>rel</a:t>
            </a:r>
            <a:r>
              <a:rPr lang="en-US" dirty="0"/>
              <a:t>="alternate" type="application/pdf" </a:t>
            </a:r>
            <a:r>
              <a:rPr lang="en-US" dirty="0" err="1"/>
              <a:t>href</a:t>
            </a:r>
            <a:r>
              <a:rPr lang="en-US" dirty="0"/>
              <a:t>="MainPage.pdf" /&gt;</a:t>
            </a:r>
          </a:p>
          <a:p>
            <a:r>
              <a:rPr lang="en-US" dirty="0"/>
              <a:t>&lt;link </a:t>
            </a:r>
            <a:r>
              <a:rPr lang="en-US" dirty="0" err="1"/>
              <a:t>rel</a:t>
            </a:r>
            <a:r>
              <a:rPr lang="en-US" dirty="0"/>
              <a:t>="author" </a:t>
            </a:r>
            <a:r>
              <a:rPr lang="en-US" dirty="0" err="1"/>
              <a:t>href</a:t>
            </a:r>
            <a:r>
              <a:rPr lang="en-US" dirty="0"/>
              <a:t>="mailto:markc@thecreativepeople.com" /&gt;</a:t>
            </a:r>
          </a:p>
          <a:p>
            <a:r>
              <a:rPr lang="en-US" dirty="0"/>
              <a:t>&lt;link </a:t>
            </a:r>
            <a:r>
              <a:rPr lang="en-US" dirty="0" err="1"/>
              <a:t>rel</a:t>
            </a:r>
            <a:r>
              <a:rPr lang="en-US" dirty="0"/>
              <a:t>="author" type="text/html" </a:t>
            </a:r>
            <a:r>
              <a:rPr lang="en-US" dirty="0" err="1"/>
              <a:t>href</a:t>
            </a:r>
            <a:r>
              <a:rPr lang="en-US" dirty="0"/>
              <a:t>="http://www.thecreativepeople.com" /&gt;</a:t>
            </a:r>
          </a:p>
          <a:p>
            <a:r>
              <a:rPr lang="en-US" dirty="0"/>
              <a:t>&lt;style media="print"&gt;html { color: black;} &lt;/style&gt;</a:t>
            </a:r>
          </a:p>
          <a:p>
            <a:r>
              <a:rPr lang="en-US" dirty="0"/>
              <a:t>&lt;/head&gt;&lt;body&gt;&lt;h1&gt; MULTIMEDIA CLASS 2019!&lt;/h1&gt;&lt;/body&gt;&lt;/html&gt;</a:t>
            </a:r>
          </a:p>
        </p:txBody>
      </p:sp>
    </p:spTree>
    <p:extLst>
      <p:ext uri="{BB962C8B-B14F-4D97-AF65-F5344CB8AC3E}">
        <p14:creationId xmlns:p14="http://schemas.microsoft.com/office/powerpoint/2010/main" val="35105942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EF925-26BA-4AF6-9833-8DA15400722E}"/>
              </a:ext>
            </a:extLst>
          </p:cNvPr>
          <p:cNvSpPr>
            <a:spLocks noGrp="1"/>
          </p:cNvSpPr>
          <p:nvPr>
            <p:ph type="title"/>
          </p:nvPr>
        </p:nvSpPr>
        <p:spPr/>
        <p:txBody>
          <a:bodyPr/>
          <a:lstStyle/>
          <a:p>
            <a:r>
              <a:rPr lang="en-US" dirty="0"/>
              <a:t>more html page global elements</a:t>
            </a:r>
          </a:p>
        </p:txBody>
      </p:sp>
      <p:sp>
        <p:nvSpPr>
          <p:cNvPr id="3" name="Content Placeholder 2">
            <a:extLst>
              <a:ext uri="{FF2B5EF4-FFF2-40B4-BE49-F238E27FC236}">
                <a16:creationId xmlns:a16="http://schemas.microsoft.com/office/drawing/2014/main" id="{69913D09-A211-4152-8078-CAD54102A5B2}"/>
              </a:ext>
            </a:extLst>
          </p:cNvPr>
          <p:cNvSpPr>
            <a:spLocks noGrp="1"/>
          </p:cNvSpPr>
          <p:nvPr>
            <p:ph idx="1"/>
          </p:nvPr>
        </p:nvSpPr>
        <p:spPr>
          <a:xfrm>
            <a:off x="0" y="1789043"/>
            <a:ext cx="12192000" cy="5068957"/>
          </a:xfrm>
        </p:spPr>
        <p:txBody>
          <a:bodyPr>
            <a:normAutofit/>
          </a:bodyPr>
          <a:lstStyle/>
          <a:p>
            <a:r>
              <a:rPr lang="en-US" dirty="0"/>
              <a:t>We already looked at the metadata element</a:t>
            </a:r>
          </a:p>
          <a:p>
            <a:r>
              <a:rPr lang="en-US" dirty="0"/>
              <a:t>The link element is used to reference additional external resources, which can be grouped into two categories. In general defines a link between html document and external</a:t>
            </a:r>
          </a:p>
          <a:p>
            <a:pPr lvl="1"/>
            <a:r>
              <a:rPr lang="en-US" dirty="0"/>
              <a:t> First, links are used to load resources that are used to render the source document – the most common of these being cascading style sheets. &lt;link </a:t>
            </a:r>
            <a:r>
              <a:rPr lang="en-US" dirty="0" err="1"/>
              <a:t>rel</a:t>
            </a:r>
            <a:r>
              <a:rPr lang="en-US" dirty="0"/>
              <a:t>="stylesheet" type="text/</a:t>
            </a:r>
            <a:r>
              <a:rPr lang="en-US" dirty="0" err="1"/>
              <a:t>css</a:t>
            </a:r>
            <a:r>
              <a:rPr lang="en-US" dirty="0"/>
              <a:t>" </a:t>
            </a:r>
            <a:r>
              <a:rPr lang="en-US" dirty="0" err="1"/>
              <a:t>href</a:t>
            </a:r>
            <a:r>
              <a:rPr lang="en-US" dirty="0"/>
              <a:t>="Sample.css" /&gt;</a:t>
            </a:r>
          </a:p>
          <a:p>
            <a:pPr lvl="1"/>
            <a:r>
              <a:rPr lang="en-US" dirty="0"/>
              <a:t>The second category is links to other related documents. </a:t>
            </a:r>
            <a:r>
              <a:rPr lang="en-US" dirty="0" err="1"/>
              <a:t>Eg</a:t>
            </a:r>
            <a:r>
              <a:rPr lang="en-US" dirty="0"/>
              <a:t> &lt;link </a:t>
            </a:r>
            <a:r>
              <a:rPr lang="en-US" dirty="0" err="1"/>
              <a:t>rel</a:t>
            </a:r>
            <a:r>
              <a:rPr lang="en-US" dirty="0"/>
              <a:t>="icon" type="image/x-icon" </a:t>
            </a:r>
            <a:r>
              <a:rPr lang="en-US" dirty="0" err="1"/>
              <a:t>href</a:t>
            </a:r>
            <a:r>
              <a:rPr lang="en-US" dirty="0"/>
              <a:t>="HTMLBadge.ico" /&gt;</a:t>
            </a:r>
          </a:p>
          <a:p>
            <a:r>
              <a:rPr lang="en-US" dirty="0"/>
              <a:t>The style element is used to define internal CSS. To be further clarified during CSS</a:t>
            </a:r>
          </a:p>
          <a:p>
            <a:r>
              <a:rPr lang="en-US" dirty="0"/>
              <a:t>Script Element</a:t>
            </a:r>
          </a:p>
          <a:p>
            <a:pPr lvl="1"/>
            <a:r>
              <a:rPr lang="en-US" dirty="0"/>
              <a:t>The script element is used to load JavaScript in your page. In order to use a function, you must either define it or load an external script file that contains the function. Either can be done in the script element.</a:t>
            </a:r>
          </a:p>
          <a:p>
            <a:pPr lvl="1"/>
            <a:r>
              <a:rPr lang="en-US" dirty="0"/>
              <a:t>To define JavaScript directly, include it in between the opening and closing tags like this:  </a:t>
            </a:r>
          </a:p>
          <a:p>
            <a:pPr lvl="2"/>
            <a:r>
              <a:rPr lang="en-US" dirty="0"/>
              <a:t>&lt;script type="text/</a:t>
            </a:r>
            <a:r>
              <a:rPr lang="en-US" dirty="0" err="1"/>
              <a:t>javascript</a:t>
            </a:r>
            <a:r>
              <a:rPr lang="en-US" dirty="0"/>
              <a:t>"&gt; function </a:t>
            </a:r>
            <a:r>
              <a:rPr lang="en-US" dirty="0" err="1"/>
              <a:t>doSomething</a:t>
            </a:r>
            <a:r>
              <a:rPr lang="en-US" dirty="0"/>
              <a:t>() {alert("Hello World!");} &lt;/script&gt;</a:t>
            </a:r>
          </a:p>
          <a:p>
            <a:r>
              <a:rPr lang="en-US" dirty="0"/>
              <a:t>Normally, as the browser is parsing an HTML document, when a script element is encountered, the script is loaded and executed before continuing to parse the rest of the document.</a:t>
            </a:r>
          </a:p>
        </p:txBody>
      </p:sp>
    </p:spTree>
    <p:extLst>
      <p:ext uri="{BB962C8B-B14F-4D97-AF65-F5344CB8AC3E}">
        <p14:creationId xmlns:p14="http://schemas.microsoft.com/office/powerpoint/2010/main" val="9475989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41799-E221-4712-AC0A-17BBB25D2ED3}"/>
              </a:ext>
            </a:extLst>
          </p:cNvPr>
          <p:cNvSpPr>
            <a:spLocks noGrp="1"/>
          </p:cNvSpPr>
          <p:nvPr>
            <p:ph type="title"/>
          </p:nvPr>
        </p:nvSpPr>
        <p:spPr/>
        <p:txBody>
          <a:bodyPr/>
          <a:lstStyle/>
          <a:p>
            <a:pPr algn="ctr"/>
            <a:r>
              <a:rPr lang="en-US" dirty="0"/>
              <a:t>Mastering html5</a:t>
            </a:r>
          </a:p>
        </p:txBody>
      </p:sp>
      <p:sp>
        <p:nvSpPr>
          <p:cNvPr id="3" name="Content Placeholder 2">
            <a:extLst>
              <a:ext uri="{FF2B5EF4-FFF2-40B4-BE49-F238E27FC236}">
                <a16:creationId xmlns:a16="http://schemas.microsoft.com/office/drawing/2014/main" id="{75B3B220-5526-46F2-AF32-C353D690965B}"/>
              </a:ext>
            </a:extLst>
          </p:cNvPr>
          <p:cNvSpPr>
            <a:spLocks noGrp="1"/>
          </p:cNvSpPr>
          <p:nvPr>
            <p:ph idx="1"/>
          </p:nvPr>
        </p:nvSpPr>
        <p:spPr/>
        <p:txBody>
          <a:bodyPr/>
          <a:lstStyle/>
          <a:p>
            <a:r>
              <a:rPr lang="en-US" dirty="0"/>
              <a:t>Mastering HTML 5 is easy if you know what your doing and are practicing the right way.</a:t>
            </a:r>
          </a:p>
          <a:p>
            <a:r>
              <a:rPr lang="en-US" dirty="0"/>
              <a:t>To access a full list of all html5 tags with explanation plus examples visit the link below:</a:t>
            </a:r>
          </a:p>
          <a:p>
            <a:r>
              <a:rPr lang="en-US" dirty="0">
                <a:hlinkClick r:id="rId2"/>
              </a:rPr>
              <a:t>https://www.bitdegree.org/learn/html5-tags</a:t>
            </a:r>
            <a:endParaRPr lang="en-US" dirty="0"/>
          </a:p>
          <a:p>
            <a:r>
              <a:rPr lang="en-US" dirty="0"/>
              <a:t>You can also visit</a:t>
            </a:r>
          </a:p>
          <a:p>
            <a:r>
              <a:rPr lang="en-US" dirty="0">
                <a:hlinkClick r:id="rId3"/>
              </a:rPr>
              <a:t>https://www.w3schools.com/html/html5_semantic_elements.asp</a:t>
            </a:r>
            <a:endParaRPr lang="en-US" dirty="0"/>
          </a:p>
          <a:p>
            <a:r>
              <a:rPr lang="en-US" dirty="0"/>
              <a:t>There more resources depending on ones preference. The below link only provides description of each of the HTML5 element but without examples.</a:t>
            </a:r>
          </a:p>
          <a:p>
            <a:r>
              <a:rPr lang="en-US">
                <a:hlinkClick r:id="rId4"/>
              </a:rPr>
              <a:t>https://developer.mozilla.org/en-US/docs/Web/HTML/Element</a:t>
            </a:r>
            <a:endParaRPr lang="en-US" dirty="0"/>
          </a:p>
          <a:p>
            <a:endParaRPr lang="en-US" dirty="0"/>
          </a:p>
        </p:txBody>
      </p:sp>
    </p:spTree>
    <p:extLst>
      <p:ext uri="{BB962C8B-B14F-4D97-AF65-F5344CB8AC3E}">
        <p14:creationId xmlns:p14="http://schemas.microsoft.com/office/powerpoint/2010/main" val="3893968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A2113-C835-420D-A3EE-EB670A9AE606}"/>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A293070F-BE31-4D8E-BE8A-4F83FD13524D}"/>
              </a:ext>
            </a:extLst>
          </p:cNvPr>
          <p:cNvSpPr>
            <a:spLocks noGrp="1"/>
          </p:cNvSpPr>
          <p:nvPr>
            <p:ph idx="1"/>
          </p:nvPr>
        </p:nvSpPr>
        <p:spPr/>
        <p:txBody>
          <a:bodyPr/>
          <a:lstStyle/>
          <a:p>
            <a:r>
              <a:rPr lang="en-US" dirty="0"/>
              <a:t>Mark J Collins,  </a:t>
            </a:r>
            <a:r>
              <a:rPr lang="en-US" dirty="0" err="1"/>
              <a:t>Apress</a:t>
            </a:r>
            <a:r>
              <a:rPr lang="en-US" dirty="0"/>
              <a:t> 2017. </a:t>
            </a:r>
            <a:r>
              <a:rPr lang="en-US" i="1" dirty="0"/>
              <a:t>Pro HTML5 with CSS, JavaScript, and Multimedia: Complete Website Development and Best Practices, </a:t>
            </a:r>
            <a:r>
              <a:rPr lang="es-ES" dirty="0" err="1"/>
              <a:t>Apress</a:t>
            </a:r>
            <a:r>
              <a:rPr lang="es-ES" dirty="0"/>
              <a:t> Media, LLC</a:t>
            </a:r>
            <a:endParaRPr lang="en-US" dirty="0"/>
          </a:p>
        </p:txBody>
      </p:sp>
    </p:spTree>
    <p:extLst>
      <p:ext uri="{BB962C8B-B14F-4D97-AF65-F5344CB8AC3E}">
        <p14:creationId xmlns:p14="http://schemas.microsoft.com/office/powerpoint/2010/main" val="35787451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FE1C7-45FF-4C8A-B0F6-5EB1609C27B9}"/>
              </a:ext>
            </a:extLst>
          </p:cNvPr>
          <p:cNvSpPr>
            <a:spLocks noGrp="1"/>
          </p:cNvSpPr>
          <p:nvPr>
            <p:ph type="title"/>
          </p:nvPr>
        </p:nvSpPr>
        <p:spPr/>
        <p:txBody>
          <a:bodyPr/>
          <a:lstStyle/>
          <a:p>
            <a:pPr algn="ctr"/>
            <a:r>
              <a:rPr lang="en-US" dirty="0"/>
              <a:t>End of presentation</a:t>
            </a:r>
          </a:p>
        </p:txBody>
      </p:sp>
      <p:sp>
        <p:nvSpPr>
          <p:cNvPr id="3" name="Content Placeholder 2">
            <a:extLst>
              <a:ext uri="{FF2B5EF4-FFF2-40B4-BE49-F238E27FC236}">
                <a16:creationId xmlns:a16="http://schemas.microsoft.com/office/drawing/2014/main" id="{0D311964-D615-4903-922A-6E3B15EC8450}"/>
              </a:ext>
            </a:extLst>
          </p:cNvPr>
          <p:cNvSpPr>
            <a:spLocks noGrp="1"/>
          </p:cNvSpPr>
          <p:nvPr>
            <p:ph idx="1"/>
          </p:nvPr>
        </p:nvSpPr>
        <p:spPr/>
        <p:txBody>
          <a:bodyPr/>
          <a:lstStyle/>
          <a:p>
            <a:r>
              <a:rPr lang="en-US" dirty="0"/>
              <a:t>Any questions?</a:t>
            </a:r>
          </a:p>
        </p:txBody>
      </p:sp>
    </p:spTree>
    <p:extLst>
      <p:ext uri="{BB962C8B-B14F-4D97-AF65-F5344CB8AC3E}">
        <p14:creationId xmlns:p14="http://schemas.microsoft.com/office/powerpoint/2010/main" val="2300585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docProps/app.xml><?xml version="1.0" encoding="utf-8"?>
<Properties xmlns="http://schemas.openxmlformats.org/officeDocument/2006/extended-properties" xmlns:vt="http://schemas.openxmlformats.org/officeDocument/2006/docPropsVTypes">
  <Template>TM03090434[[fn=Wood Type]]</Template>
  <TotalTime>3604</TotalTime>
  <Words>2066</Words>
  <Application>Microsoft Office PowerPoint</Application>
  <PresentationFormat>Widescreen</PresentationFormat>
  <Paragraphs>175</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Rockwell</vt:lpstr>
      <vt:lpstr>Rockwell Condensed</vt:lpstr>
      <vt:lpstr>Wingdings</vt:lpstr>
      <vt:lpstr>Wood Type</vt:lpstr>
      <vt:lpstr>&lt;h1&gt;Html5 the basics&lt;/h1&gt;</vt:lpstr>
      <vt:lpstr>Introducing Html </vt:lpstr>
      <vt:lpstr>Html development timeline</vt:lpstr>
      <vt:lpstr>Html 5 technologies</vt:lpstr>
      <vt:lpstr>HTML 5</vt:lpstr>
      <vt:lpstr>Html 5 (tags and elements)</vt:lpstr>
      <vt:lpstr>Html elements continued</vt:lpstr>
      <vt:lpstr>Types of Html elements (block level)</vt:lpstr>
      <vt:lpstr>Types of Html elements (inline)</vt:lpstr>
      <vt:lpstr>Html attributes</vt:lpstr>
      <vt:lpstr>Html attribues continued</vt:lpstr>
      <vt:lpstr>Html page</vt:lpstr>
      <vt:lpstr>Html page i</vt:lpstr>
      <vt:lpstr>Html page ii</vt:lpstr>
      <vt:lpstr>Html page iii</vt:lpstr>
      <vt:lpstr>Designing website based on html5 elements </vt:lpstr>
      <vt:lpstr>Nesting html tag / elements</vt:lpstr>
      <vt:lpstr>Lets get our hands dirty</vt:lpstr>
      <vt:lpstr>global ELEMENTS</vt:lpstr>
      <vt:lpstr>more html page global elements</vt:lpstr>
      <vt:lpstr>Mastering html5</vt:lpstr>
      <vt:lpstr>references</vt:lpstr>
      <vt:lpstr>End of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&lt;h1&gt;Html5 the basics&lt;/h1&gt;</dc:title>
  <dc:creator>www.ibitconsult.com</dc:creator>
  <cp:lastModifiedBy>www.ibitconsult.com</cp:lastModifiedBy>
  <cp:revision>77</cp:revision>
  <dcterms:created xsi:type="dcterms:W3CDTF">2019-06-10T13:10:57Z</dcterms:created>
  <dcterms:modified xsi:type="dcterms:W3CDTF">2019-06-21T13:30:14Z</dcterms:modified>
</cp:coreProperties>
</file>