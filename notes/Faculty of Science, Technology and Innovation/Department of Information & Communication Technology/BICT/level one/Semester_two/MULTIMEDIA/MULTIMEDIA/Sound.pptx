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84" r:id="rId1"/>
  </p:sldMasterIdLst>
  <p:sldIdLst>
    <p:sldId id="256" r:id="rId2"/>
    <p:sldId id="257" r:id="rId3"/>
    <p:sldId id="258" r:id="rId4"/>
    <p:sldId id="259" r:id="rId5"/>
    <p:sldId id="260" r:id="rId6"/>
    <p:sldId id="261" r:id="rId7"/>
    <p:sldId id="262" r:id="rId8"/>
    <p:sldId id="263" r:id="rId9"/>
    <p:sldId id="264" r:id="rId10"/>
    <p:sldId id="266" r:id="rId11"/>
    <p:sldId id="265" r:id="rId12"/>
    <p:sldId id="267" r:id="rId13"/>
    <p:sldId id="273" r:id="rId14"/>
    <p:sldId id="269" r:id="rId15"/>
    <p:sldId id="270" r:id="rId16"/>
    <p:sldId id="271" r:id="rId17"/>
    <p:sldId id="272" r:id="rId18"/>
    <p:sldId id="274" r:id="rId19"/>
    <p:sldId id="275" r:id="rId20"/>
    <p:sldId id="268" r:id="rId21"/>
    <p:sldId id="277" r:id="rId22"/>
    <p:sldId id="276"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71" autoAdjust="0"/>
    <p:restoredTop sz="94660"/>
  </p:normalViewPr>
  <p:slideViewPr>
    <p:cSldViewPr snapToGrid="0">
      <p:cViewPr varScale="1">
        <p:scale>
          <a:sx n="72" d="100"/>
          <a:sy n="72" d="100"/>
        </p:scale>
        <p:origin x="660"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rgbClr val="FFFFFF"/>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rgbClr val="FFFFFF"/>
                </a:solidFill>
              </a:defRPr>
            </a:lvl1pPr>
          </a:lstStyle>
          <a:p>
            <a:fld id="{96DFF08F-DC6B-4601-B491-B0F83F6DD2DA}" type="datetimeFigureOut">
              <a:rPr lang="en-US" dirty="0"/>
              <a:t>6/6/2019</a:t>
            </a:fld>
            <a:endParaRPr lang="en-US" dirty="0"/>
          </a:p>
        </p:txBody>
      </p:sp>
      <p:sp>
        <p:nvSpPr>
          <p:cNvPr id="5" name="Footer Placeholder 4"/>
          <p:cNvSpPr>
            <a:spLocks noGrp="1"/>
          </p:cNvSpPr>
          <p:nvPr>
            <p:ph type="ftr" sz="quarter" idx="11"/>
          </p:nvPr>
        </p:nvSpPr>
        <p:spPr/>
        <p:txBody>
          <a:bodyPr/>
          <a:lstStyle>
            <a:lvl1pPr>
              <a:defRPr>
                <a:solidFill>
                  <a:srgbClr val="FFFFFF"/>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rgbClr val="FFFFFF"/>
                </a:solidFill>
              </a:defRPr>
            </a:lvl1pPr>
          </a:lstStyle>
          <a:p>
            <a:fld id="{4FAB73BC-B049-4115-A692-8D63A059BFB8}" type="slidenum">
              <a:rPr lang="en-US" dirty="0"/>
              <a:t>‹#›</a:t>
            </a:fld>
            <a:endParaRPr lang="en-US" dirty="0"/>
          </a:p>
        </p:txBody>
      </p:sp>
      <p:cxnSp>
        <p:nvCxnSpPr>
          <p:cNvPr id="8" name="Straight Connector 7"/>
          <p:cNvCxnSpPr/>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6DFF08F-DC6B-4601-B491-B0F83F6DD2DA}" type="datetimeFigureOut">
              <a:rPr lang="en-US" dirty="0"/>
              <a:t>6/6/2019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en-US"/>
              <a:t>Click to edit Master title style</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6DFF08F-DC6B-4601-B491-B0F83F6DD2DA}" type="datetimeFigureOut">
              <a:rPr lang="en-US" dirty="0"/>
              <a:t>6/6/2019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cxnSp>
        <p:nvCxnSpPr>
          <p:cNvPr id="7" name="Straight Connector 6"/>
          <p:cNvCxnSpPr/>
          <p:nvPr/>
        </p:nvCxnSpPr>
        <p:spPr>
          <a:xfrm>
            <a:off x="1981200" y="4020408"/>
            <a:ext cx="8229601"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6DFF08F-DC6B-4601-B491-B0F83F6DD2DA}" type="datetimeFigureOut">
              <a:rPr lang="en-US" dirty="0"/>
              <a:t>6/6/2019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6DFF08F-DC6B-4601-B491-B0F83F6DD2DA}" type="datetimeFigureOut">
              <a:rPr lang="en-US" dirty="0"/>
              <a:t>6/6/2019</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6DFF08F-DC6B-4601-B491-B0F83F6DD2DA}" type="datetimeFigureOut">
              <a:rPr lang="en-US" dirty="0"/>
              <a:t>6/6/2019</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6DFF08F-DC6B-4601-B491-B0F83F6DD2DA}" type="datetimeFigureOut">
              <a:rPr lang="en-US" dirty="0"/>
              <a:t>6/6/2019</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6DFF08F-DC6B-4601-B491-B0F83F6DD2DA}" type="datetimeFigureOut">
              <a:rPr lang="en-US" dirty="0"/>
              <a:t>6/6/2019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6DFF08F-DC6B-4601-B491-B0F83F6DD2DA}" type="datetimeFigureOut">
              <a:rPr lang="en-US" dirty="0"/>
              <a:t>6/6/2019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6DFF08F-DC6B-4601-B491-B0F83F6DD2DA}" type="datetimeFigureOut">
              <a:rPr lang="en-US" dirty="0"/>
              <a:t>6/6/2019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6DFF08F-DC6B-4601-B491-B0F83F6DD2DA}" type="datetimeFigureOut">
              <a:rPr lang="en-US" dirty="0"/>
              <a:t>6/6/2019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accent1"/>
                </a:solidFill>
              </a:defRPr>
            </a:lvl1pPr>
          </a:lstStyle>
          <a:p>
            <a:fld id="{96DFF08F-DC6B-4601-B491-B0F83F6DD2DA}" type="datetimeFigureOut">
              <a:rPr lang="en-US" dirty="0"/>
              <a:pPr/>
              <a:t>6/6/2019</a:t>
            </a:fld>
            <a:endParaRPr lang="en-US" dirty="0"/>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accent1"/>
                </a:solidFill>
              </a:defRPr>
            </a:lvl1pPr>
          </a:lstStyle>
          <a:p>
            <a:endParaRPr lang="en-US" dirty="0"/>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accent1"/>
                </a:solidFill>
              </a:defRPr>
            </a:lvl1pPr>
          </a:lstStyle>
          <a:p>
            <a:fld id="{4FAB73BC-B049-4115-A692-8D63A059BFB8}"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MIDI%20vs%20AUDIO_%20Connect%20And%20Record%20Your%20Keyboard%20Lesson%201.mp4" TargetMode="External"/><Relationship Id="rId2" Type="http://schemas.openxmlformats.org/officeDocument/2006/relationships/hyperlink" Target="../MIDI%20Tutorial_%20What%20is%20MIDI%20and%20how%20is%20it%20used%20#TTNM.mp4"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hyperlink" Target="http://www.mcsquared.com/mono-stereo.htm"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3EAA95-C8CD-483E-8678-D6A2A209085E}"/>
              </a:ext>
            </a:extLst>
          </p:cNvPr>
          <p:cNvSpPr>
            <a:spLocks noGrp="1"/>
          </p:cNvSpPr>
          <p:nvPr>
            <p:ph type="ctrTitle"/>
          </p:nvPr>
        </p:nvSpPr>
        <p:spPr/>
        <p:txBody>
          <a:bodyPr/>
          <a:lstStyle/>
          <a:p>
            <a:r>
              <a:rPr lang="en-US" dirty="0"/>
              <a:t>Sound</a:t>
            </a:r>
          </a:p>
        </p:txBody>
      </p:sp>
      <p:sp>
        <p:nvSpPr>
          <p:cNvPr id="3" name="Subtitle 2">
            <a:extLst>
              <a:ext uri="{FF2B5EF4-FFF2-40B4-BE49-F238E27FC236}">
                <a16:creationId xmlns:a16="http://schemas.microsoft.com/office/drawing/2014/main" id="{7E88168F-20DD-43FE-BF3A-37F833176A2F}"/>
              </a:ext>
            </a:extLst>
          </p:cNvPr>
          <p:cNvSpPr>
            <a:spLocks noGrp="1"/>
          </p:cNvSpPr>
          <p:nvPr>
            <p:ph type="subTitle" idx="1"/>
          </p:nvPr>
        </p:nvSpPr>
        <p:spPr/>
        <p:txBody>
          <a:bodyPr/>
          <a:lstStyle/>
          <a:p>
            <a:r>
              <a:rPr lang="en-US" dirty="0" err="1"/>
              <a:t>Mwayi</a:t>
            </a:r>
            <a:r>
              <a:rPr lang="en-US" dirty="0"/>
              <a:t> </a:t>
            </a:r>
            <a:r>
              <a:rPr lang="en-US" dirty="0" err="1"/>
              <a:t>Mchuchu</a:t>
            </a:r>
            <a:endParaRPr lang="en-US" dirty="0"/>
          </a:p>
        </p:txBody>
      </p:sp>
    </p:spTree>
    <p:extLst>
      <p:ext uri="{BB962C8B-B14F-4D97-AF65-F5344CB8AC3E}">
        <p14:creationId xmlns:p14="http://schemas.microsoft.com/office/powerpoint/2010/main" val="14627170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9D7C44-DA78-4D69-86BD-EDBAC860AA85}"/>
              </a:ext>
            </a:extLst>
          </p:cNvPr>
          <p:cNvSpPr>
            <a:spLocks noGrp="1"/>
          </p:cNvSpPr>
          <p:nvPr>
            <p:ph type="title"/>
          </p:nvPr>
        </p:nvSpPr>
        <p:spPr/>
        <p:txBody>
          <a:bodyPr/>
          <a:lstStyle/>
          <a:p>
            <a:r>
              <a:rPr lang="en-US" dirty="0"/>
              <a:t>What is sound</a:t>
            </a:r>
          </a:p>
        </p:txBody>
      </p:sp>
      <p:pic>
        <p:nvPicPr>
          <p:cNvPr id="6" name="Content Placeholder 3">
            <a:extLst>
              <a:ext uri="{FF2B5EF4-FFF2-40B4-BE49-F238E27FC236}">
                <a16:creationId xmlns:a16="http://schemas.microsoft.com/office/drawing/2014/main" id="{DB623AAB-14A8-408C-9779-6E10BB40E1A3}"/>
              </a:ext>
            </a:extLst>
          </p:cNvPr>
          <p:cNvPicPr>
            <a:picLocks noGrp="1" noChangeAspect="1"/>
          </p:cNvPicPr>
          <p:nvPr>
            <p:ph idx="1"/>
          </p:nvPr>
        </p:nvPicPr>
        <p:blipFill rotWithShape="1">
          <a:blip r:embed="rId2"/>
          <a:srcRect l="9276" t="16325" r="9734" b="16079"/>
          <a:stretch/>
        </p:blipFill>
        <p:spPr>
          <a:xfrm>
            <a:off x="611083" y="1510747"/>
            <a:ext cx="11037578" cy="5179335"/>
          </a:xfrm>
          <a:prstGeom prst="rect">
            <a:avLst/>
          </a:prstGeom>
        </p:spPr>
      </p:pic>
    </p:spTree>
    <p:extLst>
      <p:ext uri="{BB962C8B-B14F-4D97-AF65-F5344CB8AC3E}">
        <p14:creationId xmlns:p14="http://schemas.microsoft.com/office/powerpoint/2010/main" val="18711863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2D927E-93DE-40EA-A395-852BD1FA890B}"/>
              </a:ext>
            </a:extLst>
          </p:cNvPr>
          <p:cNvSpPr>
            <a:spLocks noGrp="1"/>
          </p:cNvSpPr>
          <p:nvPr>
            <p:ph type="title"/>
          </p:nvPr>
        </p:nvSpPr>
        <p:spPr/>
        <p:txBody>
          <a:bodyPr/>
          <a:lstStyle/>
          <a:p>
            <a:r>
              <a:rPr lang="en-US" dirty="0"/>
              <a:t>Sound waves vibrations</a:t>
            </a:r>
          </a:p>
        </p:txBody>
      </p:sp>
      <p:sp>
        <p:nvSpPr>
          <p:cNvPr id="3" name="Content Placeholder 2">
            <a:extLst>
              <a:ext uri="{FF2B5EF4-FFF2-40B4-BE49-F238E27FC236}">
                <a16:creationId xmlns:a16="http://schemas.microsoft.com/office/drawing/2014/main" id="{C6D0F52C-E2F0-4580-A121-0D82D72D296C}"/>
              </a:ext>
            </a:extLst>
          </p:cNvPr>
          <p:cNvSpPr>
            <a:spLocks noGrp="1"/>
          </p:cNvSpPr>
          <p:nvPr>
            <p:ph idx="1"/>
          </p:nvPr>
        </p:nvSpPr>
        <p:spPr/>
        <p:txBody>
          <a:bodyPr/>
          <a:lstStyle/>
          <a:p>
            <a:r>
              <a:rPr lang="en-US" dirty="0"/>
              <a:t>If you drop a stone in a bucket of water you disturb the water surface the stone creates ripples or waves which travels away from the impact.</a:t>
            </a:r>
          </a:p>
          <a:p>
            <a:r>
              <a:rPr lang="en-US" dirty="0"/>
              <a:t>The ripples cause the water to change up and down</a:t>
            </a:r>
          </a:p>
          <a:p>
            <a:pPr marL="45720" indent="0">
              <a:buNone/>
            </a:pPr>
            <a:endParaRPr lang="en-US" dirty="0"/>
          </a:p>
        </p:txBody>
      </p:sp>
      <p:pic>
        <p:nvPicPr>
          <p:cNvPr id="5" name="Picture 4">
            <a:extLst>
              <a:ext uri="{FF2B5EF4-FFF2-40B4-BE49-F238E27FC236}">
                <a16:creationId xmlns:a16="http://schemas.microsoft.com/office/drawing/2014/main" id="{8668C6E7-CD00-4BA6-BD05-5B11D0AC6895}"/>
              </a:ext>
            </a:extLst>
          </p:cNvPr>
          <p:cNvPicPr>
            <a:picLocks noChangeAspect="1"/>
          </p:cNvPicPr>
          <p:nvPr/>
        </p:nvPicPr>
        <p:blipFill rotWithShape="1">
          <a:blip r:embed="rId2"/>
          <a:srcRect l="20109" t="36515" r="24892" b="11092"/>
          <a:stretch/>
        </p:blipFill>
        <p:spPr>
          <a:xfrm>
            <a:off x="251791" y="3429000"/>
            <a:ext cx="5796262" cy="3104322"/>
          </a:xfrm>
          <a:prstGeom prst="rect">
            <a:avLst/>
          </a:prstGeom>
        </p:spPr>
      </p:pic>
      <p:pic>
        <p:nvPicPr>
          <p:cNvPr id="7" name="Picture 6">
            <a:extLst>
              <a:ext uri="{FF2B5EF4-FFF2-40B4-BE49-F238E27FC236}">
                <a16:creationId xmlns:a16="http://schemas.microsoft.com/office/drawing/2014/main" id="{5DF061FC-C71B-402B-AD68-2153A9FBDCFE}"/>
              </a:ext>
            </a:extLst>
          </p:cNvPr>
          <p:cNvPicPr>
            <a:picLocks noChangeAspect="1"/>
          </p:cNvPicPr>
          <p:nvPr/>
        </p:nvPicPr>
        <p:blipFill rotWithShape="1">
          <a:blip r:embed="rId3"/>
          <a:srcRect l="20435" t="37288" r="24565" b="12445"/>
          <a:stretch/>
        </p:blipFill>
        <p:spPr>
          <a:xfrm>
            <a:off x="6048053" y="3391966"/>
            <a:ext cx="5796262" cy="2978316"/>
          </a:xfrm>
          <a:prstGeom prst="rect">
            <a:avLst/>
          </a:prstGeom>
        </p:spPr>
      </p:pic>
    </p:spTree>
    <p:extLst>
      <p:ext uri="{BB962C8B-B14F-4D97-AF65-F5344CB8AC3E}">
        <p14:creationId xmlns:p14="http://schemas.microsoft.com/office/powerpoint/2010/main" val="18611808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3E08FE-11AD-4E74-8BD2-E96D76294C34}"/>
              </a:ext>
            </a:extLst>
          </p:cNvPr>
          <p:cNvSpPr>
            <a:spLocks noGrp="1"/>
          </p:cNvSpPr>
          <p:nvPr>
            <p:ph type="title"/>
          </p:nvPr>
        </p:nvSpPr>
        <p:spPr>
          <a:xfrm>
            <a:off x="944217" y="251791"/>
            <a:ext cx="9875520" cy="821635"/>
          </a:xfrm>
        </p:spPr>
        <p:txBody>
          <a:bodyPr/>
          <a:lstStyle/>
          <a:p>
            <a:r>
              <a:rPr lang="en-US" dirty="0"/>
              <a:t>Sound waves</a:t>
            </a:r>
          </a:p>
        </p:txBody>
      </p:sp>
      <p:sp>
        <p:nvSpPr>
          <p:cNvPr id="3" name="Content Placeholder 2">
            <a:extLst>
              <a:ext uri="{FF2B5EF4-FFF2-40B4-BE49-F238E27FC236}">
                <a16:creationId xmlns:a16="http://schemas.microsoft.com/office/drawing/2014/main" id="{6BB17263-4FD9-4CFF-8244-FCA789EDD84A}"/>
              </a:ext>
            </a:extLst>
          </p:cNvPr>
          <p:cNvSpPr>
            <a:spLocks noGrp="1"/>
          </p:cNvSpPr>
          <p:nvPr>
            <p:ph idx="1"/>
          </p:nvPr>
        </p:nvSpPr>
        <p:spPr>
          <a:xfrm>
            <a:off x="944218" y="1073426"/>
            <a:ext cx="10071654" cy="5022574"/>
          </a:xfrm>
        </p:spPr>
        <p:txBody>
          <a:bodyPr/>
          <a:lstStyle/>
          <a:p>
            <a:r>
              <a:rPr lang="en-US" dirty="0"/>
              <a:t>The sound waves have a number of properties</a:t>
            </a:r>
          </a:p>
          <a:p>
            <a:pPr lvl="1"/>
            <a:r>
              <a:rPr lang="en-US" dirty="0"/>
              <a:t>Crest us the maximum point</a:t>
            </a:r>
          </a:p>
          <a:p>
            <a:pPr lvl="1"/>
            <a:r>
              <a:rPr lang="en-US" dirty="0"/>
              <a:t>Minimum point is called a trough</a:t>
            </a:r>
          </a:p>
          <a:p>
            <a:pPr lvl="1"/>
            <a:r>
              <a:rPr lang="en-US" dirty="0"/>
              <a:t>Wavelength (A distance between one crest to another ) </a:t>
            </a:r>
          </a:p>
          <a:p>
            <a:pPr lvl="1"/>
            <a:r>
              <a:rPr lang="en-US" dirty="0"/>
              <a:t>Amplitude (Distance between the center line to the trough or crest)</a:t>
            </a:r>
          </a:p>
          <a:p>
            <a:pPr lvl="1"/>
            <a:r>
              <a:rPr lang="en-US" dirty="0"/>
              <a:t>Frequency number of waves passing a fixed point per second</a:t>
            </a:r>
          </a:p>
          <a:p>
            <a:pPr marL="274320" lvl="1" indent="0">
              <a:buNone/>
            </a:pPr>
            <a:endParaRPr lang="en-US" dirty="0"/>
          </a:p>
        </p:txBody>
      </p:sp>
      <p:pic>
        <p:nvPicPr>
          <p:cNvPr id="5" name="Picture 4">
            <a:extLst>
              <a:ext uri="{FF2B5EF4-FFF2-40B4-BE49-F238E27FC236}">
                <a16:creationId xmlns:a16="http://schemas.microsoft.com/office/drawing/2014/main" id="{41A74CB5-E90D-4E51-B713-A9B30B19C6CA}"/>
              </a:ext>
            </a:extLst>
          </p:cNvPr>
          <p:cNvPicPr>
            <a:picLocks noChangeAspect="1"/>
          </p:cNvPicPr>
          <p:nvPr/>
        </p:nvPicPr>
        <p:blipFill rotWithShape="1">
          <a:blip r:embed="rId2"/>
          <a:srcRect l="17392" t="23755" r="9646" b="18439"/>
          <a:stretch/>
        </p:blipFill>
        <p:spPr>
          <a:xfrm>
            <a:off x="424070" y="3154016"/>
            <a:ext cx="11317356" cy="3220279"/>
          </a:xfrm>
          <a:prstGeom prst="rect">
            <a:avLst/>
          </a:prstGeom>
        </p:spPr>
      </p:pic>
    </p:spTree>
    <p:extLst>
      <p:ext uri="{BB962C8B-B14F-4D97-AF65-F5344CB8AC3E}">
        <p14:creationId xmlns:p14="http://schemas.microsoft.com/office/powerpoint/2010/main" val="3826524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409DA-F311-4A4D-9137-76EC02F1D268}"/>
              </a:ext>
            </a:extLst>
          </p:cNvPr>
          <p:cNvSpPr>
            <a:spLocks noGrp="1"/>
          </p:cNvSpPr>
          <p:nvPr>
            <p:ph type="title"/>
          </p:nvPr>
        </p:nvSpPr>
        <p:spPr/>
        <p:txBody>
          <a:bodyPr/>
          <a:lstStyle/>
          <a:p>
            <a:r>
              <a:rPr lang="en-US" dirty="0"/>
              <a:t>Sound waves </a:t>
            </a:r>
            <a:r>
              <a:rPr lang="en-US" sz="3200" dirty="0"/>
              <a:t>continued</a:t>
            </a:r>
          </a:p>
        </p:txBody>
      </p:sp>
      <p:sp>
        <p:nvSpPr>
          <p:cNvPr id="3" name="Content Placeholder 2">
            <a:extLst>
              <a:ext uri="{FF2B5EF4-FFF2-40B4-BE49-F238E27FC236}">
                <a16:creationId xmlns:a16="http://schemas.microsoft.com/office/drawing/2014/main" id="{AF5E4C6E-83BA-4A83-B5BB-66692C5E61DF}"/>
              </a:ext>
            </a:extLst>
          </p:cNvPr>
          <p:cNvSpPr>
            <a:spLocks noGrp="1"/>
          </p:cNvSpPr>
          <p:nvPr>
            <p:ph idx="1"/>
          </p:nvPr>
        </p:nvSpPr>
        <p:spPr/>
        <p:txBody>
          <a:bodyPr/>
          <a:lstStyle/>
          <a:p>
            <a:r>
              <a:rPr lang="en-US" dirty="0"/>
              <a:t>Sound waves are similar, if you crap your hands for example inside your room, you will disturb the air and cause ripples of air to move away from your hand  </a:t>
            </a:r>
          </a:p>
        </p:txBody>
      </p:sp>
      <p:pic>
        <p:nvPicPr>
          <p:cNvPr id="5" name="Picture 4">
            <a:extLst>
              <a:ext uri="{FF2B5EF4-FFF2-40B4-BE49-F238E27FC236}">
                <a16:creationId xmlns:a16="http://schemas.microsoft.com/office/drawing/2014/main" id="{E0EFD7B0-75D3-4059-B9DB-BFAACE484D4C}"/>
              </a:ext>
            </a:extLst>
          </p:cNvPr>
          <p:cNvPicPr>
            <a:picLocks noChangeAspect="1"/>
          </p:cNvPicPr>
          <p:nvPr/>
        </p:nvPicPr>
        <p:blipFill>
          <a:blip r:embed="rId2"/>
          <a:stretch>
            <a:fillRect/>
          </a:stretch>
        </p:blipFill>
        <p:spPr>
          <a:xfrm>
            <a:off x="2358887" y="2938670"/>
            <a:ext cx="6480313" cy="3429000"/>
          </a:xfrm>
          <a:prstGeom prst="rect">
            <a:avLst/>
          </a:prstGeom>
        </p:spPr>
      </p:pic>
    </p:spTree>
    <p:extLst>
      <p:ext uri="{BB962C8B-B14F-4D97-AF65-F5344CB8AC3E}">
        <p14:creationId xmlns:p14="http://schemas.microsoft.com/office/powerpoint/2010/main" val="5232000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D572ACB-C253-45BB-B7E8-86A3BDCE906A}"/>
              </a:ext>
            </a:extLst>
          </p:cNvPr>
          <p:cNvPicPr>
            <a:picLocks noChangeAspect="1"/>
          </p:cNvPicPr>
          <p:nvPr/>
        </p:nvPicPr>
        <p:blipFill>
          <a:blip r:embed="rId2"/>
          <a:stretch>
            <a:fillRect/>
          </a:stretch>
        </p:blipFill>
        <p:spPr>
          <a:xfrm>
            <a:off x="8568854" y="3429000"/>
            <a:ext cx="3669524" cy="2998304"/>
          </a:xfrm>
          <a:prstGeom prst="rect">
            <a:avLst/>
          </a:prstGeom>
        </p:spPr>
      </p:pic>
      <p:sp>
        <p:nvSpPr>
          <p:cNvPr id="2" name="Title 1">
            <a:extLst>
              <a:ext uri="{FF2B5EF4-FFF2-40B4-BE49-F238E27FC236}">
                <a16:creationId xmlns:a16="http://schemas.microsoft.com/office/drawing/2014/main" id="{4492121C-8554-4A9D-9951-04B149DDCE4E}"/>
              </a:ext>
            </a:extLst>
          </p:cNvPr>
          <p:cNvSpPr>
            <a:spLocks noGrp="1"/>
          </p:cNvSpPr>
          <p:nvPr>
            <p:ph type="title"/>
          </p:nvPr>
        </p:nvSpPr>
        <p:spPr/>
        <p:txBody>
          <a:bodyPr/>
          <a:lstStyle/>
          <a:p>
            <a:r>
              <a:rPr lang="en-US" dirty="0"/>
              <a:t>Difference between soundwaves and water waves</a:t>
            </a:r>
          </a:p>
        </p:txBody>
      </p:sp>
      <p:sp>
        <p:nvSpPr>
          <p:cNvPr id="3" name="Content Placeholder 2">
            <a:extLst>
              <a:ext uri="{FF2B5EF4-FFF2-40B4-BE49-F238E27FC236}">
                <a16:creationId xmlns:a16="http://schemas.microsoft.com/office/drawing/2014/main" id="{C9609A05-665C-4D0F-BF29-640A114EE1F6}"/>
              </a:ext>
            </a:extLst>
          </p:cNvPr>
          <p:cNvSpPr>
            <a:spLocks noGrp="1"/>
          </p:cNvSpPr>
          <p:nvPr>
            <p:ph idx="1"/>
          </p:nvPr>
        </p:nvSpPr>
        <p:spPr>
          <a:xfrm>
            <a:off x="384313" y="2057400"/>
            <a:ext cx="11251095" cy="4038600"/>
          </a:xfrm>
        </p:spPr>
        <p:txBody>
          <a:bodyPr/>
          <a:lstStyle/>
          <a:p>
            <a:r>
              <a:rPr lang="en-US" dirty="0"/>
              <a:t>Water waves are transverse (as waves moves a disturbance is created perpendicular direction (vertically up and down) )</a:t>
            </a:r>
          </a:p>
          <a:p>
            <a:r>
              <a:rPr lang="en-US" dirty="0"/>
              <a:t>Sound waves are longitudinal (disturbance is created in the same wave direction) </a:t>
            </a:r>
          </a:p>
          <a:p>
            <a:r>
              <a:rPr lang="en-US" dirty="0"/>
              <a:t>Transverse waves coming from behind can lifts you and drops you down</a:t>
            </a:r>
          </a:p>
          <a:p>
            <a:r>
              <a:rPr lang="en-US" dirty="0"/>
              <a:t>Longitudinal waves can push forward and brings u back like a spring</a:t>
            </a:r>
          </a:p>
          <a:p>
            <a:r>
              <a:rPr lang="en-US" dirty="0"/>
              <a:t>Why talking about water wave on sound?</a:t>
            </a:r>
          </a:p>
          <a:p>
            <a:pPr lvl="1"/>
            <a:r>
              <a:rPr lang="en-US" dirty="0"/>
              <a:t>When representing sound waves digitally it is still drawn like transverse waves</a:t>
            </a:r>
          </a:p>
          <a:p>
            <a:pPr lvl="1"/>
            <a:r>
              <a:rPr lang="en-US" dirty="0"/>
              <a:t>Its like simply because its easier to draw and present the waves like that so</a:t>
            </a:r>
          </a:p>
          <a:p>
            <a:pPr marL="274320" lvl="1" indent="0">
              <a:buNone/>
            </a:pPr>
            <a:r>
              <a:rPr lang="en-US" dirty="0"/>
              <a:t> that it looks like a regular sign graph, but in this case it represents the </a:t>
            </a:r>
          </a:p>
          <a:p>
            <a:pPr marL="274320" lvl="1" indent="0">
              <a:buNone/>
            </a:pPr>
            <a:r>
              <a:rPr lang="en-US" dirty="0"/>
              <a:t>Motion of air particles traveling through time.</a:t>
            </a:r>
          </a:p>
        </p:txBody>
      </p:sp>
    </p:spTree>
    <p:extLst>
      <p:ext uri="{BB962C8B-B14F-4D97-AF65-F5344CB8AC3E}">
        <p14:creationId xmlns:p14="http://schemas.microsoft.com/office/powerpoint/2010/main" val="4910523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3D69B92-8D6E-405D-93B0-B549E9B79414}"/>
              </a:ext>
            </a:extLst>
          </p:cNvPr>
          <p:cNvPicPr>
            <a:picLocks noChangeAspect="1"/>
          </p:cNvPicPr>
          <p:nvPr/>
        </p:nvPicPr>
        <p:blipFill rotWithShape="1">
          <a:blip r:embed="rId2"/>
          <a:srcRect l="22608" t="23754" r="24783" b="26946"/>
          <a:stretch/>
        </p:blipFill>
        <p:spPr>
          <a:xfrm>
            <a:off x="5645426" y="3313043"/>
            <a:ext cx="6414052" cy="3379305"/>
          </a:xfrm>
          <a:prstGeom prst="rect">
            <a:avLst/>
          </a:prstGeom>
        </p:spPr>
      </p:pic>
      <p:sp>
        <p:nvSpPr>
          <p:cNvPr id="2" name="Title 1">
            <a:extLst>
              <a:ext uri="{FF2B5EF4-FFF2-40B4-BE49-F238E27FC236}">
                <a16:creationId xmlns:a16="http://schemas.microsoft.com/office/drawing/2014/main" id="{77C2E2BB-4F8F-42F1-95A1-4B74B59FEA4A}"/>
              </a:ext>
            </a:extLst>
          </p:cNvPr>
          <p:cNvSpPr>
            <a:spLocks noGrp="1"/>
          </p:cNvSpPr>
          <p:nvPr>
            <p:ph type="title"/>
          </p:nvPr>
        </p:nvSpPr>
        <p:spPr/>
        <p:txBody>
          <a:bodyPr/>
          <a:lstStyle/>
          <a:p>
            <a:r>
              <a:rPr lang="en-US" dirty="0"/>
              <a:t>Sound waves effect on air</a:t>
            </a:r>
          </a:p>
        </p:txBody>
      </p:sp>
      <p:sp>
        <p:nvSpPr>
          <p:cNvPr id="3" name="Content Placeholder 2">
            <a:extLst>
              <a:ext uri="{FF2B5EF4-FFF2-40B4-BE49-F238E27FC236}">
                <a16:creationId xmlns:a16="http://schemas.microsoft.com/office/drawing/2014/main" id="{E7C6A00C-C5B0-4DB3-931B-8DCBA069B13F}"/>
              </a:ext>
            </a:extLst>
          </p:cNvPr>
          <p:cNvSpPr>
            <a:spLocks noGrp="1"/>
          </p:cNvSpPr>
          <p:nvPr>
            <p:ph idx="1"/>
          </p:nvPr>
        </p:nvSpPr>
        <p:spPr>
          <a:xfrm>
            <a:off x="132522" y="1855304"/>
            <a:ext cx="11940207" cy="4240696"/>
          </a:xfrm>
        </p:spPr>
        <p:txBody>
          <a:bodyPr/>
          <a:lstStyle/>
          <a:p>
            <a:r>
              <a:rPr lang="en-US" dirty="0"/>
              <a:t>Crest point brings air particles together and trough spreads them apart</a:t>
            </a:r>
          </a:p>
          <a:p>
            <a:r>
              <a:rPr lang="en-US" dirty="0"/>
              <a:t>Sound waves causes changes in air pressure we can’t see this effect but we can hear it with our ears as particles bunch together and spread apart. This also causes our eardrums go in and out in the same rate and when the brain analyses the signals and  interprets them as sound.</a:t>
            </a:r>
          </a:p>
          <a:p>
            <a:r>
              <a:rPr lang="en-US" dirty="0"/>
              <a:t>Sound has a speed of 343 Meters / second</a:t>
            </a:r>
          </a:p>
          <a:p>
            <a:r>
              <a:rPr lang="en-US" dirty="0"/>
              <a:t>The frequency determines pitch of the sound</a:t>
            </a:r>
          </a:p>
          <a:p>
            <a:r>
              <a:rPr lang="en-US" dirty="0"/>
              <a:t>Shorter wavelength = higher frequency = higher pith</a:t>
            </a:r>
          </a:p>
          <a:p>
            <a:r>
              <a:rPr lang="en-US" dirty="0"/>
              <a:t>Amplitude (energy of the wave) affect Volume of the sound</a:t>
            </a:r>
          </a:p>
        </p:txBody>
      </p:sp>
    </p:spTree>
    <p:extLst>
      <p:ext uri="{BB962C8B-B14F-4D97-AF65-F5344CB8AC3E}">
        <p14:creationId xmlns:p14="http://schemas.microsoft.com/office/powerpoint/2010/main" val="8708993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4F4D7-D92F-49CE-A770-C9CAE5031C01}"/>
              </a:ext>
            </a:extLst>
          </p:cNvPr>
          <p:cNvSpPr>
            <a:spLocks noGrp="1"/>
          </p:cNvSpPr>
          <p:nvPr>
            <p:ph type="title"/>
          </p:nvPr>
        </p:nvSpPr>
        <p:spPr>
          <a:xfrm>
            <a:off x="1143000" y="609600"/>
            <a:ext cx="9875520" cy="874643"/>
          </a:xfrm>
        </p:spPr>
        <p:txBody>
          <a:bodyPr/>
          <a:lstStyle/>
          <a:p>
            <a:r>
              <a:rPr lang="en-US" dirty="0"/>
              <a:t>Sound pressure</a:t>
            </a:r>
          </a:p>
        </p:txBody>
      </p:sp>
      <p:sp>
        <p:nvSpPr>
          <p:cNvPr id="3" name="Content Placeholder 2">
            <a:extLst>
              <a:ext uri="{FF2B5EF4-FFF2-40B4-BE49-F238E27FC236}">
                <a16:creationId xmlns:a16="http://schemas.microsoft.com/office/drawing/2014/main" id="{40ACFA62-F7FC-4456-85ED-32FBFDD62505}"/>
              </a:ext>
            </a:extLst>
          </p:cNvPr>
          <p:cNvSpPr>
            <a:spLocks noGrp="1"/>
          </p:cNvSpPr>
          <p:nvPr>
            <p:ph idx="1"/>
          </p:nvPr>
        </p:nvSpPr>
        <p:spPr>
          <a:xfrm>
            <a:off x="1143000" y="1590261"/>
            <a:ext cx="9710530" cy="4214191"/>
          </a:xfrm>
        </p:spPr>
        <p:txBody>
          <a:bodyPr/>
          <a:lstStyle/>
          <a:p>
            <a:r>
              <a:rPr lang="en-US" altLang="en-US" sz="2400" dirty="0"/>
              <a:t>Sound pressure levels (loudness or volume) are measured in decibels (dB).</a:t>
            </a:r>
          </a:p>
          <a:p>
            <a:r>
              <a:rPr lang="en-US" dirty="0"/>
              <a:t>The decibel ( </a:t>
            </a:r>
            <a:r>
              <a:rPr lang="en-US" b="1" dirty="0"/>
              <a:t>dB</a:t>
            </a:r>
            <a:r>
              <a:rPr lang="en-US" dirty="0"/>
              <a:t>) is used to measure sound level, but it is also widely used in electronics, signals and communication. The dB is a logarithmic way of describing a ratio. The ratio may be power, sound pressure, voltage or intensity or several other things.</a:t>
            </a:r>
          </a:p>
          <a:p>
            <a:r>
              <a:rPr lang="en-US" dirty="0"/>
              <a:t>Sound is usually measured with microphones and they respond (approximately) proportionally to the sound pressure, p.</a:t>
            </a:r>
          </a:p>
          <a:p>
            <a:r>
              <a:rPr lang="en-US" dirty="0"/>
              <a:t>goes as the square of the pressure. (Similarly, electrical power in a resistor goes as the square of the voltage.) </a:t>
            </a:r>
          </a:p>
          <a:p>
            <a:endParaRPr lang="en-US" dirty="0"/>
          </a:p>
          <a:p>
            <a:endParaRPr lang="en-US" dirty="0"/>
          </a:p>
        </p:txBody>
      </p:sp>
    </p:spTree>
    <p:extLst>
      <p:ext uri="{BB962C8B-B14F-4D97-AF65-F5344CB8AC3E}">
        <p14:creationId xmlns:p14="http://schemas.microsoft.com/office/powerpoint/2010/main" val="35466313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BEE9AE-6BAE-49F4-A4B2-00B73B75FC67}"/>
              </a:ext>
            </a:extLst>
          </p:cNvPr>
          <p:cNvSpPr>
            <a:spLocks noGrp="1"/>
          </p:cNvSpPr>
          <p:nvPr>
            <p:ph type="title"/>
          </p:nvPr>
        </p:nvSpPr>
        <p:spPr>
          <a:xfrm>
            <a:off x="397564" y="298174"/>
            <a:ext cx="11489635" cy="901148"/>
          </a:xfrm>
        </p:spPr>
        <p:txBody>
          <a:bodyPr/>
          <a:lstStyle/>
          <a:p>
            <a:r>
              <a:rPr lang="en-US" dirty="0"/>
              <a:t>Measuring sound Pressure (loudness) in dB</a:t>
            </a:r>
          </a:p>
        </p:txBody>
      </p:sp>
      <p:sp>
        <p:nvSpPr>
          <p:cNvPr id="3" name="Content Placeholder 2">
            <a:extLst>
              <a:ext uri="{FF2B5EF4-FFF2-40B4-BE49-F238E27FC236}">
                <a16:creationId xmlns:a16="http://schemas.microsoft.com/office/drawing/2014/main" id="{79A61B84-B557-4399-9AEE-B38D0083CE46}"/>
              </a:ext>
            </a:extLst>
          </p:cNvPr>
          <p:cNvSpPr>
            <a:spLocks noGrp="1"/>
          </p:cNvSpPr>
          <p:nvPr>
            <p:ph idx="1"/>
          </p:nvPr>
        </p:nvSpPr>
        <p:spPr>
          <a:xfrm>
            <a:off x="304800" y="1199322"/>
            <a:ext cx="11635409" cy="5360504"/>
          </a:xfrm>
        </p:spPr>
        <p:txBody>
          <a:bodyPr>
            <a:normAutofit lnSpcReduction="10000"/>
          </a:bodyPr>
          <a:lstStyle/>
          <a:p>
            <a:r>
              <a:rPr lang="en-US" dirty="0"/>
              <a:t>The log of the square of x is just 2 log x, so this introduces a factor of 2 when we convert to decibels for pressures. The difference in sound pressure level between two sounds with p</a:t>
            </a:r>
            <a:r>
              <a:rPr lang="en-US" baseline="-25000" dirty="0"/>
              <a:t>1</a:t>
            </a:r>
            <a:r>
              <a:rPr lang="en-US" dirty="0"/>
              <a:t> and p</a:t>
            </a:r>
            <a:r>
              <a:rPr lang="en-US" baseline="-25000" dirty="0"/>
              <a:t>2</a:t>
            </a:r>
            <a:r>
              <a:rPr lang="en-US" dirty="0"/>
              <a:t> is therefore:</a:t>
            </a:r>
          </a:p>
          <a:p>
            <a:r>
              <a:rPr lang="en-US" dirty="0"/>
              <a:t>20 log (p</a:t>
            </a:r>
            <a:r>
              <a:rPr lang="en-US" baseline="-25000" dirty="0"/>
              <a:t>2</a:t>
            </a:r>
            <a:r>
              <a:rPr lang="en-US" dirty="0"/>
              <a:t>/p</a:t>
            </a:r>
            <a:r>
              <a:rPr lang="en-US" baseline="-25000" dirty="0"/>
              <a:t>1</a:t>
            </a:r>
            <a:r>
              <a:rPr lang="en-US" dirty="0"/>
              <a:t>) dB   =  10 log (p</a:t>
            </a:r>
            <a:r>
              <a:rPr lang="en-US" baseline="-25000" dirty="0"/>
              <a:t>2</a:t>
            </a:r>
            <a:r>
              <a:rPr lang="en-US" baseline="30000" dirty="0"/>
              <a:t>2</a:t>
            </a:r>
            <a:r>
              <a:rPr lang="en-US" dirty="0"/>
              <a:t>/p</a:t>
            </a:r>
            <a:r>
              <a:rPr lang="en-US" baseline="-25000" dirty="0"/>
              <a:t>1</a:t>
            </a:r>
            <a:r>
              <a:rPr lang="en-US" baseline="30000" dirty="0"/>
              <a:t>2</a:t>
            </a:r>
            <a:r>
              <a:rPr lang="en-US" dirty="0"/>
              <a:t>) dB   = 10 log (P</a:t>
            </a:r>
            <a:r>
              <a:rPr lang="en-US" baseline="-25000" dirty="0"/>
              <a:t>2</a:t>
            </a:r>
            <a:r>
              <a:rPr lang="en-US" dirty="0"/>
              <a:t>/P</a:t>
            </a:r>
            <a:r>
              <a:rPr lang="en-US" baseline="-25000" dirty="0"/>
              <a:t>1</a:t>
            </a:r>
            <a:r>
              <a:rPr lang="en-US" dirty="0"/>
              <a:t>) dB       where again the log is to base 10.</a:t>
            </a:r>
          </a:p>
          <a:p>
            <a:r>
              <a:rPr lang="en-US" dirty="0"/>
              <a:t>For instance, suppose we have two loudspeakers, the first playing a sound with power P</a:t>
            </a:r>
            <a:r>
              <a:rPr lang="en-US" baseline="-25000" dirty="0"/>
              <a:t>1</a:t>
            </a:r>
            <a:r>
              <a:rPr lang="en-US" dirty="0"/>
              <a:t>, and another playing a louder version of the same sound with power P</a:t>
            </a:r>
            <a:r>
              <a:rPr lang="en-US" baseline="-25000" dirty="0"/>
              <a:t>2</a:t>
            </a:r>
            <a:r>
              <a:rPr lang="en-US" dirty="0"/>
              <a:t>, but everything else (how far away, frequency) kept the same.</a:t>
            </a:r>
          </a:p>
          <a:p>
            <a:r>
              <a:rPr lang="en-US" dirty="0"/>
              <a:t>The </a:t>
            </a:r>
            <a:r>
              <a:rPr lang="en-US" b="1" dirty="0"/>
              <a:t>difference in decibels</a:t>
            </a:r>
            <a:r>
              <a:rPr lang="en-US" dirty="0"/>
              <a:t> between the two is defined to be 10 log (P</a:t>
            </a:r>
            <a:r>
              <a:rPr lang="en-US" baseline="-25000" dirty="0"/>
              <a:t>2</a:t>
            </a:r>
            <a:r>
              <a:rPr lang="en-US" dirty="0"/>
              <a:t>/P</a:t>
            </a:r>
            <a:r>
              <a:rPr lang="en-US" baseline="-25000" dirty="0"/>
              <a:t>1</a:t>
            </a:r>
            <a:r>
              <a:rPr lang="en-US" dirty="0"/>
              <a:t>) dB        where the log is to base 10.</a:t>
            </a:r>
          </a:p>
          <a:p>
            <a:r>
              <a:rPr lang="en-US" dirty="0"/>
              <a:t>If the second produces twice as much power than the first, the difference in dB                is10 log (P</a:t>
            </a:r>
            <a:r>
              <a:rPr lang="en-US" baseline="-25000" dirty="0"/>
              <a:t>2</a:t>
            </a:r>
            <a:r>
              <a:rPr lang="en-US" dirty="0"/>
              <a:t>/P</a:t>
            </a:r>
            <a:r>
              <a:rPr lang="en-US" baseline="-25000" dirty="0"/>
              <a:t>1</a:t>
            </a:r>
            <a:r>
              <a:rPr lang="en-US" dirty="0"/>
              <a:t>) = 10 log 2 = 3 </a:t>
            </a:r>
            <a:r>
              <a:rPr lang="en-US" dirty="0" err="1"/>
              <a:t>dB.</a:t>
            </a:r>
            <a:endParaRPr lang="en-US" dirty="0"/>
          </a:p>
          <a:p>
            <a:r>
              <a:rPr lang="en-US" dirty="0"/>
              <a:t>if the second had 10 times the power of the first, the difference in dB would be10 log (P</a:t>
            </a:r>
            <a:r>
              <a:rPr lang="en-US" baseline="-25000" dirty="0"/>
              <a:t>2</a:t>
            </a:r>
            <a:r>
              <a:rPr lang="en-US" dirty="0"/>
              <a:t>/P</a:t>
            </a:r>
            <a:r>
              <a:rPr lang="en-US" baseline="-25000" dirty="0"/>
              <a:t>1</a:t>
            </a:r>
            <a:r>
              <a:rPr lang="en-US" dirty="0"/>
              <a:t>) = 10 log 10 = 10 </a:t>
            </a:r>
            <a:r>
              <a:rPr lang="en-US" dirty="0" err="1"/>
              <a:t>dB.</a:t>
            </a:r>
            <a:endParaRPr lang="en-US" dirty="0"/>
          </a:p>
          <a:p>
            <a:r>
              <a:rPr lang="en-US" dirty="0"/>
              <a:t>If the second had a million times the power of the first, the difference in dB would be?</a:t>
            </a:r>
          </a:p>
          <a:p>
            <a:endParaRPr lang="en-US" dirty="0"/>
          </a:p>
          <a:p>
            <a:endParaRPr lang="en-US" dirty="0"/>
          </a:p>
        </p:txBody>
      </p:sp>
    </p:spTree>
    <p:extLst>
      <p:ext uri="{BB962C8B-B14F-4D97-AF65-F5344CB8AC3E}">
        <p14:creationId xmlns:p14="http://schemas.microsoft.com/office/powerpoint/2010/main" val="10322912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B47F87-AA5D-49BE-88EF-99A5D9086F68}"/>
              </a:ext>
            </a:extLst>
          </p:cNvPr>
          <p:cNvSpPr>
            <a:spLocks noGrp="1"/>
          </p:cNvSpPr>
          <p:nvPr>
            <p:ph type="title"/>
          </p:nvPr>
        </p:nvSpPr>
        <p:spPr/>
        <p:txBody>
          <a:bodyPr/>
          <a:lstStyle/>
          <a:p>
            <a:r>
              <a:rPr lang="en-US" dirty="0"/>
              <a:t>Multimedia system sounds</a:t>
            </a:r>
          </a:p>
        </p:txBody>
      </p:sp>
      <p:sp>
        <p:nvSpPr>
          <p:cNvPr id="3" name="Content Placeholder 2">
            <a:extLst>
              <a:ext uri="{FF2B5EF4-FFF2-40B4-BE49-F238E27FC236}">
                <a16:creationId xmlns:a16="http://schemas.microsoft.com/office/drawing/2014/main" id="{3D732595-71DE-42AC-ADF4-4353EEDDAB1F}"/>
              </a:ext>
            </a:extLst>
          </p:cNvPr>
          <p:cNvSpPr>
            <a:spLocks noGrp="1"/>
          </p:cNvSpPr>
          <p:nvPr>
            <p:ph idx="1"/>
          </p:nvPr>
        </p:nvSpPr>
        <p:spPr>
          <a:xfrm>
            <a:off x="1020418" y="2057399"/>
            <a:ext cx="9995454" cy="4396409"/>
          </a:xfrm>
        </p:spPr>
        <p:txBody>
          <a:bodyPr>
            <a:normAutofit fontScale="47500" lnSpcReduction="20000"/>
          </a:bodyPr>
          <a:lstStyle/>
          <a:p>
            <a:pPr>
              <a:lnSpc>
                <a:spcPct val="190000"/>
              </a:lnSpc>
            </a:pPr>
            <a:r>
              <a:rPr lang="en-US" altLang="en-US" sz="4600" dirty="0"/>
              <a:t>System sounds are assigned to various system events such as startup and warnings, among others.</a:t>
            </a:r>
          </a:p>
          <a:p>
            <a:pPr>
              <a:lnSpc>
                <a:spcPct val="190000"/>
              </a:lnSpc>
            </a:pPr>
            <a:r>
              <a:rPr lang="en-US" altLang="en-US" sz="4600" dirty="0"/>
              <a:t>Macintosh provides several system sound options such as glass, indigo, laugh.</a:t>
            </a:r>
          </a:p>
          <a:p>
            <a:pPr>
              <a:lnSpc>
                <a:spcPct val="190000"/>
              </a:lnSpc>
            </a:pPr>
            <a:r>
              <a:rPr lang="en-US" altLang="en-US" sz="4600" dirty="0"/>
              <a:t>In Windows, available system sounds include start.wav, chimes.wav, and chord.wav.</a:t>
            </a:r>
          </a:p>
          <a:p>
            <a:pPr>
              <a:lnSpc>
                <a:spcPct val="190000"/>
              </a:lnSpc>
            </a:pPr>
            <a:r>
              <a:rPr lang="en-US" altLang="en-US" sz="4600" dirty="0"/>
              <a:t>Multimedia sound is either digitally recorded audio or MIDI (Musical Instrumental Digital Interface) music.</a:t>
            </a:r>
          </a:p>
          <a:p>
            <a:endParaRPr lang="en-US" dirty="0"/>
          </a:p>
        </p:txBody>
      </p:sp>
    </p:spTree>
    <p:extLst>
      <p:ext uri="{BB962C8B-B14F-4D97-AF65-F5344CB8AC3E}">
        <p14:creationId xmlns:p14="http://schemas.microsoft.com/office/powerpoint/2010/main" val="32834199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7D4D45-32D0-41F3-BAC7-3CFC1AC0E5E4}"/>
              </a:ext>
            </a:extLst>
          </p:cNvPr>
          <p:cNvSpPr>
            <a:spLocks noGrp="1"/>
          </p:cNvSpPr>
          <p:nvPr>
            <p:ph type="title"/>
          </p:nvPr>
        </p:nvSpPr>
        <p:spPr>
          <a:xfrm>
            <a:off x="1143000" y="609600"/>
            <a:ext cx="9875520" cy="596348"/>
          </a:xfrm>
        </p:spPr>
        <p:txBody>
          <a:bodyPr>
            <a:normAutofit fontScale="90000"/>
          </a:bodyPr>
          <a:lstStyle/>
          <a:p>
            <a:pPr algn="ctr"/>
            <a:r>
              <a:rPr lang="en-US" dirty="0"/>
              <a:t>Digital sound</a:t>
            </a:r>
          </a:p>
        </p:txBody>
      </p:sp>
      <p:sp>
        <p:nvSpPr>
          <p:cNvPr id="3" name="Content Placeholder 2">
            <a:extLst>
              <a:ext uri="{FF2B5EF4-FFF2-40B4-BE49-F238E27FC236}">
                <a16:creationId xmlns:a16="http://schemas.microsoft.com/office/drawing/2014/main" id="{A01487BD-D694-4254-86D2-D082F491E12A}"/>
              </a:ext>
            </a:extLst>
          </p:cNvPr>
          <p:cNvSpPr>
            <a:spLocks noGrp="1"/>
          </p:cNvSpPr>
          <p:nvPr>
            <p:ph idx="1"/>
          </p:nvPr>
        </p:nvSpPr>
        <p:spPr>
          <a:xfrm>
            <a:off x="490330" y="1404730"/>
            <a:ext cx="10933044" cy="5168348"/>
          </a:xfrm>
        </p:spPr>
        <p:txBody>
          <a:bodyPr>
            <a:normAutofit/>
          </a:bodyPr>
          <a:lstStyle/>
          <a:p>
            <a:r>
              <a:rPr lang="en-US" b="1" dirty="0"/>
              <a:t>analog</a:t>
            </a:r>
            <a:r>
              <a:rPr lang="en-US" dirty="0"/>
              <a:t> audio. Is basically Recording audio in a format of continuous vibrations that are comparable to the original </a:t>
            </a:r>
            <a:r>
              <a:rPr lang="en-US" b="1" dirty="0"/>
              <a:t>sound</a:t>
            </a:r>
            <a:r>
              <a:rPr lang="en-US" dirty="0"/>
              <a:t> waves. Before audio recording became digital, </a:t>
            </a:r>
            <a:r>
              <a:rPr lang="en-US" b="1" dirty="0"/>
              <a:t>sounds</a:t>
            </a:r>
            <a:r>
              <a:rPr lang="en-US" dirty="0"/>
              <a:t> were "carved" into vinyl records or written to tape as magnetic continuous signal waveforms.</a:t>
            </a:r>
            <a:endParaRPr lang="en-US" b="1" dirty="0"/>
          </a:p>
          <a:p>
            <a:r>
              <a:rPr lang="en-US" b="1" dirty="0"/>
              <a:t>Digital</a:t>
            </a:r>
            <a:r>
              <a:rPr lang="en-US" dirty="0"/>
              <a:t> audio is a technology that is used to record, store, manipulate, generate and reproduce </a:t>
            </a:r>
            <a:r>
              <a:rPr lang="en-US" b="1" dirty="0"/>
              <a:t>sound</a:t>
            </a:r>
            <a:r>
              <a:rPr lang="en-US" dirty="0"/>
              <a:t> using audio signals that have been encoded in </a:t>
            </a:r>
            <a:r>
              <a:rPr lang="en-US" b="1" dirty="0"/>
              <a:t>digital</a:t>
            </a:r>
            <a:r>
              <a:rPr lang="en-US" dirty="0"/>
              <a:t> form. It also refers to the sequence of discreet samples that are taken from an analog audio waveform.</a:t>
            </a:r>
            <a:endParaRPr lang="en-US" b="1" dirty="0"/>
          </a:p>
          <a:p>
            <a:r>
              <a:rPr lang="en-US" b="1" dirty="0"/>
              <a:t>Sounds</a:t>
            </a:r>
            <a:r>
              <a:rPr lang="en-US" dirty="0"/>
              <a:t> can be recorded using a microphone, which converts the air vibrations of the </a:t>
            </a:r>
            <a:r>
              <a:rPr lang="en-US" b="1" dirty="0"/>
              <a:t>sound</a:t>
            </a:r>
            <a:r>
              <a:rPr lang="en-US" dirty="0"/>
              <a:t> into an electrical signal. This signal can then be quantified—but the </a:t>
            </a:r>
            <a:r>
              <a:rPr lang="en-US" b="1" dirty="0"/>
              <a:t>digitization</a:t>
            </a:r>
            <a:r>
              <a:rPr lang="en-US" dirty="0"/>
              <a:t> must include quantifying magnitude (loudness) and time.</a:t>
            </a:r>
          </a:p>
          <a:p>
            <a:r>
              <a:rPr lang="en-US" b="1" dirty="0"/>
              <a:t>How does digital audio work</a:t>
            </a:r>
            <a:r>
              <a:rPr lang="en-US" dirty="0"/>
              <a:t>?. </a:t>
            </a:r>
            <a:r>
              <a:rPr lang="en-US" b="1" dirty="0"/>
              <a:t>Digital audio</a:t>
            </a:r>
            <a:r>
              <a:rPr lang="en-US" dirty="0"/>
              <a:t> is a representation of an analog </a:t>
            </a:r>
            <a:r>
              <a:rPr lang="en-US" b="1" dirty="0"/>
              <a:t>audio</a:t>
            </a:r>
            <a:r>
              <a:rPr lang="en-US" dirty="0"/>
              <a:t> signal used by computers and </a:t>
            </a:r>
            <a:r>
              <a:rPr lang="en-US" b="1" dirty="0"/>
              <a:t>digital</a:t>
            </a:r>
            <a:r>
              <a:rPr lang="en-US" dirty="0"/>
              <a:t> devices.  </a:t>
            </a:r>
            <a:r>
              <a:rPr lang="en-US" b="1" dirty="0"/>
              <a:t>sound</a:t>
            </a:r>
            <a:r>
              <a:rPr lang="en-US" dirty="0"/>
              <a:t> is converted with an analog-to-</a:t>
            </a:r>
            <a:r>
              <a:rPr lang="en-US" b="1" dirty="0"/>
              <a:t>digital</a:t>
            </a:r>
            <a:r>
              <a:rPr lang="en-US" dirty="0"/>
              <a:t> converter (ADC) into a </a:t>
            </a:r>
            <a:r>
              <a:rPr lang="en-US" b="1" dirty="0"/>
              <a:t>digital</a:t>
            </a:r>
            <a:r>
              <a:rPr lang="en-US" dirty="0"/>
              <a:t> binary signal, typically using pulse-code modulation to record and playback sound. Similar to the frames of a video, </a:t>
            </a:r>
            <a:r>
              <a:rPr lang="en-US" b="1" dirty="0"/>
              <a:t>digital audio</a:t>
            </a:r>
            <a:r>
              <a:rPr lang="en-US" dirty="0"/>
              <a:t> is made up of a series of samples which recreate a sound when played back in sequence.</a:t>
            </a:r>
          </a:p>
        </p:txBody>
      </p:sp>
    </p:spTree>
    <p:extLst>
      <p:ext uri="{BB962C8B-B14F-4D97-AF65-F5344CB8AC3E}">
        <p14:creationId xmlns:p14="http://schemas.microsoft.com/office/powerpoint/2010/main" val="535121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0216B8-186A-42C4-A92A-65A98749DED0}"/>
              </a:ext>
            </a:extLst>
          </p:cNvPr>
          <p:cNvSpPr>
            <a:spLocks noGrp="1"/>
          </p:cNvSpPr>
          <p:nvPr>
            <p:ph type="title"/>
          </p:nvPr>
        </p:nvSpPr>
        <p:spPr/>
        <p:txBody>
          <a:bodyPr/>
          <a:lstStyle/>
          <a:p>
            <a:r>
              <a:rPr lang="en-US" dirty="0"/>
              <a:t>Digital audio </a:t>
            </a:r>
            <a:r>
              <a:rPr lang="en-US" sz="2400" dirty="0"/>
              <a:t>continued</a:t>
            </a:r>
          </a:p>
        </p:txBody>
      </p:sp>
      <p:sp>
        <p:nvSpPr>
          <p:cNvPr id="3" name="Content Placeholder 2">
            <a:extLst>
              <a:ext uri="{FF2B5EF4-FFF2-40B4-BE49-F238E27FC236}">
                <a16:creationId xmlns:a16="http://schemas.microsoft.com/office/drawing/2014/main" id="{1CF8C26F-2D3F-47DC-B257-4031B95AD084}"/>
              </a:ext>
            </a:extLst>
          </p:cNvPr>
          <p:cNvSpPr>
            <a:spLocks noGrp="1"/>
          </p:cNvSpPr>
          <p:nvPr>
            <p:ph idx="1"/>
          </p:nvPr>
        </p:nvSpPr>
        <p:spPr/>
        <p:txBody>
          <a:bodyPr>
            <a:normAutofit/>
          </a:bodyPr>
          <a:lstStyle/>
          <a:p>
            <a:r>
              <a:rPr lang="en-US" altLang="en-US" dirty="0"/>
              <a:t>Quality of digital recording depends on the sampling rate, (or frequency) that is, the number of samples taken per second.</a:t>
            </a:r>
          </a:p>
          <a:p>
            <a:r>
              <a:rPr lang="en-US" altLang="en-US" dirty="0"/>
              <a:t>The number of bits used to describe the amplitude of sound wave when sampled, determines the sample size.</a:t>
            </a:r>
          </a:p>
          <a:p>
            <a:pPr>
              <a:buNone/>
            </a:pPr>
            <a:r>
              <a:rPr lang="en-US" altLang="en-US" dirty="0"/>
              <a:t>Crucial aspects of preparing digital audio files are:</a:t>
            </a:r>
          </a:p>
          <a:p>
            <a:pPr lvl="1"/>
            <a:r>
              <a:rPr lang="en-US" altLang="en-US" sz="1800" dirty="0"/>
              <a:t>Balancing the need for sound quality against available RAM and hard disk resource.</a:t>
            </a:r>
          </a:p>
          <a:p>
            <a:pPr lvl="1"/>
            <a:r>
              <a:rPr lang="en-US" altLang="en-US" sz="1800" dirty="0"/>
              <a:t>Setting appropriate recording levels to get a high-quality and clean recording.</a:t>
            </a:r>
          </a:p>
          <a:p>
            <a:pPr lvl="1"/>
            <a:r>
              <a:rPr lang="en-US" altLang="en-US" sz="1800" dirty="0"/>
              <a:t>Once a recording had been completed, it almost always needs to be edited.</a:t>
            </a:r>
          </a:p>
          <a:p>
            <a:pPr lvl="1"/>
            <a:r>
              <a:rPr lang="en-US" altLang="en-US" sz="1800" dirty="0"/>
              <a:t>Basic sound editing operations include trimming, splicing and assembly, volume adjustments and working on multiple tracks.</a:t>
            </a:r>
          </a:p>
          <a:p>
            <a:pPr marL="274320" lvl="1" indent="0">
              <a:buNone/>
            </a:pPr>
            <a:endParaRPr lang="en-US" altLang="en-US" sz="1800" dirty="0"/>
          </a:p>
          <a:p>
            <a:pPr lvl="1"/>
            <a:endParaRPr lang="en-US" altLang="en-US" sz="1800" dirty="0"/>
          </a:p>
          <a:p>
            <a:pPr lvl="1"/>
            <a:endParaRPr lang="en-US" altLang="en-US" sz="1800" dirty="0"/>
          </a:p>
          <a:p>
            <a:endParaRPr lang="en-US" altLang="en-US" dirty="0"/>
          </a:p>
          <a:p>
            <a:endParaRPr lang="en-US" dirty="0"/>
          </a:p>
        </p:txBody>
      </p:sp>
    </p:spTree>
    <p:extLst>
      <p:ext uri="{BB962C8B-B14F-4D97-AF65-F5344CB8AC3E}">
        <p14:creationId xmlns:p14="http://schemas.microsoft.com/office/powerpoint/2010/main" val="33608499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2D3D8F-F906-4625-8C05-343B3F365D4D}"/>
              </a:ext>
            </a:extLst>
          </p:cNvPr>
          <p:cNvSpPr>
            <a:spLocks noGrp="1"/>
          </p:cNvSpPr>
          <p:nvPr>
            <p:ph type="title"/>
          </p:nvPr>
        </p:nvSpPr>
        <p:spPr>
          <a:xfrm>
            <a:off x="811696" y="318052"/>
            <a:ext cx="9875520" cy="887896"/>
          </a:xfrm>
        </p:spPr>
        <p:txBody>
          <a:bodyPr/>
          <a:lstStyle/>
          <a:p>
            <a:r>
              <a:rPr lang="en-US" dirty="0"/>
              <a:t>Digital audio common sample rates</a:t>
            </a:r>
          </a:p>
        </p:txBody>
      </p:sp>
      <p:sp>
        <p:nvSpPr>
          <p:cNvPr id="3" name="Content Placeholder 2">
            <a:extLst>
              <a:ext uri="{FF2B5EF4-FFF2-40B4-BE49-F238E27FC236}">
                <a16:creationId xmlns:a16="http://schemas.microsoft.com/office/drawing/2014/main" id="{F316FD6D-186F-4F5D-A79F-76BF251D4109}"/>
              </a:ext>
            </a:extLst>
          </p:cNvPr>
          <p:cNvSpPr>
            <a:spLocks noGrp="1"/>
          </p:cNvSpPr>
          <p:nvPr>
            <p:ph idx="1"/>
          </p:nvPr>
        </p:nvSpPr>
        <p:spPr>
          <a:xfrm>
            <a:off x="185530" y="1404730"/>
            <a:ext cx="11714922" cy="4545496"/>
          </a:xfrm>
        </p:spPr>
        <p:txBody>
          <a:bodyPr>
            <a:normAutofit/>
          </a:bodyPr>
          <a:lstStyle/>
          <a:p>
            <a:r>
              <a:rPr lang="en-US" altLang="en-US" dirty="0"/>
              <a:t>Audio resolution determines the accuracy with which sound can be digitized.</a:t>
            </a:r>
          </a:p>
          <a:p>
            <a:r>
              <a:rPr lang="en-US" dirty="0"/>
              <a:t>Audio resolution refers to the sample rate, the number of samples or measurements taken each second from a recording. The typical CD sample rate is 44.1KHz, or 44,100 samples per second. </a:t>
            </a:r>
          </a:p>
          <a:p>
            <a:r>
              <a:rPr lang="en-US" dirty="0"/>
              <a:t>Sample size are either 8bits or 16bits and 24bits The larger the sample size the better the date describes sound.(better quality).  The higher the sample rate the higher the sound quality the bigger the file size. Even for professional sounds the 44.KHz sample rate is still common.</a:t>
            </a:r>
          </a:p>
          <a:p>
            <a:r>
              <a:rPr lang="en-US" dirty="0"/>
              <a:t>For MP3format the Mp3 streaming bit rates and sample rate for stereo may range from 96–320 kbps/44.1–</a:t>
            </a:r>
            <a:r>
              <a:rPr lang="en-US" b="1" dirty="0"/>
              <a:t>48KHz</a:t>
            </a:r>
            <a:r>
              <a:rPr lang="en-US" dirty="0"/>
              <a:t>, the preferred bit rates are 128Kbps/44.1KHz, 96Kbps/44.1KHz. Recent MP3 rates are 320 kilobits/second. (do a personal research on this for further clarifications)</a:t>
            </a:r>
            <a:endParaRPr lang="en-US" altLang="en-US" dirty="0"/>
          </a:p>
          <a:p>
            <a:pPr marL="45720" indent="0">
              <a:buNone/>
            </a:pPr>
            <a:endParaRPr lang="en-US" altLang="en-US" dirty="0"/>
          </a:p>
          <a:p>
            <a:endParaRPr lang="en-US" dirty="0"/>
          </a:p>
        </p:txBody>
      </p:sp>
    </p:spTree>
    <p:extLst>
      <p:ext uri="{BB962C8B-B14F-4D97-AF65-F5344CB8AC3E}">
        <p14:creationId xmlns:p14="http://schemas.microsoft.com/office/powerpoint/2010/main" val="40997964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2B72B6-3512-4EF5-B1A5-36E7903EFDC6}"/>
              </a:ext>
            </a:extLst>
          </p:cNvPr>
          <p:cNvSpPr>
            <a:spLocks noGrp="1"/>
          </p:cNvSpPr>
          <p:nvPr>
            <p:ph type="title"/>
          </p:nvPr>
        </p:nvSpPr>
        <p:spPr>
          <a:xfrm>
            <a:off x="1275522" y="324678"/>
            <a:ext cx="9875520" cy="768626"/>
          </a:xfrm>
        </p:spPr>
        <p:txBody>
          <a:bodyPr/>
          <a:lstStyle/>
          <a:p>
            <a:r>
              <a:rPr lang="en-US" dirty="0"/>
              <a:t>MIDI Audio</a:t>
            </a:r>
          </a:p>
        </p:txBody>
      </p:sp>
      <p:sp>
        <p:nvSpPr>
          <p:cNvPr id="3" name="Content Placeholder 2">
            <a:extLst>
              <a:ext uri="{FF2B5EF4-FFF2-40B4-BE49-F238E27FC236}">
                <a16:creationId xmlns:a16="http://schemas.microsoft.com/office/drawing/2014/main" id="{9A944144-B321-44FD-9458-59F6F838CA6E}"/>
              </a:ext>
            </a:extLst>
          </p:cNvPr>
          <p:cNvSpPr>
            <a:spLocks noGrp="1"/>
          </p:cNvSpPr>
          <p:nvPr>
            <p:ph idx="1"/>
          </p:nvPr>
        </p:nvSpPr>
        <p:spPr>
          <a:xfrm>
            <a:off x="265043" y="1205948"/>
            <a:ext cx="11675165" cy="5327374"/>
          </a:xfrm>
        </p:spPr>
        <p:txBody>
          <a:bodyPr>
            <a:normAutofit/>
          </a:bodyPr>
          <a:lstStyle/>
          <a:p>
            <a:r>
              <a:rPr lang="en-US" b="1" dirty="0"/>
              <a:t>MIDI</a:t>
            </a:r>
            <a:r>
              <a:rPr lang="en-US" dirty="0"/>
              <a:t> (Musical Instrument Digital Interface) is a protocol designed for recording and playing back music on digital synthesizers that is supported by many makes of personal computer </a:t>
            </a:r>
            <a:r>
              <a:rPr lang="en-US" b="1" dirty="0"/>
              <a:t>sound</a:t>
            </a:r>
            <a:r>
              <a:rPr lang="en-US" dirty="0"/>
              <a:t> cards. With a program that provides this interface, you can create music using a standard keyboard or other input device. </a:t>
            </a:r>
          </a:p>
          <a:p>
            <a:r>
              <a:rPr lang="en-US" dirty="0"/>
              <a:t>A </a:t>
            </a:r>
            <a:r>
              <a:rPr lang="en-US" b="1" dirty="0"/>
              <a:t>MIDI</a:t>
            </a:r>
            <a:r>
              <a:rPr lang="en-US" dirty="0"/>
              <a:t> signal is normally generated by a keyboard, and it contains information about which keys are being pressed. The </a:t>
            </a:r>
            <a:r>
              <a:rPr lang="en-US" b="1" dirty="0"/>
              <a:t>MIDI </a:t>
            </a:r>
            <a:r>
              <a:rPr lang="en-US" dirty="0"/>
              <a:t>signal can be recorded on a </a:t>
            </a:r>
            <a:r>
              <a:rPr lang="en-US" b="1" dirty="0"/>
              <a:t>MIDI</a:t>
            </a:r>
            <a:r>
              <a:rPr lang="en-US" dirty="0"/>
              <a:t> track </a:t>
            </a:r>
            <a:r>
              <a:rPr lang="en-US" b="1" dirty="0"/>
              <a:t>of</a:t>
            </a:r>
            <a:r>
              <a:rPr lang="en-US" dirty="0"/>
              <a:t> a digital </a:t>
            </a:r>
            <a:r>
              <a:rPr lang="en-US" b="1" dirty="0"/>
              <a:t>audio</a:t>
            </a:r>
            <a:r>
              <a:rPr lang="en-US" dirty="0"/>
              <a:t> workstation. (commonly used in music studios)</a:t>
            </a:r>
          </a:p>
          <a:p>
            <a:r>
              <a:rPr lang="en-US" dirty="0"/>
              <a:t>A </a:t>
            </a:r>
            <a:r>
              <a:rPr lang="en-US" b="1" dirty="0"/>
              <a:t>MIDI</a:t>
            </a:r>
            <a:r>
              <a:rPr lang="en-US" dirty="0"/>
              <a:t> file </a:t>
            </a:r>
            <a:r>
              <a:rPr lang="en-US" b="1" dirty="0"/>
              <a:t>does</a:t>
            </a:r>
            <a:r>
              <a:rPr lang="en-US" dirty="0"/>
              <a:t> not contain an audio recording in the same way an Mp3 or WAV file </a:t>
            </a:r>
            <a:r>
              <a:rPr lang="en-US" b="1" dirty="0"/>
              <a:t>does</a:t>
            </a:r>
            <a:r>
              <a:rPr lang="en-US" dirty="0"/>
              <a:t>. It contains a set of instructions telling a computer or hardware sequencer how to play it. Therefore, the </a:t>
            </a:r>
            <a:r>
              <a:rPr lang="en-US" b="1" dirty="0"/>
              <a:t>MIDI</a:t>
            </a:r>
            <a:r>
              <a:rPr lang="en-US" dirty="0"/>
              <a:t> file will not </a:t>
            </a:r>
            <a:r>
              <a:rPr lang="en-US" b="1" dirty="0"/>
              <a:t>sound</a:t>
            </a:r>
            <a:r>
              <a:rPr lang="en-US" dirty="0"/>
              <a:t> anything like an Mp3 track, and may even </a:t>
            </a:r>
            <a:r>
              <a:rPr lang="en-US" b="1" dirty="0"/>
              <a:t>sound</a:t>
            </a:r>
            <a:r>
              <a:rPr lang="en-US" dirty="0"/>
              <a:t> quite </a:t>
            </a:r>
            <a:r>
              <a:rPr lang="en-US" b="1" dirty="0"/>
              <a:t>different</a:t>
            </a:r>
            <a:r>
              <a:rPr lang="en-US" dirty="0"/>
              <a:t> when played on </a:t>
            </a:r>
            <a:r>
              <a:rPr lang="en-US" b="1" dirty="0"/>
              <a:t>different</a:t>
            </a:r>
            <a:r>
              <a:rPr lang="en-US" dirty="0"/>
              <a:t> devices. Think of MIDI as similar to vector graphics.</a:t>
            </a:r>
          </a:p>
          <a:p>
            <a:r>
              <a:rPr lang="en-US" dirty="0"/>
              <a:t>A MIDI instrument contains ports to send and receive MIDI signals, a CPU to process those signals, an interface that allows user programming, audio circuitry to generate </a:t>
            </a:r>
            <a:r>
              <a:rPr lang="en-US" b="1" dirty="0"/>
              <a:t>sound</a:t>
            </a:r>
            <a:r>
              <a:rPr lang="en-US" dirty="0"/>
              <a:t>, and controllers.</a:t>
            </a:r>
          </a:p>
          <a:p>
            <a:pPr marL="45720" indent="0">
              <a:buNone/>
            </a:pPr>
            <a:endParaRPr lang="en-US" dirty="0"/>
          </a:p>
        </p:txBody>
      </p:sp>
    </p:spTree>
    <p:extLst>
      <p:ext uri="{BB962C8B-B14F-4D97-AF65-F5344CB8AC3E}">
        <p14:creationId xmlns:p14="http://schemas.microsoft.com/office/powerpoint/2010/main" val="12115859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331488-DD72-4B5E-B647-0B3A60323943}"/>
              </a:ext>
            </a:extLst>
          </p:cNvPr>
          <p:cNvSpPr>
            <a:spLocks noGrp="1"/>
          </p:cNvSpPr>
          <p:nvPr>
            <p:ph type="title"/>
          </p:nvPr>
        </p:nvSpPr>
        <p:spPr/>
        <p:txBody>
          <a:bodyPr/>
          <a:lstStyle/>
          <a:p>
            <a:r>
              <a:rPr lang="en-US" dirty="0"/>
              <a:t>MIDI audio continued</a:t>
            </a:r>
          </a:p>
        </p:txBody>
      </p:sp>
      <p:sp>
        <p:nvSpPr>
          <p:cNvPr id="3" name="Content Placeholder 2">
            <a:extLst>
              <a:ext uri="{FF2B5EF4-FFF2-40B4-BE49-F238E27FC236}">
                <a16:creationId xmlns:a16="http://schemas.microsoft.com/office/drawing/2014/main" id="{853C0487-4C42-4308-971A-356F37DBE54A}"/>
              </a:ext>
            </a:extLst>
          </p:cNvPr>
          <p:cNvSpPr>
            <a:spLocks noGrp="1"/>
          </p:cNvSpPr>
          <p:nvPr>
            <p:ph idx="1"/>
          </p:nvPr>
        </p:nvSpPr>
        <p:spPr>
          <a:xfrm>
            <a:off x="636104" y="1709529"/>
            <a:ext cx="11025809" cy="4731028"/>
          </a:xfrm>
        </p:spPr>
        <p:txBody>
          <a:bodyPr>
            <a:normAutofit/>
          </a:bodyPr>
          <a:lstStyle/>
          <a:p>
            <a:r>
              <a:rPr lang="en-US" altLang="en-US" dirty="0"/>
              <a:t>MIDI is device dependent. Playback will be accurate if playback device matched the  file production device properties. Midi sends events data signals and computational devices interprets the signals electronically producing sound to the speaker.</a:t>
            </a:r>
          </a:p>
          <a:p>
            <a:r>
              <a:rPr lang="en-US" dirty="0"/>
              <a:t>Basically MIDI audio is a numerically generated type of audio just like vector graphics and think of digital audio as bitmaps. </a:t>
            </a:r>
            <a:r>
              <a:rPr lang="en-US" altLang="en-US" dirty="0"/>
              <a:t>Or MIDI is a shorthand representation of music stored in numeric form.</a:t>
            </a:r>
          </a:p>
          <a:p>
            <a:r>
              <a:rPr lang="en-US" altLang="en-US" dirty="0"/>
              <a:t>MIDI files are small in size and, when embedded in web pages load and play promptly.</a:t>
            </a:r>
          </a:p>
          <a:p>
            <a:r>
              <a:rPr lang="en-US" altLang="en-US" dirty="0"/>
              <a:t>Length of a MIDI file can be changed without affecting the pitch of the music or degrading audio quality. In music recording MIDI data will be represented with bars common in most audio recording software like </a:t>
            </a:r>
            <a:r>
              <a:rPr lang="en-US" altLang="en-US" dirty="0" err="1"/>
              <a:t>FLStudio</a:t>
            </a:r>
            <a:r>
              <a:rPr lang="en-US" altLang="en-US" dirty="0"/>
              <a:t>. The bars can be extended trimmed, adjust tempo change pitch on just one section etc. without affecting the quality of the audio.</a:t>
            </a:r>
          </a:p>
          <a:p>
            <a:r>
              <a:rPr lang="en-US" altLang="en-US" dirty="0"/>
              <a:t>Working with MIDI requires knowledge of music theory.</a:t>
            </a:r>
          </a:p>
          <a:p>
            <a:endParaRPr lang="en-US" altLang="en-US" dirty="0"/>
          </a:p>
          <a:p>
            <a:endParaRPr lang="en-US" altLang="en-US" dirty="0"/>
          </a:p>
          <a:p>
            <a:endParaRPr lang="en-US" altLang="en-US" dirty="0"/>
          </a:p>
          <a:p>
            <a:endParaRPr lang="en-US" dirty="0"/>
          </a:p>
        </p:txBody>
      </p:sp>
    </p:spTree>
    <p:extLst>
      <p:ext uri="{BB962C8B-B14F-4D97-AF65-F5344CB8AC3E}">
        <p14:creationId xmlns:p14="http://schemas.microsoft.com/office/powerpoint/2010/main" val="42370594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9613C-6879-4A5C-86AF-F60A44B15340}"/>
              </a:ext>
            </a:extLst>
          </p:cNvPr>
          <p:cNvSpPr>
            <a:spLocks noGrp="1"/>
          </p:cNvSpPr>
          <p:nvPr>
            <p:ph type="title"/>
          </p:nvPr>
        </p:nvSpPr>
        <p:spPr/>
        <p:txBody>
          <a:bodyPr/>
          <a:lstStyle/>
          <a:p>
            <a:r>
              <a:rPr lang="en-US" dirty="0"/>
              <a:t>MIDI vs Digital Audio</a:t>
            </a:r>
          </a:p>
        </p:txBody>
      </p:sp>
      <p:sp>
        <p:nvSpPr>
          <p:cNvPr id="3" name="Content Placeholder 2">
            <a:extLst>
              <a:ext uri="{FF2B5EF4-FFF2-40B4-BE49-F238E27FC236}">
                <a16:creationId xmlns:a16="http://schemas.microsoft.com/office/drawing/2014/main" id="{78474351-E568-44D3-B12D-C822DB752356}"/>
              </a:ext>
            </a:extLst>
          </p:cNvPr>
          <p:cNvSpPr>
            <a:spLocks noGrp="1"/>
          </p:cNvSpPr>
          <p:nvPr>
            <p:ph idx="1"/>
          </p:nvPr>
        </p:nvSpPr>
        <p:spPr>
          <a:xfrm>
            <a:off x="583096" y="1789043"/>
            <a:ext cx="10946295" cy="4459357"/>
          </a:xfrm>
        </p:spPr>
        <p:txBody>
          <a:bodyPr>
            <a:normAutofit/>
          </a:bodyPr>
          <a:lstStyle/>
          <a:p>
            <a:pPr>
              <a:lnSpc>
                <a:spcPct val="190000"/>
              </a:lnSpc>
            </a:pPr>
            <a:r>
              <a:rPr lang="en-US" altLang="en-US" dirty="0"/>
              <a:t>MIDI is analogous (similar) to structured or vector graphics, while digitized audio is analogous to bitmapped images.</a:t>
            </a:r>
          </a:p>
          <a:p>
            <a:pPr>
              <a:lnSpc>
                <a:spcPct val="190000"/>
              </a:lnSpc>
            </a:pPr>
            <a:r>
              <a:rPr lang="en-US" altLang="en-US" dirty="0"/>
              <a:t>MIDI is device dependent while digitized audio is device independent.</a:t>
            </a:r>
          </a:p>
          <a:p>
            <a:pPr>
              <a:lnSpc>
                <a:spcPct val="190000"/>
              </a:lnSpc>
            </a:pPr>
            <a:r>
              <a:rPr lang="en-US" altLang="en-US" dirty="0"/>
              <a:t>MIDI files are much smaller than digitized audio.</a:t>
            </a:r>
          </a:p>
          <a:p>
            <a:pPr>
              <a:lnSpc>
                <a:spcPct val="190000"/>
              </a:lnSpc>
            </a:pPr>
            <a:r>
              <a:rPr lang="en-US" altLang="en-US" dirty="0"/>
              <a:t>MIDI files sound better than digital audio files when played on a high-quality MIDI device.</a:t>
            </a:r>
          </a:p>
          <a:p>
            <a:endParaRPr lang="en-US" dirty="0"/>
          </a:p>
        </p:txBody>
      </p:sp>
    </p:spTree>
    <p:extLst>
      <p:ext uri="{BB962C8B-B14F-4D97-AF65-F5344CB8AC3E}">
        <p14:creationId xmlns:p14="http://schemas.microsoft.com/office/powerpoint/2010/main" val="39058893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0D7E05-68B8-475E-AA7B-355A6609EB53}"/>
              </a:ext>
            </a:extLst>
          </p:cNvPr>
          <p:cNvSpPr>
            <a:spLocks noGrp="1"/>
          </p:cNvSpPr>
          <p:nvPr>
            <p:ph type="title"/>
          </p:nvPr>
        </p:nvSpPr>
        <p:spPr/>
        <p:txBody>
          <a:bodyPr/>
          <a:lstStyle/>
          <a:p>
            <a:r>
              <a:rPr lang="en-US" dirty="0"/>
              <a:t>MIDI vs Digital Audio</a:t>
            </a:r>
          </a:p>
        </p:txBody>
      </p:sp>
      <p:sp>
        <p:nvSpPr>
          <p:cNvPr id="3" name="Content Placeholder 2">
            <a:extLst>
              <a:ext uri="{FF2B5EF4-FFF2-40B4-BE49-F238E27FC236}">
                <a16:creationId xmlns:a16="http://schemas.microsoft.com/office/drawing/2014/main" id="{F71AB1FE-740C-46CF-8785-949D531DDDF3}"/>
              </a:ext>
            </a:extLst>
          </p:cNvPr>
          <p:cNvSpPr>
            <a:spLocks noGrp="1"/>
          </p:cNvSpPr>
          <p:nvPr>
            <p:ph idx="1"/>
          </p:nvPr>
        </p:nvSpPr>
        <p:spPr>
          <a:xfrm>
            <a:off x="1143000" y="2057400"/>
            <a:ext cx="9872871" cy="3495261"/>
          </a:xfrm>
        </p:spPr>
        <p:txBody>
          <a:bodyPr>
            <a:normAutofit/>
          </a:bodyPr>
          <a:lstStyle/>
          <a:p>
            <a:r>
              <a:rPr lang="en-US" altLang="en-US" dirty="0"/>
              <a:t>With MIDI, it is difficult to playback spoken dialog (as its an electronically generated sound and not recorded), while digitized audio can do so with ease.</a:t>
            </a:r>
          </a:p>
          <a:p>
            <a:r>
              <a:rPr lang="en-US" altLang="en-US" dirty="0"/>
              <a:t>MIDI records events data while digital audio records wave data.</a:t>
            </a:r>
          </a:p>
          <a:p>
            <a:r>
              <a:rPr lang="en-US" altLang="en-US" dirty="0"/>
              <a:t>One requires knowledge of music theory in order to run MIDI, while digital audio does not have this requirement.</a:t>
            </a:r>
          </a:p>
          <a:p>
            <a:r>
              <a:rPr lang="en-US" altLang="en-US" dirty="0"/>
              <a:t>Digital is often used in multimedia projects than MIDI</a:t>
            </a:r>
          </a:p>
          <a:p>
            <a:r>
              <a:rPr lang="en-US" altLang="en-US" dirty="0"/>
              <a:t>Digital audio requires more RAM and hard disk space to store or play audio while MIDI </a:t>
            </a:r>
          </a:p>
          <a:p>
            <a:endParaRPr lang="en-US" dirty="0"/>
          </a:p>
        </p:txBody>
      </p:sp>
    </p:spTree>
    <p:extLst>
      <p:ext uri="{BB962C8B-B14F-4D97-AF65-F5344CB8AC3E}">
        <p14:creationId xmlns:p14="http://schemas.microsoft.com/office/powerpoint/2010/main" val="34295835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6D1AAD-896E-4002-96C6-BD0B7C8B6609}"/>
              </a:ext>
            </a:extLst>
          </p:cNvPr>
          <p:cNvSpPr>
            <a:spLocks noGrp="1"/>
          </p:cNvSpPr>
          <p:nvPr>
            <p:ph type="title"/>
          </p:nvPr>
        </p:nvSpPr>
        <p:spPr/>
        <p:txBody>
          <a:bodyPr/>
          <a:lstStyle/>
          <a:p>
            <a:r>
              <a:rPr lang="en-US" dirty="0"/>
              <a:t>Mono and stereo audio sounds</a:t>
            </a:r>
          </a:p>
        </p:txBody>
      </p:sp>
      <p:sp>
        <p:nvSpPr>
          <p:cNvPr id="3" name="Content Placeholder 2">
            <a:extLst>
              <a:ext uri="{FF2B5EF4-FFF2-40B4-BE49-F238E27FC236}">
                <a16:creationId xmlns:a16="http://schemas.microsoft.com/office/drawing/2014/main" id="{31CCC234-73BF-4890-A5BD-50980883131C}"/>
              </a:ext>
            </a:extLst>
          </p:cNvPr>
          <p:cNvSpPr>
            <a:spLocks noGrp="1"/>
          </p:cNvSpPr>
          <p:nvPr>
            <p:ph idx="1"/>
          </p:nvPr>
        </p:nvSpPr>
        <p:spPr>
          <a:xfrm>
            <a:off x="278296" y="1749286"/>
            <a:ext cx="11635407" cy="4837043"/>
          </a:xfrm>
        </p:spPr>
        <p:txBody>
          <a:bodyPr>
            <a:normAutofit/>
          </a:bodyPr>
          <a:lstStyle/>
          <a:p>
            <a:r>
              <a:rPr lang="en-US" dirty="0"/>
              <a:t>Mono </a:t>
            </a:r>
          </a:p>
          <a:p>
            <a:pPr lvl="1"/>
            <a:r>
              <a:rPr lang="en-US" dirty="0"/>
              <a:t>or monophonic describes a system where all the audio signals are mixed together and routed through a single audio channel. A signal channel can be an audio communication medium. Or in other words a representation of sound coming from or going to a single point.</a:t>
            </a:r>
          </a:p>
          <a:p>
            <a:pPr lvl="1"/>
            <a:r>
              <a:rPr lang="en-US" dirty="0"/>
              <a:t>Mono systems can have multiple loudspeakers, and even multiple widely separated loudspeakers. The key is that the signal contains no level and arrival time/phase information that would replicate or simulate directional cues. This being the case all the speaker will play the same exact audio at the same time and the audio may sound flat.</a:t>
            </a:r>
          </a:p>
          <a:p>
            <a:r>
              <a:rPr lang="en-US" dirty="0"/>
              <a:t>Stereo</a:t>
            </a:r>
          </a:p>
          <a:p>
            <a:pPr lvl="1"/>
            <a:r>
              <a:rPr lang="en-US" dirty="0"/>
              <a:t>True stereophonic sound systems have two independent audio signal channels, and the signals that are reproduced have a specific level and phase relationship to each other so that when played back through a suitable reproduction system, there will be an apparent image of the original sound source.  Stereo mics might have 2 physical mics inside, one pointing to the  left and another to the right.</a:t>
            </a:r>
          </a:p>
          <a:p>
            <a:pPr lvl="1"/>
            <a:r>
              <a:rPr lang="en-US" dirty="0"/>
              <a:t>Stereo would be a requirement if there is a need to replicate the aural perspective and localization of instruments on a stage or platform, a very common requirement in performing arts centers.</a:t>
            </a:r>
          </a:p>
        </p:txBody>
      </p:sp>
    </p:spTree>
    <p:extLst>
      <p:ext uri="{BB962C8B-B14F-4D97-AF65-F5344CB8AC3E}">
        <p14:creationId xmlns:p14="http://schemas.microsoft.com/office/powerpoint/2010/main" val="19255750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23C17-1E9E-464C-87D0-622FF09A7E08}"/>
              </a:ext>
            </a:extLst>
          </p:cNvPr>
          <p:cNvSpPr>
            <a:spLocks noGrp="1"/>
          </p:cNvSpPr>
          <p:nvPr>
            <p:ph type="title"/>
          </p:nvPr>
        </p:nvSpPr>
        <p:spPr/>
        <p:txBody>
          <a:bodyPr/>
          <a:lstStyle/>
          <a:p>
            <a:r>
              <a:rPr lang="en-US" dirty="0"/>
              <a:t>When to use mono or stereo</a:t>
            </a:r>
          </a:p>
        </p:txBody>
      </p:sp>
      <p:sp>
        <p:nvSpPr>
          <p:cNvPr id="3" name="Content Placeholder 2">
            <a:extLst>
              <a:ext uri="{FF2B5EF4-FFF2-40B4-BE49-F238E27FC236}">
                <a16:creationId xmlns:a16="http://schemas.microsoft.com/office/drawing/2014/main" id="{01A462D7-1D44-4E23-90C9-8E3865B90043}"/>
              </a:ext>
            </a:extLst>
          </p:cNvPr>
          <p:cNvSpPr>
            <a:spLocks noGrp="1"/>
          </p:cNvSpPr>
          <p:nvPr>
            <p:ph idx="1"/>
          </p:nvPr>
        </p:nvSpPr>
        <p:spPr/>
        <p:txBody>
          <a:bodyPr/>
          <a:lstStyle/>
          <a:p>
            <a:r>
              <a:rPr lang="en-US" dirty="0"/>
              <a:t>The big advantage to mono is that everyone hears the very same signal, and, in properly designed systems, all listeners would hear the system at essentially the same sound level. </a:t>
            </a:r>
          </a:p>
          <a:p>
            <a:r>
              <a:rPr lang="en-US" dirty="0"/>
              <a:t>This makes well-designed mono systems very well suited for speech reinforcement as they can provide excellent speech intelligibility.</a:t>
            </a:r>
          </a:p>
          <a:p>
            <a:r>
              <a:rPr lang="en-US" dirty="0"/>
              <a:t>Stereo is usually common for music and or audio that will require a high sense of clarity and not flat sound.</a:t>
            </a:r>
          </a:p>
          <a:p>
            <a:r>
              <a:rPr lang="en-US" dirty="0"/>
              <a:t>2 speakers in a stereo mode one can play for instance the base and drum plus lead guitar the other can play voice piano and violin due to the harmonization of the sound both ears might hear a beautiful symphony of higher clarity </a:t>
            </a:r>
          </a:p>
        </p:txBody>
      </p:sp>
    </p:spTree>
    <p:extLst>
      <p:ext uri="{BB962C8B-B14F-4D97-AF65-F5344CB8AC3E}">
        <p14:creationId xmlns:p14="http://schemas.microsoft.com/office/powerpoint/2010/main" val="27671500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46B13-5BF3-4817-822D-06384DC7A5EB}"/>
              </a:ext>
            </a:extLst>
          </p:cNvPr>
          <p:cNvSpPr>
            <a:spLocks noGrp="1"/>
          </p:cNvSpPr>
          <p:nvPr>
            <p:ph type="title"/>
          </p:nvPr>
        </p:nvSpPr>
        <p:spPr>
          <a:xfrm>
            <a:off x="970722" y="337930"/>
            <a:ext cx="9875520" cy="848139"/>
          </a:xfrm>
        </p:spPr>
        <p:txBody>
          <a:bodyPr/>
          <a:lstStyle/>
          <a:p>
            <a:r>
              <a:rPr lang="en-US" dirty="0"/>
              <a:t>Adding sound to multimedia projects</a:t>
            </a:r>
          </a:p>
        </p:txBody>
      </p:sp>
      <p:sp>
        <p:nvSpPr>
          <p:cNvPr id="3" name="Content Placeholder 2">
            <a:extLst>
              <a:ext uri="{FF2B5EF4-FFF2-40B4-BE49-F238E27FC236}">
                <a16:creationId xmlns:a16="http://schemas.microsoft.com/office/drawing/2014/main" id="{6B864A59-0D96-441C-87A8-469AC97BCADC}"/>
              </a:ext>
            </a:extLst>
          </p:cNvPr>
          <p:cNvSpPr>
            <a:spLocks noGrp="1"/>
          </p:cNvSpPr>
          <p:nvPr>
            <p:ph idx="1"/>
          </p:nvPr>
        </p:nvSpPr>
        <p:spPr>
          <a:xfrm>
            <a:off x="357810" y="1510748"/>
            <a:ext cx="11529390" cy="4585252"/>
          </a:xfrm>
        </p:spPr>
        <p:txBody>
          <a:bodyPr>
            <a:normAutofit lnSpcReduction="10000"/>
          </a:bodyPr>
          <a:lstStyle/>
          <a:p>
            <a:r>
              <a:rPr lang="en-US" altLang="en-US" dirty="0"/>
              <a:t>File formats compatible with multimedia authoring software being used along with delivery mediums, must be determined.</a:t>
            </a:r>
          </a:p>
          <a:p>
            <a:r>
              <a:rPr lang="en-US" altLang="en-US" dirty="0"/>
              <a:t>Sound playback capabilities offered by end user’s system must be studied. (</a:t>
            </a:r>
            <a:r>
              <a:rPr lang="en-US" altLang="en-US" dirty="0" err="1"/>
              <a:t>eg</a:t>
            </a:r>
            <a:r>
              <a:rPr lang="en-US" altLang="en-US" dirty="0"/>
              <a:t> will the project be played on </a:t>
            </a:r>
            <a:r>
              <a:rPr lang="en-US" altLang="en-US" dirty="0" err="1"/>
              <a:t>dvd</a:t>
            </a:r>
            <a:r>
              <a:rPr lang="en-US" altLang="en-US" dirty="0"/>
              <a:t> player?, on the web or computer etc.)</a:t>
            </a:r>
          </a:p>
          <a:p>
            <a:r>
              <a:rPr lang="en-US" altLang="en-US" dirty="0"/>
              <a:t>The type of sound, whether background music, special sound effects, or spoken dialog, must be decided.</a:t>
            </a:r>
          </a:p>
          <a:p>
            <a:r>
              <a:rPr lang="en-US" altLang="en-US" dirty="0"/>
              <a:t>Digital audio or MIDI data should be selected on the basis of the location and time of use.</a:t>
            </a:r>
          </a:p>
          <a:p>
            <a:r>
              <a:rPr lang="en-US" altLang="en-US" dirty="0"/>
              <a:t>The equipment and standards used for the project must be in accordance with the requirements.</a:t>
            </a:r>
          </a:p>
          <a:p>
            <a:pPr>
              <a:lnSpc>
                <a:spcPct val="190000"/>
              </a:lnSpc>
            </a:pPr>
            <a:r>
              <a:rPr lang="en-US" altLang="en-US" dirty="0"/>
              <a:t>It is vital to maintain a high-quality database that stores the original sound material. Sound and image synchronization must be tested at regular intervals. </a:t>
            </a:r>
            <a:r>
              <a:rPr lang="en-US" altLang="en-US" dirty="0" err="1"/>
              <a:t>Eg</a:t>
            </a:r>
            <a:r>
              <a:rPr lang="en-US" altLang="en-US" dirty="0"/>
              <a:t> lip sinking in case of a music video</a:t>
            </a:r>
          </a:p>
          <a:p>
            <a:endParaRPr lang="en-US" altLang="en-US" dirty="0"/>
          </a:p>
          <a:p>
            <a:endParaRPr lang="en-US" altLang="en-US" dirty="0"/>
          </a:p>
          <a:p>
            <a:endParaRPr lang="en-US" dirty="0"/>
          </a:p>
        </p:txBody>
      </p:sp>
    </p:spTree>
    <p:extLst>
      <p:ext uri="{BB962C8B-B14F-4D97-AF65-F5344CB8AC3E}">
        <p14:creationId xmlns:p14="http://schemas.microsoft.com/office/powerpoint/2010/main" val="18354458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AF6DD-AECF-4FC5-94F2-A4CCA59FC5A4}"/>
              </a:ext>
            </a:extLst>
          </p:cNvPr>
          <p:cNvSpPr>
            <a:spLocks noGrp="1"/>
          </p:cNvSpPr>
          <p:nvPr>
            <p:ph type="title"/>
          </p:nvPr>
        </p:nvSpPr>
        <p:spPr/>
        <p:txBody>
          <a:bodyPr/>
          <a:lstStyle/>
          <a:p>
            <a:r>
              <a:rPr lang="en-US" dirty="0"/>
              <a:t>Midi examples</a:t>
            </a:r>
          </a:p>
        </p:txBody>
      </p:sp>
      <p:sp>
        <p:nvSpPr>
          <p:cNvPr id="3" name="Content Placeholder 2">
            <a:extLst>
              <a:ext uri="{FF2B5EF4-FFF2-40B4-BE49-F238E27FC236}">
                <a16:creationId xmlns:a16="http://schemas.microsoft.com/office/drawing/2014/main" id="{91763CD3-AA40-46A2-93C7-DD226718609E}"/>
              </a:ext>
            </a:extLst>
          </p:cNvPr>
          <p:cNvSpPr>
            <a:spLocks noGrp="1"/>
          </p:cNvSpPr>
          <p:nvPr>
            <p:ph idx="1"/>
          </p:nvPr>
        </p:nvSpPr>
        <p:spPr/>
        <p:txBody>
          <a:bodyPr/>
          <a:lstStyle/>
          <a:p>
            <a:r>
              <a:rPr lang="en-US" dirty="0">
                <a:hlinkClick r:id="rId2" action="ppaction://hlinkfile"/>
              </a:rPr>
              <a:t>Example</a:t>
            </a:r>
            <a:endParaRPr lang="en-US" dirty="0"/>
          </a:p>
          <a:p>
            <a:r>
              <a:rPr lang="en-US" dirty="0">
                <a:hlinkClick r:id="rId3" action="ppaction://hlinkfile"/>
              </a:rPr>
              <a:t>example</a:t>
            </a:r>
            <a:r>
              <a:rPr lang="en-US" dirty="0"/>
              <a:t>2</a:t>
            </a:r>
          </a:p>
        </p:txBody>
      </p:sp>
    </p:spTree>
    <p:extLst>
      <p:ext uri="{BB962C8B-B14F-4D97-AF65-F5344CB8AC3E}">
        <p14:creationId xmlns:p14="http://schemas.microsoft.com/office/powerpoint/2010/main" val="20707418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841E1B-8346-4B9E-85FC-96559A38BF30}"/>
              </a:ext>
            </a:extLst>
          </p:cNvPr>
          <p:cNvSpPr>
            <a:spLocks noGrp="1"/>
          </p:cNvSpPr>
          <p:nvPr>
            <p:ph type="title"/>
          </p:nvPr>
        </p:nvSpPr>
        <p:spPr/>
        <p:txBody>
          <a:bodyPr/>
          <a:lstStyle/>
          <a:p>
            <a:r>
              <a:rPr lang="en-US" dirty="0"/>
              <a:t>End of presentation</a:t>
            </a:r>
          </a:p>
        </p:txBody>
      </p:sp>
      <p:sp>
        <p:nvSpPr>
          <p:cNvPr id="3" name="Content Placeholder 2">
            <a:extLst>
              <a:ext uri="{FF2B5EF4-FFF2-40B4-BE49-F238E27FC236}">
                <a16:creationId xmlns:a16="http://schemas.microsoft.com/office/drawing/2014/main" id="{555114F9-CB73-4617-AF64-86FD85E0EA2D}"/>
              </a:ext>
            </a:extLst>
          </p:cNvPr>
          <p:cNvSpPr>
            <a:spLocks noGrp="1"/>
          </p:cNvSpPr>
          <p:nvPr>
            <p:ph idx="1"/>
          </p:nvPr>
        </p:nvSpPr>
        <p:spPr/>
        <p:txBody>
          <a:bodyPr/>
          <a:lstStyle/>
          <a:p>
            <a:r>
              <a:rPr lang="en-US" dirty="0"/>
              <a:t>References</a:t>
            </a:r>
          </a:p>
          <a:p>
            <a:pPr lvl="1"/>
            <a:r>
              <a:rPr lang="en-US" dirty="0"/>
              <a:t>System Design group [2015] </a:t>
            </a:r>
            <a:r>
              <a:rPr lang="en-US" dirty="0" err="1"/>
              <a:t>mcsquared</a:t>
            </a:r>
            <a:r>
              <a:rPr lang="en-US" dirty="0"/>
              <a:t> [online] available at </a:t>
            </a:r>
            <a:r>
              <a:rPr lang="en-US" dirty="0">
                <a:hlinkClick r:id="rId2"/>
              </a:rPr>
              <a:t>http://www.mcsquared.com/mono-stereo.htm</a:t>
            </a:r>
            <a:r>
              <a:rPr lang="en-US" dirty="0"/>
              <a:t> Accessed on [2/6/2019]</a:t>
            </a:r>
          </a:p>
          <a:p>
            <a:pPr lvl="1"/>
            <a:endParaRPr lang="en-US" dirty="0"/>
          </a:p>
        </p:txBody>
      </p:sp>
    </p:spTree>
    <p:extLst>
      <p:ext uri="{BB962C8B-B14F-4D97-AF65-F5344CB8AC3E}">
        <p14:creationId xmlns:p14="http://schemas.microsoft.com/office/powerpoint/2010/main" val="748583365"/>
      </p:ext>
    </p:extLst>
  </p:cSld>
  <p:clrMapOvr>
    <a:masterClrMapping/>
  </p:clrMapOvr>
</p:sld>
</file>

<file path=ppt/theme/theme1.xml><?xml version="1.0" encoding="utf-8"?>
<a:theme xmlns:a="http://schemas.openxmlformats.org/drawingml/2006/main" name="Basis">
  <a:themeElements>
    <a:clrScheme name="Basis">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is">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90E45F77-AEFC-46EF-A7C1-5B338C297B02}"/>
    </a:ext>
  </a:extLst>
</a:theme>
</file>

<file path=docProps/app.xml><?xml version="1.0" encoding="utf-8"?>
<Properties xmlns="http://schemas.openxmlformats.org/officeDocument/2006/extended-properties" xmlns:vt="http://schemas.openxmlformats.org/officeDocument/2006/docPropsVTypes">
  <Template>TM03457444[[fn=Basis]]</Template>
  <TotalTime>4432</TotalTime>
  <Words>1471</Words>
  <Application>Microsoft Office PowerPoint</Application>
  <PresentationFormat>Widescreen</PresentationFormat>
  <Paragraphs>121</Paragraphs>
  <Slides>22</Slides>
  <Notes>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22</vt:i4>
      </vt:variant>
    </vt:vector>
  </HeadingPairs>
  <TitlesOfParts>
    <vt:vector size="24" baseType="lpstr">
      <vt:lpstr>Corbel</vt:lpstr>
      <vt:lpstr>Basis</vt:lpstr>
      <vt:lpstr>Sound</vt:lpstr>
      <vt:lpstr>What is sound</vt:lpstr>
      <vt:lpstr>Sound waves vibrations</vt:lpstr>
      <vt:lpstr>Sound waves</vt:lpstr>
      <vt:lpstr>Sound waves continued</vt:lpstr>
      <vt:lpstr>Difference between soundwaves and water waves</vt:lpstr>
      <vt:lpstr>Sound waves effect on air</vt:lpstr>
      <vt:lpstr>Sound pressure</vt:lpstr>
      <vt:lpstr>Measuring sound Pressure (loudness) in dB</vt:lpstr>
      <vt:lpstr>Multimedia system sounds</vt:lpstr>
      <vt:lpstr>Digital sound</vt:lpstr>
      <vt:lpstr>Digital audio continued</vt:lpstr>
      <vt:lpstr>Digital audio common sample rates</vt:lpstr>
      <vt:lpstr>MIDI Audio</vt:lpstr>
      <vt:lpstr>MIDI audio continued</vt:lpstr>
      <vt:lpstr>MIDI vs Digital Audio</vt:lpstr>
      <vt:lpstr>MIDI vs Digital Audio</vt:lpstr>
      <vt:lpstr>Mono and stereo audio sounds</vt:lpstr>
      <vt:lpstr>When to use mono or stereo</vt:lpstr>
      <vt:lpstr>Adding sound to multimedia projects</vt:lpstr>
      <vt:lpstr>Midi examples</vt:lpstr>
      <vt:lpstr>End of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Sound</dc:title>
  <dc:creator>www.ibitconsult.com</dc:creator>
  <cp:lastModifiedBy>www.ibitconsult.com</cp:lastModifiedBy>
  <cp:revision>64</cp:revision>
  <dcterms:created xsi:type="dcterms:W3CDTF">2019-06-02T18:15:33Z</dcterms:created>
  <dcterms:modified xsi:type="dcterms:W3CDTF">2019-06-08T08:33:43Z</dcterms:modified>
</cp:coreProperties>
</file>