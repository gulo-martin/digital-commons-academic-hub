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746d42549d9247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746d42549d9247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47a881ef2f29858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47a881ef2f29858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00ecec6d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00ecec6d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00ecec6d0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00ecec6d0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0ecec6d0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0ecec6d0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47a881ef2f29858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47a881ef2f298586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D0D0D"/>
                </a:solidFill>
                <a:highlight>
                  <a:srgbClr val="FFFFFF"/>
                </a:highlight>
              </a:rPr>
              <a:t>If listing all the addressees in the heading of a memo looks unattractive, then after the guide word </a:t>
            </a:r>
            <a:r>
              <a:rPr i="1" lang="en" sz="1000">
                <a:solidFill>
                  <a:srgbClr val="0D0D0D"/>
                </a:solidFill>
                <a:highlight>
                  <a:srgbClr val="FFFFFF"/>
                </a:highlight>
              </a:rPr>
              <a:t>To </a:t>
            </a:r>
            <a:r>
              <a:rPr lang="en" sz="1000">
                <a:solidFill>
                  <a:srgbClr val="0D0D0D"/>
                </a:solidFill>
                <a:highlight>
                  <a:srgbClr val="FFFFFF"/>
                </a:highlight>
              </a:rPr>
              <a:t>type “As below or See Distribution below”. On your end of notation list down names of the individuals who are to receive a copy of the memo. Arrange the names either by rank or alphabetical order and type them blocked at the left margin.</a:t>
            </a:r>
            <a:endParaRPr sz="10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00ecec6d0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00ecec6d0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400"/>
              </a:spcBef>
              <a:spcAft>
                <a:spcPts val="0"/>
              </a:spcAft>
              <a:buClr>
                <a:schemeClr val="dk1"/>
              </a:buClr>
              <a:buSzPts val="1100"/>
              <a:buFont typeface="Arial"/>
              <a:buNone/>
            </a:pPr>
            <a:r>
              <a:rPr b="1" lang="en" sz="1050">
                <a:solidFill>
                  <a:srgbClr val="202122"/>
                </a:solidFill>
                <a:highlight>
                  <a:srgbClr val="FFFFFF"/>
                </a:highlight>
              </a:rPr>
              <a:t>p.p.</a:t>
            </a:r>
            <a:r>
              <a:rPr lang="en" sz="1050">
                <a:solidFill>
                  <a:srgbClr val="202122"/>
                </a:solidFill>
                <a:highlight>
                  <a:srgbClr val="FFFFFF"/>
                </a:highlight>
              </a:rPr>
              <a:t> </a:t>
            </a:r>
            <a:r>
              <a:rPr i="1" lang="en" sz="1050">
                <a:solidFill>
                  <a:srgbClr val="202122"/>
                </a:solidFill>
                <a:highlight>
                  <a:srgbClr val="FFFFFF"/>
                </a:highlight>
              </a:rPr>
              <a:t>Secretary's Signature</a:t>
            </a:r>
            <a:endParaRPr i="1" sz="1050">
              <a:solidFill>
                <a:srgbClr val="202122"/>
              </a:solidFill>
              <a:highlight>
                <a:srgbClr val="FFFFFF"/>
              </a:highlight>
            </a:endParaRPr>
          </a:p>
          <a:p>
            <a:pPr indent="0" lvl="0" marL="0" rtl="0" algn="l">
              <a:lnSpc>
                <a:spcPct val="115000"/>
              </a:lnSpc>
              <a:spcBef>
                <a:spcPts val="1300"/>
              </a:spcBef>
              <a:spcAft>
                <a:spcPts val="0"/>
              </a:spcAft>
              <a:buClr>
                <a:schemeClr val="dk1"/>
              </a:buClr>
              <a:buSzPts val="1100"/>
              <a:buFont typeface="Arial"/>
              <a:buNone/>
            </a:pPr>
            <a:r>
              <a:rPr lang="en" sz="1050">
                <a:solidFill>
                  <a:srgbClr val="202122"/>
                </a:solidFill>
                <a:highlight>
                  <a:srgbClr val="FFFFFF"/>
                </a:highlight>
              </a:rPr>
              <a:t>President's Name</a:t>
            </a:r>
            <a:endParaRPr sz="1050">
              <a:solidFill>
                <a:srgbClr val="202122"/>
              </a:solidFill>
              <a:highlight>
                <a:srgbClr val="FFFFFF"/>
              </a:highlight>
            </a:endParaRPr>
          </a:p>
          <a:p>
            <a:pPr indent="0" lvl="0" marL="0" rtl="0" algn="l">
              <a:lnSpc>
                <a:spcPct val="115000"/>
              </a:lnSpc>
              <a:spcBef>
                <a:spcPts val="1300"/>
              </a:spcBef>
              <a:spcAft>
                <a:spcPts val="0"/>
              </a:spcAft>
              <a:buClr>
                <a:schemeClr val="dk1"/>
              </a:buClr>
              <a:buSzPts val="1100"/>
              <a:buFont typeface="Arial"/>
              <a:buNone/>
            </a:pPr>
            <a:r>
              <a:rPr lang="en" sz="1050">
                <a:solidFill>
                  <a:srgbClr val="202122"/>
                </a:solidFill>
                <a:highlight>
                  <a:srgbClr val="FFFFFF"/>
                </a:highlight>
              </a:rPr>
              <a:t>or</a:t>
            </a:r>
            <a:endParaRPr sz="1050">
              <a:solidFill>
                <a:srgbClr val="202122"/>
              </a:solidFill>
              <a:highlight>
                <a:srgbClr val="FFFFFF"/>
              </a:highlight>
            </a:endParaRPr>
          </a:p>
          <a:p>
            <a:pPr indent="0" lvl="0" marL="0" rtl="0" algn="l">
              <a:lnSpc>
                <a:spcPct val="115000"/>
              </a:lnSpc>
              <a:spcBef>
                <a:spcPts val="500"/>
              </a:spcBef>
              <a:spcAft>
                <a:spcPts val="0"/>
              </a:spcAft>
              <a:buClr>
                <a:schemeClr val="dk1"/>
              </a:buClr>
              <a:buSzPts val="1100"/>
              <a:buFont typeface="Arial"/>
              <a:buNone/>
            </a:pPr>
            <a:r>
              <a:rPr lang="en" sz="1050">
                <a:solidFill>
                  <a:srgbClr val="202122"/>
                </a:solidFill>
                <a:highlight>
                  <a:srgbClr val="FFFFFF"/>
                </a:highlight>
              </a:rPr>
              <a:t>President's Name</a:t>
            </a:r>
            <a:endParaRPr sz="1050">
              <a:solidFill>
                <a:srgbClr val="202122"/>
              </a:solidFill>
              <a:highlight>
                <a:srgbClr val="FFFFFF"/>
              </a:highlight>
            </a:endParaRPr>
          </a:p>
          <a:p>
            <a:pPr indent="0" lvl="0" marL="0" rtl="0" algn="l">
              <a:lnSpc>
                <a:spcPct val="115000"/>
              </a:lnSpc>
              <a:spcBef>
                <a:spcPts val="1300"/>
              </a:spcBef>
              <a:spcAft>
                <a:spcPts val="0"/>
              </a:spcAft>
              <a:buClr>
                <a:schemeClr val="dk1"/>
              </a:buClr>
              <a:buSzPts val="1100"/>
              <a:buFont typeface="Arial"/>
              <a:buNone/>
            </a:pPr>
            <a:r>
              <a:rPr b="1" lang="en" sz="1050">
                <a:solidFill>
                  <a:srgbClr val="202122"/>
                </a:solidFill>
                <a:highlight>
                  <a:srgbClr val="FFFFFF"/>
                </a:highlight>
              </a:rPr>
              <a:t>p.p.</a:t>
            </a:r>
            <a:r>
              <a:rPr lang="en" sz="1050">
                <a:solidFill>
                  <a:srgbClr val="202122"/>
                </a:solidFill>
                <a:highlight>
                  <a:srgbClr val="FFFFFF"/>
                </a:highlight>
              </a:rPr>
              <a:t> </a:t>
            </a:r>
            <a:r>
              <a:rPr i="1" lang="en" sz="1050">
                <a:solidFill>
                  <a:srgbClr val="202122"/>
                </a:solidFill>
                <a:highlight>
                  <a:srgbClr val="FFFFFF"/>
                </a:highlight>
              </a:rPr>
              <a:t>Secretary's Signature</a:t>
            </a:r>
            <a:endParaRPr i="1" sz="1050">
              <a:solidFill>
                <a:srgbClr val="202122"/>
              </a:solidFill>
              <a:highlight>
                <a:srgbClr val="FFFFFF"/>
              </a:highlight>
            </a:endParaRPr>
          </a:p>
          <a:p>
            <a:pPr indent="0" lvl="0" marL="0" rtl="0" algn="l">
              <a:lnSpc>
                <a:spcPct val="115000"/>
              </a:lnSpc>
              <a:spcBef>
                <a:spcPts val="1300"/>
              </a:spcBef>
              <a:spcAft>
                <a:spcPts val="0"/>
              </a:spcAft>
              <a:buClr>
                <a:schemeClr val="dk1"/>
              </a:buClr>
              <a:buSzPts val="1100"/>
              <a:buFont typeface="Arial"/>
              <a:buNone/>
            </a:pPr>
            <a:r>
              <a:rPr lang="en" sz="1050">
                <a:solidFill>
                  <a:srgbClr val="202122"/>
                </a:solidFill>
                <a:highlight>
                  <a:srgbClr val="FFFFFF"/>
                </a:highlight>
              </a:rPr>
              <a:t>Commonly in practice, an alternative form is used:</a:t>
            </a:r>
            <a:endParaRPr sz="1050">
              <a:solidFill>
                <a:srgbClr val="202122"/>
              </a:solidFill>
              <a:highlight>
                <a:srgbClr val="FFFFFF"/>
              </a:highlight>
            </a:endParaRPr>
          </a:p>
          <a:p>
            <a:pPr indent="0" lvl="0" marL="0" rtl="0" algn="l">
              <a:lnSpc>
                <a:spcPct val="115000"/>
              </a:lnSpc>
              <a:spcBef>
                <a:spcPts val="500"/>
              </a:spcBef>
              <a:spcAft>
                <a:spcPts val="0"/>
              </a:spcAft>
              <a:buClr>
                <a:schemeClr val="dk1"/>
              </a:buClr>
              <a:buSzPts val="1100"/>
              <a:buFont typeface="Arial"/>
              <a:buNone/>
            </a:pPr>
            <a:r>
              <a:rPr i="1" lang="en" sz="1050">
                <a:solidFill>
                  <a:srgbClr val="202122"/>
                </a:solidFill>
                <a:highlight>
                  <a:srgbClr val="FFFFFF"/>
                </a:highlight>
              </a:rPr>
              <a:t>Secretary's Signature</a:t>
            </a:r>
            <a:endParaRPr i="1" sz="1050">
              <a:solidFill>
                <a:srgbClr val="202122"/>
              </a:solidFill>
              <a:highlight>
                <a:srgbClr val="FFFFFF"/>
              </a:highlight>
            </a:endParaRPr>
          </a:p>
          <a:p>
            <a:pPr indent="0" lvl="0" marL="0" rtl="0" algn="l">
              <a:lnSpc>
                <a:spcPct val="115000"/>
              </a:lnSpc>
              <a:spcBef>
                <a:spcPts val="1300"/>
              </a:spcBef>
              <a:spcAft>
                <a:spcPts val="1300"/>
              </a:spcAft>
              <a:buNone/>
            </a:pPr>
            <a:r>
              <a:rPr b="1" lang="en" sz="1050">
                <a:solidFill>
                  <a:srgbClr val="202122"/>
                </a:solidFill>
                <a:highlight>
                  <a:srgbClr val="FFFFFF"/>
                </a:highlight>
              </a:rPr>
              <a:t>p.p.</a:t>
            </a:r>
            <a:r>
              <a:rPr lang="en" sz="1050">
                <a:solidFill>
                  <a:srgbClr val="202122"/>
                </a:solidFill>
                <a:highlight>
                  <a:srgbClr val="FFFFFF"/>
                </a:highlight>
              </a:rPr>
              <a:t> President's Name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47a881ef2f298586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47a881ef2f298586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47a881ef2f298586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47a881ef2f298586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47a881ef2f298586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47a881ef2f298586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6e9896ae6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6e9896ae6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6e9896ae6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6e9896ae6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6e9896ae6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6e9896ae6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47a881ef2f298586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47a881ef2f298586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47a881ef2f298586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47a881ef2f298586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47a881ef2f298586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47a881ef2f298586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6df7af335d38b9c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6df7af335d38b9c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6df7af335d38b9c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6df7af335d38b9c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6df7af335d38b9c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6df7af335d38b9c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6df7af335d38b9c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6df7af335d38b9c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6df7af335d38b9c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6df7af335d38b9c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6df7af335d38b9c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6df7af335d38b9c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f81a9ebd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f81a9ebd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f81a9ebd6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f81a9ebd6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f81a9ebd6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f81a9ebd6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6e256cc26d4e0e8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6e256cc26d4e0e8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6e256cc26d4e0e86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6e256cc26d4e0e86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fd93aeb2f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fd93aeb2f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Note: Be courteous – avoid sarcasm, rudeness, anger. If your letter shows that you are being reasonable, the complaint will likely be regarded as reasonable and legitimate and will receive the redress you want.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fd93aeb2f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fd93aeb2f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fd93aeb2f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fd93aeb2f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fd93aeb2f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fd93aeb2f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fd93aeb2f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fd93aeb2f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fd93aeb2f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fd93aeb2f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fd93aeb2f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fd93aeb2f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fd93aeb2f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fd93aeb2f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fd93aeb2f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fd93aeb2f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06a772510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106a7725103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06a772510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106a7725103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06a772510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106a7725103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06a772510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106a7725103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06a772510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106a7725103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8e7fe7d7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8e7fe7d7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8e7fe7d76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8e7fe7d76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06a7725103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06a7725103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06a7725103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106a7725103_0_1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06a7725103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g106a7725103_0_1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06a772510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106a7725103_0_1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06a7725103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106a7725103_0_1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06a7725103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106a7725103_0_1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06a7725103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106a7725103_0_14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06a7725103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106a7725103_0_1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06a7725103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106a7725103_0_1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06a7725103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106a7725103_0_1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06a7725103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106a7725103_0_1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06a772510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106a7725103_0_17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06a7725103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106a7725103_0_17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06a7725103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106a7725103_0_1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06a7725103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106a7725103_0_1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06a7725103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106a7725103_0_1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06a7725103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g106a7725103_0_2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06a7725103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106a7725103_0_2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06a7725103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106a7725103_0_2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06a7725103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106a7725103_0_2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06a7725103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g106a7725103_0_2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200"/>
              </a:spcBef>
              <a:spcAft>
                <a:spcPts val="0"/>
              </a:spcAft>
              <a:buClr>
                <a:schemeClr val="dk1"/>
              </a:buClr>
              <a:buSzPts val="1400"/>
              <a:buChar char="○"/>
              <a:defRPr/>
            </a:lvl2pPr>
            <a:lvl3pPr indent="-317500" lvl="2" marL="1371600" rtl="0" algn="l">
              <a:lnSpc>
                <a:spcPct val="90000"/>
              </a:lnSpc>
              <a:spcBef>
                <a:spcPts val="1200"/>
              </a:spcBef>
              <a:spcAft>
                <a:spcPts val="0"/>
              </a:spcAft>
              <a:buClr>
                <a:schemeClr val="dk1"/>
              </a:buClr>
              <a:buSzPts val="1400"/>
              <a:buChar char="■"/>
              <a:defRPr/>
            </a:lvl3pPr>
            <a:lvl4pPr indent="-317500" lvl="3" marL="1828800" rtl="0" algn="l">
              <a:lnSpc>
                <a:spcPct val="90000"/>
              </a:lnSpc>
              <a:spcBef>
                <a:spcPts val="1200"/>
              </a:spcBef>
              <a:spcAft>
                <a:spcPts val="0"/>
              </a:spcAft>
              <a:buClr>
                <a:schemeClr val="dk1"/>
              </a:buClr>
              <a:buSzPts val="1400"/>
              <a:buChar char="●"/>
              <a:defRPr/>
            </a:lvl4pPr>
            <a:lvl5pPr indent="-317500" lvl="4" marL="2286000" rtl="0" algn="l">
              <a:lnSpc>
                <a:spcPct val="90000"/>
              </a:lnSpc>
              <a:spcBef>
                <a:spcPts val="1200"/>
              </a:spcBef>
              <a:spcAft>
                <a:spcPts val="0"/>
              </a:spcAft>
              <a:buClr>
                <a:schemeClr val="dk1"/>
              </a:buClr>
              <a:buSzPts val="1400"/>
              <a:buChar char="○"/>
              <a:defRPr/>
            </a:lvl5pPr>
            <a:lvl6pPr indent="-317500" lvl="5" marL="2743200" rtl="0" algn="l">
              <a:lnSpc>
                <a:spcPct val="90000"/>
              </a:lnSpc>
              <a:spcBef>
                <a:spcPts val="1200"/>
              </a:spcBef>
              <a:spcAft>
                <a:spcPts val="0"/>
              </a:spcAft>
              <a:buClr>
                <a:schemeClr val="dk1"/>
              </a:buClr>
              <a:buSzPts val="1400"/>
              <a:buChar char="■"/>
              <a:defRPr/>
            </a:lvl6pPr>
            <a:lvl7pPr indent="-317500" lvl="6" marL="3200400" rtl="0" algn="l">
              <a:lnSpc>
                <a:spcPct val="90000"/>
              </a:lnSpc>
              <a:spcBef>
                <a:spcPts val="1200"/>
              </a:spcBef>
              <a:spcAft>
                <a:spcPts val="0"/>
              </a:spcAft>
              <a:buClr>
                <a:schemeClr val="dk1"/>
              </a:buClr>
              <a:buSzPts val="1400"/>
              <a:buChar char="●"/>
              <a:defRPr/>
            </a:lvl7pPr>
            <a:lvl8pPr indent="-317500" lvl="7" marL="3657600" rtl="0" algn="l">
              <a:lnSpc>
                <a:spcPct val="90000"/>
              </a:lnSpc>
              <a:spcBef>
                <a:spcPts val="1200"/>
              </a:spcBef>
              <a:spcAft>
                <a:spcPts val="0"/>
              </a:spcAft>
              <a:buClr>
                <a:schemeClr val="dk1"/>
              </a:buClr>
              <a:buSzPts val="1400"/>
              <a:buChar char="○"/>
              <a:defRPr/>
            </a:lvl8pPr>
            <a:lvl9pPr indent="-317500" lvl="8" marL="4114800" rtl="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Communication Skills II</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Official Correspondence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Official Correspondence</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highlight>
                  <a:srgbClr val="FFFFFF"/>
                </a:highlight>
              </a:rPr>
              <a:t>Official correspondence means the exchange of information in written form for business purposes.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The most convenient and probably most official way to communicate with bosses, fellow employees and other organization is by sending messages through letters or memos.</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Official Correspondence usually take place in two ways: </a:t>
            </a:r>
            <a:endParaRPr>
              <a:solidFill>
                <a:schemeClr val="dk1"/>
              </a:solidFill>
              <a:highlight>
                <a:srgbClr val="FFFFFF"/>
              </a:highlight>
            </a:endParaRPr>
          </a:p>
          <a:p>
            <a:pPr indent="-317500" lvl="1" marL="914400" rtl="0" algn="l">
              <a:spcBef>
                <a:spcPts val="0"/>
              </a:spcBef>
              <a:spcAft>
                <a:spcPts val="0"/>
              </a:spcAft>
              <a:buClr>
                <a:schemeClr val="dk1"/>
              </a:buClr>
              <a:buSzPts val="1400"/>
              <a:buChar char="-"/>
            </a:pPr>
            <a:r>
              <a:rPr lang="en">
                <a:solidFill>
                  <a:schemeClr val="dk1"/>
                </a:solidFill>
                <a:highlight>
                  <a:srgbClr val="FFFFFF"/>
                </a:highlight>
              </a:rPr>
              <a:t>between organisations  </a:t>
            </a:r>
            <a:endParaRPr>
              <a:solidFill>
                <a:schemeClr val="dk1"/>
              </a:solidFill>
              <a:highlight>
                <a:srgbClr val="FFFFFF"/>
              </a:highlight>
            </a:endParaRPr>
          </a:p>
          <a:p>
            <a:pPr indent="-317500" lvl="1" marL="914400" rtl="0" algn="l">
              <a:spcBef>
                <a:spcPts val="0"/>
              </a:spcBef>
              <a:spcAft>
                <a:spcPts val="0"/>
              </a:spcAft>
              <a:buClr>
                <a:schemeClr val="dk1"/>
              </a:buClr>
              <a:buSzPts val="1400"/>
              <a:buChar char="-"/>
            </a:pPr>
            <a:r>
              <a:rPr lang="en">
                <a:solidFill>
                  <a:schemeClr val="dk1"/>
                </a:solidFill>
                <a:highlight>
                  <a:srgbClr val="FFFFFF"/>
                </a:highlight>
              </a:rPr>
              <a:t>within organization.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Sometimes it can also take place between an individual and an organization.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38000"/>
              </a:lnSpc>
              <a:spcBef>
                <a:spcPts val="0"/>
              </a:spcBef>
              <a:spcAft>
                <a:spcPts val="0"/>
              </a:spcAft>
              <a:buNone/>
            </a:pPr>
            <a:r>
              <a:rPr b="1" lang="en" sz="2500">
                <a:highlight>
                  <a:srgbClr val="FFFFFF"/>
                </a:highlight>
              </a:rPr>
              <a:t>Memos</a:t>
            </a:r>
            <a:endParaRPr sz="2500"/>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highlight>
                  <a:srgbClr val="FFFFFF"/>
                </a:highlight>
              </a:rPr>
              <a:t>A memo is a short communication usually a single page, circulated/deployed within an organization or institution.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It is a formal reminder for something important that has occurred or will occur.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Memos are meant for internal communication.</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Memos now have become popular in business than simply a memory aid as, together with the telephone, they have become the main method of internal communication.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For example, if the </a:t>
            </a:r>
            <a:r>
              <a:rPr lang="en">
                <a:solidFill>
                  <a:schemeClr val="dk1"/>
                </a:solidFill>
                <a:highlight>
                  <a:srgbClr val="FFFFFF"/>
                </a:highlight>
              </a:rPr>
              <a:t>Registrar</a:t>
            </a:r>
            <a:r>
              <a:rPr lang="en">
                <a:solidFill>
                  <a:schemeClr val="dk1"/>
                </a:solidFill>
                <a:highlight>
                  <a:srgbClr val="FFFFFF"/>
                </a:highlight>
              </a:rPr>
              <a:t> of Mzuzu University wants to communicate something with the Head of Communication Studies Department, he will write a memo.</a:t>
            </a:r>
            <a:endParaRPr>
              <a:solidFill>
                <a:schemeClr val="dk1"/>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highlight>
                  <a:srgbClr val="FFFFFF"/>
                </a:highlight>
              </a:rPr>
              <a:t>Because of their internal communication nature, memos are often referred to as </a:t>
            </a:r>
            <a:r>
              <a:rPr b="1" lang="en">
                <a:solidFill>
                  <a:schemeClr val="dk1"/>
                </a:solidFill>
                <a:highlight>
                  <a:srgbClr val="FFFFFF"/>
                </a:highlight>
              </a:rPr>
              <a:t>“inter-office correspondence”</a:t>
            </a:r>
            <a:endParaRPr b="1">
              <a:solidFill>
                <a:schemeClr val="dk1"/>
              </a:solidFill>
              <a:highlight>
                <a:srgbClr val="FFFFFF"/>
              </a:highlight>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rPr>
              <a:t>Memos are more permanent record than telephone calls.</a:t>
            </a:r>
            <a:endParaRPr>
              <a:solidFill>
                <a:schemeClr val="dk1"/>
              </a:solidFill>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rPr>
              <a:t>They have to be written clearly. Avoid wordiness, unnecessary repetitions, detailed specification and clichés.</a:t>
            </a:r>
            <a:endParaRPr b="1">
              <a:solidFill>
                <a:schemeClr val="dk1"/>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Basic Functions of a Memo</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342900" rtl="0" algn="just">
              <a:lnSpc>
                <a:spcPct val="108000"/>
              </a:lnSpc>
              <a:spcBef>
                <a:spcPts val="0"/>
              </a:spcBef>
              <a:spcAft>
                <a:spcPts val="0"/>
              </a:spcAft>
              <a:buClr>
                <a:schemeClr val="dk1"/>
              </a:buClr>
              <a:buSzPts val="1100"/>
              <a:buFont typeface="Arial"/>
              <a:buNone/>
            </a:pPr>
            <a:r>
              <a:rPr lang="en">
                <a:solidFill>
                  <a:schemeClr val="dk1"/>
                </a:solidFill>
                <a:highlight>
                  <a:srgbClr val="FFFFFF"/>
                </a:highlight>
              </a:rPr>
              <a:t>Memos generally serve the following functions:</a:t>
            </a:r>
            <a:endParaRPr>
              <a:solidFill>
                <a:schemeClr val="dk1"/>
              </a:solidFill>
              <a:highlight>
                <a:srgbClr val="FFFFFF"/>
              </a:highlight>
            </a:endParaRPr>
          </a:p>
          <a:p>
            <a:pPr indent="-342900" lvl="0" marL="457200" rtl="0" algn="just">
              <a:lnSpc>
                <a:spcPct val="108000"/>
              </a:lnSpc>
              <a:spcBef>
                <a:spcPts val="0"/>
              </a:spcBef>
              <a:spcAft>
                <a:spcPts val="0"/>
              </a:spcAft>
              <a:buClr>
                <a:schemeClr val="dk1"/>
              </a:buClr>
              <a:buSzPts val="1800"/>
              <a:buChar char="-"/>
            </a:pPr>
            <a:r>
              <a:rPr lang="en">
                <a:solidFill>
                  <a:schemeClr val="dk1"/>
                </a:solidFill>
                <a:highlight>
                  <a:srgbClr val="FFFFFF"/>
                </a:highlight>
              </a:rPr>
              <a:t>They confirm in writing the results of an oral communication, often providing some detail on the issues discussed.</a:t>
            </a:r>
            <a:endParaRPr>
              <a:solidFill>
                <a:schemeClr val="dk1"/>
              </a:solidFill>
              <a:highlight>
                <a:srgbClr val="FFFFFF"/>
              </a:highlight>
            </a:endParaRPr>
          </a:p>
          <a:p>
            <a:pPr indent="-342900" lvl="0" marL="457200" rtl="0" algn="just">
              <a:lnSpc>
                <a:spcPct val="108000"/>
              </a:lnSpc>
              <a:spcBef>
                <a:spcPts val="0"/>
              </a:spcBef>
              <a:spcAft>
                <a:spcPts val="0"/>
              </a:spcAft>
              <a:buClr>
                <a:schemeClr val="dk1"/>
              </a:buClr>
              <a:buSzPts val="1800"/>
              <a:buChar char="-"/>
            </a:pPr>
            <a:r>
              <a:rPr lang="en">
                <a:solidFill>
                  <a:schemeClr val="dk1"/>
                </a:solidFill>
                <a:highlight>
                  <a:schemeClr val="lt1"/>
                </a:highlight>
              </a:rPr>
              <a:t>T</a:t>
            </a:r>
            <a:r>
              <a:rPr lang="en">
                <a:solidFill>
                  <a:schemeClr val="dk1"/>
                </a:solidFill>
                <a:highlight>
                  <a:schemeClr val="lt1"/>
                </a:highlight>
              </a:rPr>
              <a:t>hey function as informal progress reports. </a:t>
            </a:r>
            <a:endParaRPr>
              <a:solidFill>
                <a:schemeClr val="dk1"/>
              </a:solidFill>
              <a:highlight>
                <a:schemeClr val="lt1"/>
              </a:highlight>
            </a:endParaRPr>
          </a:p>
          <a:p>
            <a:pPr indent="-323850" lvl="1" marL="914400" rtl="0" algn="just">
              <a:lnSpc>
                <a:spcPct val="108000"/>
              </a:lnSpc>
              <a:spcBef>
                <a:spcPts val="0"/>
              </a:spcBef>
              <a:spcAft>
                <a:spcPts val="0"/>
              </a:spcAft>
              <a:buClr>
                <a:schemeClr val="dk1"/>
              </a:buClr>
              <a:buSzPts val="1500"/>
              <a:buChar char="-"/>
            </a:pPr>
            <a:r>
              <a:rPr lang="en" sz="1500">
                <a:solidFill>
                  <a:schemeClr val="dk1"/>
                </a:solidFill>
                <a:highlight>
                  <a:srgbClr val="FFFFFF"/>
                </a:highlight>
              </a:rPr>
              <a:t>They inform the recipient of the stage reached in a developmental procedure.</a:t>
            </a:r>
            <a:endParaRPr sz="1500">
              <a:solidFill>
                <a:schemeClr val="dk1"/>
              </a:solidFill>
              <a:highlight>
                <a:srgbClr val="FFFFFF"/>
              </a:highlight>
            </a:endParaRPr>
          </a:p>
          <a:p>
            <a:pPr indent="-342900" lvl="0" marL="457200" rtl="0" algn="just">
              <a:lnSpc>
                <a:spcPct val="108000"/>
              </a:lnSpc>
              <a:spcBef>
                <a:spcPts val="0"/>
              </a:spcBef>
              <a:spcAft>
                <a:spcPts val="0"/>
              </a:spcAft>
              <a:buClr>
                <a:schemeClr val="dk1"/>
              </a:buClr>
              <a:buSzPts val="1800"/>
              <a:buChar char="-"/>
            </a:pPr>
            <a:r>
              <a:rPr lang="en">
                <a:solidFill>
                  <a:schemeClr val="dk1"/>
                </a:solidFill>
                <a:highlight>
                  <a:srgbClr val="FFFFFF"/>
                </a:highlight>
              </a:rPr>
              <a:t>They carry informal request, reminder or suggestion.</a:t>
            </a:r>
            <a:endParaRPr>
              <a:solidFill>
                <a:schemeClr val="dk1"/>
              </a:solidFill>
              <a:highlight>
                <a:srgbClr val="FFFFFF"/>
              </a:highlight>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highlight>
                  <a:schemeClr val="lt1"/>
                </a:highlight>
              </a:rPr>
              <a:t>They notify employees of a change or development in an established course of action </a:t>
            </a:r>
            <a:endParaRPr>
              <a:solidFill>
                <a:schemeClr val="dk1"/>
              </a:solidFill>
              <a:highlight>
                <a:schemeClr val="lt1"/>
              </a:highlight>
            </a:endParaRPr>
          </a:p>
          <a:p>
            <a:pPr indent="-317500" lvl="1" marL="914400" rtl="0" algn="just">
              <a:lnSpc>
                <a:spcPct val="120000"/>
              </a:lnSpc>
              <a:spcBef>
                <a:spcPts val="0"/>
              </a:spcBef>
              <a:spcAft>
                <a:spcPts val="0"/>
              </a:spcAft>
              <a:buClr>
                <a:schemeClr val="dk1"/>
              </a:buClr>
              <a:buSzPts val="1400"/>
              <a:buChar char="-"/>
            </a:pPr>
            <a:r>
              <a:rPr lang="en">
                <a:solidFill>
                  <a:schemeClr val="dk1"/>
                </a:solidFill>
                <a:highlight>
                  <a:schemeClr val="lt1"/>
                </a:highlight>
              </a:rPr>
              <a:t>(e.g. if set hours for coffee and lunch breaks are to be implemented or changed)</a:t>
            </a:r>
            <a:endParaRPr>
              <a:solidFill>
                <a:schemeClr val="dk1"/>
              </a:solidFill>
              <a:highlight>
                <a:schemeClr val="lt1"/>
              </a:highlight>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highlight>
                  <a:schemeClr val="lt1"/>
                </a:highlight>
              </a:rPr>
              <a:t>They accompany and introduce documentation, such as internal reports</a:t>
            </a:r>
            <a:endParaRPr>
              <a:solidFill>
                <a:schemeClr val="dk1"/>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Effective memo writing </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lnSpc>
                <a:spcPct val="120000"/>
              </a:lnSpc>
              <a:spcBef>
                <a:spcPts val="0"/>
              </a:spcBef>
              <a:spcAft>
                <a:spcPts val="0"/>
              </a:spcAft>
              <a:buClr>
                <a:schemeClr val="dk1"/>
              </a:buClr>
              <a:buSzPts val="1800"/>
              <a:buChar char="-"/>
            </a:pPr>
            <a:r>
              <a:rPr lang="en">
                <a:solidFill>
                  <a:schemeClr val="dk1"/>
                </a:solidFill>
                <a:highlight>
                  <a:srgbClr val="FFFFFF"/>
                </a:highlight>
              </a:rPr>
              <a:t>Begin memos with the most important ideas</a:t>
            </a:r>
            <a:endParaRPr>
              <a:solidFill>
                <a:schemeClr val="dk1"/>
              </a:solidFill>
              <a:highlight>
                <a:srgbClr val="FFFFFF"/>
              </a:highlight>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highlight>
                  <a:srgbClr val="FFFFFF"/>
                </a:highlight>
              </a:rPr>
              <a:t>Subordinate references to previous documents, conversations and meetings.</a:t>
            </a:r>
            <a:endParaRPr>
              <a:solidFill>
                <a:schemeClr val="dk1"/>
              </a:solidFill>
              <a:highlight>
                <a:srgbClr val="FFFFFF"/>
              </a:highlight>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highlight>
                  <a:srgbClr val="FFFFFF"/>
                </a:highlight>
              </a:rPr>
              <a:t>Ensure that your memos are clearly and logically organised.</a:t>
            </a:r>
            <a:endParaRPr>
              <a:solidFill>
                <a:schemeClr val="dk1"/>
              </a:solidFill>
              <a:highlight>
                <a:srgbClr val="FFFFFF"/>
              </a:highlight>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highlight>
                  <a:srgbClr val="FFFFFF"/>
                </a:highlight>
              </a:rPr>
              <a:t>Throughout memos, emphasize key data and ideas.</a:t>
            </a:r>
            <a:endParaRPr>
              <a:solidFill>
                <a:schemeClr val="dk1"/>
              </a:solidFill>
              <a:highlight>
                <a:srgbClr val="FFFFFF"/>
              </a:highlight>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highlight>
                  <a:srgbClr val="FFFFFF"/>
                </a:highlight>
              </a:rPr>
              <a:t>Avoid clichéd openings and closings.</a:t>
            </a:r>
            <a:endParaRPr>
              <a:solidFill>
                <a:schemeClr val="dk1"/>
              </a:solidFill>
              <a:highlight>
                <a:srgbClr val="FFFFFF"/>
              </a:highlight>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rPr>
              <a:t>The standard memo format mimics block format but has no salutation and complimentary close.</a:t>
            </a:r>
            <a:endParaRPr>
              <a:solidFill>
                <a:schemeClr val="dk1"/>
              </a:solidFill>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rPr>
              <a:t>Memos never indent paragraphs.</a:t>
            </a:r>
            <a:endParaRPr>
              <a:solidFill>
                <a:schemeClr val="dk1"/>
              </a:solidFill>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rPr>
              <a:t>Subject lines are required; headings are optional. </a:t>
            </a:r>
            <a:endParaRPr>
              <a:solidFill>
                <a:schemeClr val="dk1"/>
              </a:solidFill>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rPr>
              <a:t>Each heading must cover all the information until the next heading. </a:t>
            </a:r>
            <a:endParaRPr>
              <a:solidFill>
                <a:schemeClr val="dk1"/>
              </a:solidFill>
            </a:endParaRPr>
          </a:p>
          <a:p>
            <a:pPr indent="-342900" lvl="0" marL="457200" rtl="0" algn="just">
              <a:lnSpc>
                <a:spcPct val="120000"/>
              </a:lnSpc>
              <a:spcBef>
                <a:spcPts val="0"/>
              </a:spcBef>
              <a:spcAft>
                <a:spcPts val="0"/>
              </a:spcAft>
              <a:buClr>
                <a:schemeClr val="dk1"/>
              </a:buClr>
              <a:buSzPts val="1800"/>
              <a:buChar char="-"/>
            </a:pPr>
            <a:r>
              <a:rPr lang="en">
                <a:solidFill>
                  <a:schemeClr val="dk1"/>
                </a:solidFill>
              </a:rPr>
              <a:t>Never use a separate heading for the first paragraph.</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Memo</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a:bodyPr>
          <a:lstStyle/>
          <a:p>
            <a:pPr indent="-325755" lvl="0" marL="457200" marR="457200" rtl="0" algn="just">
              <a:lnSpc>
                <a:spcPct val="180000"/>
              </a:lnSpc>
              <a:spcBef>
                <a:spcPts val="0"/>
              </a:spcBef>
              <a:spcAft>
                <a:spcPts val="0"/>
              </a:spcAft>
              <a:buClr>
                <a:schemeClr val="dk1"/>
              </a:buClr>
              <a:buSzPct val="100000"/>
              <a:buChar char="-"/>
            </a:pPr>
            <a:r>
              <a:rPr b="1" lang="en">
                <a:solidFill>
                  <a:schemeClr val="dk1"/>
                </a:solidFill>
                <a:highlight>
                  <a:schemeClr val="lt1"/>
                </a:highlight>
              </a:rPr>
              <a:t>To:</a:t>
            </a:r>
            <a:r>
              <a:rPr lang="en">
                <a:solidFill>
                  <a:schemeClr val="dk1"/>
                </a:solidFill>
                <a:highlight>
                  <a:schemeClr val="lt1"/>
                </a:highlight>
              </a:rPr>
              <a:t> Name of person or title or department to whom the message is sent.</a:t>
            </a:r>
            <a:endParaRPr b="1">
              <a:solidFill>
                <a:schemeClr val="dk1"/>
              </a:solidFill>
              <a:highlight>
                <a:srgbClr val="FFFFFF"/>
              </a:highlight>
            </a:endParaRPr>
          </a:p>
          <a:p>
            <a:pPr indent="-325755" lvl="0" marL="457200" marR="457200" rtl="0" algn="just">
              <a:lnSpc>
                <a:spcPct val="180000"/>
              </a:lnSpc>
              <a:spcBef>
                <a:spcPts val="0"/>
              </a:spcBef>
              <a:spcAft>
                <a:spcPts val="0"/>
              </a:spcAft>
              <a:buClr>
                <a:schemeClr val="dk1"/>
              </a:buClr>
              <a:buSzPct val="100000"/>
              <a:buChar char="-"/>
            </a:pPr>
            <a:r>
              <a:rPr b="1" lang="en">
                <a:solidFill>
                  <a:schemeClr val="dk1"/>
                </a:solidFill>
                <a:highlight>
                  <a:srgbClr val="FFFFFF"/>
                </a:highlight>
              </a:rPr>
              <a:t>From:</a:t>
            </a:r>
            <a:r>
              <a:rPr lang="en">
                <a:solidFill>
                  <a:schemeClr val="dk1"/>
                </a:solidFill>
                <a:highlight>
                  <a:srgbClr val="FFFFFF"/>
                </a:highlight>
              </a:rPr>
              <a:t> Position of a person or department sending the message.</a:t>
            </a:r>
            <a:endParaRPr>
              <a:solidFill>
                <a:schemeClr val="dk1"/>
              </a:solidFill>
              <a:highlight>
                <a:srgbClr val="FFFFFF"/>
              </a:highlight>
            </a:endParaRPr>
          </a:p>
          <a:p>
            <a:pPr indent="-325755" lvl="0" marL="457200" marR="457200" rtl="0" algn="just">
              <a:lnSpc>
                <a:spcPct val="180000"/>
              </a:lnSpc>
              <a:spcBef>
                <a:spcPts val="0"/>
              </a:spcBef>
              <a:spcAft>
                <a:spcPts val="0"/>
              </a:spcAft>
              <a:buClr>
                <a:schemeClr val="dk1"/>
              </a:buClr>
              <a:buSzPct val="100000"/>
              <a:buChar char="-"/>
            </a:pPr>
            <a:r>
              <a:rPr b="1" lang="en">
                <a:solidFill>
                  <a:schemeClr val="dk1"/>
                </a:solidFill>
                <a:highlight>
                  <a:srgbClr val="FFFFFF"/>
                </a:highlight>
              </a:rPr>
              <a:t>Date:</a:t>
            </a:r>
            <a:r>
              <a:rPr lang="en">
                <a:solidFill>
                  <a:schemeClr val="dk1"/>
                </a:solidFill>
                <a:highlight>
                  <a:srgbClr val="FFFFFF"/>
                </a:highlight>
              </a:rPr>
              <a:t> Day on which the memo is sent.</a:t>
            </a:r>
            <a:endParaRPr>
              <a:solidFill>
                <a:schemeClr val="dk1"/>
              </a:solidFill>
              <a:highlight>
                <a:srgbClr val="FFFFFF"/>
              </a:highlight>
            </a:endParaRPr>
          </a:p>
          <a:p>
            <a:pPr indent="-325755" lvl="0" marL="457200" marR="457200" rtl="0" algn="just">
              <a:lnSpc>
                <a:spcPct val="180000"/>
              </a:lnSpc>
              <a:spcBef>
                <a:spcPts val="0"/>
              </a:spcBef>
              <a:spcAft>
                <a:spcPts val="0"/>
              </a:spcAft>
              <a:buClr>
                <a:schemeClr val="dk1"/>
              </a:buClr>
              <a:buSzPct val="100000"/>
              <a:buChar char="-"/>
            </a:pPr>
            <a:r>
              <a:rPr b="1" lang="en">
                <a:solidFill>
                  <a:schemeClr val="dk1"/>
                </a:solidFill>
                <a:highlight>
                  <a:srgbClr val="FFFFFF"/>
                </a:highlight>
              </a:rPr>
              <a:t>Subject:</a:t>
            </a:r>
            <a:r>
              <a:rPr lang="en">
                <a:solidFill>
                  <a:schemeClr val="dk1"/>
                </a:solidFill>
                <a:highlight>
                  <a:srgbClr val="FFFFFF"/>
                </a:highlight>
              </a:rPr>
              <a:t> Brief phrase or sentence that tells what message is about.</a:t>
            </a:r>
            <a:endParaRPr>
              <a:solidFill>
                <a:schemeClr val="dk1"/>
              </a:solidFill>
              <a:highlight>
                <a:srgbClr val="FFFFFF"/>
              </a:highlight>
            </a:endParaRPr>
          </a:p>
          <a:p>
            <a:pPr indent="-325755" lvl="0" marL="457200" marR="457200" rtl="0" algn="just">
              <a:lnSpc>
                <a:spcPct val="180000"/>
              </a:lnSpc>
              <a:spcBef>
                <a:spcPts val="0"/>
              </a:spcBef>
              <a:spcAft>
                <a:spcPts val="0"/>
              </a:spcAft>
              <a:buClr>
                <a:schemeClr val="dk1"/>
              </a:buClr>
              <a:buSzPct val="100000"/>
              <a:buChar char="-"/>
            </a:pPr>
            <a:r>
              <a:rPr b="1" lang="en">
                <a:solidFill>
                  <a:schemeClr val="dk1"/>
                </a:solidFill>
                <a:highlight>
                  <a:srgbClr val="FFFFFF"/>
                </a:highlight>
              </a:rPr>
              <a:t>Message:</a:t>
            </a:r>
            <a:r>
              <a:rPr lang="en">
                <a:solidFill>
                  <a:schemeClr val="dk1"/>
                </a:solidFill>
                <a:highlight>
                  <a:srgbClr val="FFFFFF"/>
                </a:highlight>
              </a:rPr>
              <a:t> Details on the subject.</a:t>
            </a:r>
            <a:endParaRPr>
              <a:solidFill>
                <a:schemeClr val="dk1"/>
              </a:solidFill>
              <a:highlight>
                <a:srgbClr val="FFFFFF"/>
              </a:highlight>
            </a:endParaRPr>
          </a:p>
          <a:p>
            <a:pPr indent="-325755" lvl="0" marL="457200" marR="457200" rtl="0" algn="just">
              <a:lnSpc>
                <a:spcPct val="180000"/>
              </a:lnSpc>
              <a:spcBef>
                <a:spcPts val="0"/>
              </a:spcBef>
              <a:spcAft>
                <a:spcPts val="0"/>
              </a:spcAft>
              <a:buClr>
                <a:schemeClr val="dk1"/>
              </a:buClr>
              <a:buSzPct val="89108"/>
              <a:buChar char="-"/>
            </a:pPr>
            <a:r>
              <a:rPr b="1" lang="en">
                <a:solidFill>
                  <a:schemeClr val="dk1"/>
                </a:solidFill>
                <a:highlight>
                  <a:srgbClr val="FFFFFF"/>
                </a:highlight>
              </a:rPr>
              <a:t>Signature: </a:t>
            </a:r>
            <a:r>
              <a:rPr lang="en" sz="2020">
                <a:solidFill>
                  <a:schemeClr val="dk1"/>
                </a:solidFill>
                <a:highlight>
                  <a:srgbClr val="FFFFFF"/>
                </a:highlight>
              </a:rPr>
              <a:t>Sign the memo and write your name in full.</a:t>
            </a:r>
            <a:endParaRPr sz="2020">
              <a:solidFill>
                <a:schemeClr val="dk1"/>
              </a:solidFill>
              <a:highlight>
                <a:srgbClr val="FFFFFF"/>
              </a:highlight>
            </a:endParaRPr>
          </a:p>
          <a:p>
            <a:pPr indent="0" lvl="0" marL="914400" rtl="0" algn="just">
              <a:lnSpc>
                <a:spcPct val="120000"/>
              </a:lnSpc>
              <a:spcBef>
                <a:spcPts val="0"/>
              </a:spcBef>
              <a:spcAft>
                <a:spcPts val="0"/>
              </a:spcAft>
              <a:buNone/>
            </a:pPr>
            <a:r>
              <a:rPr lang="en" sz="2020">
                <a:solidFill>
                  <a:schemeClr val="dk1"/>
                </a:solidFill>
                <a:highlight>
                  <a:srgbClr val="FFFFFF"/>
                </a:highlight>
              </a:rPr>
              <a:t>Rarely do signature lines contain titles, probably because the people within a company already know job titles or can easily look them up in a directory.</a:t>
            </a:r>
            <a:r>
              <a:rPr b="1" lang="en" sz="620">
                <a:solidFill>
                  <a:schemeClr val="dk1"/>
                </a:solidFill>
                <a:highlight>
                  <a:srgbClr val="FFFFFF"/>
                </a:highlight>
              </a:rPr>
              <a:t> </a:t>
            </a:r>
            <a:endParaRPr b="1" sz="620">
              <a:solidFill>
                <a:schemeClr val="dk1"/>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348615" lvl="0" marL="457200" rtl="0" algn="just">
              <a:lnSpc>
                <a:spcPct val="96000"/>
              </a:lnSpc>
              <a:spcBef>
                <a:spcPts val="0"/>
              </a:spcBef>
              <a:spcAft>
                <a:spcPts val="0"/>
              </a:spcAft>
              <a:buSzPct val="100000"/>
              <a:buChar char="-"/>
            </a:pPr>
            <a:r>
              <a:rPr lang="en" sz="2700">
                <a:solidFill>
                  <a:schemeClr val="dk1"/>
                </a:solidFill>
                <a:highlight>
                  <a:srgbClr val="FFFFFF"/>
                </a:highlight>
              </a:rPr>
              <a:t>Sometimes people sign memos on behalf of someone else. </a:t>
            </a:r>
            <a:endParaRPr sz="2700">
              <a:solidFill>
                <a:schemeClr val="dk1"/>
              </a:solidFill>
              <a:highlight>
                <a:srgbClr val="FFFFFF"/>
              </a:highlight>
            </a:endParaRPr>
          </a:p>
          <a:p>
            <a:pPr indent="-348615" lvl="0" marL="457200" rtl="0" algn="just">
              <a:lnSpc>
                <a:spcPct val="96000"/>
              </a:lnSpc>
              <a:spcBef>
                <a:spcPts val="0"/>
              </a:spcBef>
              <a:spcAft>
                <a:spcPts val="0"/>
              </a:spcAft>
              <a:buSzPct val="100000"/>
              <a:buChar char="-"/>
            </a:pPr>
            <a:r>
              <a:rPr lang="en" sz="2700">
                <a:solidFill>
                  <a:schemeClr val="dk1"/>
                </a:solidFill>
                <a:highlight>
                  <a:srgbClr val="FFFFFF"/>
                </a:highlight>
              </a:rPr>
              <a:t>This is particularly common in the case of the secretary or assistant who signs a memo for a boss who has written it or who is at least responsible for it but is unable to sign due to absence from the office. </a:t>
            </a:r>
            <a:endParaRPr sz="2700">
              <a:solidFill>
                <a:schemeClr val="dk1"/>
              </a:solidFill>
              <a:highlight>
                <a:srgbClr val="FFFFFF"/>
              </a:highlight>
            </a:endParaRPr>
          </a:p>
          <a:p>
            <a:pPr indent="-348615" lvl="0" marL="457200" rtl="0" algn="just">
              <a:lnSpc>
                <a:spcPct val="96000"/>
              </a:lnSpc>
              <a:spcBef>
                <a:spcPts val="0"/>
              </a:spcBef>
              <a:spcAft>
                <a:spcPts val="0"/>
              </a:spcAft>
              <a:buSzPct val="100000"/>
              <a:buChar char="-"/>
            </a:pPr>
            <a:r>
              <a:rPr lang="en" sz="2700">
                <a:solidFill>
                  <a:schemeClr val="dk1"/>
                </a:solidFill>
                <a:highlight>
                  <a:srgbClr val="FFFFFF"/>
                </a:highlight>
              </a:rPr>
              <a:t>In this case, use the Latin </a:t>
            </a:r>
            <a:r>
              <a:rPr b="1" lang="en" sz="2700">
                <a:solidFill>
                  <a:srgbClr val="FF0000"/>
                </a:solidFill>
                <a:highlight>
                  <a:srgbClr val="FFFFFF"/>
                </a:highlight>
              </a:rPr>
              <a:t>p.p</a:t>
            </a:r>
            <a:r>
              <a:rPr lang="en" sz="2700">
                <a:solidFill>
                  <a:srgbClr val="FF0000"/>
                </a:solidFill>
                <a:highlight>
                  <a:srgbClr val="FFFFFF"/>
                </a:highlight>
              </a:rPr>
              <a:t>. </a:t>
            </a:r>
            <a:r>
              <a:rPr lang="en" sz="2700">
                <a:solidFill>
                  <a:srgbClr val="0D0D0D"/>
                </a:solidFill>
                <a:highlight>
                  <a:srgbClr val="FFFFFF"/>
                </a:highlight>
              </a:rPr>
              <a:t>which stands for </a:t>
            </a:r>
            <a:r>
              <a:rPr i="1" lang="en" sz="2700">
                <a:solidFill>
                  <a:srgbClr val="0D0D0D"/>
                </a:solidFill>
                <a:highlight>
                  <a:srgbClr val="FFFFFF"/>
                </a:highlight>
              </a:rPr>
              <a:t>per procurationem </a:t>
            </a:r>
            <a:r>
              <a:rPr lang="en" sz="2700">
                <a:solidFill>
                  <a:srgbClr val="0D0D0D"/>
                </a:solidFill>
                <a:highlight>
                  <a:srgbClr val="FFFFFF"/>
                </a:highlight>
              </a:rPr>
              <a:t>meaning by proxy (procuration). </a:t>
            </a:r>
            <a:endParaRPr sz="2700">
              <a:solidFill>
                <a:srgbClr val="0D0D0D"/>
              </a:solidFill>
              <a:highlight>
                <a:srgbClr val="FFFFFF"/>
              </a:highlight>
            </a:endParaRPr>
          </a:p>
          <a:p>
            <a:pPr indent="-348615" lvl="0" marL="457200" rtl="0" algn="just">
              <a:lnSpc>
                <a:spcPct val="96000"/>
              </a:lnSpc>
              <a:spcBef>
                <a:spcPts val="0"/>
              </a:spcBef>
              <a:spcAft>
                <a:spcPts val="0"/>
              </a:spcAft>
              <a:buSzPct val="100000"/>
              <a:buChar char="-"/>
            </a:pPr>
            <a:r>
              <a:rPr lang="en" sz="2700">
                <a:solidFill>
                  <a:srgbClr val="0D0D0D"/>
                </a:solidFill>
                <a:highlight>
                  <a:srgbClr val="FFFFFF"/>
                </a:highlight>
              </a:rPr>
              <a:t>Thus </a:t>
            </a:r>
            <a:r>
              <a:rPr i="1" lang="en" sz="2700">
                <a:solidFill>
                  <a:srgbClr val="0D0D0D"/>
                </a:solidFill>
                <a:highlight>
                  <a:srgbClr val="FFFFFF"/>
                </a:highlight>
              </a:rPr>
              <a:t>p.p. </a:t>
            </a:r>
            <a:r>
              <a:rPr lang="en" sz="2700">
                <a:solidFill>
                  <a:srgbClr val="0D0D0D"/>
                </a:solidFill>
                <a:highlight>
                  <a:srgbClr val="FFFFFF"/>
                </a:highlight>
              </a:rPr>
              <a:t>should really precede the name of the person signing the memo rather than the name of the person on whose behalf is signed.</a:t>
            </a:r>
            <a:endParaRPr sz="2700">
              <a:solidFill>
                <a:srgbClr val="0D0D0D"/>
              </a:solidFill>
              <a:highlight>
                <a:srgbClr val="FFFFFF"/>
              </a:highlight>
            </a:endParaRPr>
          </a:p>
          <a:p>
            <a:pPr indent="-342900" lvl="0" marL="342900" rtl="0" algn="just">
              <a:lnSpc>
                <a:spcPct val="96000"/>
              </a:lnSpc>
              <a:spcBef>
                <a:spcPts val="0"/>
              </a:spcBef>
              <a:spcAft>
                <a:spcPts val="0"/>
              </a:spcAft>
              <a:buClr>
                <a:schemeClr val="dk1"/>
              </a:buClr>
              <a:buSzPct val="40740"/>
              <a:buFont typeface="Arial"/>
              <a:buNone/>
            </a:pPr>
            <a:r>
              <a:rPr lang="en" sz="2700">
                <a:solidFill>
                  <a:srgbClr val="0D0D0D"/>
                </a:solidFill>
                <a:highlight>
                  <a:srgbClr val="FFFFFF"/>
                </a:highlight>
              </a:rPr>
              <a:t>	e.g.</a:t>
            </a:r>
            <a:endParaRPr sz="2700">
              <a:solidFill>
                <a:srgbClr val="0D0D0D"/>
              </a:solidFill>
              <a:highlight>
                <a:srgbClr val="FFFFFF"/>
              </a:highlight>
            </a:endParaRPr>
          </a:p>
          <a:p>
            <a:pPr indent="-342900" lvl="0" marL="342900" rtl="0" algn="just">
              <a:lnSpc>
                <a:spcPct val="96000"/>
              </a:lnSpc>
              <a:spcBef>
                <a:spcPts val="0"/>
              </a:spcBef>
              <a:spcAft>
                <a:spcPts val="0"/>
              </a:spcAft>
              <a:buClr>
                <a:schemeClr val="dk1"/>
              </a:buClr>
              <a:buSzPct val="40740"/>
              <a:buFont typeface="Arial"/>
              <a:buNone/>
            </a:pPr>
            <a:r>
              <a:rPr lang="en" sz="2700">
                <a:solidFill>
                  <a:srgbClr val="0D0D0D"/>
                </a:solidFill>
                <a:highlight>
                  <a:srgbClr val="FFFFFF"/>
                </a:highlight>
              </a:rPr>
              <a:t>	Best regards</a:t>
            </a:r>
            <a:endParaRPr sz="2700">
              <a:solidFill>
                <a:srgbClr val="0D0D0D"/>
              </a:solidFill>
              <a:highlight>
                <a:srgbClr val="FFFFFF"/>
              </a:highlight>
            </a:endParaRPr>
          </a:p>
          <a:p>
            <a:pPr indent="-342900" lvl="0" marL="342900" rtl="0" algn="just">
              <a:lnSpc>
                <a:spcPct val="96000"/>
              </a:lnSpc>
              <a:spcBef>
                <a:spcPts val="0"/>
              </a:spcBef>
              <a:spcAft>
                <a:spcPts val="0"/>
              </a:spcAft>
              <a:buClr>
                <a:schemeClr val="dk1"/>
              </a:buClr>
              <a:buSzPct val="40740"/>
              <a:buFont typeface="Arial"/>
              <a:buNone/>
            </a:pPr>
            <a:r>
              <a:rPr lang="en" sz="2700">
                <a:solidFill>
                  <a:srgbClr val="0D0D0D"/>
                </a:solidFill>
                <a:highlight>
                  <a:srgbClr val="FFFFFF"/>
                </a:highlight>
              </a:rPr>
              <a:t>	</a:t>
            </a:r>
            <a:endParaRPr sz="2700">
              <a:solidFill>
                <a:srgbClr val="0D0D0D"/>
              </a:solidFill>
              <a:highlight>
                <a:srgbClr val="FFFFFF"/>
              </a:highlight>
            </a:endParaRPr>
          </a:p>
          <a:p>
            <a:pPr indent="-342900" lvl="0" marL="342900" rtl="0" algn="just">
              <a:lnSpc>
                <a:spcPct val="96000"/>
              </a:lnSpc>
              <a:spcBef>
                <a:spcPts val="0"/>
              </a:spcBef>
              <a:spcAft>
                <a:spcPts val="0"/>
              </a:spcAft>
              <a:buClr>
                <a:schemeClr val="dk1"/>
              </a:buClr>
              <a:buSzPct val="40740"/>
              <a:buFont typeface="Arial"/>
              <a:buNone/>
            </a:pPr>
            <a:r>
              <a:rPr lang="en" sz="2700">
                <a:solidFill>
                  <a:srgbClr val="0D0D0D"/>
                </a:solidFill>
                <a:highlight>
                  <a:srgbClr val="FFFFFF"/>
                </a:highlight>
              </a:rPr>
              <a:t>	p.p.	   Jane Banda (Secretary’s signature)</a:t>
            </a:r>
            <a:endParaRPr sz="2700">
              <a:solidFill>
                <a:srgbClr val="0D0D0D"/>
              </a:solidFill>
              <a:highlight>
                <a:srgbClr val="FFFFFF"/>
              </a:highlight>
            </a:endParaRPr>
          </a:p>
          <a:p>
            <a:pPr indent="-342900" lvl="0" marL="342900" rtl="0" algn="just">
              <a:lnSpc>
                <a:spcPct val="96000"/>
              </a:lnSpc>
              <a:spcBef>
                <a:spcPts val="0"/>
              </a:spcBef>
              <a:spcAft>
                <a:spcPts val="0"/>
              </a:spcAft>
              <a:buClr>
                <a:schemeClr val="dk1"/>
              </a:buClr>
              <a:buSzPct val="40740"/>
              <a:buFont typeface="Arial"/>
              <a:buNone/>
            </a:pPr>
            <a:r>
              <a:rPr lang="en" sz="2700">
                <a:solidFill>
                  <a:srgbClr val="0D0D0D"/>
                </a:solidFill>
                <a:highlight>
                  <a:srgbClr val="FFFFFF"/>
                </a:highlight>
              </a:rPr>
              <a:t>	           Robert Phiri (President’s name)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End of Memo Notations</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a:solidFill>
                  <a:schemeClr val="dk1"/>
                </a:solidFill>
              </a:rPr>
              <a:t>C - Stands for Copy</a:t>
            </a:r>
            <a:endParaRPr>
              <a:solidFill>
                <a:schemeClr val="dk1"/>
              </a:solidFill>
            </a:endParaRPr>
          </a:p>
          <a:p>
            <a:pPr indent="-300037" lvl="0" marL="457200" rtl="0" algn="l">
              <a:spcBef>
                <a:spcPts val="1200"/>
              </a:spcBef>
              <a:spcAft>
                <a:spcPts val="0"/>
              </a:spcAft>
              <a:buClr>
                <a:schemeClr val="dk1"/>
              </a:buClr>
              <a:buSzPct val="100000"/>
              <a:buChar char="-"/>
            </a:pPr>
            <a:r>
              <a:rPr lang="en">
                <a:solidFill>
                  <a:schemeClr val="dk1"/>
                </a:solidFill>
              </a:rPr>
              <a:t>Written when you want to send a copy to another person aside the main </a:t>
            </a:r>
            <a:r>
              <a:rPr lang="en">
                <a:solidFill>
                  <a:schemeClr val="dk1"/>
                </a:solidFill>
              </a:rPr>
              <a:t>recipient</a:t>
            </a:r>
            <a:r>
              <a:rPr lang="en">
                <a:solidFill>
                  <a:schemeClr val="dk1"/>
                </a:solidFill>
              </a:rPr>
              <a:t> </a:t>
            </a:r>
            <a:endParaRPr>
              <a:solidFill>
                <a:schemeClr val="dk1"/>
              </a:solidFill>
            </a:endParaRPr>
          </a:p>
          <a:p>
            <a:pPr indent="0" lvl="0" marL="0" rtl="0" algn="l">
              <a:spcBef>
                <a:spcPts val="1200"/>
              </a:spcBef>
              <a:spcAft>
                <a:spcPts val="0"/>
              </a:spcAft>
              <a:buNone/>
            </a:pPr>
            <a:r>
              <a:rPr lang="en">
                <a:solidFill>
                  <a:schemeClr val="dk1"/>
                </a:solidFill>
              </a:rPr>
              <a:t>Att’d - Stands for attachment </a:t>
            </a:r>
            <a:endParaRPr>
              <a:solidFill>
                <a:schemeClr val="dk1"/>
              </a:solidFill>
            </a:endParaRPr>
          </a:p>
          <a:p>
            <a:pPr indent="-300037" lvl="0" marL="457200" rtl="0" algn="l">
              <a:spcBef>
                <a:spcPts val="1200"/>
              </a:spcBef>
              <a:spcAft>
                <a:spcPts val="0"/>
              </a:spcAft>
              <a:buClr>
                <a:schemeClr val="dk1"/>
              </a:buClr>
              <a:buSzPct val="100000"/>
              <a:buChar char="-"/>
            </a:pPr>
            <a:r>
              <a:rPr lang="en">
                <a:solidFill>
                  <a:schemeClr val="dk1"/>
                </a:solidFill>
              </a:rPr>
              <a:t>Written when you have attached a document to your memo. Can be a </a:t>
            </a:r>
            <a:r>
              <a:rPr lang="en">
                <a:solidFill>
                  <a:schemeClr val="dk1"/>
                </a:solidFill>
              </a:rPr>
              <a:t>letter</a:t>
            </a:r>
            <a:r>
              <a:rPr lang="en">
                <a:solidFill>
                  <a:schemeClr val="dk1"/>
                </a:solidFill>
              </a:rPr>
              <a:t>, report or receipt</a:t>
            </a:r>
            <a:endParaRPr>
              <a:solidFill>
                <a:schemeClr val="dk1"/>
              </a:solidFill>
            </a:endParaRPr>
          </a:p>
          <a:p>
            <a:pPr indent="0" lvl="0" marL="0" rtl="0" algn="l">
              <a:spcBef>
                <a:spcPts val="1200"/>
              </a:spcBef>
              <a:spcAft>
                <a:spcPts val="0"/>
              </a:spcAft>
              <a:buNone/>
            </a:pPr>
            <a:r>
              <a:rPr lang="en">
                <a:solidFill>
                  <a:schemeClr val="dk1"/>
                </a:solidFill>
              </a:rPr>
              <a:t>Enc - Stands for Enclosure</a:t>
            </a:r>
            <a:endParaRPr>
              <a:solidFill>
                <a:schemeClr val="dk1"/>
              </a:solidFill>
            </a:endParaRPr>
          </a:p>
          <a:p>
            <a:pPr indent="-300037" lvl="0" marL="457200" rtl="0" algn="l">
              <a:spcBef>
                <a:spcPts val="1200"/>
              </a:spcBef>
              <a:spcAft>
                <a:spcPts val="0"/>
              </a:spcAft>
              <a:buClr>
                <a:schemeClr val="dk1"/>
              </a:buClr>
              <a:buSzPct val="100000"/>
              <a:buChar char="-"/>
            </a:pPr>
            <a:r>
              <a:rPr lang="en">
                <a:solidFill>
                  <a:schemeClr val="dk1"/>
                </a:solidFill>
              </a:rPr>
              <a:t>Used when you have a enclosed a document in an envelope together with the memo</a:t>
            </a:r>
            <a:endParaRPr>
              <a:solidFill>
                <a:schemeClr val="dk1"/>
              </a:solidFill>
            </a:endParaRPr>
          </a:p>
          <a:p>
            <a:pPr indent="0" lvl="0" marL="0" rtl="0" algn="l">
              <a:spcBef>
                <a:spcPts val="1200"/>
              </a:spcBef>
              <a:spcAft>
                <a:spcPts val="0"/>
              </a:spcAft>
              <a:buNone/>
            </a:pPr>
            <a:r>
              <a:rPr lang="en">
                <a:solidFill>
                  <a:schemeClr val="dk1"/>
                </a:solidFill>
                <a:highlight>
                  <a:srgbClr val="FFFFFF"/>
                </a:highlight>
              </a:rPr>
              <a:t>B.C.: Stands for ‘Blind Copy’. </a:t>
            </a:r>
            <a:endParaRPr>
              <a:solidFill>
                <a:schemeClr val="dk1"/>
              </a:solidFill>
              <a:highlight>
                <a:srgbClr val="FFFFFF"/>
              </a:highlight>
            </a:endParaRPr>
          </a:p>
          <a:p>
            <a:pPr indent="-300037" lvl="0" marL="457200" rtl="0" algn="l">
              <a:spcBef>
                <a:spcPts val="1200"/>
              </a:spcBef>
              <a:spcAft>
                <a:spcPts val="0"/>
              </a:spcAft>
              <a:buClr>
                <a:schemeClr val="dk1"/>
              </a:buClr>
              <a:buSzPct val="100000"/>
              <a:buChar char="-"/>
            </a:pPr>
            <a:r>
              <a:rPr lang="en">
                <a:solidFill>
                  <a:schemeClr val="dk1"/>
                </a:solidFill>
                <a:highlight>
                  <a:srgbClr val="FFFFFF"/>
                </a:highlight>
              </a:rPr>
              <a:t>used when you want to send a copy of your memo to another person or other persons but you do not want the main recipient to know that you have done so. </a:t>
            </a:r>
            <a:endParaRPr>
              <a:solidFill>
                <a:schemeClr val="dk1"/>
              </a:solidFill>
              <a:highlight>
                <a:srgbClr val="FFFFFF"/>
              </a:highlight>
            </a:endParaRPr>
          </a:p>
          <a:p>
            <a:pPr indent="-300037" lvl="0" marL="457200" rtl="0" algn="l">
              <a:spcBef>
                <a:spcPts val="0"/>
              </a:spcBef>
              <a:spcAft>
                <a:spcPts val="0"/>
              </a:spcAft>
              <a:buClr>
                <a:schemeClr val="dk1"/>
              </a:buClr>
              <a:buSzPct val="100000"/>
              <a:buChar char="-"/>
            </a:pPr>
            <a:r>
              <a:rPr lang="en">
                <a:solidFill>
                  <a:schemeClr val="dk1"/>
                </a:solidFill>
                <a:highlight>
                  <a:srgbClr val="FFFFFF"/>
                </a:highlight>
              </a:rPr>
              <a:t>Put BC followed by the name of the person receiving that copy. </a:t>
            </a:r>
            <a:endParaRPr>
              <a:solidFill>
                <a:schemeClr val="dk1"/>
              </a:solidFill>
              <a:highlight>
                <a:srgbClr val="FFFFFF"/>
              </a:highlight>
            </a:endParaRPr>
          </a:p>
          <a:p>
            <a:pPr indent="-300037" lvl="0" marL="457200" rtl="0" algn="l">
              <a:spcBef>
                <a:spcPts val="0"/>
              </a:spcBef>
              <a:spcAft>
                <a:spcPts val="0"/>
              </a:spcAft>
              <a:buClr>
                <a:schemeClr val="dk1"/>
              </a:buClr>
              <a:buSzPct val="100000"/>
              <a:buChar char="-"/>
            </a:pPr>
            <a:r>
              <a:rPr lang="en">
                <a:solidFill>
                  <a:schemeClr val="dk1"/>
                </a:solidFill>
                <a:highlight>
                  <a:srgbClr val="FFFFFF"/>
                </a:highlight>
              </a:rPr>
              <a:t>Alternatively use the notation </a:t>
            </a:r>
            <a:r>
              <a:rPr b="1" lang="en">
                <a:solidFill>
                  <a:schemeClr val="dk1"/>
                </a:solidFill>
                <a:highlight>
                  <a:srgbClr val="FFFFFF"/>
                </a:highlight>
              </a:rPr>
              <a:t>N.O.O.</a:t>
            </a:r>
            <a:r>
              <a:rPr lang="en">
                <a:solidFill>
                  <a:schemeClr val="dk1"/>
                </a:solidFill>
                <a:highlight>
                  <a:srgbClr val="FFFFFF"/>
                </a:highlight>
              </a:rPr>
              <a:t> followed by the name of the person/persons receiving that copy. N.O.O. stands for ‘Not On Original’.</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CC or just C</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highlight>
                  <a:srgbClr val="FFFFFF"/>
                </a:highlight>
              </a:rPr>
              <a:t>CC stands for Carbon Copy.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In the past people were using carbon paper in order to make copies hence the use of CC.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Today (in contemporary writing) we do not use carbon when making copies to other people, therefore the use of CC does not make sense.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Use C regardless of whether you are making copies to one person or more, because C may stand for Copy or Copies.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Despite the fact that CC looks popular, It is old-fashioned.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Circular</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334327" lvl="0" marL="457200" rtl="0" algn="just">
              <a:lnSpc>
                <a:spcPct val="180000"/>
              </a:lnSpc>
              <a:spcBef>
                <a:spcPts val="0"/>
              </a:spcBef>
              <a:spcAft>
                <a:spcPts val="0"/>
              </a:spcAft>
              <a:buClr>
                <a:schemeClr val="dk1"/>
              </a:buClr>
              <a:buSzPct val="100000"/>
              <a:buChar char="-"/>
            </a:pPr>
            <a:r>
              <a:rPr lang="en">
                <a:solidFill>
                  <a:schemeClr val="dk1"/>
                </a:solidFill>
                <a:highlight>
                  <a:srgbClr val="FFFFFF"/>
                </a:highlight>
              </a:rPr>
              <a:t>A circular is also an example of official correspondence in which a common matter to a large number of organisations, departments or agencies is communicated.</a:t>
            </a:r>
            <a:endParaRPr>
              <a:solidFill>
                <a:schemeClr val="dk1"/>
              </a:solidFill>
              <a:highlight>
                <a:srgbClr val="FFFFFF"/>
              </a:highlight>
            </a:endParaRPr>
          </a:p>
          <a:p>
            <a:pPr indent="-334327" lvl="0" marL="457200" rtl="0" algn="just">
              <a:lnSpc>
                <a:spcPct val="180000"/>
              </a:lnSpc>
              <a:spcBef>
                <a:spcPts val="0"/>
              </a:spcBef>
              <a:spcAft>
                <a:spcPts val="0"/>
              </a:spcAft>
              <a:buClr>
                <a:schemeClr val="dk1"/>
              </a:buClr>
              <a:buSzPct val="100000"/>
              <a:buChar char="-"/>
            </a:pPr>
            <a:r>
              <a:rPr lang="en">
                <a:solidFill>
                  <a:schemeClr val="dk1"/>
                </a:solidFill>
                <a:highlight>
                  <a:srgbClr val="FFFFFF"/>
                </a:highlight>
              </a:rPr>
              <a:t>In Malawi circulars are very common in government. For example, the Ministry of Education may write a circular to all Secondary and Primary School Head Teachers, Education Division Managers, Teachers Union of Malawi and all other stakeholders informing them about a change in the opening date of a school term.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Circular &amp; Memo</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en">
                <a:solidFill>
                  <a:schemeClr val="dk1"/>
                </a:solidFill>
                <a:highlight>
                  <a:srgbClr val="FFFFFF"/>
                </a:highlight>
              </a:rPr>
              <a:t>Circulars are intended for mass distribution whereas memos are intended for a select few.</a:t>
            </a:r>
            <a:endParaRPr>
              <a:solidFill>
                <a:schemeClr val="dk1"/>
              </a:solidFill>
              <a:highlight>
                <a:srgbClr val="FFFFFF"/>
              </a:highlight>
            </a:endParaRPr>
          </a:p>
          <a:p>
            <a:pPr indent="-342900" lvl="0" marL="457200" rtl="0" algn="l">
              <a:spcBef>
                <a:spcPts val="0"/>
              </a:spcBef>
              <a:spcAft>
                <a:spcPts val="0"/>
              </a:spcAft>
              <a:buClr>
                <a:schemeClr val="dk1"/>
              </a:buClr>
              <a:buSzPts val="1800"/>
              <a:buAutoNum type="arabicPeriod"/>
            </a:pPr>
            <a:r>
              <a:rPr lang="en">
                <a:solidFill>
                  <a:schemeClr val="dk1"/>
                </a:solidFill>
                <a:highlight>
                  <a:srgbClr val="FFFFFF"/>
                </a:highlight>
              </a:rPr>
              <a:t>Circulars often bear general announcements and have several subjects while memos often bear a limited subject matter.</a:t>
            </a:r>
            <a:endParaRPr>
              <a:solidFill>
                <a:schemeClr val="dk1"/>
              </a:solidFill>
              <a:highlight>
                <a:srgbClr val="FFFFFF"/>
              </a:highlight>
            </a:endParaRPr>
          </a:p>
          <a:p>
            <a:pPr indent="-342900" lvl="0" marL="457200" rtl="0" algn="l">
              <a:spcBef>
                <a:spcPts val="0"/>
              </a:spcBef>
              <a:spcAft>
                <a:spcPts val="0"/>
              </a:spcAft>
              <a:buClr>
                <a:schemeClr val="dk1"/>
              </a:buClr>
              <a:buSzPts val="1800"/>
              <a:buAutoNum type="arabicPeriod"/>
            </a:pPr>
            <a:r>
              <a:rPr lang="en">
                <a:solidFill>
                  <a:schemeClr val="dk1"/>
                </a:solidFill>
                <a:highlight>
                  <a:srgbClr val="FFFFFF"/>
                </a:highlight>
              </a:rPr>
              <a:t>Memos are more internal and exclusive in nature than circulars.</a:t>
            </a:r>
            <a:endParaRPr>
              <a:solidFill>
                <a:schemeClr val="dk1"/>
              </a:solidFill>
              <a:highlight>
                <a:srgbClr val="FFFFFF"/>
              </a:highlight>
            </a:endParaRPr>
          </a:p>
          <a:p>
            <a:pPr indent="-342900" lvl="0" marL="457200" rtl="0" algn="l">
              <a:spcBef>
                <a:spcPts val="0"/>
              </a:spcBef>
              <a:spcAft>
                <a:spcPts val="0"/>
              </a:spcAft>
              <a:buClr>
                <a:schemeClr val="dk1"/>
              </a:buClr>
              <a:buSzPts val="1800"/>
              <a:buAutoNum type="arabicPeriod"/>
            </a:pPr>
            <a:r>
              <a:rPr lang="en">
                <a:solidFill>
                  <a:schemeClr val="dk1"/>
                </a:solidFill>
                <a:highlight>
                  <a:srgbClr val="FFFFFF"/>
                </a:highlight>
              </a:rPr>
              <a:t>Memos can also pertain to legal documents like the MOA.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Style</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style of </a:t>
            </a:r>
            <a:r>
              <a:rPr lang="en"/>
              <a:t>language</a:t>
            </a:r>
            <a:r>
              <a:rPr lang="en"/>
              <a:t> in your memo </a:t>
            </a:r>
            <a:r>
              <a:rPr lang="en"/>
              <a:t>will depend on several factors;</a:t>
            </a:r>
            <a:endParaRPr/>
          </a:p>
          <a:p>
            <a:pPr indent="-342900" lvl="0" marL="457200" rtl="0" algn="l">
              <a:spcBef>
                <a:spcPts val="0"/>
              </a:spcBef>
              <a:spcAft>
                <a:spcPts val="0"/>
              </a:spcAft>
              <a:buSzPts val="1800"/>
              <a:buAutoNum type="arabicPeriod"/>
            </a:pPr>
            <a:r>
              <a:rPr b="1" lang="en"/>
              <a:t>Nature of the message</a:t>
            </a:r>
            <a:endParaRPr b="1"/>
          </a:p>
          <a:p>
            <a:pPr indent="-317500" lvl="1" marL="914400" rtl="0" algn="l">
              <a:spcBef>
                <a:spcPts val="0"/>
              </a:spcBef>
              <a:spcAft>
                <a:spcPts val="0"/>
              </a:spcAft>
              <a:buSzPts val="1400"/>
              <a:buChar char="○"/>
            </a:pPr>
            <a:r>
              <a:rPr lang="en"/>
              <a:t>Information, enquiry, request, reprimand, congratulations and so on.</a:t>
            </a:r>
            <a:endParaRPr/>
          </a:p>
          <a:p>
            <a:pPr indent="-342900" lvl="0" marL="457200" rtl="0" algn="l">
              <a:spcBef>
                <a:spcPts val="0"/>
              </a:spcBef>
              <a:spcAft>
                <a:spcPts val="0"/>
              </a:spcAft>
              <a:buSzPts val="1800"/>
              <a:buAutoNum type="arabicPeriod"/>
            </a:pPr>
            <a:r>
              <a:rPr b="1" lang="en"/>
              <a:t>Context of the message</a:t>
            </a:r>
            <a:endParaRPr b="1"/>
          </a:p>
          <a:p>
            <a:pPr indent="-317500" lvl="1" marL="914400" rtl="0" algn="l">
              <a:spcBef>
                <a:spcPts val="0"/>
              </a:spcBef>
              <a:spcAft>
                <a:spcPts val="0"/>
              </a:spcAft>
              <a:buSzPts val="1400"/>
              <a:buChar char="○"/>
            </a:pPr>
            <a:r>
              <a:rPr lang="en"/>
              <a:t>Potential reaction of the reader, what has gone before, how much the recipient knows already, urgency of the situation and priority of any action required – routine, emergency, crisis, follow-up instructions to all staff and so on.</a:t>
            </a:r>
            <a:endParaRPr/>
          </a:p>
          <a:p>
            <a:pPr indent="-342900" lvl="0" marL="457200" rtl="0" algn="l">
              <a:spcBef>
                <a:spcPts val="0"/>
              </a:spcBef>
              <a:spcAft>
                <a:spcPts val="0"/>
              </a:spcAft>
              <a:buSzPts val="1800"/>
              <a:buAutoNum type="arabicPeriod"/>
            </a:pPr>
            <a:r>
              <a:rPr b="1" lang="en"/>
              <a:t>Status and personality of the recipient</a:t>
            </a:r>
            <a:endParaRPr b="1"/>
          </a:p>
          <a:p>
            <a:pPr indent="-317500" lvl="1" marL="914400" rtl="0" algn="l">
              <a:spcBef>
                <a:spcPts val="0"/>
              </a:spcBef>
              <a:spcAft>
                <a:spcPts val="0"/>
              </a:spcAft>
              <a:buSzPts val="1400"/>
              <a:buChar char="○"/>
            </a:pPr>
            <a:r>
              <a:rPr lang="en"/>
              <a:t>Position in the organisation, known tastes and attitudes on written style and methods of working, technical/practical background, education level and so on.</a:t>
            </a:r>
            <a:endParaRPr/>
          </a:p>
          <a:p>
            <a:pPr indent="-342900" lvl="0" marL="457200" rtl="0" algn="l">
              <a:spcBef>
                <a:spcPts val="0"/>
              </a:spcBef>
              <a:spcAft>
                <a:spcPts val="0"/>
              </a:spcAft>
              <a:buSzPts val="1800"/>
              <a:buAutoNum type="arabicPeriod"/>
            </a:pPr>
            <a:r>
              <a:rPr b="1" lang="en"/>
              <a:t>Relationship between sender and recipient</a:t>
            </a:r>
            <a:endParaRPr b="1"/>
          </a:p>
          <a:p>
            <a:pPr indent="-317500" lvl="1" marL="914400" rtl="0" algn="l">
              <a:spcBef>
                <a:spcPts val="0"/>
              </a:spcBef>
              <a:spcAft>
                <a:spcPts val="0"/>
              </a:spcAft>
              <a:buSzPts val="1400"/>
              <a:buChar char="○"/>
            </a:pPr>
            <a:r>
              <a:rPr lang="en"/>
              <a:t>Friendly, distant, informal, formal and so on. (A neutral tone may be necessary where there will be several recipients.)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Style of </a:t>
            </a:r>
            <a:r>
              <a:rPr lang="en"/>
              <a:t>Language</a:t>
            </a:r>
            <a:endParaRPr/>
          </a:p>
        </p:txBody>
      </p:sp>
      <p:sp>
        <p:nvSpPr>
          <p:cNvPr id="139" name="Google Shape;13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style of writing will obviously vary a great deal. </a:t>
            </a:r>
            <a:endParaRPr/>
          </a:p>
          <a:p>
            <a:pPr indent="-342900" lvl="0" marL="457200" rtl="0" algn="l">
              <a:spcBef>
                <a:spcPts val="0"/>
              </a:spcBef>
              <a:spcAft>
                <a:spcPts val="0"/>
              </a:spcAft>
              <a:buSzPts val="1800"/>
              <a:buChar char="➔"/>
            </a:pPr>
            <a:r>
              <a:rPr lang="en"/>
              <a:t>Directives and instructions from a very senior executive to all personnel may well be written in very correct language whereas a hastily written message to a colleague may be written in extremely conversational English complete with ‘in jokes’ and slang expressions.</a:t>
            </a:r>
            <a:endParaRPr/>
          </a:p>
          <a:p>
            <a:pPr indent="-342900" lvl="0" marL="457200" rtl="0" algn="l">
              <a:spcBef>
                <a:spcPts val="0"/>
              </a:spcBef>
              <a:spcAft>
                <a:spcPts val="0"/>
              </a:spcAft>
              <a:buSzPts val="1800"/>
              <a:buChar char="➔"/>
            </a:pPr>
            <a:r>
              <a:rPr lang="en"/>
              <a:t>Messages written to people further up the organisation ladder will possibly be more cautious in style than those written to people further down.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Letters</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highlight>
                  <a:srgbClr val="FFFFFF"/>
                </a:highlight>
              </a:rPr>
              <a:t>Business letters represent you or your company/institution. </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For example, if the Registrar is writing a letter to the Ministry of Education, he is writing on behalf of Mzuzu University and on his own behalf.</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Qualities of a Good Business Letter</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lphaLcPeriod"/>
            </a:pPr>
            <a:r>
              <a:rPr lang="en"/>
              <a:t>They do not contain slang - Slang is any word that is not part of the standard vocabulary </a:t>
            </a:r>
            <a:endParaRPr/>
          </a:p>
          <a:p>
            <a:pPr indent="-342900" lvl="0" marL="457200" rtl="0" algn="l">
              <a:spcBef>
                <a:spcPts val="0"/>
              </a:spcBef>
              <a:spcAft>
                <a:spcPts val="0"/>
              </a:spcAft>
              <a:buSzPts val="1800"/>
              <a:buAutoNum type="alphaLcPeriod"/>
            </a:pPr>
            <a:r>
              <a:rPr lang="en"/>
              <a:t>They are formal and not chatty. It is not a friendly letter, no room for casual expressions.</a:t>
            </a:r>
            <a:endParaRPr/>
          </a:p>
          <a:p>
            <a:pPr indent="-342900" lvl="0" marL="457200" rtl="0" algn="l">
              <a:spcBef>
                <a:spcPts val="0"/>
              </a:spcBef>
              <a:spcAft>
                <a:spcPts val="0"/>
              </a:spcAft>
              <a:buSzPts val="1800"/>
              <a:buAutoNum type="alphaLcPeriod"/>
            </a:pPr>
            <a:r>
              <a:rPr lang="en"/>
              <a:t>They do not contain cliches. A Cliche is an expression that has lost meaning due to </a:t>
            </a:r>
            <a:r>
              <a:rPr lang="en"/>
              <a:t>over usage</a:t>
            </a:r>
            <a:r>
              <a:rPr lang="en"/>
              <a:t> e.g. last but not least. Everyone wants to use them, that makes them boring. They are not wrong to use.</a:t>
            </a:r>
            <a:endParaRPr/>
          </a:p>
          <a:p>
            <a:pPr indent="-342900" lvl="0" marL="457200" rtl="0" algn="l">
              <a:spcBef>
                <a:spcPts val="0"/>
              </a:spcBef>
              <a:spcAft>
                <a:spcPts val="0"/>
              </a:spcAft>
              <a:buSzPts val="1800"/>
              <a:buAutoNum type="alphaLcPeriod"/>
            </a:pPr>
            <a:r>
              <a:rPr lang="en"/>
              <a:t>They are courteous. They express displeasure or register a complaint without making enemies. Careful choosing of words.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Business Letter</a:t>
            </a:r>
            <a:endParaRPr/>
          </a:p>
        </p:txBody>
      </p:sp>
      <p:sp>
        <p:nvSpPr>
          <p:cNvPr id="157" name="Google Shape;15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just">
              <a:lnSpc>
                <a:spcPct val="180000"/>
              </a:lnSpc>
              <a:spcBef>
                <a:spcPts val="0"/>
              </a:spcBef>
              <a:spcAft>
                <a:spcPts val="0"/>
              </a:spcAft>
              <a:buClr>
                <a:schemeClr val="dk1"/>
              </a:buClr>
              <a:buSzPts val="1700"/>
              <a:buAutoNum type="arabicPeriod"/>
            </a:pPr>
            <a:r>
              <a:rPr b="1" lang="en" sz="1700">
                <a:solidFill>
                  <a:schemeClr val="dk1"/>
                </a:solidFill>
                <a:highlight>
                  <a:srgbClr val="FFFFFF"/>
                </a:highlight>
              </a:rPr>
              <a:t>Senders address</a:t>
            </a:r>
            <a:r>
              <a:rPr lang="en" sz="1700">
                <a:solidFill>
                  <a:schemeClr val="dk1"/>
                </a:solidFill>
                <a:highlight>
                  <a:srgbClr val="FFFFFF"/>
                </a:highlight>
              </a:rPr>
              <a:t> (heading if using </a:t>
            </a:r>
            <a:r>
              <a:rPr lang="en" sz="1700">
                <a:solidFill>
                  <a:schemeClr val="dk1"/>
                </a:solidFill>
                <a:highlight>
                  <a:srgbClr val="FFFFFF"/>
                </a:highlight>
              </a:rPr>
              <a:t>letterhead</a:t>
            </a:r>
            <a:r>
              <a:rPr lang="en" sz="1700">
                <a:solidFill>
                  <a:schemeClr val="dk1"/>
                </a:solidFill>
                <a:highlight>
                  <a:srgbClr val="FFFFFF"/>
                </a:highlight>
              </a:rPr>
              <a:t>):</a:t>
            </a:r>
            <a:endParaRPr sz="1700">
              <a:solidFill>
                <a:schemeClr val="dk1"/>
              </a:solidFill>
              <a:highlight>
                <a:srgbClr val="FFFFFF"/>
              </a:highlight>
            </a:endParaRPr>
          </a:p>
          <a:p>
            <a:pPr indent="-336550" lvl="0" marL="457200" rtl="0" algn="just">
              <a:lnSpc>
                <a:spcPct val="180000"/>
              </a:lnSpc>
              <a:spcBef>
                <a:spcPts val="0"/>
              </a:spcBef>
              <a:spcAft>
                <a:spcPts val="0"/>
              </a:spcAft>
              <a:buClr>
                <a:schemeClr val="dk1"/>
              </a:buClr>
              <a:buSzPts val="1700"/>
              <a:buChar char="-"/>
            </a:pPr>
            <a:r>
              <a:rPr lang="en" sz="1700">
                <a:solidFill>
                  <a:schemeClr val="dk1"/>
                </a:solidFill>
                <a:highlight>
                  <a:srgbClr val="FFFFFF"/>
                </a:highlight>
              </a:rPr>
              <a:t>A </a:t>
            </a:r>
            <a:r>
              <a:rPr lang="en" sz="1700">
                <a:solidFill>
                  <a:schemeClr val="dk1"/>
                </a:solidFill>
                <a:highlight>
                  <a:srgbClr val="FFFFFF"/>
                </a:highlight>
              </a:rPr>
              <a:t>letterhead</a:t>
            </a:r>
            <a:r>
              <a:rPr lang="en" sz="1700">
                <a:solidFill>
                  <a:schemeClr val="dk1"/>
                </a:solidFill>
                <a:highlight>
                  <a:srgbClr val="FFFFFF"/>
                </a:highlight>
              </a:rPr>
              <a:t> is the printed heading on a paper giving the sender’s name or address.</a:t>
            </a:r>
            <a:endParaRPr sz="1700">
              <a:solidFill>
                <a:schemeClr val="dk1"/>
              </a:solidFill>
              <a:highlight>
                <a:srgbClr val="FFFFFF"/>
              </a:highlight>
            </a:endParaRPr>
          </a:p>
          <a:p>
            <a:pPr indent="-336550" lvl="0" marL="457200" rtl="0" algn="just">
              <a:lnSpc>
                <a:spcPct val="180000"/>
              </a:lnSpc>
              <a:spcBef>
                <a:spcPts val="0"/>
              </a:spcBef>
              <a:spcAft>
                <a:spcPts val="0"/>
              </a:spcAft>
              <a:buClr>
                <a:schemeClr val="dk1"/>
              </a:buClr>
              <a:buSzPts val="1700"/>
              <a:buChar char="-"/>
            </a:pPr>
            <a:r>
              <a:rPr lang="en" sz="1700">
                <a:solidFill>
                  <a:schemeClr val="dk1"/>
                </a:solidFill>
                <a:highlight>
                  <a:srgbClr val="FFFFFF"/>
                </a:highlight>
              </a:rPr>
              <a:t>When writing addresses, there are two ways you can use in presenting the items. </a:t>
            </a:r>
            <a:endParaRPr sz="1700">
              <a:solidFill>
                <a:schemeClr val="dk1"/>
              </a:solidFill>
              <a:highlight>
                <a:srgbClr val="FFFFFF"/>
              </a:highlight>
            </a:endParaRPr>
          </a:p>
          <a:p>
            <a:pPr indent="-336550" lvl="0" marL="457200" rtl="0" algn="just">
              <a:lnSpc>
                <a:spcPct val="180000"/>
              </a:lnSpc>
              <a:spcBef>
                <a:spcPts val="0"/>
              </a:spcBef>
              <a:spcAft>
                <a:spcPts val="0"/>
              </a:spcAft>
              <a:buClr>
                <a:schemeClr val="dk1"/>
              </a:buClr>
              <a:buSzPts val="1700"/>
              <a:buChar char="-"/>
            </a:pPr>
            <a:r>
              <a:rPr lang="en" sz="1700">
                <a:solidFill>
                  <a:schemeClr val="dk1"/>
                </a:solidFill>
                <a:highlight>
                  <a:srgbClr val="FFFFFF"/>
                </a:highlight>
              </a:rPr>
              <a:t>You can use the ‘closed punctuation rule’ (where all items are punctuated) or the ‘open punctuation rule’ (where all items are not punctuated).</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Senders Address</a:t>
            </a:r>
            <a:endParaRPr/>
          </a:p>
        </p:txBody>
      </p:sp>
      <p:sp>
        <p:nvSpPr>
          <p:cNvPr id="163" name="Google Shape;16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just">
              <a:lnSpc>
                <a:spcPct val="180000"/>
              </a:lnSpc>
              <a:spcBef>
                <a:spcPts val="0"/>
              </a:spcBef>
              <a:spcAft>
                <a:spcPts val="0"/>
              </a:spcAft>
              <a:buClr>
                <a:schemeClr val="dk1"/>
              </a:buClr>
              <a:buSzPts val="1700"/>
              <a:buChar char="-"/>
            </a:pPr>
            <a:r>
              <a:rPr lang="en" sz="1700">
                <a:solidFill>
                  <a:schemeClr val="dk1"/>
                </a:solidFill>
                <a:highlight>
                  <a:srgbClr val="FFFFFF"/>
                </a:highlight>
              </a:rPr>
              <a:t>Do not write your address in slanting manner.</a:t>
            </a:r>
            <a:endParaRPr sz="1700">
              <a:solidFill>
                <a:schemeClr val="dk1"/>
              </a:solidFill>
              <a:highlight>
                <a:srgbClr val="FFFFFF"/>
              </a:highlight>
            </a:endParaRPr>
          </a:p>
          <a:p>
            <a:pPr indent="-336550" lvl="0" marL="457200" rtl="0" algn="just">
              <a:lnSpc>
                <a:spcPct val="180000"/>
              </a:lnSpc>
              <a:spcBef>
                <a:spcPts val="0"/>
              </a:spcBef>
              <a:spcAft>
                <a:spcPts val="0"/>
              </a:spcAft>
              <a:buClr>
                <a:schemeClr val="dk1"/>
              </a:buClr>
              <a:buSzPts val="1700"/>
              <a:buChar char="-"/>
            </a:pPr>
            <a:r>
              <a:rPr lang="en" sz="1700">
                <a:solidFill>
                  <a:schemeClr val="dk1"/>
                </a:solidFill>
                <a:highlight>
                  <a:srgbClr val="FFFFFF"/>
                </a:highlight>
              </a:rPr>
              <a:t>Place it in upper right corner of the letter.</a:t>
            </a:r>
            <a:endParaRPr sz="1700">
              <a:solidFill>
                <a:schemeClr val="dk1"/>
              </a:solidFill>
              <a:highlight>
                <a:srgbClr val="FFFFFF"/>
              </a:highlight>
            </a:endParaRPr>
          </a:p>
          <a:p>
            <a:pPr indent="-336550" lvl="0" marL="457200" rtl="0" algn="just">
              <a:lnSpc>
                <a:spcPct val="180000"/>
              </a:lnSpc>
              <a:spcBef>
                <a:spcPts val="0"/>
              </a:spcBef>
              <a:spcAft>
                <a:spcPts val="0"/>
              </a:spcAft>
              <a:buClr>
                <a:schemeClr val="dk1"/>
              </a:buClr>
              <a:buSzPts val="1700"/>
              <a:buChar char="-"/>
            </a:pPr>
            <a:r>
              <a:rPr lang="en" sz="1700">
                <a:solidFill>
                  <a:schemeClr val="dk1"/>
                </a:solidFill>
                <a:highlight>
                  <a:srgbClr val="FFFFFF"/>
                </a:highlight>
              </a:rPr>
              <a:t>Never use abbreviations eg Dpt.</a:t>
            </a:r>
            <a:endParaRPr sz="1700">
              <a:solidFill>
                <a:schemeClr val="dk1"/>
              </a:solidFill>
              <a:highlight>
                <a:srgbClr val="FFFFFF"/>
              </a:highlight>
            </a:endParaRPr>
          </a:p>
          <a:p>
            <a:pPr indent="-336550" lvl="0" marL="457200" rtl="0" algn="just">
              <a:lnSpc>
                <a:spcPct val="180000"/>
              </a:lnSpc>
              <a:spcBef>
                <a:spcPts val="0"/>
              </a:spcBef>
              <a:spcAft>
                <a:spcPts val="0"/>
              </a:spcAft>
              <a:buClr>
                <a:schemeClr val="dk1"/>
              </a:buClr>
              <a:buSzPts val="1700"/>
              <a:buChar char="-"/>
            </a:pPr>
            <a:r>
              <a:rPr lang="en" sz="1700">
                <a:solidFill>
                  <a:schemeClr val="dk1"/>
                </a:solidFill>
                <a:highlight>
                  <a:srgbClr val="FFFFFF"/>
                </a:highlight>
              </a:rPr>
              <a:t>When you are writing on a headed paper, do not include the sender's address because such details are already contained in the letterhead</a:t>
            </a:r>
            <a:endParaRPr sz="2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Closed + Open Punctuation</a:t>
            </a:r>
            <a:endParaRPr/>
          </a:p>
        </p:txBody>
      </p:sp>
      <p:sp>
        <p:nvSpPr>
          <p:cNvPr id="169" name="Google Shape;16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0" name="Google Shape;170;p32"/>
          <p:cNvPicPr preferRelativeResize="0"/>
          <p:nvPr/>
        </p:nvPicPr>
        <p:blipFill>
          <a:blip r:embed="rId3">
            <a:alphaModFix/>
          </a:blip>
          <a:stretch>
            <a:fillRect/>
          </a:stretch>
        </p:blipFill>
        <p:spPr>
          <a:xfrm>
            <a:off x="171050" y="1295050"/>
            <a:ext cx="8661250" cy="2590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business letter</a:t>
            </a:r>
            <a:endParaRPr/>
          </a:p>
        </p:txBody>
      </p:sp>
      <p:sp>
        <p:nvSpPr>
          <p:cNvPr id="176" name="Google Shape;17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2. </a:t>
            </a:r>
            <a:r>
              <a:rPr b="1" lang="en">
                <a:solidFill>
                  <a:schemeClr val="dk1"/>
                </a:solidFill>
                <a:highlight>
                  <a:srgbClr val="FFFFFF"/>
                </a:highlight>
              </a:rPr>
              <a:t>Date: </a:t>
            </a:r>
            <a:endParaRPr b="1">
              <a:solidFill>
                <a:schemeClr val="dk1"/>
              </a:solidFill>
              <a:highlight>
                <a:srgbClr val="FFFFFF"/>
              </a:highlight>
            </a:endParaRPr>
          </a:p>
          <a:p>
            <a:pPr indent="-323850" lvl="0" marL="457200" rtl="0" algn="l">
              <a:spcBef>
                <a:spcPts val="1200"/>
              </a:spcBef>
              <a:spcAft>
                <a:spcPts val="0"/>
              </a:spcAft>
              <a:buClr>
                <a:schemeClr val="dk1"/>
              </a:buClr>
              <a:buSzPts val="1500"/>
              <a:buChar char="-"/>
            </a:pPr>
            <a:r>
              <a:rPr lang="en" sz="1500">
                <a:solidFill>
                  <a:schemeClr val="dk1"/>
                </a:solidFill>
                <a:highlight>
                  <a:srgbClr val="FFFFFF"/>
                </a:highlight>
              </a:rPr>
              <a:t>Place it one line below sender’s address flushed with it, but flushed with the left margin if the letter is on headed paper.</a:t>
            </a:r>
            <a:endParaRPr sz="1500">
              <a:solidFill>
                <a:schemeClr val="dk1"/>
              </a:solidFill>
              <a:highlight>
                <a:srgbClr val="FFFFFF"/>
              </a:highlight>
            </a:endParaRPr>
          </a:p>
          <a:p>
            <a:pPr indent="0" lvl="0" marL="0" rtl="0" algn="l">
              <a:spcBef>
                <a:spcPts val="1200"/>
              </a:spcBef>
              <a:spcAft>
                <a:spcPts val="0"/>
              </a:spcAft>
              <a:buNone/>
            </a:pPr>
            <a:r>
              <a:rPr lang="en">
                <a:solidFill>
                  <a:schemeClr val="dk1"/>
                </a:solidFill>
                <a:highlight>
                  <a:srgbClr val="FFFFFF"/>
                </a:highlight>
              </a:rPr>
              <a:t>3. </a:t>
            </a:r>
            <a:r>
              <a:rPr b="1" lang="en">
                <a:solidFill>
                  <a:schemeClr val="dk1"/>
                </a:solidFill>
                <a:highlight>
                  <a:srgbClr val="FFFFFF"/>
                </a:highlight>
              </a:rPr>
              <a:t>Receiver’s Address</a:t>
            </a:r>
            <a:endParaRPr b="1">
              <a:solidFill>
                <a:schemeClr val="dk1"/>
              </a:solidFill>
              <a:highlight>
                <a:srgbClr val="FFFFFF"/>
              </a:highlight>
            </a:endParaRPr>
          </a:p>
          <a:p>
            <a:pPr indent="-323850" lvl="0" marL="457200" rtl="0" algn="just">
              <a:lnSpc>
                <a:spcPct val="180000"/>
              </a:lnSpc>
              <a:spcBef>
                <a:spcPts val="1200"/>
              </a:spcBef>
              <a:spcAft>
                <a:spcPts val="0"/>
              </a:spcAft>
              <a:buClr>
                <a:schemeClr val="dk1"/>
              </a:buClr>
              <a:buSzPts val="1500"/>
              <a:buChar char="-"/>
            </a:pPr>
            <a:r>
              <a:rPr lang="en" sz="1500">
                <a:solidFill>
                  <a:schemeClr val="dk1"/>
                </a:solidFill>
                <a:highlight>
                  <a:srgbClr val="FFFFFF"/>
                </a:highlight>
              </a:rPr>
              <a:t>Consists of receiver’s name or title, name of office or department (if any), name of company or institution, postal address.</a:t>
            </a:r>
            <a:endParaRPr sz="1500">
              <a:solidFill>
                <a:schemeClr val="dk1"/>
              </a:solidFill>
              <a:highlight>
                <a:srgbClr val="FFFFFF"/>
              </a:highlight>
            </a:endParaRPr>
          </a:p>
          <a:p>
            <a:pPr indent="-323850" lvl="0" marL="457200" rtl="0" algn="just">
              <a:lnSpc>
                <a:spcPct val="180000"/>
              </a:lnSpc>
              <a:spcBef>
                <a:spcPts val="0"/>
              </a:spcBef>
              <a:spcAft>
                <a:spcPts val="0"/>
              </a:spcAft>
              <a:buClr>
                <a:schemeClr val="dk1"/>
              </a:buClr>
              <a:buSzPts val="1500"/>
              <a:buChar char="-"/>
            </a:pPr>
            <a:r>
              <a:rPr lang="en" sz="1500">
                <a:solidFill>
                  <a:schemeClr val="dk1"/>
                </a:solidFill>
                <a:highlight>
                  <a:srgbClr val="FFFFFF"/>
                </a:highlight>
              </a:rPr>
              <a:t>Place it flush with the left margin, one line below the date line.</a:t>
            </a:r>
            <a:endParaRPr sz="1500">
              <a:solidFill>
                <a:schemeClr val="dk1"/>
              </a:solidFill>
              <a:highlight>
                <a:srgbClr val="FFFFFF"/>
              </a:highlight>
            </a:endParaRPr>
          </a:p>
          <a:p>
            <a:pPr indent="-323850" lvl="0" marL="457200" rtl="0" algn="just">
              <a:lnSpc>
                <a:spcPct val="180000"/>
              </a:lnSpc>
              <a:spcBef>
                <a:spcPts val="0"/>
              </a:spcBef>
              <a:spcAft>
                <a:spcPts val="0"/>
              </a:spcAft>
              <a:buClr>
                <a:schemeClr val="dk1"/>
              </a:buClr>
              <a:buSzPts val="1500"/>
              <a:buChar char="-"/>
            </a:pPr>
            <a:r>
              <a:rPr lang="en" sz="1500">
                <a:solidFill>
                  <a:schemeClr val="dk1"/>
                </a:solidFill>
                <a:highlight>
                  <a:srgbClr val="FFFFFF"/>
                </a:highlight>
              </a:rPr>
              <a:t>If the name is included, always include proper title: Mr, Mrs, Miss, Dr, Prof. If you choose to put a title after name, do not at the same time put it before.</a:t>
            </a:r>
            <a:endParaRPr sz="2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Business Letter</a:t>
            </a:r>
            <a:endParaRPr/>
          </a:p>
        </p:txBody>
      </p:sp>
      <p:sp>
        <p:nvSpPr>
          <p:cNvPr id="182" name="Google Shape;18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4. Salutation</a:t>
            </a:r>
            <a:endParaRPr b="1"/>
          </a:p>
          <a:p>
            <a:pPr indent="-317500" lvl="0" marL="457200" rtl="0" algn="just">
              <a:lnSpc>
                <a:spcPct val="180000"/>
              </a:lnSpc>
              <a:spcBef>
                <a:spcPts val="1200"/>
              </a:spcBef>
              <a:spcAft>
                <a:spcPts val="0"/>
              </a:spcAft>
              <a:buClr>
                <a:schemeClr val="dk1"/>
              </a:buClr>
              <a:buSzPts val="1400"/>
              <a:buChar char="-"/>
            </a:pPr>
            <a:r>
              <a:rPr lang="en" sz="1400">
                <a:solidFill>
                  <a:schemeClr val="dk1"/>
                </a:solidFill>
                <a:highlight>
                  <a:srgbClr val="FFFFFF"/>
                </a:highlight>
              </a:rPr>
              <a:t>Place it one line below the receiver’s address.</a:t>
            </a:r>
            <a:endParaRPr sz="1400">
              <a:solidFill>
                <a:schemeClr val="dk1"/>
              </a:solidFill>
              <a:highlight>
                <a:srgbClr val="FFFFFF"/>
              </a:highlight>
            </a:endParaRPr>
          </a:p>
          <a:p>
            <a:pPr indent="-317500" lvl="0" marL="457200" rtl="0" algn="just">
              <a:lnSpc>
                <a:spcPct val="180000"/>
              </a:lnSpc>
              <a:spcBef>
                <a:spcPts val="0"/>
              </a:spcBef>
              <a:spcAft>
                <a:spcPts val="0"/>
              </a:spcAft>
              <a:buClr>
                <a:schemeClr val="dk1"/>
              </a:buClr>
              <a:buSzPts val="1400"/>
              <a:buChar char="-"/>
            </a:pPr>
            <a:r>
              <a:rPr lang="en" sz="1400">
                <a:solidFill>
                  <a:schemeClr val="dk1"/>
                </a:solidFill>
                <a:highlight>
                  <a:srgbClr val="FFFFFF"/>
                </a:highlight>
              </a:rPr>
              <a:t>Address receiver with proper title and last name, unless a knight. A man who is knighted is called ‘Sir’ while a woman who is knighted is called ‘Lady’. When addressing them use first name for a man and surname for a woman. For example if a man’s name is Dumisani Chakanga, write ‘Dear Sir Dumisani. If a woman’s name is Chisomo Singret, write ‘Dear Lady Singret.</a:t>
            </a:r>
            <a:endParaRPr sz="1400">
              <a:solidFill>
                <a:schemeClr val="dk1"/>
              </a:solidFill>
              <a:highlight>
                <a:srgbClr val="FFFFFF"/>
              </a:highlight>
            </a:endParaRPr>
          </a:p>
          <a:p>
            <a:pPr indent="-317500" lvl="0" marL="457200" rtl="0" algn="just">
              <a:lnSpc>
                <a:spcPct val="180000"/>
              </a:lnSpc>
              <a:spcBef>
                <a:spcPts val="0"/>
              </a:spcBef>
              <a:spcAft>
                <a:spcPts val="0"/>
              </a:spcAft>
              <a:buClr>
                <a:schemeClr val="dk1"/>
              </a:buClr>
              <a:buSzPts val="1400"/>
              <a:buChar char="-"/>
            </a:pPr>
            <a:r>
              <a:rPr lang="en" sz="1400">
                <a:solidFill>
                  <a:schemeClr val="dk1"/>
                </a:solidFill>
                <a:highlight>
                  <a:srgbClr val="FFFFFF"/>
                </a:highlight>
              </a:rPr>
              <a:t>If you are not writing to a specific person in a company, use “Dear Sir or Madam”.</a:t>
            </a:r>
            <a:endParaRPr sz="1400">
              <a:solidFill>
                <a:schemeClr val="dk1"/>
              </a:solidFill>
              <a:highlight>
                <a:srgbClr val="FFFFFF"/>
              </a:highlight>
            </a:endParaRPr>
          </a:p>
          <a:p>
            <a:pPr indent="-317500" lvl="0" marL="457200" rtl="0" algn="just">
              <a:lnSpc>
                <a:spcPct val="180000"/>
              </a:lnSpc>
              <a:spcBef>
                <a:spcPts val="0"/>
              </a:spcBef>
              <a:spcAft>
                <a:spcPts val="0"/>
              </a:spcAft>
              <a:buClr>
                <a:schemeClr val="dk1"/>
              </a:buClr>
              <a:buSzPts val="1400"/>
              <a:buChar char="-"/>
            </a:pPr>
            <a:r>
              <a:rPr lang="en" sz="1400">
                <a:solidFill>
                  <a:schemeClr val="dk1"/>
                </a:solidFill>
                <a:highlight>
                  <a:srgbClr val="FFFFFF"/>
                </a:highlight>
              </a:rPr>
              <a:t>Use Ms for a woman’s title unless she prefers Mrs or Miss.</a:t>
            </a:r>
            <a:endParaRPr b="1"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Business Letter</a:t>
            </a:r>
            <a:endParaRPr/>
          </a:p>
        </p:txBody>
      </p:sp>
      <p:sp>
        <p:nvSpPr>
          <p:cNvPr id="188" name="Google Shape;188;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5. </a:t>
            </a:r>
            <a:r>
              <a:rPr b="1" lang="en"/>
              <a:t>Subject</a:t>
            </a:r>
            <a:endParaRPr b="1"/>
          </a:p>
          <a:p>
            <a:pPr indent="-342900" lvl="0" marL="457200" rtl="0" algn="l">
              <a:spcBef>
                <a:spcPts val="1200"/>
              </a:spcBef>
              <a:spcAft>
                <a:spcPts val="0"/>
              </a:spcAft>
              <a:buSzPts val="1800"/>
              <a:buChar char="-"/>
            </a:pPr>
            <a:r>
              <a:rPr lang="en"/>
              <a:t>This is a brief phrase or sentence capturing the theme of the letter.</a:t>
            </a:r>
            <a:endParaRPr/>
          </a:p>
          <a:p>
            <a:pPr indent="0" lvl="0" marL="0" rtl="0" algn="l">
              <a:spcBef>
                <a:spcPts val="1200"/>
              </a:spcBef>
              <a:spcAft>
                <a:spcPts val="0"/>
              </a:spcAft>
              <a:buNone/>
            </a:pPr>
            <a:r>
              <a:rPr lang="en"/>
              <a:t>6. </a:t>
            </a:r>
            <a:r>
              <a:rPr b="1" lang="en"/>
              <a:t>Body</a:t>
            </a:r>
            <a:endParaRPr b="1"/>
          </a:p>
          <a:p>
            <a:pPr indent="-342900" lvl="0" marL="457200" rtl="0" algn="just">
              <a:lnSpc>
                <a:spcPct val="180000"/>
              </a:lnSpc>
              <a:spcBef>
                <a:spcPts val="1200"/>
              </a:spcBef>
              <a:spcAft>
                <a:spcPts val="0"/>
              </a:spcAft>
              <a:buSzPts val="1800"/>
              <a:buChar char="-"/>
            </a:pPr>
            <a:r>
              <a:rPr lang="en">
                <a:solidFill>
                  <a:schemeClr val="dk1"/>
                </a:solidFill>
                <a:highlight>
                  <a:srgbClr val="FFFFFF"/>
                </a:highlight>
              </a:rPr>
              <a:t>Begin the body one line below salutation.</a:t>
            </a:r>
            <a:endParaRPr>
              <a:solidFill>
                <a:schemeClr val="dk1"/>
              </a:solidFill>
              <a:highlight>
                <a:srgbClr val="FFFFFF"/>
              </a:highlight>
            </a:endParaRPr>
          </a:p>
          <a:p>
            <a:pPr indent="-342900" lvl="0" marL="457200" rtl="0" algn="just">
              <a:lnSpc>
                <a:spcPct val="180000"/>
              </a:lnSpc>
              <a:spcBef>
                <a:spcPts val="0"/>
              </a:spcBef>
              <a:spcAft>
                <a:spcPts val="0"/>
              </a:spcAft>
              <a:buSzPts val="1800"/>
              <a:buChar char="-"/>
            </a:pPr>
            <a:r>
              <a:rPr lang="en">
                <a:solidFill>
                  <a:schemeClr val="dk1"/>
                </a:solidFill>
                <a:highlight>
                  <a:srgbClr val="FFFFFF"/>
                </a:highlight>
              </a:rPr>
              <a:t>-Show paragraphs by leaving one line between them (not by indenting)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Business Letter</a:t>
            </a:r>
            <a:endParaRPr/>
          </a:p>
        </p:txBody>
      </p:sp>
      <p:sp>
        <p:nvSpPr>
          <p:cNvPr id="194" name="Google Shape;194;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7. </a:t>
            </a:r>
            <a:r>
              <a:rPr b="1" lang="en"/>
              <a:t>Complimentary Close/Valediction</a:t>
            </a:r>
            <a:endParaRPr b="1"/>
          </a:p>
          <a:p>
            <a:pPr indent="-374650" lvl="0" marL="457200" rtl="0" algn="just">
              <a:lnSpc>
                <a:spcPct val="180000"/>
              </a:lnSpc>
              <a:spcBef>
                <a:spcPts val="1200"/>
              </a:spcBef>
              <a:spcAft>
                <a:spcPts val="0"/>
              </a:spcAft>
              <a:buSzPts val="2300"/>
              <a:buChar char="-"/>
            </a:pPr>
            <a:r>
              <a:rPr lang="en" sz="1700">
                <a:solidFill>
                  <a:schemeClr val="dk1"/>
                </a:solidFill>
                <a:highlight>
                  <a:srgbClr val="FFFFFF"/>
                </a:highlight>
              </a:rPr>
              <a:t>Place it one line below the body of the letter.</a:t>
            </a:r>
            <a:endParaRPr sz="1700">
              <a:solidFill>
                <a:schemeClr val="dk1"/>
              </a:solidFill>
              <a:highlight>
                <a:srgbClr val="FFFFFF"/>
              </a:highlight>
            </a:endParaRPr>
          </a:p>
          <a:p>
            <a:pPr indent="-374650" lvl="0" marL="457200" rtl="0" algn="just">
              <a:lnSpc>
                <a:spcPct val="180000"/>
              </a:lnSpc>
              <a:spcBef>
                <a:spcPts val="0"/>
              </a:spcBef>
              <a:spcAft>
                <a:spcPts val="0"/>
              </a:spcAft>
              <a:buSzPts val="2300"/>
              <a:buChar char="-"/>
            </a:pPr>
            <a:r>
              <a:rPr lang="en" sz="1700">
                <a:solidFill>
                  <a:schemeClr val="dk1"/>
                </a:solidFill>
                <a:highlight>
                  <a:srgbClr val="FFFFFF"/>
                </a:highlight>
              </a:rPr>
              <a:t>Align it with the left margin.</a:t>
            </a:r>
            <a:endParaRPr sz="1700">
              <a:solidFill>
                <a:schemeClr val="dk1"/>
              </a:solidFill>
              <a:highlight>
                <a:srgbClr val="FFFFFF"/>
              </a:highlight>
            </a:endParaRPr>
          </a:p>
          <a:p>
            <a:pPr indent="-374650" lvl="0" marL="457200" rtl="0" algn="just">
              <a:lnSpc>
                <a:spcPct val="180000"/>
              </a:lnSpc>
              <a:spcBef>
                <a:spcPts val="0"/>
              </a:spcBef>
              <a:spcAft>
                <a:spcPts val="0"/>
              </a:spcAft>
              <a:buSzPts val="2300"/>
              <a:buChar char="-"/>
            </a:pPr>
            <a:r>
              <a:rPr lang="en" sz="1700">
                <a:solidFill>
                  <a:schemeClr val="dk1"/>
                </a:solidFill>
                <a:highlight>
                  <a:srgbClr val="FFFFFF"/>
                </a:highlight>
              </a:rPr>
              <a:t>Use ‘Yours faithfully’ if salutation is ‘Dear Sir/Madam’.</a:t>
            </a:r>
            <a:endParaRPr sz="1700">
              <a:solidFill>
                <a:schemeClr val="dk1"/>
              </a:solidFill>
              <a:highlight>
                <a:srgbClr val="FFFFFF"/>
              </a:highlight>
            </a:endParaRPr>
          </a:p>
          <a:p>
            <a:pPr indent="-374650" lvl="0" marL="457200" rtl="0" algn="just">
              <a:lnSpc>
                <a:spcPct val="180000"/>
              </a:lnSpc>
              <a:spcBef>
                <a:spcPts val="0"/>
              </a:spcBef>
              <a:spcAft>
                <a:spcPts val="0"/>
              </a:spcAft>
              <a:buSzPts val="2300"/>
              <a:buChar char="-"/>
            </a:pPr>
            <a:r>
              <a:rPr lang="en" sz="1700">
                <a:solidFill>
                  <a:schemeClr val="dk1"/>
                </a:solidFill>
                <a:highlight>
                  <a:srgbClr val="FFFFFF"/>
                </a:highlight>
              </a:rPr>
              <a:t>If the name is included in salutation, choose from among:  ‘Yours sincerely’, ‘Sincerely yours’, ‘Respectfully yours’ or ‘Yours truly’.</a:t>
            </a:r>
            <a:endParaRPr sz="23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Parts of a Business Letter</a:t>
            </a:r>
            <a:endParaRPr/>
          </a:p>
        </p:txBody>
      </p:sp>
      <p:sp>
        <p:nvSpPr>
          <p:cNvPr id="200" name="Google Shape;200;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8. </a:t>
            </a:r>
            <a:r>
              <a:rPr b="1" lang="en"/>
              <a:t>Signature </a:t>
            </a:r>
            <a:endParaRPr b="1"/>
          </a:p>
          <a:p>
            <a:pPr indent="-317182" lvl="0" marL="457200" rtl="0" algn="just">
              <a:lnSpc>
                <a:spcPct val="180000"/>
              </a:lnSpc>
              <a:spcBef>
                <a:spcPts val="1200"/>
              </a:spcBef>
              <a:spcAft>
                <a:spcPts val="0"/>
              </a:spcAft>
              <a:buSzPct val="100000"/>
              <a:buChar char="-"/>
            </a:pPr>
            <a:r>
              <a:rPr lang="en">
                <a:solidFill>
                  <a:schemeClr val="dk1"/>
                </a:solidFill>
                <a:highlight>
                  <a:srgbClr val="FFFFFF"/>
                </a:highlight>
              </a:rPr>
              <a:t>Place your name two lines below the </a:t>
            </a:r>
            <a:r>
              <a:rPr lang="en">
                <a:solidFill>
                  <a:schemeClr val="dk1"/>
                </a:solidFill>
                <a:highlight>
                  <a:srgbClr val="FFFFFF"/>
                </a:highlight>
              </a:rPr>
              <a:t>complimentary</a:t>
            </a:r>
            <a:r>
              <a:rPr lang="en">
                <a:solidFill>
                  <a:schemeClr val="dk1"/>
                </a:solidFill>
                <a:highlight>
                  <a:srgbClr val="FFFFFF"/>
                </a:highlight>
              </a:rPr>
              <a:t> close.</a:t>
            </a:r>
            <a:endParaRPr>
              <a:solidFill>
                <a:schemeClr val="dk1"/>
              </a:solidFill>
              <a:highlight>
                <a:srgbClr val="FFFFFF"/>
              </a:highlight>
            </a:endParaRPr>
          </a:p>
          <a:p>
            <a:pPr indent="-317182" lvl="0" marL="457200" rtl="0" algn="just">
              <a:lnSpc>
                <a:spcPct val="180000"/>
              </a:lnSpc>
              <a:spcBef>
                <a:spcPts val="0"/>
              </a:spcBef>
              <a:spcAft>
                <a:spcPts val="0"/>
              </a:spcAft>
              <a:buSzPct val="100000"/>
              <a:buChar char="-"/>
            </a:pPr>
            <a:r>
              <a:rPr lang="en">
                <a:solidFill>
                  <a:schemeClr val="dk1"/>
                </a:solidFill>
                <a:highlight>
                  <a:srgbClr val="FFFFFF"/>
                </a:highlight>
              </a:rPr>
              <a:t>Write your signature between </a:t>
            </a:r>
            <a:r>
              <a:rPr lang="en">
                <a:solidFill>
                  <a:schemeClr val="dk1"/>
                </a:solidFill>
                <a:highlight>
                  <a:srgbClr val="FFFFFF"/>
                </a:highlight>
              </a:rPr>
              <a:t>complimentary</a:t>
            </a:r>
            <a:r>
              <a:rPr lang="en">
                <a:solidFill>
                  <a:schemeClr val="dk1"/>
                </a:solidFill>
                <a:highlight>
                  <a:srgbClr val="FFFFFF"/>
                </a:highlight>
              </a:rPr>
              <a:t> close and your name.</a:t>
            </a:r>
            <a:endParaRPr>
              <a:solidFill>
                <a:schemeClr val="dk1"/>
              </a:solidFill>
              <a:highlight>
                <a:srgbClr val="FFFFFF"/>
              </a:highlight>
            </a:endParaRPr>
          </a:p>
          <a:p>
            <a:pPr indent="0" lvl="0" marL="0" rtl="0" algn="just">
              <a:lnSpc>
                <a:spcPct val="180000"/>
              </a:lnSpc>
              <a:spcBef>
                <a:spcPts val="0"/>
              </a:spcBef>
              <a:spcAft>
                <a:spcPts val="0"/>
              </a:spcAft>
              <a:buNone/>
            </a:pPr>
            <a:r>
              <a:rPr lang="en">
                <a:solidFill>
                  <a:schemeClr val="dk1"/>
                </a:solidFill>
                <a:highlight>
                  <a:srgbClr val="FFFFFF"/>
                </a:highlight>
              </a:rPr>
              <a:t>9. </a:t>
            </a:r>
            <a:r>
              <a:rPr b="1" lang="en">
                <a:solidFill>
                  <a:schemeClr val="dk1"/>
                </a:solidFill>
                <a:highlight>
                  <a:srgbClr val="FFFFFF"/>
                </a:highlight>
              </a:rPr>
              <a:t>End of Letter Notations</a:t>
            </a:r>
            <a:endParaRPr b="1">
              <a:solidFill>
                <a:schemeClr val="dk1"/>
              </a:solidFill>
              <a:highlight>
                <a:srgbClr val="FFFFFF"/>
              </a:highlight>
            </a:endParaRPr>
          </a:p>
          <a:p>
            <a:pPr indent="-329322" lvl="0" marL="457200" rtl="0" algn="just">
              <a:lnSpc>
                <a:spcPct val="180000"/>
              </a:lnSpc>
              <a:spcBef>
                <a:spcPts val="0"/>
              </a:spcBef>
              <a:spcAft>
                <a:spcPts val="0"/>
              </a:spcAft>
              <a:buClr>
                <a:schemeClr val="dk1"/>
              </a:buClr>
              <a:buSzPct val="141474"/>
              <a:buChar char="-"/>
            </a:pPr>
            <a:r>
              <a:rPr lang="en" sz="1446">
                <a:solidFill>
                  <a:schemeClr val="dk1"/>
                </a:solidFill>
                <a:highlight>
                  <a:srgbClr val="FFFFFF"/>
                </a:highlight>
              </a:rPr>
              <a:t>Use the same notations as indicated under memos.</a:t>
            </a:r>
            <a:endParaRPr sz="1446">
              <a:solidFill>
                <a:schemeClr val="dk1"/>
              </a:solidFill>
              <a:highlight>
                <a:srgbClr val="FFFFFF"/>
              </a:highlight>
            </a:endParaRPr>
          </a:p>
          <a:p>
            <a:pPr indent="-329322" lvl="1" marL="914400" rtl="0" algn="just">
              <a:lnSpc>
                <a:spcPct val="180000"/>
              </a:lnSpc>
              <a:spcBef>
                <a:spcPts val="0"/>
              </a:spcBef>
              <a:spcAft>
                <a:spcPts val="0"/>
              </a:spcAft>
              <a:buClr>
                <a:schemeClr val="dk1"/>
              </a:buClr>
              <a:buSzPct val="141474"/>
              <a:buChar char="-"/>
            </a:pPr>
            <a:r>
              <a:rPr lang="en" sz="1446">
                <a:solidFill>
                  <a:schemeClr val="dk1"/>
                </a:solidFill>
                <a:highlight>
                  <a:srgbClr val="FFFFFF"/>
                </a:highlight>
              </a:rPr>
              <a:t>C.: For Copy.</a:t>
            </a:r>
            <a:endParaRPr sz="1446">
              <a:solidFill>
                <a:schemeClr val="dk1"/>
              </a:solidFill>
              <a:highlight>
                <a:srgbClr val="FFFFFF"/>
              </a:highlight>
            </a:endParaRPr>
          </a:p>
          <a:p>
            <a:pPr indent="-329322" lvl="1" marL="914400" rtl="0" algn="just">
              <a:lnSpc>
                <a:spcPct val="180000"/>
              </a:lnSpc>
              <a:spcBef>
                <a:spcPts val="0"/>
              </a:spcBef>
              <a:spcAft>
                <a:spcPts val="0"/>
              </a:spcAft>
              <a:buClr>
                <a:schemeClr val="dk1"/>
              </a:buClr>
              <a:buSzPct val="141474"/>
              <a:buChar char="-"/>
            </a:pPr>
            <a:r>
              <a:rPr lang="en" sz="1446">
                <a:solidFill>
                  <a:schemeClr val="dk1"/>
                </a:solidFill>
                <a:highlight>
                  <a:srgbClr val="FFFFFF"/>
                </a:highlight>
              </a:rPr>
              <a:t>Att’d.: For Attachment.</a:t>
            </a:r>
            <a:endParaRPr sz="1446">
              <a:solidFill>
                <a:schemeClr val="dk1"/>
              </a:solidFill>
              <a:highlight>
                <a:srgbClr val="FFFFFF"/>
              </a:highlight>
            </a:endParaRPr>
          </a:p>
          <a:p>
            <a:pPr indent="-329322" lvl="1" marL="914400" rtl="0" algn="just">
              <a:lnSpc>
                <a:spcPct val="180000"/>
              </a:lnSpc>
              <a:spcBef>
                <a:spcPts val="0"/>
              </a:spcBef>
              <a:spcAft>
                <a:spcPts val="0"/>
              </a:spcAft>
              <a:buClr>
                <a:schemeClr val="dk1"/>
              </a:buClr>
              <a:buSzPct val="141474"/>
              <a:buChar char="-"/>
            </a:pPr>
            <a:r>
              <a:rPr lang="en" sz="1446">
                <a:solidFill>
                  <a:schemeClr val="dk1"/>
                </a:solidFill>
                <a:highlight>
                  <a:srgbClr val="FFFFFF"/>
                </a:highlight>
              </a:rPr>
              <a:t>Enc.: For Enclosure.</a:t>
            </a:r>
            <a:endParaRPr sz="1446">
              <a:solidFill>
                <a:schemeClr val="dk1"/>
              </a:solidFill>
              <a:highlight>
                <a:srgbClr val="FFFFFF"/>
              </a:highlight>
            </a:endParaRPr>
          </a:p>
          <a:p>
            <a:pPr indent="-329322" lvl="1" marL="914400" rtl="0" algn="just">
              <a:lnSpc>
                <a:spcPct val="180000"/>
              </a:lnSpc>
              <a:spcBef>
                <a:spcPts val="0"/>
              </a:spcBef>
              <a:spcAft>
                <a:spcPts val="0"/>
              </a:spcAft>
              <a:buClr>
                <a:schemeClr val="dk1"/>
              </a:buClr>
              <a:buSzPct val="141474"/>
              <a:buChar char="-"/>
            </a:pPr>
            <a:r>
              <a:rPr lang="en" sz="1446">
                <a:solidFill>
                  <a:schemeClr val="dk1"/>
                </a:solidFill>
                <a:highlight>
                  <a:srgbClr val="FFFFFF"/>
                </a:highlight>
              </a:rPr>
              <a:t>B.C.: For Blind Copy or N.O.O. for Not On Original.</a:t>
            </a:r>
            <a:endParaRPr b="1" sz="2046">
              <a:solidFill>
                <a:schemeClr val="dk1"/>
              </a:solidFill>
              <a:highlight>
                <a:srgbClr val="FFFFFF"/>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Differences between a Memo and a Business Letter</a:t>
            </a:r>
            <a:endParaRPr/>
          </a:p>
        </p:txBody>
      </p:sp>
      <p:sp>
        <p:nvSpPr>
          <p:cNvPr id="206" name="Google Shape;20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lnSpc>
                <a:spcPct val="180000"/>
              </a:lnSpc>
              <a:spcBef>
                <a:spcPts val="0"/>
              </a:spcBef>
              <a:spcAft>
                <a:spcPts val="0"/>
              </a:spcAft>
              <a:buClr>
                <a:schemeClr val="dk1"/>
              </a:buClr>
              <a:buSzPts val="1800"/>
              <a:buAutoNum type="arabicParenR"/>
            </a:pPr>
            <a:r>
              <a:rPr lang="en">
                <a:solidFill>
                  <a:schemeClr val="dk1"/>
                </a:solidFill>
                <a:highlight>
                  <a:srgbClr val="FFFFFF"/>
                </a:highlight>
              </a:rPr>
              <a:t>A memo does not include addresses while a letter does.</a:t>
            </a:r>
            <a:endParaRPr>
              <a:solidFill>
                <a:schemeClr val="dk1"/>
              </a:solidFill>
              <a:highlight>
                <a:srgbClr val="FFFFFF"/>
              </a:highlight>
            </a:endParaRPr>
          </a:p>
          <a:p>
            <a:pPr indent="-342900" lvl="0" marL="457200" rtl="0" algn="just">
              <a:lnSpc>
                <a:spcPct val="180000"/>
              </a:lnSpc>
              <a:spcBef>
                <a:spcPts val="0"/>
              </a:spcBef>
              <a:spcAft>
                <a:spcPts val="0"/>
              </a:spcAft>
              <a:buClr>
                <a:schemeClr val="dk1"/>
              </a:buClr>
              <a:buSzPts val="1800"/>
              <a:buAutoNum type="arabicParenR"/>
            </a:pPr>
            <a:r>
              <a:rPr lang="en">
                <a:solidFill>
                  <a:schemeClr val="dk1"/>
                </a:solidFill>
                <a:highlight>
                  <a:srgbClr val="FFFFFF"/>
                </a:highlight>
              </a:rPr>
              <a:t>A memo does not include a salutation (e.g. Dear Sir) while a letter does.</a:t>
            </a:r>
            <a:endParaRPr>
              <a:solidFill>
                <a:schemeClr val="dk1"/>
              </a:solidFill>
              <a:highlight>
                <a:srgbClr val="FFFFFF"/>
              </a:highlight>
            </a:endParaRPr>
          </a:p>
          <a:p>
            <a:pPr indent="-342900" lvl="0" marL="457200" rtl="0" algn="just">
              <a:lnSpc>
                <a:spcPct val="180000"/>
              </a:lnSpc>
              <a:spcBef>
                <a:spcPts val="0"/>
              </a:spcBef>
              <a:spcAft>
                <a:spcPts val="0"/>
              </a:spcAft>
              <a:buClr>
                <a:schemeClr val="dk1"/>
              </a:buClr>
              <a:buSzPts val="1800"/>
              <a:buAutoNum type="arabicParenR"/>
            </a:pPr>
            <a:r>
              <a:rPr lang="en">
                <a:solidFill>
                  <a:schemeClr val="dk1"/>
                </a:solidFill>
                <a:highlight>
                  <a:srgbClr val="FFFFFF"/>
                </a:highlight>
              </a:rPr>
              <a:t>A memo does not include a complimentary close or valediction (e.g. Yours faithfully) while a letter does.</a:t>
            </a:r>
            <a:endParaRPr>
              <a:solidFill>
                <a:schemeClr val="dk1"/>
              </a:solidFill>
              <a:highlight>
                <a:srgbClr val="FFFFFF"/>
              </a:highlight>
            </a:endParaRPr>
          </a:p>
          <a:p>
            <a:pPr indent="-342900" lvl="0" marL="457200" rtl="0" algn="just">
              <a:lnSpc>
                <a:spcPct val="180000"/>
              </a:lnSpc>
              <a:spcBef>
                <a:spcPts val="0"/>
              </a:spcBef>
              <a:spcAft>
                <a:spcPts val="0"/>
              </a:spcAft>
              <a:buClr>
                <a:schemeClr val="dk1"/>
              </a:buClr>
              <a:buSzPts val="1800"/>
              <a:buAutoNum type="arabicParenR"/>
            </a:pPr>
            <a:r>
              <a:rPr lang="en">
                <a:solidFill>
                  <a:schemeClr val="dk1"/>
                </a:solidFill>
                <a:highlight>
                  <a:srgbClr val="FFFFFF"/>
                </a:highlight>
              </a:rPr>
              <a:t>A memo is meant for internal communication while a letter is meant for external communication.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BUSINESS LETTERS</a:t>
            </a:r>
            <a:endParaRPr/>
          </a:p>
        </p:txBody>
      </p:sp>
      <p:sp>
        <p:nvSpPr>
          <p:cNvPr id="212" name="Google Shape;212;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AutoNum type="arabicPeriod"/>
            </a:pPr>
            <a:r>
              <a:rPr lang="en"/>
              <a:t>Order </a:t>
            </a:r>
            <a:r>
              <a:rPr lang="en"/>
              <a:t>Letter</a:t>
            </a:r>
            <a:endParaRPr/>
          </a:p>
          <a:p>
            <a:pPr indent="-342900" lvl="0" marL="457200" rtl="0" algn="l">
              <a:spcBef>
                <a:spcPts val="0"/>
              </a:spcBef>
              <a:spcAft>
                <a:spcPts val="0"/>
              </a:spcAft>
              <a:buSzPts val="1800"/>
              <a:buChar char="-"/>
            </a:pPr>
            <a:r>
              <a:rPr lang="en"/>
              <a:t>A request for shipment of goods. It should include;</a:t>
            </a:r>
            <a:endParaRPr/>
          </a:p>
          <a:p>
            <a:pPr indent="-348735" lvl="0" marL="914400" rtl="0" algn="just">
              <a:lnSpc>
                <a:spcPct val="180000"/>
              </a:lnSpc>
              <a:spcBef>
                <a:spcPts val="0"/>
              </a:spcBef>
              <a:spcAft>
                <a:spcPts val="0"/>
              </a:spcAft>
              <a:buSzPts val="1892"/>
              <a:buChar char="-"/>
            </a:pPr>
            <a:r>
              <a:rPr lang="en" sz="1291">
                <a:solidFill>
                  <a:schemeClr val="dk1"/>
                </a:solidFill>
                <a:highlight>
                  <a:srgbClr val="FFFFFF"/>
                </a:highlight>
              </a:rPr>
              <a:t>An exact description of the goods – name, size, style, colour, model number, series.</a:t>
            </a:r>
            <a:endParaRPr sz="1291">
              <a:solidFill>
                <a:schemeClr val="dk1"/>
              </a:solidFill>
              <a:highlight>
                <a:srgbClr val="FFFFFF"/>
              </a:highlight>
            </a:endParaRPr>
          </a:p>
          <a:p>
            <a:pPr indent="-348735" lvl="0" marL="914400" rtl="0" algn="just">
              <a:lnSpc>
                <a:spcPct val="180000"/>
              </a:lnSpc>
              <a:spcBef>
                <a:spcPts val="0"/>
              </a:spcBef>
              <a:spcAft>
                <a:spcPts val="0"/>
              </a:spcAft>
              <a:buSzPts val="1892"/>
              <a:buChar char="-"/>
            </a:pPr>
            <a:r>
              <a:rPr lang="en" sz="1291">
                <a:solidFill>
                  <a:schemeClr val="dk1"/>
                </a:solidFill>
                <a:highlight>
                  <a:srgbClr val="FFFFFF"/>
                </a:highlight>
              </a:rPr>
              <a:t>Catalogue number if applicable.</a:t>
            </a:r>
            <a:endParaRPr sz="1291">
              <a:solidFill>
                <a:schemeClr val="dk1"/>
              </a:solidFill>
              <a:highlight>
                <a:srgbClr val="FFFFFF"/>
              </a:highlight>
            </a:endParaRPr>
          </a:p>
          <a:p>
            <a:pPr indent="-348735" lvl="0" marL="914400" rtl="0" algn="just">
              <a:lnSpc>
                <a:spcPct val="180000"/>
              </a:lnSpc>
              <a:spcBef>
                <a:spcPts val="0"/>
              </a:spcBef>
              <a:spcAft>
                <a:spcPts val="0"/>
              </a:spcAft>
              <a:buSzPts val="1892"/>
              <a:buChar char="-"/>
            </a:pPr>
            <a:r>
              <a:rPr lang="en" sz="1291">
                <a:solidFill>
                  <a:schemeClr val="dk1"/>
                </a:solidFill>
                <a:highlight>
                  <a:srgbClr val="FFFFFF"/>
                </a:highlight>
              </a:rPr>
              <a:t>Quantity.</a:t>
            </a:r>
            <a:endParaRPr sz="1291">
              <a:solidFill>
                <a:schemeClr val="dk1"/>
              </a:solidFill>
              <a:highlight>
                <a:srgbClr val="FFFFFF"/>
              </a:highlight>
            </a:endParaRPr>
          </a:p>
          <a:p>
            <a:pPr indent="-348735" lvl="0" marL="914400" rtl="0" algn="just">
              <a:lnSpc>
                <a:spcPct val="180000"/>
              </a:lnSpc>
              <a:spcBef>
                <a:spcPts val="0"/>
              </a:spcBef>
              <a:spcAft>
                <a:spcPts val="0"/>
              </a:spcAft>
              <a:buSzPts val="1892"/>
              <a:buChar char="-"/>
            </a:pPr>
            <a:r>
              <a:rPr lang="en" sz="1291">
                <a:solidFill>
                  <a:schemeClr val="dk1"/>
                </a:solidFill>
                <a:highlight>
                  <a:srgbClr val="FFFFFF"/>
                </a:highlight>
              </a:rPr>
              <a:t>Price per item and total.</a:t>
            </a:r>
            <a:endParaRPr sz="1291">
              <a:solidFill>
                <a:schemeClr val="dk1"/>
              </a:solidFill>
              <a:highlight>
                <a:srgbClr val="FFFFFF"/>
              </a:highlight>
            </a:endParaRPr>
          </a:p>
          <a:p>
            <a:pPr indent="-348735" lvl="0" marL="914400" rtl="0" algn="just">
              <a:lnSpc>
                <a:spcPct val="180000"/>
              </a:lnSpc>
              <a:spcBef>
                <a:spcPts val="0"/>
              </a:spcBef>
              <a:spcAft>
                <a:spcPts val="0"/>
              </a:spcAft>
              <a:buSzPts val="1892"/>
              <a:buChar char="-"/>
            </a:pPr>
            <a:r>
              <a:rPr lang="en" sz="1291">
                <a:solidFill>
                  <a:schemeClr val="dk1"/>
                </a:solidFill>
                <a:highlight>
                  <a:srgbClr val="FFFFFF"/>
                </a:highlight>
              </a:rPr>
              <a:t>Address to which goods should be shipped.</a:t>
            </a:r>
            <a:endParaRPr sz="1291">
              <a:solidFill>
                <a:schemeClr val="dk1"/>
              </a:solidFill>
              <a:highlight>
                <a:srgbClr val="FFFFFF"/>
              </a:highlight>
            </a:endParaRPr>
          </a:p>
          <a:p>
            <a:pPr indent="-348735" lvl="0" marL="914400" rtl="0" algn="just">
              <a:lnSpc>
                <a:spcPct val="180000"/>
              </a:lnSpc>
              <a:spcBef>
                <a:spcPts val="0"/>
              </a:spcBef>
              <a:spcAft>
                <a:spcPts val="0"/>
              </a:spcAft>
              <a:buSzPts val="1892"/>
              <a:buChar char="-"/>
            </a:pPr>
            <a:r>
              <a:rPr lang="en" sz="1291">
                <a:solidFill>
                  <a:schemeClr val="dk1"/>
                </a:solidFill>
                <a:highlight>
                  <a:srgbClr val="FFFFFF"/>
                </a:highlight>
              </a:rPr>
              <a:t>Method of shipment – pony, post, express, freight, rail/air.</a:t>
            </a:r>
            <a:endParaRPr sz="189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Business Letters</a:t>
            </a:r>
            <a:endParaRPr/>
          </a:p>
        </p:txBody>
      </p:sp>
      <p:sp>
        <p:nvSpPr>
          <p:cNvPr id="218" name="Google Shape;218;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2. Letter Requesting Information </a:t>
            </a:r>
            <a:endParaRPr/>
          </a:p>
          <a:p>
            <a:pPr indent="-317500" lvl="0" marL="457200" rtl="0" algn="just">
              <a:lnSpc>
                <a:spcPct val="180000"/>
              </a:lnSpc>
              <a:spcBef>
                <a:spcPts val="1200"/>
              </a:spcBef>
              <a:spcAft>
                <a:spcPts val="0"/>
              </a:spcAft>
              <a:buClr>
                <a:schemeClr val="dk1"/>
              </a:buClr>
              <a:buSzPts val="1400"/>
              <a:buChar char="-"/>
            </a:pPr>
            <a:r>
              <a:rPr lang="en" sz="1400">
                <a:solidFill>
                  <a:schemeClr val="dk1"/>
                </a:solidFill>
                <a:highlight>
                  <a:srgbClr val="FFFFFF"/>
                </a:highlight>
              </a:rPr>
              <a:t>Used to obtain a simple fact e.g. price, or ask for a document e.g. prospectus, form etc.</a:t>
            </a:r>
            <a:endParaRPr sz="1400">
              <a:solidFill>
                <a:schemeClr val="dk1"/>
              </a:solidFill>
              <a:highlight>
                <a:srgbClr val="FFFFFF"/>
              </a:highlight>
            </a:endParaRPr>
          </a:p>
          <a:p>
            <a:pPr indent="-317500" lvl="0" marL="457200" rtl="0" algn="just">
              <a:lnSpc>
                <a:spcPct val="180000"/>
              </a:lnSpc>
              <a:spcBef>
                <a:spcPts val="0"/>
              </a:spcBef>
              <a:spcAft>
                <a:spcPts val="0"/>
              </a:spcAft>
              <a:buClr>
                <a:schemeClr val="dk1"/>
              </a:buClr>
              <a:buSzPts val="1400"/>
              <a:buChar char="-"/>
            </a:pPr>
            <a:r>
              <a:rPr lang="en" sz="1400">
                <a:solidFill>
                  <a:schemeClr val="dk1"/>
                </a:solidFill>
                <a:highlight>
                  <a:srgbClr val="FFFFFF"/>
                </a:highlight>
              </a:rPr>
              <a:t>Is brief, easy for recipient to supply information.</a:t>
            </a:r>
            <a:endParaRPr sz="1400">
              <a:solidFill>
                <a:schemeClr val="dk1"/>
              </a:solidFill>
              <a:highlight>
                <a:srgbClr val="FFFFFF"/>
              </a:highlight>
            </a:endParaRPr>
          </a:p>
          <a:p>
            <a:pPr indent="-317500" lvl="0" marL="457200" rtl="0" algn="just">
              <a:lnSpc>
                <a:spcPct val="180000"/>
              </a:lnSpc>
              <a:spcBef>
                <a:spcPts val="0"/>
              </a:spcBef>
              <a:spcAft>
                <a:spcPts val="0"/>
              </a:spcAft>
              <a:buClr>
                <a:schemeClr val="dk1"/>
              </a:buClr>
              <a:buSzPts val="1400"/>
              <a:buChar char="-"/>
            </a:pPr>
            <a:r>
              <a:rPr lang="en" sz="1400">
                <a:solidFill>
                  <a:schemeClr val="dk1"/>
                </a:solidFill>
                <a:highlight>
                  <a:srgbClr val="FFFFFF"/>
                </a:highlight>
              </a:rPr>
              <a:t>In such a letter:</a:t>
            </a:r>
            <a:endParaRPr sz="1400">
              <a:solidFill>
                <a:schemeClr val="dk1"/>
              </a:solidFill>
              <a:highlight>
                <a:srgbClr val="FFFFFF"/>
              </a:highlight>
            </a:endParaRPr>
          </a:p>
          <a:p>
            <a:pPr indent="-317500" lvl="1" marL="914400" rtl="0" algn="just">
              <a:lnSpc>
                <a:spcPct val="180000"/>
              </a:lnSpc>
              <a:spcBef>
                <a:spcPts val="0"/>
              </a:spcBef>
              <a:spcAft>
                <a:spcPts val="0"/>
              </a:spcAft>
              <a:buClr>
                <a:schemeClr val="dk1"/>
              </a:buClr>
              <a:buSzPts val="1400"/>
              <a:buChar char="-"/>
            </a:pPr>
            <a:r>
              <a:rPr lang="en" sz="1400">
                <a:solidFill>
                  <a:schemeClr val="dk1"/>
                </a:solidFill>
                <a:highlight>
                  <a:srgbClr val="FFFFFF"/>
                </a:highlight>
              </a:rPr>
              <a:t>Identify yourself (e.g. as a student, lecturer/professor).</a:t>
            </a:r>
            <a:endParaRPr>
              <a:solidFill>
                <a:schemeClr val="dk1"/>
              </a:solidFill>
              <a:highlight>
                <a:srgbClr val="FFFFFF"/>
              </a:highlight>
            </a:endParaRPr>
          </a:p>
          <a:p>
            <a:pPr indent="-317500" lvl="1" marL="914400" rtl="0" algn="just">
              <a:lnSpc>
                <a:spcPct val="180000"/>
              </a:lnSpc>
              <a:spcBef>
                <a:spcPts val="0"/>
              </a:spcBef>
              <a:spcAft>
                <a:spcPts val="0"/>
              </a:spcAft>
              <a:buClr>
                <a:schemeClr val="dk1"/>
              </a:buClr>
              <a:buSzPts val="1400"/>
              <a:buChar char="-"/>
            </a:pPr>
            <a:r>
              <a:rPr lang="en" sz="1400">
                <a:solidFill>
                  <a:schemeClr val="dk1"/>
                </a:solidFill>
                <a:highlight>
                  <a:srgbClr val="FFFFFF"/>
                </a:highlight>
              </a:rPr>
              <a:t>Say exactly what you need.</a:t>
            </a:r>
            <a:endParaRPr>
              <a:solidFill>
                <a:schemeClr val="dk1"/>
              </a:solidFill>
              <a:highlight>
                <a:srgbClr val="FFFFFF"/>
              </a:highlight>
            </a:endParaRPr>
          </a:p>
          <a:p>
            <a:pPr indent="-317500" lvl="1" marL="914400" rtl="0" algn="just">
              <a:lnSpc>
                <a:spcPct val="180000"/>
              </a:lnSpc>
              <a:spcBef>
                <a:spcPts val="0"/>
              </a:spcBef>
              <a:spcAft>
                <a:spcPts val="0"/>
              </a:spcAft>
              <a:buClr>
                <a:schemeClr val="dk1"/>
              </a:buClr>
              <a:buSzPts val="1400"/>
              <a:buChar char="-"/>
            </a:pPr>
            <a:r>
              <a:rPr lang="en" sz="1400">
                <a:solidFill>
                  <a:schemeClr val="dk1"/>
                </a:solidFill>
                <a:highlight>
                  <a:srgbClr val="FFFFFF"/>
                </a:highlight>
              </a:rPr>
              <a:t>Explain briefly why you need the information and how you intend to use it. (if your reason is obvious, do not explain it).</a:t>
            </a:r>
            <a:endParaRPr>
              <a:solidFill>
                <a:schemeClr val="dk1"/>
              </a:solidFill>
              <a:highlight>
                <a:srgbClr val="FFFFFF"/>
              </a:highlight>
            </a:endParaRPr>
          </a:p>
          <a:p>
            <a:pPr indent="-317500" lvl="1" marL="914400" rtl="0" algn="just">
              <a:lnSpc>
                <a:spcPct val="180000"/>
              </a:lnSpc>
              <a:spcBef>
                <a:spcPts val="0"/>
              </a:spcBef>
              <a:spcAft>
                <a:spcPts val="0"/>
              </a:spcAft>
              <a:buClr>
                <a:schemeClr val="dk1"/>
              </a:buClr>
              <a:buSzPts val="1400"/>
              <a:buChar char="-"/>
            </a:pPr>
            <a:r>
              <a:rPr lang="en" sz="1400">
                <a:solidFill>
                  <a:schemeClr val="dk1"/>
                </a:solidFill>
                <a:highlight>
                  <a:srgbClr val="FFFFFF"/>
                </a:highlight>
              </a:rPr>
              <a:t>Express your appreciation.</a:t>
            </a:r>
            <a:r>
              <a:rPr lang="en"/>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Business Letters</a:t>
            </a:r>
            <a:endParaRPr/>
          </a:p>
        </p:txBody>
      </p:sp>
      <p:sp>
        <p:nvSpPr>
          <p:cNvPr id="224" name="Google Shape;22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3. Letter of Inquiry</a:t>
            </a:r>
            <a:endParaRPr/>
          </a:p>
          <a:p>
            <a:pPr indent="-327025" lvl="0" marL="457200" rtl="0" algn="just">
              <a:lnSpc>
                <a:spcPct val="180000"/>
              </a:lnSpc>
              <a:spcBef>
                <a:spcPts val="1200"/>
              </a:spcBef>
              <a:spcAft>
                <a:spcPts val="0"/>
              </a:spcAft>
              <a:buSzPct val="142857"/>
              <a:buChar char="-"/>
            </a:pPr>
            <a:r>
              <a:rPr lang="en" sz="1400">
                <a:solidFill>
                  <a:schemeClr val="dk1"/>
                </a:solidFill>
                <a:highlight>
                  <a:srgbClr val="FFFFFF"/>
                </a:highlight>
              </a:rPr>
              <a:t>This type of </a:t>
            </a:r>
            <a:r>
              <a:rPr lang="en" sz="1400">
                <a:solidFill>
                  <a:schemeClr val="dk1"/>
                </a:solidFill>
                <a:highlight>
                  <a:srgbClr val="FFFFFF"/>
                </a:highlight>
              </a:rPr>
              <a:t>letter</a:t>
            </a:r>
            <a:r>
              <a:rPr lang="en" sz="1400">
                <a:solidFill>
                  <a:schemeClr val="dk1"/>
                </a:solidFill>
                <a:highlight>
                  <a:srgbClr val="FFFFFF"/>
                </a:highlight>
              </a:rPr>
              <a:t> is used to obtain detailed information.</a:t>
            </a:r>
            <a:endParaRPr sz="1400">
              <a:solidFill>
                <a:schemeClr val="dk1"/>
              </a:solidFill>
              <a:highlight>
                <a:srgbClr val="FFFFFF"/>
              </a:highlight>
            </a:endParaRPr>
          </a:p>
          <a:p>
            <a:pPr indent="-327025" lvl="0" marL="457200" rtl="0" algn="just">
              <a:lnSpc>
                <a:spcPct val="180000"/>
              </a:lnSpc>
              <a:spcBef>
                <a:spcPts val="0"/>
              </a:spcBef>
              <a:spcAft>
                <a:spcPts val="0"/>
              </a:spcAft>
              <a:buSzPct val="142857"/>
              <a:buChar char="-"/>
            </a:pPr>
            <a:r>
              <a:rPr lang="en" sz="1400">
                <a:solidFill>
                  <a:schemeClr val="dk1"/>
                </a:solidFill>
                <a:highlight>
                  <a:srgbClr val="FFFFFF"/>
                </a:highlight>
              </a:rPr>
              <a:t>It is longer and detailed than the letter requesting for information.</a:t>
            </a:r>
            <a:endParaRPr sz="1400">
              <a:solidFill>
                <a:schemeClr val="dk1"/>
              </a:solidFill>
              <a:highlight>
                <a:srgbClr val="FFFFFF"/>
              </a:highlight>
            </a:endParaRPr>
          </a:p>
          <a:p>
            <a:pPr indent="-297497" lvl="0" marL="457200" rtl="0" algn="just">
              <a:lnSpc>
                <a:spcPct val="180000"/>
              </a:lnSpc>
              <a:spcBef>
                <a:spcPts val="0"/>
              </a:spcBef>
              <a:spcAft>
                <a:spcPts val="0"/>
              </a:spcAft>
              <a:buClr>
                <a:schemeClr val="dk1"/>
              </a:buClr>
              <a:buSzPct val="100000"/>
              <a:buChar char="-"/>
            </a:pPr>
            <a:r>
              <a:rPr lang="en" sz="1400">
                <a:solidFill>
                  <a:schemeClr val="dk1"/>
                </a:solidFill>
                <a:highlight>
                  <a:srgbClr val="FFFFFF"/>
                </a:highlight>
              </a:rPr>
              <a:t>When writing a letter of inquiry;</a:t>
            </a:r>
            <a:endParaRPr sz="1400">
              <a:solidFill>
                <a:schemeClr val="dk1"/>
              </a:solidFill>
              <a:highlight>
                <a:srgbClr val="FFFFFF"/>
              </a:highlight>
            </a:endParaRPr>
          </a:p>
          <a:p>
            <a:pPr indent="-297497" lvl="1" marL="914400" rtl="0" algn="just">
              <a:lnSpc>
                <a:spcPct val="180000"/>
              </a:lnSpc>
              <a:spcBef>
                <a:spcPts val="0"/>
              </a:spcBef>
              <a:spcAft>
                <a:spcPts val="0"/>
              </a:spcAft>
              <a:buClr>
                <a:schemeClr val="dk1"/>
              </a:buClr>
              <a:buSzPct val="100000"/>
              <a:buChar char="-"/>
            </a:pPr>
            <a:r>
              <a:rPr lang="en" sz="1400">
                <a:solidFill>
                  <a:schemeClr val="dk1"/>
                </a:solidFill>
                <a:highlight>
                  <a:srgbClr val="FFFFFF"/>
                </a:highlight>
              </a:rPr>
              <a:t>Identify yourself.</a:t>
            </a:r>
            <a:endParaRPr>
              <a:solidFill>
                <a:schemeClr val="dk1"/>
              </a:solidFill>
              <a:highlight>
                <a:srgbClr val="FFFFFF"/>
              </a:highlight>
            </a:endParaRPr>
          </a:p>
          <a:p>
            <a:pPr indent="-297497" lvl="1" marL="914400" rtl="0" algn="just">
              <a:lnSpc>
                <a:spcPct val="180000"/>
              </a:lnSpc>
              <a:spcBef>
                <a:spcPts val="0"/>
              </a:spcBef>
              <a:spcAft>
                <a:spcPts val="0"/>
              </a:spcAft>
              <a:buClr>
                <a:schemeClr val="dk1"/>
              </a:buClr>
              <a:buSzPct val="100000"/>
              <a:buChar char="-"/>
            </a:pPr>
            <a:r>
              <a:rPr lang="en" sz="1400">
                <a:solidFill>
                  <a:schemeClr val="dk1"/>
                </a:solidFill>
                <a:highlight>
                  <a:srgbClr val="FFFFFF"/>
                </a:highlight>
              </a:rPr>
              <a:t>Explain why you are asking for information and how you intend to use it</a:t>
            </a:r>
            <a:endParaRPr sz="1400">
              <a:solidFill>
                <a:schemeClr val="dk1"/>
              </a:solidFill>
              <a:highlight>
                <a:srgbClr val="FFFFFF"/>
              </a:highlight>
            </a:endParaRPr>
          </a:p>
          <a:p>
            <a:pPr indent="-303287" lvl="1" marL="914400" rtl="0" algn="just">
              <a:lnSpc>
                <a:spcPct val="180000"/>
              </a:lnSpc>
              <a:spcBef>
                <a:spcPts val="0"/>
              </a:spcBef>
              <a:spcAft>
                <a:spcPts val="0"/>
              </a:spcAft>
              <a:buClr>
                <a:schemeClr val="dk1"/>
              </a:buClr>
              <a:buSzPct val="115178"/>
              <a:buChar char="-"/>
            </a:pPr>
            <a:r>
              <a:rPr lang="en" sz="1317">
                <a:solidFill>
                  <a:schemeClr val="dk1"/>
                </a:solidFill>
                <a:highlight>
                  <a:srgbClr val="FFFFFF"/>
                </a:highlight>
              </a:rPr>
              <a:t>Ask specific and thorough questions (so that the recipient understands what exactly you need to know).</a:t>
            </a:r>
            <a:endParaRPr sz="1317">
              <a:solidFill>
                <a:schemeClr val="dk1"/>
              </a:solidFill>
              <a:highlight>
                <a:srgbClr val="FFFFFF"/>
              </a:highlight>
            </a:endParaRPr>
          </a:p>
          <a:p>
            <a:pPr indent="-303287" lvl="1" marL="914400" rtl="0" algn="just">
              <a:lnSpc>
                <a:spcPct val="180000"/>
              </a:lnSpc>
              <a:spcBef>
                <a:spcPts val="0"/>
              </a:spcBef>
              <a:spcAft>
                <a:spcPts val="0"/>
              </a:spcAft>
              <a:buClr>
                <a:schemeClr val="dk1"/>
              </a:buClr>
              <a:buSzPct val="115178"/>
              <a:buChar char="-"/>
            </a:pPr>
            <a:r>
              <a:rPr lang="en" sz="1317">
                <a:solidFill>
                  <a:schemeClr val="dk1"/>
                </a:solidFill>
                <a:highlight>
                  <a:srgbClr val="FFFFFF"/>
                </a:highlight>
              </a:rPr>
              <a:t>If you have several questions, list and number them</a:t>
            </a:r>
            <a:endParaRPr sz="1317">
              <a:solidFill>
                <a:schemeClr val="dk1"/>
              </a:solidFill>
              <a:highlight>
                <a:srgbClr val="FFFFFF"/>
              </a:highlight>
            </a:endParaRPr>
          </a:p>
          <a:p>
            <a:pPr indent="-303287" lvl="1" marL="914400" rtl="0" algn="just">
              <a:lnSpc>
                <a:spcPct val="180000"/>
              </a:lnSpc>
              <a:spcBef>
                <a:spcPts val="0"/>
              </a:spcBef>
              <a:spcAft>
                <a:spcPts val="0"/>
              </a:spcAft>
              <a:buClr>
                <a:schemeClr val="dk1"/>
              </a:buClr>
              <a:buSzPct val="115178"/>
              <a:buChar char="-"/>
            </a:pPr>
            <a:r>
              <a:rPr lang="en" sz="1317">
                <a:solidFill>
                  <a:schemeClr val="dk1"/>
                </a:solidFill>
                <a:highlight>
                  <a:srgbClr val="FFFFFF"/>
                </a:highlight>
              </a:rPr>
              <a:t>If you need the information by a specific date, mention the date but remember to give enough time for the recipient to reply.</a:t>
            </a:r>
            <a:endParaRPr sz="1317">
              <a:solidFill>
                <a:schemeClr val="dk1"/>
              </a:solidFill>
              <a:highlight>
                <a:srgbClr val="FFFFFF"/>
              </a:highlight>
            </a:endParaRPr>
          </a:p>
          <a:p>
            <a:pPr indent="-303287" lvl="1" marL="914400" rtl="0" algn="just">
              <a:lnSpc>
                <a:spcPct val="180000"/>
              </a:lnSpc>
              <a:spcBef>
                <a:spcPts val="0"/>
              </a:spcBef>
              <a:spcAft>
                <a:spcPts val="0"/>
              </a:spcAft>
              <a:buClr>
                <a:schemeClr val="dk1"/>
              </a:buClr>
              <a:buSzPct val="115178"/>
              <a:buChar char="-"/>
            </a:pPr>
            <a:r>
              <a:rPr lang="en" sz="1317">
                <a:solidFill>
                  <a:schemeClr val="dk1"/>
                </a:solidFill>
                <a:highlight>
                  <a:srgbClr val="FFFFFF"/>
                </a:highlight>
              </a:rPr>
              <a:t>Express your appreciation.</a:t>
            </a:r>
            <a:endParaRPr sz="1517">
              <a:solidFill>
                <a:schemeClr val="dk1"/>
              </a:solidFill>
              <a:highlight>
                <a:srgbClr val="FFFFFF"/>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Business Letters</a:t>
            </a:r>
            <a:endParaRPr/>
          </a:p>
        </p:txBody>
      </p:sp>
      <p:sp>
        <p:nvSpPr>
          <p:cNvPr id="230" name="Google Shape;23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4. Letter of Complaint (Request for Redress)</a:t>
            </a:r>
            <a:endParaRPr/>
          </a:p>
          <a:p>
            <a:pPr indent="-304800" lvl="0" marL="457200" rtl="0" algn="just">
              <a:lnSpc>
                <a:spcPct val="180000"/>
              </a:lnSpc>
              <a:spcBef>
                <a:spcPts val="120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The purpose of this letter is to receive better service or to have a mistake corrected.</a:t>
            </a:r>
            <a:endParaRPr sz="1200">
              <a:solidFill>
                <a:schemeClr val="dk1"/>
              </a:solidFill>
              <a:highlight>
                <a:srgbClr val="FFFFFF"/>
              </a:highlight>
              <a:latin typeface="Times New Roman"/>
              <a:ea typeface="Times New Roman"/>
              <a:cs typeface="Times New Roman"/>
              <a:sym typeface="Times New Roman"/>
            </a:endParaRPr>
          </a:p>
          <a:p>
            <a:pPr indent="-304800" lvl="0" marL="457200" rtl="0" algn="just">
              <a:lnSpc>
                <a:spcPct val="180000"/>
              </a:lnSpc>
              <a:spcBef>
                <a:spcPts val="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The letter should include the following:</a:t>
            </a:r>
            <a:endParaRPr sz="1200">
              <a:solidFill>
                <a:schemeClr val="dk1"/>
              </a:solidFill>
              <a:highlight>
                <a:srgbClr val="FFFFFF"/>
              </a:highlight>
              <a:latin typeface="Times New Roman"/>
              <a:ea typeface="Times New Roman"/>
              <a:cs typeface="Times New Roman"/>
              <a:sym typeface="Times New Roman"/>
            </a:endParaRPr>
          </a:p>
          <a:p>
            <a:pPr indent="-304800" lvl="1" marL="914400" rtl="0" algn="just">
              <a:lnSpc>
                <a:spcPct val="180000"/>
              </a:lnSpc>
              <a:spcBef>
                <a:spcPts val="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A detailed description of the complaint (faulty product - model, serial number etc).</a:t>
            </a:r>
            <a:endParaRPr sz="1200">
              <a:solidFill>
                <a:schemeClr val="dk1"/>
              </a:solidFill>
              <a:highlight>
                <a:srgbClr val="FFFFFF"/>
              </a:highlight>
              <a:latin typeface="Times New Roman"/>
              <a:ea typeface="Times New Roman"/>
              <a:cs typeface="Times New Roman"/>
              <a:sym typeface="Times New Roman"/>
            </a:endParaRPr>
          </a:p>
          <a:p>
            <a:pPr indent="-304800" lvl="1" marL="914400" rtl="0" algn="just">
              <a:lnSpc>
                <a:spcPct val="180000"/>
              </a:lnSpc>
              <a:spcBef>
                <a:spcPts val="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Date of purchase and whether product is still under warranty.</a:t>
            </a:r>
            <a:endParaRPr sz="1200">
              <a:solidFill>
                <a:schemeClr val="dk1"/>
              </a:solidFill>
              <a:highlight>
                <a:srgbClr val="FFFFFF"/>
              </a:highlight>
              <a:latin typeface="Times New Roman"/>
              <a:ea typeface="Times New Roman"/>
              <a:cs typeface="Times New Roman"/>
              <a:sym typeface="Times New Roman"/>
            </a:endParaRPr>
          </a:p>
          <a:p>
            <a:pPr indent="-304800" lvl="1" marL="914400" rtl="0" algn="just">
              <a:lnSpc>
                <a:spcPct val="180000"/>
              </a:lnSpc>
              <a:spcBef>
                <a:spcPts val="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Copy of purchase receipt.</a:t>
            </a:r>
            <a:endParaRPr sz="1200">
              <a:solidFill>
                <a:schemeClr val="dk1"/>
              </a:solidFill>
              <a:highlight>
                <a:srgbClr val="FFFFFF"/>
              </a:highlight>
              <a:latin typeface="Times New Roman"/>
              <a:ea typeface="Times New Roman"/>
              <a:cs typeface="Times New Roman"/>
              <a:sym typeface="Times New Roman"/>
            </a:endParaRPr>
          </a:p>
          <a:p>
            <a:pPr indent="-304800" lvl="1" marL="914400" rtl="0" algn="just">
              <a:lnSpc>
                <a:spcPct val="180000"/>
              </a:lnSpc>
              <a:spcBef>
                <a:spcPts val="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Details of unsatisfactory service (name of hotel, restaurant, flight number, dates etc.</a:t>
            </a:r>
            <a:endParaRPr sz="1200">
              <a:solidFill>
                <a:schemeClr val="dk1"/>
              </a:solidFill>
              <a:highlight>
                <a:srgbClr val="FFFFFF"/>
              </a:highlight>
              <a:latin typeface="Times New Roman"/>
              <a:ea typeface="Times New Roman"/>
              <a:cs typeface="Times New Roman"/>
              <a:sym typeface="Times New Roman"/>
            </a:endParaRPr>
          </a:p>
          <a:p>
            <a:pPr indent="-304800" lvl="1" marL="914400" rtl="0" algn="just">
              <a:lnSpc>
                <a:spcPct val="180000"/>
              </a:lnSpc>
              <a:spcBef>
                <a:spcPts val="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Copies of receipts for service received.</a:t>
            </a:r>
            <a:endParaRPr sz="1200">
              <a:solidFill>
                <a:schemeClr val="dk1"/>
              </a:solidFill>
              <a:highlight>
                <a:srgbClr val="FFFFFF"/>
              </a:highlight>
              <a:latin typeface="Times New Roman"/>
              <a:ea typeface="Times New Roman"/>
              <a:cs typeface="Times New Roman"/>
              <a:sym typeface="Times New Roman"/>
            </a:endParaRPr>
          </a:p>
          <a:p>
            <a:pPr indent="-304800" lvl="1" marL="914400" rtl="0" algn="just">
              <a:lnSpc>
                <a:spcPct val="180000"/>
              </a:lnSpc>
              <a:spcBef>
                <a:spcPts val="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Brief but clear explanation of the problem.</a:t>
            </a:r>
            <a:endParaRPr sz="1200">
              <a:solidFill>
                <a:schemeClr val="dk1"/>
              </a:solidFill>
              <a:highlight>
                <a:srgbClr val="FFFFFF"/>
              </a:highlight>
              <a:latin typeface="Times New Roman"/>
              <a:ea typeface="Times New Roman"/>
              <a:cs typeface="Times New Roman"/>
              <a:sym typeface="Times New Roman"/>
            </a:endParaRPr>
          </a:p>
          <a:p>
            <a:pPr indent="-304800" lvl="1" marL="914400" rtl="0" algn="just">
              <a:lnSpc>
                <a:spcPct val="180000"/>
              </a:lnSpc>
              <a:spcBef>
                <a:spcPts val="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Request or suggest what should be done.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Business Letters</a:t>
            </a:r>
            <a:endParaRPr/>
          </a:p>
        </p:txBody>
      </p:sp>
      <p:sp>
        <p:nvSpPr>
          <p:cNvPr id="236" name="Google Shape;23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5. Letter of Claim</a:t>
            </a:r>
            <a:endParaRPr/>
          </a:p>
          <a:p>
            <a:pPr indent="-342900" lvl="0" marL="457200" marR="457200" rtl="0" algn="just">
              <a:lnSpc>
                <a:spcPct val="180000"/>
              </a:lnSpc>
              <a:spcBef>
                <a:spcPts val="1200"/>
              </a:spcBef>
              <a:spcAft>
                <a:spcPts val="0"/>
              </a:spcAft>
              <a:buClr>
                <a:schemeClr val="dk1"/>
              </a:buClr>
              <a:buSzPts val="1800"/>
              <a:buChar char="-"/>
            </a:pPr>
            <a:r>
              <a:rPr lang="en">
                <a:solidFill>
                  <a:schemeClr val="dk1"/>
                </a:solidFill>
                <a:highlight>
                  <a:srgbClr val="FFFFFF"/>
                </a:highlight>
              </a:rPr>
              <a:t>The purpose of the letter is to receive reimbursement on costs for damage or loss.</a:t>
            </a:r>
            <a:endParaRPr>
              <a:solidFill>
                <a:schemeClr val="dk1"/>
              </a:solidFill>
              <a:highlight>
                <a:srgbClr val="FFFFFF"/>
              </a:highlight>
            </a:endParaRPr>
          </a:p>
          <a:p>
            <a:pPr indent="-342900" lvl="0" marL="457200" marR="457200" rtl="0" algn="just">
              <a:lnSpc>
                <a:spcPct val="180000"/>
              </a:lnSpc>
              <a:spcBef>
                <a:spcPts val="0"/>
              </a:spcBef>
              <a:spcAft>
                <a:spcPts val="0"/>
              </a:spcAft>
              <a:buClr>
                <a:schemeClr val="dk1"/>
              </a:buClr>
              <a:buSzPts val="1800"/>
              <a:buChar char="-"/>
            </a:pPr>
            <a:r>
              <a:rPr lang="en">
                <a:solidFill>
                  <a:schemeClr val="dk1"/>
                </a:solidFill>
                <a:highlight>
                  <a:srgbClr val="FFFFFF"/>
                </a:highlight>
              </a:rPr>
              <a:t>Discuss the damage or loss, details of what happened, date, names of people involved and amount you have spent on the damage or loss.</a:t>
            </a:r>
            <a:endParaRPr>
              <a:solidFill>
                <a:schemeClr val="dk1"/>
              </a:solidFill>
              <a:highlight>
                <a:srgbClr val="FFFFFF"/>
              </a:highlight>
            </a:endParaRPr>
          </a:p>
          <a:p>
            <a:pPr indent="-342900" lvl="0" marL="457200" marR="457200" rtl="0" algn="just">
              <a:lnSpc>
                <a:spcPct val="180000"/>
              </a:lnSpc>
              <a:spcBef>
                <a:spcPts val="0"/>
              </a:spcBef>
              <a:spcAft>
                <a:spcPts val="0"/>
              </a:spcAft>
              <a:buClr>
                <a:schemeClr val="dk1"/>
              </a:buClr>
              <a:buSzPts val="1800"/>
              <a:buChar char="-"/>
            </a:pPr>
            <a:r>
              <a:rPr lang="en">
                <a:solidFill>
                  <a:schemeClr val="dk1"/>
                </a:solidFill>
                <a:highlight>
                  <a:srgbClr val="FFFFFF"/>
                </a:highlight>
              </a:rPr>
              <a:t>Enclose copies of receipts and other necessary documents.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Business Letters</a:t>
            </a:r>
            <a:endParaRPr/>
          </a:p>
        </p:txBody>
      </p:sp>
      <p:sp>
        <p:nvSpPr>
          <p:cNvPr id="242" name="Google Shape;242;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6. Letter of Response to a complaint or claim</a:t>
            </a:r>
            <a:endParaRPr/>
          </a:p>
          <a:p>
            <a:pPr indent="-342900" lvl="0" marL="457200" rtl="0" algn="just">
              <a:lnSpc>
                <a:spcPct val="180000"/>
              </a:lnSpc>
              <a:spcBef>
                <a:spcPts val="1200"/>
              </a:spcBef>
              <a:spcAft>
                <a:spcPts val="0"/>
              </a:spcAft>
              <a:buClr>
                <a:schemeClr val="dk1"/>
              </a:buClr>
              <a:buSzPts val="1800"/>
              <a:buChar char="-"/>
            </a:pPr>
            <a:r>
              <a:rPr lang="en">
                <a:solidFill>
                  <a:schemeClr val="dk1"/>
                </a:solidFill>
                <a:highlight>
                  <a:srgbClr val="FFFFFF"/>
                </a:highlight>
              </a:rPr>
              <a:t>Failure to respond will lose good will and business for your organization.</a:t>
            </a:r>
            <a:endParaRPr>
              <a:solidFill>
                <a:schemeClr val="dk1"/>
              </a:solidFill>
              <a:highlight>
                <a:srgbClr val="FFFFFF"/>
              </a:highlight>
            </a:endParaRPr>
          </a:p>
          <a:p>
            <a:pPr indent="-342900" lvl="0" marL="457200" rtl="0" algn="just">
              <a:lnSpc>
                <a:spcPct val="180000"/>
              </a:lnSpc>
              <a:spcBef>
                <a:spcPts val="0"/>
              </a:spcBef>
              <a:spcAft>
                <a:spcPts val="0"/>
              </a:spcAft>
              <a:buClr>
                <a:schemeClr val="dk1"/>
              </a:buClr>
              <a:buSzPts val="1800"/>
              <a:buChar char="-"/>
            </a:pPr>
            <a:r>
              <a:rPr lang="en">
                <a:solidFill>
                  <a:schemeClr val="dk1"/>
                </a:solidFill>
                <a:highlight>
                  <a:srgbClr val="FFFFFF"/>
                </a:highlight>
              </a:rPr>
              <a:t>A well written response will satisfy a disgruntled client and retain his custom.</a:t>
            </a:r>
            <a:endParaRPr>
              <a:solidFill>
                <a:schemeClr val="dk1"/>
              </a:solidFill>
              <a:highlight>
                <a:srgbClr val="FFFFFF"/>
              </a:highlight>
            </a:endParaRPr>
          </a:p>
          <a:p>
            <a:pPr indent="-342900" lvl="0" marL="457200" rtl="0" algn="just">
              <a:lnSpc>
                <a:spcPct val="180000"/>
              </a:lnSpc>
              <a:spcBef>
                <a:spcPts val="0"/>
              </a:spcBef>
              <a:spcAft>
                <a:spcPts val="0"/>
              </a:spcAft>
              <a:buClr>
                <a:schemeClr val="dk1"/>
              </a:buClr>
              <a:buSzPts val="1800"/>
              <a:buChar char="-"/>
            </a:pPr>
            <a:r>
              <a:rPr lang="en">
                <a:solidFill>
                  <a:schemeClr val="dk1"/>
                </a:solidFill>
                <a:highlight>
                  <a:srgbClr val="FFFFFF"/>
                </a:highlight>
              </a:rPr>
              <a:t>Reply promptly; thank the writer/express regret; explain why the problem occurred; if additional time is required ask for it; use positive language; Do not over apologize; explain what you’ll do to address the matter..</a:t>
            </a:r>
            <a:endParaRPr>
              <a:solidFill>
                <a:schemeClr val="dk1"/>
              </a:solidFill>
              <a:highlight>
                <a:srgbClr val="FFFFFF"/>
              </a:highlight>
            </a:endParaRPr>
          </a:p>
          <a:p>
            <a:pPr indent="0" lvl="0" marL="0" rtl="0" algn="l">
              <a:spcBef>
                <a:spcPts val="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Business Letters</a:t>
            </a:r>
            <a:endParaRPr/>
          </a:p>
        </p:txBody>
      </p:sp>
      <p:sp>
        <p:nvSpPr>
          <p:cNvPr id="248" name="Google Shape;248;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7. Letter Requesting Participation </a:t>
            </a:r>
            <a:endParaRPr/>
          </a:p>
          <a:p>
            <a:pPr indent="-342900" lvl="0" marL="457200" rtl="0" algn="just">
              <a:lnSpc>
                <a:spcPct val="180000"/>
              </a:lnSpc>
              <a:spcBef>
                <a:spcPts val="1200"/>
              </a:spcBef>
              <a:spcAft>
                <a:spcPts val="0"/>
              </a:spcAft>
              <a:buClr>
                <a:schemeClr val="dk1"/>
              </a:buClr>
              <a:buSzPts val="1800"/>
              <a:buChar char="-"/>
            </a:pPr>
            <a:r>
              <a:rPr lang="en">
                <a:solidFill>
                  <a:schemeClr val="dk1"/>
                </a:solidFill>
                <a:highlight>
                  <a:srgbClr val="FFFFFF"/>
                </a:highlight>
              </a:rPr>
              <a:t>The purpose is to ask the recipient to contribute funds (e.g. in a fundraiser), become a member or office bearer of your committee or organization, participate in some activity etc.</a:t>
            </a:r>
            <a:endParaRPr>
              <a:solidFill>
                <a:schemeClr val="dk1"/>
              </a:solidFill>
              <a:highlight>
                <a:srgbClr val="FFFFFF"/>
              </a:highlight>
            </a:endParaRPr>
          </a:p>
          <a:p>
            <a:pPr indent="-342900" lvl="0" marL="457200" rtl="0" algn="just">
              <a:lnSpc>
                <a:spcPct val="180000"/>
              </a:lnSpc>
              <a:spcBef>
                <a:spcPts val="0"/>
              </a:spcBef>
              <a:spcAft>
                <a:spcPts val="0"/>
              </a:spcAft>
              <a:buClr>
                <a:schemeClr val="dk1"/>
              </a:buClr>
              <a:buSzPts val="1800"/>
              <a:buChar char="-"/>
            </a:pPr>
            <a:r>
              <a:rPr lang="en">
                <a:solidFill>
                  <a:schemeClr val="dk1"/>
                </a:solidFill>
                <a:highlight>
                  <a:srgbClr val="FFFFFF"/>
                </a:highlight>
              </a:rPr>
              <a:t>What to include; a brief introduction (get the reader on your side); state your request (what do you want and when); Explain how the </a:t>
            </a:r>
            <a:r>
              <a:rPr lang="en">
                <a:solidFill>
                  <a:schemeClr val="dk1"/>
                </a:solidFill>
                <a:highlight>
                  <a:srgbClr val="FFFFFF"/>
                </a:highlight>
              </a:rPr>
              <a:t>recipient</a:t>
            </a:r>
            <a:r>
              <a:rPr lang="en">
                <a:solidFill>
                  <a:schemeClr val="dk1"/>
                </a:solidFill>
                <a:highlight>
                  <a:srgbClr val="FFFFFF"/>
                </a:highlight>
              </a:rPr>
              <a:t> can do what you are asking of them; Express your appreciation. </a:t>
            </a:r>
            <a:endParaRPr>
              <a:solidFill>
                <a:schemeClr val="dk1"/>
              </a:solidFill>
              <a:highlight>
                <a:srgbClr val="FFFFF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Business Letters</a:t>
            </a:r>
            <a:endParaRPr/>
          </a:p>
        </p:txBody>
      </p:sp>
      <p:sp>
        <p:nvSpPr>
          <p:cNvPr id="254" name="Google Shape;25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8. Letter of Refusal </a:t>
            </a:r>
            <a:endParaRPr/>
          </a:p>
          <a:p>
            <a:pPr indent="-342900" lvl="0" marL="457200" rtl="0" algn="just">
              <a:lnSpc>
                <a:spcPct val="180000"/>
              </a:lnSpc>
              <a:spcBef>
                <a:spcPts val="1200"/>
              </a:spcBef>
              <a:spcAft>
                <a:spcPts val="0"/>
              </a:spcAft>
              <a:buClr>
                <a:schemeClr val="dk1"/>
              </a:buClr>
              <a:buSzPts val="1800"/>
              <a:buChar char="-"/>
            </a:pPr>
            <a:r>
              <a:rPr lang="en">
                <a:solidFill>
                  <a:schemeClr val="dk1"/>
                </a:solidFill>
                <a:highlight>
                  <a:srgbClr val="FFFFFF"/>
                </a:highlight>
              </a:rPr>
              <a:t>Refuse in a polite and positive manner.</a:t>
            </a:r>
            <a:endParaRPr>
              <a:solidFill>
                <a:schemeClr val="dk1"/>
              </a:solidFill>
              <a:highlight>
                <a:srgbClr val="FFFFFF"/>
              </a:highlight>
            </a:endParaRPr>
          </a:p>
          <a:p>
            <a:pPr indent="-342900" lvl="0" marL="457200" rtl="0" algn="just">
              <a:lnSpc>
                <a:spcPct val="180000"/>
              </a:lnSpc>
              <a:spcBef>
                <a:spcPts val="0"/>
              </a:spcBef>
              <a:spcAft>
                <a:spcPts val="0"/>
              </a:spcAft>
              <a:buClr>
                <a:schemeClr val="dk1"/>
              </a:buClr>
              <a:buSzPts val="1800"/>
              <a:buChar char="-"/>
            </a:pPr>
            <a:r>
              <a:rPr lang="en">
                <a:solidFill>
                  <a:schemeClr val="dk1"/>
                </a:solidFill>
                <a:highlight>
                  <a:srgbClr val="FFFFFF"/>
                </a:highlight>
              </a:rPr>
              <a:t>Use a positive opening to soften the refusal.</a:t>
            </a:r>
            <a:endParaRPr>
              <a:solidFill>
                <a:schemeClr val="dk1"/>
              </a:solidFill>
              <a:highlight>
                <a:srgbClr val="FFFFFF"/>
              </a:highlight>
            </a:endParaRPr>
          </a:p>
          <a:p>
            <a:pPr indent="-342900" lvl="0" marL="457200" rtl="0" algn="just">
              <a:lnSpc>
                <a:spcPct val="180000"/>
              </a:lnSpc>
              <a:spcBef>
                <a:spcPts val="0"/>
              </a:spcBef>
              <a:spcAft>
                <a:spcPts val="0"/>
              </a:spcAft>
              <a:buClr>
                <a:schemeClr val="dk1"/>
              </a:buClr>
              <a:buSzPts val="1800"/>
              <a:buChar char="-"/>
            </a:pPr>
            <a:r>
              <a:rPr lang="en">
                <a:solidFill>
                  <a:schemeClr val="dk1"/>
                </a:solidFill>
                <a:highlight>
                  <a:srgbClr val="FFFFFF"/>
                </a:highlight>
              </a:rPr>
              <a:t>Give clear reasons for the refusal.</a:t>
            </a:r>
            <a:endParaRPr>
              <a:solidFill>
                <a:schemeClr val="dk1"/>
              </a:solidFill>
              <a:highlight>
                <a:srgbClr val="FFFFFF"/>
              </a:highlight>
            </a:endParaRPr>
          </a:p>
          <a:p>
            <a:pPr indent="-342900" lvl="0" marL="457200" rtl="0" algn="just">
              <a:lnSpc>
                <a:spcPct val="180000"/>
              </a:lnSpc>
              <a:spcBef>
                <a:spcPts val="0"/>
              </a:spcBef>
              <a:spcAft>
                <a:spcPts val="0"/>
              </a:spcAft>
              <a:buClr>
                <a:schemeClr val="dk1"/>
              </a:buClr>
              <a:buSzPts val="1800"/>
              <a:buChar char="-"/>
            </a:pPr>
            <a:r>
              <a:rPr lang="en">
                <a:solidFill>
                  <a:schemeClr val="dk1"/>
                </a:solidFill>
                <a:highlight>
                  <a:srgbClr val="FFFFFF"/>
                </a:highlight>
              </a:rPr>
              <a:t>If possible, offer to help at some other time or in some other way.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Business Letters</a:t>
            </a:r>
            <a:endParaRPr/>
          </a:p>
        </p:txBody>
      </p:sp>
      <p:sp>
        <p:nvSpPr>
          <p:cNvPr id="260" name="Google Shape;260;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t>9. Sales Letter</a:t>
            </a:r>
            <a:endParaRPr/>
          </a:p>
          <a:p>
            <a:pPr indent="-325755" lvl="0" marL="457200" rtl="0" algn="just">
              <a:lnSpc>
                <a:spcPct val="180000"/>
              </a:lnSpc>
              <a:spcBef>
                <a:spcPts val="1200"/>
              </a:spcBef>
              <a:spcAft>
                <a:spcPts val="0"/>
              </a:spcAft>
              <a:buClr>
                <a:schemeClr val="dk1"/>
              </a:buClr>
              <a:buSzPct val="100000"/>
              <a:buChar char="-"/>
            </a:pPr>
            <a:r>
              <a:rPr lang="en">
                <a:solidFill>
                  <a:schemeClr val="dk1"/>
                </a:solidFill>
                <a:highlight>
                  <a:srgbClr val="FFFFFF"/>
                </a:highlight>
              </a:rPr>
              <a:t>The purpose is to persuade a potential client to buy something from you or your services.</a:t>
            </a:r>
            <a:endParaRPr>
              <a:solidFill>
                <a:schemeClr val="dk1"/>
              </a:solidFill>
              <a:highlight>
                <a:srgbClr val="FFFFFF"/>
              </a:highlight>
            </a:endParaRPr>
          </a:p>
          <a:p>
            <a:pPr indent="-325755" lvl="0" marL="457200" rtl="0" algn="just">
              <a:lnSpc>
                <a:spcPct val="180000"/>
              </a:lnSpc>
              <a:spcBef>
                <a:spcPts val="0"/>
              </a:spcBef>
              <a:spcAft>
                <a:spcPts val="0"/>
              </a:spcAft>
              <a:buClr>
                <a:schemeClr val="dk1"/>
              </a:buClr>
              <a:buSzPct val="100000"/>
              <a:buChar char="-"/>
            </a:pPr>
            <a:r>
              <a:rPr lang="en">
                <a:solidFill>
                  <a:schemeClr val="dk1"/>
                </a:solidFill>
                <a:highlight>
                  <a:srgbClr val="FFFFFF"/>
                </a:highlight>
              </a:rPr>
              <a:t>It should state the advantages of buying your goods or services, giving details of the benefits.</a:t>
            </a:r>
            <a:endParaRPr>
              <a:solidFill>
                <a:schemeClr val="dk1"/>
              </a:solidFill>
              <a:highlight>
                <a:srgbClr val="FFFFFF"/>
              </a:highlight>
            </a:endParaRPr>
          </a:p>
          <a:p>
            <a:pPr indent="-325755" lvl="0" marL="457200" rtl="0" algn="just">
              <a:lnSpc>
                <a:spcPct val="180000"/>
              </a:lnSpc>
              <a:spcBef>
                <a:spcPts val="0"/>
              </a:spcBef>
              <a:spcAft>
                <a:spcPts val="0"/>
              </a:spcAft>
              <a:buClr>
                <a:schemeClr val="dk1"/>
              </a:buClr>
              <a:buSzPct val="100000"/>
              <a:buChar char="-"/>
            </a:pPr>
            <a:r>
              <a:rPr lang="en">
                <a:solidFill>
                  <a:schemeClr val="dk1"/>
                </a:solidFill>
                <a:highlight>
                  <a:srgbClr val="FFFFFF"/>
                </a:highlight>
              </a:rPr>
              <a:t>Make a specific request that the reader should make an order.</a:t>
            </a:r>
            <a:endParaRPr>
              <a:solidFill>
                <a:schemeClr val="dk1"/>
              </a:solidFill>
              <a:highlight>
                <a:srgbClr val="FFFFFF"/>
              </a:highlight>
            </a:endParaRPr>
          </a:p>
          <a:p>
            <a:pPr indent="-325755" lvl="0" marL="457200" rtl="0" algn="just">
              <a:lnSpc>
                <a:spcPct val="180000"/>
              </a:lnSpc>
              <a:spcBef>
                <a:spcPts val="0"/>
              </a:spcBef>
              <a:spcAft>
                <a:spcPts val="0"/>
              </a:spcAft>
              <a:buClr>
                <a:schemeClr val="dk1"/>
              </a:buClr>
              <a:buSzPct val="100000"/>
              <a:buChar char="-"/>
            </a:pPr>
            <a:r>
              <a:rPr lang="en">
                <a:solidFill>
                  <a:schemeClr val="dk1"/>
                </a:solidFill>
                <a:highlight>
                  <a:srgbClr val="FFFFFF"/>
                </a:highlight>
              </a:rPr>
              <a:t>In your sales letter; begin by showing the advantages of buying your product (attract attention); startle the reader with fact, question or offer ( buy 10 pants at only 15,000 kwacha); &amp; Compliment the reader, tell them they are special (do not exaggerate) </a:t>
            </a:r>
            <a:endParaRPr>
              <a:solidFill>
                <a:schemeClr val="dk1"/>
              </a:solidFill>
              <a:highlight>
                <a:srgbClr val="FFFFFF"/>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Business Letters</a:t>
            </a:r>
            <a:endParaRPr/>
          </a:p>
        </p:txBody>
      </p:sp>
      <p:sp>
        <p:nvSpPr>
          <p:cNvPr id="266" name="Google Shape;266;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10. </a:t>
            </a:r>
            <a:r>
              <a:rPr lang="en"/>
              <a:t>Letter of Apology</a:t>
            </a:r>
            <a:endParaRPr/>
          </a:p>
          <a:p>
            <a:pPr indent="-325755" lvl="0" marL="457200" rtl="0" algn="just">
              <a:lnSpc>
                <a:spcPct val="180000"/>
              </a:lnSpc>
              <a:spcBef>
                <a:spcPts val="1200"/>
              </a:spcBef>
              <a:spcAft>
                <a:spcPts val="0"/>
              </a:spcAft>
              <a:buClr>
                <a:schemeClr val="dk1"/>
              </a:buClr>
              <a:buSzPct val="100000"/>
              <a:buChar char="-"/>
            </a:pPr>
            <a:r>
              <a:rPr lang="en">
                <a:solidFill>
                  <a:schemeClr val="dk1"/>
                </a:solidFill>
                <a:highlight>
                  <a:srgbClr val="FFFFFF"/>
                </a:highlight>
              </a:rPr>
              <a:t>The purpose is to express regrets or remorse about some incident e.g. a fight between schools in which your students are to blame.</a:t>
            </a:r>
            <a:endParaRPr>
              <a:solidFill>
                <a:schemeClr val="dk1"/>
              </a:solidFill>
              <a:highlight>
                <a:srgbClr val="FFFFFF"/>
              </a:highlight>
            </a:endParaRPr>
          </a:p>
          <a:p>
            <a:pPr indent="-325755" lvl="0" marL="457200" rtl="0" algn="just">
              <a:lnSpc>
                <a:spcPct val="180000"/>
              </a:lnSpc>
              <a:spcBef>
                <a:spcPts val="0"/>
              </a:spcBef>
              <a:spcAft>
                <a:spcPts val="0"/>
              </a:spcAft>
              <a:buClr>
                <a:schemeClr val="dk1"/>
              </a:buClr>
              <a:buSzPct val="100000"/>
              <a:buChar char="-"/>
            </a:pPr>
            <a:r>
              <a:rPr lang="en">
                <a:solidFill>
                  <a:schemeClr val="dk1"/>
                </a:solidFill>
                <a:highlight>
                  <a:srgbClr val="FFFFFF"/>
                </a:highlight>
              </a:rPr>
              <a:t>Expressions used in a letter of apology include:</a:t>
            </a:r>
            <a:endParaRPr>
              <a:solidFill>
                <a:schemeClr val="dk1"/>
              </a:solidFill>
              <a:highlight>
                <a:srgbClr val="FFFFFF"/>
              </a:highlight>
            </a:endParaRPr>
          </a:p>
          <a:p>
            <a:pPr indent="0" lvl="0" marL="914400" rtl="0" algn="just">
              <a:lnSpc>
                <a:spcPct val="180000"/>
              </a:lnSpc>
              <a:spcBef>
                <a:spcPts val="0"/>
              </a:spcBef>
              <a:spcAft>
                <a:spcPts val="0"/>
              </a:spcAft>
              <a:buClr>
                <a:schemeClr val="dk1"/>
              </a:buClr>
              <a:buSzPct val="61111"/>
              <a:buFont typeface="Arial"/>
              <a:buNone/>
            </a:pPr>
            <a:r>
              <a:rPr b="1" lang="en">
                <a:solidFill>
                  <a:schemeClr val="dk1"/>
                </a:solidFill>
                <a:highlight>
                  <a:srgbClr val="FFFFFF"/>
                </a:highlight>
              </a:rPr>
              <a:t>Opening expression</a:t>
            </a:r>
            <a:r>
              <a:rPr lang="en">
                <a:solidFill>
                  <a:schemeClr val="dk1"/>
                </a:solidFill>
                <a:highlight>
                  <a:srgbClr val="FFFFFF"/>
                </a:highlight>
              </a:rPr>
              <a:t>: I am writing to apologize for….; I would like to apologize for…; I regret to say…</a:t>
            </a:r>
            <a:endParaRPr>
              <a:solidFill>
                <a:schemeClr val="dk1"/>
              </a:solidFill>
              <a:highlight>
                <a:srgbClr val="FFFFFF"/>
              </a:highlight>
            </a:endParaRPr>
          </a:p>
          <a:p>
            <a:pPr indent="0" lvl="0" marL="914400" rtl="0" algn="just">
              <a:lnSpc>
                <a:spcPct val="180000"/>
              </a:lnSpc>
              <a:spcBef>
                <a:spcPts val="0"/>
              </a:spcBef>
              <a:spcAft>
                <a:spcPts val="0"/>
              </a:spcAft>
              <a:buClr>
                <a:schemeClr val="dk1"/>
              </a:buClr>
              <a:buSzPct val="61111"/>
              <a:buFont typeface="Arial"/>
              <a:buNone/>
            </a:pPr>
            <a:r>
              <a:rPr b="1" lang="en">
                <a:solidFill>
                  <a:schemeClr val="dk1"/>
                </a:solidFill>
                <a:highlight>
                  <a:srgbClr val="FFFFFF"/>
                </a:highlight>
              </a:rPr>
              <a:t>Body of the letter</a:t>
            </a:r>
            <a:r>
              <a:rPr lang="en">
                <a:solidFill>
                  <a:schemeClr val="dk1"/>
                </a:solidFill>
                <a:highlight>
                  <a:srgbClr val="FFFFFF"/>
                </a:highlight>
              </a:rPr>
              <a:t>: We had no right to…; There was no reason for us to…</a:t>
            </a:r>
            <a:endParaRPr>
              <a:solidFill>
                <a:schemeClr val="dk1"/>
              </a:solidFill>
              <a:highlight>
                <a:srgbClr val="FFFFFF"/>
              </a:highlight>
            </a:endParaRPr>
          </a:p>
          <a:p>
            <a:pPr indent="0" lvl="0" marL="914400" rtl="0" algn="just">
              <a:lnSpc>
                <a:spcPct val="180000"/>
              </a:lnSpc>
              <a:spcBef>
                <a:spcPts val="0"/>
              </a:spcBef>
              <a:spcAft>
                <a:spcPts val="0"/>
              </a:spcAft>
              <a:buNone/>
            </a:pPr>
            <a:r>
              <a:rPr b="1" lang="en">
                <a:solidFill>
                  <a:schemeClr val="dk1"/>
                </a:solidFill>
                <a:highlight>
                  <a:srgbClr val="FFFFFF"/>
                </a:highlight>
              </a:rPr>
              <a:t>Concluding expression</a:t>
            </a:r>
            <a:r>
              <a:rPr lang="en">
                <a:solidFill>
                  <a:schemeClr val="dk1"/>
                </a:solidFill>
                <a:highlight>
                  <a:srgbClr val="FFFFFF"/>
                </a:highlight>
              </a:rPr>
              <a:t>: I promise that this will not happen again…; I can assure you that we shall not let this happen again…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Reference Letters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 Letters</a:t>
            </a:r>
            <a:endParaRPr/>
          </a:p>
        </p:txBody>
      </p:sp>
      <p:sp>
        <p:nvSpPr>
          <p:cNvPr id="277" name="Google Shape;277;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297497" lvl="0" marL="457200" rtl="0" algn="just">
              <a:lnSpc>
                <a:spcPct val="150000"/>
              </a:lnSpc>
              <a:spcBef>
                <a:spcPts val="800"/>
              </a:spcBef>
              <a:spcAft>
                <a:spcPts val="0"/>
              </a:spcAft>
              <a:buClr>
                <a:schemeClr val="dk1"/>
              </a:buClr>
              <a:buSzPct val="77777"/>
              <a:buChar char="●"/>
            </a:pPr>
            <a:r>
              <a:rPr lang="en"/>
              <a:t>Reference letters are written when you want to recommend someone for a </a:t>
            </a:r>
            <a:endParaRPr/>
          </a:p>
          <a:p>
            <a:pPr indent="0" lvl="0" marL="0" rtl="0" algn="just">
              <a:lnSpc>
                <a:spcPct val="150000"/>
              </a:lnSpc>
              <a:spcBef>
                <a:spcPts val="0"/>
              </a:spcBef>
              <a:spcAft>
                <a:spcPts val="0"/>
              </a:spcAft>
              <a:buClr>
                <a:schemeClr val="dk1"/>
              </a:buClr>
              <a:buSzPct val="116666"/>
              <a:buFont typeface="Arial"/>
              <a:buNone/>
            </a:pPr>
            <a:r>
              <a:rPr lang="en"/>
              <a:t>     particular job position or a place in an academic institution.</a:t>
            </a:r>
            <a:endParaRPr/>
          </a:p>
          <a:p>
            <a:pPr indent="-157797" lvl="0" marL="177800" rtl="0" algn="just">
              <a:lnSpc>
                <a:spcPct val="150000"/>
              </a:lnSpc>
              <a:spcBef>
                <a:spcPts val="0"/>
              </a:spcBef>
              <a:spcAft>
                <a:spcPts val="0"/>
              </a:spcAft>
              <a:buClr>
                <a:schemeClr val="dk1"/>
              </a:buClr>
              <a:buSzPct val="77777"/>
              <a:buChar char="●"/>
            </a:pPr>
            <a:r>
              <a:rPr lang="en"/>
              <a:t> A reference letter should provide information on who you are, your connection with the person you are recommending, why they are qualified and specific skills they have. </a:t>
            </a:r>
            <a:endParaRPr/>
          </a:p>
          <a:p>
            <a:pPr indent="-154146" lvl="0" marL="177800" rtl="0" algn="just">
              <a:lnSpc>
                <a:spcPct val="150000"/>
              </a:lnSpc>
              <a:spcBef>
                <a:spcPts val="800"/>
              </a:spcBef>
              <a:spcAft>
                <a:spcPts val="0"/>
              </a:spcAft>
              <a:buClr>
                <a:schemeClr val="dk1"/>
              </a:buClr>
              <a:buSzPct val="116666"/>
              <a:buChar char="●"/>
            </a:pPr>
            <a:r>
              <a:rPr lang="en"/>
              <a:t>In addition, contact information for follow up should be provided.</a:t>
            </a:r>
            <a:endParaRPr/>
          </a:p>
          <a:p>
            <a:pPr indent="0" lvl="0" marL="177800" rtl="0" algn="just">
              <a:lnSpc>
                <a:spcPct val="150000"/>
              </a:lnSpc>
              <a:spcBef>
                <a:spcPts val="800"/>
              </a:spcBef>
              <a:spcAft>
                <a:spcPts val="0"/>
              </a:spcAft>
              <a:buClr>
                <a:schemeClr val="dk1"/>
              </a:buClr>
              <a:buSzPct val="100000"/>
              <a:buFont typeface="Arial"/>
              <a:buNone/>
            </a:pPr>
            <a:r>
              <a:rPr b="1" lang="en" sz="2100"/>
              <a:t>Format of a reference letter</a:t>
            </a:r>
            <a:endParaRPr/>
          </a:p>
          <a:p>
            <a:pPr indent="-154146" lvl="0" marL="177800" rtl="0" algn="just">
              <a:lnSpc>
                <a:spcPct val="150000"/>
              </a:lnSpc>
              <a:spcBef>
                <a:spcPts val="0"/>
              </a:spcBef>
              <a:spcAft>
                <a:spcPts val="0"/>
              </a:spcAft>
              <a:buClr>
                <a:schemeClr val="dk1"/>
              </a:buClr>
              <a:buSzPct val="100000"/>
              <a:buChar char="●"/>
            </a:pPr>
            <a:r>
              <a:rPr lang="en" sz="2100"/>
              <a:t>The following reference letter format is appropriate for an employment reference, as well as reference for graduate school:</a:t>
            </a:r>
            <a:endParaRPr/>
          </a:p>
          <a:p>
            <a:pPr indent="-230346" lvl="0" marL="254000" rtl="0" algn="just">
              <a:lnSpc>
                <a:spcPct val="150000"/>
              </a:lnSpc>
              <a:spcBef>
                <a:spcPts val="0"/>
              </a:spcBef>
              <a:spcAft>
                <a:spcPts val="0"/>
              </a:spcAft>
              <a:buClr>
                <a:schemeClr val="dk1"/>
              </a:buClr>
              <a:buSzPct val="100000"/>
              <a:buAutoNum type="alphaLcPeriod"/>
            </a:pPr>
            <a:r>
              <a:rPr b="1" lang="en" sz="2100"/>
              <a:t>Return (sender’s) address</a:t>
            </a:r>
            <a:endParaRPr b="1"/>
          </a:p>
          <a:p>
            <a:pPr indent="0" lvl="0" marL="0" rtl="0" algn="just">
              <a:lnSpc>
                <a:spcPct val="150000"/>
              </a:lnSpc>
              <a:spcBef>
                <a:spcPts val="0"/>
              </a:spcBef>
              <a:spcAft>
                <a:spcPts val="0"/>
              </a:spcAft>
              <a:buClr>
                <a:schemeClr val="dk1"/>
              </a:buClr>
              <a:buSzPct val="116666"/>
              <a:buFont typeface="Arial"/>
              <a:buNone/>
            </a:pPr>
            <a:r>
              <a:rPr lang="en"/>
              <a:t>      </a:t>
            </a:r>
            <a:r>
              <a:rPr b="1" lang="en"/>
              <a:t> - </a:t>
            </a:r>
            <a:r>
              <a:rPr lang="en" sz="2100"/>
              <a:t>This is written when you are not using a letterhead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1"/>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fontScale="77500" lnSpcReduction="20000"/>
          </a:bodyPr>
          <a:lstStyle/>
          <a:p>
            <a:pPr indent="0" lvl="0" marL="0" marR="0" rtl="0" algn="just">
              <a:lnSpc>
                <a:spcPct val="150000"/>
              </a:lnSpc>
              <a:spcBef>
                <a:spcPts val="0"/>
              </a:spcBef>
              <a:spcAft>
                <a:spcPts val="0"/>
              </a:spcAft>
              <a:buClr>
                <a:schemeClr val="dk1"/>
              </a:buClr>
              <a:buSzPct val="100000"/>
              <a:buNone/>
            </a:pPr>
            <a:r>
              <a:rPr b="1" lang="en" sz="2100">
                <a:latin typeface="Times New Roman"/>
                <a:ea typeface="Times New Roman"/>
                <a:cs typeface="Times New Roman"/>
                <a:sym typeface="Times New Roman"/>
              </a:rPr>
              <a:t>b) Receiver’s address  (applicable in specific reference letters)</a:t>
            </a:r>
            <a:endParaRPr b="1" sz="1800">
              <a:latin typeface="Calibri"/>
              <a:ea typeface="Calibri"/>
              <a:cs typeface="Calibri"/>
              <a:sym typeface="Calibri"/>
            </a:endParaRPr>
          </a:p>
          <a:p>
            <a:pPr indent="0" lvl="0" marL="0" marR="0" rtl="0" algn="just">
              <a:lnSpc>
                <a:spcPct val="150000"/>
              </a:lnSpc>
              <a:spcBef>
                <a:spcPts val="0"/>
              </a:spcBef>
              <a:spcAft>
                <a:spcPts val="0"/>
              </a:spcAft>
              <a:buClr>
                <a:schemeClr val="dk1"/>
              </a:buClr>
              <a:buSzPct val="100000"/>
              <a:buNone/>
            </a:pPr>
            <a:r>
              <a:rPr lang="en" sz="2100">
                <a:latin typeface="Times New Roman"/>
                <a:ea typeface="Times New Roman"/>
                <a:cs typeface="Times New Roman"/>
                <a:sym typeface="Times New Roman"/>
              </a:rPr>
              <a:t>     - This is written when you know the actual address of the receiver. Include the </a:t>
            </a:r>
            <a:endParaRPr/>
          </a:p>
          <a:p>
            <a:pPr indent="0" lvl="0" marL="0" marR="0" rtl="0" algn="just">
              <a:lnSpc>
                <a:spcPct val="150000"/>
              </a:lnSpc>
              <a:spcBef>
                <a:spcPts val="0"/>
              </a:spcBef>
              <a:spcAft>
                <a:spcPts val="0"/>
              </a:spcAft>
              <a:buClr>
                <a:schemeClr val="dk1"/>
              </a:buClr>
              <a:buSzPct val="116666"/>
              <a:buNone/>
            </a:pPr>
            <a:r>
              <a:rPr lang="en">
                <a:latin typeface="Times New Roman"/>
                <a:ea typeface="Times New Roman"/>
                <a:cs typeface="Times New Roman"/>
                <a:sym typeface="Times New Roman"/>
              </a:rPr>
              <a:t>        </a:t>
            </a:r>
            <a:r>
              <a:rPr lang="en" sz="2100">
                <a:latin typeface="Times New Roman"/>
                <a:ea typeface="Times New Roman"/>
                <a:cs typeface="Times New Roman"/>
                <a:sym typeface="Times New Roman"/>
              </a:rPr>
              <a:t>name/position of the receiver</a:t>
            </a:r>
            <a:endParaRPr sz="1800">
              <a:latin typeface="Calibri"/>
              <a:ea typeface="Calibri"/>
              <a:cs typeface="Calibri"/>
              <a:sym typeface="Calibri"/>
            </a:endParaRPr>
          </a:p>
          <a:p>
            <a:pPr indent="0" lvl="0" marL="0" marR="0" rtl="0" algn="just">
              <a:lnSpc>
                <a:spcPct val="150000"/>
              </a:lnSpc>
              <a:spcBef>
                <a:spcPts val="0"/>
              </a:spcBef>
              <a:spcAft>
                <a:spcPts val="0"/>
              </a:spcAft>
              <a:buClr>
                <a:schemeClr val="dk1"/>
              </a:buClr>
              <a:buSzPct val="100000"/>
              <a:buNone/>
            </a:pPr>
            <a:r>
              <a:rPr b="1" lang="en" sz="2100">
                <a:latin typeface="Times New Roman"/>
                <a:ea typeface="Times New Roman"/>
                <a:cs typeface="Times New Roman"/>
                <a:sym typeface="Times New Roman"/>
              </a:rPr>
              <a:t>c)  Salutation</a:t>
            </a:r>
            <a:endParaRPr b="1" sz="1800">
              <a:latin typeface="Calibri"/>
              <a:ea typeface="Calibri"/>
              <a:cs typeface="Calibri"/>
              <a:sym typeface="Calibri"/>
            </a:endParaRPr>
          </a:p>
          <a:p>
            <a:pPr indent="0" lvl="0" marL="0" marR="0" rtl="0" algn="just">
              <a:lnSpc>
                <a:spcPct val="150000"/>
              </a:lnSpc>
              <a:spcBef>
                <a:spcPts val="0"/>
              </a:spcBef>
              <a:spcAft>
                <a:spcPts val="0"/>
              </a:spcAft>
              <a:buClr>
                <a:schemeClr val="dk1"/>
              </a:buClr>
              <a:buSzPct val="100000"/>
              <a:buNone/>
            </a:pPr>
            <a:r>
              <a:rPr lang="en" sz="2100">
                <a:latin typeface="Times New Roman"/>
                <a:ea typeface="Times New Roman"/>
                <a:cs typeface="Times New Roman"/>
                <a:sym typeface="Times New Roman"/>
              </a:rPr>
              <a:t>     - If you are writing a personal letter of reference, include a salutation (e.g. Dear </a:t>
            </a:r>
            <a:endParaRPr/>
          </a:p>
          <a:p>
            <a:pPr indent="0" lvl="0" marL="0" marR="0" rtl="0" algn="just">
              <a:lnSpc>
                <a:spcPct val="150000"/>
              </a:lnSpc>
              <a:spcBef>
                <a:spcPts val="800"/>
              </a:spcBef>
              <a:spcAft>
                <a:spcPts val="0"/>
              </a:spcAft>
              <a:buClr>
                <a:schemeClr val="dk1"/>
              </a:buClr>
              <a:buSzPct val="116666"/>
              <a:buNone/>
            </a:pPr>
            <a:r>
              <a:rPr lang="en">
                <a:latin typeface="Times New Roman"/>
                <a:ea typeface="Times New Roman"/>
                <a:cs typeface="Times New Roman"/>
                <a:sym typeface="Times New Roman"/>
              </a:rPr>
              <a:t>       </a:t>
            </a:r>
            <a:r>
              <a:rPr lang="en" sz="2100">
                <a:latin typeface="Times New Roman"/>
                <a:ea typeface="Times New Roman"/>
                <a:cs typeface="Times New Roman"/>
                <a:sym typeface="Times New Roman"/>
              </a:rPr>
              <a:t>Mr. Banda). </a:t>
            </a:r>
            <a:endParaRPr/>
          </a:p>
          <a:p>
            <a:pPr indent="0" lvl="0" marL="0" marR="0" rtl="0" algn="just">
              <a:lnSpc>
                <a:spcPct val="150000"/>
              </a:lnSpc>
              <a:spcBef>
                <a:spcPts val="800"/>
              </a:spcBef>
              <a:spcAft>
                <a:spcPts val="0"/>
              </a:spcAft>
              <a:buClr>
                <a:schemeClr val="dk1"/>
              </a:buClr>
              <a:buSzPct val="100000"/>
              <a:buNone/>
            </a:pPr>
            <a:r>
              <a:rPr b="1" lang="en" sz="2100">
                <a:latin typeface="Times New Roman"/>
                <a:ea typeface="Times New Roman"/>
                <a:cs typeface="Times New Roman"/>
                <a:sym typeface="Times New Roman"/>
              </a:rPr>
              <a:t>NOTE: </a:t>
            </a:r>
            <a:r>
              <a:rPr lang="en" sz="2100">
                <a:latin typeface="Times New Roman"/>
                <a:ea typeface="Times New Roman"/>
                <a:cs typeface="Times New Roman"/>
                <a:sym typeface="Times New Roman"/>
              </a:rPr>
              <a:t>If you are writing a general reference letter, say “To whom it may concern” </a:t>
            </a:r>
            <a:endParaRPr/>
          </a:p>
          <a:p>
            <a:pPr indent="0" lvl="0" marL="0" marR="0" rtl="0" algn="just">
              <a:lnSpc>
                <a:spcPct val="150000"/>
              </a:lnSpc>
              <a:spcBef>
                <a:spcPts val="800"/>
              </a:spcBef>
              <a:spcAft>
                <a:spcPts val="0"/>
              </a:spcAft>
              <a:buClr>
                <a:schemeClr val="dk1"/>
              </a:buClr>
              <a:buSzPct val="116666"/>
              <a:buNone/>
            </a:pPr>
            <a:r>
              <a:rPr lang="en">
                <a:latin typeface="Times New Roman"/>
                <a:ea typeface="Times New Roman"/>
                <a:cs typeface="Times New Roman"/>
                <a:sym typeface="Times New Roman"/>
              </a:rPr>
              <a:t>            </a:t>
            </a:r>
            <a:r>
              <a:rPr lang="en" sz="2100">
                <a:latin typeface="Times New Roman"/>
                <a:ea typeface="Times New Roman"/>
                <a:cs typeface="Times New Roman"/>
                <a:sym typeface="Times New Roman"/>
              </a:rPr>
              <a:t>or simply do not include a salutation.</a:t>
            </a:r>
            <a:endParaRPr sz="1800">
              <a:latin typeface="Calibri"/>
              <a:ea typeface="Calibri"/>
              <a:cs typeface="Calibri"/>
              <a:sym typeface="Calibri"/>
            </a:endParaRPr>
          </a:p>
          <a:p>
            <a:pPr indent="-38100" lvl="0" marL="177800" rtl="0" algn="l">
              <a:lnSpc>
                <a:spcPct val="90000"/>
              </a:lnSpc>
              <a:spcBef>
                <a:spcPts val="1500"/>
              </a:spcBef>
              <a:spcAft>
                <a:spcPts val="1200"/>
              </a:spcAft>
              <a:buClr>
                <a:schemeClr val="dk1"/>
              </a:buClr>
              <a:buSzPct val="116666"/>
              <a:buNone/>
            </a:pPr>
            <a:r>
              <a:t/>
            </a:r>
            <a:endParaRPr>
              <a:latin typeface="Times New Roman"/>
              <a:ea typeface="Times New Roman"/>
              <a:cs typeface="Times New Roman"/>
              <a:sym typeface="Times New Roman"/>
            </a:endParaRPr>
          </a:p>
        </p:txBody>
      </p:sp>
      <p:sp>
        <p:nvSpPr>
          <p:cNvPr id="283" name="Google Shape;28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 Letter Format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2"/>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fontScale="70000" lnSpcReduction="10000"/>
          </a:bodyPr>
          <a:lstStyle/>
          <a:p>
            <a:pPr indent="0" lvl="0" marL="0" marR="0" rtl="0" algn="just">
              <a:lnSpc>
                <a:spcPct val="150000"/>
              </a:lnSpc>
              <a:spcBef>
                <a:spcPts val="0"/>
              </a:spcBef>
              <a:spcAft>
                <a:spcPts val="0"/>
              </a:spcAft>
              <a:buClr>
                <a:schemeClr val="dk1"/>
              </a:buClr>
              <a:buSzPct val="100000"/>
              <a:buNone/>
            </a:pPr>
            <a:r>
              <a:rPr b="1" lang="en" sz="2100">
                <a:latin typeface="Times New Roman"/>
                <a:ea typeface="Times New Roman"/>
                <a:cs typeface="Times New Roman"/>
                <a:sym typeface="Times New Roman"/>
              </a:rPr>
              <a:t>d) Subject</a:t>
            </a:r>
            <a:endParaRPr b="1" sz="1800">
              <a:latin typeface="Calibri"/>
              <a:ea typeface="Calibri"/>
              <a:cs typeface="Calibri"/>
              <a:sym typeface="Calibri"/>
            </a:endParaRPr>
          </a:p>
          <a:p>
            <a:pPr indent="-207645" lvl="0" marL="254000" marR="0" rtl="0" algn="just">
              <a:lnSpc>
                <a:spcPct val="150000"/>
              </a:lnSpc>
              <a:spcBef>
                <a:spcPts val="0"/>
              </a:spcBef>
              <a:spcAft>
                <a:spcPts val="0"/>
              </a:spcAft>
              <a:buClr>
                <a:schemeClr val="dk1"/>
              </a:buClr>
              <a:buSzPct val="100000"/>
              <a:buFont typeface="Calibri"/>
              <a:buChar char="-"/>
            </a:pPr>
            <a:r>
              <a:rPr lang="en" sz="2100">
                <a:latin typeface="Times New Roman"/>
                <a:ea typeface="Times New Roman"/>
                <a:cs typeface="Times New Roman"/>
                <a:sym typeface="Times New Roman"/>
              </a:rPr>
              <a:t>Briefly summarizes the content of the body.</a:t>
            </a:r>
            <a:endParaRPr sz="1800">
              <a:latin typeface="Calibri"/>
              <a:ea typeface="Calibri"/>
              <a:cs typeface="Calibri"/>
              <a:sym typeface="Calibri"/>
            </a:endParaRPr>
          </a:p>
          <a:p>
            <a:pPr indent="-207645" lvl="0" marL="254000" marR="0" rtl="0" algn="just">
              <a:lnSpc>
                <a:spcPct val="150000"/>
              </a:lnSpc>
              <a:spcBef>
                <a:spcPts val="0"/>
              </a:spcBef>
              <a:spcAft>
                <a:spcPts val="0"/>
              </a:spcAft>
              <a:buClr>
                <a:schemeClr val="dk1"/>
              </a:buClr>
              <a:buSzPct val="100000"/>
              <a:buFont typeface="Calibri"/>
              <a:buChar char="-"/>
            </a:pPr>
            <a:r>
              <a:rPr lang="en" sz="2100">
                <a:latin typeface="Times New Roman"/>
                <a:ea typeface="Times New Roman"/>
                <a:cs typeface="Times New Roman"/>
                <a:sym typeface="Times New Roman"/>
              </a:rPr>
              <a:t>Includes the name of the person for whom you are writing the reference letter eg letter of reference for Wendy Luhanga.</a:t>
            </a:r>
            <a:endParaRPr/>
          </a:p>
          <a:p>
            <a:pPr indent="0" lvl="0" marL="0" marR="0" rtl="0" algn="just">
              <a:lnSpc>
                <a:spcPct val="150000"/>
              </a:lnSpc>
              <a:spcBef>
                <a:spcPts val="800"/>
              </a:spcBef>
              <a:spcAft>
                <a:spcPts val="0"/>
              </a:spcAft>
              <a:buClr>
                <a:schemeClr val="dk1"/>
              </a:buClr>
              <a:buSzPct val="116666"/>
              <a:buNone/>
            </a:pPr>
            <a:r>
              <a:rPr b="1" lang="en">
                <a:latin typeface="Times New Roman"/>
                <a:ea typeface="Times New Roman"/>
                <a:cs typeface="Times New Roman"/>
                <a:sym typeface="Times New Roman"/>
              </a:rPr>
              <a:t>e) The Body</a:t>
            </a:r>
            <a:endParaRPr b="1">
              <a:latin typeface="Calibri"/>
              <a:ea typeface="Calibri"/>
              <a:cs typeface="Calibri"/>
              <a:sym typeface="Calibri"/>
            </a:endParaRPr>
          </a:p>
          <a:p>
            <a:pPr indent="-207645" lvl="0" marL="254000" marR="0" rtl="0" algn="just">
              <a:lnSpc>
                <a:spcPct val="150000"/>
              </a:lnSpc>
              <a:spcBef>
                <a:spcPts val="0"/>
              </a:spcBef>
              <a:spcAft>
                <a:spcPts val="0"/>
              </a:spcAft>
              <a:buClr>
                <a:schemeClr val="dk1"/>
              </a:buClr>
              <a:buSzPct val="116666"/>
              <a:buFont typeface="Calibri"/>
              <a:buChar char="-"/>
            </a:pPr>
            <a:r>
              <a:rPr b="1" i="1" lang="en">
                <a:latin typeface="Times New Roman"/>
                <a:ea typeface="Times New Roman"/>
                <a:cs typeface="Times New Roman"/>
                <a:sym typeface="Times New Roman"/>
              </a:rPr>
              <a:t>Paragraph 1</a:t>
            </a:r>
            <a:endParaRPr b="1" i="1">
              <a:latin typeface="Calibri"/>
              <a:ea typeface="Calibri"/>
              <a:cs typeface="Calibri"/>
              <a:sym typeface="Calibri"/>
            </a:endParaRPr>
          </a:p>
          <a:p>
            <a:pPr indent="-207645" lvl="0" marL="254000" marR="0" rtl="0" algn="just">
              <a:lnSpc>
                <a:spcPct val="150000"/>
              </a:lnSpc>
              <a:spcBef>
                <a:spcPts val="0"/>
              </a:spcBef>
              <a:spcAft>
                <a:spcPts val="0"/>
              </a:spcAft>
              <a:buClr>
                <a:schemeClr val="dk1"/>
              </a:buClr>
              <a:buSzPct val="116666"/>
              <a:buFont typeface="Noto Sans Symbols"/>
              <a:buChar char="✔"/>
            </a:pPr>
            <a:r>
              <a:rPr lang="en">
                <a:latin typeface="Times New Roman"/>
                <a:ea typeface="Times New Roman"/>
                <a:cs typeface="Times New Roman"/>
                <a:sym typeface="Times New Roman"/>
              </a:rPr>
              <a:t>The first paragraph of the reference letter explains your connection to the person you are recommending, including how you know them, and why you are qualified to write a reference letter to recommend employment or graduate school.</a:t>
            </a:r>
            <a:endParaRPr>
              <a:latin typeface="Calibri"/>
              <a:ea typeface="Calibri"/>
              <a:cs typeface="Calibri"/>
              <a:sym typeface="Calibri"/>
            </a:endParaRPr>
          </a:p>
          <a:p>
            <a:pPr indent="-139700" lvl="0" marL="254000" marR="0" rtl="0" algn="just">
              <a:lnSpc>
                <a:spcPct val="150000"/>
              </a:lnSpc>
              <a:spcBef>
                <a:spcPts val="800"/>
              </a:spcBef>
              <a:spcAft>
                <a:spcPts val="0"/>
              </a:spcAft>
              <a:buClr>
                <a:schemeClr val="dk1"/>
              </a:buClr>
              <a:buSzPct val="100000"/>
              <a:buFont typeface="Calibri"/>
              <a:buNone/>
            </a:pPr>
            <a:r>
              <a:t/>
            </a:r>
            <a:endParaRPr sz="1800">
              <a:latin typeface="Calibri"/>
              <a:ea typeface="Calibri"/>
              <a:cs typeface="Calibri"/>
              <a:sym typeface="Calibri"/>
            </a:endParaRPr>
          </a:p>
          <a:p>
            <a:pPr indent="-38100" lvl="0" marL="177800" rtl="0" algn="l">
              <a:lnSpc>
                <a:spcPct val="90000"/>
              </a:lnSpc>
              <a:spcBef>
                <a:spcPts val="1500"/>
              </a:spcBef>
              <a:spcAft>
                <a:spcPts val="1200"/>
              </a:spcAft>
              <a:buClr>
                <a:schemeClr val="dk1"/>
              </a:buClr>
              <a:buSzPct val="116666"/>
              <a:buNone/>
            </a:pPr>
            <a:r>
              <a:t/>
            </a:r>
            <a:endParaRPr>
              <a:latin typeface="Times New Roman"/>
              <a:ea typeface="Times New Roman"/>
              <a:cs typeface="Times New Roman"/>
              <a:sym typeface="Times New Roman"/>
            </a:endParaRPr>
          </a:p>
        </p:txBody>
      </p:sp>
      <p:sp>
        <p:nvSpPr>
          <p:cNvPr id="289" name="Google Shape;289;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 Letter Format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3"/>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fontScale="77500" lnSpcReduction="20000"/>
          </a:bodyPr>
          <a:lstStyle/>
          <a:p>
            <a:pPr indent="0" lvl="0" marL="0" marR="0" rtl="0" algn="just">
              <a:lnSpc>
                <a:spcPct val="150000"/>
              </a:lnSpc>
              <a:spcBef>
                <a:spcPts val="0"/>
              </a:spcBef>
              <a:spcAft>
                <a:spcPts val="0"/>
              </a:spcAft>
              <a:buClr>
                <a:schemeClr val="dk1"/>
              </a:buClr>
              <a:buSzPct val="100000"/>
              <a:buNone/>
            </a:pPr>
            <a:r>
              <a:rPr b="1" i="1" lang="en" sz="2100">
                <a:latin typeface="Times New Roman"/>
                <a:ea typeface="Times New Roman"/>
                <a:cs typeface="Times New Roman"/>
                <a:sym typeface="Times New Roman"/>
              </a:rPr>
              <a:t>Paragraph 2</a:t>
            </a:r>
            <a:endParaRPr b="1" i="1" sz="1800">
              <a:latin typeface="Calibri"/>
              <a:ea typeface="Calibri"/>
              <a:cs typeface="Calibri"/>
              <a:sym typeface="Calibri"/>
            </a:endParaRPr>
          </a:p>
          <a:p>
            <a:pPr indent="-141446" lvl="0" marL="177800" marR="0" rtl="0" algn="just">
              <a:lnSpc>
                <a:spcPct val="150000"/>
              </a:lnSpc>
              <a:spcBef>
                <a:spcPts val="0"/>
              </a:spcBef>
              <a:spcAft>
                <a:spcPts val="0"/>
              </a:spcAft>
              <a:buClr>
                <a:schemeClr val="dk1"/>
              </a:buClr>
              <a:buSzPct val="100000"/>
              <a:buFont typeface="Noto Sans Symbols"/>
              <a:buChar char="❖"/>
            </a:pPr>
            <a:r>
              <a:rPr lang="en" sz="2100">
                <a:latin typeface="Times New Roman"/>
                <a:ea typeface="Times New Roman"/>
                <a:cs typeface="Times New Roman"/>
                <a:sym typeface="Times New Roman"/>
              </a:rPr>
              <a:t>The second paragraph contains specific information on the person you are writing about, including why they are qualified, what they can contribute, and why you are providing reference letter. If necessary use more than one paragraph to provide details</a:t>
            </a:r>
            <a:endParaRPr sz="1800">
              <a:latin typeface="Calibri"/>
              <a:ea typeface="Calibri"/>
              <a:cs typeface="Calibri"/>
              <a:sym typeface="Calibri"/>
            </a:endParaRPr>
          </a:p>
          <a:p>
            <a:pPr indent="0" lvl="0" marL="0" marR="0" rtl="0" algn="just">
              <a:lnSpc>
                <a:spcPct val="150000"/>
              </a:lnSpc>
              <a:spcBef>
                <a:spcPts val="0"/>
              </a:spcBef>
              <a:spcAft>
                <a:spcPts val="0"/>
              </a:spcAft>
              <a:buClr>
                <a:schemeClr val="dk1"/>
              </a:buClr>
              <a:buSzPct val="100000"/>
              <a:buNone/>
            </a:pPr>
            <a:r>
              <a:rPr b="1" i="1" lang="en" sz="2100">
                <a:latin typeface="Times New Roman"/>
                <a:ea typeface="Times New Roman"/>
                <a:cs typeface="Times New Roman"/>
                <a:sym typeface="Times New Roman"/>
              </a:rPr>
              <a:t>Paragraph 3</a:t>
            </a:r>
            <a:endParaRPr b="1" i="1" sz="1800">
              <a:latin typeface="Calibri"/>
              <a:ea typeface="Calibri"/>
              <a:cs typeface="Calibri"/>
              <a:sym typeface="Calibri"/>
            </a:endParaRPr>
          </a:p>
          <a:p>
            <a:pPr indent="-141446" lvl="0" marL="177800" marR="0" rtl="0" algn="just">
              <a:lnSpc>
                <a:spcPct val="150000"/>
              </a:lnSpc>
              <a:spcBef>
                <a:spcPts val="0"/>
              </a:spcBef>
              <a:spcAft>
                <a:spcPts val="0"/>
              </a:spcAft>
              <a:buClr>
                <a:schemeClr val="dk1"/>
              </a:buClr>
              <a:buSzPct val="100000"/>
              <a:buFont typeface="Noto Sans Symbols"/>
              <a:buChar char="❖"/>
            </a:pPr>
            <a:r>
              <a:rPr lang="en" sz="2100">
                <a:latin typeface="Times New Roman"/>
                <a:ea typeface="Times New Roman"/>
                <a:cs typeface="Times New Roman"/>
                <a:sym typeface="Times New Roman"/>
              </a:rPr>
              <a:t>When writing a reference letter referring a candidate for a particular job opening, the letter will include information on how the person’s skills match the position they are applying for. Ask for a copy of the job posting and a copy of the person’s resume so that you can target your reference letter accordingly</a:t>
            </a:r>
            <a:endParaRPr sz="1800">
              <a:latin typeface="Calibri"/>
              <a:ea typeface="Calibri"/>
              <a:cs typeface="Calibri"/>
              <a:sym typeface="Calibri"/>
            </a:endParaRPr>
          </a:p>
          <a:p>
            <a:pPr indent="-38100" lvl="0" marL="177800" rtl="0" algn="l">
              <a:lnSpc>
                <a:spcPct val="90000"/>
              </a:lnSpc>
              <a:spcBef>
                <a:spcPts val="1500"/>
              </a:spcBef>
              <a:spcAft>
                <a:spcPts val="1200"/>
              </a:spcAft>
              <a:buClr>
                <a:schemeClr val="dk1"/>
              </a:buClr>
              <a:buSzPct val="116666"/>
              <a:buNone/>
            </a:pPr>
            <a:r>
              <a:t/>
            </a:r>
            <a:endParaRPr>
              <a:latin typeface="Times New Roman"/>
              <a:ea typeface="Times New Roman"/>
              <a:cs typeface="Times New Roman"/>
              <a:sym typeface="Times New Roman"/>
            </a:endParaRPr>
          </a:p>
        </p:txBody>
      </p:sp>
      <p:sp>
        <p:nvSpPr>
          <p:cNvPr id="295" name="Google Shape;29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 Letter Format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4"/>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fontScale="70000" lnSpcReduction="10000"/>
          </a:bodyPr>
          <a:lstStyle/>
          <a:p>
            <a:pPr indent="0" lvl="0" marL="0" marR="0" rtl="0" algn="just">
              <a:lnSpc>
                <a:spcPct val="150000"/>
              </a:lnSpc>
              <a:spcBef>
                <a:spcPts val="0"/>
              </a:spcBef>
              <a:spcAft>
                <a:spcPts val="0"/>
              </a:spcAft>
              <a:buClr>
                <a:schemeClr val="dk1"/>
              </a:buClr>
              <a:buSzPct val="100000"/>
              <a:buNone/>
            </a:pPr>
            <a:r>
              <a:rPr b="1" i="1" lang="en" sz="2100">
                <a:latin typeface="Times New Roman"/>
                <a:ea typeface="Times New Roman"/>
                <a:cs typeface="Times New Roman"/>
                <a:sym typeface="Times New Roman"/>
              </a:rPr>
              <a:t>Summary</a:t>
            </a:r>
            <a:r>
              <a:rPr lang="en" sz="2100">
                <a:latin typeface="Times New Roman"/>
                <a:ea typeface="Times New Roman"/>
                <a:cs typeface="Times New Roman"/>
                <a:sym typeface="Times New Roman"/>
              </a:rPr>
              <a:t> </a:t>
            </a:r>
            <a:endParaRPr sz="1800">
              <a:latin typeface="Calibri"/>
              <a:ea typeface="Calibri"/>
              <a:cs typeface="Calibri"/>
              <a:sym typeface="Calibri"/>
            </a:endParaRPr>
          </a:p>
          <a:p>
            <a:pPr indent="-131445" lvl="0" marL="177800" marR="0" rtl="0" algn="just">
              <a:lnSpc>
                <a:spcPct val="150000"/>
              </a:lnSpc>
              <a:spcBef>
                <a:spcPts val="0"/>
              </a:spcBef>
              <a:spcAft>
                <a:spcPts val="0"/>
              </a:spcAft>
              <a:buClr>
                <a:schemeClr val="dk1"/>
              </a:buClr>
              <a:buSzPct val="100000"/>
              <a:buFont typeface="Noto Sans Symbols"/>
              <a:buChar char="❖"/>
            </a:pPr>
            <a:r>
              <a:rPr lang="en" sz="2100">
                <a:latin typeface="Times New Roman"/>
                <a:ea typeface="Times New Roman"/>
                <a:cs typeface="Times New Roman"/>
                <a:sym typeface="Times New Roman"/>
              </a:rPr>
              <a:t>This section contains a brief summary of why you are recommending the person. State that you ‘highly recommend’ the person or that you ‘recommend without reservations’ or something similar</a:t>
            </a:r>
            <a:endParaRPr sz="1800">
              <a:latin typeface="Calibri"/>
              <a:ea typeface="Calibri"/>
              <a:cs typeface="Calibri"/>
              <a:sym typeface="Calibri"/>
            </a:endParaRPr>
          </a:p>
          <a:p>
            <a:pPr indent="0" lvl="0" marL="0" marR="0" rtl="0" algn="just">
              <a:lnSpc>
                <a:spcPct val="150000"/>
              </a:lnSpc>
              <a:spcBef>
                <a:spcPts val="0"/>
              </a:spcBef>
              <a:spcAft>
                <a:spcPts val="0"/>
              </a:spcAft>
              <a:buClr>
                <a:schemeClr val="dk1"/>
              </a:buClr>
              <a:buSzPct val="100000"/>
              <a:buNone/>
            </a:pPr>
            <a:r>
              <a:rPr b="1" i="1" lang="en" sz="2100">
                <a:latin typeface="Times New Roman"/>
                <a:ea typeface="Times New Roman"/>
                <a:cs typeface="Times New Roman"/>
                <a:sym typeface="Times New Roman"/>
              </a:rPr>
              <a:t>Conclusion </a:t>
            </a:r>
            <a:endParaRPr b="1" i="1" sz="1800">
              <a:latin typeface="Calibri"/>
              <a:ea typeface="Calibri"/>
              <a:cs typeface="Calibri"/>
              <a:sym typeface="Calibri"/>
            </a:endParaRPr>
          </a:p>
          <a:p>
            <a:pPr indent="-131445" lvl="0" marL="177800" marR="0" rtl="0" algn="just">
              <a:lnSpc>
                <a:spcPct val="150000"/>
              </a:lnSpc>
              <a:spcBef>
                <a:spcPts val="0"/>
              </a:spcBef>
              <a:spcAft>
                <a:spcPts val="0"/>
              </a:spcAft>
              <a:buClr>
                <a:schemeClr val="dk1"/>
              </a:buClr>
              <a:buSzPct val="100000"/>
              <a:buFont typeface="Noto Sans Symbols"/>
              <a:buChar char="❖"/>
            </a:pPr>
            <a:r>
              <a:rPr lang="en" sz="2100">
                <a:latin typeface="Times New Roman"/>
                <a:ea typeface="Times New Roman"/>
                <a:cs typeface="Times New Roman"/>
                <a:sym typeface="Times New Roman"/>
              </a:rPr>
              <a:t>Contains an offer to provide more information. Include a phone number within the paragraph or indicate that you have included the phone number and email address in the return section of your letter or in your signature.</a:t>
            </a:r>
            <a:endParaRPr sz="1800">
              <a:latin typeface="Calibri"/>
              <a:ea typeface="Calibri"/>
              <a:cs typeface="Calibri"/>
              <a:sym typeface="Calibri"/>
            </a:endParaRPr>
          </a:p>
          <a:p>
            <a:pPr indent="0" lvl="0" marL="0" marR="0" rtl="0" algn="just">
              <a:lnSpc>
                <a:spcPct val="150000"/>
              </a:lnSpc>
              <a:spcBef>
                <a:spcPts val="0"/>
              </a:spcBef>
              <a:spcAft>
                <a:spcPts val="0"/>
              </a:spcAft>
              <a:buClr>
                <a:schemeClr val="dk1"/>
              </a:buClr>
              <a:buSzPct val="100000"/>
              <a:buNone/>
            </a:pPr>
            <a:r>
              <a:rPr b="1" i="1" lang="en" sz="2100">
                <a:latin typeface="Times New Roman"/>
                <a:ea typeface="Times New Roman"/>
                <a:cs typeface="Times New Roman"/>
                <a:sym typeface="Times New Roman"/>
              </a:rPr>
              <a:t>f) </a:t>
            </a:r>
            <a:r>
              <a:rPr b="1" i="1" lang="en" sz="2100">
                <a:latin typeface="Times New Roman"/>
                <a:ea typeface="Times New Roman"/>
                <a:cs typeface="Times New Roman"/>
                <a:sym typeface="Times New Roman"/>
              </a:rPr>
              <a:t>Complimentary</a:t>
            </a:r>
            <a:r>
              <a:rPr b="1" i="1" lang="en" sz="2100">
                <a:latin typeface="Times New Roman"/>
                <a:ea typeface="Times New Roman"/>
                <a:cs typeface="Times New Roman"/>
                <a:sym typeface="Times New Roman"/>
              </a:rPr>
              <a:t> Close</a:t>
            </a:r>
            <a:endParaRPr b="1" i="1" sz="1800">
              <a:latin typeface="Calibri"/>
              <a:ea typeface="Calibri"/>
              <a:cs typeface="Calibri"/>
              <a:sym typeface="Calibri"/>
            </a:endParaRPr>
          </a:p>
          <a:p>
            <a:pPr indent="-131445" lvl="0" marL="177800" marR="0" rtl="0" algn="just">
              <a:lnSpc>
                <a:spcPct val="150000"/>
              </a:lnSpc>
              <a:spcBef>
                <a:spcPts val="0"/>
              </a:spcBef>
              <a:spcAft>
                <a:spcPts val="0"/>
              </a:spcAft>
              <a:buClr>
                <a:schemeClr val="dk1"/>
              </a:buClr>
              <a:buSzPct val="100000"/>
              <a:buFont typeface="Noto Sans Symbols"/>
              <a:buChar char="❖"/>
            </a:pPr>
            <a:r>
              <a:rPr lang="en" sz="2100">
                <a:latin typeface="Times New Roman"/>
                <a:ea typeface="Times New Roman"/>
                <a:cs typeface="Times New Roman"/>
                <a:sym typeface="Times New Roman"/>
              </a:rPr>
              <a:t>You can use ‘Yours faithfully’ or ‘Yours sincerely’ as already explained above.</a:t>
            </a:r>
            <a:endParaRPr sz="1800">
              <a:latin typeface="Calibri"/>
              <a:ea typeface="Calibri"/>
              <a:cs typeface="Calibri"/>
              <a:sym typeface="Calibri"/>
            </a:endParaRPr>
          </a:p>
          <a:p>
            <a:pPr indent="0" lvl="0" marL="0" rtl="0" algn="l">
              <a:lnSpc>
                <a:spcPct val="90000"/>
              </a:lnSpc>
              <a:spcBef>
                <a:spcPts val="1500"/>
              </a:spcBef>
              <a:spcAft>
                <a:spcPts val="1200"/>
              </a:spcAft>
              <a:buClr>
                <a:schemeClr val="dk1"/>
              </a:buClr>
              <a:buSzPct val="116666"/>
              <a:buNone/>
            </a:pPr>
            <a:r>
              <a:t/>
            </a:r>
            <a:endParaRPr>
              <a:latin typeface="Times New Roman"/>
              <a:ea typeface="Times New Roman"/>
              <a:cs typeface="Times New Roman"/>
              <a:sym typeface="Times New Roman"/>
            </a:endParaRPr>
          </a:p>
        </p:txBody>
      </p:sp>
      <p:sp>
        <p:nvSpPr>
          <p:cNvPr id="301" name="Google Shape;30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 Letter Format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5"/>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fontScale="77500" lnSpcReduction="20000"/>
          </a:bodyPr>
          <a:lstStyle/>
          <a:p>
            <a:pPr indent="0" lvl="0" marL="0" marR="0" rtl="0" algn="just">
              <a:lnSpc>
                <a:spcPct val="150000"/>
              </a:lnSpc>
              <a:spcBef>
                <a:spcPts val="0"/>
              </a:spcBef>
              <a:spcAft>
                <a:spcPts val="0"/>
              </a:spcAft>
              <a:buClr>
                <a:schemeClr val="dk1"/>
              </a:buClr>
              <a:buSzPct val="100000"/>
              <a:buNone/>
            </a:pPr>
            <a:r>
              <a:rPr b="1" lang="en" sz="2100">
                <a:latin typeface="Times New Roman"/>
                <a:ea typeface="Times New Roman"/>
                <a:cs typeface="Times New Roman"/>
                <a:sym typeface="Times New Roman"/>
              </a:rPr>
              <a:t>g) Signature</a:t>
            </a:r>
            <a:endParaRPr b="1" sz="1800">
              <a:latin typeface="Calibri"/>
              <a:ea typeface="Calibri"/>
              <a:cs typeface="Calibri"/>
              <a:sym typeface="Calibri"/>
            </a:endParaRPr>
          </a:p>
          <a:p>
            <a:pPr indent="-141446" lvl="0" marL="177800" marR="0" rtl="0" algn="just">
              <a:lnSpc>
                <a:spcPct val="150000"/>
              </a:lnSpc>
              <a:spcBef>
                <a:spcPts val="0"/>
              </a:spcBef>
              <a:spcAft>
                <a:spcPts val="0"/>
              </a:spcAft>
              <a:buClr>
                <a:schemeClr val="dk1"/>
              </a:buClr>
              <a:buSzPct val="100000"/>
              <a:buFont typeface="Noto Sans Symbols"/>
              <a:buChar char="❖"/>
            </a:pPr>
            <a:r>
              <a:rPr lang="en" sz="2100">
                <a:latin typeface="Times New Roman"/>
                <a:ea typeface="Times New Roman"/>
                <a:cs typeface="Times New Roman"/>
                <a:sym typeface="Times New Roman"/>
              </a:rPr>
              <a:t>Include name and signature.</a:t>
            </a:r>
            <a:endParaRPr sz="1800">
              <a:latin typeface="Calibri"/>
              <a:ea typeface="Calibri"/>
              <a:cs typeface="Calibri"/>
              <a:sym typeface="Calibri"/>
            </a:endParaRPr>
          </a:p>
          <a:p>
            <a:pPr indent="0" lvl="0" marL="0" marR="0" rtl="0" algn="just">
              <a:lnSpc>
                <a:spcPct val="150000"/>
              </a:lnSpc>
              <a:spcBef>
                <a:spcPts val="0"/>
              </a:spcBef>
              <a:spcAft>
                <a:spcPts val="0"/>
              </a:spcAft>
              <a:buClr>
                <a:schemeClr val="dk1"/>
              </a:buClr>
              <a:buSzPct val="100000"/>
              <a:buNone/>
            </a:pPr>
            <a:r>
              <a:rPr b="1" i="1" lang="en" sz="2100">
                <a:latin typeface="Times New Roman"/>
                <a:ea typeface="Times New Roman"/>
                <a:cs typeface="Times New Roman"/>
                <a:sym typeface="Times New Roman"/>
              </a:rPr>
              <a:t>Additional points to note:</a:t>
            </a:r>
            <a:endParaRPr b="1" i="1" sz="1800">
              <a:latin typeface="Calibri"/>
              <a:ea typeface="Calibri"/>
              <a:cs typeface="Calibri"/>
              <a:sym typeface="Calibri"/>
            </a:endParaRPr>
          </a:p>
          <a:p>
            <a:pPr indent="-141446" lvl="0" marL="177800" marR="0" rtl="0" algn="just">
              <a:lnSpc>
                <a:spcPct val="150000"/>
              </a:lnSpc>
              <a:spcBef>
                <a:spcPts val="0"/>
              </a:spcBef>
              <a:spcAft>
                <a:spcPts val="0"/>
              </a:spcAft>
              <a:buClr>
                <a:schemeClr val="dk1"/>
              </a:buClr>
              <a:buSzPct val="100000"/>
              <a:buFont typeface="Noto Sans Symbols"/>
              <a:buChar char="❖"/>
            </a:pPr>
            <a:r>
              <a:rPr lang="en" sz="2100">
                <a:latin typeface="Times New Roman"/>
                <a:ea typeface="Times New Roman"/>
                <a:cs typeface="Times New Roman"/>
                <a:sym typeface="Times New Roman"/>
              </a:rPr>
              <a:t>Be objective (honest)</a:t>
            </a:r>
            <a:endParaRPr sz="1800">
              <a:latin typeface="Calibri"/>
              <a:ea typeface="Calibri"/>
              <a:cs typeface="Calibri"/>
              <a:sym typeface="Calibri"/>
            </a:endParaRPr>
          </a:p>
          <a:p>
            <a:pPr indent="-141446" lvl="0" marL="177800" marR="0" rtl="0" algn="just">
              <a:lnSpc>
                <a:spcPct val="150000"/>
              </a:lnSpc>
              <a:spcBef>
                <a:spcPts val="0"/>
              </a:spcBef>
              <a:spcAft>
                <a:spcPts val="0"/>
              </a:spcAft>
              <a:buClr>
                <a:schemeClr val="dk1"/>
              </a:buClr>
              <a:buSzPct val="100000"/>
              <a:buFont typeface="Noto Sans Symbols"/>
              <a:buChar char="❖"/>
            </a:pPr>
            <a:r>
              <a:rPr lang="en" sz="2100">
                <a:latin typeface="Times New Roman"/>
                <a:ea typeface="Times New Roman"/>
                <a:cs typeface="Times New Roman"/>
                <a:sym typeface="Times New Roman"/>
              </a:rPr>
              <a:t>Do not over-praise</a:t>
            </a:r>
            <a:endParaRPr sz="1800">
              <a:latin typeface="Calibri"/>
              <a:ea typeface="Calibri"/>
              <a:cs typeface="Calibri"/>
              <a:sym typeface="Calibri"/>
            </a:endParaRPr>
          </a:p>
          <a:p>
            <a:pPr indent="-141446" lvl="0" marL="177800" marR="0" rtl="0" algn="just">
              <a:lnSpc>
                <a:spcPct val="150000"/>
              </a:lnSpc>
              <a:spcBef>
                <a:spcPts val="0"/>
              </a:spcBef>
              <a:spcAft>
                <a:spcPts val="0"/>
              </a:spcAft>
              <a:buClr>
                <a:schemeClr val="dk1"/>
              </a:buClr>
              <a:buSzPct val="100000"/>
              <a:buFont typeface="Noto Sans Symbols"/>
              <a:buChar char="❖"/>
            </a:pPr>
            <a:r>
              <a:rPr lang="en" sz="2100">
                <a:latin typeface="Times New Roman"/>
                <a:ea typeface="Times New Roman"/>
                <a:cs typeface="Times New Roman"/>
                <a:sym typeface="Times New Roman"/>
              </a:rPr>
              <a:t>Do not use language that is too damaging to the person you are writing about e.g. very bad; reckless</a:t>
            </a:r>
            <a:endParaRPr sz="1800">
              <a:latin typeface="Calibri"/>
              <a:ea typeface="Calibri"/>
              <a:cs typeface="Calibri"/>
              <a:sym typeface="Calibri"/>
            </a:endParaRPr>
          </a:p>
          <a:p>
            <a:pPr indent="-141446" lvl="0" marL="177800" marR="0" rtl="0" algn="just">
              <a:lnSpc>
                <a:spcPct val="150000"/>
              </a:lnSpc>
              <a:spcBef>
                <a:spcPts val="0"/>
              </a:spcBef>
              <a:spcAft>
                <a:spcPts val="0"/>
              </a:spcAft>
              <a:buClr>
                <a:schemeClr val="dk1"/>
              </a:buClr>
              <a:buSzPct val="100000"/>
              <a:buFont typeface="Noto Sans Symbols"/>
              <a:buChar char="❖"/>
            </a:pPr>
            <a:r>
              <a:rPr lang="en" sz="2100">
                <a:latin typeface="Times New Roman"/>
                <a:ea typeface="Times New Roman"/>
                <a:cs typeface="Times New Roman"/>
                <a:sym typeface="Times New Roman"/>
              </a:rPr>
              <a:t>Remember you are not writing a CV for the person so there is no need to write things that are expected to be in the person’s CV</a:t>
            </a:r>
            <a:endParaRPr sz="1800">
              <a:latin typeface="Calibri"/>
              <a:ea typeface="Calibri"/>
              <a:cs typeface="Calibri"/>
              <a:sym typeface="Calibri"/>
            </a:endParaRPr>
          </a:p>
          <a:p>
            <a:pPr indent="-38100" lvl="0" marL="177800" rtl="0" algn="l">
              <a:lnSpc>
                <a:spcPct val="90000"/>
              </a:lnSpc>
              <a:spcBef>
                <a:spcPts val="1500"/>
              </a:spcBef>
              <a:spcAft>
                <a:spcPts val="1200"/>
              </a:spcAft>
              <a:buClr>
                <a:schemeClr val="dk1"/>
              </a:buClr>
              <a:buSzPct val="116666"/>
              <a:buNone/>
            </a:pPr>
            <a:r>
              <a:t/>
            </a:r>
            <a:endParaRPr>
              <a:latin typeface="Times New Roman"/>
              <a:ea typeface="Times New Roman"/>
              <a:cs typeface="Times New Roman"/>
              <a:sym typeface="Times New Roman"/>
            </a:endParaRPr>
          </a:p>
        </p:txBody>
      </p:sp>
      <p:sp>
        <p:nvSpPr>
          <p:cNvPr id="307" name="Google Shape;307;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 Letter Format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Writing Testimonials</a:t>
            </a:r>
            <a:endParaRPr/>
          </a:p>
        </p:txBody>
      </p:sp>
      <p:sp>
        <p:nvSpPr>
          <p:cNvPr id="313" name="Google Shape;313;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testimonial is a correspondence written by an official to testify about the ability and general behaviour of someone (e.g. a student who wishes to leave or has already left an educational institution to look for employment or to go to a higher institution).</a:t>
            </a:r>
            <a:endParaRPr/>
          </a:p>
          <a:p>
            <a:pPr indent="-342900" lvl="0" marL="457200" rtl="0" algn="l">
              <a:spcBef>
                <a:spcPts val="0"/>
              </a:spcBef>
              <a:spcAft>
                <a:spcPts val="0"/>
              </a:spcAft>
              <a:buSzPts val="1800"/>
              <a:buChar char="➔"/>
            </a:pPr>
            <a:r>
              <a:rPr b="1" lang="en"/>
              <a:t>Who is the official?</a:t>
            </a:r>
            <a:endParaRPr b="1"/>
          </a:p>
          <a:p>
            <a:pPr indent="-342900" lvl="0" marL="457200" rtl="0" algn="l">
              <a:spcBef>
                <a:spcPts val="0"/>
              </a:spcBef>
              <a:spcAft>
                <a:spcPts val="0"/>
              </a:spcAft>
              <a:buSzPts val="1800"/>
              <a:buChar char="➔"/>
            </a:pPr>
            <a:r>
              <a:rPr lang="en"/>
              <a:t>Can be;</a:t>
            </a:r>
            <a:endParaRPr/>
          </a:p>
          <a:p>
            <a:pPr indent="-317500" lvl="1" marL="914400" rtl="0" algn="l">
              <a:spcBef>
                <a:spcPts val="0"/>
              </a:spcBef>
              <a:spcAft>
                <a:spcPts val="0"/>
              </a:spcAft>
              <a:buSzPts val="1400"/>
              <a:buChar char="◆"/>
            </a:pPr>
            <a:r>
              <a:rPr lang="en" sz="1800"/>
              <a:t>Headmaster, </a:t>
            </a:r>
            <a:endParaRPr sz="1800"/>
          </a:p>
          <a:p>
            <a:pPr indent="-317500" lvl="1" marL="914400" rtl="0" algn="l">
              <a:spcBef>
                <a:spcPts val="0"/>
              </a:spcBef>
              <a:spcAft>
                <a:spcPts val="0"/>
              </a:spcAft>
              <a:buSzPts val="1400"/>
              <a:buChar char="◆"/>
            </a:pPr>
            <a:r>
              <a:rPr lang="en" sz="1800"/>
              <a:t>Principal, </a:t>
            </a:r>
            <a:endParaRPr sz="1800"/>
          </a:p>
          <a:p>
            <a:pPr indent="-317500" lvl="1" marL="914400" rtl="0" algn="l">
              <a:spcBef>
                <a:spcPts val="0"/>
              </a:spcBef>
              <a:spcAft>
                <a:spcPts val="0"/>
              </a:spcAft>
              <a:buSzPts val="1400"/>
              <a:buChar char="◆"/>
            </a:pPr>
            <a:r>
              <a:rPr lang="en" sz="1800"/>
              <a:t>Registrar etc</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Points to bear in mind when writing Testimonials</a:t>
            </a:r>
            <a:endParaRPr/>
          </a:p>
        </p:txBody>
      </p:sp>
      <p:sp>
        <p:nvSpPr>
          <p:cNvPr id="319" name="Google Shape;319;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Be objective (honest)</a:t>
            </a:r>
            <a:endParaRPr/>
          </a:p>
          <a:p>
            <a:pPr indent="-342900" lvl="0" marL="457200" rtl="0" algn="l">
              <a:spcBef>
                <a:spcPts val="0"/>
              </a:spcBef>
              <a:spcAft>
                <a:spcPts val="0"/>
              </a:spcAft>
              <a:buSzPts val="1800"/>
              <a:buChar char="➔"/>
            </a:pPr>
            <a:r>
              <a:rPr lang="en"/>
              <a:t>Do not over praise</a:t>
            </a:r>
            <a:endParaRPr/>
          </a:p>
          <a:p>
            <a:pPr indent="-342900" lvl="0" marL="457200" rtl="0" algn="l">
              <a:spcBef>
                <a:spcPts val="0"/>
              </a:spcBef>
              <a:spcAft>
                <a:spcPts val="0"/>
              </a:spcAft>
              <a:buSzPts val="1800"/>
              <a:buChar char="➔"/>
            </a:pPr>
            <a:r>
              <a:rPr lang="en"/>
              <a:t>Do not use language that is too damaging to the person you are writing about.</a:t>
            </a:r>
            <a:endParaRPr/>
          </a:p>
          <a:p>
            <a:pPr indent="-317500" lvl="1" marL="914400" rtl="0" algn="l">
              <a:spcBef>
                <a:spcPts val="0"/>
              </a:spcBef>
              <a:spcAft>
                <a:spcPts val="0"/>
              </a:spcAft>
              <a:buSzPts val="1400"/>
              <a:buChar char="◆"/>
            </a:pPr>
            <a:r>
              <a:rPr lang="en"/>
              <a:t>Avoid expressions like “very bad”, “very poor”, “very lazy”</a:t>
            </a:r>
            <a:endParaRPr/>
          </a:p>
          <a:p>
            <a:pPr indent="-342900" lvl="0" marL="457200" rtl="0" algn="l">
              <a:spcBef>
                <a:spcPts val="0"/>
              </a:spcBef>
              <a:spcAft>
                <a:spcPts val="0"/>
              </a:spcAft>
              <a:buSzPts val="1800"/>
              <a:buChar char="➔"/>
            </a:pPr>
            <a:r>
              <a:rPr lang="en"/>
              <a:t>Do not use a letter format</a:t>
            </a:r>
            <a:endParaRPr/>
          </a:p>
          <a:p>
            <a:pPr indent="-317500" lvl="1" marL="914400" rtl="0" algn="l">
              <a:spcBef>
                <a:spcPts val="0"/>
              </a:spcBef>
              <a:spcAft>
                <a:spcPts val="0"/>
              </a:spcAft>
              <a:buSzPts val="1400"/>
              <a:buChar char="◆"/>
            </a:pPr>
            <a:r>
              <a:rPr lang="en"/>
              <a:t>Do not use salutations (i.e Dear Sir)</a:t>
            </a:r>
            <a:endParaRPr/>
          </a:p>
          <a:p>
            <a:pPr indent="-317500" lvl="1" marL="914400" rtl="0" algn="l">
              <a:spcBef>
                <a:spcPts val="0"/>
              </a:spcBef>
              <a:spcAft>
                <a:spcPts val="0"/>
              </a:spcAft>
              <a:buSzPts val="1400"/>
              <a:buChar char="◆"/>
            </a:pPr>
            <a:r>
              <a:rPr lang="en"/>
              <a:t>Do not use valediction (i.e. Yours faithfully)</a:t>
            </a:r>
            <a:endParaRPr/>
          </a:p>
          <a:p>
            <a:pPr indent="-317500" lvl="1" marL="914400" rtl="0" algn="l">
              <a:spcBef>
                <a:spcPts val="0"/>
              </a:spcBef>
              <a:spcAft>
                <a:spcPts val="0"/>
              </a:spcAft>
              <a:buSzPts val="1400"/>
              <a:buChar char="◆"/>
            </a:pPr>
            <a:r>
              <a:rPr lang="en"/>
              <a:t>Only indicate Sender’s address, date and signature</a:t>
            </a:r>
            <a:endParaRPr/>
          </a:p>
          <a:p>
            <a:pPr indent="-317500" lvl="1" marL="914400" rtl="0" algn="l">
              <a:spcBef>
                <a:spcPts val="0"/>
              </a:spcBef>
              <a:spcAft>
                <a:spcPts val="0"/>
              </a:spcAft>
              <a:buSzPts val="1400"/>
              <a:buChar char="◆"/>
            </a:pPr>
            <a:r>
              <a:rPr lang="en"/>
              <a:t>Instead of a heading use </a:t>
            </a:r>
            <a:r>
              <a:rPr b="1" lang="en"/>
              <a:t>To whom it may concern. </a:t>
            </a:r>
            <a:r>
              <a:rPr lang="en"/>
              <a:t>However, if the recipient of the testimonial is a specific person use a letter format with an appropriate heading.</a:t>
            </a:r>
            <a:endParaRPr/>
          </a:p>
          <a:p>
            <a:pPr indent="-342900" lvl="0" marL="457200" rtl="0" algn="l">
              <a:spcBef>
                <a:spcPts val="0"/>
              </a:spcBef>
              <a:spcAft>
                <a:spcPts val="0"/>
              </a:spcAft>
              <a:buSzPts val="1800"/>
              <a:buChar char="➔"/>
            </a:pPr>
            <a:r>
              <a:rPr lang="en"/>
              <a:t>You are not writing a CV. Do not get into details that are expected to be in the person’s CV.</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Newsletters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9"/>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Newsletters</a:t>
            </a:r>
            <a:endParaRPr/>
          </a:p>
        </p:txBody>
      </p:sp>
      <p:sp>
        <p:nvSpPr>
          <p:cNvPr id="330" name="Google Shape;330;p59"/>
          <p:cNvSpPr txBox="1"/>
          <p:nvPr>
            <p:ph idx="1" type="body"/>
          </p:nvPr>
        </p:nvSpPr>
        <p:spPr>
          <a:xfrm>
            <a:off x="628650" y="1026914"/>
            <a:ext cx="7886700" cy="2447700"/>
          </a:xfrm>
          <a:prstGeom prst="rect">
            <a:avLst/>
          </a:prstGeom>
          <a:noFill/>
          <a:ln>
            <a:noFill/>
          </a:ln>
        </p:spPr>
        <p:txBody>
          <a:bodyPr anchorCtr="0" anchor="t" bIns="45700" lIns="91425" spcFirstLastPara="1" rIns="91425" wrap="square" tIns="45700">
            <a:normAutofit fontScale="77500" lnSpcReduction="10000"/>
          </a:bodyPr>
          <a:lstStyle/>
          <a:p>
            <a:pPr indent="-297180" lvl="0" marL="342900" marR="0" rtl="0" algn="just">
              <a:lnSpc>
                <a:spcPct val="90000"/>
              </a:lnSpc>
              <a:spcBef>
                <a:spcPts val="0"/>
              </a:spcBef>
              <a:spcAft>
                <a:spcPts val="0"/>
              </a:spcAft>
              <a:buClr>
                <a:schemeClr val="dk1"/>
              </a:buClr>
              <a:buSzPct val="100000"/>
              <a:buFont typeface="Noto Sans Symbols"/>
              <a:buChar char="⮚"/>
            </a:pPr>
            <a:r>
              <a:rPr b="0" i="0" lang="en" sz="3200" u="none" cap="none" strike="noStrike">
                <a:solidFill>
                  <a:schemeClr val="dk1"/>
                </a:solidFill>
                <a:latin typeface="Calibri"/>
                <a:ea typeface="Calibri"/>
                <a:cs typeface="Calibri"/>
                <a:sym typeface="Calibri"/>
              </a:rPr>
              <a:t>Shortened form of newspaper and informational letters. Used normally to communicate with readers.</a:t>
            </a:r>
            <a:endParaRPr/>
          </a:p>
          <a:p>
            <a:pPr indent="-297180" lvl="0" marL="342900" marR="0" rtl="0" algn="just">
              <a:lnSpc>
                <a:spcPct val="90000"/>
              </a:lnSpc>
              <a:spcBef>
                <a:spcPts val="640"/>
              </a:spcBef>
              <a:spcAft>
                <a:spcPts val="0"/>
              </a:spcAft>
              <a:buClr>
                <a:schemeClr val="dk1"/>
              </a:buClr>
              <a:buSzPct val="100000"/>
              <a:buFont typeface="Noto Sans Symbols"/>
              <a:buChar char="⮚"/>
            </a:pPr>
            <a:r>
              <a:rPr b="0" i="0" lang="en" sz="3200" u="none" cap="none" strike="noStrike">
                <a:solidFill>
                  <a:schemeClr val="dk1"/>
                </a:solidFill>
                <a:latin typeface="Calibri"/>
                <a:ea typeface="Calibri"/>
                <a:cs typeface="Calibri"/>
                <a:sym typeface="Calibri"/>
              </a:rPr>
              <a:t>A newsletter is a </a:t>
            </a:r>
            <a:r>
              <a:rPr b="1" i="0" lang="en" sz="3200" u="none" cap="none" strike="noStrike">
                <a:solidFill>
                  <a:schemeClr val="dk1"/>
                </a:solidFill>
                <a:latin typeface="Calibri"/>
                <a:ea typeface="Calibri"/>
                <a:cs typeface="Calibri"/>
                <a:sym typeface="Calibri"/>
              </a:rPr>
              <a:t>periodical </a:t>
            </a:r>
            <a:r>
              <a:rPr b="0" i="0" lang="en" sz="3200" u="none" cap="none" strike="noStrike">
                <a:solidFill>
                  <a:schemeClr val="dk1"/>
                </a:solidFill>
                <a:latin typeface="Calibri"/>
                <a:ea typeface="Calibri"/>
                <a:cs typeface="Calibri"/>
                <a:sym typeface="Calibri"/>
              </a:rPr>
              <a:t>published by an organisation primarily to </a:t>
            </a:r>
            <a:r>
              <a:rPr b="1" i="0" lang="en" sz="3200" u="none" cap="none" strike="noStrike">
                <a:solidFill>
                  <a:schemeClr val="dk1"/>
                </a:solidFill>
                <a:latin typeface="Calibri"/>
                <a:ea typeface="Calibri"/>
                <a:cs typeface="Calibri"/>
                <a:sym typeface="Calibri"/>
              </a:rPr>
              <a:t>inform readers</a:t>
            </a:r>
            <a:r>
              <a:rPr b="0" i="0" lang="en" sz="3200" u="none" cap="none" strike="noStrike">
                <a:solidFill>
                  <a:schemeClr val="dk1"/>
                </a:solidFill>
                <a:latin typeface="Calibri"/>
                <a:ea typeface="Calibri"/>
                <a:cs typeface="Calibri"/>
                <a:sym typeface="Calibri"/>
              </a:rPr>
              <a:t> about the activities of an organisation.</a:t>
            </a:r>
            <a:endParaRPr/>
          </a:p>
          <a:p>
            <a:pPr indent="-297180" lvl="0" marL="342900" marR="0" rtl="0" algn="just">
              <a:lnSpc>
                <a:spcPct val="90000"/>
              </a:lnSpc>
              <a:spcBef>
                <a:spcPts val="640"/>
              </a:spcBef>
              <a:spcAft>
                <a:spcPts val="0"/>
              </a:spcAft>
              <a:buClr>
                <a:schemeClr val="dk1"/>
              </a:buClr>
              <a:buSzPct val="100000"/>
              <a:buFont typeface="Noto Sans Symbols"/>
              <a:buChar char="⮚"/>
            </a:pPr>
            <a:r>
              <a:rPr b="0" i="0" lang="en" sz="3200" u="none" cap="none" strike="noStrike">
                <a:solidFill>
                  <a:schemeClr val="dk1"/>
                </a:solidFill>
                <a:latin typeface="Calibri"/>
                <a:ea typeface="Calibri"/>
                <a:cs typeface="Calibri"/>
                <a:sym typeface="Calibri"/>
              </a:rPr>
              <a:t>It may also inform readers about new ideas, events in the news  and publications that might interest them.</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60"/>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Target audience for the newsletter</a:t>
            </a:r>
            <a:endParaRPr/>
          </a:p>
        </p:txBody>
      </p:sp>
      <p:sp>
        <p:nvSpPr>
          <p:cNvPr id="336" name="Google Shape;336;p60"/>
          <p:cNvSpPr txBox="1"/>
          <p:nvPr>
            <p:ph idx="1" type="body"/>
          </p:nvPr>
        </p:nvSpPr>
        <p:spPr>
          <a:xfrm>
            <a:off x="628650" y="1026914"/>
            <a:ext cx="7886700" cy="24477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Noto Sans Symbols"/>
              <a:buChar char="⮚"/>
            </a:pPr>
            <a:r>
              <a:rPr b="0" i="0" lang="en" sz="3200" u="none" cap="none" strike="noStrike">
                <a:solidFill>
                  <a:schemeClr val="dk1"/>
                </a:solidFill>
                <a:latin typeface="Calibri"/>
                <a:ea typeface="Calibri"/>
                <a:cs typeface="Calibri"/>
                <a:sym typeface="Calibri"/>
              </a:rPr>
              <a:t>The organisation’s members</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 sz="3200" u="none" cap="none" strike="noStrike">
                <a:solidFill>
                  <a:schemeClr val="dk1"/>
                </a:solidFill>
                <a:latin typeface="Calibri"/>
                <a:ea typeface="Calibri"/>
                <a:cs typeface="Calibri"/>
                <a:sym typeface="Calibri"/>
              </a:rPr>
              <a:t>Members of similar organisation</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 sz="3200" u="none" cap="none" strike="noStrike">
                <a:solidFill>
                  <a:schemeClr val="dk1"/>
                </a:solidFill>
                <a:latin typeface="Calibri"/>
                <a:ea typeface="Calibri"/>
                <a:cs typeface="Calibri"/>
                <a:sym typeface="Calibri"/>
              </a:rPr>
              <a:t>Donor organisations</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 sz="3200" u="none" cap="none" strike="noStrike">
                <a:solidFill>
                  <a:schemeClr val="dk1"/>
                </a:solidFill>
                <a:latin typeface="Calibri"/>
                <a:ea typeface="Calibri"/>
                <a:cs typeface="Calibri"/>
                <a:sym typeface="Calibri"/>
              </a:rPr>
              <a:t>Prospective donor organisations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61"/>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Newsletter content</a:t>
            </a:r>
            <a:endParaRPr/>
          </a:p>
        </p:txBody>
      </p:sp>
      <p:sp>
        <p:nvSpPr>
          <p:cNvPr id="342" name="Google Shape;342;p61"/>
          <p:cNvSpPr txBox="1"/>
          <p:nvPr>
            <p:ph idx="1" type="body"/>
          </p:nvPr>
        </p:nvSpPr>
        <p:spPr>
          <a:xfrm>
            <a:off x="628650" y="1026931"/>
            <a:ext cx="7886700" cy="3852000"/>
          </a:xfrm>
          <a:prstGeom prst="rect">
            <a:avLst/>
          </a:prstGeom>
          <a:noFill/>
          <a:ln>
            <a:noFill/>
          </a:ln>
        </p:spPr>
        <p:txBody>
          <a:bodyPr anchorCtr="0" anchor="t" bIns="45700" lIns="91425" spcFirstLastPara="1" rIns="91425" wrap="square" tIns="45700">
            <a:normAutofit fontScale="92500" lnSpcReduction="20000"/>
          </a:bodyPr>
          <a:lstStyle/>
          <a:p>
            <a:pPr indent="-327660" lvl="0" marL="342900" marR="0" rtl="0" algn="just">
              <a:lnSpc>
                <a:spcPct val="100000"/>
              </a:lnSpc>
              <a:spcBef>
                <a:spcPts val="0"/>
              </a:spcBef>
              <a:spcAft>
                <a:spcPts val="0"/>
              </a:spcAft>
              <a:buClr>
                <a:schemeClr val="dk1"/>
              </a:buClr>
              <a:buSzPct val="100000"/>
              <a:buFont typeface="Noto Sans Symbols"/>
              <a:buChar char="⮚"/>
            </a:pPr>
            <a:r>
              <a:rPr b="0" i="0" lang="en" sz="3200" u="none" cap="none" strike="noStrike">
                <a:solidFill>
                  <a:schemeClr val="dk1"/>
                </a:solidFill>
                <a:latin typeface="Calibri"/>
                <a:ea typeface="Calibri"/>
                <a:cs typeface="Calibri"/>
                <a:sym typeface="Calibri"/>
              </a:rPr>
              <a:t>Upcoming events</a:t>
            </a:r>
            <a:endParaRPr/>
          </a:p>
          <a:p>
            <a:pPr indent="-327660" lvl="0" marL="342900" marR="0" rtl="0" algn="just">
              <a:lnSpc>
                <a:spcPct val="100000"/>
              </a:lnSpc>
              <a:spcBef>
                <a:spcPts val="640"/>
              </a:spcBef>
              <a:spcAft>
                <a:spcPts val="0"/>
              </a:spcAft>
              <a:buClr>
                <a:schemeClr val="dk1"/>
              </a:buClr>
              <a:buSzPct val="100000"/>
              <a:buFont typeface="Noto Sans Symbols"/>
              <a:buChar char="⮚"/>
            </a:pPr>
            <a:r>
              <a:rPr b="0" i="0" lang="en" sz="3200" u="none" cap="none" strike="noStrike">
                <a:solidFill>
                  <a:schemeClr val="dk1"/>
                </a:solidFill>
                <a:latin typeface="Calibri"/>
                <a:ea typeface="Calibri"/>
                <a:cs typeface="Calibri"/>
                <a:sym typeface="Calibri"/>
              </a:rPr>
              <a:t>Election of officers</a:t>
            </a:r>
            <a:endParaRPr/>
          </a:p>
          <a:p>
            <a:pPr indent="-327660" lvl="0" marL="342900" marR="0" rtl="0" algn="just">
              <a:lnSpc>
                <a:spcPct val="100000"/>
              </a:lnSpc>
              <a:spcBef>
                <a:spcPts val="640"/>
              </a:spcBef>
              <a:spcAft>
                <a:spcPts val="0"/>
              </a:spcAft>
              <a:buClr>
                <a:schemeClr val="dk1"/>
              </a:buClr>
              <a:buSzPct val="100000"/>
              <a:buFont typeface="Noto Sans Symbols"/>
              <a:buChar char="⮚"/>
            </a:pPr>
            <a:r>
              <a:rPr b="0" i="0" lang="en" sz="3200" u="none" cap="none" strike="noStrike">
                <a:solidFill>
                  <a:schemeClr val="dk1"/>
                </a:solidFill>
                <a:latin typeface="Calibri"/>
                <a:ea typeface="Calibri"/>
                <a:cs typeface="Calibri"/>
                <a:sym typeface="Calibri"/>
              </a:rPr>
              <a:t>New recruits</a:t>
            </a:r>
            <a:endParaRPr/>
          </a:p>
          <a:p>
            <a:pPr indent="-327660" lvl="0" marL="342900" marR="0" rtl="0" algn="just">
              <a:lnSpc>
                <a:spcPct val="100000"/>
              </a:lnSpc>
              <a:spcBef>
                <a:spcPts val="640"/>
              </a:spcBef>
              <a:spcAft>
                <a:spcPts val="0"/>
              </a:spcAft>
              <a:buClr>
                <a:schemeClr val="dk1"/>
              </a:buClr>
              <a:buSzPct val="100000"/>
              <a:buFont typeface="Noto Sans Symbols"/>
              <a:buChar char="⮚"/>
            </a:pPr>
            <a:r>
              <a:rPr b="0" i="0" lang="en" sz="3200" u="none" cap="none" strike="noStrike">
                <a:solidFill>
                  <a:schemeClr val="dk1"/>
                </a:solidFill>
                <a:latin typeface="Calibri"/>
                <a:ea typeface="Calibri"/>
                <a:cs typeface="Calibri"/>
                <a:sym typeface="Calibri"/>
              </a:rPr>
              <a:t>Personality articles about organisation’s members or other interesting/prominent people of relevance to the organisation</a:t>
            </a:r>
            <a:endParaRPr/>
          </a:p>
          <a:p>
            <a:pPr indent="-327660" lvl="0" marL="342900" marR="0" rtl="0" algn="just">
              <a:lnSpc>
                <a:spcPct val="100000"/>
              </a:lnSpc>
              <a:spcBef>
                <a:spcPts val="640"/>
              </a:spcBef>
              <a:spcAft>
                <a:spcPts val="0"/>
              </a:spcAft>
              <a:buClr>
                <a:schemeClr val="dk1"/>
              </a:buClr>
              <a:buSzPct val="100000"/>
              <a:buFont typeface="Noto Sans Symbols"/>
              <a:buChar char="⮚"/>
            </a:pPr>
            <a:r>
              <a:rPr b="0" i="0" lang="en" sz="3200" u="none" cap="none" strike="noStrike">
                <a:solidFill>
                  <a:schemeClr val="dk1"/>
                </a:solidFill>
                <a:latin typeface="Calibri"/>
                <a:ea typeface="Calibri"/>
                <a:cs typeface="Calibri"/>
                <a:sym typeface="Calibri"/>
              </a:rPr>
              <a:t>Organisation’s financial reports</a:t>
            </a:r>
            <a:endParaRPr/>
          </a:p>
          <a:p>
            <a:pPr indent="-327660" lvl="0" marL="342900" marR="0" rtl="0" algn="just">
              <a:lnSpc>
                <a:spcPct val="100000"/>
              </a:lnSpc>
              <a:spcBef>
                <a:spcPts val="640"/>
              </a:spcBef>
              <a:spcAft>
                <a:spcPts val="0"/>
              </a:spcAft>
              <a:buClr>
                <a:schemeClr val="dk1"/>
              </a:buClr>
              <a:buSzPct val="100000"/>
              <a:buFont typeface="Noto Sans Symbols"/>
              <a:buChar char="⮚"/>
            </a:pPr>
            <a:r>
              <a:rPr b="0" i="0" lang="en" sz="3200" u="none" cap="none" strike="noStrike">
                <a:solidFill>
                  <a:schemeClr val="dk1"/>
                </a:solidFill>
                <a:latin typeface="Calibri"/>
                <a:ea typeface="Calibri"/>
                <a:cs typeface="Calibri"/>
                <a:sym typeface="Calibri"/>
              </a:rPr>
              <a:t>Activities of similar organisations</a:t>
            </a:r>
            <a:endParaRPr/>
          </a:p>
          <a:p>
            <a:pPr indent="-139700" lvl="0" marL="342900" marR="0" rtl="0" algn="l">
              <a:spcBef>
                <a:spcPts val="640"/>
              </a:spcBef>
              <a:spcAft>
                <a:spcPts val="0"/>
              </a:spcAft>
              <a:buClr>
                <a:schemeClr val="dk1"/>
              </a:buClr>
              <a:buSzPct val="1000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62"/>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sz="4400">
                <a:latin typeface="Calibri"/>
                <a:ea typeface="Calibri"/>
                <a:cs typeface="Calibri"/>
                <a:sym typeface="Calibri"/>
              </a:rPr>
              <a:t>Contents</a:t>
            </a:r>
            <a:endParaRPr sz="4400">
              <a:solidFill>
                <a:schemeClr val="dk1"/>
              </a:solidFill>
              <a:latin typeface="Calibri"/>
              <a:ea typeface="Calibri"/>
              <a:cs typeface="Calibri"/>
              <a:sym typeface="Calibri"/>
            </a:endParaRPr>
          </a:p>
        </p:txBody>
      </p:sp>
      <p:sp>
        <p:nvSpPr>
          <p:cNvPr id="348" name="Google Shape;348;p62"/>
          <p:cNvSpPr txBox="1"/>
          <p:nvPr>
            <p:ph idx="1" type="body"/>
          </p:nvPr>
        </p:nvSpPr>
        <p:spPr>
          <a:xfrm>
            <a:off x="457200" y="1200150"/>
            <a:ext cx="8229600" cy="3714900"/>
          </a:xfrm>
          <a:prstGeom prst="rect">
            <a:avLst/>
          </a:prstGeom>
          <a:noFill/>
          <a:ln>
            <a:noFill/>
          </a:ln>
        </p:spPr>
        <p:txBody>
          <a:bodyPr anchorCtr="0" anchor="t" bIns="45700" lIns="91425" spcFirstLastPara="1" rIns="91425" wrap="square" tIns="45700">
            <a:normAutofit/>
          </a:bodyPr>
          <a:lstStyle/>
          <a:p>
            <a:pPr indent="-330200" lvl="0" marL="342900" marR="0" rtl="0" algn="l">
              <a:lnSpc>
                <a:spcPct val="70000"/>
              </a:lnSpc>
              <a:spcBef>
                <a:spcPts val="0"/>
              </a:spcBef>
              <a:spcAft>
                <a:spcPts val="0"/>
              </a:spcAft>
              <a:buClr>
                <a:schemeClr val="dk1"/>
              </a:buClr>
              <a:buSzPts val="3000"/>
              <a:buFont typeface="Noto Sans Symbols"/>
              <a:buChar char="⮚"/>
            </a:pPr>
            <a:r>
              <a:rPr b="0" i="0" lang="en" sz="3000" u="none">
                <a:solidFill>
                  <a:schemeClr val="dk1"/>
                </a:solidFill>
                <a:latin typeface="Calibri"/>
                <a:ea typeface="Calibri"/>
                <a:cs typeface="Calibri"/>
                <a:sym typeface="Calibri"/>
              </a:rPr>
              <a:t>History and purpose of the organisation</a:t>
            </a:r>
            <a:endParaRPr sz="1600"/>
          </a:p>
          <a:p>
            <a:pPr indent="-330200" lvl="0" marL="342900" marR="0" rtl="0" algn="l">
              <a:lnSpc>
                <a:spcPct val="70000"/>
              </a:lnSpc>
              <a:spcBef>
                <a:spcPts val="640"/>
              </a:spcBef>
              <a:spcAft>
                <a:spcPts val="0"/>
              </a:spcAft>
              <a:buClr>
                <a:schemeClr val="dk1"/>
              </a:buClr>
              <a:buSzPts val="3000"/>
              <a:buFont typeface="Noto Sans Symbols"/>
              <a:buChar char="⮚"/>
            </a:pPr>
            <a:r>
              <a:rPr b="0" i="0" lang="en" sz="3000" u="none">
                <a:solidFill>
                  <a:schemeClr val="dk1"/>
                </a:solidFill>
                <a:latin typeface="Calibri"/>
                <a:ea typeface="Calibri"/>
                <a:cs typeface="Calibri"/>
                <a:sym typeface="Calibri"/>
              </a:rPr>
              <a:t>A President’s/General Manager’s/Executive Director’s Column</a:t>
            </a:r>
            <a:endParaRPr sz="1600"/>
          </a:p>
          <a:p>
            <a:pPr indent="-330200" lvl="0" marL="342900" marR="0" rtl="0" algn="l">
              <a:lnSpc>
                <a:spcPct val="70000"/>
              </a:lnSpc>
              <a:spcBef>
                <a:spcPts val="640"/>
              </a:spcBef>
              <a:spcAft>
                <a:spcPts val="0"/>
              </a:spcAft>
              <a:buClr>
                <a:schemeClr val="dk1"/>
              </a:buClr>
              <a:buSzPts val="3000"/>
              <a:buFont typeface="Noto Sans Symbols"/>
              <a:buChar char="⮚"/>
            </a:pPr>
            <a:r>
              <a:rPr b="0" i="0" lang="en" sz="3000" u="none">
                <a:solidFill>
                  <a:schemeClr val="dk1"/>
                </a:solidFill>
                <a:latin typeface="Calibri"/>
                <a:ea typeface="Calibri"/>
                <a:cs typeface="Calibri"/>
                <a:sym typeface="Calibri"/>
              </a:rPr>
              <a:t>Staff news- marriage, births, deaths, promotions</a:t>
            </a:r>
            <a:endParaRPr sz="1600"/>
          </a:p>
          <a:p>
            <a:pPr indent="-330200" lvl="0" marL="342900" marR="0" rtl="0" algn="l">
              <a:lnSpc>
                <a:spcPct val="70000"/>
              </a:lnSpc>
              <a:spcBef>
                <a:spcPts val="640"/>
              </a:spcBef>
              <a:spcAft>
                <a:spcPts val="0"/>
              </a:spcAft>
              <a:buClr>
                <a:schemeClr val="dk1"/>
              </a:buClr>
              <a:buSzPts val="3000"/>
              <a:buFont typeface="Noto Sans Symbols"/>
              <a:buChar char="⮚"/>
            </a:pPr>
            <a:r>
              <a:rPr b="0" i="0" lang="en" sz="3000" u="none">
                <a:solidFill>
                  <a:schemeClr val="dk1"/>
                </a:solidFill>
                <a:latin typeface="Calibri"/>
                <a:ea typeface="Calibri"/>
                <a:cs typeface="Calibri"/>
                <a:sym typeface="Calibri"/>
              </a:rPr>
              <a:t>Special activities/accomplishments of members</a:t>
            </a:r>
            <a:endParaRPr sz="1600"/>
          </a:p>
          <a:p>
            <a:pPr indent="-330200" lvl="0" marL="342900" marR="0" rtl="0" algn="l">
              <a:lnSpc>
                <a:spcPct val="70000"/>
              </a:lnSpc>
              <a:spcBef>
                <a:spcPts val="640"/>
              </a:spcBef>
              <a:spcAft>
                <a:spcPts val="0"/>
              </a:spcAft>
              <a:buClr>
                <a:schemeClr val="dk1"/>
              </a:buClr>
              <a:buSzPts val="3000"/>
              <a:buFont typeface="Noto Sans Symbols"/>
              <a:buChar char="⮚"/>
            </a:pPr>
            <a:r>
              <a:rPr b="0" i="0" lang="en" sz="3000" u="none">
                <a:solidFill>
                  <a:schemeClr val="dk1"/>
                </a:solidFill>
                <a:latin typeface="Calibri"/>
                <a:ea typeface="Calibri"/>
                <a:cs typeface="Calibri"/>
                <a:sym typeface="Calibri"/>
              </a:rPr>
              <a:t>General activities of organisations</a:t>
            </a:r>
            <a:endParaRPr sz="1600"/>
          </a:p>
          <a:p>
            <a:pPr indent="-330200" lvl="0" marL="342900" marR="0" rtl="0" algn="l">
              <a:lnSpc>
                <a:spcPct val="70000"/>
              </a:lnSpc>
              <a:spcBef>
                <a:spcPts val="640"/>
              </a:spcBef>
              <a:spcAft>
                <a:spcPts val="0"/>
              </a:spcAft>
              <a:buClr>
                <a:schemeClr val="dk1"/>
              </a:buClr>
              <a:buSzPts val="3000"/>
              <a:buFont typeface="Noto Sans Symbols"/>
              <a:buChar char="⮚"/>
            </a:pPr>
            <a:r>
              <a:rPr b="0" i="0" lang="en" sz="3000" u="none">
                <a:solidFill>
                  <a:schemeClr val="dk1"/>
                </a:solidFill>
                <a:latin typeface="Calibri"/>
                <a:ea typeface="Calibri"/>
                <a:cs typeface="Calibri"/>
                <a:sym typeface="Calibri"/>
              </a:rPr>
              <a:t>Views of members of staff (letters)</a:t>
            </a:r>
            <a:endParaRPr b="0" i="0" sz="3000" u="non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3"/>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Newsletter staff</a:t>
            </a:r>
            <a:endParaRPr/>
          </a:p>
        </p:txBody>
      </p:sp>
      <p:sp>
        <p:nvSpPr>
          <p:cNvPr id="354" name="Google Shape;354;p63"/>
          <p:cNvSpPr txBox="1"/>
          <p:nvPr>
            <p:ph idx="1" type="body"/>
          </p:nvPr>
        </p:nvSpPr>
        <p:spPr>
          <a:xfrm>
            <a:off x="228600" y="1200150"/>
            <a:ext cx="8686800" cy="36576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marR="0" rtl="0" algn="just">
              <a:lnSpc>
                <a:spcPct val="100000"/>
              </a:lnSpc>
              <a:spcBef>
                <a:spcPts val="0"/>
              </a:spcBef>
              <a:spcAft>
                <a:spcPts val="0"/>
              </a:spcAft>
              <a:buClr>
                <a:schemeClr val="dk1"/>
              </a:buClr>
              <a:buSzPct val="100000"/>
              <a:buFont typeface="Arial"/>
              <a:buNone/>
            </a:pPr>
            <a:r>
              <a:rPr b="0" i="0" lang="en" sz="3000" u="none">
                <a:solidFill>
                  <a:schemeClr val="dk1"/>
                </a:solidFill>
                <a:latin typeface="Calibri"/>
                <a:ea typeface="Calibri"/>
                <a:cs typeface="Calibri"/>
                <a:sym typeface="Calibri"/>
              </a:rPr>
              <a:t>	</a:t>
            </a:r>
            <a:r>
              <a:rPr b="1" i="0" lang="en" sz="3000" u="none">
                <a:solidFill>
                  <a:schemeClr val="dk1"/>
                </a:solidFill>
                <a:latin typeface="Calibri"/>
                <a:ea typeface="Calibri"/>
                <a:cs typeface="Calibri"/>
                <a:sym typeface="Calibri"/>
              </a:rPr>
              <a:t>The Editor</a:t>
            </a:r>
            <a:endParaRPr/>
          </a:p>
          <a:p>
            <a:pPr indent="-328612" lvl="0" marL="342900" marR="0" rtl="0" algn="just">
              <a:lnSpc>
                <a:spcPct val="10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S/he decides which topics to cover in each issues</a:t>
            </a:r>
            <a:endParaRPr/>
          </a:p>
          <a:p>
            <a:pPr indent="-328612" lvl="0" marL="342900" marR="0" rtl="0" algn="just">
              <a:lnSpc>
                <a:spcPct val="10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Welcomes story suggestions from organisation’s members</a:t>
            </a:r>
            <a:endParaRPr/>
          </a:p>
          <a:p>
            <a:pPr indent="-328612" lvl="0" marL="342900" marR="0" rtl="0" algn="just">
              <a:lnSpc>
                <a:spcPct val="10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Often writes the stories him/herself</a:t>
            </a:r>
            <a:endParaRPr/>
          </a:p>
          <a:p>
            <a:pPr indent="-328612" lvl="0" marL="342900" marR="0" rtl="0" algn="just">
              <a:lnSpc>
                <a:spcPct val="10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Takes overall charge of production of the newsletter</a:t>
            </a:r>
            <a:endParaRPr/>
          </a:p>
          <a:p>
            <a:pPr indent="-328612" lvl="0" marL="342900" marR="0" rtl="0" algn="just">
              <a:lnSpc>
                <a:spcPct val="10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May assign </a:t>
            </a:r>
            <a:r>
              <a:rPr b="1" i="0" lang="en" sz="3000" u="none">
                <a:solidFill>
                  <a:schemeClr val="dk1"/>
                </a:solidFill>
                <a:latin typeface="Calibri"/>
                <a:ea typeface="Calibri"/>
                <a:cs typeface="Calibri"/>
                <a:sym typeface="Calibri"/>
              </a:rPr>
              <a:t>reporters </a:t>
            </a:r>
            <a:r>
              <a:rPr b="0" i="0" lang="en" sz="3000" u="none">
                <a:solidFill>
                  <a:schemeClr val="dk1"/>
                </a:solidFill>
                <a:latin typeface="Calibri"/>
                <a:ea typeface="Calibri"/>
                <a:cs typeface="Calibri"/>
                <a:sym typeface="Calibri"/>
              </a:rPr>
              <a:t>among organisation’s members to research and write some articles for the newsletter</a:t>
            </a:r>
            <a:endParaRPr/>
          </a:p>
          <a:p>
            <a:pPr indent="-152400" lvl="0" marL="342900" marR="0" rtl="0" algn="l">
              <a:spcBef>
                <a:spcPts val="600"/>
              </a:spcBef>
              <a:spcAft>
                <a:spcPts val="0"/>
              </a:spcAft>
              <a:buClr>
                <a:schemeClr val="dk1"/>
              </a:buClr>
              <a:buSzPct val="100000"/>
              <a:buFont typeface="Arial"/>
              <a:buNone/>
            </a:pPr>
            <a:r>
              <a:t/>
            </a:r>
            <a:endParaRPr b="0" i="0" sz="3000" u="non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4"/>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Types of newsletter articles</a:t>
            </a:r>
            <a:endParaRPr/>
          </a:p>
        </p:txBody>
      </p:sp>
      <p:sp>
        <p:nvSpPr>
          <p:cNvPr id="360" name="Google Shape;360;p64"/>
          <p:cNvSpPr txBox="1"/>
          <p:nvPr>
            <p:ph idx="1" type="body"/>
          </p:nvPr>
        </p:nvSpPr>
        <p:spPr>
          <a:xfrm>
            <a:off x="0" y="1200150"/>
            <a:ext cx="8686800" cy="3657600"/>
          </a:xfrm>
          <a:prstGeom prst="rect">
            <a:avLst/>
          </a:prstGeom>
          <a:noFill/>
          <a:ln>
            <a:noFill/>
          </a:ln>
        </p:spPr>
        <p:txBody>
          <a:bodyPr anchorCtr="0" anchor="t" bIns="45700" lIns="91425" spcFirstLastPara="1" rIns="91425" wrap="square" tIns="45700">
            <a:normAutofit fontScale="77500" lnSpcReduction="20000"/>
          </a:bodyPr>
          <a:lstStyle/>
          <a:p>
            <a:pPr indent="-468630" lvl="0" marL="514350" marR="0" rtl="0" algn="l">
              <a:lnSpc>
                <a:spcPct val="90000"/>
              </a:lnSpc>
              <a:spcBef>
                <a:spcPts val="0"/>
              </a:spcBef>
              <a:spcAft>
                <a:spcPts val="0"/>
              </a:spcAft>
              <a:buClr>
                <a:srgbClr val="FF0000"/>
              </a:buClr>
              <a:buSzPct val="100000"/>
              <a:buFont typeface="Arial"/>
              <a:buAutoNum type="arabicPeriod"/>
            </a:pPr>
            <a:r>
              <a:rPr b="1" i="0" lang="en" sz="3200" u="none">
                <a:solidFill>
                  <a:srgbClr val="FF0000"/>
                </a:solidFill>
                <a:latin typeface="Calibri"/>
                <a:ea typeface="Calibri"/>
                <a:cs typeface="Calibri"/>
                <a:sym typeface="Calibri"/>
              </a:rPr>
              <a:t>News articles/ News stories</a:t>
            </a:r>
            <a:endParaRPr/>
          </a:p>
          <a:p>
            <a:pPr indent="-514350" lvl="0" marL="514350" marR="0" rtl="0" algn="just">
              <a:lnSpc>
                <a:spcPct val="90000"/>
              </a:lnSpc>
              <a:spcBef>
                <a:spcPts val="640"/>
              </a:spcBef>
              <a:spcAft>
                <a:spcPts val="0"/>
              </a:spcAft>
              <a:buClr>
                <a:schemeClr val="dk1"/>
              </a:buClr>
              <a:buSzPct val="100000"/>
              <a:buFont typeface="Arial"/>
              <a:buNone/>
            </a:pPr>
            <a:r>
              <a:rPr b="0" i="0" lang="en" sz="3200" u="none">
                <a:solidFill>
                  <a:schemeClr val="dk1"/>
                </a:solidFill>
                <a:latin typeface="Calibri"/>
                <a:ea typeface="Calibri"/>
                <a:cs typeface="Calibri"/>
                <a:sym typeface="Calibri"/>
              </a:rPr>
              <a:t>	These are short, informational articles.</a:t>
            </a:r>
            <a:endParaRPr/>
          </a:p>
          <a:p>
            <a:pPr indent="-514350" lvl="0" marL="514350" marR="0" rtl="0" algn="just">
              <a:lnSpc>
                <a:spcPct val="90000"/>
              </a:lnSpc>
              <a:spcBef>
                <a:spcPts val="640"/>
              </a:spcBef>
              <a:spcAft>
                <a:spcPts val="0"/>
              </a:spcAft>
              <a:buClr>
                <a:schemeClr val="dk1"/>
              </a:buClr>
              <a:buSzPct val="100000"/>
              <a:buFont typeface="Arial"/>
              <a:buNone/>
            </a:pPr>
            <a:r>
              <a:rPr b="0" i="0" lang="en" sz="3200" u="none">
                <a:solidFill>
                  <a:schemeClr val="dk1"/>
                </a:solidFill>
                <a:latin typeface="Calibri"/>
                <a:ea typeface="Calibri"/>
                <a:cs typeface="Calibri"/>
                <a:sym typeface="Calibri"/>
              </a:rPr>
              <a:t>	They are the </a:t>
            </a:r>
            <a:r>
              <a:rPr b="1" i="0" lang="en" sz="3200" u="none">
                <a:solidFill>
                  <a:schemeClr val="dk1"/>
                </a:solidFill>
                <a:latin typeface="Calibri"/>
                <a:ea typeface="Calibri"/>
                <a:cs typeface="Calibri"/>
                <a:sym typeface="Calibri"/>
              </a:rPr>
              <a:t>‘meat and potatoes</a:t>
            </a:r>
            <a:r>
              <a:rPr b="0" i="0" lang="en" sz="3200" u="none">
                <a:solidFill>
                  <a:schemeClr val="dk1"/>
                </a:solidFill>
                <a:latin typeface="Calibri"/>
                <a:ea typeface="Calibri"/>
                <a:cs typeface="Calibri"/>
                <a:sym typeface="Calibri"/>
              </a:rPr>
              <a:t>’ (most basic and important aspects/parts)because they keep in touch with:</a:t>
            </a:r>
            <a:endParaRPr/>
          </a:p>
          <a:p>
            <a:pPr indent="-468630" lvl="0" marL="514350" marR="0" rtl="0" algn="just">
              <a:lnSpc>
                <a:spcPct val="90000"/>
              </a:lnSpc>
              <a:spcBef>
                <a:spcPts val="64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Decisions of the organisation’s management</a:t>
            </a:r>
            <a:endParaRPr/>
          </a:p>
          <a:p>
            <a:pPr indent="-468630" lvl="0" marL="514350" marR="0" rtl="0" algn="just">
              <a:lnSpc>
                <a:spcPct val="90000"/>
              </a:lnSpc>
              <a:spcBef>
                <a:spcPts val="64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Upcoming events</a:t>
            </a:r>
            <a:endParaRPr/>
          </a:p>
          <a:p>
            <a:pPr indent="-468630" lvl="0" marL="514350" marR="0" rtl="0" algn="just">
              <a:lnSpc>
                <a:spcPct val="90000"/>
              </a:lnSpc>
              <a:spcBef>
                <a:spcPts val="64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Accomplishments of the organisation</a:t>
            </a:r>
            <a:endParaRPr/>
          </a:p>
          <a:p>
            <a:pPr indent="-468630" lvl="0" marL="514350" marR="0" rtl="0" algn="just">
              <a:lnSpc>
                <a:spcPct val="90000"/>
              </a:lnSpc>
              <a:spcBef>
                <a:spcPts val="64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General life of the organisation</a:t>
            </a:r>
            <a:endParaRPr/>
          </a:p>
          <a:p>
            <a:pPr indent="-311150" lvl="0" marL="514350" marR="0" rtl="0" algn="l">
              <a:lnSpc>
                <a:spcPct val="90000"/>
              </a:lnSpc>
              <a:spcBef>
                <a:spcPts val="640"/>
              </a:spcBef>
              <a:spcAft>
                <a:spcPts val="0"/>
              </a:spcAft>
              <a:buClr>
                <a:schemeClr val="dk1"/>
              </a:buClr>
              <a:buSzPct val="100000"/>
              <a:buFont typeface="Noto Sans Symbols"/>
              <a:buNone/>
            </a:pPr>
            <a:r>
              <a:t/>
            </a:r>
            <a:endParaRPr b="0" i="0" sz="3200" u="none">
              <a:solidFill>
                <a:schemeClr val="dk1"/>
              </a:solidFill>
              <a:latin typeface="Calibri"/>
              <a:ea typeface="Calibri"/>
              <a:cs typeface="Calibri"/>
              <a:sym typeface="Calibri"/>
            </a:endParaRPr>
          </a:p>
          <a:p>
            <a:pPr indent="-139700" lvl="0" marL="342900" marR="0" rtl="0" algn="l">
              <a:spcBef>
                <a:spcPts val="640"/>
              </a:spcBef>
              <a:spcAft>
                <a:spcPts val="0"/>
              </a:spcAft>
              <a:buClr>
                <a:schemeClr val="dk1"/>
              </a:buClr>
              <a:buSzPct val="1000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5"/>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Gathering facts for a newsletter</a:t>
            </a:r>
            <a:endParaRPr/>
          </a:p>
        </p:txBody>
      </p:sp>
      <p:sp>
        <p:nvSpPr>
          <p:cNvPr id="366" name="Google Shape;366;p65"/>
          <p:cNvSpPr txBox="1"/>
          <p:nvPr>
            <p:ph idx="1" type="body"/>
          </p:nvPr>
        </p:nvSpPr>
        <p:spPr>
          <a:xfrm>
            <a:off x="628650" y="1026914"/>
            <a:ext cx="7886700" cy="24477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rPr b="0" i="0" lang="en" sz="3200" u="none">
                <a:solidFill>
                  <a:schemeClr val="dk1"/>
                </a:solidFill>
                <a:latin typeface="Calibri"/>
                <a:ea typeface="Calibri"/>
                <a:cs typeface="Calibri"/>
                <a:sym typeface="Calibri"/>
              </a:rPr>
              <a:t>	The editor gathers the facts for the news articles by:</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 sz="3200" u="none">
                <a:solidFill>
                  <a:schemeClr val="dk1"/>
                </a:solidFill>
                <a:latin typeface="Calibri"/>
                <a:ea typeface="Calibri"/>
                <a:cs typeface="Calibri"/>
                <a:sym typeface="Calibri"/>
              </a:rPr>
              <a:t>Attending events</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 sz="3200" u="none">
                <a:solidFill>
                  <a:schemeClr val="dk1"/>
                </a:solidFill>
                <a:latin typeface="Calibri"/>
                <a:ea typeface="Calibri"/>
                <a:cs typeface="Calibri"/>
                <a:sym typeface="Calibri"/>
              </a:rPr>
              <a:t>Talking to appropriate people in person or by phone</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 sz="3200" u="none">
                <a:solidFill>
                  <a:schemeClr val="dk1"/>
                </a:solidFill>
                <a:latin typeface="Calibri"/>
                <a:ea typeface="Calibri"/>
                <a:cs typeface="Calibri"/>
                <a:sym typeface="Calibri"/>
              </a:rPr>
              <a:t>Research- e.g. looking at past issues to get some background facts on a news event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6"/>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Writing a news article</a:t>
            </a:r>
            <a:endParaRPr/>
          </a:p>
        </p:txBody>
      </p:sp>
      <p:sp>
        <p:nvSpPr>
          <p:cNvPr id="372" name="Google Shape;372;p66"/>
          <p:cNvSpPr txBox="1"/>
          <p:nvPr>
            <p:ph idx="1" type="body"/>
          </p:nvPr>
        </p:nvSpPr>
        <p:spPr>
          <a:xfrm>
            <a:off x="457200" y="1085850"/>
            <a:ext cx="8229600" cy="3886200"/>
          </a:xfrm>
          <a:prstGeom prst="rect">
            <a:avLst/>
          </a:prstGeom>
          <a:noFill/>
          <a:ln>
            <a:noFill/>
          </a:ln>
        </p:spPr>
        <p:txBody>
          <a:bodyPr anchorCtr="0" anchor="t" bIns="45700" lIns="91425" spcFirstLastPara="1" rIns="91425" wrap="square" tIns="45700">
            <a:normAutofit fontScale="92500" lnSpcReduction="20000"/>
          </a:bodyPr>
          <a:lstStyle/>
          <a:p>
            <a:pPr indent="-328612" lvl="0" marL="342900" marR="0" rtl="0" algn="just">
              <a:lnSpc>
                <a:spcPct val="100000"/>
              </a:lnSpc>
              <a:spcBef>
                <a:spcPts val="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Start with the </a:t>
            </a:r>
            <a:r>
              <a:rPr b="1" i="0" lang="en" sz="3000" u="none">
                <a:solidFill>
                  <a:schemeClr val="dk1"/>
                </a:solidFill>
                <a:latin typeface="Calibri"/>
                <a:ea typeface="Calibri"/>
                <a:cs typeface="Calibri"/>
                <a:sym typeface="Calibri"/>
              </a:rPr>
              <a:t>Lead</a:t>
            </a:r>
            <a:endParaRPr/>
          </a:p>
          <a:p>
            <a:pPr indent="-328612" lvl="0" marL="342900" marR="0" rtl="0" algn="just">
              <a:lnSpc>
                <a:spcPct val="10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The first paragraph of a news story is called the </a:t>
            </a:r>
            <a:r>
              <a:rPr b="0" i="1" lang="en" sz="3000" u="none">
                <a:solidFill>
                  <a:schemeClr val="dk1"/>
                </a:solidFill>
                <a:latin typeface="Calibri"/>
                <a:ea typeface="Calibri"/>
                <a:cs typeface="Calibri"/>
                <a:sym typeface="Calibri"/>
              </a:rPr>
              <a:t>lead.</a:t>
            </a:r>
            <a:endParaRPr/>
          </a:p>
          <a:p>
            <a:pPr indent="-328612" lvl="0" marL="342900" marR="0" rtl="0" algn="just">
              <a:lnSpc>
                <a:spcPct val="10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A good lead creates interest and briefly </a:t>
            </a:r>
            <a:r>
              <a:rPr lang="en" sz="3000">
                <a:solidFill>
                  <a:schemeClr val="dk1"/>
                </a:solidFill>
                <a:latin typeface="Calibri"/>
                <a:ea typeface="Calibri"/>
                <a:cs typeface="Calibri"/>
                <a:sym typeface="Calibri"/>
              </a:rPr>
              <a:t>summarize</a:t>
            </a:r>
            <a:r>
              <a:rPr b="0" i="0" lang="en" sz="3000" u="none">
                <a:solidFill>
                  <a:schemeClr val="dk1"/>
                </a:solidFill>
                <a:latin typeface="Calibri"/>
                <a:ea typeface="Calibri"/>
                <a:cs typeface="Calibri"/>
                <a:sym typeface="Calibri"/>
              </a:rPr>
              <a:t> the important information in the story. </a:t>
            </a:r>
            <a:endParaRPr/>
          </a:p>
          <a:p>
            <a:pPr indent="-328612" lvl="0" marL="342900" marR="0" rtl="0" algn="just">
              <a:lnSpc>
                <a:spcPct val="10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The lead should include the </a:t>
            </a:r>
            <a:r>
              <a:rPr b="0" i="1" lang="en" sz="3000" u="none">
                <a:solidFill>
                  <a:schemeClr val="dk1"/>
                </a:solidFill>
                <a:latin typeface="Calibri"/>
                <a:ea typeface="Calibri"/>
                <a:cs typeface="Calibri"/>
                <a:sym typeface="Calibri"/>
              </a:rPr>
              <a:t>5 w’s: who, what, when, where </a:t>
            </a:r>
            <a:r>
              <a:rPr b="0" i="0" lang="en" sz="3000" u="none">
                <a:solidFill>
                  <a:schemeClr val="dk1"/>
                </a:solidFill>
                <a:latin typeface="Calibri"/>
                <a:ea typeface="Calibri"/>
                <a:cs typeface="Calibri"/>
                <a:sym typeface="Calibri"/>
              </a:rPr>
              <a:t>and </a:t>
            </a:r>
            <a:r>
              <a:rPr b="0" i="1" lang="en" sz="3000" u="none">
                <a:solidFill>
                  <a:schemeClr val="dk1"/>
                </a:solidFill>
                <a:latin typeface="Calibri"/>
                <a:ea typeface="Calibri"/>
                <a:cs typeface="Calibri"/>
                <a:sym typeface="Calibri"/>
              </a:rPr>
              <a:t>why.</a:t>
            </a:r>
            <a:endParaRPr/>
          </a:p>
          <a:p>
            <a:pPr indent="-328612" lvl="0" marL="342900" marR="0" rtl="0" algn="l">
              <a:lnSpc>
                <a:spcPct val="10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It may also tell </a:t>
            </a:r>
            <a:r>
              <a:rPr b="0" i="1" lang="en" sz="3000" u="none">
                <a:solidFill>
                  <a:schemeClr val="dk1"/>
                </a:solidFill>
                <a:latin typeface="Calibri"/>
                <a:ea typeface="Calibri"/>
                <a:cs typeface="Calibri"/>
                <a:sym typeface="Calibri"/>
              </a:rPr>
              <a:t>how</a:t>
            </a:r>
            <a:endParaRPr/>
          </a:p>
          <a:p>
            <a:pPr indent="-328612" lvl="0" marL="342900" marR="0" rtl="0" algn="l">
              <a:lnSpc>
                <a:spcPct val="10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The lead must contain all necessary information</a:t>
            </a:r>
            <a:endParaRPr/>
          </a:p>
          <a:p>
            <a:pPr indent="-152400" lvl="0" marL="342900" marR="0" rtl="0" algn="l">
              <a:spcBef>
                <a:spcPts val="600"/>
              </a:spcBef>
              <a:spcAft>
                <a:spcPts val="0"/>
              </a:spcAft>
              <a:buClr>
                <a:schemeClr val="dk1"/>
              </a:buClr>
              <a:buSzPct val="100000"/>
              <a:buFont typeface="Arial"/>
              <a:buNone/>
            </a:pPr>
            <a:r>
              <a:t/>
            </a:r>
            <a:endParaRPr b="0" i="0" sz="3000" u="non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7"/>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The body</a:t>
            </a:r>
            <a:endParaRPr/>
          </a:p>
        </p:txBody>
      </p:sp>
      <p:sp>
        <p:nvSpPr>
          <p:cNvPr id="378" name="Google Shape;378;p67"/>
          <p:cNvSpPr txBox="1"/>
          <p:nvPr>
            <p:ph idx="1" type="body"/>
          </p:nvPr>
        </p:nvSpPr>
        <p:spPr>
          <a:xfrm>
            <a:off x="628650" y="1026914"/>
            <a:ext cx="7886700" cy="2447700"/>
          </a:xfrm>
          <a:prstGeom prst="rect">
            <a:avLst/>
          </a:prstGeom>
          <a:noFill/>
          <a:ln>
            <a:noFill/>
          </a:ln>
        </p:spPr>
        <p:txBody>
          <a:bodyPr anchorCtr="0" anchor="t" bIns="45700" lIns="91425" spcFirstLastPara="1" rIns="91425" wrap="square" tIns="45700">
            <a:normAutofit fontScale="77500" lnSpcReduction="10000"/>
          </a:bodyPr>
          <a:lstStyle/>
          <a:p>
            <a:pPr indent="-307181" lvl="0" marL="342900" marR="0" rtl="0" algn="just">
              <a:lnSpc>
                <a:spcPct val="80000"/>
              </a:lnSpc>
              <a:spcBef>
                <a:spcPts val="0"/>
              </a:spcBef>
              <a:spcAft>
                <a:spcPts val="0"/>
              </a:spcAft>
              <a:buClr>
                <a:schemeClr val="dk1"/>
              </a:buClr>
              <a:buSzPct val="100000"/>
              <a:buFont typeface="Noto Sans Symbols"/>
              <a:buChar char="⮚"/>
            </a:pPr>
            <a:r>
              <a:rPr b="0" i="0" lang="en" sz="2500" u="none">
                <a:solidFill>
                  <a:schemeClr val="dk1"/>
                </a:solidFill>
                <a:latin typeface="Calibri"/>
                <a:ea typeface="Calibri"/>
                <a:cs typeface="Calibri"/>
                <a:sym typeface="Calibri"/>
              </a:rPr>
              <a:t>The body paragraphs give additional information about the facts presented in the lead.</a:t>
            </a:r>
            <a:endParaRPr/>
          </a:p>
          <a:p>
            <a:pPr indent="-307181" lvl="0" marL="342900" marR="0" rtl="0" algn="just">
              <a:lnSpc>
                <a:spcPct val="80000"/>
              </a:lnSpc>
              <a:spcBef>
                <a:spcPts val="500"/>
              </a:spcBef>
              <a:spcAft>
                <a:spcPts val="0"/>
              </a:spcAft>
              <a:buClr>
                <a:schemeClr val="dk1"/>
              </a:buClr>
              <a:buSzPct val="100000"/>
              <a:buFont typeface="Noto Sans Symbols"/>
              <a:buChar char="⮚"/>
            </a:pPr>
            <a:r>
              <a:rPr b="0" i="0" lang="en" sz="2500" u="none">
                <a:solidFill>
                  <a:schemeClr val="dk1"/>
                </a:solidFill>
                <a:latin typeface="Calibri"/>
                <a:ea typeface="Calibri"/>
                <a:cs typeface="Calibri"/>
                <a:sym typeface="Calibri"/>
              </a:rPr>
              <a:t>In addition, body paragraphs can give details not mentioned in the lead.</a:t>
            </a:r>
            <a:endParaRPr/>
          </a:p>
          <a:p>
            <a:pPr indent="-307181" lvl="0" marL="342900" marR="0" rtl="0" algn="just">
              <a:lnSpc>
                <a:spcPct val="80000"/>
              </a:lnSpc>
              <a:spcBef>
                <a:spcPts val="500"/>
              </a:spcBef>
              <a:spcAft>
                <a:spcPts val="0"/>
              </a:spcAft>
              <a:buClr>
                <a:schemeClr val="dk1"/>
              </a:buClr>
              <a:buSzPct val="100000"/>
              <a:buFont typeface="Noto Sans Symbols"/>
              <a:buChar char="⮚"/>
            </a:pPr>
            <a:r>
              <a:rPr b="0" i="0" lang="en" sz="2500" u="none">
                <a:solidFill>
                  <a:schemeClr val="dk1"/>
                </a:solidFill>
                <a:latin typeface="Calibri"/>
                <a:ea typeface="Calibri"/>
                <a:cs typeface="Calibri"/>
                <a:sym typeface="Calibri"/>
              </a:rPr>
              <a:t>It should be in an inverted pyramid form{pyramid turned upside down} (start with most important points and end with least important points).</a:t>
            </a:r>
            <a:endParaRPr/>
          </a:p>
          <a:p>
            <a:pPr indent="-307181" lvl="0" marL="342900" marR="0" rtl="0" algn="just">
              <a:lnSpc>
                <a:spcPct val="80000"/>
              </a:lnSpc>
              <a:spcBef>
                <a:spcPts val="500"/>
              </a:spcBef>
              <a:spcAft>
                <a:spcPts val="0"/>
              </a:spcAft>
              <a:buClr>
                <a:schemeClr val="dk1"/>
              </a:buClr>
              <a:buSzPct val="100000"/>
              <a:buFont typeface="Noto Sans Symbols"/>
              <a:buChar char="⮚"/>
            </a:pPr>
            <a:r>
              <a:rPr b="0" i="0" lang="en" sz="2500" u="none">
                <a:solidFill>
                  <a:schemeClr val="dk1"/>
                </a:solidFill>
                <a:latin typeface="Calibri"/>
                <a:ea typeface="Calibri"/>
                <a:cs typeface="Calibri"/>
                <a:sym typeface="Calibri"/>
              </a:rPr>
              <a:t>The first paragraph must contain the most important information and each successive paragraph should be less important than the one before. This is good because due to space problems, editors edit from the end back or cut the last paragraph first.</a:t>
            </a:r>
            <a:endParaRPr/>
          </a:p>
          <a:p>
            <a:pPr indent="-307181" lvl="0" marL="342900" marR="0" rtl="0" algn="just">
              <a:lnSpc>
                <a:spcPct val="80000"/>
              </a:lnSpc>
              <a:spcBef>
                <a:spcPts val="500"/>
              </a:spcBef>
              <a:spcAft>
                <a:spcPts val="0"/>
              </a:spcAft>
              <a:buClr>
                <a:schemeClr val="dk1"/>
              </a:buClr>
              <a:buSzPct val="100000"/>
              <a:buFont typeface="Noto Sans Symbols"/>
              <a:buChar char="⮚"/>
            </a:pPr>
            <a:r>
              <a:rPr b="0" i="0" lang="en" sz="2500" u="none">
                <a:solidFill>
                  <a:schemeClr val="dk1"/>
                </a:solidFill>
                <a:latin typeface="Calibri"/>
                <a:ea typeface="Calibri"/>
                <a:cs typeface="Calibri"/>
                <a:sym typeface="Calibri"/>
              </a:rPr>
              <a:t>Make the story warmer, personal.</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8"/>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384" name="Google Shape;384;p68"/>
          <p:cNvSpPr txBox="1"/>
          <p:nvPr>
            <p:ph idx="1" type="body"/>
          </p:nvPr>
        </p:nvSpPr>
        <p:spPr>
          <a:xfrm>
            <a:off x="628650" y="1095598"/>
            <a:ext cx="7886700" cy="4047900"/>
          </a:xfrm>
          <a:prstGeom prst="rect">
            <a:avLst/>
          </a:prstGeom>
          <a:noFill/>
          <a:ln>
            <a:noFill/>
          </a:ln>
        </p:spPr>
        <p:txBody>
          <a:bodyPr anchorCtr="0" anchor="t" bIns="45700" lIns="91425" spcFirstLastPara="1" rIns="91425" wrap="square" tIns="45700">
            <a:normAutofit/>
          </a:bodyPr>
          <a:lstStyle/>
          <a:p>
            <a:pPr indent="-323850" lvl="0" marL="342900" marR="0" rtl="0" algn="just">
              <a:lnSpc>
                <a:spcPct val="70000"/>
              </a:lnSpc>
              <a:spcBef>
                <a:spcPts val="0"/>
              </a:spcBef>
              <a:spcAft>
                <a:spcPts val="0"/>
              </a:spcAft>
              <a:buClr>
                <a:schemeClr val="dk1"/>
              </a:buClr>
              <a:buSzPts val="2700"/>
              <a:buFont typeface="Noto Sans Symbols"/>
              <a:buChar char="⮚"/>
            </a:pPr>
            <a:r>
              <a:rPr b="0" i="0" lang="en" sz="2700" u="none">
                <a:solidFill>
                  <a:schemeClr val="dk1"/>
                </a:solidFill>
                <a:latin typeface="Calibri"/>
                <a:ea typeface="Calibri"/>
                <a:cs typeface="Calibri"/>
                <a:sym typeface="Calibri"/>
              </a:rPr>
              <a:t>When writing the body, make sure that all the sentences in each paragraph </a:t>
            </a:r>
            <a:r>
              <a:rPr b="0" i="1" lang="en" sz="2700" u="none">
                <a:solidFill>
                  <a:schemeClr val="dk1"/>
                </a:solidFill>
                <a:latin typeface="Calibri"/>
                <a:ea typeface="Calibri"/>
                <a:cs typeface="Calibri"/>
                <a:sym typeface="Calibri"/>
              </a:rPr>
              <a:t>cohere </a:t>
            </a:r>
            <a:r>
              <a:rPr b="0" i="0" lang="en" sz="2700" u="none">
                <a:solidFill>
                  <a:schemeClr val="dk1"/>
                </a:solidFill>
                <a:latin typeface="Calibri"/>
                <a:ea typeface="Calibri"/>
                <a:cs typeface="Calibri"/>
                <a:sym typeface="Calibri"/>
              </a:rPr>
              <a:t>or stick together.</a:t>
            </a:r>
            <a:endParaRPr sz="1500"/>
          </a:p>
          <a:p>
            <a:pPr indent="-323850" lvl="0" marL="342900" marR="0" rtl="0" algn="just">
              <a:lnSpc>
                <a:spcPct val="70000"/>
              </a:lnSpc>
              <a:spcBef>
                <a:spcPts val="600"/>
              </a:spcBef>
              <a:spcAft>
                <a:spcPts val="0"/>
              </a:spcAft>
              <a:buClr>
                <a:schemeClr val="dk1"/>
              </a:buClr>
              <a:buSzPts val="2700"/>
              <a:buFont typeface="Noto Sans Symbols"/>
              <a:buChar char="⮚"/>
            </a:pPr>
            <a:r>
              <a:rPr b="0" i="0" lang="en" sz="2700" u="none">
                <a:solidFill>
                  <a:schemeClr val="dk1"/>
                </a:solidFill>
                <a:latin typeface="Calibri"/>
                <a:ea typeface="Calibri"/>
                <a:cs typeface="Calibri"/>
                <a:sym typeface="Calibri"/>
              </a:rPr>
              <a:t>Make sure that all the body paragraphs relate to the main idea expressed in the lead.</a:t>
            </a:r>
            <a:endParaRPr sz="1500"/>
          </a:p>
          <a:p>
            <a:pPr indent="-323850" lvl="0" marL="342900" marR="0" rtl="0" algn="just">
              <a:lnSpc>
                <a:spcPct val="70000"/>
              </a:lnSpc>
              <a:spcBef>
                <a:spcPts val="600"/>
              </a:spcBef>
              <a:spcAft>
                <a:spcPts val="0"/>
              </a:spcAft>
              <a:buClr>
                <a:schemeClr val="dk1"/>
              </a:buClr>
              <a:buSzPts val="2700"/>
              <a:buFont typeface="Noto Sans Symbols"/>
              <a:buChar char="⮚"/>
            </a:pPr>
            <a:r>
              <a:rPr b="0" i="0" lang="en" sz="2700" u="none">
                <a:solidFill>
                  <a:schemeClr val="dk1"/>
                </a:solidFill>
                <a:latin typeface="Calibri"/>
                <a:ea typeface="Calibri"/>
                <a:cs typeface="Calibri"/>
                <a:sym typeface="Calibri"/>
              </a:rPr>
              <a:t>Use signaling devices (transitional words and phrases) to help the story flow smoothly- </a:t>
            </a:r>
            <a:r>
              <a:rPr b="0" i="1" lang="en" sz="2700" u="none">
                <a:solidFill>
                  <a:schemeClr val="dk1"/>
                </a:solidFill>
                <a:latin typeface="Calibri"/>
                <a:ea typeface="Calibri"/>
                <a:cs typeface="Calibri"/>
                <a:sym typeface="Calibri"/>
              </a:rPr>
              <a:t>now, meanwhile, soon, at the same time, next, in addition, furthermore, on the contrary, in the final analysis, in a nutshell, in summary, consequently</a:t>
            </a:r>
            <a:endParaRPr sz="15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9"/>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2. Feature articles</a:t>
            </a:r>
            <a:endParaRPr/>
          </a:p>
        </p:txBody>
      </p:sp>
      <p:sp>
        <p:nvSpPr>
          <p:cNvPr id="390" name="Google Shape;390;p69"/>
          <p:cNvSpPr txBox="1"/>
          <p:nvPr>
            <p:ph idx="1" type="body"/>
          </p:nvPr>
        </p:nvSpPr>
        <p:spPr>
          <a:xfrm>
            <a:off x="628650" y="1026914"/>
            <a:ext cx="7886700" cy="2447700"/>
          </a:xfrm>
          <a:prstGeom prst="rect">
            <a:avLst/>
          </a:prstGeom>
          <a:noFill/>
          <a:ln>
            <a:noFill/>
          </a:ln>
        </p:spPr>
        <p:txBody>
          <a:bodyPr anchorCtr="0" anchor="t" bIns="45700" lIns="91425" spcFirstLastPara="1" rIns="91425" wrap="square" tIns="45700">
            <a:normAutofit fontScale="77500" lnSpcReduction="20000"/>
          </a:bodyPr>
          <a:lstStyle/>
          <a:p>
            <a:pPr indent="-300037" lvl="0" marL="342900" marR="0" rtl="0" algn="just">
              <a:lnSpc>
                <a:spcPct val="90000"/>
              </a:lnSpc>
              <a:spcBef>
                <a:spcPts val="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A feature is a creative,  sometimes subjective article, designed primarily to entertain and inform readers about an event, a situation or an aspect of society of life.</a:t>
            </a:r>
            <a:endParaRPr/>
          </a:p>
          <a:p>
            <a:pPr indent="-300037" lvl="0" marL="342900" marR="0" rtl="0" algn="just">
              <a:lnSpc>
                <a:spcPct val="9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It is a complete portrayal of the subject being discussed in that it covers all aspects from all possible angles.</a:t>
            </a:r>
            <a:endParaRPr/>
          </a:p>
          <a:p>
            <a:pPr indent="-300037" lvl="0" marL="342900" marR="0" rtl="0" algn="just">
              <a:lnSpc>
                <a:spcPct val="9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Feature articles are about human interest, stories about personal experiences or achievements and personality sketches.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70"/>
          <p:cNvSpPr txBox="1"/>
          <p:nvPr>
            <p:ph type="title"/>
          </p:nvPr>
        </p:nvSpPr>
        <p:spPr>
          <a:xfrm>
            <a:off x="457200" y="205978"/>
            <a:ext cx="8229600" cy="6513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396" name="Google Shape;396;p70"/>
          <p:cNvSpPr txBox="1"/>
          <p:nvPr>
            <p:ph idx="1" type="body"/>
          </p:nvPr>
        </p:nvSpPr>
        <p:spPr>
          <a:xfrm>
            <a:off x="0" y="857275"/>
            <a:ext cx="8686800" cy="4343400"/>
          </a:xfrm>
          <a:prstGeom prst="rect">
            <a:avLst/>
          </a:prstGeom>
          <a:noFill/>
          <a:ln>
            <a:noFill/>
          </a:ln>
        </p:spPr>
        <p:txBody>
          <a:bodyPr anchorCtr="0" anchor="t" bIns="45700" lIns="91425" spcFirstLastPara="1" rIns="91425" wrap="square" tIns="45700">
            <a:normAutofit lnSpcReduction="20000"/>
          </a:bodyPr>
          <a:lstStyle/>
          <a:p>
            <a:pPr indent="-342900" lvl="0" marL="342900" marR="0" rtl="0" algn="just">
              <a:lnSpc>
                <a:spcPct val="100000"/>
              </a:lnSpc>
              <a:spcBef>
                <a:spcPts val="0"/>
              </a:spcBef>
              <a:spcAft>
                <a:spcPts val="0"/>
              </a:spcAft>
              <a:buClr>
                <a:schemeClr val="dk1"/>
              </a:buClr>
              <a:buSzPts val="2400"/>
              <a:buFont typeface="Noto Sans Symbols"/>
              <a:buChar char="⮚"/>
            </a:pPr>
            <a:r>
              <a:rPr b="0" i="0" lang="en" sz="2400" u="none">
                <a:solidFill>
                  <a:schemeClr val="dk1"/>
                </a:solidFill>
                <a:latin typeface="Calibri"/>
                <a:ea typeface="Calibri"/>
                <a:cs typeface="Calibri"/>
                <a:sym typeface="Calibri"/>
              </a:rPr>
              <a:t>Personality sketches are short reports or stories that give only basic details about something.</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 sz="2400" u="none">
                <a:solidFill>
                  <a:schemeClr val="dk1"/>
                </a:solidFill>
                <a:latin typeface="Calibri"/>
                <a:ea typeface="Calibri"/>
                <a:cs typeface="Calibri"/>
                <a:sym typeface="Calibri"/>
              </a:rPr>
              <a:t>All articles about human interest appeal to emotions: fear, sorrow/happiness</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 sz="2400" u="none">
                <a:solidFill>
                  <a:schemeClr val="dk1"/>
                </a:solidFill>
                <a:latin typeface="Calibri"/>
                <a:ea typeface="Calibri"/>
                <a:cs typeface="Calibri"/>
                <a:sym typeface="Calibri"/>
              </a:rPr>
              <a:t>Personal experiences’ articles capture interviews and profiles where as personal sketches dwell on readers enjoying learning about other people.</a:t>
            </a:r>
            <a:endParaRPr/>
          </a:p>
          <a:p>
            <a:pPr indent="-3429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342900" lvl="0" marL="342900" marR="0" rtl="0" algn="l">
              <a:lnSpc>
                <a:spcPct val="100000"/>
              </a:lnSpc>
              <a:spcBef>
                <a:spcPts val="480"/>
              </a:spcBef>
              <a:spcAft>
                <a:spcPts val="0"/>
              </a:spcAft>
              <a:buClr>
                <a:schemeClr val="dk1"/>
              </a:buClr>
              <a:buSzPts val="2400"/>
              <a:buFont typeface="Arial"/>
              <a:buChar char="•"/>
            </a:pPr>
            <a:r>
              <a:rPr b="0" i="0" lang="en" sz="2400" u="none">
                <a:solidFill>
                  <a:schemeClr val="dk1"/>
                </a:solidFill>
                <a:latin typeface="Calibri"/>
                <a:ea typeface="Calibri"/>
                <a:cs typeface="Calibri"/>
                <a:sym typeface="Calibri"/>
              </a:rPr>
              <a:t>Feature articles may:</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 sz="2400" u="none">
                <a:solidFill>
                  <a:schemeClr val="dk1"/>
                </a:solidFill>
                <a:latin typeface="Calibri"/>
                <a:ea typeface="Calibri"/>
                <a:cs typeface="Calibri"/>
                <a:sym typeface="Calibri"/>
              </a:rPr>
              <a:t>Entertain</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 sz="2400" u="none">
                <a:solidFill>
                  <a:schemeClr val="dk1"/>
                </a:solidFill>
                <a:latin typeface="Calibri"/>
                <a:ea typeface="Calibri"/>
                <a:cs typeface="Calibri"/>
                <a:sym typeface="Calibri"/>
              </a:rPr>
              <a:t>Motivate (inspire)</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 sz="2400" u="none">
                <a:solidFill>
                  <a:schemeClr val="dk1"/>
                </a:solidFill>
                <a:latin typeface="Calibri"/>
                <a:ea typeface="Calibri"/>
                <a:cs typeface="Calibri"/>
                <a:sym typeface="Calibri"/>
              </a:rPr>
              <a:t>Teach by example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71"/>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Characteristics of features</a:t>
            </a:r>
            <a:endParaRPr/>
          </a:p>
        </p:txBody>
      </p:sp>
      <p:sp>
        <p:nvSpPr>
          <p:cNvPr id="402" name="Google Shape;402;p71"/>
          <p:cNvSpPr txBox="1"/>
          <p:nvPr>
            <p:ph idx="1" type="body"/>
          </p:nvPr>
        </p:nvSpPr>
        <p:spPr>
          <a:xfrm>
            <a:off x="381000" y="1200150"/>
            <a:ext cx="8458200" cy="3837600"/>
          </a:xfrm>
          <a:prstGeom prst="rect">
            <a:avLst/>
          </a:prstGeom>
          <a:noFill/>
          <a:ln>
            <a:noFill/>
          </a:ln>
        </p:spPr>
        <p:txBody>
          <a:bodyPr anchorCtr="0" anchor="t" bIns="45700" lIns="91425" spcFirstLastPara="1" rIns="91425" wrap="square" tIns="45700">
            <a:normAutofit lnSpcReduction="10000"/>
          </a:bodyPr>
          <a:lstStyle/>
          <a:p>
            <a:pPr indent="-254000" lvl="0" marL="342900" marR="0" rtl="0" algn="just">
              <a:lnSpc>
                <a:spcPct val="100000"/>
              </a:lnSpc>
              <a:spcBef>
                <a:spcPts val="0"/>
              </a:spcBef>
              <a:spcAft>
                <a:spcPts val="0"/>
              </a:spcAft>
              <a:buClr>
                <a:schemeClr val="dk1"/>
              </a:buClr>
              <a:buSzPts val="1800"/>
              <a:buChar char="⮚"/>
            </a:pPr>
            <a:r>
              <a:rPr b="1" i="0" lang="en" u="none">
                <a:solidFill>
                  <a:schemeClr val="dk1"/>
                </a:solidFill>
              </a:rPr>
              <a:t>They are subjective</a:t>
            </a:r>
            <a:r>
              <a:rPr i="0" lang="en" u="none">
                <a:solidFill>
                  <a:schemeClr val="dk1"/>
                </a:solidFill>
              </a:rPr>
              <a:t>- some feature stories are written in the first person “I” and “We” , thus allowing the writer to inject his or her own thoughts. The inclusion of the writer’s emotions and feelings makes the feature story subjective.</a:t>
            </a:r>
            <a:endParaRPr/>
          </a:p>
          <a:p>
            <a:pPr indent="-254000" lvl="0" marL="342900" marR="0" rtl="0" algn="just">
              <a:lnSpc>
                <a:spcPct val="100000"/>
              </a:lnSpc>
              <a:spcBef>
                <a:spcPts val="640"/>
              </a:spcBef>
              <a:spcAft>
                <a:spcPts val="0"/>
              </a:spcAft>
              <a:buClr>
                <a:schemeClr val="dk1"/>
              </a:buClr>
              <a:buSzPts val="1800"/>
              <a:buChar char="⮚"/>
            </a:pPr>
            <a:r>
              <a:rPr b="1" i="0" lang="en" u="none">
                <a:solidFill>
                  <a:schemeClr val="dk1"/>
                </a:solidFill>
              </a:rPr>
              <a:t>They are informative</a:t>
            </a:r>
            <a:r>
              <a:rPr i="0" lang="en" u="none">
                <a:solidFill>
                  <a:schemeClr val="dk1"/>
                </a:solidFill>
              </a:rPr>
              <a:t> - feature stories lack hard news values but must inform public about a situation or an aspect of life, which has not been reported in hard news.</a:t>
            </a:r>
            <a:endParaRPr i="0" u="none">
              <a:solidFill>
                <a:schemeClr val="dk1"/>
              </a:solidFill>
            </a:endParaRPr>
          </a:p>
          <a:p>
            <a:pPr indent="-203200" lvl="0" marL="177800" rtl="0" algn="l">
              <a:lnSpc>
                <a:spcPct val="100000"/>
              </a:lnSpc>
              <a:spcBef>
                <a:spcPts val="0"/>
              </a:spcBef>
              <a:spcAft>
                <a:spcPts val="0"/>
              </a:spcAft>
              <a:buSzPts val="1800"/>
              <a:buChar char="⮚"/>
            </a:pPr>
            <a:r>
              <a:rPr b="1" lang="en">
                <a:solidFill>
                  <a:schemeClr val="dk1"/>
                </a:solidFill>
              </a:rPr>
              <a:t>Entertainment</a:t>
            </a:r>
            <a:r>
              <a:rPr lang="en">
                <a:solidFill>
                  <a:schemeClr val="dk1"/>
                </a:solidFill>
              </a:rPr>
              <a:t>- all necessary information in detailed form with relevant photographs is collected which provide entertainment to the readers.</a:t>
            </a:r>
            <a:endParaRPr/>
          </a:p>
          <a:p>
            <a:pPr indent="-203200" lvl="0" marL="177800" rtl="0" algn="l">
              <a:lnSpc>
                <a:spcPct val="100000"/>
              </a:lnSpc>
              <a:spcBef>
                <a:spcPts val="640"/>
              </a:spcBef>
              <a:spcAft>
                <a:spcPts val="0"/>
              </a:spcAft>
              <a:buSzPts val="1800"/>
              <a:buChar char="⮚"/>
            </a:pPr>
            <a:r>
              <a:rPr b="1" lang="en">
                <a:solidFill>
                  <a:schemeClr val="dk1"/>
                </a:solidFill>
              </a:rPr>
              <a:t>They may be of any length</a:t>
            </a:r>
            <a:endParaRPr b="1"/>
          </a:p>
          <a:p>
            <a:pPr indent="-203200" lvl="0" marL="177800" rtl="0" algn="l">
              <a:lnSpc>
                <a:spcPct val="100000"/>
              </a:lnSpc>
              <a:spcBef>
                <a:spcPts val="640"/>
              </a:spcBef>
              <a:spcAft>
                <a:spcPts val="0"/>
              </a:spcAft>
              <a:buSzPts val="1800"/>
              <a:buChar char="⮚"/>
            </a:pPr>
            <a:r>
              <a:rPr b="1" lang="en">
                <a:solidFill>
                  <a:schemeClr val="dk1"/>
                </a:solidFill>
              </a:rPr>
              <a:t>They are factual- not fiction</a:t>
            </a:r>
            <a:endParaRPr b="1"/>
          </a:p>
          <a:p>
            <a:pPr indent="-203200" lvl="0" marL="177800" rtl="0" algn="l">
              <a:lnSpc>
                <a:spcPct val="100000"/>
              </a:lnSpc>
              <a:spcBef>
                <a:spcPts val="640"/>
              </a:spcBef>
              <a:spcAft>
                <a:spcPts val="0"/>
              </a:spcAft>
              <a:buSzPts val="1800"/>
              <a:buChar char="⮚"/>
            </a:pPr>
            <a:r>
              <a:rPr b="1" lang="en">
                <a:solidFill>
                  <a:schemeClr val="dk1"/>
                </a:solidFill>
              </a:rPr>
              <a:t>They may or may not be timely</a:t>
            </a:r>
            <a:endParaRPr b="1"/>
          </a:p>
          <a:p>
            <a:pPr indent="-203200" lvl="0" marL="177800" rtl="0" algn="l">
              <a:lnSpc>
                <a:spcPct val="100000"/>
              </a:lnSpc>
              <a:spcBef>
                <a:spcPts val="640"/>
              </a:spcBef>
              <a:spcAft>
                <a:spcPts val="0"/>
              </a:spcAft>
              <a:buSzPts val="1800"/>
              <a:buChar char="⮚"/>
            </a:pPr>
            <a:r>
              <a:rPr b="1" lang="en">
                <a:solidFill>
                  <a:schemeClr val="dk1"/>
                </a:solidFill>
              </a:rPr>
              <a:t>They may be written in any form and style</a:t>
            </a:r>
            <a:endParaRPr b="1">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72"/>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sz="4400">
                <a:latin typeface="Calibri"/>
                <a:ea typeface="Calibri"/>
                <a:cs typeface="Calibri"/>
                <a:sym typeface="Calibri"/>
              </a:rPr>
              <a:t>Characteristics of a Feature Article</a:t>
            </a:r>
            <a:endParaRPr sz="4400">
              <a:solidFill>
                <a:schemeClr val="dk1"/>
              </a:solidFill>
              <a:latin typeface="Calibri"/>
              <a:ea typeface="Calibri"/>
              <a:cs typeface="Calibri"/>
              <a:sym typeface="Calibri"/>
            </a:endParaRPr>
          </a:p>
        </p:txBody>
      </p:sp>
      <p:sp>
        <p:nvSpPr>
          <p:cNvPr id="408" name="Google Shape;408;p72"/>
          <p:cNvSpPr txBox="1"/>
          <p:nvPr>
            <p:ph idx="1" type="body"/>
          </p:nvPr>
        </p:nvSpPr>
        <p:spPr>
          <a:xfrm>
            <a:off x="628650" y="1026925"/>
            <a:ext cx="7886700" cy="3825600"/>
          </a:xfrm>
          <a:prstGeom prst="rect">
            <a:avLst/>
          </a:prstGeom>
          <a:noFill/>
          <a:ln>
            <a:noFill/>
          </a:ln>
        </p:spPr>
        <p:txBody>
          <a:bodyPr anchorCtr="0" anchor="t" bIns="45700" lIns="91425" spcFirstLastPara="1" rIns="91425" wrap="square" tIns="45700">
            <a:normAutofit/>
          </a:bodyPr>
          <a:lstStyle/>
          <a:p>
            <a:pPr indent="-254000" lvl="0" marL="342900" marR="0" rtl="0" algn="just">
              <a:lnSpc>
                <a:spcPct val="100000"/>
              </a:lnSpc>
              <a:spcBef>
                <a:spcPts val="0"/>
              </a:spcBef>
              <a:spcAft>
                <a:spcPts val="0"/>
              </a:spcAft>
              <a:buClr>
                <a:schemeClr val="dk1"/>
              </a:buClr>
              <a:buSzPts val="1800"/>
              <a:buChar char="⮚"/>
            </a:pPr>
            <a:r>
              <a:rPr i="0" lang="en" u="none">
                <a:solidFill>
                  <a:schemeClr val="dk1"/>
                </a:solidFill>
              </a:rPr>
              <a:t>They are replete with episodes and anecdotes</a:t>
            </a:r>
            <a:endParaRPr/>
          </a:p>
          <a:p>
            <a:pPr indent="-254000" lvl="0" marL="342900" marR="0" rtl="0" algn="just">
              <a:lnSpc>
                <a:spcPct val="100000"/>
              </a:lnSpc>
              <a:spcBef>
                <a:spcPts val="640"/>
              </a:spcBef>
              <a:spcAft>
                <a:spcPts val="0"/>
              </a:spcAft>
              <a:buClr>
                <a:schemeClr val="dk1"/>
              </a:buClr>
              <a:buSzPts val="1800"/>
              <a:buChar char="⮚"/>
            </a:pPr>
            <a:r>
              <a:rPr i="0" lang="en" u="none">
                <a:solidFill>
                  <a:schemeClr val="dk1"/>
                </a:solidFill>
              </a:rPr>
              <a:t>Both long and short sentences are judiciously mixed</a:t>
            </a:r>
            <a:endParaRPr/>
          </a:p>
          <a:p>
            <a:pPr indent="-254000" lvl="0" marL="342900" marR="0" rtl="0" algn="just">
              <a:lnSpc>
                <a:spcPct val="100000"/>
              </a:lnSpc>
              <a:spcBef>
                <a:spcPts val="640"/>
              </a:spcBef>
              <a:spcAft>
                <a:spcPts val="0"/>
              </a:spcAft>
              <a:buClr>
                <a:schemeClr val="dk1"/>
              </a:buClr>
              <a:buSzPts val="1800"/>
              <a:buChar char="⮚"/>
            </a:pPr>
            <a:r>
              <a:rPr i="0" lang="en" u="none">
                <a:solidFill>
                  <a:schemeClr val="dk1"/>
                </a:solidFill>
              </a:rPr>
              <a:t>Nouns, adjectives and verbs are used in a special way in order to create vivid images, sounds and feelings for the reader.</a:t>
            </a:r>
            <a:endParaRPr/>
          </a:p>
          <a:p>
            <a:pPr indent="-254000" lvl="0" marL="342900" marR="0" rtl="0" algn="just">
              <a:lnSpc>
                <a:spcPct val="100000"/>
              </a:lnSpc>
              <a:spcBef>
                <a:spcPts val="640"/>
              </a:spcBef>
              <a:spcAft>
                <a:spcPts val="0"/>
              </a:spcAft>
              <a:buClr>
                <a:schemeClr val="dk1"/>
              </a:buClr>
              <a:buSzPts val="1800"/>
              <a:buChar char="⮚"/>
            </a:pPr>
            <a:r>
              <a:rPr i="0" lang="en" u="none">
                <a:solidFill>
                  <a:schemeClr val="dk1"/>
                </a:solidFill>
              </a:rPr>
              <a:t>They depend upon the writer to apply his imagination to the facts.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73"/>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4000"/>
              <a:buFont typeface="Calibri"/>
              <a:buNone/>
            </a:pPr>
            <a:r>
              <a:rPr b="1" i="0" lang="en" sz="4000" u="none">
                <a:solidFill>
                  <a:srgbClr val="FF0000"/>
                </a:solidFill>
                <a:latin typeface="Calibri"/>
                <a:ea typeface="Calibri"/>
                <a:cs typeface="Calibri"/>
                <a:sym typeface="Calibri"/>
              </a:rPr>
              <a:t>Writing a feature/ magazine article</a:t>
            </a:r>
            <a:endParaRPr/>
          </a:p>
        </p:txBody>
      </p:sp>
      <p:sp>
        <p:nvSpPr>
          <p:cNvPr id="414" name="Google Shape;414;p73"/>
          <p:cNvSpPr txBox="1"/>
          <p:nvPr>
            <p:ph idx="1" type="body"/>
          </p:nvPr>
        </p:nvSpPr>
        <p:spPr>
          <a:xfrm>
            <a:off x="628650" y="1026931"/>
            <a:ext cx="7886700" cy="3747600"/>
          </a:xfrm>
          <a:prstGeom prst="rect">
            <a:avLst/>
          </a:prstGeom>
          <a:noFill/>
          <a:ln>
            <a:noFill/>
          </a:ln>
        </p:spPr>
        <p:txBody>
          <a:bodyPr anchorCtr="0" anchor="t" bIns="45700" lIns="91425" spcFirstLastPara="1" rIns="91425" wrap="square" tIns="45700">
            <a:normAutofit/>
          </a:bodyPr>
          <a:lstStyle/>
          <a:p>
            <a:pPr indent="-254000" lvl="0" marL="342900" marR="0" rtl="0" algn="just">
              <a:lnSpc>
                <a:spcPct val="100000"/>
              </a:lnSpc>
              <a:spcBef>
                <a:spcPts val="0"/>
              </a:spcBef>
              <a:spcAft>
                <a:spcPts val="0"/>
              </a:spcAft>
              <a:buClr>
                <a:schemeClr val="dk1"/>
              </a:buClr>
              <a:buSzPts val="1800"/>
              <a:buFont typeface="Noto Sans Symbols"/>
              <a:buChar char="⮚"/>
            </a:pPr>
            <a:r>
              <a:rPr i="0" lang="en" u="none">
                <a:solidFill>
                  <a:schemeClr val="dk1"/>
                </a:solidFill>
              </a:rPr>
              <a:t>The feature lead is not aimed at summarising the significant facts of the topic, </a:t>
            </a:r>
            <a:endParaRPr i="0" u="none">
              <a:solidFill>
                <a:schemeClr val="dk1"/>
              </a:solidFill>
            </a:endParaRPr>
          </a:p>
          <a:p>
            <a:pPr indent="-254000" lvl="0" marL="342900" marR="0" rtl="0" algn="just">
              <a:lnSpc>
                <a:spcPct val="100000"/>
              </a:lnSpc>
              <a:spcBef>
                <a:spcPts val="0"/>
              </a:spcBef>
              <a:spcAft>
                <a:spcPts val="0"/>
              </a:spcAft>
              <a:buClr>
                <a:schemeClr val="dk1"/>
              </a:buClr>
              <a:buSzPts val="1800"/>
              <a:buFont typeface="Noto Sans Symbols"/>
              <a:buChar char="⮚"/>
            </a:pPr>
            <a:r>
              <a:rPr lang="en">
                <a:solidFill>
                  <a:schemeClr val="dk1"/>
                </a:solidFill>
              </a:rPr>
              <a:t>R</a:t>
            </a:r>
            <a:r>
              <a:rPr i="0" lang="en" u="none">
                <a:solidFill>
                  <a:schemeClr val="dk1"/>
                </a:solidFill>
              </a:rPr>
              <a:t>ather it is aimed at </a:t>
            </a:r>
            <a:r>
              <a:rPr b="1" i="0" lang="en" u="none">
                <a:solidFill>
                  <a:schemeClr val="dk1"/>
                </a:solidFill>
              </a:rPr>
              <a:t>stimulating </a:t>
            </a:r>
            <a:r>
              <a:rPr i="0" lang="en" u="none">
                <a:solidFill>
                  <a:schemeClr val="dk1"/>
                </a:solidFill>
              </a:rPr>
              <a:t>the </a:t>
            </a:r>
            <a:r>
              <a:rPr b="1" i="0" lang="en" u="none">
                <a:solidFill>
                  <a:schemeClr val="dk1"/>
                </a:solidFill>
              </a:rPr>
              <a:t>reader’s curiosity, getting his/her attention.</a:t>
            </a:r>
            <a:endParaRPr/>
          </a:p>
          <a:p>
            <a:pPr indent="-254000" lvl="0" marL="342900" marR="0" rtl="0" algn="just">
              <a:lnSpc>
                <a:spcPct val="100000"/>
              </a:lnSpc>
              <a:spcBef>
                <a:spcPts val="640"/>
              </a:spcBef>
              <a:spcAft>
                <a:spcPts val="0"/>
              </a:spcAft>
              <a:buClr>
                <a:schemeClr val="dk1"/>
              </a:buClr>
              <a:buSzPts val="1800"/>
              <a:buChar char="⮚"/>
            </a:pPr>
            <a:r>
              <a:rPr i="0" lang="en" u="none">
                <a:solidFill>
                  <a:schemeClr val="dk1"/>
                </a:solidFill>
              </a:rPr>
              <a:t>You must include the important facts somewhere in the story.</a:t>
            </a:r>
            <a:endParaRPr/>
          </a:p>
          <a:p>
            <a:pPr indent="-254000" lvl="0" marL="342900" marR="0" rtl="0" algn="just">
              <a:lnSpc>
                <a:spcPct val="100000"/>
              </a:lnSpc>
              <a:spcBef>
                <a:spcPts val="640"/>
              </a:spcBef>
              <a:spcAft>
                <a:spcPts val="0"/>
              </a:spcAft>
              <a:buClr>
                <a:schemeClr val="dk1"/>
              </a:buClr>
              <a:buSzPts val="1800"/>
              <a:buChar char="⮚"/>
            </a:pPr>
            <a:r>
              <a:rPr i="0" lang="en" u="none">
                <a:solidFill>
                  <a:schemeClr val="dk1"/>
                </a:solidFill>
              </a:rPr>
              <a:t>The order on how to present the important facts is the prerogative of the reporter.</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74"/>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The feature’s body</a:t>
            </a:r>
            <a:endParaRPr/>
          </a:p>
        </p:txBody>
      </p:sp>
      <p:sp>
        <p:nvSpPr>
          <p:cNvPr id="420" name="Google Shape;420;p74"/>
          <p:cNvSpPr txBox="1"/>
          <p:nvPr>
            <p:ph idx="1" type="body"/>
          </p:nvPr>
        </p:nvSpPr>
        <p:spPr>
          <a:xfrm>
            <a:off x="628650" y="1026914"/>
            <a:ext cx="7886700" cy="2447700"/>
          </a:xfrm>
          <a:prstGeom prst="rect">
            <a:avLst/>
          </a:prstGeom>
          <a:noFill/>
          <a:ln>
            <a:noFill/>
          </a:ln>
        </p:spPr>
        <p:txBody>
          <a:bodyPr anchorCtr="0" anchor="t" bIns="45700" lIns="91425" spcFirstLastPara="1" rIns="91425" wrap="square" tIns="45700">
            <a:normAutofit fontScale="70000" lnSpcReduction="20000"/>
          </a:bodyPr>
          <a:lstStyle/>
          <a:p>
            <a:pPr indent="-281940" lvl="0" marL="342900" marR="0" rtl="0" algn="just">
              <a:lnSpc>
                <a:spcPct val="90000"/>
              </a:lnSpc>
              <a:spcBef>
                <a:spcPts val="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Interpret the facts as you present them, i.e. express an opinion on them.</a:t>
            </a:r>
            <a:endParaRPr/>
          </a:p>
          <a:p>
            <a:pPr indent="-281940" lvl="0" marL="342900" marR="0" rtl="0" algn="just">
              <a:lnSpc>
                <a:spcPct val="90000"/>
              </a:lnSpc>
              <a:spcBef>
                <a:spcPts val="64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Keep verbs of attribution to a minimum- use passive voice instead of active voice.</a:t>
            </a:r>
            <a:endParaRPr/>
          </a:p>
          <a:p>
            <a:pPr indent="-281940" lvl="0" marL="342900" marR="0" rtl="0" algn="just">
              <a:lnSpc>
                <a:spcPct val="90000"/>
              </a:lnSpc>
              <a:spcBef>
                <a:spcPts val="64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All parts of a feature are equally important. The shape is a rectangular pillar</a:t>
            </a:r>
            <a:endParaRPr/>
          </a:p>
          <a:p>
            <a:pPr indent="-281940" lvl="0" marL="342900" marR="0" rtl="0" algn="just">
              <a:lnSpc>
                <a:spcPct val="90000"/>
              </a:lnSpc>
              <a:spcBef>
                <a:spcPts val="64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The conclusion is important. It should leave the reader with a definite attitude to the subject of feature.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75"/>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4400"/>
              <a:buFont typeface="Calibri"/>
              <a:buNone/>
            </a:pPr>
            <a:r>
              <a:rPr b="1" i="0" lang="en" sz="4400" u="none">
                <a:solidFill>
                  <a:srgbClr val="FF0000"/>
                </a:solidFill>
                <a:latin typeface="Calibri"/>
                <a:ea typeface="Calibri"/>
                <a:cs typeface="Calibri"/>
                <a:sym typeface="Calibri"/>
              </a:rPr>
              <a:t>Interviews/profiles</a:t>
            </a:r>
            <a:endParaRPr/>
          </a:p>
        </p:txBody>
      </p:sp>
      <p:sp>
        <p:nvSpPr>
          <p:cNvPr id="426" name="Google Shape;426;p75"/>
          <p:cNvSpPr txBox="1"/>
          <p:nvPr>
            <p:ph idx="1" type="body"/>
          </p:nvPr>
        </p:nvSpPr>
        <p:spPr>
          <a:xfrm>
            <a:off x="628650" y="1026914"/>
            <a:ext cx="7886700" cy="24477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Noto Sans Symbols"/>
              <a:buChar char="⮚"/>
            </a:pPr>
            <a:r>
              <a:rPr b="0" i="0" lang="en" sz="3200" u="none">
                <a:solidFill>
                  <a:schemeClr val="dk1"/>
                </a:solidFill>
                <a:latin typeface="Calibri"/>
                <a:ea typeface="Calibri"/>
                <a:cs typeface="Calibri"/>
                <a:sym typeface="Calibri"/>
              </a:rPr>
              <a:t>Newsletters sometimes include interviews with or profiles on </a:t>
            </a:r>
            <a:r>
              <a:rPr b="1" i="0" lang="en" sz="3200" u="none">
                <a:solidFill>
                  <a:schemeClr val="dk1"/>
                </a:solidFill>
                <a:latin typeface="Calibri"/>
                <a:ea typeface="Calibri"/>
                <a:cs typeface="Calibri"/>
                <a:sym typeface="Calibri"/>
              </a:rPr>
              <a:t>interesting</a:t>
            </a:r>
            <a:r>
              <a:rPr b="0" i="0" lang="en" sz="3200" u="none">
                <a:solidFill>
                  <a:schemeClr val="dk1"/>
                </a:solidFill>
                <a:latin typeface="Calibri"/>
                <a:ea typeface="Calibri"/>
                <a:cs typeface="Calibri"/>
                <a:sym typeface="Calibri"/>
              </a:rPr>
              <a:t> or </a:t>
            </a:r>
            <a:r>
              <a:rPr b="1" i="0" lang="en" sz="3200" u="none">
                <a:solidFill>
                  <a:schemeClr val="dk1"/>
                </a:solidFill>
                <a:latin typeface="Calibri"/>
                <a:ea typeface="Calibri"/>
                <a:cs typeface="Calibri"/>
                <a:sym typeface="Calibri"/>
              </a:rPr>
              <a:t>prominent</a:t>
            </a:r>
            <a:r>
              <a:rPr b="0" i="0" lang="en" sz="3200" u="none">
                <a:solidFill>
                  <a:schemeClr val="dk1"/>
                </a:solidFill>
                <a:latin typeface="Calibri"/>
                <a:ea typeface="Calibri"/>
                <a:cs typeface="Calibri"/>
                <a:sym typeface="Calibri"/>
              </a:rPr>
              <a:t> members of the organisation</a:t>
            </a:r>
            <a:endParaRPr/>
          </a:p>
          <a:p>
            <a:pPr indent="-342900" lvl="0" marL="342900" marR="0" rtl="0" algn="just">
              <a:lnSpc>
                <a:spcPct val="100000"/>
              </a:lnSpc>
              <a:spcBef>
                <a:spcPts val="640"/>
              </a:spcBef>
              <a:spcAft>
                <a:spcPts val="0"/>
              </a:spcAft>
              <a:buClr>
                <a:schemeClr val="dk1"/>
              </a:buClr>
              <a:buSzPts val="3200"/>
              <a:buFont typeface="Noto Sans Symbols"/>
              <a:buChar char="⮚"/>
            </a:pPr>
            <a:r>
              <a:rPr b="0" i="0" lang="en" sz="3200" u="none">
                <a:solidFill>
                  <a:schemeClr val="dk1"/>
                </a:solidFill>
                <a:latin typeface="Calibri"/>
                <a:ea typeface="Calibri"/>
                <a:cs typeface="Calibri"/>
                <a:sym typeface="Calibri"/>
              </a:rPr>
              <a:t>Interviews/profiles inform, entertain, and motivate the reader.</a:t>
            </a:r>
            <a:endParaRPr/>
          </a:p>
          <a:p>
            <a:pPr indent="-342900" lvl="0" marL="342900" marR="0" rtl="0" algn="just">
              <a:lnSpc>
                <a:spcPct val="100000"/>
              </a:lnSpc>
              <a:spcBef>
                <a:spcPts val="640"/>
              </a:spcBef>
              <a:spcAft>
                <a:spcPts val="0"/>
              </a:spcAft>
              <a:buClr>
                <a:schemeClr val="dk1"/>
              </a:buClr>
              <a:buSzPts val="3200"/>
              <a:buFont typeface="Noto Sans Symbols"/>
              <a:buChar char="⮚"/>
            </a:pPr>
            <a:r>
              <a:rPr b="0" i="0" lang="en" sz="3200" u="none">
                <a:solidFill>
                  <a:schemeClr val="dk1"/>
                </a:solidFill>
                <a:latin typeface="Calibri"/>
                <a:ea typeface="Calibri"/>
                <a:cs typeface="Calibri"/>
                <a:sym typeface="Calibri"/>
              </a:rPr>
              <a:t>Readers enjoy  learning about other people.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76"/>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FF0000"/>
              </a:buClr>
              <a:buSzPct val="100000"/>
              <a:buFont typeface="Calibri"/>
              <a:buNone/>
            </a:pPr>
            <a:r>
              <a:rPr b="1" i="0" lang="en" sz="4000" u="none">
                <a:solidFill>
                  <a:srgbClr val="FF0000"/>
                </a:solidFill>
                <a:latin typeface="Calibri"/>
                <a:ea typeface="Calibri"/>
                <a:cs typeface="Calibri"/>
                <a:sym typeface="Calibri"/>
              </a:rPr>
              <a:t>Conducting an interview for a newsletter story/profile</a:t>
            </a:r>
            <a:endParaRPr/>
          </a:p>
        </p:txBody>
      </p:sp>
      <p:sp>
        <p:nvSpPr>
          <p:cNvPr id="432" name="Google Shape;432;p76"/>
          <p:cNvSpPr txBox="1"/>
          <p:nvPr>
            <p:ph idx="1" type="body"/>
          </p:nvPr>
        </p:nvSpPr>
        <p:spPr>
          <a:xfrm>
            <a:off x="628650" y="1026914"/>
            <a:ext cx="7886700" cy="2447700"/>
          </a:xfrm>
          <a:prstGeom prst="rect">
            <a:avLst/>
          </a:prstGeom>
          <a:noFill/>
          <a:ln>
            <a:noFill/>
          </a:ln>
        </p:spPr>
        <p:txBody>
          <a:bodyPr anchorCtr="0" anchor="t" bIns="45700" lIns="91425" spcFirstLastPara="1" rIns="91425" wrap="square" tIns="45700">
            <a:normAutofit fontScale="70000" lnSpcReduction="20000"/>
          </a:bodyPr>
          <a:lstStyle/>
          <a:p>
            <a:pPr indent="-285750" lvl="0" marL="342900" marR="0" rtl="0" algn="just">
              <a:lnSpc>
                <a:spcPct val="80000"/>
              </a:lnSpc>
              <a:spcBef>
                <a:spcPts val="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Make an appointment</a:t>
            </a:r>
            <a:endParaRPr/>
          </a:p>
          <a:p>
            <a:pPr indent="-285750" lvl="0" marL="342900" marR="0" rtl="0" algn="just">
              <a:lnSpc>
                <a:spcPct val="8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Tell the person the kinds of information you want to get from him/her</a:t>
            </a:r>
            <a:endParaRPr/>
          </a:p>
          <a:p>
            <a:pPr indent="-285750" lvl="0" marL="342900" marR="0" rtl="0" algn="just">
              <a:lnSpc>
                <a:spcPct val="8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Ask for his/her CV, if he has one on file. You can get some background information from his/her CV</a:t>
            </a:r>
            <a:endParaRPr/>
          </a:p>
          <a:p>
            <a:pPr indent="-285750" lvl="0" marL="342900" marR="0" rtl="0" algn="just">
              <a:lnSpc>
                <a:spcPct val="8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Prepare some questions and list them in order of importance in case you will run out of time.</a:t>
            </a:r>
            <a:endParaRPr/>
          </a:p>
          <a:p>
            <a:pPr indent="-285750" lvl="0" marL="342900" marR="0" rtl="0" algn="just">
              <a:lnSpc>
                <a:spcPct val="8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In general ask open-ended questions rather than closed-ended (</a:t>
            </a:r>
            <a:r>
              <a:rPr b="0" i="1" lang="en" sz="3000" u="none">
                <a:solidFill>
                  <a:schemeClr val="dk1"/>
                </a:solidFill>
                <a:latin typeface="Calibri"/>
                <a:ea typeface="Calibri"/>
                <a:cs typeface="Calibri"/>
                <a:sym typeface="Calibri"/>
              </a:rPr>
              <a:t>Yes/No</a:t>
            </a:r>
            <a:r>
              <a:rPr b="0" i="0" lang="en" sz="3000" u="none">
                <a:solidFill>
                  <a:schemeClr val="dk1"/>
                </a:solidFill>
                <a:latin typeface="Calibri"/>
                <a:ea typeface="Calibri"/>
                <a:cs typeface="Calibri"/>
                <a:sym typeface="Calibri"/>
              </a:rPr>
              <a:t>) questions- Plan questions that evoke thoughtful and interesting responses.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7"/>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438" name="Google Shape;438;p77"/>
          <p:cNvSpPr txBox="1"/>
          <p:nvPr>
            <p:ph idx="1" type="body"/>
          </p:nvPr>
        </p:nvSpPr>
        <p:spPr>
          <a:xfrm>
            <a:off x="628650" y="1026914"/>
            <a:ext cx="7886700" cy="2447700"/>
          </a:xfrm>
          <a:prstGeom prst="rect">
            <a:avLst/>
          </a:prstGeom>
          <a:noFill/>
          <a:ln>
            <a:noFill/>
          </a:ln>
        </p:spPr>
        <p:txBody>
          <a:bodyPr anchorCtr="0" anchor="t" bIns="45700" lIns="91425" spcFirstLastPara="1" rIns="91425" wrap="square" tIns="45700">
            <a:normAutofit fontScale="77500" lnSpcReduction="20000"/>
          </a:bodyPr>
          <a:lstStyle/>
          <a:p>
            <a:pPr indent="-300037" lvl="0" marL="342900" marR="0" rtl="0" algn="just">
              <a:lnSpc>
                <a:spcPct val="90000"/>
              </a:lnSpc>
              <a:spcBef>
                <a:spcPts val="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Begin the interview by briefly discussing the points you want to cover</a:t>
            </a:r>
            <a:endParaRPr/>
          </a:p>
          <a:p>
            <a:pPr indent="-300037" lvl="0" marL="342900" marR="0" rtl="0" algn="just">
              <a:lnSpc>
                <a:spcPct val="9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Let the person do most of the talking. If he digresses, bring him back to the subject by asking appropriate questions</a:t>
            </a:r>
            <a:endParaRPr/>
          </a:p>
          <a:p>
            <a:pPr indent="-300037" lvl="0" marL="342900" marR="0" rtl="0" algn="just">
              <a:lnSpc>
                <a:spcPct val="9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Ask for correct spelling of names you jot down</a:t>
            </a:r>
            <a:endParaRPr/>
          </a:p>
          <a:p>
            <a:pPr indent="-300037" lvl="0" marL="342900" marR="0" rtl="0" algn="just">
              <a:lnSpc>
                <a:spcPct val="90000"/>
              </a:lnSpc>
              <a:spcBef>
                <a:spcPts val="600"/>
              </a:spcBef>
              <a:spcAft>
                <a:spcPts val="0"/>
              </a:spcAft>
              <a:buClr>
                <a:schemeClr val="dk1"/>
              </a:buClr>
              <a:buSzPct val="100000"/>
              <a:buFont typeface="Noto Sans Symbols"/>
              <a:buChar char="⮚"/>
            </a:pPr>
            <a:r>
              <a:rPr b="0" i="0" lang="en" sz="3000" u="none">
                <a:solidFill>
                  <a:schemeClr val="dk1"/>
                </a:solidFill>
                <a:latin typeface="Calibri"/>
                <a:ea typeface="Calibri"/>
                <a:cs typeface="Calibri"/>
                <a:sym typeface="Calibri"/>
              </a:rPr>
              <a:t>Put direct quotes for </a:t>
            </a:r>
            <a:r>
              <a:rPr b="1" i="0" lang="en" sz="3000" u="none">
                <a:solidFill>
                  <a:schemeClr val="dk1"/>
                </a:solidFill>
                <a:latin typeface="Calibri"/>
                <a:ea typeface="Calibri"/>
                <a:cs typeface="Calibri"/>
                <a:sym typeface="Calibri"/>
              </a:rPr>
              <a:t>interesting </a:t>
            </a:r>
            <a:r>
              <a:rPr b="0" i="0" lang="en" sz="3000" u="none">
                <a:solidFill>
                  <a:schemeClr val="dk1"/>
                </a:solidFill>
                <a:latin typeface="Calibri"/>
                <a:ea typeface="Calibri"/>
                <a:cs typeface="Calibri"/>
                <a:sym typeface="Calibri"/>
              </a:rPr>
              <a:t>or important statements made by the interviewee. Make sure you write down the </a:t>
            </a:r>
            <a:r>
              <a:rPr b="1" i="0" lang="en" sz="3000" u="none">
                <a:solidFill>
                  <a:schemeClr val="dk1"/>
                </a:solidFill>
                <a:latin typeface="Calibri"/>
                <a:ea typeface="Calibri"/>
                <a:cs typeface="Calibri"/>
                <a:sym typeface="Calibri"/>
              </a:rPr>
              <a:t>exact words </a:t>
            </a:r>
            <a:r>
              <a:rPr b="0" i="0" lang="en" sz="3000" u="none">
                <a:solidFill>
                  <a:schemeClr val="dk1"/>
                </a:solidFill>
                <a:latin typeface="Calibri"/>
                <a:ea typeface="Calibri"/>
                <a:cs typeface="Calibri"/>
                <a:sym typeface="Calibri"/>
              </a:rPr>
              <a:t>of the interviewee.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8"/>
          <p:cNvSpPr txBox="1"/>
          <p:nvPr>
            <p:ph type="title"/>
          </p:nvPr>
        </p:nvSpPr>
        <p:spPr>
          <a:xfrm>
            <a:off x="628650" y="205383"/>
            <a:ext cx="7886700" cy="74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1"/>
              </a:solidFill>
              <a:latin typeface="Calibri"/>
              <a:ea typeface="Calibri"/>
              <a:cs typeface="Calibri"/>
              <a:sym typeface="Calibri"/>
            </a:endParaRPr>
          </a:p>
        </p:txBody>
      </p:sp>
      <p:sp>
        <p:nvSpPr>
          <p:cNvPr id="444" name="Google Shape;444;p78"/>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fontScale="92500"/>
          </a:bodyPr>
          <a:lstStyle/>
          <a:p>
            <a:pPr indent="-327660" lvl="0" marL="342900" marR="0" rtl="0" algn="just">
              <a:lnSpc>
                <a:spcPct val="90000"/>
              </a:lnSpc>
              <a:spcBef>
                <a:spcPts val="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If you decide to tape (record)  the interview, make sure you have enough blank tape and batteries</a:t>
            </a:r>
            <a:endParaRPr/>
          </a:p>
          <a:p>
            <a:pPr indent="-327660" lvl="0" marL="342900" marR="0" rtl="0" algn="just">
              <a:lnSpc>
                <a:spcPct val="90000"/>
              </a:lnSpc>
              <a:spcBef>
                <a:spcPts val="64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Even if you decide to record the interview, take notes in case the machine malfunctions.</a:t>
            </a:r>
            <a:endParaRPr/>
          </a:p>
          <a:p>
            <a:pPr indent="-327660" lvl="0" marL="342900" marR="0" rtl="0" algn="just">
              <a:lnSpc>
                <a:spcPct val="90000"/>
              </a:lnSpc>
              <a:spcBef>
                <a:spcPts val="64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End the interview by asking the interviewee if there is anything else s/he would like to tell you</a:t>
            </a:r>
            <a:endParaRPr/>
          </a:p>
          <a:p>
            <a:pPr indent="-327660" lvl="0" marL="342900" marR="0" rtl="0" algn="just">
              <a:lnSpc>
                <a:spcPct val="90000"/>
              </a:lnSpc>
              <a:spcBef>
                <a:spcPts val="640"/>
              </a:spcBef>
              <a:spcAft>
                <a:spcPts val="0"/>
              </a:spcAft>
              <a:buClr>
                <a:schemeClr val="dk1"/>
              </a:buClr>
              <a:buSzPct val="100000"/>
              <a:buFont typeface="Noto Sans Symbols"/>
              <a:buChar char="⮚"/>
            </a:pPr>
            <a:r>
              <a:rPr b="0" i="0" lang="en" sz="3200" u="none">
                <a:solidFill>
                  <a:schemeClr val="dk1"/>
                </a:solidFill>
                <a:latin typeface="Calibri"/>
                <a:ea typeface="Calibri"/>
                <a:cs typeface="Calibri"/>
                <a:sym typeface="Calibri"/>
              </a:rPr>
              <a:t>At the end of the interview remember to thank the interviewee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