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1"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2" r:id="rId28"/>
    <p:sldId id="283" r:id="rId29"/>
    <p:sldId id="284" r:id="rId30"/>
    <p:sldId id="285" r:id="rId31"/>
    <p:sldId id="286" r:id="rId32"/>
    <p:sldId id="287" r:id="rId33"/>
    <p:sldId id="291" r:id="rId34"/>
    <p:sldId id="292" r:id="rId35"/>
    <p:sldId id="293" r:id="rId36"/>
    <p:sldId id="294" r:id="rId37"/>
    <p:sldId id="295" r:id="rId38"/>
    <p:sldId id="29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38" autoAdjust="0"/>
    <p:restoredTop sz="94660"/>
  </p:normalViewPr>
  <p:slideViewPr>
    <p:cSldViewPr snapToGrid="0">
      <p:cViewPr>
        <p:scale>
          <a:sx n="80" d="100"/>
          <a:sy n="80" d="100"/>
        </p:scale>
        <p:origin x="2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E8E09-95F5-4DF5-9D87-7048BD1305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416DEB-E570-4B04-8FFB-8B67C520CC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EB937F-7527-4765-9427-3E277754F055}"/>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5" name="Footer Placeholder 4">
            <a:extLst>
              <a:ext uri="{FF2B5EF4-FFF2-40B4-BE49-F238E27FC236}">
                <a16:creationId xmlns:a16="http://schemas.microsoft.com/office/drawing/2014/main" id="{576EBC9F-8A6D-41D5-AE92-11A5325EF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04974-D438-42EF-AD02-419C115BFFE5}"/>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874397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AB527-A791-47D5-8DAE-C54DF14F1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C5CAD1-56D5-452A-849B-B36B1F0CD7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EBB9-48C0-4C95-8E95-2E09404F010F}"/>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5" name="Footer Placeholder 4">
            <a:extLst>
              <a:ext uri="{FF2B5EF4-FFF2-40B4-BE49-F238E27FC236}">
                <a16:creationId xmlns:a16="http://schemas.microsoft.com/office/drawing/2014/main" id="{10537D2B-712C-4223-BA91-7158863A3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6C4DE-E4A7-4E0B-B63F-7AE0306184B8}"/>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246053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388AF-0DEF-40A0-8D86-739570DBA0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1E8544-4C0D-435E-B2C2-CEEDD6847D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811C74-58CB-4CA0-89DB-B79E3DA168A5}"/>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5" name="Footer Placeholder 4">
            <a:extLst>
              <a:ext uri="{FF2B5EF4-FFF2-40B4-BE49-F238E27FC236}">
                <a16:creationId xmlns:a16="http://schemas.microsoft.com/office/drawing/2014/main" id="{3AEB2BF0-0E42-482C-968C-6577D77395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61622E-174E-4E32-94B9-58BAD109E8DB}"/>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169140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62A4B-1E51-41D5-A6C7-13A883CE86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821F9C-70A1-471F-8064-3956CCA846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82AD58-54DB-4ABF-9F40-220BE98030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FE204D-CA8F-4F3B-B1D4-D106CC692AE3}"/>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6" name="Footer Placeholder 5">
            <a:extLst>
              <a:ext uri="{FF2B5EF4-FFF2-40B4-BE49-F238E27FC236}">
                <a16:creationId xmlns:a16="http://schemas.microsoft.com/office/drawing/2014/main" id="{FB6CC38D-6357-4DE6-9A57-0EED1089A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F8B69F-EAE8-42D4-B750-33C8B02F2E41}"/>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157445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512BF-16FA-425F-947D-F5AF0152FA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6FD1D3-7883-44F8-B41E-AF7C96C05B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77AD8-32F0-486C-B084-A6DD59B0A9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43E4C4-6DD5-41A6-A50F-C5A2BBF6E6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DFE78C-22BD-4D29-A831-FD8620A3DE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58BE0B-43CB-4663-95F0-24DF639892C3}"/>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8" name="Footer Placeholder 7">
            <a:extLst>
              <a:ext uri="{FF2B5EF4-FFF2-40B4-BE49-F238E27FC236}">
                <a16:creationId xmlns:a16="http://schemas.microsoft.com/office/drawing/2014/main" id="{EF4D5B4F-343E-4632-B668-0A2DE93D74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2E61AD-EAF4-472F-B73C-EC59F59F4605}"/>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395442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8C7FE-AA64-4C27-AC46-968CC29439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D1ED30-AB8B-4896-8A86-1A09E5A55930}"/>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4" name="Footer Placeholder 3">
            <a:extLst>
              <a:ext uri="{FF2B5EF4-FFF2-40B4-BE49-F238E27FC236}">
                <a16:creationId xmlns:a16="http://schemas.microsoft.com/office/drawing/2014/main" id="{0C0C6272-D067-46F9-82B7-47D54387FB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6145F1-31A8-48FA-8EE2-A12A7B2C07D5}"/>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57755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9506EE-DF9F-4974-B69A-4643F5AFE624}"/>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3" name="Footer Placeholder 2">
            <a:extLst>
              <a:ext uri="{FF2B5EF4-FFF2-40B4-BE49-F238E27FC236}">
                <a16:creationId xmlns:a16="http://schemas.microsoft.com/office/drawing/2014/main" id="{9D83F5EA-9AAF-47C6-AC19-76FDEA43D4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4F6C55-4C7B-4D04-8A9E-F2C6F58BDC56}"/>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84840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1C1C-736A-4911-A47C-EE0A4CDE3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397F05-C0E3-4F42-A9C8-10E4D01690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D06E10-F4BF-441C-857D-C2BE17F238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7EAD25-8877-40C0-9127-7D5EC876F2E6}"/>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6" name="Footer Placeholder 5">
            <a:extLst>
              <a:ext uri="{FF2B5EF4-FFF2-40B4-BE49-F238E27FC236}">
                <a16:creationId xmlns:a16="http://schemas.microsoft.com/office/drawing/2014/main" id="{169D73DD-D18C-4E39-88C8-48E1D8FC39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5BA78-11B3-41E0-ADDB-BEBACD3C120F}"/>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475835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80AB-4315-44AA-9E23-7E74930AD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6E800A-E29E-4C9F-A230-A3B03B841B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A7B192-D199-46EA-A0F8-403F96865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4627E0-49E6-4E35-899B-B1D791EA50B9}"/>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6" name="Footer Placeholder 5">
            <a:extLst>
              <a:ext uri="{FF2B5EF4-FFF2-40B4-BE49-F238E27FC236}">
                <a16:creationId xmlns:a16="http://schemas.microsoft.com/office/drawing/2014/main" id="{A1FDF80D-638F-4361-9B69-D4FBEB8940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C4E21-1331-41DE-BB29-6F99A536ED24}"/>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1360410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21A13-7FFF-47DD-AB96-A7C24771CD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D3454D-07B2-492B-BC95-DA7117B6E1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FCC06-4CBC-40EE-9BC3-3B16C9C639B0}"/>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5" name="Footer Placeholder 4">
            <a:extLst>
              <a:ext uri="{FF2B5EF4-FFF2-40B4-BE49-F238E27FC236}">
                <a16:creationId xmlns:a16="http://schemas.microsoft.com/office/drawing/2014/main" id="{0EC45495-7A8A-4775-90EF-D009B5EEF1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715CFA-DA10-467D-81C5-4FCA82D4981A}"/>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9209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AD0E56-C4AD-4819-B46D-3BA6D9376D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58F3D1-C016-4A96-8B23-2EE70D7636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AB9D4-4D08-44E6-8F71-5058376E3998}"/>
              </a:ext>
            </a:extLst>
          </p:cNvPr>
          <p:cNvSpPr>
            <a:spLocks noGrp="1"/>
          </p:cNvSpPr>
          <p:nvPr>
            <p:ph type="dt" sz="half" idx="10"/>
          </p:nvPr>
        </p:nvSpPr>
        <p:spPr/>
        <p:txBody>
          <a:bodyPr/>
          <a:lstStyle/>
          <a:p>
            <a:fld id="{E10611B7-3B2F-4EDF-8C64-D243A4A17896}" type="datetimeFigureOut">
              <a:rPr lang="en-US" smtClean="0"/>
              <a:t>11/5/2020</a:t>
            </a:fld>
            <a:endParaRPr lang="en-US"/>
          </a:p>
        </p:txBody>
      </p:sp>
      <p:sp>
        <p:nvSpPr>
          <p:cNvPr id="5" name="Footer Placeholder 4">
            <a:extLst>
              <a:ext uri="{FF2B5EF4-FFF2-40B4-BE49-F238E27FC236}">
                <a16:creationId xmlns:a16="http://schemas.microsoft.com/office/drawing/2014/main" id="{16212555-8986-40AB-BC6A-46CDD7A11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8083EE-62A3-4833-851C-D5A080B17956}"/>
              </a:ext>
            </a:extLst>
          </p:cNvPr>
          <p:cNvSpPr>
            <a:spLocks noGrp="1"/>
          </p:cNvSpPr>
          <p:nvPr>
            <p:ph type="sldNum" sz="quarter" idx="12"/>
          </p:nvPr>
        </p:nvSpPr>
        <p:spPr/>
        <p:txBody>
          <a:bodyPr/>
          <a:lstStyle/>
          <a:p>
            <a:fld id="{9AA40D38-7A47-4173-B37B-5C17588D541C}" type="slidenum">
              <a:rPr lang="en-US" smtClean="0"/>
              <a:t>‹#›</a:t>
            </a:fld>
            <a:endParaRPr lang="en-US"/>
          </a:p>
        </p:txBody>
      </p:sp>
    </p:spTree>
    <p:extLst>
      <p:ext uri="{BB962C8B-B14F-4D97-AF65-F5344CB8AC3E}">
        <p14:creationId xmlns:p14="http://schemas.microsoft.com/office/powerpoint/2010/main" val="3361336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35ECC0-F1BC-45E6-86DB-6E77930A7E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69B24-CFCE-4C8A-B678-297A1EBA76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A814AF-0581-4D34-9288-C584134F43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0611B7-3B2F-4EDF-8C64-D243A4A17896}" type="datetimeFigureOut">
              <a:rPr lang="en-US" smtClean="0"/>
              <a:t>11/5/2020</a:t>
            </a:fld>
            <a:endParaRPr lang="en-US"/>
          </a:p>
        </p:txBody>
      </p:sp>
      <p:sp>
        <p:nvSpPr>
          <p:cNvPr id="5" name="Footer Placeholder 4">
            <a:extLst>
              <a:ext uri="{FF2B5EF4-FFF2-40B4-BE49-F238E27FC236}">
                <a16:creationId xmlns:a16="http://schemas.microsoft.com/office/drawing/2014/main" id="{10E3DB9A-E3B1-4FF6-9A66-48239F6EA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EF47153-D358-457B-B056-363C65C4B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A40D38-7A47-4173-B37B-5C17588D541C}" type="slidenum">
              <a:rPr lang="en-US" smtClean="0"/>
              <a:t>‹#›</a:t>
            </a:fld>
            <a:endParaRPr lang="en-US"/>
          </a:p>
        </p:txBody>
      </p:sp>
    </p:spTree>
    <p:extLst>
      <p:ext uri="{BB962C8B-B14F-4D97-AF65-F5344CB8AC3E}">
        <p14:creationId xmlns:p14="http://schemas.microsoft.com/office/powerpoint/2010/main" val="2306136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569B4DD-A4FF-400E-8F5D-9DDB93AE0377}"/>
              </a:ext>
            </a:extLst>
          </p:cNvPr>
          <p:cNvSpPr>
            <a:spLocks noGrp="1"/>
          </p:cNvSpPr>
          <p:nvPr>
            <p:ph type="subTitle" idx="1"/>
          </p:nvPr>
        </p:nvSpPr>
        <p:spPr>
          <a:xfrm>
            <a:off x="1524000" y="2425148"/>
            <a:ext cx="9144000" cy="1444487"/>
          </a:xfrm>
        </p:spPr>
        <p:txBody>
          <a:bodyPr/>
          <a:lstStyle/>
          <a:p>
            <a:endParaRPr lang="en-US"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Topic :1   Official Correspondence</a:t>
            </a:r>
          </a:p>
        </p:txBody>
      </p:sp>
    </p:spTree>
    <p:extLst>
      <p:ext uri="{BB962C8B-B14F-4D97-AF65-F5344CB8AC3E}">
        <p14:creationId xmlns:p14="http://schemas.microsoft.com/office/powerpoint/2010/main" val="2829600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D38116-2E25-48C6-9C44-A29C90664A93}"/>
              </a:ext>
            </a:extLst>
          </p:cNvPr>
          <p:cNvSpPr>
            <a:spLocks noGrp="1"/>
          </p:cNvSpPr>
          <p:nvPr>
            <p:ph idx="1"/>
          </p:nvPr>
        </p:nvSpPr>
        <p:spPr>
          <a:xfrm>
            <a:off x="0" y="0"/>
            <a:ext cx="12192000" cy="6176963"/>
          </a:xfrm>
        </p:spPr>
        <p:txBody>
          <a:bodyPr/>
          <a:lstStyle/>
          <a:p>
            <a:pPr marL="0" indent="0">
              <a:buNone/>
            </a:pPr>
            <a:endParaRPr lang="en-US" sz="2400" dirty="0">
              <a:effectLst/>
              <a:latin typeface="Times New Roman" panose="02020603050405020304" pitchFamily="18" charset="0"/>
              <a:ea typeface="Calibri" panose="020F0502020204030204" pitchFamily="34" charset="0"/>
            </a:endParaRPr>
          </a:p>
          <a:p>
            <a:pPr marL="0" indent="0">
              <a:buNone/>
            </a:pPr>
            <a:r>
              <a:rPr lang="en-US" sz="2400" b="1" dirty="0">
                <a:effectLst/>
                <a:latin typeface="Times New Roman" panose="02020603050405020304" pitchFamily="18" charset="0"/>
                <a:ea typeface="Calibri" panose="020F0502020204030204" pitchFamily="34" charset="0"/>
              </a:rPr>
              <a:t>OFFICIAL CORRESPONDENCE</a:t>
            </a:r>
          </a:p>
          <a:p>
            <a:pPr marL="0" indent="0">
              <a:buNone/>
            </a:pPr>
            <a:endParaRPr lang="en-US" sz="20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rPr>
              <a:t>Official correspondence means the exchange of information in written form for business purposes. </a:t>
            </a:r>
          </a:p>
          <a:p>
            <a:pPr marL="0" indent="0" algn="just">
              <a:buNone/>
            </a:pPr>
            <a:endParaRPr lang="en-US" sz="24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rPr>
              <a:t>It usually takes place in two ways: between </a:t>
            </a:r>
            <a:r>
              <a:rPr lang="en-US" sz="2400" dirty="0" err="1">
                <a:effectLst/>
                <a:latin typeface="Times New Roman" panose="02020603050405020304" pitchFamily="18" charset="0"/>
                <a:ea typeface="Calibri" panose="020F0502020204030204" pitchFamily="34" charset="0"/>
              </a:rPr>
              <a:t>organisations</a:t>
            </a:r>
            <a:r>
              <a:rPr lang="en-US" sz="2400" dirty="0">
                <a:effectLst/>
                <a:latin typeface="Times New Roman" panose="02020603050405020304" pitchFamily="18" charset="0"/>
                <a:ea typeface="Calibri" panose="020F0502020204030204" pitchFamily="34" charset="0"/>
              </a:rPr>
              <a:t> and within organization. Sometimes it can also take place between an individual and an organization. </a:t>
            </a:r>
          </a:p>
          <a:p>
            <a:pPr marL="0" indent="0" algn="just">
              <a:buNone/>
            </a:pPr>
            <a:endParaRPr lang="en-US" sz="24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rPr>
              <a:t>As students pursuing higher education, it is </a:t>
            </a:r>
            <a:r>
              <a:rPr lang="en-US" sz="2400" dirty="0">
                <a:latin typeface="Times New Roman" panose="02020603050405020304" pitchFamily="18" charset="0"/>
                <a:ea typeface="Calibri" panose="020F0502020204030204" pitchFamily="34" charset="0"/>
              </a:rPr>
              <a:t>important</a:t>
            </a:r>
            <a:r>
              <a:rPr lang="en-US" sz="2400" dirty="0">
                <a:effectLst/>
                <a:latin typeface="Times New Roman" panose="02020603050405020304" pitchFamily="18" charset="0"/>
                <a:ea typeface="Calibri" panose="020F0502020204030204" pitchFamily="34" charset="0"/>
              </a:rPr>
              <a:t> that you study this topic because it will help you equip yourself with appropriate business communication skills such as writing letters and memoranda (memos).</a:t>
            </a:r>
          </a:p>
          <a:p>
            <a:pPr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Official correspondence has been divided into two: memos and business letters </a:t>
            </a:r>
          </a:p>
        </p:txBody>
      </p:sp>
    </p:spTree>
    <p:extLst>
      <p:ext uri="{BB962C8B-B14F-4D97-AF65-F5344CB8AC3E}">
        <p14:creationId xmlns:p14="http://schemas.microsoft.com/office/powerpoint/2010/main" val="2851181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02E30-744E-42BE-82B1-2845C1820FE2}"/>
              </a:ext>
            </a:extLst>
          </p:cNvPr>
          <p:cNvSpPr>
            <a:spLocks noGrp="1"/>
          </p:cNvSpPr>
          <p:nvPr>
            <p:ph idx="1"/>
          </p:nvPr>
        </p:nvSpPr>
        <p:spPr>
          <a:xfrm>
            <a:off x="0" y="0"/>
            <a:ext cx="12192000" cy="6858000"/>
          </a:xfrm>
        </p:spPr>
        <p:txBody>
          <a:bodyPr>
            <a:normAutofit lnSpcReduction="10000"/>
          </a:bodyPr>
          <a:lstStyle/>
          <a:p>
            <a:pPr marL="0" indent="0">
              <a:buNone/>
            </a:pPr>
            <a:r>
              <a:rPr lang="en-US" b="1" i="1" dirty="0">
                <a:latin typeface="Times New Roman" panose="02020603050405020304" pitchFamily="18" charset="0"/>
                <a:cs typeface="Times New Roman" panose="02020603050405020304" pitchFamily="18" charset="0"/>
              </a:rPr>
              <a:t>Memos</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memo is a short communication usually a single page, circulated/deployed within an organization or institution.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a formal reminder for something important that has occurred or will occur.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memo is used for communicating with someone within an organization i.e. memos are meant for internal communication. This is how they are differentiated from business letters.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Business letters are used for communicating with someone outside your organization. </a:t>
            </a:r>
          </a:p>
          <a:p>
            <a:pPr marL="0" indent="0" algn="just">
              <a:buNone/>
            </a:pPr>
            <a:r>
              <a:rPr lang="en-US" i="1" dirty="0">
                <a:latin typeface="Times New Roman" panose="02020603050405020304" pitchFamily="18" charset="0"/>
                <a:cs typeface="Times New Roman" panose="02020603050405020304" pitchFamily="18" charset="0"/>
              </a:rPr>
              <a:t>         For example, if the Registrar of Mzuzu University wants to communicate something with the Head of Communication Studies Department, he will write a memo, not a letter because he is communicating to someone who is within Mzuzu University. However, if he wishes to communicate something with Director of the National Council for Higher Education (NCHE), he will have to write a letter, not a memo because memos are meant for internal communication i.e. the Director of NCHE is outside Mzuzu University.</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993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340D2E-9804-4BC2-9D47-03A7ACA7A739}"/>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Functions of a memo</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Memos serve various functions. Among them are the following:</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)They may confirm in writing the results of oral communication and also to  </a:t>
            </a:r>
          </a:p>
          <a:p>
            <a:pPr marL="0" indent="0">
              <a:buNone/>
            </a:pPr>
            <a:r>
              <a:rPr lang="en-US" dirty="0">
                <a:latin typeface="Times New Roman" panose="02020603050405020304" pitchFamily="18" charset="0"/>
                <a:cs typeface="Times New Roman" panose="02020603050405020304" pitchFamily="18" charset="0"/>
              </a:rPr>
              <a:t>      provide some more details on the issues disclosed.</a:t>
            </a:r>
          </a:p>
          <a:p>
            <a:pPr marL="0" indent="0">
              <a:buNone/>
            </a:pPr>
            <a:r>
              <a:rPr lang="en-US" dirty="0">
                <a:latin typeface="Times New Roman" panose="02020603050405020304" pitchFamily="18" charset="0"/>
                <a:cs typeface="Times New Roman" panose="02020603050405020304" pitchFamily="18" charset="0"/>
              </a:rPr>
              <a:t>   ii)They may carry a formal request, reminder or suggestion.</a:t>
            </a:r>
          </a:p>
          <a:p>
            <a:pPr marL="0" indent="0">
              <a:buNone/>
            </a:pPr>
            <a:r>
              <a:rPr lang="en-US" dirty="0">
                <a:latin typeface="Times New Roman" panose="02020603050405020304" pitchFamily="18" charset="0"/>
                <a:cs typeface="Times New Roman" panose="02020603050405020304" pitchFamily="18" charset="0"/>
              </a:rPr>
              <a:t>   iii)They may notify employees of a change or development in an established </a:t>
            </a:r>
          </a:p>
          <a:p>
            <a:pPr marL="0" indent="0">
              <a:buNone/>
            </a:pPr>
            <a:r>
              <a:rPr lang="en-US" dirty="0">
                <a:latin typeface="Times New Roman" panose="02020603050405020304" pitchFamily="18" charset="0"/>
                <a:cs typeface="Times New Roman" panose="02020603050405020304" pitchFamily="18" charset="0"/>
              </a:rPr>
              <a:t>         course of action.</a:t>
            </a:r>
          </a:p>
          <a:p>
            <a:pPr marL="0" indent="0">
              <a:buNone/>
            </a:pPr>
            <a:r>
              <a:rPr lang="en-US" dirty="0">
                <a:latin typeface="Times New Roman" panose="02020603050405020304" pitchFamily="18" charset="0"/>
                <a:cs typeface="Times New Roman" panose="02020603050405020304" pitchFamily="18" charset="0"/>
              </a:rPr>
              <a:t>    iv)They may accompany and introduce documentations such as reports.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073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0E24CB-E1C7-4306-81C0-CBD41D37964D}"/>
              </a:ext>
            </a:extLst>
          </p:cNvPr>
          <p:cNvSpPr>
            <a:spLocks noGrp="1"/>
          </p:cNvSpPr>
          <p:nvPr>
            <p:ph idx="1"/>
          </p:nvPr>
        </p:nvSpPr>
        <p:spPr>
          <a:xfrm>
            <a:off x="0" y="1"/>
            <a:ext cx="11449050" cy="6858000"/>
          </a:xfrm>
        </p:spPr>
        <p:txBody>
          <a:bodyPr/>
          <a:lstStyle/>
          <a:p>
            <a:pPr marL="0" marR="0" indent="0" algn="just">
              <a:lnSpc>
                <a:spcPct val="150000"/>
              </a:lnSpc>
              <a:spcBef>
                <a:spcPts val="0"/>
              </a:spcBef>
              <a:spcAft>
                <a:spcPts val="1000"/>
              </a:spcAft>
              <a:buNone/>
            </a:pPr>
            <a:r>
              <a:rPr lang="en-US" b="1" i="1" dirty="0">
                <a:effectLst/>
                <a:latin typeface="Times New Roman" panose="02020603050405020304" pitchFamily="18" charset="0"/>
                <a:ea typeface="Calibri" panose="020F0502020204030204" pitchFamily="34" charset="0"/>
                <a:cs typeface="Times New Roman" panose="02020603050405020304" pitchFamily="18" charset="0"/>
              </a:rPr>
              <a:t>Parts of a Memo</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From:</a:t>
            </a:r>
            <a:r>
              <a:rPr lang="en-US" dirty="0">
                <a:effectLst/>
                <a:latin typeface="Times New Roman" panose="02020603050405020304" pitchFamily="18" charset="0"/>
                <a:ea typeface="Calibri" panose="020F0502020204030204" pitchFamily="34" charset="0"/>
                <a:cs typeface="Times New Roman" panose="02020603050405020304" pitchFamily="18" charset="0"/>
              </a:rPr>
              <a:t>      Position of a person or department sending the message.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To:           </a:t>
            </a:r>
            <a:r>
              <a:rPr lang="en-US" dirty="0">
                <a:effectLst/>
                <a:latin typeface="Times New Roman" panose="02020603050405020304" pitchFamily="18" charset="0"/>
                <a:ea typeface="Calibri" panose="020F0502020204030204" pitchFamily="34" charset="0"/>
                <a:cs typeface="Times New Roman" panose="02020603050405020304" pitchFamily="18" charset="0"/>
              </a:rPr>
              <a:t>Name of person or title or department to whom the message is sent.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Date:        </a:t>
            </a:r>
            <a:r>
              <a:rPr lang="en-US" dirty="0">
                <a:effectLst/>
                <a:latin typeface="Times New Roman" panose="02020603050405020304" pitchFamily="18" charset="0"/>
                <a:ea typeface="Calibri" panose="020F0502020204030204" pitchFamily="34" charset="0"/>
                <a:cs typeface="Times New Roman" panose="02020603050405020304" pitchFamily="18" charset="0"/>
              </a:rPr>
              <a:t>Day on which the memo is sent.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Subject:</a:t>
            </a:r>
            <a:r>
              <a:rPr lang="en-US" dirty="0">
                <a:effectLst/>
                <a:latin typeface="Times New Roman" panose="02020603050405020304" pitchFamily="18" charset="0"/>
                <a:ea typeface="Calibri" panose="020F0502020204030204" pitchFamily="34" charset="0"/>
                <a:cs typeface="Times New Roman" panose="02020603050405020304" pitchFamily="18" charset="0"/>
              </a:rPr>
              <a:t>    Brief phrase or sentence that tells what message is about.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Message:</a:t>
            </a:r>
            <a:r>
              <a:rPr lang="en-US" dirty="0">
                <a:effectLst/>
                <a:latin typeface="Times New Roman" panose="02020603050405020304" pitchFamily="18" charset="0"/>
                <a:ea typeface="Calibri" panose="020F0502020204030204" pitchFamily="34" charset="0"/>
                <a:cs typeface="Times New Roman" panose="02020603050405020304" pitchFamily="18" charset="0"/>
              </a:rPr>
              <a:t>  Details on the subject.</a:t>
            </a:r>
          </a:p>
          <a:p>
            <a:pPr marL="0" indent="0">
              <a:buNone/>
            </a:pPr>
            <a:endParaRPr lang="en-US" dirty="0">
              <a:effectLst/>
              <a:latin typeface="Times New Roman" panose="02020603050405020304" pitchFamily="18" charset="0"/>
              <a:ea typeface="Calibri" panose="020F0502020204030204" pitchFamily="34" charset="0"/>
            </a:endParaRP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476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91D868-A7EF-49D0-8609-AE7F6BCC4AC6}"/>
              </a:ext>
            </a:extLst>
          </p:cNvPr>
          <p:cNvSpPr>
            <a:spLocks noGrp="1"/>
          </p:cNvSpPr>
          <p:nvPr>
            <p:ph idx="1"/>
          </p:nvPr>
        </p:nvSpPr>
        <p:spPr>
          <a:xfrm>
            <a:off x="0" y="0"/>
            <a:ext cx="12192000" cy="6858000"/>
          </a:xfrm>
        </p:spPr>
        <p:txBody>
          <a:bodyPr>
            <a:normAutofit fontScale="92500" lnSpcReduction="10000"/>
          </a:bodyPr>
          <a:lstStyle/>
          <a:p>
            <a:pPr marL="0" marR="0" lvl="0" indent="0" algn="just">
              <a:lnSpc>
                <a:spcPct val="150000"/>
              </a:lnSpc>
              <a:spcBef>
                <a:spcPts val="0"/>
              </a:spcBef>
              <a:spcAft>
                <a:spcPts val="100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End of memo notations</a:t>
            </a:r>
            <a:endParaRPr lang="en-US" sz="2800" b="1" i="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Stands for ‘Copy’. It is written when you want to give a copy of a memo to another person other than the main recipient.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err="1">
                <a:effectLst/>
                <a:latin typeface="Times New Roman" panose="02020603050405020304" pitchFamily="18" charset="0"/>
                <a:ea typeface="Calibri" panose="020F0502020204030204" pitchFamily="34" charset="0"/>
                <a:cs typeface="Times New Roman" panose="02020603050405020304" pitchFamily="18" charset="0"/>
              </a:rPr>
              <a:t>Att’d</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Stands for ‘Attachment’. It is written when you attach a document to your memo e.g. a letter, a receipt, a report etc.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Enc:</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Stands for ‘Enclosure’. It is used when you have enclosed a document in an envelope together with your memo.</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800" b="1" dirty="0">
                <a:effectLst/>
                <a:latin typeface="Times New Roman" panose="02020603050405020304" pitchFamily="18" charset="0"/>
                <a:ea typeface="Calibri" panose="020F0502020204030204" pitchFamily="34" charset="0"/>
              </a:rPr>
              <a:t>B.C.:</a:t>
            </a:r>
            <a:r>
              <a:rPr lang="en-US" sz="2800" dirty="0">
                <a:effectLst/>
                <a:latin typeface="Times New Roman" panose="02020603050405020304" pitchFamily="18" charset="0"/>
                <a:ea typeface="Calibri" panose="020F0502020204030204" pitchFamily="34" charset="0"/>
              </a:rPr>
              <a:t> Stands for ‘Blind Copy’. It is used when you want to send a copy of your memo to another person or other persons but you do not want the main recipient to know that you have done so.</a:t>
            </a:r>
          </a:p>
          <a:p>
            <a:pPr marL="0" indent="0">
              <a:buNone/>
            </a:pPr>
            <a:endParaRPr lang="en-US" sz="2800" dirty="0">
              <a:latin typeface="Times New Roman" panose="02020603050405020304" pitchFamily="18" charset="0"/>
              <a:ea typeface="Calibri" panose="020F0502020204030204" pitchFamily="34" charset="0"/>
            </a:endParaRPr>
          </a:p>
          <a:p>
            <a:pPr marL="0" indent="0">
              <a:buNone/>
            </a:pPr>
            <a:r>
              <a:rPr lang="en-US" sz="2800" dirty="0">
                <a:effectLst/>
                <a:latin typeface="Times New Roman" panose="02020603050405020304" pitchFamily="18" charset="0"/>
                <a:ea typeface="Calibri" panose="020F0502020204030204" pitchFamily="34" charset="0"/>
              </a:rPr>
              <a:t>P/S: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Put BC followed by the name of the person receiving that copy. Alternatively use the notation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N.O.O.</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followed by the name of the person/persons receiving that copy. N.O.O. stands for ‘Not On Original’.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066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3654CD-92E3-4AA9-8DE2-4D3E91AA0465}"/>
              </a:ext>
            </a:extLst>
          </p:cNvPr>
          <p:cNvSpPr>
            <a:spLocks noGrp="1"/>
          </p:cNvSpPr>
          <p:nvPr>
            <p:ph idx="1"/>
          </p:nvPr>
        </p:nvSpPr>
        <p:spPr>
          <a:xfrm>
            <a:off x="0" y="0"/>
            <a:ext cx="11353800" cy="6858000"/>
          </a:xfrm>
        </p:spPr>
        <p:txBody>
          <a:bodyPr/>
          <a:lstStyle/>
          <a:p>
            <a:pPr>
              <a:buFont typeface="Wingdings" panose="05000000000000000000" pitchFamily="2" charset="2"/>
              <a:buChar char="v"/>
            </a:pPr>
            <a:endParaRPr lang="en-US" sz="1800" dirty="0">
              <a:effectLst/>
              <a:latin typeface="Times New Roman" panose="02020603050405020304" pitchFamily="18" charset="0"/>
              <a:ea typeface="Calibri" panose="020F0502020204030204" pitchFamily="34" charset="0"/>
            </a:endParaRPr>
          </a:p>
          <a:p>
            <a:pPr>
              <a:buFont typeface="Wingdings" panose="05000000000000000000" pitchFamily="2" charset="2"/>
              <a:buChar char="v"/>
            </a:pPr>
            <a:endParaRPr lang="en-US" sz="1800" dirty="0">
              <a:latin typeface="Times New Roman" panose="02020603050405020304" pitchFamily="18" charset="0"/>
              <a:ea typeface="Calibri" panose="020F0502020204030204" pitchFamily="34" charset="0"/>
            </a:endParaRPr>
          </a:p>
          <a:p>
            <a:pPr>
              <a:buFont typeface="Wingdings" panose="05000000000000000000" pitchFamily="2" charset="2"/>
              <a:buChar char="v"/>
            </a:pPr>
            <a:endParaRPr lang="en-US" sz="1800" dirty="0">
              <a:effectLst/>
              <a:latin typeface="Times New Roman" panose="02020603050405020304" pitchFamily="18" charset="0"/>
              <a:ea typeface="Calibri" panose="020F0502020204030204" pitchFamily="34" charset="0"/>
            </a:endParaRPr>
          </a:p>
          <a:p>
            <a:pPr algn="jus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rPr>
              <a:t>CC stands for Carbon Copy. In the past people were using carbon paper in order to make copies hence the use of CC. Today (in contemporary writing) we do not use carbon when making copies to other people, therefore the use of CC does not make sense.  </a:t>
            </a:r>
          </a:p>
          <a:p>
            <a:pPr algn="jus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rPr>
              <a:t>Thus  your are urged  to always use C regardless of whether you are making copies to one person or more, because C may stand for Copy or Copies. Despite the fact that CC looks popular, you need to know that it is old-fashioned.</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sz="2400" b="1" i="1" dirty="0">
                <a:latin typeface="Times New Roman" panose="02020603050405020304" pitchFamily="18" charset="0"/>
                <a:cs typeface="Times New Roman" panose="02020603050405020304" pitchFamily="18" charset="0"/>
              </a:rPr>
              <a:t>MEMO SAMPLES</a:t>
            </a:r>
          </a:p>
        </p:txBody>
      </p:sp>
    </p:spTree>
    <p:extLst>
      <p:ext uri="{BB962C8B-B14F-4D97-AF65-F5344CB8AC3E}">
        <p14:creationId xmlns:p14="http://schemas.microsoft.com/office/powerpoint/2010/main" val="810752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95E17C6-FCE4-49D4-A538-9D783CF23B9A}"/>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03314" y="935665"/>
            <a:ext cx="835469" cy="882502"/>
          </a:xfrm>
          <a:prstGeom prst="rect">
            <a:avLst/>
          </a:prstGeom>
          <a:noFill/>
        </p:spPr>
      </p:pic>
      <p:sp>
        <p:nvSpPr>
          <p:cNvPr id="6" name="TextBox 5">
            <a:extLst>
              <a:ext uri="{FF2B5EF4-FFF2-40B4-BE49-F238E27FC236}">
                <a16:creationId xmlns:a16="http://schemas.microsoft.com/office/drawing/2014/main" id="{51BF63E8-523F-4FF3-8AB0-D96780421F33}"/>
              </a:ext>
            </a:extLst>
          </p:cNvPr>
          <p:cNvSpPr txBox="1"/>
          <p:nvPr/>
        </p:nvSpPr>
        <p:spPr>
          <a:xfrm>
            <a:off x="3030279" y="1181109"/>
            <a:ext cx="6116379" cy="5730928"/>
          </a:xfrm>
          <a:prstGeom prst="rect">
            <a:avLst/>
          </a:prstGeom>
          <a:noFill/>
        </p:spPr>
        <p:txBody>
          <a:bodyPr wrap="square">
            <a:spAutoFit/>
          </a:bodyPr>
          <a:lstStyle/>
          <a:p>
            <a:pPr marL="0" marR="0">
              <a:lnSpc>
                <a:spcPct val="115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MZUZU UNIVERSITY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Faculty of Humanities and Social Sciences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Department of Communication Studies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i="1" dirty="0">
                <a:effectLst/>
                <a:latin typeface="Times New Roman" panose="02020603050405020304" pitchFamily="18" charset="0"/>
                <a:ea typeface="Calibri" panose="020F0502020204030204" pitchFamily="34" charset="0"/>
                <a:cs typeface="Times New Roman" panose="02020603050405020304" pitchFamily="18" charset="0"/>
              </a:rPr>
              <a:t>MEMO</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To		:	</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All Members of the Department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From		:	</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Head of Department</a:t>
            </a: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Date		:	</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20</a:t>
            </a:r>
            <a:r>
              <a:rPr lang="en-GB" sz="12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February, 2020</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1371600" marR="0" indent="-1371600">
              <a:lnSpc>
                <a:spcPct val="115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Subject                                  :	Away From Office</a:t>
            </a:r>
          </a:p>
          <a:p>
            <a:pPr marL="1371600" marR="0" indent="-1371600">
              <a:lnSpc>
                <a:spcPct val="115000"/>
              </a:lnSpc>
              <a:spcBef>
                <a:spcPts val="0"/>
              </a:spcBef>
              <a:spcAft>
                <a:spcPts val="0"/>
              </a:spcAft>
            </a:pPr>
            <a:endParaRPr lang="en-GB" sz="1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I write to inform you that I will be travelling to Blantyre this Friday, 21</a:t>
            </a:r>
            <a:r>
              <a:rPr lang="en-GB" sz="1200" baseline="30000" dirty="0">
                <a:effectLst/>
                <a:latin typeface="Times New Roman" panose="02020603050405020304" pitchFamily="18" charset="0"/>
                <a:ea typeface="Calibri" panose="020F0502020204030204" pitchFamily="34" charset="0"/>
                <a:cs typeface="Times New Roman" panose="02020603050405020304" pitchFamily="18" charset="0"/>
              </a:rPr>
              <a:t>st</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February, 2020 on official business. I am expected to be back on Thursday, 27</a:t>
            </a:r>
            <a:r>
              <a:rPr lang="en-GB" sz="12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February, 2020. Therefore, all issues requiring the attention of the Head of Department should be forwarded to Mrs Eliza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Kamatula</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She is in the new office block, room number 33.</a:t>
            </a:r>
          </a:p>
          <a:p>
            <a:pPr marL="0" marR="0" algn="just">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KHUMBO NEMWA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b="1" u="sng" dirty="0">
                <a:effectLst/>
                <a:latin typeface="Times New Roman" panose="02020603050405020304" pitchFamily="18" charset="0"/>
                <a:ea typeface="Calibri" panose="020F0502020204030204" pitchFamily="34" charset="0"/>
                <a:cs typeface="Times New Roman" panose="02020603050405020304" pitchFamily="18" charset="0"/>
              </a:rPr>
              <a:t>Distribution List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P.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Mtengo</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B.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Mwisa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E.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Kamatula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G. </a:t>
            </a:r>
            <a:r>
              <a:rPr lang="en-GB" sz="1200" dirty="0" err="1">
                <a:effectLst/>
                <a:latin typeface="Times New Roman" panose="02020603050405020304" pitchFamily="18" charset="0"/>
                <a:ea typeface="Calibri" panose="020F0502020204030204" pitchFamily="34" charset="0"/>
                <a:cs typeface="Times New Roman" panose="02020603050405020304" pitchFamily="18" charset="0"/>
              </a:rPr>
              <a:t>Nthewe</a:t>
            </a: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endParaRPr lang="en-GB" sz="1200" b="1" dirty="0">
              <a:latin typeface="Times New Roman" panose="02020603050405020304" pitchFamily="18" charset="0"/>
              <a:ea typeface="Calibri" panose="020F0502020204030204" pitchFamily="34" charset="0"/>
              <a:cs typeface="Times New Roman" panose="02020603050405020304" pitchFamily="18" charset="0"/>
            </a:endParaRPr>
          </a:p>
          <a:p>
            <a:pPr marL="1371600" marR="0" indent="-1371600">
              <a:lnSpc>
                <a:spcPct val="115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C: Dean of Humanities and Social Sciences </a:t>
            </a:r>
          </a:p>
        </p:txBody>
      </p:sp>
    </p:spTree>
    <p:extLst>
      <p:ext uri="{BB962C8B-B14F-4D97-AF65-F5344CB8AC3E}">
        <p14:creationId xmlns:p14="http://schemas.microsoft.com/office/powerpoint/2010/main" val="2310392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C80FA9C-0C83-4C9E-AD77-684DA922C049}"/>
              </a:ext>
            </a:extLst>
          </p:cNvPr>
          <p:cNvPicPr>
            <a:picLocks noGrp="1" noChangeAspect="1"/>
          </p:cNvPicPr>
          <p:nvPr>
            <p:ph idx="1"/>
          </p:nvPr>
        </p:nvPicPr>
        <p:blipFill>
          <a:blip r:embed="rId2"/>
          <a:stretch>
            <a:fillRect/>
          </a:stretch>
        </p:blipFill>
        <p:spPr>
          <a:xfrm>
            <a:off x="1733107" y="574159"/>
            <a:ext cx="786809" cy="861238"/>
          </a:xfrm>
          <a:prstGeom prst="rect">
            <a:avLst/>
          </a:prstGeom>
        </p:spPr>
      </p:pic>
      <p:sp>
        <p:nvSpPr>
          <p:cNvPr id="6" name="TextBox 5">
            <a:extLst>
              <a:ext uri="{FF2B5EF4-FFF2-40B4-BE49-F238E27FC236}">
                <a16:creationId xmlns:a16="http://schemas.microsoft.com/office/drawing/2014/main" id="{A422E38F-E8FE-4260-A9D5-3B604178468B}"/>
              </a:ext>
            </a:extLst>
          </p:cNvPr>
          <p:cNvSpPr txBox="1"/>
          <p:nvPr/>
        </p:nvSpPr>
        <p:spPr>
          <a:xfrm>
            <a:off x="2519916" y="574159"/>
            <a:ext cx="5039833" cy="6524863"/>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MZUZU UNIVERSITY</a:t>
            </a:r>
          </a:p>
          <a:p>
            <a:r>
              <a:rPr lang="en-US" sz="1400" dirty="0">
                <a:latin typeface="Times New Roman" panose="02020603050405020304" pitchFamily="18" charset="0"/>
                <a:cs typeface="Times New Roman" panose="02020603050405020304" pitchFamily="18" charset="0"/>
              </a:rPr>
              <a:t>Faculty of Humanities and Social Sciences</a:t>
            </a:r>
          </a:p>
          <a:p>
            <a:r>
              <a:rPr lang="en-US" sz="1400" dirty="0">
                <a:latin typeface="Times New Roman" panose="02020603050405020304" pitchFamily="18" charset="0"/>
                <a:cs typeface="Times New Roman" panose="02020603050405020304" pitchFamily="18" charset="0"/>
              </a:rPr>
              <a:t>Department of Communication Studies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MEMO</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To		:Assistant Registrar, Academics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From		:	Head of Department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Date		:	20th February, 2020</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Subject                             :	Request for Examination Rooms</a:t>
            </a:r>
          </a:p>
          <a:p>
            <a:endParaRPr lang="en-US" sz="1400" u="sng" dirty="0">
              <a:latin typeface="Times New Roman" panose="02020603050405020304" pitchFamily="18" charset="0"/>
              <a:cs typeface="Times New Roman" panose="02020603050405020304" pitchFamily="18" charset="0"/>
            </a:endParaRPr>
          </a:p>
          <a:p>
            <a:endParaRPr lang="en-US" sz="1400" u="sng"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Department will be administering mid-semester examinations for all level one students on Friday, 25th February 2020. I therefore write to request you to make Rooms N, O, P, Q and R available for this exercise.</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I shall be looking forward to your usual support.</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KHUMBO NEMWA</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 University Registrar </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437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A384C7-32A8-4109-9BFC-6CD4F88A9C4C}"/>
              </a:ext>
            </a:extLst>
          </p:cNvPr>
          <p:cNvSpPr>
            <a:spLocks noGrp="1"/>
          </p:cNvSpPr>
          <p:nvPr>
            <p:ph idx="1"/>
          </p:nvPr>
        </p:nvSpPr>
        <p:spPr>
          <a:xfrm>
            <a:off x="0" y="0"/>
            <a:ext cx="12192000" cy="6858000"/>
          </a:xfrm>
        </p:spPr>
        <p:txBody>
          <a:bodyPr>
            <a:normAutofit fontScale="55000" lnSpcReduction="20000"/>
          </a:bodyPr>
          <a:lstStyle/>
          <a:p>
            <a:pPr marL="0" indent="0">
              <a:lnSpc>
                <a:spcPct val="120000"/>
              </a:lnSpc>
              <a:buNone/>
            </a:pPr>
            <a:r>
              <a:rPr lang="en-US" sz="1500" b="1" i="1" dirty="0">
                <a:latin typeface="Times New Roman" panose="02020603050405020304" pitchFamily="18" charset="0"/>
                <a:cs typeface="Times New Roman" panose="02020603050405020304" pitchFamily="18" charset="0"/>
              </a:rPr>
              <a:t>MEMO</a:t>
            </a:r>
          </a:p>
          <a:p>
            <a:pPr marL="0" indent="0">
              <a:lnSpc>
                <a:spcPct val="120000"/>
              </a:lnSpc>
              <a:buNone/>
            </a:pPr>
            <a:endParaRPr lang="en-US" sz="13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To		:	University Registrar</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From		:	As below</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Date		:	20th February, 2020</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1900" dirty="0">
                <a:latin typeface="Times New Roman" panose="02020603050405020304" pitchFamily="18" charset="0"/>
                <a:cs typeface="Times New Roman" panose="02020603050405020304" pitchFamily="18" charset="0"/>
              </a:rPr>
              <a:t>Subject                                             :                       REQUEST TO WITHDRAW FROM THE UNIVERSITY</a:t>
            </a:r>
          </a:p>
          <a:p>
            <a:pPr marL="0" indent="0">
              <a:lnSpc>
                <a:spcPct val="120000"/>
              </a:lnSpc>
              <a:buNone/>
            </a:pPr>
            <a:endParaRPr lang="en-US" sz="1900" dirty="0">
              <a:latin typeface="Times New Roman" panose="02020603050405020304" pitchFamily="18" charset="0"/>
              <a:cs typeface="Times New Roman" panose="02020603050405020304" pitchFamily="18" charset="0"/>
            </a:endParaRPr>
          </a:p>
          <a:p>
            <a:pPr marL="0" indent="0">
              <a:lnSpc>
                <a:spcPct val="120000"/>
              </a:lnSpc>
              <a:buNone/>
            </a:pPr>
            <a:r>
              <a:rPr lang="en-US" sz="2500" dirty="0">
                <a:latin typeface="Times New Roman" panose="02020603050405020304" pitchFamily="18" charset="0"/>
                <a:cs typeface="Times New Roman" panose="02020603050405020304" pitchFamily="18" charset="0"/>
              </a:rPr>
              <a:t>I am a level 3 student doing Bachelor of Science (Optometry). I would like to request you that I should be allowed to withdraw from the university on health grounds. I have been in hospital for the last 2 months due to liver problem and the doctor says I will remain there for the next 3 months. I have attached details on the doctor’s recommendations.</a:t>
            </a:r>
          </a:p>
          <a:p>
            <a:pPr marL="0" indent="0">
              <a:lnSpc>
                <a:spcPct val="120000"/>
              </a:lnSpc>
              <a:buNone/>
            </a:pPr>
            <a:r>
              <a:rPr lang="en-US" sz="2500" dirty="0">
                <a:latin typeface="Times New Roman" panose="02020603050405020304" pitchFamily="18" charset="0"/>
                <a:cs typeface="Times New Roman" panose="02020603050405020304" pitchFamily="18" charset="0"/>
              </a:rPr>
              <a:t>If all goes well, I intend to re-join the university in the next academic year. </a:t>
            </a:r>
          </a:p>
          <a:p>
            <a:pPr marL="0" indent="0">
              <a:lnSpc>
                <a:spcPct val="120000"/>
              </a:lnSpc>
              <a:buNone/>
            </a:pPr>
            <a:r>
              <a:rPr lang="en-US" sz="2500" dirty="0">
                <a:latin typeface="Times New Roman" panose="02020603050405020304" pitchFamily="18" charset="0"/>
                <a:cs typeface="Times New Roman" panose="02020603050405020304" pitchFamily="18" charset="0"/>
              </a:rPr>
              <a:t>I look forward to hearing from you soon. </a:t>
            </a:r>
          </a:p>
          <a:p>
            <a:pPr marL="0" indent="0">
              <a:lnSpc>
                <a:spcPct val="120000"/>
              </a:lnSpc>
              <a:buNone/>
            </a:pPr>
            <a:r>
              <a:rPr lang="en-US" sz="2500" dirty="0">
                <a:latin typeface="Times New Roman" panose="02020603050405020304" pitchFamily="18" charset="0"/>
                <a:cs typeface="Times New Roman" panose="02020603050405020304" pitchFamily="18" charset="0"/>
              </a:rPr>
              <a:t> </a:t>
            </a:r>
          </a:p>
          <a:p>
            <a:pPr marL="0" indent="0">
              <a:lnSpc>
                <a:spcPct val="120000"/>
              </a:lnSpc>
              <a:buNone/>
            </a:pPr>
            <a:r>
              <a:rPr lang="en-US" sz="2500" dirty="0">
                <a:latin typeface="Times New Roman" panose="02020603050405020304" pitchFamily="18" charset="0"/>
                <a:cs typeface="Times New Roman" panose="02020603050405020304" pitchFamily="18" charset="0"/>
              </a:rPr>
              <a:t>Mervin </a:t>
            </a:r>
            <a:r>
              <a:rPr lang="en-US" sz="2500" dirty="0" err="1">
                <a:latin typeface="Times New Roman" panose="02020603050405020304" pitchFamily="18" charset="0"/>
                <a:cs typeface="Times New Roman" panose="02020603050405020304" pitchFamily="18" charset="0"/>
              </a:rPr>
              <a:t>Thope</a:t>
            </a:r>
            <a:r>
              <a:rPr lang="en-US" sz="2500" dirty="0">
                <a:latin typeface="Times New Roman" panose="02020603050405020304" pitchFamily="18" charset="0"/>
                <a:cs typeface="Times New Roman" panose="02020603050405020304" pitchFamily="18" charset="0"/>
              </a:rPr>
              <a:t> </a:t>
            </a:r>
          </a:p>
          <a:p>
            <a:pPr marL="0" indent="0">
              <a:lnSpc>
                <a:spcPct val="120000"/>
              </a:lnSpc>
              <a:buNone/>
            </a:pPr>
            <a:r>
              <a:rPr lang="en-US" sz="2500" dirty="0">
                <a:latin typeface="Times New Roman" panose="02020603050405020304" pitchFamily="18" charset="0"/>
                <a:cs typeface="Times New Roman" panose="02020603050405020304" pitchFamily="18" charset="0"/>
              </a:rPr>
              <a:t>BSOPT9818</a:t>
            </a:r>
          </a:p>
          <a:p>
            <a:pPr marL="0" indent="0">
              <a:lnSpc>
                <a:spcPct val="120000"/>
              </a:lnSpc>
              <a:buNone/>
            </a:pPr>
            <a:endParaRPr lang="en-US" sz="2500" dirty="0">
              <a:latin typeface="Times New Roman" panose="02020603050405020304" pitchFamily="18" charset="0"/>
              <a:cs typeface="Times New Roman" panose="02020603050405020304" pitchFamily="18" charset="0"/>
            </a:endParaRPr>
          </a:p>
          <a:p>
            <a:pPr marL="0" indent="0">
              <a:lnSpc>
                <a:spcPct val="120000"/>
              </a:lnSpc>
              <a:buNone/>
            </a:pPr>
            <a:r>
              <a:rPr lang="en-US" sz="2500" dirty="0">
                <a:latin typeface="Times New Roman" panose="02020603050405020304" pitchFamily="18" charset="0"/>
                <a:cs typeface="Times New Roman" panose="02020603050405020304" pitchFamily="18" charset="0"/>
              </a:rPr>
              <a:t>C: Dean of Health Sciences</a:t>
            </a:r>
          </a:p>
          <a:p>
            <a:pPr marL="0" indent="0">
              <a:lnSpc>
                <a:spcPct val="120000"/>
              </a:lnSpc>
              <a:buNone/>
            </a:pPr>
            <a:r>
              <a:rPr lang="en-US" sz="2500" dirty="0">
                <a:latin typeface="Times New Roman" panose="02020603050405020304" pitchFamily="18" charset="0"/>
                <a:cs typeface="Times New Roman" panose="02020603050405020304" pitchFamily="18" charset="0"/>
              </a:rPr>
              <a:t>     Dean of Students</a:t>
            </a:r>
          </a:p>
          <a:p>
            <a:pPr marL="0" indent="0">
              <a:lnSpc>
                <a:spcPct val="120000"/>
              </a:lnSpc>
              <a:buNone/>
            </a:pPr>
            <a:r>
              <a:rPr lang="en-US" sz="2500" dirty="0">
                <a:latin typeface="Times New Roman" panose="02020603050405020304" pitchFamily="18" charset="0"/>
                <a:cs typeface="Times New Roman" panose="02020603050405020304" pitchFamily="18" charset="0"/>
              </a:rPr>
              <a:t>     Head of Optometry Department </a:t>
            </a:r>
          </a:p>
          <a:p>
            <a:pPr marL="0" indent="0">
              <a:lnSpc>
                <a:spcPct val="120000"/>
              </a:lnSpc>
              <a:buNone/>
            </a:pPr>
            <a:r>
              <a:rPr lang="en-US" sz="2500" dirty="0">
                <a:latin typeface="Times New Roman" panose="02020603050405020304" pitchFamily="18" charset="0"/>
                <a:cs typeface="Times New Roman" panose="02020603050405020304" pitchFamily="18" charset="0"/>
              </a:rPr>
              <a:t>     </a:t>
            </a: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253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156A62-3547-4793-AA99-3BCAFF311296}"/>
              </a:ext>
            </a:extLst>
          </p:cNvPr>
          <p:cNvSpPr>
            <a:spLocks noGrp="1"/>
          </p:cNvSpPr>
          <p:nvPr>
            <p:ph idx="1"/>
          </p:nvPr>
        </p:nvSpPr>
        <p:spPr>
          <a:xfrm>
            <a:off x="0" y="0"/>
            <a:ext cx="12192000" cy="6858000"/>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NOTE: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You might have heard about the term circular. This is also an example of official correspondence in which a common matter to a large number of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departments or agencies is communicated.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Malawi circulars are very common in government. For example, the Ministry of Education may write a circular to all Secondary and Primary School Head Teachers, Education Division Managers, Teachers Union of Malawi and all other stakeholders informing them about a change in the opening date of a school term. </a:t>
            </a:r>
          </a:p>
          <a:p>
            <a:pPr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marR="0" indent="0">
              <a:lnSpc>
                <a:spcPct val="115000"/>
              </a:lnSpc>
              <a:spcBef>
                <a:spcPts val="0"/>
              </a:spcBef>
              <a:spcAft>
                <a:spcPts val="1000"/>
              </a:spcAft>
              <a:buNone/>
            </a:pPr>
            <a:r>
              <a:rPr lang="en-US" sz="2400" b="1" i="1" dirty="0">
                <a:effectLst/>
                <a:latin typeface="Times New Roman" panose="02020603050405020304" pitchFamily="18" charset="0"/>
                <a:ea typeface="Calibri" panose="020F0502020204030204" pitchFamily="34" charset="0"/>
                <a:cs typeface="Times New Roman" panose="02020603050405020304" pitchFamily="18" charset="0"/>
              </a:rPr>
              <a:t>Business Letters</a:t>
            </a:r>
            <a:endParaRPr lang="en-US" sz="2400" i="1" dirty="0">
              <a:effectLst/>
              <a:latin typeface="Calibri" panose="020F0502020204030204" pitchFamily="34" charset="0"/>
              <a:ea typeface="Calibri" panose="020F0502020204030204" pitchFamily="34" charset="0"/>
              <a:cs typeface="Times New Roman" panose="02020603050405020304" pitchFamily="18" charset="0"/>
            </a:endParaRPr>
          </a:p>
          <a:p>
            <a:pPr marL="514350" marR="0" indent="-28575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Business letters represent you or your company/institution. For example, if the Registrar is writing a letter to the Ministry of Education, he is writing on behalf of Mzuzu University and on his own behalf</a:t>
            </a:r>
          </a:p>
          <a:p>
            <a:pPr marL="0" indent="0" algn="just">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0569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AC5C33-3706-4DE2-8003-B69127C84D8F}"/>
              </a:ext>
            </a:extLst>
          </p:cNvPr>
          <p:cNvSpPr>
            <a:spLocks noGrp="1"/>
          </p:cNvSpPr>
          <p:nvPr>
            <p:ph idx="1"/>
          </p:nvPr>
        </p:nvSpPr>
        <p:spPr>
          <a:xfrm>
            <a:off x="0" y="0"/>
            <a:ext cx="12192000" cy="6858000"/>
          </a:xfrm>
        </p:spPr>
        <p:txBody>
          <a:bodyPr>
            <a:normAutofit fontScale="92500" lnSpcReduction="10000"/>
          </a:bodyPr>
          <a:lstStyle/>
          <a:p>
            <a:pPr marR="0" indent="0" algn="just">
              <a:lnSpc>
                <a:spcPct val="150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Differences between a memo and a business letter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i</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 memo does not include addresses while a letter does.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ii)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 memo does not include a salutation (e.g. Dear Sir) while a letter does.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iii) A memo does not include a complimentary close or valediction (e.g. Yours faithfully) while a letter </a:t>
            </a:r>
          </a:p>
          <a:p>
            <a:pPr marL="0" marR="0" lvl="0" indent="0" algn="just">
              <a:lnSpc>
                <a:spcPct val="150000"/>
              </a:lnSpc>
              <a:spcBef>
                <a:spcPts val="0"/>
              </a:spcBef>
              <a:spcAft>
                <a:spcPts val="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does.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iv)A memo is meant for internal communication while a letter is meant for external communication.</a:t>
            </a:r>
          </a:p>
          <a:p>
            <a:pPr marL="0" marR="0" lvl="0" indent="0" algn="just">
              <a:lnSpc>
                <a:spcPct val="150000"/>
              </a:lnSpc>
              <a:spcBef>
                <a:spcPts val="0"/>
              </a:spcBef>
              <a:spcAft>
                <a:spcPts val="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Qualities of good business letters</a:t>
            </a:r>
          </a:p>
          <a:p>
            <a:pPr marR="0" indent="0" algn="just">
              <a:lnSpc>
                <a:spcPct val="150000"/>
              </a:lnSpc>
              <a:spcBef>
                <a:spcPts val="0"/>
              </a:spcBef>
              <a:spcAft>
                <a:spcPts val="1000"/>
              </a:spcAft>
              <a:buNone/>
            </a:pPr>
            <a:r>
              <a:rPr lang="en-US" sz="2400" dirty="0" err="1">
                <a:latin typeface="Times New Roman" panose="02020603050405020304" pitchFamily="18" charset="0"/>
                <a:ea typeface="Calibri" panose="020F0502020204030204" pitchFamily="34" charset="0"/>
                <a:cs typeface="Times New Roman" panose="02020603050405020304" pitchFamily="18" charset="0"/>
              </a:rPr>
              <a:t>i</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They do not contain slang. Slang are words which are not part of our standard vocabulary e.g. mum, dad,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wanna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gonna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babe, guys, dude etc. All these must be written using standard vocabulary e.g. write ‘mother’ instead of ‘mum’, </a:t>
            </a:r>
            <a:r>
              <a:rPr lang="en-US" sz="2400" i="1" dirty="0">
                <a:effectLst/>
                <a:latin typeface="Times New Roman" panose="02020603050405020304" pitchFamily="18" charset="0"/>
                <a:ea typeface="Calibri" panose="020F0502020204030204" pitchFamily="34" charset="0"/>
                <a:cs typeface="Times New Roman" panose="02020603050405020304" pitchFamily="18" charset="0"/>
              </a:rPr>
              <a:t>want</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to instead of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wanna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i="1" dirty="0">
                <a:effectLst/>
                <a:latin typeface="Times New Roman" panose="02020603050405020304" pitchFamily="18" charset="0"/>
                <a:ea typeface="Calibri" panose="020F0502020204030204" pitchFamily="34" charset="0"/>
                <a:cs typeface="Times New Roman" panose="02020603050405020304" pitchFamily="18" charset="0"/>
              </a:rPr>
              <a:t>going to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instead of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gonna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p>
          <a:p>
            <a:pPr marR="0" indent="0" algn="just">
              <a:lnSpc>
                <a:spcPct val="150000"/>
              </a:lnSpc>
              <a:spcBef>
                <a:spcPts val="0"/>
              </a:spcBef>
              <a:spcAft>
                <a:spcPts val="100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ii)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They are formal and not chatty – no casual expressions. In other words do not write a business letter as if you were writing a friendly letter.</a:t>
            </a:r>
          </a:p>
          <a:p>
            <a:pPr marR="0" indent="0" algn="just">
              <a:lnSpc>
                <a:spcPct val="150000"/>
              </a:lnSpc>
              <a:spcBef>
                <a:spcPts val="0"/>
              </a:spcBef>
              <a:spcAft>
                <a:spcPts val="10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2833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B68791-8204-4781-B3D7-77AE66CE725E}"/>
              </a:ext>
            </a:extLst>
          </p:cNvPr>
          <p:cNvSpPr>
            <a:spLocks noGrp="1"/>
          </p:cNvSpPr>
          <p:nvPr>
            <p:ph idx="1"/>
          </p:nvPr>
        </p:nvSpPr>
        <p:spPr>
          <a:xfrm>
            <a:off x="0" y="0"/>
            <a:ext cx="11353800" cy="6858000"/>
          </a:xfrm>
        </p:spPr>
        <p:txBody>
          <a:bodyPr/>
          <a:lstStyle/>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iii) They do not contain clichés. Clichés are expressions which have lost their meaning because of overuse e.g. last but not least. They are no longer interesting because everyone wants to use them. It is not wrong to use them, but they are boring.</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iv) They are courteous. They express displeasure or register complaints without making enemies. Words are chosen carefully. They aim for positive results, so they avoid annoying intended recipients .</a:t>
            </a:r>
          </a:p>
          <a:p>
            <a:pPr marL="0" indent="0">
              <a:buNone/>
            </a:pPr>
            <a:endParaRPr lang="en-US" dirty="0">
              <a:latin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1000"/>
              </a:spcAft>
              <a:buFont typeface="Calibri" panose="020F0502020204030204" pitchFamily="34" charset="0"/>
              <a:buChar char="-"/>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Hint: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filing/saving types of letters you write most frequently will save you time as next time you write may need  to just edit an existing letter to fit particular needs instead of composing an entirely new one.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189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DA8395-DCAB-4E08-933C-7C8204C79E79}"/>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Parts of a business letter</a:t>
            </a: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Senders address (heading if using letter head):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A letter head is the printed heading on a paper giving the sender’s name or address.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When writing addresses, there are two ways you can use in presenting the items. You can use the ‘closed punctuation rule’ (where all items are punctuated) or the ‘open punctuation rule’ (where all items are not punctuated).</a:t>
            </a:r>
          </a:p>
          <a:p>
            <a:pPr marL="0" indent="0">
              <a:buNone/>
            </a:pPr>
            <a:r>
              <a:rPr lang="en-US" b="1" i="1" dirty="0">
                <a:latin typeface="Times New Roman" panose="02020603050405020304" pitchFamily="18" charset="0"/>
                <a:cs typeface="Times New Roman" panose="02020603050405020304" pitchFamily="18" charset="0"/>
              </a:rPr>
              <a:t>     Dos and don’ts when writing</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Do not write your address in slanting manner.</a:t>
            </a:r>
          </a:p>
          <a:p>
            <a:pPr marL="0" indent="0">
              <a:buNone/>
            </a:pPr>
            <a:r>
              <a:rPr lang="en-US" dirty="0">
                <a:latin typeface="Times New Roman" panose="02020603050405020304" pitchFamily="18" charset="0"/>
                <a:cs typeface="Times New Roman" panose="02020603050405020304" pitchFamily="18" charset="0"/>
              </a:rPr>
              <a:t>      ii)  Place it in upper right corner of the letter.</a:t>
            </a:r>
          </a:p>
          <a:p>
            <a:pPr marL="0" indent="0">
              <a:buNone/>
            </a:pPr>
            <a:r>
              <a:rPr lang="en-US" dirty="0">
                <a:latin typeface="Times New Roman" panose="02020603050405020304" pitchFamily="18" charset="0"/>
                <a:cs typeface="Times New Roman" panose="02020603050405020304" pitchFamily="18" charset="0"/>
              </a:rPr>
              <a:t>      iii) Never use abbreviations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Dpt.</a:t>
            </a:r>
          </a:p>
          <a:p>
            <a:pPr marL="0" indent="0">
              <a:buNone/>
            </a:pPr>
            <a:r>
              <a:rPr lang="en-US" dirty="0">
                <a:latin typeface="Times New Roman" panose="02020603050405020304" pitchFamily="18" charset="0"/>
                <a:cs typeface="Times New Roman" panose="02020603050405020304" pitchFamily="18" charset="0"/>
              </a:rPr>
              <a:t>      iv) When you are writing on a headed paper, do not include the senders address </a:t>
            </a:r>
          </a:p>
          <a:p>
            <a:pPr marL="0" indent="0">
              <a:buNone/>
            </a:pPr>
            <a:r>
              <a:rPr lang="en-US" dirty="0">
                <a:latin typeface="Times New Roman" panose="02020603050405020304" pitchFamily="18" charset="0"/>
                <a:cs typeface="Times New Roman" panose="02020603050405020304" pitchFamily="18" charset="0"/>
              </a:rPr>
              <a:t>           because such details are already contained in the letterhead. (See sample of a  </a:t>
            </a:r>
          </a:p>
          <a:p>
            <a:pPr marL="0" indent="0">
              <a:buNone/>
            </a:pPr>
            <a:r>
              <a:rPr lang="en-US" dirty="0">
                <a:latin typeface="Times New Roman" panose="02020603050405020304" pitchFamily="18" charset="0"/>
                <a:cs typeface="Times New Roman" panose="02020603050405020304" pitchFamily="18" charset="0"/>
              </a:rPr>
              <a:t>          letter below).</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066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555DE6C-C295-4646-BCCA-08992A5B90E8}"/>
              </a:ext>
            </a:extLst>
          </p:cNvPr>
          <p:cNvGraphicFramePr>
            <a:graphicFrameLocks noGrp="1"/>
          </p:cNvGraphicFramePr>
          <p:nvPr>
            <p:ph idx="1"/>
            <p:extLst>
              <p:ext uri="{D42A27DB-BD31-4B8C-83A1-F6EECF244321}">
                <p14:modId xmlns:p14="http://schemas.microsoft.com/office/powerpoint/2010/main" val="3745241243"/>
              </p:ext>
            </p:extLst>
          </p:nvPr>
        </p:nvGraphicFramePr>
        <p:xfrm>
          <a:off x="0" y="0"/>
          <a:ext cx="12192000" cy="6858000"/>
        </p:xfrm>
        <a:graphic>
          <a:graphicData uri="http://schemas.openxmlformats.org/drawingml/2006/table">
            <a:tbl>
              <a:tblPr firstRow="1" firstCol="1" bandRow="1">
                <a:tableStyleId>{5C22544A-7EE6-4342-B048-85BDC9FD1C3A}</a:tableStyleId>
              </a:tblPr>
              <a:tblGrid>
                <a:gridCol w="6191250">
                  <a:extLst>
                    <a:ext uri="{9D8B030D-6E8A-4147-A177-3AD203B41FA5}">
                      <a16:colId xmlns:a16="http://schemas.microsoft.com/office/drawing/2014/main" val="211600624"/>
                    </a:ext>
                  </a:extLst>
                </a:gridCol>
                <a:gridCol w="6000750">
                  <a:extLst>
                    <a:ext uri="{9D8B030D-6E8A-4147-A177-3AD203B41FA5}">
                      <a16:colId xmlns:a16="http://schemas.microsoft.com/office/drawing/2014/main" val="255632481"/>
                    </a:ext>
                  </a:extLst>
                </a:gridCol>
              </a:tblGrid>
              <a:tr h="1322238">
                <a:tc>
                  <a:txBody>
                    <a:bodyPr/>
                    <a:lstStyle/>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Open Puctuation Rule</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Closed Punctuation Rule</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4121272"/>
                  </a:ext>
                </a:extLst>
              </a:tr>
              <a:tr h="5535762">
                <a:tc>
                  <a:txBody>
                    <a:bodyPr/>
                    <a:lstStyle/>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Mzuzu University</a:t>
                      </a:r>
                    </a:p>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Private Bag 201</a:t>
                      </a:r>
                    </a:p>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Luwinga</a:t>
                      </a:r>
                    </a:p>
                    <a:p>
                      <a:pPr marL="0" marR="0">
                        <a:lnSpc>
                          <a:spcPct val="115000"/>
                        </a:lnSpc>
                        <a:spcBef>
                          <a:spcPts val="0"/>
                        </a:spcBef>
                        <a:spcAft>
                          <a:spcPts val="0"/>
                        </a:spcAft>
                      </a:pPr>
                      <a:r>
                        <a:rPr lang="en-US" sz="2800">
                          <a:effectLst/>
                          <a:latin typeface="Times New Roman" panose="02020603050405020304" pitchFamily="18" charset="0"/>
                          <a:cs typeface="Times New Roman" panose="02020603050405020304" pitchFamily="18" charset="0"/>
                        </a:rPr>
                        <a:t>Mzuzu</a:t>
                      </a:r>
                      <a:endParaRPr lang="en-US"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Mzuzu University,</a:t>
                      </a:r>
                    </a:p>
                    <a:p>
                      <a:pPr marL="0" marR="0">
                        <a:lnSpc>
                          <a:spcPct val="115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Private Bag 201,</a:t>
                      </a:r>
                    </a:p>
                    <a:p>
                      <a:pPr marL="0" marR="0">
                        <a:lnSpc>
                          <a:spcPct val="115000"/>
                        </a:lnSpc>
                        <a:spcBef>
                          <a:spcPts val="0"/>
                        </a:spcBef>
                        <a:spcAft>
                          <a:spcPts val="0"/>
                        </a:spcAft>
                      </a:pPr>
                      <a:r>
                        <a:rPr lang="en-US" sz="2800" dirty="0" err="1">
                          <a:effectLst/>
                          <a:latin typeface="Times New Roman" panose="02020603050405020304" pitchFamily="18" charset="0"/>
                          <a:cs typeface="Times New Roman" panose="02020603050405020304" pitchFamily="18" charset="0"/>
                        </a:rPr>
                        <a:t>Luwinga</a:t>
                      </a:r>
                      <a:r>
                        <a:rPr lang="en-US" sz="2800" dirty="0">
                          <a:effectLst/>
                          <a:latin typeface="Times New Roman" panose="02020603050405020304" pitchFamily="18" charset="0"/>
                          <a:cs typeface="Times New Roman" panose="02020603050405020304" pitchFamily="18" charset="0"/>
                        </a:rPr>
                        <a:t>,</a:t>
                      </a:r>
                    </a:p>
                    <a:p>
                      <a:pPr marL="0" marR="0">
                        <a:lnSpc>
                          <a:spcPct val="115000"/>
                        </a:lnSpc>
                        <a:spcBef>
                          <a:spcPts val="0"/>
                        </a:spcBef>
                        <a:spcAft>
                          <a:spcPts val="0"/>
                        </a:spcAft>
                      </a:pPr>
                      <a:r>
                        <a:rPr lang="en-US" sz="2800" dirty="0">
                          <a:effectLst/>
                          <a:latin typeface="Times New Roman" panose="02020603050405020304" pitchFamily="18" charset="0"/>
                          <a:cs typeface="Times New Roman" panose="02020603050405020304" pitchFamily="18" charset="0"/>
                        </a:rPr>
                        <a:t>Mzuzu.</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7276587"/>
                  </a:ext>
                </a:extLst>
              </a:tr>
            </a:tbl>
          </a:graphicData>
        </a:graphic>
      </p:graphicFrame>
    </p:spTree>
    <p:extLst>
      <p:ext uri="{BB962C8B-B14F-4D97-AF65-F5344CB8AC3E}">
        <p14:creationId xmlns:p14="http://schemas.microsoft.com/office/powerpoint/2010/main" val="2236273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461267-8EA4-4E52-B753-93AEA2386013}"/>
              </a:ext>
            </a:extLst>
          </p:cNvPr>
          <p:cNvSpPr>
            <a:spLocks noGrp="1"/>
          </p:cNvSpPr>
          <p:nvPr>
            <p:ph idx="1"/>
          </p:nvPr>
        </p:nvSpPr>
        <p:spPr>
          <a:xfrm>
            <a:off x="0" y="0"/>
            <a:ext cx="11353800" cy="7262037"/>
          </a:xfrm>
        </p:spPr>
        <p:txBody>
          <a:bodyPr/>
          <a:lstStyle/>
          <a:p>
            <a:pPr marL="0" indent="0">
              <a:buNone/>
            </a:pPr>
            <a:r>
              <a:rPr lang="en-US" b="1" dirty="0">
                <a:latin typeface="Times New Roman" panose="02020603050405020304" pitchFamily="18" charset="0"/>
                <a:cs typeface="Times New Roman" panose="02020603050405020304" pitchFamily="18" charset="0"/>
              </a:rPr>
              <a:t>2. Date</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it one line below sender’s address flushed with it, but flushed with the left margin if the letter is on headed paper.</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Receiver’s address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Consists of receiver’s name or title, name of office or department (if any), name of company or institution, postal address.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it flush with the left margin, one line below the date line.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the name is included, always include proper title: </a:t>
            </a:r>
            <a:r>
              <a:rPr lang="en-US" dirty="0" err="1">
                <a:latin typeface="Times New Roman" panose="02020603050405020304" pitchFamily="18" charset="0"/>
                <a:cs typeface="Times New Roman" panose="02020603050405020304" pitchFamily="18" charset="0"/>
              </a:rPr>
              <a:t>Mr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Mrs</a:t>
            </a:r>
            <a:r>
              <a:rPr lang="en-US" dirty="0">
                <a:latin typeface="Times New Roman" panose="02020603050405020304" pitchFamily="18" charset="0"/>
                <a:cs typeface="Times New Roman" panose="02020603050405020304" pitchFamily="18" charset="0"/>
              </a:rPr>
              <a:t>, Miss, Dr, Prof. If you choose to put a title after name, do not at the same time put it before.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92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5EF6A9-BB9E-4D99-AACD-5A46AE30CD5A}"/>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4. Salutation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it one line below the receiver’s address.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Address receiver with proper title and last name, unless a knight. When someone is knighted it means he or she has been given special </a:t>
            </a:r>
            <a:r>
              <a:rPr lang="en-US" dirty="0" err="1">
                <a:latin typeface="Times New Roman" panose="02020603050405020304" pitchFamily="18" charset="0"/>
                <a:cs typeface="Times New Roman" panose="02020603050405020304" pitchFamily="18" charset="0"/>
              </a:rPr>
              <a:t>honour</a:t>
            </a:r>
            <a:r>
              <a:rPr lang="en-US" dirty="0">
                <a:latin typeface="Times New Roman" panose="02020603050405020304" pitchFamily="18" charset="0"/>
                <a:cs typeface="Times New Roman" panose="02020603050405020304" pitchFamily="18" charset="0"/>
              </a:rPr>
              <a:t> by a British king or queen because of his special achievements. A man who is knighted is called </a:t>
            </a:r>
            <a:r>
              <a:rPr lang="en-US" i="1" dirty="0">
                <a:latin typeface="Times New Roman" panose="02020603050405020304" pitchFamily="18" charset="0"/>
                <a:cs typeface="Times New Roman" panose="02020603050405020304" pitchFamily="18" charset="0"/>
              </a:rPr>
              <a:t>‘Sir’ </a:t>
            </a:r>
            <a:r>
              <a:rPr lang="en-US" dirty="0">
                <a:latin typeface="Times New Roman" panose="02020603050405020304" pitchFamily="18" charset="0"/>
                <a:cs typeface="Times New Roman" panose="02020603050405020304" pitchFamily="18" charset="0"/>
              </a:rPr>
              <a:t>while a woman who is knighted is called </a:t>
            </a:r>
            <a:r>
              <a:rPr lang="en-US" i="1" dirty="0">
                <a:latin typeface="Times New Roman" panose="02020603050405020304" pitchFamily="18" charset="0"/>
                <a:cs typeface="Times New Roman" panose="02020603050405020304" pitchFamily="18" charset="0"/>
              </a:rPr>
              <a:t>‘Lady’.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When addressing them use first name for a man and surname for a woman. </a:t>
            </a:r>
            <a:r>
              <a:rPr lang="en-US" i="1" dirty="0">
                <a:latin typeface="Times New Roman" panose="02020603050405020304" pitchFamily="18" charset="0"/>
                <a:cs typeface="Times New Roman" panose="02020603050405020304" pitchFamily="18" charset="0"/>
              </a:rPr>
              <a:t>For example if a man’s name is John Phiri, write ‘Dear Sir John’. If a woman’s name is Mercy Phiri, write ‘Dear Lady Phiri’.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you are not writing to a specific person in a company, use “Dear Sir or Madam”.</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a:t>
            </a:r>
            <a:r>
              <a:rPr lang="en-US" dirty="0" err="1">
                <a:latin typeface="Times New Roman" panose="02020603050405020304" pitchFamily="18" charset="0"/>
                <a:cs typeface="Times New Roman" panose="02020603050405020304" pitchFamily="18" charset="0"/>
              </a:rPr>
              <a:t>Ms</a:t>
            </a:r>
            <a:r>
              <a:rPr lang="en-US" dirty="0">
                <a:latin typeface="Times New Roman" panose="02020603050405020304" pitchFamily="18" charset="0"/>
                <a:cs typeface="Times New Roman" panose="02020603050405020304" pitchFamily="18" charset="0"/>
              </a:rPr>
              <a:t> for a woman’s title unless she prefers </a:t>
            </a:r>
            <a:r>
              <a:rPr lang="en-US" dirty="0" err="1">
                <a:latin typeface="Times New Roman" panose="02020603050405020304" pitchFamily="18" charset="0"/>
                <a:cs typeface="Times New Roman" panose="02020603050405020304" pitchFamily="18" charset="0"/>
              </a:rPr>
              <a:t>Mrs</a:t>
            </a:r>
            <a:r>
              <a:rPr lang="en-US" dirty="0">
                <a:latin typeface="Times New Roman" panose="02020603050405020304" pitchFamily="18" charset="0"/>
                <a:cs typeface="Times New Roman" panose="02020603050405020304" pitchFamily="18" charset="0"/>
              </a:rPr>
              <a:t> or Miss.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5.	Subject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a brief phrase or sentence capturing the theme of the letter.</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3052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6A2B0C-3FA1-45DE-B54F-6B69616C67F9}"/>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6. Body</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Begin the body one line below salutation.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Show paragraphs by leaving one line between them (not by indenting)</a:t>
            </a:r>
          </a:p>
          <a:p>
            <a:pPr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7. Complementary close/valediction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Place it one line below the body of the letter.</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Align it with the left margin.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Use </a:t>
            </a:r>
            <a:r>
              <a:rPr lang="en-US" i="1" dirty="0">
                <a:latin typeface="Times New Roman" panose="02020603050405020304" pitchFamily="18" charset="0"/>
                <a:cs typeface="Times New Roman" panose="02020603050405020304" pitchFamily="18" charset="0"/>
              </a:rPr>
              <a:t>‘Yours faithfully’ </a:t>
            </a:r>
            <a:r>
              <a:rPr lang="en-US" dirty="0">
                <a:latin typeface="Times New Roman" panose="02020603050405020304" pitchFamily="18" charset="0"/>
                <a:cs typeface="Times New Roman" panose="02020603050405020304" pitchFamily="18" charset="0"/>
              </a:rPr>
              <a:t>if salutation is </a:t>
            </a:r>
            <a:r>
              <a:rPr lang="en-US" i="1" dirty="0">
                <a:latin typeface="Times New Roman" panose="02020603050405020304" pitchFamily="18" charset="0"/>
                <a:cs typeface="Times New Roman" panose="02020603050405020304" pitchFamily="18" charset="0"/>
              </a:rPr>
              <a:t>‘Dear Sir/Madam’.</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If the name is included in salutation, choose from among:  </a:t>
            </a:r>
            <a:r>
              <a:rPr lang="en-US" i="1" dirty="0">
                <a:latin typeface="Times New Roman" panose="02020603050405020304" pitchFamily="18" charset="0"/>
                <a:cs typeface="Times New Roman" panose="02020603050405020304" pitchFamily="18" charset="0"/>
              </a:rPr>
              <a:t>‘Yours sincerely’, ‘Sincerely yours’, ‘Respectfully yours’ or ‘Yours truly’.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4146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A12134-83AD-405A-9808-6FA0D04DA7B9}"/>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8. Signature (writer’s name and signature)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-Place your name two lines below the complementary close.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-Write your signature between complementary close and your name.</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9. End of letter notations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the same notations as indicated under memos.</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C.: For Copy.</a:t>
            </a:r>
          </a:p>
          <a:p>
            <a:pPr marL="0" indent="0">
              <a:buNone/>
            </a:pPr>
            <a:r>
              <a:rPr lang="en-US" dirty="0">
                <a:latin typeface="Times New Roman" panose="02020603050405020304" pitchFamily="18" charset="0"/>
                <a:cs typeface="Times New Roman" panose="02020603050405020304" pitchFamily="18" charset="0"/>
              </a:rPr>
              <a:t>	ii) </a:t>
            </a:r>
            <a:r>
              <a:rPr lang="en-US" dirty="0" err="1">
                <a:latin typeface="Times New Roman" panose="02020603050405020304" pitchFamily="18" charset="0"/>
                <a:cs typeface="Times New Roman" panose="02020603050405020304" pitchFamily="18" charset="0"/>
              </a:rPr>
              <a:t>Att’d</a:t>
            </a:r>
            <a:r>
              <a:rPr lang="en-US" dirty="0">
                <a:latin typeface="Times New Roman" panose="02020603050405020304" pitchFamily="18" charset="0"/>
                <a:cs typeface="Times New Roman" panose="02020603050405020304" pitchFamily="18" charset="0"/>
              </a:rPr>
              <a:t>.: For Attachment.</a:t>
            </a:r>
          </a:p>
          <a:p>
            <a:pPr marL="0" indent="0">
              <a:buNone/>
            </a:pPr>
            <a:r>
              <a:rPr lang="en-US" dirty="0">
                <a:latin typeface="Times New Roman" panose="02020603050405020304" pitchFamily="18" charset="0"/>
                <a:cs typeface="Times New Roman" panose="02020603050405020304" pitchFamily="18" charset="0"/>
              </a:rPr>
              <a:t>	iii) Enc.: For Enclosure.</a:t>
            </a:r>
          </a:p>
          <a:p>
            <a:pPr marL="0" indent="0">
              <a:buNone/>
            </a:pPr>
            <a:r>
              <a:rPr lang="en-US" dirty="0">
                <a:latin typeface="Times New Roman" panose="02020603050405020304" pitchFamily="18" charset="0"/>
                <a:cs typeface="Times New Roman" panose="02020603050405020304" pitchFamily="18" charset="0"/>
              </a:rPr>
              <a:t>	iv)B.C.: For Blind Copy or N.O.O. for Not On Original.</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7228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4AF7EC-544D-4B5E-9D8E-7ABE4B6336EE}"/>
              </a:ext>
            </a:extLst>
          </p:cNvPr>
          <p:cNvSpPr>
            <a:spLocks noGrp="1"/>
          </p:cNvSpPr>
          <p:nvPr>
            <p:ph idx="1"/>
          </p:nvPr>
        </p:nvSpPr>
        <p:spPr>
          <a:xfrm>
            <a:off x="0" y="0"/>
            <a:ext cx="12192000" cy="68580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Types of business letters</a:t>
            </a:r>
          </a:p>
          <a:p>
            <a:pPr marL="0" indent="0">
              <a:buNone/>
            </a:pPr>
            <a:r>
              <a:rPr lang="en-US" dirty="0">
                <a:latin typeface="Times New Roman" panose="02020603050405020304" pitchFamily="18" charset="0"/>
                <a:cs typeface="Times New Roman" panose="02020603050405020304" pitchFamily="18" charset="0"/>
              </a:rPr>
              <a:t>  The following are some of the types of business letters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Order letter</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requesting information</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inquiry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complaint (request for redress)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Claim letter</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response to a complaint or claim</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requesting participation</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refusal</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Sales letter</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Letter of apology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924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7EA352-4E86-44A9-9854-1213AD311FD1}"/>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A.  Order Letter</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 order letter  is written to request a shipment of goods and should include: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An exact description of the goods – name, size, style, colour, model number, </a:t>
            </a:r>
          </a:p>
          <a:p>
            <a:pPr marL="0" indent="0">
              <a:buNone/>
            </a:pPr>
            <a:r>
              <a:rPr lang="en-US" dirty="0">
                <a:latin typeface="Times New Roman" panose="02020603050405020304" pitchFamily="18" charset="0"/>
                <a:cs typeface="Times New Roman" panose="02020603050405020304" pitchFamily="18" charset="0"/>
              </a:rPr>
              <a:t>         series.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Catalogue number if applicable.</a:t>
            </a: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Quantity.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Price per item and total.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Address to which goods should be shipped.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Method of shipment – pony, post, express, freight, rail/air.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4743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E14D72-A568-498B-BBD4-829106F91AF5}"/>
              </a:ext>
            </a:extLst>
          </p:cNvPr>
          <p:cNvSpPr>
            <a:spLocks noGrp="1"/>
          </p:cNvSpPr>
          <p:nvPr>
            <p:ph idx="1"/>
          </p:nvPr>
        </p:nvSpPr>
        <p:spPr>
          <a:xfrm>
            <a:off x="0" y="0"/>
            <a:ext cx="12192000" cy="6857999"/>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B. Letter Requesting Information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Used to obtain a simple fact e.g. price, or ask for a document e.g. prospectus, form etc.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Is brief, easy for recipient to supply information.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 such a letter: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Identify yourself (e.g. as a student, lecturer/professor).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Say exactly what you need.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Explain briefly why you need the information and how you intend to use it. (if your reason is obvious, do not explain 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Express your appreciation.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054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28DB7A-5643-45C9-8CC2-FFAF417D152A}"/>
              </a:ext>
            </a:extLst>
          </p:cNvPr>
          <p:cNvSpPr>
            <a:spLocks noGrp="1"/>
          </p:cNvSpPr>
          <p:nvPr>
            <p:ph idx="1"/>
          </p:nvPr>
        </p:nvSpPr>
        <p:spPr>
          <a:xfrm>
            <a:off x="-2" y="0"/>
            <a:ext cx="12192001" cy="6858000"/>
          </a:xfrm>
        </p:spPr>
        <p:txBody>
          <a:bodyPr>
            <a:normAutofit fontScale="92500" lnSpcReduction="20000"/>
          </a:bodyPr>
          <a:lstStyle/>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C. Letter of Inquiry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lvl="1"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Used to obtain detailed information hence it is longer and detailed than the letter requesting for information.</a:t>
            </a:r>
          </a:p>
          <a:p>
            <a:pPr marR="0" lvl="1"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 such a letter: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Identify yourself.</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Explain why you are asking for information and how you intend to use it.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Ask specific and thorough questions (so that the recipient understands what exactly you need to know).</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If you have several questions, list and number them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If you need the information by a specific date, mention the date but remember to give enough time for the recipient to reply.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Express your appreciation.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319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7DE593-81EC-407F-8035-2C9EF711FA74}"/>
              </a:ext>
            </a:extLst>
          </p:cNvPr>
          <p:cNvSpPr>
            <a:spLocks noGrp="1"/>
          </p:cNvSpPr>
          <p:nvPr>
            <p:ph idx="1"/>
          </p:nvPr>
        </p:nvSpPr>
        <p:spPr>
          <a:xfrm>
            <a:off x="0" y="0"/>
            <a:ext cx="12192000" cy="6857999"/>
          </a:xfrm>
        </p:spPr>
        <p:txBody>
          <a:bodyPr>
            <a:normAutofit fontScale="92500" lnSpcReduction="20000"/>
          </a:bodyPr>
          <a:lstStyle/>
          <a:p>
            <a:pPr marL="0" marR="0" lvl="0" indent="0" algn="just">
              <a:lnSpc>
                <a:spcPct val="150000"/>
              </a:lnSpc>
              <a:spcBef>
                <a:spcPts val="0"/>
              </a:spcBef>
              <a:spcAft>
                <a:spcPts val="0"/>
              </a:spcAft>
              <a:buNone/>
            </a:pPr>
            <a:r>
              <a:rPr lang="en-US" b="1" dirty="0">
                <a:latin typeface="Times New Roman" panose="02020603050405020304" pitchFamily="18" charset="0"/>
                <a:cs typeface="Times New Roman" panose="02020603050405020304" pitchFamily="18" charset="0"/>
              </a:rPr>
              <a:t>D.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Letter of Complaint (Request for Redress)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purpose of this letter is to receive better service or to have a mistake corrected.</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letter should include the following: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A detailed description of a faulty product (model, serial number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Date of purchase and whether product is still under warranty.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Copy of purchase receipt.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Details of unsatisfactory service (name of hotel, restaurant, flight number, dates etc.</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Copies of receipts for service received. </a:t>
            </a: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Brief but clear explanation of the problem.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Request or suggest what should be done.</a:t>
            </a:r>
          </a:p>
          <a:p>
            <a:pPr marL="0" marR="0" lvl="0" indent="0" algn="just">
              <a:lnSpc>
                <a:spcPct val="150000"/>
              </a:lnSpc>
              <a:spcBef>
                <a:spcPts val="0"/>
              </a:spcBef>
              <a:spcAft>
                <a:spcPts val="0"/>
              </a:spcAft>
              <a:buNone/>
            </a:pPr>
            <a:r>
              <a:rPr lang="en-US" b="1" i="1" dirty="0">
                <a:effectLst/>
                <a:latin typeface="Times New Roman" panose="02020603050405020304" pitchFamily="18" charset="0"/>
                <a:ea typeface="Calibri" panose="020F0502020204030204" pitchFamily="34" charset="0"/>
                <a:cs typeface="Times New Roman" panose="02020603050405020304" pitchFamily="18" charset="0"/>
              </a:rPr>
              <a:t>Note: -</a:t>
            </a:r>
            <a:r>
              <a:rPr lang="en-US" dirty="0">
                <a:effectLst/>
                <a:latin typeface="Times New Roman" panose="02020603050405020304" pitchFamily="18" charset="0"/>
                <a:ea typeface="Calibri" panose="020F0502020204030204" pitchFamily="34" charset="0"/>
                <a:cs typeface="Times New Roman" panose="02020603050405020304" pitchFamily="18" charset="0"/>
              </a:rPr>
              <a:t>Be courteous – avoid sarcasm, rudeness, anger.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If your letter shows that you are being reasonable, the complaint </a:t>
            </a:r>
            <a:r>
              <a:rPr lang="en-US" dirty="0">
                <a:latin typeface="Times New Roman" panose="02020603050405020304" pitchFamily="18" charset="0"/>
                <a:ea typeface="Calibri" panose="020F0502020204030204" pitchFamily="34" charset="0"/>
                <a:cs typeface="Times New Roman" panose="02020603050405020304" pitchFamily="18" charset="0"/>
              </a:rPr>
              <a:t>is </a:t>
            </a:r>
            <a:r>
              <a:rPr lang="en-US" dirty="0">
                <a:effectLst/>
                <a:latin typeface="Times New Roman" panose="02020603050405020304" pitchFamily="18" charset="0"/>
                <a:ea typeface="Calibri" panose="020F0502020204030204" pitchFamily="34" charset="0"/>
                <a:cs typeface="Times New Roman" panose="02020603050405020304" pitchFamily="18" charset="0"/>
              </a:rPr>
              <a:t>likely to be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regarded as reasonable and legitimate and will receive the redress you want.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717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190FA-782F-442C-8680-51B6A7AC6784}"/>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 Letter of Claim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purpose of the letter is to receive reimbursement on costs for damage or loss.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Discuss the damage or loss, details of what happened, date, names of people involved and amount you have spent on the damage or loss.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Enclose copies of receipts and other necessary documents.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209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D5CE2-44E9-45F2-B84F-17FFA8B70A8D}"/>
              </a:ext>
            </a:extLst>
          </p:cNvPr>
          <p:cNvSpPr>
            <a:spLocks noGrp="1"/>
          </p:cNvSpPr>
          <p:nvPr>
            <p:ph idx="1"/>
          </p:nvPr>
        </p:nvSpPr>
        <p:spPr>
          <a:xfrm>
            <a:off x="0" y="0"/>
            <a:ext cx="12192000" cy="6858000"/>
          </a:xfrm>
        </p:spPr>
        <p:txBody>
          <a:bodyPr>
            <a:normAutofit fontScale="92500"/>
          </a:bodyPr>
          <a:lstStyle/>
          <a:p>
            <a:pPr marL="0" indent="0">
              <a:buNone/>
            </a:pPr>
            <a:r>
              <a:rPr lang="en-US" dirty="0">
                <a:latin typeface="Times New Roman" panose="02020603050405020304" pitchFamily="18" charset="0"/>
                <a:cs typeface="Times New Roman" panose="02020603050405020304" pitchFamily="18" charset="0"/>
              </a:rPr>
              <a:t>F.</a:t>
            </a:r>
            <a:r>
              <a:rPr lang="en-US" b="1" dirty="0">
                <a:latin typeface="Times New Roman" panose="02020603050405020304" pitchFamily="18" charset="0"/>
                <a:cs typeface="Times New Roman" panose="02020603050405020304" pitchFamily="18" charset="0"/>
              </a:rPr>
              <a:t> Letter of Response to a Complaint or Claim</a:t>
            </a: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Failure to respond will lose good will and business for your organization.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well written response will satisfy a disgruntled client and retain his custom</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Reply promptly.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Thank the writer for bringing the problem to your attention and express your regrets.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Explain why the problem occurred if you know why.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you do not know why, state that you are investigating the matter and will report back when you have the facts.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If you need additional information from the writer, ask for it.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Explain what you will do to address the matter and what you plan to do to prevent a recurrence of the problem.</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positive language i.e. minimize the disagreeable part of the letter and stress the positive.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Do not apologize profusely.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774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FA4E2A-8B6F-4201-A5C8-F3EE9670DAD1}"/>
              </a:ext>
            </a:extLst>
          </p:cNvPr>
          <p:cNvSpPr>
            <a:spLocks noGrp="1"/>
          </p:cNvSpPr>
          <p:nvPr>
            <p:ph idx="1"/>
          </p:nvPr>
        </p:nvSpPr>
        <p:spPr>
          <a:xfrm>
            <a:off x="0" y="0"/>
            <a:ext cx="12192000" cy="6858000"/>
          </a:xfrm>
        </p:spPr>
        <p:txBody>
          <a:bodyPr>
            <a:normAutofit lnSpcReduction="10000"/>
          </a:bodyPr>
          <a:lstStyle/>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G. Letter Requesting Participation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purpose is to ask the recipient to contribute funds (e.g. towards a fundraising activity), become a member or office bearer of </a:t>
            </a:r>
            <a:r>
              <a:rPr lang="en-US" dirty="0">
                <a:latin typeface="Times New Roman" panose="02020603050405020304" pitchFamily="18" charset="0"/>
                <a:ea typeface="Calibri" panose="020F0502020204030204" pitchFamily="34" charset="0"/>
                <a:cs typeface="Times New Roman" panose="02020603050405020304" pitchFamily="18" charset="0"/>
              </a:rPr>
              <a:t>a</a:t>
            </a:r>
            <a:r>
              <a:rPr lang="en-US" dirty="0">
                <a:effectLst/>
                <a:latin typeface="Times New Roman" panose="02020603050405020304" pitchFamily="18" charset="0"/>
                <a:ea typeface="Calibri" panose="020F0502020204030204" pitchFamily="34" charset="0"/>
                <a:cs typeface="Times New Roman" panose="02020603050405020304" pitchFamily="18" charset="0"/>
              </a:rPr>
              <a:t> committee or organization, participate in some activity etc.</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Provide a brief introduction aimed at getting the recipient on your side e.g. suggest why the recipient might want to participate (you can refer to something similar the recipient has done in the past).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State your request, saying clearly what is wanted and when it is wanted.</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Say how the recipient can go about doing what you ask (make it easy for him or her; don’t give him/her homework).</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Express your appreciation.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6382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11FD8-11F5-4742-98BF-E9A3DA53C462}"/>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H. Letter of Refusal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Refuse in a polite and positive manner.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Use a positive opening to soften the refusal.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Give clear reasons for the refusal.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If possible, offer to help at some other time or in some other way.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021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5BCC4-A25C-442F-97D1-1CC94F0F0F54}"/>
              </a:ext>
            </a:extLst>
          </p:cNvPr>
          <p:cNvSpPr>
            <a:spLocks noGrp="1"/>
          </p:cNvSpPr>
          <p:nvPr>
            <p:ph idx="1"/>
          </p:nvPr>
        </p:nvSpPr>
        <p:spPr>
          <a:xfrm>
            <a:off x="0" y="0"/>
            <a:ext cx="12192000" cy="6858000"/>
          </a:xfrm>
        </p:spPr>
        <p:txBody>
          <a:bodyPr>
            <a:normAutofit fontScale="85000" lnSpcReduction="10000"/>
          </a:bodyPr>
          <a:lstStyle/>
          <a:p>
            <a:pPr marL="0" indent="0">
              <a:buNone/>
            </a:pPr>
            <a:r>
              <a:rPr lang="en-US" b="1" dirty="0">
                <a:latin typeface="Times New Roman" panose="02020603050405020304" pitchFamily="18" charset="0"/>
                <a:cs typeface="Times New Roman" panose="02020603050405020304" pitchFamily="18" charset="0"/>
              </a:rPr>
              <a:t>I. Sales Letter</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The purpose is to persuade a potential client to buy something from you or your services.</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Remember the following three elements in a sales letter</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It should begin by showing advantages of buying your goods or services. You are not the only supplier of those goods or provider of those services so begin by attracting the reader’s attention.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Startling the reader with a fact, question , statement or offer </a:t>
            </a:r>
            <a:r>
              <a:rPr lang="en-US" b="1" i="1" dirty="0" err="1">
                <a:latin typeface="Times New Roman" panose="02020603050405020304" pitchFamily="18" charset="0"/>
                <a:cs typeface="Times New Roman" panose="02020603050405020304" pitchFamily="18" charset="0"/>
              </a:rPr>
              <a:t>eg</a:t>
            </a:r>
            <a:r>
              <a:rPr lang="en-US" i="1" dirty="0">
                <a:latin typeface="Times New Roman" panose="02020603050405020304" pitchFamily="18" charset="0"/>
                <a:cs typeface="Times New Roman" panose="02020603050405020304" pitchFamily="18" charset="0"/>
              </a:rPr>
              <a:t>: </a:t>
            </a:r>
          </a:p>
          <a:p>
            <a:pPr marL="0" indent="0">
              <a:buNone/>
            </a:pPr>
            <a:r>
              <a:rPr lang="en-US" i="1" dirty="0">
                <a:latin typeface="Times New Roman" panose="02020603050405020304" pitchFamily="18" charset="0"/>
                <a:cs typeface="Times New Roman" panose="02020603050405020304" pitchFamily="18" charset="0"/>
              </a:rPr>
              <a:t>Admission in the intensive care unit can cost you  K100,000 a day </a:t>
            </a:r>
            <a:r>
              <a:rPr lang="en-US" b="1" i="1" dirty="0">
                <a:latin typeface="Times New Roman" panose="02020603050405020304" pitchFamily="18" charset="0"/>
                <a:cs typeface="Times New Roman" panose="02020603050405020304" pitchFamily="18" charset="0"/>
              </a:rPr>
              <a:t>(Fact)</a:t>
            </a:r>
          </a:p>
          <a:p>
            <a:pPr marL="0" indent="0">
              <a:buNone/>
            </a:pPr>
            <a:r>
              <a:rPr lang="en-US" i="1" dirty="0">
                <a:latin typeface="Times New Roman" panose="02020603050405020304" pitchFamily="18" charset="0"/>
                <a:cs typeface="Times New Roman" panose="02020603050405020304" pitchFamily="18" charset="0"/>
              </a:rPr>
              <a:t>Do you know what one day in an intensive care unit in a hospital can cost?         </a:t>
            </a:r>
          </a:p>
          <a:p>
            <a:pPr marL="0" indent="0">
              <a:buNone/>
            </a:pPr>
            <a:r>
              <a:rPr lang="en-US" i="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(Question) </a:t>
            </a:r>
          </a:p>
          <a:p>
            <a:pPr marL="0" indent="0">
              <a:buNone/>
            </a:pPr>
            <a:r>
              <a:rPr lang="en-US" i="1" dirty="0">
                <a:latin typeface="Times New Roman" panose="02020603050405020304" pitchFamily="18" charset="0"/>
                <a:cs typeface="Times New Roman" panose="02020603050405020304" pitchFamily="18" charset="0"/>
              </a:rPr>
              <a:t>You can be free from financial worry should you need intensive care in a hospital  </a:t>
            </a:r>
          </a:p>
          <a:p>
            <a:pPr marL="0" indent="0">
              <a:buNone/>
            </a:pPr>
            <a:r>
              <a:rPr lang="en-US" i="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(Statement) </a:t>
            </a:r>
          </a:p>
          <a:p>
            <a:pPr marL="0" indent="0">
              <a:buNone/>
            </a:pPr>
            <a:r>
              <a:rPr lang="en-US" i="1" dirty="0">
                <a:latin typeface="Times New Roman" panose="02020603050405020304" pitchFamily="18" charset="0"/>
                <a:cs typeface="Times New Roman" panose="02020603050405020304" pitchFamily="18" charset="0"/>
              </a:rPr>
              <a:t>Here is your chance to shed financial worries should you need intensive care in a hospital   </a:t>
            </a:r>
          </a:p>
          <a:p>
            <a:pPr marL="0" indent="0">
              <a:buNone/>
            </a:pPr>
            <a:r>
              <a:rPr lang="en-US" b="1" i="1" dirty="0">
                <a:latin typeface="Times New Roman" panose="02020603050405020304" pitchFamily="18" charset="0"/>
                <a:cs typeface="Times New Roman" panose="02020603050405020304" pitchFamily="18" charset="0"/>
              </a:rPr>
              <a:t>                                                                                (offer)</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573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FAA9D-71C4-4B5F-9771-CD85CE8DA3E6}"/>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  ii) Telling the reader that he or she is special (but do not exaggerate); offer a gift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e.g.  we enclose a free copy of our prospectus or catalogue.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  iii) It should state the advantages of buying your goods or services, giving details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of the benefits.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It should make a specific request </a:t>
            </a:r>
            <a:r>
              <a:rPr lang="en-US" dirty="0">
                <a:latin typeface="Times New Roman" panose="02020603050405020304" pitchFamily="18" charset="0"/>
                <a:ea typeface="Calibri" panose="020F0502020204030204" pitchFamily="34" charset="0"/>
                <a:cs typeface="Times New Roman" panose="02020603050405020304" pitchFamily="18" charset="0"/>
              </a:rPr>
              <a:t>to </a:t>
            </a:r>
            <a:r>
              <a:rPr lang="en-US" dirty="0">
                <a:effectLst/>
                <a:latin typeface="Times New Roman" panose="02020603050405020304" pitchFamily="18" charset="0"/>
                <a:ea typeface="Calibri" panose="020F0502020204030204" pitchFamily="34" charset="0"/>
                <a:cs typeface="Times New Roman" panose="02020603050405020304" pitchFamily="18" charset="0"/>
              </a:rPr>
              <a:t> the reader </a:t>
            </a:r>
            <a:r>
              <a:rPr lang="en-US" dirty="0">
                <a:latin typeface="Times New Roman" panose="02020603050405020304" pitchFamily="18" charset="0"/>
                <a:ea typeface="Calibri" panose="020F0502020204030204" pitchFamily="34" charset="0"/>
                <a:cs typeface="Times New Roman" panose="02020603050405020304" pitchFamily="18" charset="0"/>
              </a:rPr>
              <a:t> to </a:t>
            </a:r>
            <a:r>
              <a:rPr lang="en-US" dirty="0">
                <a:effectLst/>
                <a:latin typeface="Times New Roman" panose="02020603050405020304" pitchFamily="18" charset="0"/>
                <a:ea typeface="Calibri" panose="020F0502020204030204" pitchFamily="34" charset="0"/>
                <a:cs typeface="Times New Roman" panose="02020603050405020304" pitchFamily="18" charset="0"/>
              </a:rPr>
              <a:t>make an order</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12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970166-B7D7-4491-BF47-B99826F9EC21}"/>
              </a:ext>
            </a:extLst>
          </p:cNvPr>
          <p:cNvSpPr>
            <a:spLocks noGrp="1"/>
          </p:cNvSpPr>
          <p:nvPr>
            <p:ph idx="1"/>
          </p:nvPr>
        </p:nvSpPr>
        <p:spPr>
          <a:xfrm>
            <a:off x="0" y="0"/>
            <a:ext cx="12192000" cy="6858000"/>
          </a:xfrm>
        </p:spPr>
        <p:txBody>
          <a:bodyPr>
            <a:normAutofit lnSpcReduction="10000"/>
          </a:bodyPr>
          <a:lstStyle/>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J. Letter of Apology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purpose is to express regrets or remorse about some incident e.g. a fight between schools in which your students are to blame/ vandalism of other peoples property.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indent="-45720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Expressions used in a letter of apology include: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i</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Opening expression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I am writing to apologize for….; I would like to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apologize for…; I regret to say…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ii) Body of the letter</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We had no right to…; There was no reason for us to…</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iii) Concluding expression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I promise that this will not happen again…; I can </a:t>
            </a:r>
          </a:p>
          <a:p>
            <a:pPr marL="0" marR="0" lvl="0" indent="0" algn="just">
              <a:lnSpc>
                <a:spcPct val="150000"/>
              </a:lnSpc>
              <a:spcBef>
                <a:spcPts val="0"/>
              </a:spcBef>
              <a:spcAft>
                <a:spcPts val="100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assure you that we shall not let this happen again…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0691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74CE37-A628-4274-B6D4-6D5DD65A38C8}"/>
              </a:ext>
            </a:extLst>
          </p:cNvPr>
          <p:cNvSpPr>
            <a:spLocks noGrp="1"/>
          </p:cNvSpPr>
          <p:nvPr>
            <p:ph idx="1"/>
          </p:nvPr>
        </p:nvSpPr>
        <p:spPr>
          <a:xfrm>
            <a:off x="0" y="0"/>
            <a:ext cx="12192000" cy="7023100"/>
          </a:xfrm>
        </p:spPr>
        <p:txBody>
          <a:bodyPr>
            <a:normAutofit fontScale="92500"/>
          </a:bodyPr>
          <a:lstStyle/>
          <a:p>
            <a:pPr marL="0" marR="0" indent="0">
              <a:lnSpc>
                <a:spcPct val="115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K. Reference Letters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Reference letters are written when we want to recommend someone for a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particular job position or a place in an academic institution.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A reference letter should provide information on who you are, your connection with the person you are recommending, why they are qualified and specific skills they have. </a:t>
            </a:r>
          </a:p>
          <a:p>
            <a:pPr marR="0" lvl="0" algn="just">
              <a:lnSpc>
                <a:spcPct val="150000"/>
              </a:lnSpc>
              <a:spcBef>
                <a:spcPts val="0"/>
              </a:spcBef>
              <a:spcAft>
                <a:spcPts val="1000"/>
              </a:spcAft>
              <a:buFont typeface="Wingdings" panose="05000000000000000000" pitchFamily="2" charset="2"/>
              <a:buChar char="v"/>
            </a:pPr>
            <a:r>
              <a:rPr lang="en-US" dirty="0">
                <a:effectLst/>
                <a:latin typeface="Times New Roman" panose="02020603050405020304" pitchFamily="18" charset="0"/>
                <a:ea typeface="Calibri" panose="020F0502020204030204" pitchFamily="34" charset="0"/>
                <a:cs typeface="Times New Roman" panose="02020603050405020304" pitchFamily="18" charset="0"/>
              </a:rPr>
              <a:t>In addition, contact information for follow up should be provided.</a:t>
            </a:r>
          </a:p>
          <a:p>
            <a:pPr marR="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Format of a reference letter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following reference letter format is appropriate for an employment reference, as well as reference for graduate school: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lphaLcPeriod"/>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Return (sender’s) address</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 -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is written when you are not using a letterhead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583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3AF406-9B97-4714-B932-1B9D43641CCB}"/>
              </a:ext>
            </a:extLst>
          </p:cNvPr>
          <p:cNvSpPr>
            <a:spLocks noGrp="1"/>
          </p:cNvSpPr>
          <p:nvPr>
            <p:ph idx="1"/>
          </p:nvPr>
        </p:nvSpPr>
        <p:spPr>
          <a:xfrm>
            <a:off x="0" y="13648"/>
            <a:ext cx="12342125" cy="6762466"/>
          </a:xfrm>
        </p:spPr>
        <p:txBody>
          <a:bodyPr>
            <a:normAutofit/>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b) Receiver’s address  (applicable in specific reference letters)</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 This is written when you know the actual address of the receiver. Include the </a:t>
            </a:r>
          </a:p>
          <a:p>
            <a:pPr marL="0" marR="0" lvl="0" indent="0" algn="just">
              <a:lnSpc>
                <a:spcPct val="150000"/>
              </a:lnSpc>
              <a:spcBef>
                <a:spcPts val="0"/>
              </a:spcBef>
              <a:spcAft>
                <a:spcPts val="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name/position of the receiver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  Salutation</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1000"/>
              </a:spcAft>
              <a:buNone/>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 If you are writing a personal letter of reference, include a salutation (e.g. Dear </a:t>
            </a:r>
          </a:p>
          <a:p>
            <a:pPr marL="0" marR="0" lvl="0" indent="0" algn="just">
              <a:lnSpc>
                <a:spcPct val="150000"/>
              </a:lnSpc>
              <a:spcBef>
                <a:spcPts val="0"/>
              </a:spcBef>
              <a:spcAft>
                <a:spcPts val="100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Mr. Banda). </a:t>
            </a:r>
          </a:p>
          <a:p>
            <a:pPr marL="0" marR="0" lvl="0" indent="0" algn="just">
              <a:lnSpc>
                <a:spcPct val="150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NOTE: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If you are writing a general reference letter, say “To whom it may concern” </a:t>
            </a:r>
          </a:p>
          <a:p>
            <a:pPr marL="0" marR="0" lvl="0" indent="0" algn="just">
              <a:lnSpc>
                <a:spcPct val="150000"/>
              </a:lnSpc>
              <a:spcBef>
                <a:spcPts val="0"/>
              </a:spcBef>
              <a:spcAft>
                <a:spcPts val="1000"/>
              </a:spcAft>
              <a:buNone/>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or simply do not include a salutation.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8377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72BE0-2E0C-4D81-8B35-A46213296328}"/>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d) Subject</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Calibri" panose="020F0502020204030204" pitchFamily="34" charset="0"/>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Briefly summarizes the content of the body.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Calibri" panose="020F0502020204030204" pitchFamily="34" charset="0"/>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Includes the name of the person for whom you are writing the reference letter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eg</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letter of reference for Jane Banda.</a:t>
            </a:r>
          </a:p>
          <a:p>
            <a:pPr marL="0" marR="0" lvl="0" indent="0" algn="just">
              <a:lnSpc>
                <a:spcPct val="150000"/>
              </a:lnSpc>
              <a:spcBef>
                <a:spcPts val="0"/>
              </a:spcBef>
              <a:spcAft>
                <a:spcPts val="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e) The Body</a:t>
            </a: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Calibri" panose="020F0502020204030204" pitchFamily="34" charset="0"/>
              <a:buChar char="-"/>
            </a:pPr>
            <a:r>
              <a:rPr lang="en-US" b="1" i="1" dirty="0">
                <a:effectLst/>
                <a:latin typeface="Times New Roman" panose="02020603050405020304" pitchFamily="18" charset="0"/>
                <a:ea typeface="Calibri" panose="020F0502020204030204" pitchFamily="34" charset="0"/>
                <a:cs typeface="Times New Roman" panose="02020603050405020304" pitchFamily="18" charset="0"/>
              </a:rPr>
              <a:t>Paragraph 1</a:t>
            </a:r>
            <a:endParaRPr lang="en-US" b="1" i="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first paragraph of the reference letter explains your connection to the person you are recommending, including how you know them, and why you are qualified to write a reference letter to recommend employment or graduate school.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Calibri" panose="020F0502020204030204" pitchFamily="34" charset="0"/>
              <a:buChar char="-"/>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069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5441A1-AF3C-4C42-8DF5-EBFC7F2BF231}"/>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Paragraph 2</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second paragraph contains specific information on the person you are writing about, including why they are qualified, what they can contribute, and why you are providing reference letter. If necessary use more than one paragraph to provide details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Paragraph 3</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When writing a reference letter referring a candidate for a particular job opening, the letter will include information on how the person’s skills match the position they are applying for. Ask for a copy of the job posting and a copy of the person’s resume so that you can target your reference letter accordingly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3457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DF161-41A6-4AD4-AFB7-9B8E44D17A5D}"/>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Summary</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section contains a brief summary of why you are recommending the person. State that you ‘highly recommend’ the person or that you ‘recommend without reservations’ or something similar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Conclusion </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Contains an offer to provide more information. Include a phone number within the paragraph or indicate that you have included the phone number and email address in the return section of your letter or in your signature.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f) Complementary Close</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You can use ‘Yours faithfully’ or ‘Yours sincerely’ as already explained above.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3864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3B1A8-2281-4658-9117-D68432C446C8}"/>
              </a:ext>
            </a:extLst>
          </p:cNvPr>
          <p:cNvSpPr>
            <a:spLocks noGrp="1"/>
          </p:cNvSpPr>
          <p:nvPr>
            <p:ph idx="1"/>
          </p:nvPr>
        </p:nvSpPr>
        <p:spPr>
          <a:xfrm>
            <a:off x="1" y="39756"/>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g) Signature</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Include name and signature.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50000"/>
              </a:lnSpc>
              <a:spcBef>
                <a:spcPts val="0"/>
              </a:spcBef>
              <a:spcAft>
                <a:spcPts val="0"/>
              </a:spcAft>
              <a:buNone/>
            </a:pP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Additional points to note:</a:t>
            </a:r>
            <a:endParaRPr lang="en-US" sz="2400" b="1" i="1"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Be objective (honest)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Do not over-praise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Do not use language that is too damaging to the person you are writing about e.g. very bad; reckless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Remember you are not writing a CV for the person so there is no need to write things that are expected to be in the person’s CV</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848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C81149-ED47-421B-88E9-55291E16AB74}"/>
              </a:ext>
            </a:extLst>
          </p:cNvPr>
          <p:cNvSpPr>
            <a:spLocks noGrp="1"/>
          </p:cNvSpPr>
          <p:nvPr>
            <p:ph idx="1"/>
          </p:nvPr>
        </p:nvSpPr>
        <p:spPr>
          <a:xfrm>
            <a:off x="0" y="0"/>
            <a:ext cx="12192000" cy="6858000"/>
          </a:xfrm>
        </p:spPr>
        <p: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marL="0" indent="0" algn="ctr">
              <a:buNone/>
            </a:pPr>
            <a:r>
              <a:rPr lang="en-US" sz="3600" b="1" i="1" dirty="0">
                <a:latin typeface="Times New Roman" panose="02020603050405020304" pitchFamily="18" charset="0"/>
                <a:cs typeface="Times New Roman" panose="02020603050405020304" pitchFamily="18" charset="0"/>
              </a:rPr>
              <a:t>The end</a:t>
            </a:r>
          </a:p>
        </p:txBody>
      </p:sp>
    </p:spTree>
    <p:extLst>
      <p:ext uri="{BB962C8B-B14F-4D97-AF65-F5344CB8AC3E}">
        <p14:creationId xmlns:p14="http://schemas.microsoft.com/office/powerpoint/2010/main" val="1130034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6885</TotalTime>
  <Words>4001</Words>
  <Application>Microsoft Office PowerPoint</Application>
  <PresentationFormat>Widescreen</PresentationFormat>
  <Paragraphs>351</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51</cp:revision>
  <dcterms:created xsi:type="dcterms:W3CDTF">2020-10-29T14:26:33Z</dcterms:created>
  <dcterms:modified xsi:type="dcterms:W3CDTF">2020-11-06T09:59:46Z</dcterms:modified>
</cp:coreProperties>
</file>