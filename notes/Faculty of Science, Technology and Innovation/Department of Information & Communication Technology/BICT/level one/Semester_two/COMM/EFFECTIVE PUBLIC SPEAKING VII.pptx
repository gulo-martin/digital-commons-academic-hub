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0" d="100"/>
          <a:sy n="70" d="100"/>
        </p:scale>
        <p:origin x="-508" y="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058D61-0129-4933-9EC9-3FA15CC867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E01EC0AE-9611-4C77-9C0D-3A9B14CB04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29CC9FA9-6E36-4390-86E7-89199C6A4D2E}"/>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5" name="Footer Placeholder 4">
            <a:extLst>
              <a:ext uri="{FF2B5EF4-FFF2-40B4-BE49-F238E27FC236}">
                <a16:creationId xmlns:a16="http://schemas.microsoft.com/office/drawing/2014/main" xmlns="" id="{ABE52852-3F23-408F-8519-425984122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F70AEF4-9449-40DD-A819-016067E603AE}"/>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3743010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655309-27A4-44E5-99CA-467DE0B9DF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37731AA2-DF02-4A83-AB1F-62BF674A5A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07C1278-3D50-4F25-B731-A9E83B9C871F}"/>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5" name="Footer Placeholder 4">
            <a:extLst>
              <a:ext uri="{FF2B5EF4-FFF2-40B4-BE49-F238E27FC236}">
                <a16:creationId xmlns:a16="http://schemas.microsoft.com/office/drawing/2014/main" xmlns="" id="{1CDDB2C9-EF5E-4AEA-B822-CD97270E02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03161C2-F0A4-49D1-BE8D-89A294999774}"/>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307133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C3BC07-6C4F-484C-8B1B-8F9DAFCDDE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8FEF61FD-9322-4A0D-9359-7628EA0E38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E18059A-6765-465A-9EFA-4E4BCBD2E380}"/>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5" name="Footer Placeholder 4">
            <a:extLst>
              <a:ext uri="{FF2B5EF4-FFF2-40B4-BE49-F238E27FC236}">
                <a16:creationId xmlns:a16="http://schemas.microsoft.com/office/drawing/2014/main" xmlns="" id="{53EE09C1-9D57-48F7-90C9-1E041C32F2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B58CBE2-144D-4748-91ED-9A447F3092AB}"/>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679714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6D4F3B-F5F4-4ED6-B37F-471DE60AB1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1861B664-E62C-45C0-90C3-9961173C58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F0E25B13-83C7-467F-88EF-E05D20696A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7E89FB59-CB48-4991-83DB-AE35E095A409}"/>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6" name="Footer Placeholder 5">
            <a:extLst>
              <a:ext uri="{FF2B5EF4-FFF2-40B4-BE49-F238E27FC236}">
                <a16:creationId xmlns:a16="http://schemas.microsoft.com/office/drawing/2014/main" xmlns="" id="{EE8A64F3-14D8-43D1-879E-2E05ADAFC2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10BCC85-1D3A-4F56-8F04-2726996979EF}"/>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42832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866C47-D30E-49F1-B794-D4AF2C6E45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537AA484-3212-4A88-8B7A-598F8D4C57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FE64C6EC-F375-4A91-986D-D9877A61DC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A232B9A-6EF4-4F07-90CE-8C866640CA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6E2B3A9-53CA-423E-A96A-C344CEC265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ED524113-5A3B-4A28-A3F4-EE5075498A29}"/>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8" name="Footer Placeholder 7">
            <a:extLst>
              <a:ext uri="{FF2B5EF4-FFF2-40B4-BE49-F238E27FC236}">
                <a16:creationId xmlns:a16="http://schemas.microsoft.com/office/drawing/2014/main" xmlns="" id="{0503726E-E53B-408F-BBD4-4886B67E1E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CEDC8B88-0A87-47A5-AB63-D98FFF1B9F2A}"/>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3223883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4B58AE-74BE-4E90-9DF8-5C5F4C3EAC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832039E5-3BB2-427B-A79A-C7BD4C3E255D}"/>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4" name="Footer Placeholder 3">
            <a:extLst>
              <a:ext uri="{FF2B5EF4-FFF2-40B4-BE49-F238E27FC236}">
                <a16:creationId xmlns:a16="http://schemas.microsoft.com/office/drawing/2014/main" xmlns="" id="{65EFD4A8-2577-4A28-ACA7-331A3013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5659A4EC-E60C-49F6-9BD9-8F6C53D08941}"/>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1176061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F4E3EA7-DDEB-4F5F-B8C0-F67F755942CB}"/>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3" name="Footer Placeholder 2">
            <a:extLst>
              <a:ext uri="{FF2B5EF4-FFF2-40B4-BE49-F238E27FC236}">
                <a16:creationId xmlns:a16="http://schemas.microsoft.com/office/drawing/2014/main" xmlns="" id="{5CCDC01F-1F71-45E3-9194-2FE841F293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0CAF339A-BB64-490A-B99B-2645782D78F6}"/>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3539979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AA305D-23FD-4881-8166-E54E8D9E7E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A20A23D8-916D-4018-9D0D-B9836CDE3B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CB67B44-2A3B-4EEA-9767-17DAAF05BC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E76A979-2373-4E70-9B54-16076CDEA5BE}"/>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6" name="Footer Placeholder 5">
            <a:extLst>
              <a:ext uri="{FF2B5EF4-FFF2-40B4-BE49-F238E27FC236}">
                <a16:creationId xmlns:a16="http://schemas.microsoft.com/office/drawing/2014/main" xmlns="" id="{85CEE60D-5CB4-4887-B141-1D9439F141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10F2F58-160C-4816-8335-32D71E670150}"/>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3870112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0DBC89-30E2-4FA3-A981-36B302B387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8DF2D6B1-4992-45A3-B905-EAAD2B6B53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467384AC-A774-47B0-974C-218DBAF52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2CBD6FA-881F-42CB-A93C-AD8A2C802D77}"/>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6" name="Footer Placeholder 5">
            <a:extLst>
              <a:ext uri="{FF2B5EF4-FFF2-40B4-BE49-F238E27FC236}">
                <a16:creationId xmlns:a16="http://schemas.microsoft.com/office/drawing/2014/main" xmlns="" id="{AB326AAC-7A4A-4CB4-A77E-486198CC92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C3A9EDB-A3CF-4E6F-9A6F-5C3EC7B2527D}"/>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3389667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413F5E-0A21-42E3-AB3D-779318E7BB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CB70277C-155B-43B0-92BC-C540C5A40E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A2E81DA-62EE-41A5-95EC-5CE94B80545D}"/>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5" name="Footer Placeholder 4">
            <a:extLst>
              <a:ext uri="{FF2B5EF4-FFF2-40B4-BE49-F238E27FC236}">
                <a16:creationId xmlns:a16="http://schemas.microsoft.com/office/drawing/2014/main" xmlns="" id="{0020D995-2D2E-42B5-8B6E-84F01FF33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A050ACC-66ED-4A34-81FA-574A497DD084}"/>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1868968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499BB85-5FE5-4D99-8D9D-C37AB4F7E3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CF32E617-FD15-426A-A2A3-D204A539BC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54DB7B2-7F8D-4820-A4CF-77D34B659F70}"/>
              </a:ext>
            </a:extLst>
          </p:cNvPr>
          <p:cNvSpPr>
            <a:spLocks noGrp="1"/>
          </p:cNvSpPr>
          <p:nvPr>
            <p:ph type="dt" sz="half" idx="10"/>
          </p:nvPr>
        </p:nvSpPr>
        <p:spPr/>
        <p:txBody>
          <a:bodyPr/>
          <a:lstStyle/>
          <a:p>
            <a:fld id="{2D6AEB6D-C705-4908-8D2C-E8E203F503F0}" type="datetimeFigureOut">
              <a:rPr lang="en-US" smtClean="0"/>
              <a:t>3/24/2025</a:t>
            </a:fld>
            <a:endParaRPr lang="en-US"/>
          </a:p>
        </p:txBody>
      </p:sp>
      <p:sp>
        <p:nvSpPr>
          <p:cNvPr id="5" name="Footer Placeholder 4">
            <a:extLst>
              <a:ext uri="{FF2B5EF4-FFF2-40B4-BE49-F238E27FC236}">
                <a16:creationId xmlns:a16="http://schemas.microsoft.com/office/drawing/2014/main" xmlns="" id="{5086AAAB-FD07-448A-A384-3CF21D1CBD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028B160-9DCB-4DDB-8D4D-FCE372E13B2E}"/>
              </a:ext>
            </a:extLst>
          </p:cNvPr>
          <p:cNvSpPr>
            <a:spLocks noGrp="1"/>
          </p:cNvSpPr>
          <p:nvPr>
            <p:ph type="sldNum" sz="quarter" idx="12"/>
          </p:nvPr>
        </p:nvSpPr>
        <p:spPr/>
        <p:txBody>
          <a:bodyPr/>
          <a:lstStyle/>
          <a:p>
            <a:fld id="{50579A4E-3002-461C-87C2-E0A81774595C}" type="slidenum">
              <a:rPr lang="en-US" smtClean="0"/>
              <a:t>‹#›</a:t>
            </a:fld>
            <a:endParaRPr lang="en-US"/>
          </a:p>
        </p:txBody>
      </p:sp>
    </p:spTree>
    <p:extLst>
      <p:ext uri="{BB962C8B-B14F-4D97-AF65-F5344CB8AC3E}">
        <p14:creationId xmlns:p14="http://schemas.microsoft.com/office/powerpoint/2010/main" val="3439181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AAD2C3C-7F2B-4AA8-8C02-A6C9C70F55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B357BE63-8529-4234-8EDD-459353083D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7707204-0C8A-425E-8717-3FD1AF23AD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AEB6D-C705-4908-8D2C-E8E203F503F0}" type="datetimeFigureOut">
              <a:rPr lang="en-US" smtClean="0"/>
              <a:t>3/24/2025</a:t>
            </a:fld>
            <a:endParaRPr lang="en-US"/>
          </a:p>
        </p:txBody>
      </p:sp>
      <p:sp>
        <p:nvSpPr>
          <p:cNvPr id="5" name="Footer Placeholder 4">
            <a:extLst>
              <a:ext uri="{FF2B5EF4-FFF2-40B4-BE49-F238E27FC236}">
                <a16:creationId xmlns:a16="http://schemas.microsoft.com/office/drawing/2014/main" xmlns="" id="{D20219E4-0D72-41B4-917F-7966ECEFC2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66194E2E-ABF8-45A9-BEE6-4B30D3924F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579A4E-3002-461C-87C2-E0A81774595C}" type="slidenum">
              <a:rPr lang="en-US" smtClean="0"/>
              <a:t>‹#›</a:t>
            </a:fld>
            <a:endParaRPr lang="en-US"/>
          </a:p>
        </p:txBody>
      </p:sp>
    </p:spTree>
    <p:extLst>
      <p:ext uri="{BB962C8B-B14F-4D97-AF65-F5344CB8AC3E}">
        <p14:creationId xmlns:p14="http://schemas.microsoft.com/office/powerpoint/2010/main" val="2273837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CA877431-1631-4222-BFD6-438D7D74BCCC}"/>
              </a:ext>
            </a:extLst>
          </p:cNvPr>
          <p:cNvSpPr>
            <a:spLocks noGrp="1"/>
          </p:cNvSpPr>
          <p:nvPr>
            <p:ph type="subTitle" idx="1"/>
          </p:nvPr>
        </p:nvSpPr>
        <p:spPr/>
        <p:txBody>
          <a:bodyPr>
            <a:normAutofit/>
          </a:bodyPr>
          <a:lstStyle/>
          <a:p>
            <a:pPr algn="l"/>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EFFECTIVE PUBLIC SPEAKING</a:t>
            </a:r>
          </a:p>
          <a:p>
            <a:pPr algn="l"/>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7035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C89A210-7B8B-4DFF-943D-1DA1922D5938}"/>
              </a:ext>
            </a:extLst>
          </p:cNvPr>
          <p:cNvSpPr>
            <a:spLocks noGrp="1"/>
          </p:cNvSpPr>
          <p:nvPr>
            <p:ph idx="1"/>
          </p:nvPr>
        </p:nvSpPr>
        <p:spPr>
          <a:xfrm>
            <a:off x="0" y="0"/>
            <a:ext cx="12192000" cy="6858000"/>
          </a:xfrm>
        </p:spPr>
        <p:txBody>
          <a:bodyPr>
            <a:normAutofit/>
          </a:bodyPr>
          <a:lstStyle/>
          <a:p>
            <a:pPr marL="0" marR="0" indent="0">
              <a:lnSpc>
                <a:spcPct val="115000"/>
              </a:lnSpc>
              <a:spcBef>
                <a:spcPts val="0"/>
              </a:spcBef>
              <a:spcAft>
                <a:spcPts val="1000"/>
              </a:spcAft>
              <a:buNone/>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LEARNING OUTCOMES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1000"/>
              </a:spcAft>
              <a:buNone/>
            </a:pPr>
            <a:r>
              <a:rPr lang="en-GB" sz="2000" i="1" dirty="0">
                <a:effectLst/>
                <a:latin typeface="Times New Roman" panose="02020603050405020304" pitchFamily="18" charset="0"/>
                <a:ea typeface="Calibri" panose="020F0502020204030204" pitchFamily="34" charset="0"/>
                <a:cs typeface="Times New Roman" panose="02020603050405020304" pitchFamily="18" charset="0"/>
              </a:rPr>
              <a:t>By the end of this unit, students should be able to:</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ü"/>
              <a:tabLst>
                <a:tab pos="457200" algn="l"/>
              </a:tabLst>
            </a:pPr>
            <a:r>
              <a:rPr lang="en-GB" sz="2000" i="1" dirty="0">
                <a:effectLst/>
                <a:latin typeface="Times New Roman" panose="02020603050405020304" pitchFamily="18" charset="0"/>
                <a:ea typeface="Calibri" panose="020F0502020204030204" pitchFamily="34" charset="0"/>
                <a:cs typeface="Times New Roman" panose="02020603050405020304" pitchFamily="18" charset="0"/>
              </a:rPr>
              <a:t>Explain what is meant by public speaking</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ü"/>
              <a:tabLst>
                <a:tab pos="457200" algn="l"/>
              </a:tabLst>
            </a:pPr>
            <a:r>
              <a:rPr lang="en-GB" sz="2000" i="1" dirty="0">
                <a:effectLst/>
                <a:latin typeface="Times New Roman" panose="02020603050405020304" pitchFamily="18" charset="0"/>
                <a:ea typeface="Calibri" panose="020F0502020204030204" pitchFamily="34" charset="0"/>
                <a:cs typeface="Times New Roman" panose="02020603050405020304" pitchFamily="18" charset="0"/>
              </a:rPr>
              <a:t>Identify different types of oral presentations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ü"/>
              <a:tabLst>
                <a:tab pos="457200" algn="l"/>
              </a:tabLst>
            </a:pPr>
            <a:r>
              <a:rPr lang="en-GB" sz="2000" i="1" dirty="0">
                <a:effectLst/>
                <a:latin typeface="Times New Roman" panose="02020603050405020304" pitchFamily="18" charset="0"/>
                <a:ea typeface="Calibri" panose="020F0502020204030204" pitchFamily="34" charset="0"/>
                <a:cs typeface="Times New Roman" panose="02020603050405020304" pitchFamily="18" charset="0"/>
              </a:rPr>
              <a:t>Explain the steps needed to be followed when preparing for a presentation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ü"/>
              <a:tabLst>
                <a:tab pos="457200" algn="l"/>
              </a:tabLst>
            </a:pPr>
            <a:r>
              <a:rPr lang="en-GB" sz="2000" i="1" dirty="0">
                <a:effectLst/>
                <a:latin typeface="Times New Roman" panose="02020603050405020304" pitchFamily="18" charset="0"/>
                <a:ea typeface="Calibri" panose="020F0502020204030204" pitchFamily="34" charset="0"/>
                <a:cs typeface="Times New Roman" panose="02020603050405020304" pitchFamily="18" charset="0"/>
              </a:rPr>
              <a:t>Compose effective speeches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ü"/>
              <a:tabLst>
                <a:tab pos="457200" algn="l"/>
              </a:tabLst>
            </a:pPr>
            <a:r>
              <a:rPr lang="en-GB" sz="2000" i="1" dirty="0">
                <a:effectLst/>
                <a:latin typeface="Times New Roman" panose="02020603050405020304" pitchFamily="18" charset="0"/>
                <a:ea typeface="Calibri" panose="020F0502020204030204" pitchFamily="34" charset="0"/>
                <a:cs typeface="Times New Roman" panose="02020603050405020304" pitchFamily="18" charset="0"/>
              </a:rPr>
              <a:t>Clearly explain principles of effective presentations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ü"/>
              <a:tabLst>
                <a:tab pos="457200" algn="l"/>
              </a:tabLst>
            </a:pPr>
            <a:r>
              <a:rPr lang="en-GB" sz="2000" i="1" dirty="0">
                <a:effectLst/>
                <a:latin typeface="Times New Roman" panose="02020603050405020304" pitchFamily="18" charset="0"/>
                <a:ea typeface="Calibri" panose="020F0502020204030204" pitchFamily="34" charset="0"/>
                <a:cs typeface="Times New Roman" panose="02020603050405020304" pitchFamily="18" charset="0"/>
              </a:rPr>
              <a:t>Present effective speeches in public.</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GB" sz="2000"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8374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D1AD4F4-D785-4FC7-BE17-BDB60D044518}"/>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INTRODUCTION TO ORAL PRESENTATION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Public speaking is important in many spheres of life such as business, education, and the public arena.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There are many benefits of public speaking to human beings as  words have the  </a:t>
            </a:r>
          </a:p>
          <a:p>
            <a:pPr marL="0" indent="0" algn="just">
              <a:buNone/>
            </a:pPr>
            <a:r>
              <a:rPr lang="en-US" dirty="0">
                <a:latin typeface="Times New Roman" panose="02020603050405020304" pitchFamily="18" charset="0"/>
                <a:cs typeface="Times New Roman" panose="02020603050405020304" pitchFamily="18" charset="0"/>
              </a:rPr>
              <a:t>    power to inform, persuade, educate, and even entertain. The spoken word can be </a:t>
            </a:r>
          </a:p>
          <a:p>
            <a:pPr marL="0" indent="0" algn="just">
              <a:buNone/>
            </a:pPr>
            <a:r>
              <a:rPr lang="en-US" dirty="0">
                <a:latin typeface="Times New Roman" panose="02020603050405020304" pitchFamily="18" charset="0"/>
                <a:cs typeface="Times New Roman" panose="02020603050405020304" pitchFamily="18" charset="0"/>
              </a:rPr>
              <a:t>    even more powerful than the written word in the hands of the right speaker.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Over the years, public speaking has played a major role in education, government, and business.</a:t>
            </a:r>
          </a:p>
          <a:p>
            <a:pPr algn="jus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In this unit, we will define public speaking or oral presentations, discuss types of oral presentations, preparation for an oral presentation and delivering public speeches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923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E049896-EE9F-4115-ADFD-54DC972F4C4E}"/>
              </a:ext>
            </a:extLst>
          </p:cNvPr>
          <p:cNvSpPr>
            <a:spLocks noGrp="1"/>
          </p:cNvSpPr>
          <p:nvPr>
            <p:ph idx="1"/>
          </p:nvPr>
        </p:nvSpPr>
        <p:spPr>
          <a:xfrm>
            <a:off x="-26504" y="0"/>
            <a:ext cx="12192000" cy="6858000"/>
          </a:xfrm>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Definition of an oral presentation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An oral presentation is a speech that is presented live before an audience.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There are different types of oral presentations. However, they are usually divided into three  general categories:</a:t>
            </a:r>
          </a:p>
          <a:p>
            <a:pPr marL="0" indent="0">
              <a:buNone/>
            </a:pPr>
            <a:r>
              <a:rPr lang="en-US" b="1" dirty="0">
                <a:latin typeface="Times New Roman" panose="02020603050405020304" pitchFamily="18" charset="0"/>
                <a:cs typeface="Times New Roman" panose="02020603050405020304" pitchFamily="18" charset="0"/>
              </a:rPr>
              <a:t>a.	Informative presentations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basic purpose of informative presentations is to promote understanding of an issue.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It is meant to make listener aware or understand something. </a:t>
            </a:r>
          </a:p>
          <a:p>
            <a:pPr marL="0" indent="0">
              <a:buNone/>
            </a:pPr>
            <a:r>
              <a:rPr lang="en-US" b="1" dirty="0">
                <a:latin typeface="Times New Roman" panose="02020603050405020304" pitchFamily="18" charset="0"/>
                <a:cs typeface="Times New Roman" panose="02020603050405020304" pitchFamily="18" charset="0"/>
              </a:rPr>
              <a:t>b.	Persuasive presentations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These are meant to influence choices.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When  giving your presentation, you are determined to change your listeners’ beliefs.</a:t>
            </a:r>
          </a:p>
          <a:p>
            <a:pPr marL="514350" indent="-514350">
              <a:buAutoNum type="alphaLcPeriod" startAt="3"/>
            </a:pPr>
            <a:r>
              <a:rPr lang="en-US" b="1" dirty="0">
                <a:latin typeface="Times New Roman" panose="02020603050405020304" pitchFamily="18" charset="0"/>
                <a:cs typeface="Times New Roman" panose="02020603050405020304" pitchFamily="18" charset="0"/>
              </a:rPr>
              <a:t>Entertaining presentations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These presentations are meant to entertain.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Some speakers making persuasive </a:t>
            </a:r>
            <a:r>
              <a:rPr lang="en-US">
                <a:latin typeface="Times New Roman" panose="02020603050405020304" pitchFamily="18" charset="0"/>
                <a:cs typeface="Times New Roman" panose="02020603050405020304" pitchFamily="18" charset="0"/>
              </a:rPr>
              <a:t>or </a:t>
            </a:r>
            <a:r>
              <a:rPr lang="en-US" smtClean="0">
                <a:latin typeface="Times New Roman" panose="02020603050405020304" pitchFamily="18" charset="0"/>
                <a:cs typeface="Times New Roman" panose="02020603050405020304" pitchFamily="18" charset="0"/>
              </a:rPr>
              <a:t>informative</a:t>
            </a:r>
            <a:r>
              <a:rPr lang="en-US"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presentations integrate their presentations with entertainment in order to keep their attention throughout their presentations.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However for this class we are going to focus our attention on informative presentations and persuasive presentations because entertainment is rarely the purpose of presentations in organizations.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5309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830CF02-0919-4C10-8A42-45A4EA7A75D8}"/>
              </a:ext>
            </a:extLst>
          </p:cNvPr>
          <p:cNvSpPr>
            <a:spLocks noGrp="1"/>
          </p:cNvSpPr>
          <p:nvPr>
            <p:ph idx="1"/>
          </p:nvPr>
        </p:nvSpPr>
        <p:spPr>
          <a:xfrm>
            <a:off x="0" y="0"/>
            <a:ext cx="12192000" cy="6858000"/>
          </a:xfrm>
        </p:spPr>
        <p:txBody>
          <a:bodyPr>
            <a:normAutofit/>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There is a thin line that separates informative and persuasive presentations. Persuasive presentations must inform as well as persuade. A person can only be persuaded to change if he/she is informed of all the facts.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achieve your purpose you need to first of all:</a:t>
            </a:r>
          </a:p>
          <a:p>
            <a:pPr marL="0" indent="0">
              <a:buNone/>
            </a:pPr>
            <a:r>
              <a:rPr lang="en-US" b="1" dirty="0">
                <a:latin typeface="Times New Roman" panose="02020603050405020304" pitchFamily="18" charset="0"/>
                <a:cs typeface="Times New Roman" panose="02020603050405020304" pitchFamily="18" charset="0"/>
              </a:rPr>
              <a:t>a.	Know your audience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For instance, if you are asked to make a presentation for a civic group or a youth club outside your school, or to representatives of a certain company, it will be helpful for you to know the following information about your listeners</a:t>
            </a:r>
          </a:p>
          <a:p>
            <a:pPr marL="0" indent="0">
              <a:buNone/>
            </a:pPr>
            <a:r>
              <a:rPr lang="en-US" dirty="0">
                <a:latin typeface="Times New Roman" panose="02020603050405020304" pitchFamily="18" charset="0"/>
                <a:cs typeface="Times New Roman" panose="02020603050405020304" pitchFamily="18" charset="0"/>
              </a:rPr>
              <a:t>1.</a:t>
            </a:r>
            <a:r>
              <a:rPr lang="en-US" i="1" dirty="0">
                <a:latin typeface="Times New Roman" panose="02020603050405020304" pitchFamily="18" charset="0"/>
                <a:cs typeface="Times New Roman" panose="02020603050405020304" pitchFamily="18" charset="0"/>
              </a:rPr>
              <a:t>Type of the group (e.g. what is the composition of the group? </a:t>
            </a:r>
            <a:r>
              <a:rPr lang="en-US" dirty="0">
                <a:latin typeface="Times New Roman" panose="02020603050405020304" pitchFamily="18" charset="0"/>
                <a:cs typeface="Times New Roman" panose="02020603050405020304" pitchFamily="18" charset="0"/>
              </a:rPr>
              <a:t>Are you going to talk to the youth or members of the clergy?). This may help you in choosing the type of language to be used.</a:t>
            </a:r>
          </a:p>
          <a:p>
            <a:pPr marL="0" indent="0">
              <a:buNone/>
            </a:pPr>
            <a:r>
              <a:rPr lang="en-US" dirty="0">
                <a:latin typeface="Times New Roman" panose="02020603050405020304" pitchFamily="18" charset="0"/>
                <a:cs typeface="Times New Roman" panose="02020603050405020304" pitchFamily="18" charset="0"/>
              </a:rPr>
              <a:t>2. </a:t>
            </a:r>
            <a:r>
              <a:rPr lang="en-US" i="1" dirty="0">
                <a:latin typeface="Times New Roman" panose="02020603050405020304" pitchFamily="18" charset="0"/>
                <a:cs typeface="Times New Roman" panose="02020603050405020304" pitchFamily="18" charset="0"/>
              </a:rPr>
              <a:t>Goal or purpose of the group, including its background </a:t>
            </a:r>
            <a:r>
              <a:rPr lang="en-US" dirty="0">
                <a:latin typeface="Times New Roman" panose="02020603050405020304" pitchFamily="18" charset="0"/>
                <a:cs typeface="Times New Roman" panose="02020603050405020304" pitchFamily="18" charset="0"/>
              </a:rPr>
              <a:t>– This may help you in gathering content which is relevant to the audience.</a:t>
            </a:r>
          </a:p>
          <a:p>
            <a:pPr marL="0" indent="0">
              <a:buNone/>
            </a:pPr>
            <a:r>
              <a:rPr lang="en-US" dirty="0">
                <a:latin typeface="Times New Roman" panose="02020603050405020304" pitchFamily="18" charset="0"/>
                <a:cs typeface="Times New Roman" panose="02020603050405020304" pitchFamily="18" charset="0"/>
              </a:rPr>
              <a:t>3. </a:t>
            </a:r>
            <a:r>
              <a:rPr lang="en-US" i="1" dirty="0">
                <a:latin typeface="Times New Roman" panose="02020603050405020304" pitchFamily="18" charset="0"/>
                <a:cs typeface="Times New Roman" panose="02020603050405020304" pitchFamily="18" charset="0"/>
              </a:rPr>
              <a:t>Size of the group </a:t>
            </a:r>
            <a:r>
              <a:rPr lang="en-US" dirty="0">
                <a:latin typeface="Times New Roman" panose="02020603050405020304" pitchFamily="18" charset="0"/>
                <a:cs typeface="Times New Roman" panose="02020603050405020304" pitchFamily="18" charset="0"/>
              </a:rPr>
              <a:t>– If the group is too big you may wish to use public address system. If the group is small you may even fit them in a small room.</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7959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E0D39F0-DE57-40C1-B1FB-AB3B12B3451D}"/>
              </a:ext>
            </a:extLst>
          </p:cNvPr>
          <p:cNvSpPr>
            <a:spLocks noGrp="1"/>
          </p:cNvSpPr>
          <p:nvPr>
            <p:ph idx="1"/>
          </p:nvPr>
        </p:nvSpPr>
        <p:spPr>
          <a:xfrm>
            <a:off x="0" y="0"/>
            <a:ext cx="12192000" cy="6858000"/>
          </a:xfrm>
        </p:spPr>
        <p:txBody>
          <a:bodyPr/>
          <a:lstStyle/>
          <a:p>
            <a:pPr marL="0" indent="0">
              <a:buNone/>
            </a:pPr>
            <a:r>
              <a:rPr lang="en-US" dirty="0">
                <a:latin typeface="Times New Roman" panose="02020603050405020304" pitchFamily="18" charset="0"/>
                <a:cs typeface="Times New Roman" panose="02020603050405020304" pitchFamily="18" charset="0"/>
              </a:rPr>
              <a:t>4. </a:t>
            </a:r>
            <a:r>
              <a:rPr lang="en-US" i="1" dirty="0">
                <a:latin typeface="Times New Roman" panose="02020603050405020304" pitchFamily="18" charset="0"/>
                <a:cs typeface="Times New Roman" panose="02020603050405020304" pitchFamily="18" charset="0"/>
              </a:rPr>
              <a:t>Characteristics of the members of the group </a:t>
            </a:r>
            <a:r>
              <a:rPr lang="en-US" dirty="0">
                <a:latin typeface="Times New Roman" panose="02020603050405020304" pitchFamily="18" charset="0"/>
                <a:cs typeface="Times New Roman" panose="02020603050405020304" pitchFamily="18" charset="0"/>
              </a:rPr>
              <a:t>e.g. ages, occupations, beliefs, values, interests – This may also help you in choosing language to be used. For example language used when speaking to Sunday school children may not be the same as the one used when speaking university students.</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5. </a:t>
            </a:r>
            <a:r>
              <a:rPr lang="en-US" i="1" dirty="0">
                <a:latin typeface="Times New Roman" panose="02020603050405020304" pitchFamily="18" charset="0"/>
                <a:cs typeface="Times New Roman" panose="02020603050405020304" pitchFamily="18" charset="0"/>
              </a:rPr>
              <a:t>What knowledge do they have about your topic </a:t>
            </a:r>
            <a:r>
              <a:rPr lang="en-US" dirty="0">
                <a:latin typeface="Times New Roman" panose="02020603050405020304" pitchFamily="18" charset="0"/>
                <a:cs typeface="Times New Roman" panose="02020603050405020304" pitchFamily="18" charset="0"/>
              </a:rPr>
              <a:t>– This may help you in the sense that if your audience is already familiar some ideas, you may not need to spend a lot of time explaining them.</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6. </a:t>
            </a:r>
            <a:r>
              <a:rPr lang="en-US" i="1" dirty="0">
                <a:latin typeface="Times New Roman" panose="02020603050405020304" pitchFamily="18" charset="0"/>
                <a:cs typeface="Times New Roman" panose="02020603050405020304" pitchFamily="18" charset="0"/>
              </a:rPr>
              <a:t>What do they know about you and what general opinions do they have about you? </a:t>
            </a:r>
            <a:r>
              <a:rPr lang="en-US" dirty="0">
                <a:latin typeface="Times New Roman" panose="02020603050405020304" pitchFamily="18" charset="0"/>
                <a:cs typeface="Times New Roman" panose="02020603050405020304" pitchFamily="18" charset="0"/>
              </a:rPr>
              <a:t>– If you feel they may not believe your message because of your personality, you may need to address their concern first in your speech.</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8790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5D986B4-F603-4200-AEE7-C47331AFB81D}"/>
              </a:ext>
            </a:extLst>
          </p:cNvPr>
          <p:cNvSpPr>
            <a:spLocks noGrp="1"/>
          </p:cNvSpPr>
          <p:nvPr>
            <p:ph idx="1"/>
          </p:nvPr>
        </p:nvSpPr>
        <p:spPr>
          <a:xfrm>
            <a:off x="0" y="0"/>
            <a:ext cx="12192000" cy="6858000"/>
          </a:xfrm>
        </p:spPr>
        <p:txBody>
          <a:bodyPr>
            <a:normAutofit fontScale="92500"/>
          </a:bodyPr>
          <a:lstStyle/>
          <a:p>
            <a:pPr marL="0" indent="0">
              <a:buNone/>
            </a:pPr>
            <a:r>
              <a:rPr lang="en-US" b="1" dirty="0">
                <a:latin typeface="Times New Roman" panose="02020603050405020304" pitchFamily="18" charset="0"/>
                <a:cs typeface="Times New Roman" panose="02020603050405020304" pitchFamily="18" charset="0"/>
              </a:rPr>
              <a:t>b. </a:t>
            </a:r>
            <a:r>
              <a:rPr lang="en-US" b="1" dirty="0" err="1">
                <a:latin typeface="Times New Roman" panose="02020603050405020304" pitchFamily="18" charset="0"/>
                <a:cs typeface="Times New Roman" panose="02020603050405020304" pitchFamily="18" charset="0"/>
              </a:rPr>
              <a:t>Analyse</a:t>
            </a:r>
            <a:r>
              <a:rPr lang="en-US" b="1" dirty="0">
                <a:latin typeface="Times New Roman" panose="02020603050405020304" pitchFamily="18" charset="0"/>
                <a:cs typeface="Times New Roman" panose="02020603050405020304" pitchFamily="18" charset="0"/>
              </a:rPr>
              <a:t> the needs of your listeners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Attempting to find out your listeners’ basic needs or motives is another way to </a:t>
            </a:r>
            <a:r>
              <a:rPr lang="en-US" dirty="0" err="1">
                <a:latin typeface="Times New Roman" panose="02020603050405020304" pitchFamily="18" charset="0"/>
                <a:cs typeface="Times New Roman" panose="02020603050405020304" pitchFamily="18" charset="0"/>
              </a:rPr>
              <a:t>analyse</a:t>
            </a:r>
            <a:r>
              <a:rPr lang="en-US" dirty="0">
                <a:latin typeface="Times New Roman" panose="02020603050405020304" pitchFamily="18" charset="0"/>
                <a:cs typeface="Times New Roman" panose="02020603050405020304" pitchFamily="18" charset="0"/>
              </a:rPr>
              <a:t> them.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Abraham Maslow developed a model known as Maslow’s Hierarchy of Needs which is very important in understanding the importance of analyzing the needs of the audience.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model says that people are driven by their needs to act as they do, as such, such needs need to be satisfied for their lives to be complete.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He ordered these needs into a hierarchy whereby those at the very bottom were deemed to be very basic and are needed by all us.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Maslow’s Hierarchy of Needs</a:t>
            </a:r>
          </a:p>
          <a:p>
            <a:pPr marL="0" indent="0">
              <a:buNone/>
            </a:pPr>
            <a:r>
              <a:rPr lang="en-US" dirty="0">
                <a:latin typeface="Times New Roman" panose="02020603050405020304" pitchFamily="18" charset="0"/>
                <a:cs typeface="Times New Roman" panose="02020603050405020304" pitchFamily="18" charset="0"/>
              </a:rPr>
              <a:t>a) </a:t>
            </a:r>
            <a:r>
              <a:rPr lang="en-US" b="1" i="1" dirty="0">
                <a:latin typeface="Times New Roman" panose="02020603050405020304" pitchFamily="18" charset="0"/>
                <a:cs typeface="Times New Roman" panose="02020603050405020304" pitchFamily="18" charset="0"/>
              </a:rPr>
              <a:t>Physiological needs </a:t>
            </a:r>
            <a:r>
              <a:rPr lang="en-US" dirty="0">
                <a:latin typeface="Times New Roman" panose="02020603050405020304" pitchFamily="18" charset="0"/>
                <a:cs typeface="Times New Roman" panose="02020603050405020304" pitchFamily="18" charset="0"/>
              </a:rPr>
              <a:t>– Include such needs as desire for food, desire for water, desire for shelter, desire for air and desire for sleep and desire for sex.</a:t>
            </a:r>
          </a:p>
          <a:p>
            <a:pPr marL="0" indent="0" algn="just">
              <a:buNone/>
            </a:pPr>
            <a:r>
              <a:rPr lang="en-US" b="1" i="1" dirty="0">
                <a:latin typeface="Times New Roman" panose="02020603050405020304" pitchFamily="18" charset="0"/>
                <a:cs typeface="Times New Roman" panose="02020603050405020304" pitchFamily="18" charset="0"/>
              </a:rPr>
              <a:t>b. Safety needs – </a:t>
            </a:r>
            <a:r>
              <a:rPr lang="en-US" dirty="0">
                <a:latin typeface="Times New Roman" panose="02020603050405020304" pitchFamily="18" charset="0"/>
                <a:cs typeface="Times New Roman" panose="02020603050405020304" pitchFamily="18" charset="0"/>
              </a:rPr>
              <a:t>They include desire for job and financial security, desire for law and order, need for protection from injury, poor health or harm and need for freedom from fear.</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3751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9F8A40D-F5F2-4955-BA56-3F05DC38C941}"/>
              </a:ext>
            </a:extLst>
          </p:cNvPr>
          <p:cNvSpPr>
            <a:spLocks noGrp="1"/>
          </p:cNvSpPr>
          <p:nvPr>
            <p:ph idx="1"/>
          </p:nvPr>
        </p:nvSpPr>
        <p:spPr>
          <a:xfrm>
            <a:off x="0" y="0"/>
            <a:ext cx="12192000" cy="6858000"/>
          </a:xfrm>
        </p:spPr>
        <p:txBody>
          <a:bodyPr/>
          <a:lstStyle/>
          <a:p>
            <a:pPr marL="0" indent="0">
              <a:buNone/>
            </a:pPr>
            <a:r>
              <a:rPr lang="en-US" dirty="0">
                <a:latin typeface="Times New Roman" panose="02020603050405020304" pitchFamily="18" charset="0"/>
                <a:cs typeface="Times New Roman" panose="02020603050405020304" pitchFamily="18" charset="0"/>
              </a:rPr>
              <a:t>c. </a:t>
            </a:r>
            <a:r>
              <a:rPr lang="en-US" b="1" i="1" dirty="0">
                <a:latin typeface="Times New Roman" panose="02020603050405020304" pitchFamily="18" charset="0"/>
                <a:cs typeface="Times New Roman" panose="02020603050405020304" pitchFamily="18" charset="0"/>
              </a:rPr>
              <a:t>Social or love needs – </a:t>
            </a:r>
            <a:r>
              <a:rPr lang="en-US" dirty="0">
                <a:latin typeface="Times New Roman" panose="02020603050405020304" pitchFamily="18" charset="0"/>
                <a:cs typeface="Times New Roman" panose="02020603050405020304" pitchFamily="18" charset="0"/>
              </a:rPr>
              <a:t>They include such needs as love, companionship, </a:t>
            </a:r>
          </a:p>
          <a:p>
            <a:pPr marL="0" indent="0">
              <a:buNone/>
            </a:pPr>
            <a:r>
              <a:rPr lang="en-US" dirty="0">
                <a:latin typeface="Times New Roman" panose="02020603050405020304" pitchFamily="18" charset="0"/>
                <a:cs typeface="Times New Roman" panose="02020603050405020304" pitchFamily="18" charset="0"/>
              </a:rPr>
              <a:t>     friendship and a feeling of belonging to one or more groups.</a:t>
            </a:r>
          </a:p>
          <a:p>
            <a:pPr marL="0" indent="0">
              <a:buNone/>
            </a:pPr>
            <a:r>
              <a:rPr lang="en-US" b="1" i="1" dirty="0">
                <a:latin typeface="Times New Roman" panose="02020603050405020304" pitchFamily="18" charset="0"/>
                <a:cs typeface="Times New Roman" panose="02020603050405020304" pitchFamily="18" charset="0"/>
              </a:rPr>
              <a:t>d. Esteem needs – </a:t>
            </a:r>
            <a:r>
              <a:rPr lang="en-US" dirty="0">
                <a:latin typeface="Times New Roman" panose="02020603050405020304" pitchFamily="18" charset="0"/>
                <a:cs typeface="Times New Roman" panose="02020603050405020304" pitchFamily="18" charset="0"/>
              </a:rPr>
              <a:t>They include pride, desire for recognition from others, desire for </a:t>
            </a:r>
          </a:p>
          <a:p>
            <a:pPr marL="0" indent="0">
              <a:buNone/>
            </a:pPr>
            <a:r>
              <a:rPr lang="en-US" dirty="0">
                <a:latin typeface="Times New Roman" panose="02020603050405020304" pitchFamily="18" charset="0"/>
                <a:cs typeface="Times New Roman" panose="02020603050405020304" pitchFamily="18" charset="0"/>
              </a:rPr>
              <a:t>       status and prestige.</a:t>
            </a:r>
          </a:p>
          <a:p>
            <a:pPr marL="0" indent="0">
              <a:buNone/>
            </a:pPr>
            <a:r>
              <a:rPr lang="en-US" b="1" i="1" dirty="0">
                <a:latin typeface="Times New Roman" panose="02020603050405020304" pitchFamily="18" charset="0"/>
                <a:cs typeface="Times New Roman" panose="02020603050405020304" pitchFamily="18" charset="0"/>
              </a:rPr>
              <a:t>e. Self-actualization needs – </a:t>
            </a:r>
            <a:r>
              <a:rPr lang="en-US" dirty="0">
                <a:latin typeface="Times New Roman" panose="02020603050405020304" pitchFamily="18" charset="0"/>
                <a:cs typeface="Times New Roman" panose="02020603050405020304" pitchFamily="18" charset="0"/>
              </a:rPr>
              <a:t>They include desire to be the best person one can be </a:t>
            </a:r>
          </a:p>
          <a:p>
            <a:pPr marL="0" indent="0">
              <a:buNone/>
            </a:pPr>
            <a:r>
              <a:rPr lang="en-US" dirty="0">
                <a:latin typeface="Times New Roman" panose="02020603050405020304" pitchFamily="18" charset="0"/>
                <a:cs typeface="Times New Roman" panose="02020603050405020304" pitchFamily="18" charset="0"/>
              </a:rPr>
              <a:t>    (to develop oneself to ones fullest capabilities and to achieve worthwhile goals).</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Below is the Malow’s Hierarchy of Needs Model presented diagrammatically:</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7463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9E38CC98-8510-4204-B409-319595A9A3A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p:spPr>
      </p:pic>
    </p:spTree>
    <p:extLst>
      <p:ext uri="{BB962C8B-B14F-4D97-AF65-F5344CB8AC3E}">
        <p14:creationId xmlns:p14="http://schemas.microsoft.com/office/powerpoint/2010/main" val="1728668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109E461-0512-4597-B62E-3EC33B0BBAE9}"/>
              </a:ext>
            </a:extLst>
          </p:cNvPr>
          <p:cNvSpPr>
            <a:spLocks noGrp="1"/>
          </p:cNvSpPr>
          <p:nvPr>
            <p:ph idx="1"/>
          </p:nvPr>
        </p:nvSpPr>
        <p:spPr>
          <a:xfrm>
            <a:off x="0" y="0"/>
            <a:ext cx="12192000" cy="6858000"/>
          </a:xfrm>
        </p:spPr>
        <p:txBody>
          <a:bodyPr>
            <a:normAutofit fontScale="92500" lnSpcReduction="10000"/>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Chances are you will be a manager at some time during your life and as a manager you will want to inform or persuade your employees. Even if you are not a manager, you may be asked to present certain information to your fellow employees.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 be a successful communicator in either of these situations, you should know what needs motivate the employees. </a:t>
            </a:r>
          </a:p>
          <a:p>
            <a:pPr algn="jus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First, an employee is motivated by personal needs. Communication with employees who have unsatisfied personal needs is very difficult. Their reactions serve as roadblocks to successful communication.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Reactions such as anxiety, boredom, self-doubt, frustration, and bitterness keep these employees from paying careful attention or showing an interest in your ideas or information. Such reactions keep employees from believing you or acting as you propose.</a:t>
            </a:r>
          </a:p>
          <a:p>
            <a:pPr algn="jus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Maslow’s Model helps encourage us to analyze the needs of our audience and address them accordingly i.e. if you know the needs of your audience you will package your presentation in such a way that you satisfy them.</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9541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9022141-5B6B-4B52-B483-1D0915542199}"/>
              </a:ext>
            </a:extLst>
          </p:cNvPr>
          <p:cNvSpPr>
            <a:spLocks noGrp="1"/>
          </p:cNvSpPr>
          <p:nvPr>
            <p:ph idx="1"/>
          </p:nvPr>
        </p:nvSpPr>
        <p:spPr>
          <a:xfrm>
            <a:off x="0" y="0"/>
            <a:ext cx="12192000" cy="6858000"/>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Organizing oral presentations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Although each category is unique in certain ways, the basic </a:t>
            </a:r>
            <a:r>
              <a:rPr lang="en-US" dirty="0" err="1">
                <a:latin typeface="Times New Roman" panose="02020603050405020304" pitchFamily="18" charset="0"/>
                <a:cs typeface="Times New Roman" panose="02020603050405020304" pitchFamily="18" charset="0"/>
              </a:rPr>
              <a:t>organisation</a:t>
            </a:r>
            <a:r>
              <a:rPr lang="en-US" dirty="0">
                <a:latin typeface="Times New Roman" panose="02020603050405020304" pitchFamily="18" charset="0"/>
                <a:cs typeface="Times New Roman" panose="02020603050405020304" pitchFamily="18" charset="0"/>
              </a:rPr>
              <a:t> of each presentation is the same: an introduction, a body and a conclusion. </a:t>
            </a:r>
          </a:p>
          <a:p>
            <a:pPr marL="0" indent="0">
              <a:buNone/>
            </a:pPr>
            <a:r>
              <a:rPr lang="en-US" b="1" i="1" dirty="0">
                <a:latin typeface="Times New Roman" panose="02020603050405020304" pitchFamily="18" charset="0"/>
                <a:cs typeface="Times New Roman" panose="02020603050405020304" pitchFamily="18" charset="0"/>
              </a:rPr>
              <a:t>a. The Introduction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This is the opening of your presentation. Its function is to arouse the interest of the audience and to lead them into the main ideas presented in the body. This is the crucial moment you can capture your audience’s attention and keep its focus.</a:t>
            </a:r>
          </a:p>
          <a:p>
            <a:pPr marL="0" indent="0">
              <a:buNone/>
            </a:pPr>
            <a:r>
              <a:rPr lang="en-US" b="1" dirty="0">
                <a:latin typeface="Times New Roman" panose="02020603050405020304" pitchFamily="18" charset="0"/>
                <a:cs typeface="Times New Roman" panose="02020603050405020304" pitchFamily="18" charset="0"/>
              </a:rPr>
              <a:t>The introduction should: </a:t>
            </a:r>
          </a:p>
          <a:p>
            <a:pPr marL="0" indent="0">
              <a:buNone/>
            </a:pPr>
            <a:r>
              <a:rPr lang="en-US" b="1" i="1" dirty="0">
                <a:latin typeface="Times New Roman" panose="02020603050405020304" pitchFamily="18" charset="0"/>
                <a:cs typeface="Times New Roman" panose="02020603050405020304" pitchFamily="18" charset="0"/>
              </a:rPr>
              <a:t>1. Capture the attention of the listeners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As you begin your presentation, listener attention may be focused on many things. The purpose here is to direct attention from individual concerns and thoughts to your presentation. You can use the following techniques in order to get their attention:</a:t>
            </a:r>
          </a:p>
          <a:p>
            <a:pPr marL="0" indent="0">
              <a:buNone/>
            </a:pPr>
            <a:r>
              <a:rPr lang="en-US" dirty="0">
                <a:latin typeface="Times New Roman" panose="02020603050405020304" pitchFamily="18" charset="0"/>
                <a:cs typeface="Times New Roman" panose="02020603050405020304" pitchFamily="18" charset="0"/>
              </a:rPr>
              <a:t>a. Revealing one or more startling facts.</a:t>
            </a:r>
          </a:p>
          <a:p>
            <a:pPr marL="0" indent="0">
              <a:buNone/>
            </a:pPr>
            <a:r>
              <a:rPr lang="en-US" dirty="0">
                <a:latin typeface="Times New Roman" panose="02020603050405020304" pitchFamily="18" charset="0"/>
                <a:cs typeface="Times New Roman" panose="02020603050405020304" pitchFamily="18" charset="0"/>
              </a:rPr>
              <a:t>b. Asking a rhetorical question (a question that causes the audience to think rather than </a:t>
            </a:r>
          </a:p>
          <a:p>
            <a:pPr marL="0" indent="0">
              <a:buNone/>
            </a:pPr>
            <a:r>
              <a:rPr lang="en-US" dirty="0">
                <a:latin typeface="Times New Roman" panose="02020603050405020304" pitchFamily="18" charset="0"/>
                <a:cs typeface="Times New Roman" panose="02020603050405020304" pitchFamily="18" charset="0"/>
              </a:rPr>
              <a:t>       respond.</a:t>
            </a:r>
          </a:p>
          <a:p>
            <a:pPr marL="0" indent="0">
              <a:buNone/>
            </a:pPr>
            <a:r>
              <a:rPr lang="en-US" dirty="0">
                <a:latin typeface="Times New Roman" panose="02020603050405020304" pitchFamily="18" charset="0"/>
                <a:cs typeface="Times New Roman" panose="02020603050405020304" pitchFamily="18" charset="0"/>
              </a:rPr>
              <a:t>c. Telling a joke relating directly to the topic (poorly told jokes do not impress listeners. If you are not good at </a:t>
            </a:r>
            <a:r>
              <a:rPr lang="en-US" dirty="0" err="1">
                <a:latin typeface="Times New Roman" panose="02020603050405020304" pitchFamily="18" charset="0"/>
                <a:cs typeface="Times New Roman" panose="02020603050405020304" pitchFamily="18" charset="0"/>
              </a:rPr>
              <a:t>humour</a:t>
            </a:r>
            <a:r>
              <a:rPr lang="en-US" dirty="0">
                <a:latin typeface="Times New Roman" panose="02020603050405020304" pitchFamily="18" charset="0"/>
                <a:cs typeface="Times New Roman" panose="02020603050405020304" pitchFamily="18" charset="0"/>
              </a:rPr>
              <a:t>, leave it for others).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7685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C8E1DE0-5DAE-4CEF-9241-5C4608BC65AD}"/>
              </a:ext>
            </a:extLst>
          </p:cNvPr>
          <p:cNvSpPr>
            <a:spLocks noGrp="1"/>
          </p:cNvSpPr>
          <p:nvPr>
            <p:ph idx="1"/>
          </p:nvPr>
        </p:nvSpPr>
        <p:spPr>
          <a:xfrm>
            <a:off x="0" y="0"/>
            <a:ext cx="12192000" cy="6858000"/>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d. Briefly citing two or three specific incidents or examples that relate to the topic.</a:t>
            </a:r>
          </a:p>
          <a:p>
            <a:pPr marL="0" indent="0">
              <a:buNone/>
            </a:pPr>
            <a:r>
              <a:rPr lang="en-US" dirty="0">
                <a:latin typeface="Times New Roman" panose="02020603050405020304" pitchFamily="18" charset="0"/>
                <a:cs typeface="Times New Roman" panose="02020603050405020304" pitchFamily="18" charset="0"/>
              </a:rPr>
              <a:t>e. Briefly demonstrate the item or skill you will be discussing in your presentation.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2. Motivate them to listen by showing how your topic will benefit them (reasons to listen).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 keep your audience, you must convince them that the presentation will benefit them in some way i.e. will help them satisfy personal or job related needs.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  determine which needs to use to motivate your listeners, look at their needs.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3. Express the purpose of your presentation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You should include a general statement of purpose and a summary of the main points to be covered.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average listener finds it much easier to follow and remember the ideas contained in your presentation when your introduction lists key points that will be covered.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3607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D41080F-7978-4E5E-9775-1E3EDAC57C82}"/>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b. The Body</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This is the largest part of your presentation which contains the arguments, evidence and main content.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Discuss in detail the main points listed in the introduction. It is wise to have three or four main points in the presentation. If you include too many points, you may lose the listeners.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However, the number of main points you select should depend on: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a:t>
            </a:r>
            <a:r>
              <a:rPr lang="en-US" i="1" dirty="0">
                <a:latin typeface="Times New Roman" panose="02020603050405020304" pitchFamily="18" charset="0"/>
                <a:cs typeface="Times New Roman" panose="02020603050405020304" pitchFamily="18" charset="0"/>
              </a:rPr>
              <a:t>How many points are needed to adequately develop your topic?</a:t>
            </a:r>
          </a:p>
          <a:p>
            <a:pPr marL="0" indent="0">
              <a:buNone/>
            </a:pPr>
            <a:r>
              <a:rPr lang="en-US" i="1" dirty="0">
                <a:latin typeface="Times New Roman" panose="02020603050405020304" pitchFamily="18" charset="0"/>
                <a:cs typeface="Times New Roman" panose="02020603050405020304" pitchFamily="18" charset="0"/>
              </a:rPr>
              <a:t>2.	Time limit.</a:t>
            </a:r>
          </a:p>
          <a:p>
            <a:pPr marL="0" indent="0">
              <a:buNone/>
            </a:pPr>
            <a:r>
              <a:rPr lang="en-US" i="1" dirty="0">
                <a:latin typeface="Times New Roman" panose="02020603050405020304" pitchFamily="18" charset="0"/>
                <a:cs typeface="Times New Roman" panose="02020603050405020304" pitchFamily="18" charset="0"/>
              </a:rPr>
              <a:t>3.	The knowledge and interest of your audience.</a:t>
            </a:r>
          </a:p>
          <a:p>
            <a:pPr marL="0" indent="0">
              <a:buNone/>
            </a:pPr>
            <a:endParaRPr lang="en-US" i="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2376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E8F4302-CCFA-45CB-A22B-7AC22E143522}"/>
              </a:ext>
            </a:extLst>
          </p:cNvPr>
          <p:cNvSpPr>
            <a:spLocks noGrp="1"/>
          </p:cNvSpPr>
          <p:nvPr>
            <p:ph idx="1"/>
          </p:nvPr>
        </p:nvSpPr>
        <p:spPr>
          <a:xfrm>
            <a:off x="0" y="0"/>
            <a:ext cx="12192000" cy="6858000"/>
          </a:xfrm>
        </p:spPr>
        <p:txBody>
          <a:bodyPr>
            <a:normAutofit fontScale="92500"/>
          </a:bodyPr>
          <a:lstStyle/>
          <a:p>
            <a:pPr marL="0" indent="0">
              <a:buNone/>
            </a:pPr>
            <a:r>
              <a:rPr lang="en-US" b="1" dirty="0">
                <a:latin typeface="Times New Roman" panose="02020603050405020304" pitchFamily="18" charset="0"/>
                <a:cs typeface="Times New Roman" panose="02020603050405020304" pitchFamily="18" charset="0"/>
              </a:rPr>
              <a:t>c. The Conclusion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Is the last part of the presentation. It is a summary of the major ideas that is designed to induce mental or behavioural change in the audience.</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It normally contains two parts: a summary and a closing thought or statement.</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b="1" i="1" dirty="0">
                <a:latin typeface="Times New Roman" panose="02020603050405020304" pitchFamily="18" charset="0"/>
                <a:cs typeface="Times New Roman" panose="02020603050405020304" pitchFamily="18" charset="0"/>
              </a:rPr>
              <a:t>A summary</a:t>
            </a:r>
            <a:r>
              <a:rPr lang="en-US" dirty="0">
                <a:latin typeface="Times New Roman" panose="02020603050405020304" pitchFamily="18" charset="0"/>
                <a:cs typeface="Times New Roman" panose="02020603050405020304" pitchFamily="18" charset="0"/>
              </a:rPr>
              <a:t>, list the main points covered in your presentation. Your intention should be to clarify any confusions as to the purpose of main points in your presentation.</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b="1" i="1" dirty="0">
                <a:latin typeface="Times New Roman" panose="02020603050405020304" pitchFamily="18" charset="0"/>
                <a:cs typeface="Times New Roman" panose="02020603050405020304" pitchFamily="18" charset="0"/>
              </a:rPr>
              <a:t>A closing thought </a:t>
            </a:r>
            <a:r>
              <a:rPr lang="en-US" dirty="0">
                <a:latin typeface="Times New Roman" panose="02020603050405020304" pitchFamily="18" charset="0"/>
                <a:cs typeface="Times New Roman" panose="02020603050405020304" pitchFamily="18" charset="0"/>
              </a:rPr>
              <a:t>serves as the last attention getter. Any of the attention getters listed for use in your introduction can also be used successfully to conclude your presentation.</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purpose of the closing statement is to give the audience a thought or a challenge that will keep them thinking about your presentation long after it is completed</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5157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071B0B9-AFE3-4AEB-A116-FDF5CA0FBCB0}"/>
              </a:ext>
            </a:extLst>
          </p:cNvPr>
          <p:cNvSpPr>
            <a:spLocks noGrp="1"/>
          </p:cNvSpPr>
          <p:nvPr>
            <p:ph idx="1"/>
          </p:nvPr>
        </p:nvSpPr>
        <p:spPr>
          <a:xfrm>
            <a:off x="-13252"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Principles of Effective Delivery</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Now that you have an oral presentation that is clearly organized with a good introduction, body and conclusion, you are on the road towards delivering an effective presentation.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You need to do the following:</a:t>
            </a:r>
          </a:p>
          <a:p>
            <a:pPr marL="571500" indent="-571500">
              <a:buFont typeface="+mj-lt"/>
              <a:buAutoNum type="romanLcPeriod"/>
            </a:pPr>
            <a:r>
              <a:rPr lang="en-US" b="1" i="1" dirty="0">
                <a:latin typeface="Times New Roman" panose="02020603050405020304" pitchFamily="18" charset="0"/>
                <a:cs typeface="Times New Roman" panose="02020603050405020304" pitchFamily="18" charset="0"/>
              </a:rPr>
              <a:t>Relax and be enthusiastic and natural </a:t>
            </a:r>
            <a:r>
              <a:rPr lang="en-US" dirty="0">
                <a:latin typeface="Times New Roman" panose="02020603050405020304" pitchFamily="18" charset="0"/>
                <a:cs typeface="Times New Roman" panose="02020603050405020304" pitchFamily="18" charset="0"/>
              </a:rPr>
              <a:t>– To appear natural and relaxed, you need to look directly at your listeners and even smile occasionally.</a:t>
            </a:r>
          </a:p>
          <a:p>
            <a:pPr marL="571500" indent="-571500">
              <a:buAutoNum type="romanLcPeriod" startAt="2"/>
            </a:pPr>
            <a:r>
              <a:rPr lang="en-US" b="1" i="1" dirty="0">
                <a:latin typeface="Times New Roman" panose="02020603050405020304" pitchFamily="18" charset="0"/>
                <a:cs typeface="Times New Roman" panose="02020603050405020304" pitchFamily="18" charset="0"/>
              </a:rPr>
              <a:t>Be confident </a:t>
            </a:r>
            <a:r>
              <a:rPr lang="en-US" dirty="0">
                <a:latin typeface="Times New Roman" panose="02020603050405020304" pitchFamily="18" charset="0"/>
                <a:cs typeface="Times New Roman" panose="02020603050405020304" pitchFamily="18" charset="0"/>
              </a:rPr>
              <a:t>– Dressing up for the presentation is one way to gain confidence </a:t>
            </a:r>
          </a:p>
          <a:p>
            <a:pPr marL="0" indent="0">
              <a:buNone/>
            </a:pPr>
            <a:r>
              <a:rPr lang="en-US" dirty="0">
                <a:latin typeface="Times New Roman" panose="02020603050405020304" pitchFamily="18" charset="0"/>
                <a:cs typeface="Times New Roman" panose="02020603050405020304" pitchFamily="18" charset="0"/>
              </a:rPr>
              <a:t>       and a good way to nonverbally indicate that what you have to say is important.</a:t>
            </a:r>
          </a:p>
          <a:p>
            <a:pPr marL="0" indent="0">
              <a:buNone/>
            </a:pPr>
            <a:r>
              <a:rPr lang="en-US" b="1" i="1" dirty="0">
                <a:latin typeface="Times New Roman" panose="02020603050405020304" pitchFamily="18" charset="0"/>
                <a:cs typeface="Times New Roman" panose="02020603050405020304" pitchFamily="18" charset="0"/>
              </a:rPr>
              <a:t>iii.  Use gestures </a:t>
            </a:r>
            <a:r>
              <a:rPr lang="en-US" dirty="0">
                <a:latin typeface="Times New Roman" panose="02020603050405020304" pitchFamily="18" charset="0"/>
                <a:cs typeface="Times New Roman" panose="02020603050405020304" pitchFamily="18" charset="0"/>
              </a:rPr>
              <a:t>– A certain amount of movement not only helps you appear natural 	but also adds enthusiasm and authority to your presentation. Ensure your 	movements and gestures do not distract your audience. Too little movement 	can also make your audience lose interest. If used correctly, gestures add 	excitement and reinforce main ideas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7239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5BC2409-0388-4906-B854-3E909A974683}"/>
              </a:ext>
            </a:extLst>
          </p:cNvPr>
          <p:cNvSpPr>
            <a:spLocks noGrp="1"/>
          </p:cNvSpPr>
          <p:nvPr>
            <p:ph idx="1"/>
          </p:nvPr>
        </p:nvSpPr>
        <p:spPr>
          <a:xfrm>
            <a:off x="0" y="0"/>
            <a:ext cx="12192000" cy="6858000"/>
          </a:xfrm>
        </p:spPr>
        <p:txBody>
          <a:bodyPr>
            <a:normAutofit/>
          </a:bodyPr>
          <a:lstStyle/>
          <a:p>
            <a:pPr marL="0" indent="0">
              <a:buNone/>
            </a:pPr>
            <a:r>
              <a:rPr lang="en-US" b="1" i="1" dirty="0">
                <a:latin typeface="Times New Roman" panose="02020603050405020304" pitchFamily="18" charset="0"/>
                <a:cs typeface="Times New Roman" panose="02020603050405020304" pitchFamily="18" charset="0"/>
              </a:rPr>
              <a:t>iv. Use a conversational voice </a:t>
            </a:r>
            <a:r>
              <a:rPr lang="en-US" dirty="0">
                <a:latin typeface="Times New Roman" panose="02020603050405020304" pitchFamily="18" charset="0"/>
                <a:cs typeface="Times New Roman" panose="02020603050405020304" pitchFamily="18" charset="0"/>
              </a:rPr>
              <a:t>– Vocal variety is achieved by varying volume, pitch, emphasis and rate in a natural manner.</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a)Volume: </a:t>
            </a:r>
            <a:r>
              <a:rPr lang="en-US" dirty="0">
                <a:latin typeface="Times New Roman" panose="02020603050405020304" pitchFamily="18" charset="0"/>
                <a:cs typeface="Times New Roman" panose="02020603050405020304" pitchFamily="18" charset="0"/>
              </a:rPr>
              <a:t>the loudness and softness of your voice is important in several ways to 	your success as a speaker. Firstly, a good speaker must be loud enough to be 	heard easily from all parts of the room. Secondly, a good speaker also needs 	to vary the volume of his voice to make a presentation interesting. Thirdly, an 	effective speaker uses increases and decreases in volume to emphasize words 	or phrases.</a:t>
            </a:r>
          </a:p>
          <a:p>
            <a:pPr marL="0" indent="0">
              <a:buNone/>
            </a:pPr>
            <a:r>
              <a:rPr lang="en-US" i="1" dirty="0">
                <a:latin typeface="Times New Roman" panose="02020603050405020304" pitchFamily="18" charset="0"/>
                <a:cs typeface="Times New Roman" panose="02020603050405020304" pitchFamily="18" charset="0"/>
              </a:rPr>
              <a:t>b) Pitch: </a:t>
            </a:r>
            <a:r>
              <a:rPr lang="en-US" dirty="0">
                <a:latin typeface="Times New Roman" panose="02020603050405020304" pitchFamily="18" charset="0"/>
                <a:cs typeface="Times New Roman" panose="02020603050405020304" pitchFamily="18" charset="0"/>
              </a:rPr>
              <a:t>highness and lowness of vocal tones is also important to vocal variety. Too 	little variety in pitch can make your voice sound dull and uninteresting or 	even monotonous. Extreme changes in pitch can make you sound unnatural 	and insincere. </a:t>
            </a:r>
          </a:p>
          <a:p>
            <a:pPr marL="0" indent="0">
              <a:buNone/>
            </a:pPr>
            <a:r>
              <a:rPr lang="en-US" i="1" dirty="0">
                <a:latin typeface="Times New Roman" panose="02020603050405020304" pitchFamily="18" charset="0"/>
                <a:cs typeface="Times New Roman" panose="02020603050405020304" pitchFamily="18" charset="0"/>
              </a:rPr>
              <a:t>c) Rate: </a:t>
            </a:r>
            <a:r>
              <a:rPr lang="en-US" dirty="0">
                <a:latin typeface="Times New Roman" panose="02020603050405020304" pitchFamily="18" charset="0"/>
                <a:cs typeface="Times New Roman" panose="02020603050405020304" pitchFamily="18" charset="0"/>
              </a:rPr>
              <a:t>how fast or slowly you speak is also helpful in maintaining listener 	 	 	attention. Vary the speed to show excitement, build suspense, emphasize etc.</a:t>
            </a:r>
          </a:p>
          <a:p>
            <a:pPr marL="0" indent="0">
              <a:buNone/>
            </a:pPr>
            <a:r>
              <a:rPr lang="en-US" i="1" dirty="0">
                <a:latin typeface="Times New Roman" panose="02020603050405020304" pitchFamily="18" charset="0"/>
                <a:cs typeface="Times New Roman" panose="02020603050405020304" pitchFamily="18" charset="0"/>
              </a:rPr>
              <a:t>d) Pausing: </a:t>
            </a:r>
            <a:r>
              <a:rPr lang="en-US" dirty="0">
                <a:latin typeface="Times New Roman" panose="02020603050405020304" pitchFamily="18" charset="0"/>
                <a:cs typeface="Times New Roman" panose="02020603050405020304" pitchFamily="18" charset="0"/>
              </a:rPr>
              <a:t>be sure to pause after important phrases or ideas to let the listener 	 		absorb them.</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4734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773BE02-7CAD-4659-9488-A3E17146DCD0}"/>
              </a:ext>
            </a:extLst>
          </p:cNvPr>
          <p:cNvSpPr>
            <a:spLocks noGrp="1"/>
          </p:cNvSpPr>
          <p:nvPr>
            <p:ph idx="1"/>
          </p:nvPr>
        </p:nvSpPr>
        <p:spPr>
          <a:xfrm>
            <a:off x="0" y="0"/>
            <a:ext cx="12192000" cy="6858000"/>
          </a:xfrm>
        </p:spPr>
        <p:txBody>
          <a:bodyPr>
            <a:normAutofit lnSpcReduction="10000"/>
          </a:bodyPr>
          <a:lstStyle/>
          <a:p>
            <a:pPr marL="0" indent="0">
              <a:buNone/>
            </a:pPr>
            <a:r>
              <a:rPr lang="en-US" i="1" dirty="0">
                <a:latin typeface="Times New Roman" panose="02020603050405020304" pitchFamily="18" charset="0"/>
                <a:cs typeface="Times New Roman" panose="02020603050405020304" pitchFamily="18" charset="0"/>
              </a:rPr>
              <a:t>d) Emphasis: </a:t>
            </a:r>
            <a:r>
              <a:rPr lang="en-US" dirty="0">
                <a:latin typeface="Times New Roman" panose="02020603050405020304" pitchFamily="18" charset="0"/>
                <a:cs typeface="Times New Roman" panose="02020603050405020304" pitchFamily="18" charset="0"/>
              </a:rPr>
              <a:t>underlying or stressing a word with your voice to give the word 	significance is another important ingredient of vocal variety.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 illustrate this 	point, say the following sentence five times, each time emphasizing a 	different word as shown. You should be able to give five different meaning:</a:t>
            </a:r>
          </a:p>
          <a:p>
            <a:pPr marL="0" indent="0">
              <a:buNone/>
            </a:pPr>
            <a:r>
              <a:rPr lang="en-US" dirty="0">
                <a:latin typeface="Times New Roman" panose="02020603050405020304" pitchFamily="18" charset="0"/>
                <a:cs typeface="Times New Roman" panose="02020603050405020304" pitchFamily="18" charset="0"/>
              </a:rPr>
              <a:t>1.	</a:t>
            </a:r>
            <a:r>
              <a:rPr lang="en-US" b="1" i="1" dirty="0">
                <a:latin typeface="Times New Roman" panose="02020603050405020304" pitchFamily="18" charset="0"/>
                <a:cs typeface="Times New Roman" panose="02020603050405020304" pitchFamily="18" charset="0"/>
              </a:rPr>
              <a:t>Why</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did you fire him? (reason)</a:t>
            </a:r>
          </a:p>
          <a:p>
            <a:pPr marL="0" indent="0">
              <a:buNone/>
            </a:pPr>
            <a:r>
              <a:rPr lang="en-US" dirty="0">
                <a:latin typeface="Times New Roman" panose="02020603050405020304" pitchFamily="18" charset="0"/>
                <a:cs typeface="Times New Roman" panose="02020603050405020304" pitchFamily="18" charset="0"/>
              </a:rPr>
              <a:t>2.	Why </a:t>
            </a:r>
            <a:r>
              <a:rPr lang="en-US" b="1" i="1" dirty="0">
                <a:latin typeface="Times New Roman" panose="02020603050405020304" pitchFamily="18" charset="0"/>
                <a:cs typeface="Times New Roman" panose="02020603050405020304" pitchFamily="18" charset="0"/>
              </a:rPr>
              <a:t>did</a:t>
            </a:r>
            <a:r>
              <a:rPr lang="en-US" dirty="0">
                <a:latin typeface="Times New Roman" panose="02020603050405020304" pitchFamily="18" charset="0"/>
                <a:cs typeface="Times New Roman" panose="02020603050405020304" pitchFamily="18" charset="0"/>
              </a:rPr>
              <a:t> you fire him? (there was possibility not to)</a:t>
            </a:r>
          </a:p>
          <a:p>
            <a:pPr marL="0" indent="0">
              <a:buNone/>
            </a:pPr>
            <a:r>
              <a:rPr lang="en-US" dirty="0">
                <a:latin typeface="Times New Roman" panose="02020603050405020304" pitchFamily="18" charset="0"/>
                <a:cs typeface="Times New Roman" panose="02020603050405020304" pitchFamily="18" charset="0"/>
              </a:rPr>
              <a:t>3.	Why did </a:t>
            </a:r>
            <a:r>
              <a:rPr lang="en-US" b="1" i="1" dirty="0">
                <a:latin typeface="Times New Roman" panose="02020603050405020304" pitchFamily="18" charset="0"/>
                <a:cs typeface="Times New Roman" panose="02020603050405020304" pitchFamily="18" charset="0"/>
              </a:rPr>
              <a:t>you</a:t>
            </a:r>
            <a:r>
              <a:rPr lang="en-US" dirty="0">
                <a:latin typeface="Times New Roman" panose="02020603050405020304" pitchFamily="18" charset="0"/>
                <a:cs typeface="Times New Roman" panose="02020603050405020304" pitchFamily="18" charset="0"/>
              </a:rPr>
              <a:t> fire him? (and not someone else)</a:t>
            </a:r>
          </a:p>
          <a:p>
            <a:pPr marL="0" indent="0">
              <a:buNone/>
            </a:pPr>
            <a:r>
              <a:rPr lang="en-US" dirty="0">
                <a:latin typeface="Times New Roman" panose="02020603050405020304" pitchFamily="18" charset="0"/>
                <a:cs typeface="Times New Roman" panose="02020603050405020304" pitchFamily="18" charset="0"/>
              </a:rPr>
              <a:t>4.	Why did you </a:t>
            </a:r>
            <a:r>
              <a:rPr lang="en-US" b="1" i="1" dirty="0">
                <a:latin typeface="Times New Roman" panose="02020603050405020304" pitchFamily="18" charset="0"/>
                <a:cs typeface="Times New Roman" panose="02020603050405020304" pitchFamily="18" charset="0"/>
              </a:rPr>
              <a:t>fire</a:t>
            </a:r>
            <a:r>
              <a:rPr lang="en-US" dirty="0">
                <a:latin typeface="Times New Roman" panose="02020603050405020304" pitchFamily="18" charset="0"/>
                <a:cs typeface="Times New Roman" panose="02020603050405020304" pitchFamily="18" charset="0"/>
              </a:rPr>
              <a:t> him? (and not just warn him)</a:t>
            </a:r>
          </a:p>
          <a:p>
            <a:pPr marL="0" indent="0">
              <a:buNone/>
            </a:pPr>
            <a:r>
              <a:rPr lang="en-US" dirty="0">
                <a:latin typeface="Times New Roman" panose="02020603050405020304" pitchFamily="18" charset="0"/>
                <a:cs typeface="Times New Roman" panose="02020603050405020304" pitchFamily="18" charset="0"/>
              </a:rPr>
              <a:t>5.	Why did you fire </a:t>
            </a:r>
            <a:r>
              <a:rPr lang="en-US" b="1" i="1" dirty="0">
                <a:latin typeface="Times New Roman" panose="02020603050405020304" pitchFamily="18" charset="0"/>
                <a:cs typeface="Times New Roman" panose="02020603050405020304" pitchFamily="18" charset="0"/>
              </a:rPr>
              <a:t>him</a:t>
            </a:r>
            <a:r>
              <a:rPr lang="en-US" dirty="0">
                <a:latin typeface="Times New Roman" panose="02020603050405020304" pitchFamily="18" charset="0"/>
                <a:cs typeface="Times New Roman" panose="02020603050405020304" pitchFamily="18" charset="0"/>
              </a:rPr>
              <a:t>? (and not her)</a:t>
            </a:r>
          </a:p>
          <a:p>
            <a:pPr marL="0" indent="0">
              <a:buNone/>
            </a:pPr>
            <a:r>
              <a:rPr lang="en-US" b="1" i="1" dirty="0">
                <a:latin typeface="Times New Roman" panose="02020603050405020304" pitchFamily="18" charset="0"/>
                <a:cs typeface="Times New Roman" panose="02020603050405020304" pitchFamily="18" charset="0"/>
              </a:rPr>
              <a:t>v. Language </a:t>
            </a:r>
            <a:r>
              <a:rPr lang="en-US" dirty="0">
                <a:latin typeface="Times New Roman" panose="02020603050405020304" pitchFamily="18" charset="0"/>
                <a:cs typeface="Times New Roman" panose="02020603050405020304" pitchFamily="18" charset="0"/>
              </a:rPr>
              <a:t>– Use language that is simple (easy to understand); specific (give 	 		details); and vivid (paints a picture for the listener). </a:t>
            </a:r>
          </a:p>
          <a:p>
            <a:pPr marL="0" indent="0">
              <a:buNone/>
            </a:pPr>
            <a:r>
              <a:rPr lang="en-US" dirty="0">
                <a:latin typeface="Times New Roman" panose="02020603050405020304" pitchFamily="18" charset="0"/>
                <a:cs typeface="Times New Roman" panose="02020603050405020304" pitchFamily="18" charset="0"/>
              </a:rPr>
              <a:t>		Your listener needs to understand you the first time. One of the most 			serious mistakes a speaker can make is to try to impress listeners by 			using long or extremely technical words or jargons.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576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E4E0E45-0BB4-465F-A498-F843C3677EF8}"/>
              </a:ext>
            </a:extLst>
          </p:cNvPr>
          <p:cNvSpPr>
            <a:spLocks noGrp="1"/>
          </p:cNvSpPr>
          <p:nvPr>
            <p:ph idx="1"/>
          </p:nvPr>
        </p:nvSpPr>
        <p:spPr>
          <a:xfrm>
            <a:off x="0" y="0"/>
            <a:ext cx="12192000" cy="6858000"/>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PRINCIPLES OF EFFECTIVE TALKS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Any effective talk must do three things:</a:t>
            </a:r>
          </a:p>
          <a:p>
            <a:pPr marL="0" indent="0">
              <a:buNone/>
            </a:pPr>
            <a:r>
              <a:rPr lang="en-US" dirty="0">
                <a:latin typeface="Times New Roman" panose="02020603050405020304" pitchFamily="18" charset="0"/>
                <a:cs typeface="Times New Roman" panose="02020603050405020304" pitchFamily="18" charset="0"/>
              </a:rPr>
              <a:t>1.	Communicate your arguments and evidence.</a:t>
            </a:r>
          </a:p>
          <a:p>
            <a:pPr marL="0" indent="0">
              <a:buNone/>
            </a:pPr>
            <a:r>
              <a:rPr lang="en-US" dirty="0">
                <a:latin typeface="Times New Roman" panose="02020603050405020304" pitchFamily="18" charset="0"/>
                <a:cs typeface="Times New Roman" panose="02020603050405020304" pitchFamily="18" charset="0"/>
              </a:rPr>
              <a:t>2.	Persuade your audience that they are true.</a:t>
            </a:r>
          </a:p>
          <a:p>
            <a:pPr marL="0" indent="0">
              <a:buNone/>
            </a:pPr>
            <a:r>
              <a:rPr lang="en-US" dirty="0">
                <a:latin typeface="Times New Roman" panose="02020603050405020304" pitchFamily="18" charset="0"/>
                <a:cs typeface="Times New Roman" panose="02020603050405020304" pitchFamily="18" charset="0"/>
              </a:rPr>
              <a:t>3.	Be interesting and entertaining.</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 our obsession with persuasive argumentation, academics sometimes forget about the third item i.e. having the talk interesting and entertaining. Sometimes we think it follows automatically from the first two. It does not. Sometimes we even scoff at the goal itself. Perversely, we seem to believe that if a talk is entertaining, it is probably not very deep.</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These attitudes are seriously mistaken. It is impossible to communicate and persuade effectively without entertaining as well. Keeping your audience interested and involved (entertaining them) is essential because in order to communicate your work and its value, you need their full attention.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Listening is hard work. Especially at conferences where the audience listens to so many talks over many hours, people need the speaker’s help to maintain their focus. This is the true meaning and importance of ‘entertainment”.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0227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121388B-2638-41A3-8939-A8D8A19A0DE6}"/>
              </a:ext>
            </a:extLst>
          </p:cNvPr>
          <p:cNvSpPr>
            <a:spLocks noGrp="1"/>
          </p:cNvSpPr>
          <p:nvPr>
            <p:ph idx="1"/>
          </p:nvPr>
        </p:nvSpPr>
        <p:spPr>
          <a:xfrm>
            <a:off x="0" y="0"/>
            <a:ext cx="12192000" cy="6858000"/>
          </a:xfrm>
        </p:spPr>
        <p:txBody>
          <a:bodyPr/>
          <a:lstStyle/>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 an academic talk, entertainment is not about making your audience laugh or distract them from their troubles, but simply about keeping them focused on and interested in what you have to say.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How to Give a Clear Talk: Some Rules of Thumb</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No rule applies always and everywhere. But the following principles work almost all the time. Try them</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9630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788CAFCD-F99F-4A81-BCA3-90D36233D482}"/>
              </a:ext>
            </a:extLst>
          </p:cNvPr>
          <p:cNvGraphicFramePr>
            <a:graphicFrameLocks noGrp="1"/>
          </p:cNvGraphicFramePr>
          <p:nvPr>
            <p:ph idx="1"/>
            <p:extLst>
              <p:ext uri="{D42A27DB-BD31-4B8C-83A1-F6EECF244321}">
                <p14:modId xmlns:p14="http://schemas.microsoft.com/office/powerpoint/2010/main" val="2634218924"/>
              </p:ext>
            </p:extLst>
          </p:nvPr>
        </p:nvGraphicFramePr>
        <p:xfrm>
          <a:off x="0" y="106017"/>
          <a:ext cx="12192000" cy="6751988"/>
        </p:xfrm>
        <a:graphic>
          <a:graphicData uri="http://schemas.openxmlformats.org/drawingml/2006/table">
            <a:tbl>
              <a:tblPr firstRow="1" firstCol="1" bandRow="1"/>
              <a:tblGrid>
                <a:gridCol w="6096000">
                  <a:extLst>
                    <a:ext uri="{9D8B030D-6E8A-4147-A177-3AD203B41FA5}">
                      <a16:colId xmlns:a16="http://schemas.microsoft.com/office/drawing/2014/main" xmlns="" val="1729138"/>
                    </a:ext>
                  </a:extLst>
                </a:gridCol>
                <a:gridCol w="6096000">
                  <a:extLst>
                    <a:ext uri="{9D8B030D-6E8A-4147-A177-3AD203B41FA5}">
                      <a16:colId xmlns:a16="http://schemas.microsoft.com/office/drawing/2014/main" xmlns="" val="424906093"/>
                    </a:ext>
                  </a:extLst>
                </a:gridCol>
              </a:tblGrid>
              <a:tr h="446576">
                <a:tc>
                  <a:txBody>
                    <a:bodyPr/>
                    <a:lstStyle/>
                    <a:p>
                      <a:pPr marL="0" marR="0" algn="just">
                        <a:lnSpc>
                          <a:spcPct val="150000"/>
                        </a:lnSpc>
                        <a:spcBef>
                          <a:spcPts val="0"/>
                        </a:spcBef>
                        <a:spcAft>
                          <a:spcPts val="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USUALLY BETTER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b="1">
                          <a:effectLst/>
                          <a:latin typeface="Times New Roman" panose="02020603050405020304" pitchFamily="18" charset="0"/>
                          <a:ea typeface="Calibri" panose="020F0502020204030204" pitchFamily="34" charset="0"/>
                          <a:cs typeface="Times New Roman" panose="02020603050405020304" pitchFamily="18" charset="0"/>
                        </a:rPr>
                        <a:t>USUALLY WORSE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77239292"/>
                  </a:ext>
                </a:extLst>
              </a:tr>
              <a:tr h="446576">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Talk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Read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15727892"/>
                  </a:ext>
                </a:extLst>
              </a:tr>
              <a:tr h="446576">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Stand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Sit</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29682981"/>
                  </a:ext>
                </a:extLst>
              </a:tr>
              <a:tr h="446576">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Move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Stand still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80997345"/>
                  </a:ext>
                </a:extLst>
              </a:tr>
              <a:tr h="446576">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Vary the pitch of your voice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Speak in a monotone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651703131"/>
                  </a:ext>
                </a:extLst>
              </a:tr>
              <a:tr h="446576">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Speak loudly and clearly toward the audience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Mumble, facing downward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657631750"/>
                  </a:ext>
                </a:extLst>
              </a:tr>
              <a:tr h="446576">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Focus on main arguments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Get lost in details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57670352"/>
                  </a:ext>
                </a:extLst>
              </a:tr>
              <a:tr h="446576">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Use visual aids: outlines, pictures, graphs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Have no visual aids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78928829"/>
                  </a:ext>
                </a:extLst>
              </a:tr>
              <a:tr h="946500">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Finish your talk within your time limit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Corollary: rehearse your talk</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Run over time; don’t practice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96867045"/>
                  </a:ext>
                </a:extLst>
              </a:tr>
              <a:tr h="446576">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Summarize your main arguments at the beginning and end</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Fail to provide a conclusion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67371718"/>
                  </a:ext>
                </a:extLst>
              </a:tr>
              <a:tr h="446576">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Notice your audience and respond to its needs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Ignore audience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behaviour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00306271"/>
                  </a:ext>
                </a:extLst>
              </a:tr>
              <a:tr h="446576">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Emulate excellent speakers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8844429"/>
                  </a:ext>
                </a:extLst>
              </a:tr>
              <a:tr h="446576">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Make eye contact with the audience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Stare at the podium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04337600"/>
                  </a:ext>
                </a:extLst>
              </a:tr>
              <a:tr h="446576">
                <a:tc>
                  <a:txBody>
                    <a:bodyPr/>
                    <a:lstStyle/>
                    <a:p>
                      <a:pPr marL="0" marR="0" algn="just">
                        <a:lnSpc>
                          <a:spcPct val="150000"/>
                        </a:lnSpc>
                        <a:spcBef>
                          <a:spcPts val="0"/>
                        </a:spcBef>
                        <a:spcAft>
                          <a:spcPts val="0"/>
                        </a:spcAft>
                      </a:pPr>
                      <a:r>
                        <a:rPr lang="en-US" sz="2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8023745"/>
                  </a:ext>
                </a:extLst>
              </a:tr>
            </a:tbl>
          </a:graphicData>
        </a:graphic>
      </p:graphicFrame>
    </p:spTree>
    <p:extLst>
      <p:ext uri="{BB962C8B-B14F-4D97-AF65-F5344CB8AC3E}">
        <p14:creationId xmlns:p14="http://schemas.microsoft.com/office/powerpoint/2010/main" val="419678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BB4BCCB-6E83-467A-A09A-357C4301A92E}"/>
              </a:ext>
            </a:extLst>
          </p:cNvPr>
          <p:cNvSpPr>
            <a:spLocks noGrp="1"/>
          </p:cNvSpPr>
          <p:nvPr>
            <p:ph idx="1"/>
          </p:nvPr>
        </p:nvSpPr>
        <p:spPr>
          <a:xfrm>
            <a:off x="0" y="0"/>
            <a:ext cx="12192000" cy="6858000"/>
          </a:xfrm>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The above table is further explained below:</a:t>
            </a:r>
          </a:p>
          <a:p>
            <a:pPr marL="0" indent="0">
              <a:buNone/>
            </a:pPr>
            <a:r>
              <a:rPr lang="en-US" b="1" i="1" dirty="0">
                <a:latin typeface="Times New Roman" panose="02020603050405020304" pitchFamily="18" charset="0"/>
                <a:cs typeface="Times New Roman" panose="02020603050405020304" pitchFamily="18" charset="0"/>
              </a:rPr>
              <a:t>1. Talk rather read </a:t>
            </a:r>
            <a:r>
              <a:rPr lang="en-US" dirty="0">
                <a:latin typeface="Times New Roman" panose="02020603050405020304" pitchFamily="18" charset="0"/>
                <a:cs typeface="Times New Roman" panose="02020603050405020304" pitchFamily="18" charset="0"/>
              </a:rPr>
              <a:t>– it is easier to listen to and understand; and it allows you to make 	genuine contact with your audience. Furthermore, it ultimately helps you to think 	more clearly, by forcing you to communicate your points in ordinary terms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2. Stand up unless you are literally forced to sit: </a:t>
            </a:r>
            <a:r>
              <a:rPr lang="en-US" dirty="0">
                <a:latin typeface="Times New Roman" panose="02020603050405020304" pitchFamily="18" charset="0"/>
                <a:cs typeface="Times New Roman" panose="02020603050405020304" pitchFamily="18" charset="0"/>
              </a:rPr>
              <a:t>people can see you better. Standing also 	puts you in a dominant position; remember you are the focus. The audience wants 	you to be in charge. Listeners need your help to maintain their attention.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3. Move around rather than standing still: </a:t>
            </a:r>
            <a:r>
              <a:rPr lang="en-US" dirty="0">
                <a:latin typeface="Times New Roman" panose="02020603050405020304" pitchFamily="18" charset="0"/>
                <a:cs typeface="Times New Roman" panose="02020603050405020304" pitchFamily="18" charset="0"/>
              </a:rPr>
              <a:t>it’s easier to keep focused on someone who is 	moving than on a motionless talking head. Hand gestures are good too. It is 	possible to overdo this one, though. Simply walking back and forth from one side 	of the room to the other every three or four minutes is probably enough and 	gesturing too much will create distraction.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4. Vary the pitch of your voice: </a:t>
            </a:r>
            <a:r>
              <a:rPr lang="en-US" dirty="0">
                <a:latin typeface="Times New Roman" panose="02020603050405020304" pitchFamily="18" charset="0"/>
                <a:cs typeface="Times New Roman" panose="02020603050405020304" pitchFamily="18" charset="0"/>
              </a:rPr>
              <a:t>monotones are sleep-inducing. Many people do not realize 	they do this. Get a trusted friend or colleague to listen to your delivery and give you 	honest feedback. This is an important principle in itself. Even better, tape or 	videotape yourself and check out how you sound.</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7246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C595CC3-765B-48A6-A4B8-EBCA2B070AEB}"/>
              </a:ext>
            </a:extLst>
          </p:cNvPr>
          <p:cNvSpPr>
            <a:spLocks noGrp="1"/>
          </p:cNvSpPr>
          <p:nvPr>
            <p:ph idx="1"/>
          </p:nvPr>
        </p:nvSpPr>
        <p:spPr>
          <a:xfrm>
            <a:off x="-26504" y="-848140"/>
            <a:ext cx="12192000" cy="7706139"/>
          </a:xfrm>
        </p:spPr>
        <p:txBody>
          <a:bodyPr/>
          <a:lstStyle/>
          <a:p>
            <a:pPr marL="0" indent="0">
              <a:buNone/>
            </a:pPr>
            <a:r>
              <a:rPr lang="en-US" b="1" i="1" dirty="0">
                <a:latin typeface="Times New Roman" panose="02020603050405020304" pitchFamily="18" charset="0"/>
                <a:cs typeface="Times New Roman" panose="02020603050405020304" pitchFamily="18" charset="0"/>
              </a:rPr>
              <a:t>5. Speak loudly and clearly, facing the audience. </a:t>
            </a:r>
            <a:r>
              <a:rPr lang="en-US" dirty="0">
                <a:latin typeface="Times New Roman" panose="02020603050405020304" pitchFamily="18" charset="0"/>
                <a:cs typeface="Times New Roman" panose="02020603050405020304" pitchFamily="18" charset="0"/>
              </a:rPr>
              <a:t>Be careful when using visual aids 	that you continue to face the audience when you speak</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An important element of vocal technique is to focus on the bottom (the deepest 	pitch) of your vocal range, which is the loudest and most authoritative tone 	(this can be important especially t women). Speak from the gut, not the 	throat. Breathe deeply – it’s necessary for volume, and it will help you keep 	your mind clear.</a:t>
            </a:r>
          </a:p>
          <a:p>
            <a:pPr algn="just">
              <a:buFont typeface="Wingdings" panose="05000000000000000000" pitchFamily="2" charset="2"/>
              <a:buChar char="ü"/>
            </a:pPr>
            <a:r>
              <a:rPr lang="en-US" b="1" i="1" dirty="0">
                <a:latin typeface="Times New Roman" panose="02020603050405020304" pitchFamily="18" charset="0"/>
                <a:cs typeface="Times New Roman" panose="02020603050405020304" pitchFamily="18" charset="0"/>
              </a:rPr>
              <a:t>Tip: here are two effective special effects: </a:t>
            </a:r>
            <a:r>
              <a:rPr lang="en-US" dirty="0">
                <a:latin typeface="Times New Roman" panose="02020603050405020304" pitchFamily="18" charset="0"/>
                <a:cs typeface="Times New Roman" panose="02020603050405020304" pitchFamily="18" charset="0"/>
              </a:rPr>
              <a:t>first, when you come to a key phrase t	hat you want people to remember, repeat it. Second, pause for a few seconds 	at several points in your talk. This breaks the monotony of a continuous flow 	of speech. It also gives you a chance so sip some water (digest the point)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6.</a:t>
            </a:r>
            <a:r>
              <a:rPr lang="en-US" b="1" i="1" dirty="0">
                <a:latin typeface="Times New Roman" panose="02020603050405020304" pitchFamily="18" charset="0"/>
                <a:cs typeface="Times New Roman" panose="02020603050405020304" pitchFamily="18" charset="0"/>
              </a:rPr>
              <a:t>Make eye contact with the audience. </a:t>
            </a:r>
            <a:r>
              <a:rPr lang="en-US" dirty="0">
                <a:latin typeface="Times New Roman" panose="02020603050405020304" pitchFamily="18" charset="0"/>
                <a:cs typeface="Times New Roman" panose="02020603050405020304" pitchFamily="18" charset="0"/>
              </a:rPr>
              <a:t>If this is anxiety inducing, at least pretend to 	do this by casting your gaze toward the back and sides of the room. Be 	careful not to ignore one side of the audience. Many speakers ‘side’ 	unconsciously, looking always to the left or right half or only to the front or 	the back of the room.</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1453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30492E3-A20B-4F5F-A72C-7B58DE66848E}"/>
              </a:ext>
            </a:extLst>
          </p:cNvPr>
          <p:cNvSpPr>
            <a:spLocks noGrp="1"/>
          </p:cNvSpPr>
          <p:nvPr>
            <p:ph idx="1"/>
          </p:nvPr>
        </p:nvSpPr>
        <p:spPr>
          <a:xfrm>
            <a:off x="0" y="0"/>
            <a:ext cx="12192000" cy="6858000"/>
          </a:xfrm>
        </p:spPr>
        <p:txBody>
          <a:bodyPr>
            <a:normAutofit fontScale="92500" lnSpcReduction="20000"/>
          </a:bodyPr>
          <a:lstStyle/>
          <a:p>
            <a:pPr marL="0" indent="0">
              <a:buNone/>
            </a:pPr>
            <a:r>
              <a:rPr lang="en-US" b="1" i="1" dirty="0">
                <a:latin typeface="Times New Roman" panose="02020603050405020304" pitchFamily="18" charset="0"/>
                <a:cs typeface="Times New Roman" panose="02020603050405020304" pitchFamily="18" charset="0"/>
              </a:rPr>
              <a:t>7. Focus on main arguments. </a:t>
            </a:r>
            <a:r>
              <a:rPr lang="en-US" dirty="0">
                <a:latin typeface="Times New Roman" panose="02020603050405020304" pitchFamily="18" charset="0"/>
                <a:cs typeface="Times New Roman" panose="02020603050405020304" pitchFamily="18" charset="0"/>
              </a:rPr>
              <a:t>Especially in a conference situation, where talks are short 	and yours is one of many, your audience is not going to remember the details of 	your evidence. In such a situation, less is more. Give them short striking punch 	lines that they will remember. They can always read your written work later, but if 	you don’t get them interested and show them why it’s important, they won’t want 	to.</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8. Use visual aids. </a:t>
            </a:r>
            <a:r>
              <a:rPr lang="en-US" dirty="0">
                <a:latin typeface="Times New Roman" panose="02020603050405020304" pitchFamily="18" charset="0"/>
                <a:cs typeface="Times New Roman" panose="02020603050405020304" pitchFamily="18" charset="0"/>
              </a:rPr>
              <a:t>This is one of the most important principles of all. At a minimum, have 	an outline of your talk. Some people seem to think they are giving everything away 	by showing people what they are going to say before they have said it. But the 	effect of a good talk outline is exactly the opposite: it makes your audience want to 	hear the details. At the same time, it helps them understand the structure of your 	thinking. </a:t>
            </a:r>
          </a:p>
          <a:p>
            <a:pPr marL="0" indent="0">
              <a:buNone/>
            </a:pPr>
            <a:r>
              <a:rPr lang="en-US" dirty="0">
                <a:latin typeface="Times New Roman" panose="02020603050405020304" pitchFamily="18" charset="0"/>
                <a:cs typeface="Times New Roman" panose="02020603050405020304" pitchFamily="18" charset="0"/>
              </a:rPr>
              <a:t>	Talk outlines should be extremely concise and visually uncluttered. Seven to eight 	lines per slide is plenty. Microsoft </a:t>
            </a:r>
            <a:r>
              <a:rPr lang="en-US" dirty="0" err="1">
                <a:latin typeface="Times New Roman" panose="02020603050405020304" pitchFamily="18" charset="0"/>
                <a:cs typeface="Times New Roman" panose="02020603050405020304" pitchFamily="18" charset="0"/>
              </a:rPr>
              <a:t>Powerpoint</a:t>
            </a:r>
            <a:r>
              <a:rPr lang="en-US" dirty="0">
                <a:latin typeface="Times New Roman" panose="02020603050405020304" pitchFamily="18" charset="0"/>
                <a:cs typeface="Times New Roman" panose="02020603050405020304" pitchFamily="18" charset="0"/>
              </a:rPr>
              <a:t> – now standard issue in many 	presentation settings – is a great tool, not least because its default presentation 	formats encourage brevity. </a:t>
            </a:r>
          </a:p>
          <a:p>
            <a:pPr marL="0" indent="0">
              <a:buNone/>
            </a:pPr>
            <a:r>
              <a:rPr lang="en-US" dirty="0">
                <a:latin typeface="Times New Roman" panose="02020603050405020304" pitchFamily="18" charset="0"/>
                <a:cs typeface="Times New Roman" panose="02020603050405020304" pitchFamily="18" charset="0"/>
              </a:rPr>
              <a:t>	But beware: glitzy presentations can be distracting. Worse, they can create the 	impression that the speaker cares more about surface than substance. The 	recommendation is: choose simple backgrounds, and limit the use of special 	effects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144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5F3638B-2373-44E4-96A3-81FBF6BB40A7}"/>
              </a:ext>
            </a:extLst>
          </p:cNvPr>
          <p:cNvSpPr>
            <a:spLocks noGrp="1"/>
          </p:cNvSpPr>
          <p:nvPr>
            <p:ph idx="1"/>
          </p:nvPr>
        </p:nvSpPr>
        <p:spPr>
          <a:xfrm>
            <a:off x="0" y="0"/>
            <a:ext cx="12192000" cy="6858000"/>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	Pictures, graphs and other images are especially helpful. People are visual 	creatures. The old adage that a picture is worth is worth a thousand 	words 	is 	especially apropos in the context of a talk. </a:t>
            </a:r>
          </a:p>
          <a:p>
            <a:pPr marL="0" indent="0">
              <a:buNone/>
            </a:pPr>
            <a:r>
              <a:rPr lang="en-US" dirty="0">
                <a:latin typeface="Times New Roman" panose="02020603050405020304" pitchFamily="18" charset="0"/>
                <a:cs typeface="Times New Roman" panose="02020603050405020304" pitchFamily="18" charset="0"/>
              </a:rPr>
              <a:t>	One very important principle of slide presentations: always choose white or 	light </a:t>
            </a:r>
            <a:r>
              <a:rPr lang="en-US" dirty="0" err="1">
                <a:latin typeface="Times New Roman" panose="02020603050405020304" pitchFamily="18" charset="0"/>
                <a:cs typeface="Times New Roman" panose="02020603050405020304" pitchFamily="18" charset="0"/>
              </a:rPr>
              <a:t>coloured</a:t>
            </a:r>
            <a:r>
              <a:rPr lang="en-US" dirty="0">
                <a:latin typeface="Times New Roman" panose="02020603050405020304" pitchFamily="18" charset="0"/>
                <a:cs typeface="Times New Roman" panose="02020603050405020304" pitchFamily="18" charset="0"/>
              </a:rPr>
              <a:t> 	backgrounds. To see dark slides, you will have to turn off 	the lights. This will make it hard 	for you to see your notes, and it will 	also t	end to put your audience to sleep. If at all 	possible, do not turn off 	room 	lights or close window shades. Light-</a:t>
            </a:r>
            <a:r>
              <a:rPr lang="en-US" dirty="0" err="1">
                <a:latin typeface="Times New Roman" panose="02020603050405020304" pitchFamily="18" charset="0"/>
                <a:cs typeface="Times New Roman" panose="02020603050405020304" pitchFamily="18" charset="0"/>
              </a:rPr>
              <a:t>coloured</a:t>
            </a:r>
            <a:r>
              <a:rPr lang="en-US" dirty="0">
                <a:latin typeface="Times New Roman" panose="02020603050405020304" pitchFamily="18" charset="0"/>
                <a:cs typeface="Times New Roman" panose="02020603050405020304" pitchFamily="18" charset="0"/>
              </a:rPr>
              <a:t> slides can 	usually be 	read 	with lights on.</a:t>
            </a:r>
          </a:p>
          <a:p>
            <a:pPr marL="0" indent="0">
              <a:buNone/>
            </a:pPr>
            <a:r>
              <a:rPr lang="en-US" b="1" i="1" dirty="0">
                <a:latin typeface="Times New Roman" panose="02020603050405020304" pitchFamily="18" charset="0"/>
                <a:cs typeface="Times New Roman" panose="02020603050405020304" pitchFamily="18" charset="0"/>
              </a:rPr>
              <a:t>9. Finish your talk within the time limit. </a:t>
            </a:r>
            <a:r>
              <a:rPr lang="en-US" dirty="0">
                <a:latin typeface="Times New Roman" panose="02020603050405020304" pitchFamily="18" charset="0"/>
                <a:cs typeface="Times New Roman" panose="02020603050405020304" pitchFamily="18" charset="0"/>
              </a:rPr>
              <a:t>Not to do so is disrespectful to your 	audience, not to mention bad strategy. Never go longer than 45 minutes, which is 	most people’s maximum attention span. If you exceed this limit, you 	will lose them 	at the crucial point, namely your conclusion.</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Further in conference settings, exceeding your time limit can be incredibly 	rude, 	since it cuts into other speakers’ time or in the discussion period. You can 	make 	real enemies by insisting on continuing after your time is up. </a:t>
            </a:r>
          </a:p>
          <a:p>
            <a:pPr marL="0" indent="0">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16623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A7AEFFC-AEDF-45C8-9AEB-64D99785F8A3}"/>
              </a:ext>
            </a:extLst>
          </p:cNvPr>
          <p:cNvSpPr>
            <a:spLocks noGrp="1"/>
          </p:cNvSpPr>
          <p:nvPr>
            <p:ph idx="1"/>
          </p:nvPr>
        </p:nvSpPr>
        <p:spPr>
          <a:xfrm>
            <a:off x="0" y="0"/>
            <a:ext cx="12192000" cy="6858000"/>
          </a:xfrm>
        </p:spPr>
        <p:txBody>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only way to be certain you can keep your limits is to rehearse your talk. After lots of experience, some people can </a:t>
            </a:r>
            <a:r>
              <a:rPr lang="en-US" dirty="0" err="1">
                <a:latin typeface="Times New Roman" panose="02020603050405020304" pitchFamily="18" charset="0"/>
                <a:cs typeface="Times New Roman" panose="02020603050405020304" pitchFamily="18" charset="0"/>
              </a:rPr>
              <a:t>guage</a:t>
            </a:r>
            <a:r>
              <a:rPr lang="en-US" dirty="0">
                <a:latin typeface="Times New Roman" panose="02020603050405020304" pitchFamily="18" charset="0"/>
                <a:cs typeface="Times New Roman" panose="02020603050405020304" pitchFamily="18" charset="0"/>
              </a:rPr>
              <a:t> talk times accurately. But nothing is more embarrassing – for both you and your audience – than getting only halfway through before hitting the time limit.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Tip: if you use PowerPoint or some other presentation system, you can develop a good sense of timing by always using the same slide format. After you have given a few talks with the same format, you will know how long it takes you to talk through each slide and you can gauge the length of your talk that way.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85270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FBCF33A-5133-48D6-A9F1-7CB4FD316F97}"/>
              </a:ext>
            </a:extLst>
          </p:cNvPr>
          <p:cNvSpPr>
            <a:spLocks noGrp="1"/>
          </p:cNvSpPr>
          <p:nvPr>
            <p:ph idx="1"/>
          </p:nvPr>
        </p:nvSpPr>
        <p:spPr>
          <a:xfrm>
            <a:off x="0" y="0"/>
            <a:ext cx="12192000" cy="6858000"/>
          </a:xfrm>
        </p:spPr>
        <p:txBody>
          <a:bodyPr>
            <a:normAutofit fontScale="85000" lnSpcReduction="10000"/>
          </a:bodyPr>
          <a:lstStyle/>
          <a:p>
            <a:pPr marL="0" indent="0">
              <a:buNone/>
            </a:pPr>
            <a:r>
              <a:rPr lang="en-US" b="1" i="1" dirty="0">
                <a:latin typeface="Times New Roman" panose="02020603050405020304" pitchFamily="18" charset="0"/>
                <a:cs typeface="Times New Roman" panose="02020603050405020304" pitchFamily="18" charset="0"/>
              </a:rPr>
              <a:t>10.Summarize your talk at the beginning and at the end. </a:t>
            </a:r>
            <a:r>
              <a:rPr lang="en-US" dirty="0">
                <a:latin typeface="Times New Roman" panose="02020603050405020304" pitchFamily="18" charset="0"/>
                <a:cs typeface="Times New Roman" panose="02020603050405020304" pitchFamily="18" charset="0"/>
              </a:rPr>
              <a:t>Tell them what you are going to 	tell them and what you told them. This ancient principle still holds. Following this 	rule helps your audience get your main points. Even more important, it helps them 	remember what you said, which is after all, why you are there for </a:t>
            </a:r>
          </a:p>
          <a:p>
            <a:pPr marL="0" indent="0">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i="1" dirty="0">
                <a:latin typeface="Times New Roman" panose="02020603050405020304" pitchFamily="18" charset="0"/>
                <a:cs typeface="Times New Roman" panose="02020603050405020304" pitchFamily="18" charset="0"/>
              </a:rPr>
              <a:t>11. Notice your audience and respond to its needs. </a:t>
            </a:r>
            <a:r>
              <a:rPr lang="en-US" dirty="0">
                <a:latin typeface="Times New Roman" panose="02020603050405020304" pitchFamily="18" charset="0"/>
                <a:cs typeface="Times New Roman" panose="02020603050405020304" pitchFamily="18" charset="0"/>
              </a:rPr>
              <a:t>If people seem to be falling asleep or 			getting restless or distracted, the problem may not be you. Is the room too 	hot or 	cold? 	Too dark? Can people see you? Is something outside the room distracting them? Don’t 	hesitate to stop talking in order to solve these problems.  Alternatively, you may have 	gone on too long, or you may need to speak louder. Whatever the 	case, notice what’s 	happening and use it as feedback. If you can’t figure out why your audience is 	responding poorly, ask somebody later and fix the problem next time.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If you are not sure whether people can see or hear, ask someone in the back row directly. 	This is also a good technique for setting up initial communication with your audience. 	It makes listeners feel included, and puts you in touch with them as human beings.</a:t>
            </a:r>
          </a:p>
          <a:p>
            <a:pPr marL="0" indent="0">
              <a:buNone/>
            </a:pPr>
            <a:r>
              <a:rPr lang="en-US" dirty="0">
                <a:latin typeface="Times New Roman" panose="02020603050405020304" pitchFamily="18" charset="0"/>
                <a:cs typeface="Times New Roman" panose="02020603050405020304" pitchFamily="18" charset="0"/>
              </a:rPr>
              <a:t>	Tip: never let someone else to take control of room conditions. Many audiences – thinking 	they are being helpful – react to overhead projectors by jumping up to turn off lights and 	close window shades. Unless this is truly necessary, avoid it at all costs, especially at 	conferences. Taking charge of the talk environment is part of your job as a speaker.</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4521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18E684F-CFC4-4E4B-B871-4A5A570FBC14}"/>
              </a:ext>
            </a:extLst>
          </p:cNvPr>
          <p:cNvSpPr>
            <a:spLocks noGrp="1"/>
          </p:cNvSpPr>
          <p:nvPr>
            <p:ph idx="1"/>
          </p:nvPr>
        </p:nvSpPr>
        <p:spPr>
          <a:xfrm>
            <a:off x="0" y="0"/>
            <a:ext cx="12192000" cy="6858000"/>
          </a:xfrm>
        </p:spPr>
        <p:txBody>
          <a:bodyPr/>
          <a:lstStyle/>
          <a:p>
            <a:pPr marL="0" indent="0">
              <a:buNone/>
            </a:pPr>
            <a:r>
              <a:rPr lang="en-US" b="1" i="1" dirty="0">
                <a:latin typeface="Times New Roman" panose="02020603050405020304" pitchFamily="18" charset="0"/>
                <a:cs typeface="Times New Roman" panose="02020603050405020304" pitchFamily="18" charset="0"/>
              </a:rPr>
              <a:t>12. Emulate excellent speakers. </a:t>
            </a:r>
            <a:r>
              <a:rPr lang="en-US" dirty="0">
                <a:latin typeface="Times New Roman" panose="02020603050405020304" pitchFamily="18" charset="0"/>
                <a:cs typeface="Times New Roman" panose="02020603050405020304" pitchFamily="18" charset="0"/>
              </a:rPr>
              <a:t>Perhaps the best way to become an excellent speaker yourself is to watch really good experienced speakers and model your talks on theirs. Notice not just what they say, but what they do.</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13. Avoid tics and fillers: </a:t>
            </a:r>
            <a:r>
              <a:rPr lang="en-US" dirty="0">
                <a:latin typeface="Times New Roman" panose="02020603050405020304" pitchFamily="18" charset="0"/>
                <a:cs typeface="Times New Roman" panose="02020603050405020304" pitchFamily="18" charset="0"/>
              </a:rPr>
              <a:t>People with speech tics repeat words or phrases too often 	or toss them in where they are not necessary. For instance: you know; of 	course; I mean; actually; the fact is; well etc. </a:t>
            </a:r>
          </a:p>
          <a:p>
            <a:pPr marL="0" indent="0">
              <a:buNone/>
            </a:pPr>
            <a:r>
              <a:rPr lang="en-US" dirty="0">
                <a:latin typeface="Times New Roman" panose="02020603050405020304" pitchFamily="18" charset="0"/>
                <a:cs typeface="Times New Roman" panose="02020603050405020304" pitchFamily="18" charset="0"/>
              </a:rPr>
              <a:t>	Fillers (hedges) are noises used 	to fill gaps between sentences or thoughts 	e.g. er, umm, ah, </a:t>
            </a:r>
            <a:r>
              <a:rPr lang="en-US" dirty="0" err="1">
                <a:latin typeface="Times New Roman" panose="02020603050405020304" pitchFamily="18" charset="0"/>
                <a:cs typeface="Times New Roman" panose="02020603050405020304" pitchFamily="18" charset="0"/>
              </a:rPr>
              <a:t>eem</a:t>
            </a:r>
            <a:r>
              <a:rPr lang="en-US" dirty="0">
                <a:latin typeface="Times New Roman" panose="02020603050405020304" pitchFamily="18" charset="0"/>
                <a:cs typeface="Times New Roman" panose="02020603050405020304" pitchFamily="18" charset="0"/>
              </a:rPr>
              <a:t> etc. </a:t>
            </a:r>
          </a:p>
          <a:p>
            <a:pPr marL="0" indent="0">
              <a:buNone/>
            </a:pPr>
            <a:r>
              <a:rPr lang="en-US" dirty="0">
                <a:latin typeface="Times New Roman" panose="02020603050405020304" pitchFamily="18" charset="0"/>
                <a:cs typeface="Times New Roman" panose="02020603050405020304" pitchFamily="18" charset="0"/>
              </a:rPr>
              <a:t>	To avoid tics and fillers, allow yourself to have natural pauses in your speech. 	Avoid having to think of what you should say next by planning your speech 	carefully ahead of time.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068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6565C62-52F7-4658-A611-F3893DCD3147}"/>
              </a:ext>
            </a:extLst>
          </p:cNvPr>
          <p:cNvSpPr>
            <a:spLocks noGrp="1"/>
          </p:cNvSpPr>
          <p:nvPr>
            <p:ph idx="1"/>
          </p:nvPr>
        </p:nvSpPr>
        <p:spPr>
          <a:xfrm>
            <a:off x="0" y="0"/>
            <a:ext cx="12192000" cy="6858000"/>
          </a:xfrm>
        </p:spPr>
        <p:txBody>
          <a:bodyPr/>
          <a:lstStyle/>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marL="0" indent="0" algn="ctr">
              <a:buNone/>
            </a:pPr>
            <a:r>
              <a:rPr lang="en-US" b="1" i="1" dirty="0">
                <a:latin typeface="Times New Roman" panose="02020603050405020304" pitchFamily="18" charset="0"/>
                <a:cs typeface="Times New Roman" panose="02020603050405020304" pitchFamily="18" charset="0"/>
              </a:rPr>
              <a:t>The end </a:t>
            </a:r>
          </a:p>
        </p:txBody>
      </p:sp>
    </p:spTree>
    <p:extLst>
      <p:ext uri="{BB962C8B-B14F-4D97-AF65-F5344CB8AC3E}">
        <p14:creationId xmlns:p14="http://schemas.microsoft.com/office/powerpoint/2010/main" val="4044821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TotalTime>
  <Words>2063</Words>
  <Application>Microsoft Office PowerPoint</Application>
  <PresentationFormat>Custom</PresentationFormat>
  <Paragraphs>218</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20</cp:revision>
  <dcterms:created xsi:type="dcterms:W3CDTF">2021-02-09T12:29:53Z</dcterms:created>
  <dcterms:modified xsi:type="dcterms:W3CDTF">2025-03-24T14:30:44Z</dcterms:modified>
</cp:coreProperties>
</file>