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8" r:id="rId3"/>
    <p:sldId id="276"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1" clrIdx="0">
    <p:extLst>
      <p:ext uri="{19B8F6BF-5375-455C-9EA6-DF929625EA0E}">
        <p15:presenceInfo xmlns:p15="http://schemas.microsoft.com/office/powerpoint/2012/main" userId="Lenovo"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581" autoAdjust="0"/>
    <p:restoredTop sz="86397" autoAdjust="0"/>
  </p:normalViewPr>
  <p:slideViewPr>
    <p:cSldViewPr snapToGrid="0">
      <p:cViewPr varScale="1">
        <p:scale>
          <a:sx n="63" d="100"/>
          <a:sy n="63" d="100"/>
        </p:scale>
        <p:origin x="222" y="66"/>
      </p:cViewPr>
      <p:guideLst/>
    </p:cSldViewPr>
  </p:slideViewPr>
  <p:outlineViewPr>
    <p:cViewPr>
      <p:scale>
        <a:sx n="66" d="100"/>
        <a:sy n="66" d="100"/>
      </p:scale>
      <p:origin x="0" y="-66468"/>
    </p:cViewPr>
    <p:sldLst>
      <p:sld r:id="rId1" collapse="1"/>
      <p:sld r:id="rId2" collapse="1"/>
    </p:sldLst>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_rels/viewProps.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0FA5EC-DA31-411E-9948-81BB9F8365BD}" type="datetimeFigureOut">
              <a:rPr lang="en-US" smtClean="0"/>
              <a:t>11/20/2020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9C7D3D-358F-4DE1-865F-B08839203E80}" type="slidenum">
              <a:rPr lang="en-US" smtClean="0"/>
              <a:t>‹#›</a:t>
            </a:fld>
            <a:endParaRPr lang="en-US" dirty="0"/>
          </a:p>
        </p:txBody>
      </p:sp>
    </p:spTree>
    <p:extLst>
      <p:ext uri="{BB962C8B-B14F-4D97-AF65-F5344CB8AC3E}">
        <p14:creationId xmlns:p14="http://schemas.microsoft.com/office/powerpoint/2010/main" val="230830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1</a:t>
            </a:fld>
            <a:endParaRPr lang="en-US" dirty="0"/>
          </a:p>
        </p:txBody>
      </p:sp>
    </p:spTree>
    <p:extLst>
      <p:ext uri="{BB962C8B-B14F-4D97-AF65-F5344CB8AC3E}">
        <p14:creationId xmlns:p14="http://schemas.microsoft.com/office/powerpoint/2010/main" val="3900828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6</a:t>
            </a:fld>
            <a:endParaRPr lang="en-US" dirty="0"/>
          </a:p>
        </p:txBody>
      </p:sp>
    </p:spTree>
    <p:extLst>
      <p:ext uri="{BB962C8B-B14F-4D97-AF65-F5344CB8AC3E}">
        <p14:creationId xmlns:p14="http://schemas.microsoft.com/office/powerpoint/2010/main" val="3972862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7</a:t>
            </a:fld>
            <a:endParaRPr lang="en-US" dirty="0"/>
          </a:p>
        </p:txBody>
      </p:sp>
    </p:spTree>
    <p:extLst>
      <p:ext uri="{BB962C8B-B14F-4D97-AF65-F5344CB8AC3E}">
        <p14:creationId xmlns:p14="http://schemas.microsoft.com/office/powerpoint/2010/main" val="17650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8</a:t>
            </a:fld>
            <a:endParaRPr lang="en-US" dirty="0"/>
          </a:p>
        </p:txBody>
      </p:sp>
    </p:spTree>
    <p:extLst>
      <p:ext uri="{BB962C8B-B14F-4D97-AF65-F5344CB8AC3E}">
        <p14:creationId xmlns:p14="http://schemas.microsoft.com/office/powerpoint/2010/main" val="24639409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9</a:t>
            </a:fld>
            <a:endParaRPr lang="en-US" dirty="0"/>
          </a:p>
        </p:txBody>
      </p:sp>
    </p:spTree>
    <p:extLst>
      <p:ext uri="{BB962C8B-B14F-4D97-AF65-F5344CB8AC3E}">
        <p14:creationId xmlns:p14="http://schemas.microsoft.com/office/powerpoint/2010/main" val="4014056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69C7D3D-358F-4DE1-865F-B08839203E80}" type="slidenum">
              <a:rPr lang="en-US" smtClean="0"/>
              <a:t>11</a:t>
            </a:fld>
            <a:endParaRPr lang="en-US" dirty="0"/>
          </a:p>
        </p:txBody>
      </p:sp>
    </p:spTree>
    <p:extLst>
      <p:ext uri="{BB962C8B-B14F-4D97-AF65-F5344CB8AC3E}">
        <p14:creationId xmlns:p14="http://schemas.microsoft.com/office/powerpoint/2010/main" val="19064417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508CB-8232-4A00-A857-2BD86A59158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E90E9DF-E5E0-4992-B998-364A61111F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A740092-9A4E-4B29-8ABB-D1AF4B380681}"/>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9726B22E-2BCB-4CA8-92BC-FE875928EDF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C87BCBF-C9C9-4A8E-9787-9143381265ED}"/>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226152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C127C-FCA4-42E5-ABF9-BFD2C3FBB4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2DFF1F-3C8A-4600-8381-08EA7FBF529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738332-120A-450D-AFB4-BD4878D7B7C0}"/>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3D91EA85-37D4-47C9-AE13-139DCD28FB5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EDB8CE3-C289-4DA8-9C92-11F0F358D368}"/>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1823562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014EE-A5E6-42EF-BA05-4C338A85D5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4B9702-E151-4D3C-A690-0EF9F6D126F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CE5D5D-52DF-4045-B49C-E9ED40641BB9}"/>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43AA6314-96AF-4AB9-B584-6A4B8167A9F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626977-9929-42B8-9F8A-99621DE1395D}"/>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37430740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6B6D6-CB95-4879-9EE8-21D8A6A9CF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AAC8CD-75A6-44BA-BFCB-CBFFEAACD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858F12-6436-4999-9CB2-EDCDF37CE0D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A199E4E-57D3-449D-9BCF-2D73F87743CD}"/>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6" name="Footer Placeholder 5">
            <a:extLst>
              <a:ext uri="{FF2B5EF4-FFF2-40B4-BE49-F238E27FC236}">
                <a16:creationId xmlns:a16="http://schemas.microsoft.com/office/drawing/2014/main" id="{14319F43-01A9-49B8-8550-D01F2C735C7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A17395A-C098-4718-A8EB-82F3A2A98442}"/>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3696618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CB215-4B80-43B2-85D2-25E63BFECED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4FB1506-D4B9-457E-9C02-E9A70610D0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1F5B13-A691-400A-82C6-5CD2B8BE32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FCDCAFC-33D2-4C77-8E1C-1787E8DAF3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8AB0BE4-9FD0-4FC0-A031-3386F20DE4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F5B261-CE49-4044-B109-06F8D5BFEE5C}"/>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8" name="Footer Placeholder 7">
            <a:extLst>
              <a:ext uri="{FF2B5EF4-FFF2-40B4-BE49-F238E27FC236}">
                <a16:creationId xmlns:a16="http://schemas.microsoft.com/office/drawing/2014/main" id="{60E4CFFD-7576-4D46-9A8A-F90C6E8D3A31}"/>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20A4BCE1-35FF-457E-A3F6-E3C8378A08A1}"/>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2738684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26639-19CD-4134-ACFC-822478A589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B43C8A7-DB1C-4409-8BEF-5189E5DDDE2B}"/>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4" name="Footer Placeholder 3">
            <a:extLst>
              <a:ext uri="{FF2B5EF4-FFF2-40B4-BE49-F238E27FC236}">
                <a16:creationId xmlns:a16="http://schemas.microsoft.com/office/drawing/2014/main" id="{E3949386-46A7-4894-9C69-4A0A8F29CC7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DDB4995B-1B7B-45C7-9F21-795D8E55949A}"/>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3756781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B011B-63DF-4E39-B3F2-B72D0F51B4CA}"/>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3" name="Footer Placeholder 2">
            <a:extLst>
              <a:ext uri="{FF2B5EF4-FFF2-40B4-BE49-F238E27FC236}">
                <a16:creationId xmlns:a16="http://schemas.microsoft.com/office/drawing/2014/main" id="{5ACAD029-CC76-4410-9C7B-9C4D9E525D3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25729AB9-6F58-4A84-928A-BC82F503B527}"/>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8856500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3BB33-566D-4C7F-8C28-20E60D0F48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22F9DB-5A69-47BD-B8E7-0988E99077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B257BF-CFA5-4BBB-813C-15B6E5C609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96BBA2-50E4-40E8-B688-FDA29F361DC6}"/>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6" name="Footer Placeholder 5">
            <a:extLst>
              <a:ext uri="{FF2B5EF4-FFF2-40B4-BE49-F238E27FC236}">
                <a16:creationId xmlns:a16="http://schemas.microsoft.com/office/drawing/2014/main" id="{65A2E679-BEF3-48A3-B3B4-8598C569B43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D5CA990-28D4-4F9D-8885-9C2C66F2682A}"/>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28499026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42E52-8CEC-4CA2-AD0F-94CA5CD001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664990F-7F52-4D83-A03B-40E98EE701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7D4AEC54-A314-4EE9-B27D-2445DB5A69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3B1E69-EAEB-49A5-A267-861AF8C80F5C}"/>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6" name="Footer Placeholder 5">
            <a:extLst>
              <a:ext uri="{FF2B5EF4-FFF2-40B4-BE49-F238E27FC236}">
                <a16:creationId xmlns:a16="http://schemas.microsoft.com/office/drawing/2014/main" id="{58DB4FC3-AF71-4909-9120-4EDB3F24FAA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B348556-F658-4CD4-8CE7-BB6EEEE9DB39}"/>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1919258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5E567-843F-49BA-8EB4-96C373FC57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F89D56-E171-4918-9DD2-DEDE9479267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C1A736-21B3-45F8-BA20-35D471477090}"/>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A3B9F5A1-6A83-4F36-8757-BC842CD1163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96ADF45-E54E-4751-AC0B-E438DA846975}"/>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20848079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AFDF95-6CDC-43AB-A140-BBD0A024A1B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41642E1-638C-4B86-8125-5603FF4BE7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D06B96-F0CE-4E8A-A6FF-F63C5A87ED61}"/>
              </a:ext>
            </a:extLst>
          </p:cNvPr>
          <p:cNvSpPr>
            <a:spLocks noGrp="1"/>
          </p:cNvSpPr>
          <p:nvPr>
            <p:ph type="dt" sz="half" idx="10"/>
          </p:nvPr>
        </p:nvSpPr>
        <p:spPr/>
        <p:txBody>
          <a:body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B5E753A7-88BA-45BE-A3A1-C20231057E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325547C-5F4D-41A2-944F-F0FAF39FF002}"/>
              </a:ext>
            </a:extLst>
          </p:cNvPr>
          <p:cNvSpPr>
            <a:spLocks noGrp="1"/>
          </p:cNvSpPr>
          <p:nvPr>
            <p:ph type="sldNum" sz="quarter" idx="12"/>
          </p:nvPr>
        </p:nvSpPr>
        <p:spPr/>
        <p:txBody>
          <a:bodyPr/>
          <a:lstStyle/>
          <a:p>
            <a:fld id="{CEA86C22-79D4-4FB3-B5DC-B5604F9005AA}" type="slidenum">
              <a:rPr lang="en-US" smtClean="0"/>
              <a:t>‹#›</a:t>
            </a:fld>
            <a:endParaRPr lang="en-US" dirty="0"/>
          </a:p>
        </p:txBody>
      </p:sp>
    </p:spTree>
    <p:extLst>
      <p:ext uri="{BB962C8B-B14F-4D97-AF65-F5344CB8AC3E}">
        <p14:creationId xmlns:p14="http://schemas.microsoft.com/office/powerpoint/2010/main" val="19408315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70CA08A-EB99-403B-A5F7-8B62451952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0E5FBA3-A4D6-456A-A629-96148A2D6A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C871AB-31E8-42B9-9108-6BA9EFAB6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670BCF4-2C4E-4B73-B90B-D81DE733E2E0}" type="datetimeFigureOut">
              <a:rPr lang="en-US" smtClean="0"/>
              <a:t>11/20/2020</a:t>
            </a:fld>
            <a:endParaRPr lang="en-US" dirty="0"/>
          </a:p>
        </p:txBody>
      </p:sp>
      <p:sp>
        <p:nvSpPr>
          <p:cNvPr id="5" name="Footer Placeholder 4">
            <a:extLst>
              <a:ext uri="{FF2B5EF4-FFF2-40B4-BE49-F238E27FC236}">
                <a16:creationId xmlns:a16="http://schemas.microsoft.com/office/drawing/2014/main" id="{A9B9936A-4CBD-4B95-9EB4-0309C9CE64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DFB57C37-29C1-4D63-A97A-A7B7C1CBC9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EA86C22-79D4-4FB3-B5DC-B5604F9005AA}" type="slidenum">
              <a:rPr lang="en-US" smtClean="0"/>
              <a:t>‹#›</a:t>
            </a:fld>
            <a:endParaRPr lang="en-US" dirty="0"/>
          </a:p>
        </p:txBody>
      </p:sp>
    </p:spTree>
    <p:extLst>
      <p:ext uri="{BB962C8B-B14F-4D97-AF65-F5344CB8AC3E}">
        <p14:creationId xmlns:p14="http://schemas.microsoft.com/office/powerpoint/2010/main" val="3786620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369E0E6A-8A63-4AD6-902B-7DBC8E73B800}"/>
              </a:ext>
            </a:extLst>
          </p:cNvPr>
          <p:cNvSpPr>
            <a:spLocks noGrp="1"/>
          </p:cNvSpPr>
          <p:nvPr>
            <p:ph type="subTitle" idx="1"/>
          </p:nvPr>
        </p:nvSpPr>
        <p:spPr>
          <a:xfrm>
            <a:off x="1524000" y="4187687"/>
            <a:ext cx="9144000" cy="543340"/>
          </a:xfrm>
        </p:spPr>
        <p:txBody>
          <a:bodyPr/>
          <a:lstStyle/>
          <a:p>
            <a:r>
              <a:rPr lang="en-US" b="1" dirty="0">
                <a:latin typeface="Times New Roman" panose="02020603050405020304" pitchFamily="18" charset="0"/>
                <a:cs typeface="Times New Roman" panose="02020603050405020304" pitchFamily="18" charset="0"/>
              </a:rPr>
              <a:t>PROPOSAL WRITING</a:t>
            </a:r>
          </a:p>
          <a:p>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0258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CBAF69-47A4-4336-80D7-FD30268CF266}"/>
              </a:ext>
            </a:extLst>
          </p:cNvPr>
          <p:cNvSpPr>
            <a:spLocks noGrp="1"/>
          </p:cNvSpPr>
          <p:nvPr>
            <p:ph idx="1"/>
          </p:nvPr>
        </p:nvSpPr>
        <p:spPr>
          <a:xfrm>
            <a:off x="0" y="0"/>
            <a:ext cx="12192000" cy="6858000"/>
          </a:xfrm>
        </p:spPr>
        <p:txBody>
          <a:bodyPr>
            <a:normAutofit lnSpcReduction="10000"/>
          </a:bodyPr>
          <a:lstStyle/>
          <a:p>
            <a:pPr marL="0" indent="0">
              <a:buNone/>
            </a:pPr>
            <a:r>
              <a:rPr lang="en-US" b="1" dirty="0">
                <a:latin typeface="Times New Roman" panose="02020603050405020304" pitchFamily="18" charset="0"/>
                <a:cs typeface="Times New Roman" panose="02020603050405020304" pitchFamily="18" charset="0"/>
              </a:rPr>
              <a:t>INTRODUCTION</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A proposal is a formal plan or suggestion put forward for discussion and consideration by others. </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is a method of persuading people to agree to the writers view or accept his suggestions.</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0" indent="0" algn="just">
              <a:buNone/>
            </a:pPr>
            <a:r>
              <a:rPr lang="en-US"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is a systematic, factual, formal and persuasive description of a course of action or set of recommendations or suggestions. </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A proposal is an action oriented report i.e. it suggests a future task and includes a complete plan of how the task will be accomplished. </a:t>
            </a:r>
          </a:p>
        </p:txBody>
      </p:sp>
    </p:spTree>
    <p:extLst>
      <p:ext uri="{BB962C8B-B14F-4D97-AF65-F5344CB8AC3E}">
        <p14:creationId xmlns:p14="http://schemas.microsoft.com/office/powerpoint/2010/main" val="26246922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913E8B-CFB8-498B-95F3-C3EF5E1EB3ED}"/>
              </a:ext>
            </a:extLst>
          </p:cNvPr>
          <p:cNvSpPr>
            <a:spLocks noGrp="1"/>
          </p:cNvSpPr>
          <p:nvPr>
            <p:ph idx="1"/>
          </p:nvPr>
        </p:nvSpPr>
        <p:spPr>
          <a:xfrm>
            <a:off x="0" y="0"/>
            <a:ext cx="12192000" cy="6858000"/>
          </a:xfrm>
        </p:spPr>
        <p:txBody>
          <a:bodyPr>
            <a:normAutofit lnSpcReduction="10000"/>
          </a:bodyPr>
          <a:lstStyle/>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consists of procedure or equipment analysis, cost analysis, capabilities of existing facilities, information on involved personnel and usually a timetable for completing the task. </a:t>
            </a:r>
          </a:p>
          <a:p>
            <a:pPr marL="0" indent="0">
              <a:buNone/>
            </a:pP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The main objective of a proposal is to persuade the reader to accept the proposed course of action. It explains and justifies what is being proposed. In other words, it persuades the reader to accept or fund the proposed project.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GB" b="1" dirty="0">
                <a:latin typeface="Times New Roman" panose="02020603050405020304" pitchFamily="18" charset="0"/>
                <a:cs typeface="Times New Roman" panose="02020603050405020304" pitchFamily="18" charset="0"/>
              </a:rPr>
              <a:t>Types of proposals</a:t>
            </a:r>
          </a:p>
          <a:p>
            <a:pPr marL="0" indent="0">
              <a:buNone/>
            </a:pP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Proposals are generally classified into three categories according to structure, nature of its audience and the source or origin:</a:t>
            </a:r>
          </a:p>
          <a:p>
            <a:pPr marL="0" indent="0">
              <a:buNone/>
            </a:pPr>
            <a:endParaRPr lang="en-US" dirty="0">
              <a:latin typeface="Times New Roman" panose="02020603050405020304" pitchFamily="18" charset="0"/>
              <a:cs typeface="Times New Roman" panose="02020603050405020304" pitchFamily="18" charset="0"/>
            </a:endParaRPr>
          </a:p>
          <a:p>
            <a:pPr lvl="0"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Non-Formal and Formal proposals (based on structure).</a:t>
            </a:r>
            <a:endParaRPr lang="en-US" dirty="0">
              <a:latin typeface="Times New Roman" panose="02020603050405020304" pitchFamily="18" charset="0"/>
              <a:cs typeface="Times New Roman" panose="02020603050405020304" pitchFamily="18" charset="0"/>
            </a:endParaRPr>
          </a:p>
          <a:p>
            <a:pPr lvl="0"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Internal and External proposals (based on nature of their audience).</a:t>
            </a:r>
            <a:endParaRPr lang="en-US" dirty="0">
              <a:latin typeface="Times New Roman" panose="02020603050405020304" pitchFamily="18" charset="0"/>
              <a:cs typeface="Times New Roman" panose="02020603050405020304" pitchFamily="18" charset="0"/>
            </a:endParaRPr>
          </a:p>
          <a:p>
            <a:pPr lvl="0"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Solicited and Unsolicited proposals (based on source of origin).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7113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84A8A2-F617-436B-AE59-C0323D3E27F3}"/>
              </a:ext>
            </a:extLst>
          </p:cNvPr>
          <p:cNvSpPr>
            <a:spLocks noGrp="1"/>
          </p:cNvSpPr>
          <p:nvPr>
            <p:ph idx="1"/>
          </p:nvPr>
        </p:nvSpPr>
        <p:spPr>
          <a:xfrm>
            <a:off x="0" y="0"/>
            <a:ext cx="12192000" cy="6858000"/>
          </a:xfrm>
        </p:spPr>
        <p:txBody>
          <a:bodyPr>
            <a:normAutofit/>
          </a:bodyPr>
          <a:lstStyle/>
          <a:p>
            <a:pPr marL="0" indent="0" algn="just">
              <a:buNone/>
            </a:pPr>
            <a:r>
              <a:rPr lang="en-GB" b="1" dirty="0"/>
              <a:t>1</a:t>
            </a:r>
            <a:r>
              <a:rPr lang="en-GB" b="1" dirty="0">
                <a:latin typeface="Times New Roman" panose="02020603050405020304" pitchFamily="18" charset="0"/>
                <a:cs typeface="Times New Roman" panose="02020603050405020304" pitchFamily="18" charset="0"/>
              </a:rPr>
              <a:t>. Non-Formal and Formal proposals</a:t>
            </a: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Non-formal proposals are written to initiate small projects and are less elaborate.</a:t>
            </a:r>
          </a:p>
          <a:p>
            <a:pPr marL="0" indent="0" algn="just">
              <a:buNone/>
            </a:pPr>
            <a:r>
              <a:rPr lang="en-GB"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They are usually short. </a:t>
            </a:r>
          </a:p>
          <a:p>
            <a:pPr marL="0" indent="0" algn="just">
              <a:buNone/>
            </a:pPr>
            <a:endParaRPr lang="en-GB"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They can take a letter or memo format as the case may be.</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Formal proposals are written when you want to initiate big projects and require elaborate description and discussion. </a:t>
            </a:r>
          </a:p>
          <a:p>
            <a:pPr marL="0" indent="0" algn="just">
              <a:buNone/>
            </a:pPr>
            <a:endParaRPr lang="en-GB"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They consist of several sections and subsection. They can vary from a few pages to hundreds of pages</a:t>
            </a:r>
            <a:endParaRPr lang="en-US" dirty="0">
              <a:latin typeface="Times New Roman" panose="02020603050405020304" pitchFamily="18" charset="0"/>
              <a:cs typeface="Times New Roman" panose="02020603050405020304" pitchFamily="18" charset="0"/>
            </a:endParaRPr>
          </a:p>
          <a:p>
            <a:pPr marL="0" lvl="0" indent="0" algn="just">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1649382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26F860-A3C7-4EF0-98F0-1B8F2ED3EAA0}"/>
              </a:ext>
            </a:extLst>
          </p:cNvPr>
          <p:cNvSpPr>
            <a:spLocks noGrp="1"/>
          </p:cNvSpPr>
          <p:nvPr>
            <p:ph idx="1"/>
          </p:nvPr>
        </p:nvSpPr>
        <p:spPr>
          <a:xfrm>
            <a:off x="0" y="0"/>
            <a:ext cx="12192000" cy="6858000"/>
          </a:xfrm>
        </p:spPr>
        <p:txBody>
          <a:bodyPr>
            <a:normAutofit fontScale="92500" lnSpcReduction="20000"/>
          </a:bodyPr>
          <a:lstStyle/>
          <a:p>
            <a:pPr marL="0" indent="0">
              <a:buNone/>
            </a:pPr>
            <a:r>
              <a:rPr lang="en-US" b="1" dirty="0">
                <a:latin typeface="Times New Roman" panose="02020603050405020304" pitchFamily="18" charset="0"/>
                <a:cs typeface="Times New Roman" panose="02020603050405020304" pitchFamily="18" charset="0"/>
              </a:rPr>
              <a:t>2. Internal and External proposals</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An internal proposal is addressed to readers within an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may offer to study a problem, situation, condition or issue in an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It may present different options for solving these problems. </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i="1" dirty="0">
                <a:latin typeface="Times New Roman" panose="02020603050405020304" pitchFamily="18" charset="0"/>
                <a:cs typeface="Times New Roman" panose="02020603050405020304" pitchFamily="18" charset="0"/>
              </a:rPr>
              <a:t>For example, one can write a proposal on how an </a:t>
            </a:r>
            <a:r>
              <a:rPr lang="en-US" i="1" dirty="0" err="1">
                <a:latin typeface="Times New Roman" panose="02020603050405020304" pitchFamily="18" charset="0"/>
                <a:cs typeface="Times New Roman" panose="02020603050405020304" pitchFamily="18" charset="0"/>
              </a:rPr>
              <a:t>organisation</a:t>
            </a:r>
            <a:r>
              <a:rPr lang="en-US" i="1" dirty="0">
                <a:latin typeface="Times New Roman" panose="02020603050405020304" pitchFamily="18" charset="0"/>
                <a:cs typeface="Times New Roman" panose="02020603050405020304" pitchFamily="18" charset="0"/>
              </a:rPr>
              <a:t> may increase its sales; or an employee of Mzuzu University may write a proposal to management explaining how the institution may generate alternative funds/revenue</a:t>
            </a:r>
            <a:r>
              <a:rPr lang="en-US"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Internal proposals are less formal and elaborate than external proposals.</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External proposals are written to people outside your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An external proposal may offer to solve a problem or situation of that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and give appropriate suggestions and recommendations. </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They are more formal, detailed and elaborate than internal proposals.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2292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E4FB85-4613-4EC4-87C9-E840DDC2EFE1}"/>
              </a:ext>
            </a:extLst>
          </p:cNvPr>
          <p:cNvSpPr>
            <a:spLocks noGrp="1"/>
          </p:cNvSpPr>
          <p:nvPr>
            <p:ph idx="1"/>
          </p:nvPr>
        </p:nvSpPr>
        <p:spPr>
          <a:xfrm>
            <a:off x="0" y="0"/>
            <a:ext cx="12192000" cy="6858000"/>
          </a:xfrm>
        </p:spPr>
        <p:txBody>
          <a:bodyPr/>
          <a:lstStyle/>
          <a:p>
            <a:pPr marL="0" indent="0">
              <a:buNone/>
            </a:pPr>
            <a:r>
              <a:rPr lang="en-GB" b="1" dirty="0">
                <a:latin typeface="Times New Roman" panose="02020603050405020304" pitchFamily="18" charset="0"/>
                <a:cs typeface="Times New Roman" panose="02020603050405020304" pitchFamily="18" charset="0"/>
              </a:rPr>
              <a:t>3. Solicited </a:t>
            </a:r>
            <a:r>
              <a:rPr lang="en-GB" b="1">
                <a:latin typeface="Times New Roman" panose="02020603050405020304" pitchFamily="18" charset="0"/>
                <a:cs typeface="Times New Roman" panose="02020603050405020304" pitchFamily="18" charset="0"/>
              </a:rPr>
              <a:t>and  Unsolicited </a:t>
            </a:r>
            <a:r>
              <a:rPr lang="en-GB" b="1" dirty="0">
                <a:latin typeface="Times New Roman" panose="02020603050405020304" pitchFamily="18" charset="0"/>
                <a:cs typeface="Times New Roman" panose="02020603050405020304" pitchFamily="18" charset="0"/>
              </a:rPr>
              <a:t>Proposals</a:t>
            </a:r>
          </a:p>
          <a:p>
            <a:pPr marL="0" indent="0">
              <a:buNone/>
            </a:pPr>
            <a:endParaRPr lang="en-US" b="1"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Solicited proposals are written in response to a specific request from a client.   </a:t>
            </a:r>
          </a:p>
          <a:p>
            <a:pPr marL="0" indent="0" algn="just">
              <a:buNone/>
            </a:pPr>
            <a:r>
              <a:rPr lang="en-GB" dirty="0">
                <a:latin typeface="Times New Roman" panose="02020603050405020304" pitchFamily="18" charset="0"/>
                <a:cs typeface="Times New Roman" panose="02020603050405020304" pitchFamily="18" charset="0"/>
              </a:rPr>
              <a:t>      Many organisations solicit proposals for their projects. </a:t>
            </a: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They specify their requirements and mention their conditions.</a:t>
            </a:r>
          </a:p>
          <a:p>
            <a:pPr marL="0" indent="0" algn="just">
              <a:buNone/>
            </a:pPr>
            <a:endParaRPr lang="en-US"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Unsolicited proposals are written without any request for a proposal. </a:t>
            </a:r>
          </a:p>
          <a:p>
            <a:pPr marL="0" indent="0" algn="just">
              <a:buNone/>
            </a:pPr>
            <a:endParaRPr lang="en-GB"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They are written by individuals or organisations without being asked to do so. </a:t>
            </a:r>
          </a:p>
          <a:p>
            <a:pPr marL="0" indent="0" algn="just">
              <a:buNone/>
            </a:pPr>
            <a:endParaRPr lang="en-GB"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GB" dirty="0">
                <a:latin typeface="Times New Roman" panose="02020603050405020304" pitchFamily="18" charset="0"/>
                <a:cs typeface="Times New Roman" panose="02020603050405020304" pitchFamily="18" charset="0"/>
              </a:rPr>
              <a:t>For example, an NGO may write a proposal to the department of Disaster Management explaining how floods in the Lower Shire may be managed. </a:t>
            </a: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84243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16AA10-0620-471E-AADC-BE2A321F0DAF}"/>
              </a:ext>
            </a:extLst>
          </p:cNvPr>
          <p:cNvSpPr>
            <a:spLocks noGrp="1"/>
          </p:cNvSpPr>
          <p:nvPr>
            <p:ph idx="1"/>
          </p:nvPr>
        </p:nvSpPr>
        <p:spPr>
          <a:xfrm>
            <a:off x="0" y="0"/>
            <a:ext cx="12192000" cy="6858000"/>
          </a:xfrm>
        </p:spPr>
        <p:txBody>
          <a:bodyPr/>
          <a:lstStyle/>
          <a:p>
            <a:pPr marL="0" indent="0">
              <a:buNone/>
            </a:pPr>
            <a:r>
              <a:rPr lang="en-US" b="1" dirty="0">
                <a:latin typeface="Times New Roman" panose="02020603050405020304" pitchFamily="18" charset="0"/>
                <a:cs typeface="Times New Roman" panose="02020603050405020304" pitchFamily="18" charset="0"/>
              </a:rPr>
              <a:t>Format of a proposal</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When writing a proposal (formal), the following topical headings should be considered for </a:t>
            </a:r>
            <a:r>
              <a:rPr lang="en-US" dirty="0" err="1">
                <a:latin typeface="Times New Roman" panose="02020603050405020304" pitchFamily="18" charset="0"/>
                <a:cs typeface="Times New Roman" panose="02020603050405020304" pitchFamily="18" charset="0"/>
              </a:rPr>
              <a:t>organisational</a:t>
            </a:r>
            <a:r>
              <a:rPr lang="en-US" dirty="0">
                <a:latin typeface="Times New Roman" panose="02020603050405020304" pitchFamily="18" charset="0"/>
                <a:cs typeface="Times New Roman" panose="02020603050405020304" pitchFamily="18" charset="0"/>
              </a:rPr>
              <a:t> purposes, although each actual proposal will suggest addition of major or minor heading</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1. Title page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contains the title of the proposal, the name of a person or </a:t>
            </a:r>
            <a:r>
              <a:rPr lang="en-US" dirty="0" err="1">
                <a:latin typeface="Times New Roman" panose="02020603050405020304" pitchFamily="18" charset="0"/>
                <a:cs typeface="Times New Roman" panose="02020603050405020304" pitchFamily="18" charset="0"/>
              </a:rPr>
              <a:t>organisation</a:t>
            </a:r>
            <a:r>
              <a:rPr lang="en-US" dirty="0">
                <a:latin typeface="Times New Roman" panose="02020603050405020304" pitchFamily="18" charset="0"/>
                <a:cs typeface="Times New Roman" panose="02020603050405020304" pitchFamily="18" charset="0"/>
              </a:rPr>
              <a:t> (including the address) to whom the proposal is being submitted, the name of the proposal writer (including the address), and the date of submission.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2. Table of contents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lists main headings and sub-headings in the proposal including page numbers.</a:t>
            </a:r>
          </a:p>
          <a:p>
            <a:pPr marL="0" indent="0">
              <a:buNone/>
            </a:pPr>
            <a:endParaRPr lang="en-US" dirty="0"/>
          </a:p>
        </p:txBody>
      </p:sp>
    </p:spTree>
    <p:extLst>
      <p:ext uri="{BB962C8B-B14F-4D97-AF65-F5344CB8AC3E}">
        <p14:creationId xmlns:p14="http://schemas.microsoft.com/office/powerpoint/2010/main" val="2070693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8BF9A9-3017-4571-A56B-BAE1D7C45467}"/>
              </a:ext>
            </a:extLst>
          </p:cNvPr>
          <p:cNvSpPr>
            <a:spLocks noGrp="1"/>
          </p:cNvSpPr>
          <p:nvPr>
            <p:ph idx="1"/>
          </p:nvPr>
        </p:nvSpPr>
        <p:spPr>
          <a:xfrm>
            <a:off x="0" y="40944"/>
            <a:ext cx="12192000" cy="6858000"/>
          </a:xfrm>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3. List of figures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includes lists of tables, graphs, figures and charts used in the proposal</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4. Abstract</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highlights or summarises major points of a proposal.</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5. Methodology</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summarises the proposed methods of data collection and the procedure for investigating the situation/problem.</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6. Introduction</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gives the background, states the purpose and discusses the scope. It gives the reader a clear statement of what you are proposing and why you are proposing</a:t>
            </a:r>
          </a:p>
          <a:p>
            <a:pPr marL="0" indent="0">
              <a:buNone/>
            </a:pPr>
            <a:endParaRPr lang="en-US" dirty="0"/>
          </a:p>
        </p:txBody>
      </p:sp>
    </p:spTree>
    <p:extLst>
      <p:ext uri="{BB962C8B-B14F-4D97-AF65-F5344CB8AC3E}">
        <p14:creationId xmlns:p14="http://schemas.microsoft.com/office/powerpoint/2010/main" val="1432715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8F349A-3335-4397-9A22-F882FDC54406}"/>
              </a:ext>
            </a:extLst>
          </p:cNvPr>
          <p:cNvSpPr>
            <a:spLocks noGrp="1"/>
          </p:cNvSpPr>
          <p:nvPr>
            <p:ph idx="1"/>
          </p:nvPr>
        </p:nvSpPr>
        <p:spPr>
          <a:xfrm>
            <a:off x="0" y="0"/>
            <a:ext cx="12192000" cy="6858000"/>
          </a:xfrm>
        </p:spPr>
        <p:txBody>
          <a:bodyPr/>
          <a:lstStyle/>
          <a:p>
            <a:pPr marL="0" indent="0">
              <a:buNone/>
            </a:pPr>
            <a:r>
              <a:rPr lang="en-US" b="1" dirty="0">
                <a:latin typeface="Times New Roman" panose="02020603050405020304" pitchFamily="18" charset="0"/>
                <a:cs typeface="Times New Roman" panose="02020603050405020304" pitchFamily="18" charset="0"/>
              </a:rPr>
              <a:t>7.	Statement of the problem</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includes existing problems or situation that the proposal intends to address e.g. inefficiency, high costs, dangers etc. </a:t>
            </a:r>
          </a:p>
          <a:p>
            <a:pPr marL="0" indent="0">
              <a:buNone/>
            </a:pPr>
            <a:endParaRPr lang="en-US" b="1"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8. Proposed Plan and Schedule</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section presents solutions to the problem by providing all particulars of your proposal.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Under this section you may wish to include these subheadings: Equipment, procedure, capabilities, costs, personnel and time plan.</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5671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6BF7B2-3BAF-492A-B505-60973FE6B7AE}"/>
              </a:ext>
            </a:extLst>
          </p:cNvPr>
          <p:cNvSpPr>
            <a:spLocks noGrp="1"/>
          </p:cNvSpPr>
          <p:nvPr>
            <p:ph idx="1"/>
          </p:nvPr>
        </p:nvSpPr>
        <p:spPr>
          <a:xfrm>
            <a:off x="0" y="0"/>
            <a:ext cx="12192000" cy="6858000"/>
          </a:xfrm>
        </p:spPr>
        <p:txBody>
          <a:bodyPr>
            <a:normAutofit fontScale="92500" lnSpcReduction="20000"/>
          </a:bodyPr>
          <a:lstStyle/>
          <a:p>
            <a:pPr marL="514350" indent="-514350">
              <a:buAutoNum type="arabicPeriod" startAt="9"/>
            </a:pPr>
            <a:r>
              <a:rPr lang="en-US" b="1" dirty="0">
                <a:latin typeface="Times New Roman" panose="02020603050405020304" pitchFamily="18" charset="0"/>
                <a:cs typeface="Times New Roman" panose="02020603050405020304" pitchFamily="18" charset="0"/>
              </a:rPr>
              <a:t>Implications/Consequences</a:t>
            </a:r>
          </a:p>
          <a:p>
            <a:pPr marL="0" indent="0">
              <a:buNone/>
            </a:pPr>
            <a:endParaRPr lang="en-US" b="1"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Divide this section into advantages and disadvantages or strengths and weaknesses/limitations.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section must reinforce that the proposal has more advantages than disadvantages.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links benefits to the needs of the situation.</a:t>
            </a:r>
          </a:p>
          <a:p>
            <a:pPr algn="just">
              <a:buFont typeface="Wingdings" panose="05000000000000000000" pitchFamily="2" charset="2"/>
              <a:buChar char="v"/>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10. Recommendations</a:t>
            </a:r>
          </a:p>
          <a:p>
            <a:pPr marL="0" indent="0">
              <a:buNone/>
            </a:pPr>
            <a:endParaRPr lang="en-US" b="1" dirty="0">
              <a:latin typeface="Times New Roman" panose="02020603050405020304" pitchFamily="18" charset="0"/>
              <a:cs typeface="Times New Roman" panose="02020603050405020304" pitchFamily="18" charset="0"/>
            </a:endParaRP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section discusses the plan to solve the problem. It is the most persuasive section of a proposal.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11. Conclusion</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section provides the final summary of the proposal and focuses on main points. It provides an urge to action.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It also </a:t>
            </a:r>
            <a:r>
              <a:rPr lang="en-US" dirty="0" err="1">
                <a:latin typeface="Times New Roman" panose="02020603050405020304" pitchFamily="18" charset="0"/>
                <a:cs typeface="Times New Roman" panose="02020603050405020304" pitchFamily="18" charset="0"/>
              </a:rPr>
              <a:t>re-emphasises</a:t>
            </a:r>
            <a:r>
              <a:rPr lang="en-US" dirty="0">
                <a:latin typeface="Times New Roman" panose="02020603050405020304" pitchFamily="18" charset="0"/>
                <a:cs typeface="Times New Roman" panose="02020603050405020304" pitchFamily="18" charset="0"/>
              </a:rPr>
              <a:t> the advantages. </a:t>
            </a:r>
          </a:p>
          <a:p>
            <a:pPr algn="just">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section must be closed with a persuasive statement e.g. I urge you to give serious consideration to this proposal and I am available to discuss its particulars.</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123863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076E1-F055-4FB9-AECA-074D686B02AD}"/>
              </a:ext>
            </a:extLst>
          </p:cNvPr>
          <p:cNvSpPr>
            <a:spLocks noGrp="1"/>
          </p:cNvSpPr>
          <p:nvPr>
            <p:ph idx="1"/>
          </p:nvPr>
        </p:nvSpPr>
        <p:spPr>
          <a:xfrm>
            <a:off x="0" y="0"/>
            <a:ext cx="12192000" cy="6858000"/>
          </a:xfrm>
        </p:spPr>
        <p:txBody>
          <a:bodyPr>
            <a:normAutofit/>
          </a:bodyPr>
          <a:lstStyle/>
          <a:p>
            <a:pPr marL="0" indent="0">
              <a:buNone/>
            </a:pPr>
            <a:r>
              <a:rPr lang="en-US" b="1" dirty="0">
                <a:latin typeface="Times New Roman" panose="02020603050405020304" pitchFamily="18" charset="0"/>
                <a:cs typeface="Times New Roman" panose="02020603050405020304" pitchFamily="18" charset="0"/>
              </a:rPr>
              <a:t>12.  Appendices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Secondary materials are put as appendices in proposals. This maintains logical continuity and avoids distractions.</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WRITING TIPS</a:t>
            </a:r>
          </a:p>
          <a:p>
            <a:pPr marL="0" indent="0">
              <a:buNone/>
            </a:pPr>
            <a:r>
              <a:rPr lang="en-US" dirty="0">
                <a:latin typeface="Times New Roman" panose="02020603050405020304" pitchFamily="18" charset="0"/>
                <a:cs typeface="Times New Roman" panose="02020603050405020304" pitchFamily="18" charset="0"/>
              </a:rPr>
              <a:t>a</a:t>
            </a:r>
            <a:r>
              <a:rPr lang="en-US" i="1" dirty="0">
                <a:latin typeface="Times New Roman" panose="02020603050405020304" pitchFamily="18" charset="0"/>
                <a:cs typeface="Times New Roman" panose="02020603050405020304" pitchFamily="18" charset="0"/>
              </a:rPr>
              <a:t>) Pre-writing stage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During this stage the write should answer the following questions</a:t>
            </a:r>
          </a:p>
          <a:p>
            <a:pPr marL="0" indent="0">
              <a:buNone/>
            </a:pPr>
            <a:r>
              <a:rPr lang="en-US" dirty="0">
                <a:latin typeface="Times New Roman" panose="02020603050405020304" pitchFamily="18" charset="0"/>
                <a:cs typeface="Times New Roman" panose="02020603050405020304" pitchFamily="18" charset="0"/>
              </a:rPr>
              <a:t>1. Why is the proposal being written? / What are the objectives?</a:t>
            </a:r>
          </a:p>
          <a:p>
            <a:pPr marL="0" indent="0">
              <a:buNone/>
            </a:pPr>
            <a:r>
              <a:rPr lang="en-US" dirty="0">
                <a:latin typeface="Times New Roman" panose="02020603050405020304" pitchFamily="18" charset="0"/>
                <a:cs typeface="Times New Roman" panose="02020603050405020304" pitchFamily="18" charset="0"/>
              </a:rPr>
              <a:t>          </a:t>
            </a:r>
            <a:r>
              <a:rPr lang="en-US" i="1" dirty="0">
                <a:latin typeface="Times New Roman" panose="02020603050405020304" pitchFamily="18" charset="0"/>
                <a:cs typeface="Times New Roman" panose="02020603050405020304" pitchFamily="18" charset="0"/>
              </a:rPr>
              <a:t>(Purpose identification)</a:t>
            </a:r>
          </a:p>
          <a:p>
            <a:pPr marL="0" indent="0">
              <a:buNone/>
            </a:pPr>
            <a:r>
              <a:rPr lang="en-US" dirty="0">
                <a:latin typeface="Times New Roman" panose="02020603050405020304" pitchFamily="18" charset="0"/>
                <a:cs typeface="Times New Roman" panose="02020603050405020304" pitchFamily="18" charset="0"/>
              </a:rPr>
              <a:t>2.Who is the audience?</a:t>
            </a:r>
          </a:p>
          <a:p>
            <a:pPr marL="0" indent="0">
              <a:buNone/>
            </a:pPr>
            <a:r>
              <a:rPr lang="en-US" i="1" dirty="0">
                <a:latin typeface="Times New Roman" panose="02020603050405020304" pitchFamily="18" charset="0"/>
                <a:cs typeface="Times New Roman" panose="02020603050405020304" pitchFamily="18" charset="0"/>
              </a:rPr>
              <a:t>               (Audience analysis)</a:t>
            </a:r>
          </a:p>
          <a:p>
            <a:pPr marL="0" indent="0">
              <a:buNone/>
            </a:pPr>
            <a:r>
              <a:rPr lang="en-US" dirty="0">
                <a:latin typeface="Times New Roman" panose="02020603050405020304" pitchFamily="18" charset="0"/>
                <a:cs typeface="Times New Roman" panose="02020603050405020304" pitchFamily="18" charset="0"/>
              </a:rPr>
              <a:t>3. Does the proposal involve any project? What is the project?</a:t>
            </a:r>
          </a:p>
          <a:p>
            <a:pPr marL="0" indent="0">
              <a:buNone/>
            </a:pPr>
            <a:r>
              <a:rPr lang="en-US" i="1" dirty="0">
                <a:latin typeface="Times New Roman" panose="02020603050405020304" pitchFamily="18" charset="0"/>
                <a:cs typeface="Times New Roman" panose="02020603050405020304" pitchFamily="18" charset="0"/>
              </a:rPr>
              <a:t>       (Project analysis)</a:t>
            </a:r>
          </a:p>
          <a:p>
            <a:pPr marL="0" indent="0">
              <a:buNone/>
            </a:pPr>
            <a:endParaRPr lang="en-US" i="1"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70120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CCDEB3-F765-48B3-8899-8B623E78D4A4}"/>
              </a:ext>
            </a:extLst>
          </p:cNvPr>
          <p:cNvSpPr>
            <a:spLocks noGrp="1"/>
          </p:cNvSpPr>
          <p:nvPr>
            <p:ph idx="1"/>
          </p:nvPr>
        </p:nvSpPr>
        <p:spPr>
          <a:xfrm>
            <a:off x="0" y="0"/>
            <a:ext cx="12192000" cy="6858000"/>
          </a:xfrm>
        </p:spPr>
        <p:txBody>
          <a:bodyPr/>
          <a:lstStyle/>
          <a:p>
            <a:pPr marL="0" indent="0">
              <a:buNone/>
            </a:pPr>
            <a:r>
              <a:rPr lang="en-US" dirty="0">
                <a:latin typeface="Times New Roman" panose="02020603050405020304" pitchFamily="18" charset="0"/>
                <a:cs typeface="Times New Roman" panose="02020603050405020304" pitchFamily="18" charset="0"/>
              </a:rPr>
              <a:t>4. How much information should be included in the proposal?</a:t>
            </a:r>
          </a:p>
          <a:p>
            <a:pPr marL="0" indent="0">
              <a:buNone/>
            </a:pPr>
            <a:r>
              <a:rPr lang="en-US" i="1" dirty="0">
                <a:latin typeface="Times New Roman" panose="02020603050405020304" pitchFamily="18" charset="0"/>
                <a:cs typeface="Times New Roman" panose="02020603050405020304" pitchFamily="18" charset="0"/>
              </a:rPr>
              <a:t>            (Scope determination)</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5.What should the reader do?</a:t>
            </a:r>
          </a:p>
          <a:p>
            <a:pPr marL="0" indent="0">
              <a:buNone/>
            </a:pPr>
            <a:r>
              <a:rPr lang="en-US" dirty="0">
                <a:latin typeface="Times New Roman" panose="02020603050405020304" pitchFamily="18" charset="0"/>
                <a:cs typeface="Times New Roman" panose="02020603050405020304" pitchFamily="18" charset="0"/>
              </a:rPr>
              <a:t>     (Analysis of the action desired)</a:t>
            </a:r>
          </a:p>
          <a:p>
            <a:pPr marL="0" indent="0">
              <a:buNone/>
            </a:pPr>
            <a:endParaRPr lang="en-US" dirty="0">
              <a:latin typeface="Times New Roman" panose="02020603050405020304" pitchFamily="18" charset="0"/>
              <a:cs typeface="Times New Roman" panose="02020603050405020304" pitchFamily="18" charset="0"/>
            </a:endParaRP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Once these questions are answered, the writer can collect data that relate to the proposal</a:t>
            </a:r>
          </a:p>
        </p:txBody>
      </p:sp>
    </p:spTree>
    <p:extLst>
      <p:ext uri="{BB962C8B-B14F-4D97-AF65-F5344CB8AC3E}">
        <p14:creationId xmlns:p14="http://schemas.microsoft.com/office/powerpoint/2010/main" val="4002329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2826A-4BBB-4D52-9FC1-3E1F40C1A28C}"/>
              </a:ext>
            </a:extLst>
          </p:cNvPr>
          <p:cNvSpPr>
            <a:spLocks noGrp="1"/>
          </p:cNvSpPr>
          <p:nvPr>
            <p:ph idx="1"/>
          </p:nvPr>
        </p:nvSpPr>
        <p:spPr>
          <a:xfrm>
            <a:off x="0" y="0"/>
            <a:ext cx="12192000" cy="6858000"/>
          </a:xfrm>
        </p:spPr>
        <p:txBody>
          <a:bodyPr/>
          <a:lstStyle/>
          <a:p>
            <a:pPr marL="0" indent="0">
              <a:buNone/>
            </a:pPr>
            <a:r>
              <a:rPr lang="en-US" dirty="0">
                <a:latin typeface="Times New Roman" panose="02020603050405020304" pitchFamily="18" charset="0"/>
                <a:cs typeface="Times New Roman" panose="02020603050405020304" pitchFamily="18" charset="0"/>
              </a:rPr>
              <a:t>b) Writing Stage</a:t>
            </a:r>
          </a:p>
          <a:p>
            <a:pPr marL="0" indent="0">
              <a:buNone/>
            </a:pPr>
            <a:r>
              <a:rPr lang="en-US" dirty="0">
                <a:latin typeface="Times New Roman" panose="02020603050405020304" pitchFamily="18" charset="0"/>
                <a:cs typeface="Times New Roman" panose="02020603050405020304" pitchFamily="18" charset="0"/>
              </a:rPr>
              <a:t>This involves </a:t>
            </a:r>
            <a:r>
              <a:rPr lang="en-US" dirty="0" err="1">
                <a:latin typeface="Times New Roman" panose="02020603050405020304" pitchFamily="18" charset="0"/>
                <a:cs typeface="Times New Roman" panose="02020603050405020304" pitchFamily="18" charset="0"/>
              </a:rPr>
              <a:t>organising</a:t>
            </a:r>
            <a:r>
              <a:rPr lang="en-US" dirty="0">
                <a:latin typeface="Times New Roman" panose="02020603050405020304" pitchFamily="18" charset="0"/>
                <a:cs typeface="Times New Roman" panose="02020603050405020304" pitchFamily="18" charset="0"/>
              </a:rPr>
              <a:t> the data that has been collected, outlining what will be presented in the proposal and writing the first draft.</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c) Post-Writing Stage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This involves revising, editing and evaluating the draft in order to improve its content, layout and structure. The proposal needs to be edited for grammatical and lexical accuracy. </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797266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9F76A-AB66-44CF-BB2C-BD0AF88AD2BD}"/>
              </a:ext>
            </a:extLst>
          </p:cNvPr>
          <p:cNvSpPr>
            <a:spLocks noGrp="1"/>
          </p:cNvSpPr>
          <p:nvPr>
            <p:ph idx="1"/>
          </p:nvPr>
        </p:nvSpPr>
        <p:spPr>
          <a:xfrm>
            <a:off x="0" y="0"/>
            <a:ext cx="12192000" cy="6858000"/>
          </a:xfrm>
        </p:spPr>
        <p:txBody>
          <a:bodyPr/>
          <a:lstStyle/>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a:t>
            </a:r>
            <a:r>
              <a:rPr lang="en-US" b="1" i="1" dirty="0">
                <a:latin typeface="Times New Roman" panose="02020603050405020304" pitchFamily="18" charset="0"/>
                <a:cs typeface="Times New Roman" panose="02020603050405020304" pitchFamily="18" charset="0"/>
              </a:rPr>
              <a:t>The  end</a:t>
            </a:r>
          </a:p>
        </p:txBody>
      </p:sp>
    </p:spTree>
    <p:extLst>
      <p:ext uri="{BB962C8B-B14F-4D97-AF65-F5344CB8AC3E}">
        <p14:creationId xmlns:p14="http://schemas.microsoft.com/office/powerpoint/2010/main" val="26533356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41F6BF-491F-47BA-95E5-4F2674F979CE}"/>
              </a:ext>
            </a:extLst>
          </p:cNvPr>
          <p:cNvSpPr>
            <a:spLocks noGrp="1"/>
          </p:cNvSpPr>
          <p:nvPr>
            <p:ph idx="1"/>
          </p:nvPr>
        </p:nvSpPr>
        <p:spPr>
          <a:xfrm>
            <a:off x="0" y="0"/>
            <a:ext cx="12192000" cy="6858000"/>
          </a:xfrm>
        </p:spPr>
        <p:txBody>
          <a:bodyPr/>
          <a:lstStyle/>
          <a:p>
            <a:endParaRPr lang="en-US" dirty="0"/>
          </a:p>
        </p:txBody>
      </p:sp>
    </p:spTree>
    <p:extLst>
      <p:ext uri="{BB962C8B-B14F-4D97-AF65-F5344CB8AC3E}">
        <p14:creationId xmlns:p14="http://schemas.microsoft.com/office/powerpoint/2010/main" val="20121486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B388055-3A6C-4AA8-9356-36E8FC0B5BCA}"/>
              </a:ext>
            </a:extLst>
          </p:cNvPr>
          <p:cNvSpPr>
            <a:spLocks noGrp="1"/>
          </p:cNvSpPr>
          <p:nvPr>
            <p:ph idx="1"/>
          </p:nvPr>
        </p:nvSpPr>
        <p:spPr>
          <a:xfrm>
            <a:off x="0" y="0"/>
            <a:ext cx="12192000" cy="6858000"/>
          </a:xfrm>
        </p:spPr>
        <p:txBody>
          <a:bodyPr/>
          <a:lstStyle/>
          <a:p>
            <a:endParaRPr lang="en-US" dirty="0"/>
          </a:p>
        </p:txBody>
      </p:sp>
    </p:spTree>
    <p:extLst>
      <p:ext uri="{BB962C8B-B14F-4D97-AF65-F5344CB8AC3E}">
        <p14:creationId xmlns:p14="http://schemas.microsoft.com/office/powerpoint/2010/main" val="17335224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119D211-5053-4A5C-B917-3F0C5F2816F2}"/>
              </a:ext>
            </a:extLst>
          </p:cNvPr>
          <p:cNvSpPr>
            <a:spLocks noGrp="1"/>
          </p:cNvSpPr>
          <p:nvPr>
            <p:ph idx="1"/>
          </p:nvPr>
        </p:nvSpPr>
        <p:spPr>
          <a:xfrm>
            <a:off x="0" y="1"/>
            <a:ext cx="12192000" cy="6858000"/>
          </a:xfrm>
        </p:spPr>
        <p:txBody>
          <a:bodyPr/>
          <a:lstStyle/>
          <a:p>
            <a:endParaRPr lang="en-US" dirty="0"/>
          </a:p>
        </p:txBody>
      </p:sp>
    </p:spTree>
    <p:extLst>
      <p:ext uri="{BB962C8B-B14F-4D97-AF65-F5344CB8AC3E}">
        <p14:creationId xmlns:p14="http://schemas.microsoft.com/office/powerpoint/2010/main" val="3009441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FA8B68C-B944-4760-B64C-3A35FE6530CD}"/>
              </a:ext>
            </a:extLst>
          </p:cNvPr>
          <p:cNvSpPr>
            <a:spLocks noGrp="1"/>
          </p:cNvSpPr>
          <p:nvPr>
            <p:ph idx="1"/>
          </p:nvPr>
        </p:nvSpPr>
        <p:spPr>
          <a:xfrm>
            <a:off x="0" y="0"/>
            <a:ext cx="12192000" cy="6858000"/>
          </a:xfrm>
        </p:spPr>
        <p:txBody>
          <a:bodyPr/>
          <a:lstStyle/>
          <a:p>
            <a:endParaRPr lang="en-US" dirty="0"/>
          </a:p>
        </p:txBody>
      </p:sp>
    </p:spTree>
    <p:extLst>
      <p:ext uri="{BB962C8B-B14F-4D97-AF65-F5344CB8AC3E}">
        <p14:creationId xmlns:p14="http://schemas.microsoft.com/office/powerpoint/2010/main" val="26699815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43D7BE-4BA0-4787-A8E2-558CC5924460}"/>
              </a:ext>
            </a:extLst>
          </p:cNvPr>
          <p:cNvSpPr>
            <a:spLocks noGrp="1"/>
          </p:cNvSpPr>
          <p:nvPr>
            <p:ph idx="1"/>
          </p:nvPr>
        </p:nvSpPr>
        <p:spPr>
          <a:xfrm>
            <a:off x="0" y="0"/>
            <a:ext cx="12192000" cy="6858000"/>
          </a:xfrm>
        </p:spPr>
        <p:txBody>
          <a:bodyPr/>
          <a:lstStyle/>
          <a:p>
            <a:endParaRPr lang="en-US" dirty="0"/>
          </a:p>
        </p:txBody>
      </p:sp>
    </p:spTree>
    <p:extLst>
      <p:ext uri="{BB962C8B-B14F-4D97-AF65-F5344CB8AC3E}">
        <p14:creationId xmlns:p14="http://schemas.microsoft.com/office/powerpoint/2010/main" val="548363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86C927-601C-48E9-8536-F97B43CA61D2}"/>
              </a:ext>
            </a:extLst>
          </p:cNvPr>
          <p:cNvSpPr>
            <a:spLocks noGrp="1"/>
          </p:cNvSpPr>
          <p:nvPr>
            <p:ph idx="1"/>
          </p:nvPr>
        </p:nvSpPr>
        <p:spPr>
          <a:xfrm>
            <a:off x="0" y="0"/>
            <a:ext cx="12192000" cy="6858000"/>
          </a:xfrm>
        </p:spPr>
        <p:txBody>
          <a:bodyPr/>
          <a:lstStyle/>
          <a:p>
            <a:endParaRPr lang="en-US" dirty="0"/>
          </a:p>
        </p:txBody>
      </p:sp>
    </p:spTree>
    <p:extLst>
      <p:ext uri="{BB962C8B-B14F-4D97-AF65-F5344CB8AC3E}">
        <p14:creationId xmlns:p14="http://schemas.microsoft.com/office/powerpoint/2010/main" val="1851141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TotalTime>
  <Words>1122</Words>
  <Application>Microsoft Office PowerPoint</Application>
  <PresentationFormat>Widescreen</PresentationFormat>
  <Paragraphs>136</Paragraphs>
  <Slides>20</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Lenovo</dc:creator>
  <cp:lastModifiedBy>Lenovo</cp:lastModifiedBy>
  <cp:revision>16</cp:revision>
  <dcterms:created xsi:type="dcterms:W3CDTF">2020-11-10T19:18:41Z</dcterms:created>
  <dcterms:modified xsi:type="dcterms:W3CDTF">2020-11-20T08:31:11Z</dcterms:modified>
</cp:coreProperties>
</file>