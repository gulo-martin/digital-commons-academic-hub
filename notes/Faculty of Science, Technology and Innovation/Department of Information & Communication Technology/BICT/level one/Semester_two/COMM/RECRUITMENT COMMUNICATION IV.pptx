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92" r:id="rId7"/>
    <p:sldId id="261" r:id="rId8"/>
    <p:sldId id="262" r:id="rId9"/>
    <p:sldId id="263" r:id="rId10"/>
    <p:sldId id="264" r:id="rId11"/>
    <p:sldId id="265" r:id="rId12"/>
    <p:sldId id="266" r:id="rId13"/>
    <p:sldId id="267" r:id="rId14"/>
    <p:sldId id="268" r:id="rId15"/>
    <p:sldId id="269" r:id="rId16"/>
    <p:sldId id="270" r:id="rId17"/>
    <p:sldId id="291" r:id="rId18"/>
    <p:sldId id="271" r:id="rId19"/>
    <p:sldId id="272"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4C96-BA6C-405E-A839-2845D94DC9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C4DEF8-BE5C-430A-B25D-C35E6A095D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C7D0C8-6274-41CE-A416-81F790F06B8A}"/>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4DAB2E75-A8E1-4BC6-AE28-E0319F353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B2BDD0-8E27-4180-8523-2813E91BE65A}"/>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2105804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08C42-134D-4292-BEED-1B6AC839B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D9DDDF-B09E-485D-BFF2-D9A7F32D9B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0E9E7-D416-47E2-9B4E-E0C1D1ECF1C1}"/>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133B3129-0766-4A61-8910-B34FE7C9BC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5A4D8-51F1-4771-84CD-5EE3C9FABE6E}"/>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69353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AADA-A41C-4DD1-BFB1-B5D9C56330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7DE2B2-F83B-4D84-AA1B-DDC48F8CC7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C4699F-28C0-4266-9076-F715C58945F3}"/>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7C1E1680-8014-4C78-A7C9-8539629567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66282B-5298-403E-A90A-8580F44F6BFF}"/>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1497025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97D3-289C-4052-B2D7-0E201F80E7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CE6CEC-3F3A-458B-AB85-53F98B9C38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0D66E7-4E86-459B-A605-759AA8F553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B8A984-DDCF-400E-9799-04235E50D129}"/>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6" name="Footer Placeholder 5">
            <a:extLst>
              <a:ext uri="{FF2B5EF4-FFF2-40B4-BE49-F238E27FC236}">
                <a16:creationId xmlns:a16="http://schemas.microsoft.com/office/drawing/2014/main" id="{0544BF73-67D3-4ACC-9F2E-609A4BB749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425769-CBF2-4D26-8C63-08ACC5C8E6FE}"/>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252556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30F6-09EE-4D94-9BC1-D3373E9698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79BBC2-E15C-41B7-B143-72433D8955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A7C007-0FAB-4708-9E4A-64B839577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DDA05B-1808-43C8-BEAC-C75D8085E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7064FE-F92F-4237-9A7B-A94A77E00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E00EDC-3A81-443A-BF32-D22499A3EF4D}"/>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8" name="Footer Placeholder 7">
            <a:extLst>
              <a:ext uri="{FF2B5EF4-FFF2-40B4-BE49-F238E27FC236}">
                <a16:creationId xmlns:a16="http://schemas.microsoft.com/office/drawing/2014/main" id="{EC1006C5-3803-4EDA-94C1-85D6CF7CC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C911B6-82CA-4212-9149-74616BE7530C}"/>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1327789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1DF6-7FB5-49D1-BD54-58216949E9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03E5D2-9315-40EE-B6BF-E351FE1705DE}"/>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4" name="Footer Placeholder 3">
            <a:extLst>
              <a:ext uri="{FF2B5EF4-FFF2-40B4-BE49-F238E27FC236}">
                <a16:creationId xmlns:a16="http://schemas.microsoft.com/office/drawing/2014/main" id="{40ECCFDE-1DC3-4607-B258-CC4CB44CA5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AEBADB-C06C-4B02-B095-8531524C1581}"/>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4182555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AFDCDD-987F-467A-98FC-EC80BED96BE9}"/>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3" name="Footer Placeholder 2">
            <a:extLst>
              <a:ext uri="{FF2B5EF4-FFF2-40B4-BE49-F238E27FC236}">
                <a16:creationId xmlns:a16="http://schemas.microsoft.com/office/drawing/2014/main" id="{733AEF03-47E6-4641-8896-298A14A986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006CB5-AD78-445C-8767-999D301B2E5B}"/>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1866880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A0930-029D-49AC-894B-EF6D974B3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65DDB0-C045-4EE4-B078-9774D9291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B7F882-9965-4A8A-A603-C4E99596F7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3DEAF4-274A-48AF-9563-A5CA01429B80}"/>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6" name="Footer Placeholder 5">
            <a:extLst>
              <a:ext uri="{FF2B5EF4-FFF2-40B4-BE49-F238E27FC236}">
                <a16:creationId xmlns:a16="http://schemas.microsoft.com/office/drawing/2014/main" id="{475CA7FF-3535-4F25-A261-CB75B4FCF1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892F0D-434E-4EF7-9103-706FEC7CB2EE}"/>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1453313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E5D11-5EB5-4269-95F5-72F7B0E21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C4AD39-1155-40C8-B05C-5B575E0D5B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95CE1E-5090-4EE6-8574-E38D6C52A2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02CE40-9070-40D0-BF95-F80E043282DC}"/>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6" name="Footer Placeholder 5">
            <a:extLst>
              <a:ext uri="{FF2B5EF4-FFF2-40B4-BE49-F238E27FC236}">
                <a16:creationId xmlns:a16="http://schemas.microsoft.com/office/drawing/2014/main" id="{7FD9D451-62B1-48F4-84E4-CB6CF99D9D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C2AFEF-988D-47E2-A609-B4B1A405D3E9}"/>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703301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A7EC-F042-4F2A-84D7-F4F7FE969A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E52512-B946-4616-A394-74CD250718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BCEDE-7791-4E2E-BD39-9C8EA73AD854}"/>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555E55E8-68D1-43B5-8BCB-CD3FA0BFA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3C2A0A-3546-4170-A457-958C6E70FEF4}"/>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3224413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F907E6-1345-47D0-8454-011526009A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EF18E2-2DA5-475F-8CF5-96D9615E37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778642-9D91-49A3-B4BA-3235FE2C0793}"/>
              </a:ext>
            </a:extLst>
          </p:cNvPr>
          <p:cNvSpPr>
            <a:spLocks noGrp="1"/>
          </p:cNvSpPr>
          <p:nvPr>
            <p:ph type="dt" sz="half" idx="10"/>
          </p:nvPr>
        </p:nvSpPr>
        <p:spPr/>
        <p:txBody>
          <a:body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9AC58BB8-42BD-4C08-B2CA-348B4D3B6D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BD0E8-C946-4B87-9493-5022989BBB4A}"/>
              </a:ext>
            </a:extLst>
          </p:cNvPr>
          <p:cNvSpPr>
            <a:spLocks noGrp="1"/>
          </p:cNvSpPr>
          <p:nvPr>
            <p:ph type="sldNum" sz="quarter" idx="12"/>
          </p:nvPr>
        </p:nvSpPr>
        <p:spPr/>
        <p:txBody>
          <a:bodyPr/>
          <a:lstStyle/>
          <a:p>
            <a:fld id="{9365170A-9219-4792-82E8-53C4F80D872C}" type="slidenum">
              <a:rPr lang="en-US" smtClean="0"/>
              <a:t>‹#›</a:t>
            </a:fld>
            <a:endParaRPr lang="en-US"/>
          </a:p>
        </p:txBody>
      </p:sp>
    </p:spTree>
    <p:extLst>
      <p:ext uri="{BB962C8B-B14F-4D97-AF65-F5344CB8AC3E}">
        <p14:creationId xmlns:p14="http://schemas.microsoft.com/office/powerpoint/2010/main" val="540205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D930F5-039C-4E5C-8D70-A86AB9CD1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B68091-66DB-44F5-9044-E799F8992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80E22-EE9F-4275-B416-423B8CFD5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2B3DD-983C-40F8-BAF1-E18A7B2BCA7D}" type="datetimeFigureOut">
              <a:rPr lang="en-US" smtClean="0"/>
              <a:t>12/21/2021</a:t>
            </a:fld>
            <a:endParaRPr lang="en-US"/>
          </a:p>
        </p:txBody>
      </p:sp>
      <p:sp>
        <p:nvSpPr>
          <p:cNvPr id="5" name="Footer Placeholder 4">
            <a:extLst>
              <a:ext uri="{FF2B5EF4-FFF2-40B4-BE49-F238E27FC236}">
                <a16:creationId xmlns:a16="http://schemas.microsoft.com/office/drawing/2014/main" id="{54C64762-EA71-4DCF-B3C3-E84256FA2F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42F078-EAE6-4B92-8E08-0791FDDC0F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65170A-9219-4792-82E8-53C4F80D872C}" type="slidenum">
              <a:rPr lang="en-US" smtClean="0"/>
              <a:t>‹#›</a:t>
            </a:fld>
            <a:endParaRPr lang="en-US"/>
          </a:p>
        </p:txBody>
      </p:sp>
    </p:spTree>
    <p:extLst>
      <p:ext uri="{BB962C8B-B14F-4D97-AF65-F5344CB8AC3E}">
        <p14:creationId xmlns:p14="http://schemas.microsoft.com/office/powerpoint/2010/main" val="821141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DA94A26-ED61-4A28-AF19-A99D94DBEACE}"/>
              </a:ext>
            </a:extLst>
          </p:cNvPr>
          <p:cNvSpPr>
            <a:spLocks noGrp="1"/>
          </p:cNvSpPr>
          <p:nvPr>
            <p:ph type="subTitle" idx="1"/>
          </p:nvPr>
        </p:nvSpPr>
        <p:spPr>
          <a:xfrm>
            <a:off x="1524000" y="2292627"/>
            <a:ext cx="9144000" cy="1136374"/>
          </a:xfrm>
        </p:spPr>
        <p:txBody>
          <a:bodyPr>
            <a:normAutofit fontScale="77500" lnSpcReduction="20000"/>
          </a:bodyPr>
          <a:lstStyle/>
          <a:p>
            <a:pPr marL="0" marR="0" algn="just">
              <a:spcBef>
                <a:spcPts val="0"/>
              </a:spcBef>
              <a:spcAft>
                <a:spcPts val="0"/>
              </a:spcAft>
            </a:pPr>
            <a:r>
              <a:rPr lang="en-GB" sz="2400" b="1" kern="0" dirty="0">
                <a:effectLst/>
                <a:latin typeface="Times New Roman" panose="02020603050405020304" pitchFamily="18" charset="0"/>
                <a:ea typeface="Times New Roman" panose="02020603050405020304" pitchFamily="18" charset="0"/>
              </a:rPr>
              <a:t>     </a:t>
            </a:r>
            <a:r>
              <a:rPr lang="en-GB" sz="2800" b="1" kern="0" dirty="0">
                <a:effectLst/>
                <a:latin typeface="Times New Roman" panose="02020603050405020304" pitchFamily="18" charset="0"/>
                <a:ea typeface="Times New Roman" panose="02020603050405020304" pitchFamily="18" charset="0"/>
              </a:rPr>
              <a:t>Unit 4</a:t>
            </a:r>
            <a:r>
              <a:rPr lang="en-GB" sz="2400" b="1" kern="0" dirty="0">
                <a:effectLst/>
                <a:latin typeface="Times New Roman" panose="02020603050405020304" pitchFamily="18" charset="0"/>
                <a:ea typeface="Times New Roman" panose="02020603050405020304" pitchFamily="18" charset="0"/>
              </a:rPr>
              <a:t>: RECRUITMENT COMMUNICATION/EMPLOYMENT </a:t>
            </a:r>
          </a:p>
          <a:p>
            <a:pPr marL="0" marR="0" algn="just">
              <a:spcBef>
                <a:spcPts val="0"/>
              </a:spcBef>
              <a:spcAft>
                <a:spcPts val="0"/>
              </a:spcAft>
            </a:pPr>
            <a:endParaRPr lang="en-GB" b="1" kern="0" dirty="0">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GB" sz="2400" b="1" kern="0" dirty="0">
                <a:effectLst/>
                <a:latin typeface="Times New Roman" panose="02020603050405020304" pitchFamily="18" charset="0"/>
                <a:ea typeface="Times New Roman" panose="02020603050405020304" pitchFamily="18" charset="0"/>
              </a:rPr>
              <a:t>                                           INTERVIEWS</a:t>
            </a:r>
            <a:endParaRPr lang="en-US" sz="2400" b="1" kern="0" dirty="0">
              <a:effectLst/>
              <a:latin typeface="Arial" panose="020B0604020202020204" pitchFamily="34" charset="0"/>
              <a:ea typeface="Times New Roman" panose="02020603050405020304" pitchFamily="18" charset="0"/>
            </a:endParaRPr>
          </a:p>
          <a:p>
            <a:pPr marL="0" marR="0">
              <a:lnSpc>
                <a:spcPct val="115000"/>
              </a:lnSpc>
              <a:spcBef>
                <a:spcPts val="0"/>
              </a:spcBef>
              <a:spcAft>
                <a:spcPts val="1000"/>
              </a:spcAft>
            </a:pP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73999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41BAF-A56A-4BA0-BCEC-2533AF1AD4A2}"/>
              </a:ext>
            </a:extLst>
          </p:cNvPr>
          <p:cNvSpPr>
            <a:spLocks noGrp="1"/>
          </p:cNvSpPr>
          <p:nvPr>
            <p:ph idx="1"/>
          </p:nvPr>
        </p:nvSpPr>
        <p:spPr>
          <a:xfrm>
            <a:off x="0" y="0"/>
            <a:ext cx="12192000" cy="6858000"/>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INTRODUCTION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employment interview should be viewed as an information sharing process between the interviewer (prospective employer) and the interviewee (job applicant).</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interviewer aims at learning more about the applicant so that he or she can decide whether the applicant has what it takes for the job.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employment interview is a communication situation. Both the interviewer and the interviewee have the responsibility to make it a successful communication: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Each has the responsibility to speak and also to listen.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Emotional speech should be avoided.</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Negative comments should be avoided.</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Exaggerations should be avoided.</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Politeness is essential.</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tone of the speech should be more formal than casual</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7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FA9AF-95AC-4B35-9746-8EACB3CB1647}"/>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Structure of an Interview</a:t>
            </a:r>
          </a:p>
          <a:p>
            <a:pPr marL="0" indent="0">
              <a:buNone/>
            </a:pPr>
            <a:r>
              <a:rPr lang="en-US" dirty="0">
                <a:latin typeface="Times New Roman" panose="02020603050405020304" pitchFamily="18" charset="0"/>
                <a:cs typeface="Times New Roman" panose="02020603050405020304" pitchFamily="18" charset="0"/>
              </a:rPr>
              <a:t>1.</a:t>
            </a:r>
            <a:r>
              <a:rPr lang="en-US" b="1" i="1" dirty="0">
                <a:latin typeface="Times New Roman" panose="02020603050405020304" pitchFamily="18" charset="0"/>
                <a:cs typeface="Times New Roman" panose="02020603050405020304" pitchFamily="18" charset="0"/>
              </a:rPr>
              <a:t>The Beginning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the warm up stage of the interview during which general greetings and conversational remarks about things like weather can exchanged.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Introductions are also made at this stage.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interviewer should try to make the applicant feel comfortable rather than intimidating him/her.</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applicant should try to make a good first impression.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purpose of this part of the interview is to establish a rapport (good feelings about each other).</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interviewee should try to learn names of the interviewers (panel).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29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A32116-5CEB-4B3F-8E06-70CDFE6B60EB}"/>
              </a:ext>
            </a:extLst>
          </p:cNvPr>
          <p:cNvSpPr>
            <a:spLocks noGrp="1"/>
          </p:cNvSpPr>
          <p:nvPr>
            <p:ph idx="1"/>
          </p:nvPr>
        </p:nvSpPr>
        <p:spPr>
          <a:xfrm>
            <a:off x="0" y="0"/>
            <a:ext cx="12192000" cy="6858000"/>
          </a:xfrm>
        </p:spPr>
        <p:txBody>
          <a:bodyPr/>
          <a:lstStyle/>
          <a:p>
            <a:pPr marL="0" indent="0">
              <a:buNone/>
            </a:pPr>
            <a:r>
              <a:rPr lang="en-US" b="1" i="1" dirty="0">
                <a:latin typeface="Times New Roman" panose="02020603050405020304" pitchFamily="18" charset="0"/>
                <a:cs typeface="Times New Roman" panose="02020603050405020304" pitchFamily="18" charset="0"/>
              </a:rPr>
              <a:t>2. The Middle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the heart of the interview; the most crucial part.</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interviewer evaluates whether the applicant is a good candidate for the job or not.</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interviewee sells himself/herself to the panel.</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interviewer should control this part of the interview.</a:t>
            </a:r>
          </a:p>
          <a:p>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3. The End</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interviewer tells the applicant how and when he/she will be informed about the outcome of the interview.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Both the interviewer and the interviewee should try to close the interview on a positive note.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66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16151F-1044-4B6F-AFF6-2A9F40723AE8}"/>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Preparation for interviews</a:t>
            </a:r>
          </a:p>
          <a:p>
            <a:pPr marL="0" indent="0">
              <a:buNone/>
            </a:pPr>
            <a:r>
              <a:rPr lang="en-US" b="1" dirty="0">
                <a:latin typeface="Times New Roman" panose="02020603050405020304" pitchFamily="18" charset="0"/>
                <a:cs typeface="Times New Roman" panose="02020603050405020304" pitchFamily="18" charset="0"/>
              </a:rPr>
              <a:t>1. Check your CV</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Mark parts which you feel the interviewer might want clarified, or about which more information might be needed. Be very clear what this clarification or extra information could be, and how you will present it.</a:t>
            </a:r>
          </a:p>
          <a:p>
            <a:pPr marL="514350" indent="-514350">
              <a:buAutoNum type="arabicPeriod" startAt="2"/>
            </a:pPr>
            <a:r>
              <a:rPr lang="en-US" b="1" i="1" dirty="0">
                <a:latin typeface="Times New Roman" panose="02020603050405020304" pitchFamily="18" charset="0"/>
                <a:cs typeface="Times New Roman" panose="02020603050405020304" pitchFamily="18" charset="0"/>
              </a:rPr>
              <a:t>Research the company</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question that is frequently asked during interviews is “why do you want to work for this organization?”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answer it satisfactorily, you must know some basic facts about the organization e.g.: </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Background – ownership; size.</a:t>
            </a:r>
          </a:p>
          <a:p>
            <a:pPr marL="0" indent="0">
              <a:buNone/>
            </a:pPr>
            <a:r>
              <a:rPr lang="en-US" i="1" dirty="0">
                <a:latin typeface="Times New Roman" panose="02020603050405020304" pitchFamily="18" charset="0"/>
                <a:cs typeface="Times New Roman" panose="02020603050405020304" pitchFamily="18" charset="0"/>
              </a:rPr>
              <a:t>        Product/service – what does the organization sell? How is the product/service </a:t>
            </a:r>
          </a:p>
          <a:p>
            <a:pPr marL="0" indent="0">
              <a:buNone/>
            </a:pPr>
            <a:r>
              <a:rPr lang="en-US" i="1" dirty="0">
                <a:latin typeface="Times New Roman" panose="02020603050405020304" pitchFamily="18" charset="0"/>
                <a:cs typeface="Times New Roman" panose="02020603050405020304" pitchFamily="18" charset="0"/>
              </a:rPr>
              <a:t>      sold? </a:t>
            </a:r>
          </a:p>
          <a:p>
            <a:pPr marL="0" indent="0">
              <a:buNone/>
            </a:pPr>
            <a:r>
              <a:rPr lang="en-US" i="1" dirty="0">
                <a:latin typeface="Times New Roman" panose="02020603050405020304" pitchFamily="18" charset="0"/>
                <a:cs typeface="Times New Roman" panose="02020603050405020304" pitchFamily="18" charset="0"/>
              </a:rPr>
              <a:t>     Who are the customers/.</a:t>
            </a:r>
          </a:p>
          <a:p>
            <a:pPr marL="0" indent="0">
              <a:buNone/>
            </a:pPr>
            <a:r>
              <a:rPr lang="en-US" i="1" dirty="0">
                <a:latin typeface="Times New Roman" panose="02020603050405020304" pitchFamily="18" charset="0"/>
                <a:cs typeface="Times New Roman" panose="02020603050405020304" pitchFamily="18" charset="0"/>
              </a:rPr>
              <a:t>    Financial position of the organization.</a:t>
            </a:r>
          </a:p>
          <a:p>
            <a:pPr marL="0" indent="0">
              <a:buNone/>
            </a:pPr>
            <a:endParaRPr lang="en-US" i="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2832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0C23A-D625-4F9F-AE43-057BB12E002E}"/>
              </a:ext>
            </a:extLst>
          </p:cNvPr>
          <p:cNvSpPr>
            <a:spLocks noGrp="1"/>
          </p:cNvSpPr>
          <p:nvPr>
            <p:ph idx="1"/>
          </p:nvPr>
        </p:nvSpPr>
        <p:spPr>
          <a:xfrm>
            <a:off x="0" y="0"/>
            <a:ext cx="12192000" cy="6858000"/>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following maybe of help to source information about the organization:</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website.</a:t>
            </a:r>
          </a:p>
          <a:p>
            <a:pPr marL="0" indent="0">
              <a:buNone/>
            </a:pPr>
            <a:r>
              <a:rPr lang="en-US" dirty="0">
                <a:latin typeface="Times New Roman" panose="02020603050405020304" pitchFamily="18" charset="0"/>
                <a:cs typeface="Times New Roman" panose="02020603050405020304" pitchFamily="18" charset="0"/>
              </a:rPr>
              <a:t>        -Newspaper articles (business section)</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annual reports.</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brochures.</a:t>
            </a:r>
          </a:p>
          <a:p>
            <a:pPr marL="0" indent="0">
              <a:buNone/>
            </a:pPr>
            <a:r>
              <a:rPr lang="en-US" dirty="0">
                <a:latin typeface="Times New Roman" panose="02020603050405020304" pitchFamily="18" charset="0"/>
                <a:cs typeface="Times New Roman" panose="02020603050405020304" pitchFamily="18" charset="0"/>
              </a:rPr>
              <a:t>        -Employees of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(chat with them</a:t>
            </a:r>
          </a:p>
        </p:txBody>
      </p:sp>
    </p:spTree>
    <p:extLst>
      <p:ext uri="{BB962C8B-B14F-4D97-AF65-F5344CB8AC3E}">
        <p14:creationId xmlns:p14="http://schemas.microsoft.com/office/powerpoint/2010/main" val="3743218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8108E-35E9-4C76-81B2-CE6BFEBDE66F}"/>
              </a:ext>
            </a:extLst>
          </p:cNvPr>
          <p:cNvSpPr>
            <a:spLocks noGrp="1"/>
          </p:cNvSpPr>
          <p:nvPr>
            <p:ph idx="1"/>
          </p:nvPr>
        </p:nvSpPr>
        <p:spPr>
          <a:xfrm>
            <a:off x="0" y="0"/>
            <a:ext cx="12192000" cy="6858000"/>
          </a:xfrm>
        </p:spPr>
        <p:txBody>
          <a:bodyPr>
            <a:normAutofit fontScale="92500" lnSpcReduction="20000"/>
          </a:bodyPr>
          <a:lstStyle/>
          <a:p>
            <a:pPr marL="0" indent="0">
              <a:buNone/>
            </a:pPr>
            <a:r>
              <a:rPr lang="en-US" b="1" i="1" dirty="0">
                <a:latin typeface="Times New Roman" panose="02020603050405020304" pitchFamily="18" charset="0"/>
                <a:cs typeface="Times New Roman" panose="02020603050405020304" pitchFamily="18" charset="0"/>
              </a:rPr>
              <a:t>3. Research the job</a:t>
            </a:r>
          </a:p>
          <a:p>
            <a:pPr marL="0" indent="0" algn="just">
              <a:buNone/>
            </a:pPr>
            <a:r>
              <a:rPr lang="en-US" dirty="0">
                <a:latin typeface="Times New Roman" panose="02020603050405020304" pitchFamily="18" charset="0"/>
                <a:cs typeface="Times New Roman" panose="02020603050405020304" pitchFamily="18" charset="0"/>
              </a:rPr>
              <a:t>      Check the job advert: </a:t>
            </a:r>
          </a:p>
          <a:p>
            <a:pPr marL="0" indent="0" algn="just">
              <a:buNone/>
            </a:pPr>
            <a:r>
              <a:rPr lang="en-US" dirty="0">
                <a:latin typeface="Times New Roman" panose="02020603050405020304" pitchFamily="18" charset="0"/>
                <a:cs typeface="Times New Roman" panose="02020603050405020304" pitchFamily="18" charset="0"/>
              </a:rPr>
              <a:t>      Duties of the position.</a:t>
            </a:r>
          </a:p>
          <a:p>
            <a:pPr marL="0" indent="0" algn="just">
              <a:buNone/>
            </a:pPr>
            <a:r>
              <a:rPr lang="en-US" dirty="0">
                <a:latin typeface="Times New Roman" panose="02020603050405020304" pitchFamily="18" charset="0"/>
                <a:cs typeface="Times New Roman" panose="02020603050405020304" pitchFamily="18" charset="0"/>
              </a:rPr>
              <a:t>      Education qualification.</a:t>
            </a:r>
          </a:p>
          <a:p>
            <a:pPr marL="0" indent="0" algn="just">
              <a:buNone/>
            </a:pPr>
            <a:r>
              <a:rPr lang="en-US" dirty="0">
                <a:latin typeface="Times New Roman" panose="02020603050405020304" pitchFamily="18" charset="0"/>
                <a:cs typeface="Times New Roman" panose="02020603050405020304" pitchFamily="18" charset="0"/>
              </a:rPr>
              <a:t>      Work experience. </a:t>
            </a:r>
          </a:p>
          <a:p>
            <a:pPr marL="0" indent="0" algn="just">
              <a:buNone/>
            </a:pPr>
            <a:r>
              <a:rPr lang="en-US" dirty="0">
                <a:latin typeface="Times New Roman" panose="02020603050405020304" pitchFamily="18" charset="0"/>
                <a:cs typeface="Times New Roman" panose="02020603050405020304" pitchFamily="18" charset="0"/>
              </a:rPr>
              <a:t>      Investigate the salary for similar positions in other organisations.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4. Anticipate questions</a:t>
            </a:r>
          </a:p>
          <a:p>
            <a:pPr marL="0" indent="0" algn="just">
              <a:buNone/>
            </a:pPr>
            <a:endParaRPr lang="en-US" b="1" i="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Prepare yourself by thinking about your answers to the questions you are likely to be asked.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Commonly asked questions include:</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Why did you choose the career you are pursuing?</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Which is important to you: money or type of job?</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do you consider to be your greatest strengths and weaknesses?</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Why should the </a:t>
            </a:r>
            <a:r>
              <a:rPr lang="en-US" i="1" dirty="0" err="1">
                <a:latin typeface="Times New Roman" panose="02020603050405020304" pitchFamily="18" charset="0"/>
                <a:cs typeface="Times New Roman" panose="02020603050405020304" pitchFamily="18" charset="0"/>
              </a:rPr>
              <a:t>organisation</a:t>
            </a:r>
            <a:r>
              <a:rPr lang="en-US" i="1" dirty="0">
                <a:latin typeface="Times New Roman" panose="02020603050405020304" pitchFamily="18" charset="0"/>
                <a:cs typeface="Times New Roman" panose="02020603050405020304" pitchFamily="18" charset="0"/>
              </a:rPr>
              <a:t> hire you?</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qualifications do you have that make you think you will be successful in this job?</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368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CD985B-3F47-4A43-857D-6B9716FB6EB5}"/>
              </a:ext>
            </a:extLst>
          </p:cNvPr>
          <p:cNvSpPr>
            <a:spLocks noGrp="1"/>
          </p:cNvSpPr>
          <p:nvPr>
            <p:ph idx="1"/>
          </p:nvPr>
        </p:nvSpPr>
        <p:spPr>
          <a:xfrm>
            <a:off x="0" y="0"/>
            <a:ext cx="12192000" cy="6858000"/>
          </a:xfrm>
        </p:spPr>
        <p:txBody>
          <a:bodyPr>
            <a:normAutofit fontScale="92500"/>
          </a:bodyPr>
          <a:lstStyle/>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do you think it takes to be a good employee of an </a:t>
            </a:r>
            <a:r>
              <a:rPr lang="en-US" i="1" dirty="0" err="1">
                <a:latin typeface="Times New Roman" panose="02020603050405020304" pitchFamily="18" charset="0"/>
                <a:cs typeface="Times New Roman" panose="02020603050405020304" pitchFamily="18" charset="0"/>
              </a:rPr>
              <a:t>organisation</a:t>
            </a:r>
            <a:r>
              <a:rPr lang="en-US" i="1" dirty="0">
                <a:latin typeface="Times New Roman" panose="02020603050405020304" pitchFamily="18" charset="0"/>
                <a:cs typeface="Times New Roman" panose="02020603050405020304" pitchFamily="18" charset="0"/>
              </a:rPr>
              <a:t> like ours?</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In what way do you think you can make a contribution to our organisations?</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two or three accomplishments have given you the most satisfaction and why?</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Why did you decide to seek a position with our </a:t>
            </a:r>
            <a:r>
              <a:rPr lang="en-US" i="1" dirty="0" err="1">
                <a:latin typeface="Times New Roman" panose="02020603050405020304" pitchFamily="18" charset="0"/>
                <a:cs typeface="Times New Roman" panose="02020603050405020304" pitchFamily="18" charset="0"/>
              </a:rPr>
              <a:t>organisation</a:t>
            </a:r>
            <a:r>
              <a:rPr lang="en-US" i="1"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two mistakes have you made recently, and what have you learnt from each mistake?</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two or three things are most important to you in your job?</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How would you describe yourself?</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are your long-range and short-range goals and objectives?</a:t>
            </a:r>
          </a:p>
          <a:p>
            <a:pPr algn="just">
              <a:buFont typeface="Wingdings" panose="05000000000000000000" pitchFamily="2" charset="2"/>
              <a:buChar char="ü"/>
            </a:pPr>
            <a:r>
              <a:rPr lang="en-US" i="1" dirty="0">
                <a:latin typeface="Times New Roman" panose="02020603050405020304" pitchFamily="18" charset="0"/>
                <a:cs typeface="Times New Roman" panose="02020603050405020304" pitchFamily="18" charset="0"/>
              </a:rPr>
              <a:t>What do you see yourself doing in five years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Look at your career chronology and apply examples to the interview questions. </a:t>
            </a:r>
            <a:r>
              <a:rPr lang="en-US" dirty="0" err="1">
                <a:latin typeface="Times New Roman" panose="02020603050405020304" pitchFamily="18" charset="0"/>
                <a:cs typeface="Times New Roman" panose="02020603050405020304" pitchFamily="18" charset="0"/>
              </a:rPr>
              <a:t>Aavoid</a:t>
            </a:r>
            <a:r>
              <a:rPr lang="en-US" dirty="0">
                <a:latin typeface="Times New Roman" panose="02020603050405020304" pitchFamily="18" charset="0"/>
                <a:cs typeface="Times New Roman" panose="02020603050405020304" pitchFamily="18" charset="0"/>
              </a:rPr>
              <a:t> 	dead air).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some mock interviews with friends.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Ask thought provoking questions e.g. what is the most important criteria in this job?</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12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6335B0-7AB5-486A-9250-CFC08D0910F2}"/>
              </a:ext>
            </a:extLst>
          </p:cNvPr>
          <p:cNvSpPr>
            <a:spLocks noGrp="1"/>
          </p:cNvSpPr>
          <p:nvPr>
            <p:ph idx="1"/>
          </p:nvPr>
        </p:nvSpPr>
        <p:spPr>
          <a:xfrm>
            <a:off x="0" y="0"/>
            <a:ext cx="12192000" cy="6858000"/>
          </a:xfrm>
        </p:spPr>
        <p:txBody>
          <a:bodyPr>
            <a:normAutofit fontScale="92500" lnSpcReduction="20000"/>
          </a:bodyPr>
          <a:lstStyle/>
          <a:p>
            <a:pPr marL="0" indent="0">
              <a:buNone/>
            </a:pPr>
            <a:r>
              <a:rPr lang="en-US" b="1" i="1" dirty="0">
                <a:latin typeface="Times New Roman" panose="02020603050405020304" pitchFamily="18" charset="0"/>
                <a:cs typeface="Times New Roman" panose="02020603050405020304" pitchFamily="18" charset="0"/>
              </a:rPr>
              <a:t>5. Prepare your own questions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almost inevitable that at some point the interviewer is going to ask: “Do you have any questions?” Think long and hard about what else you would like to know about the job or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Your questions are another opportunity to sell yourself.</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ask for information which can be found on the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website.</a:t>
            </a:r>
          </a:p>
          <a:p>
            <a:pPr marL="0" indent="0" algn="just">
              <a:buNone/>
            </a:pPr>
            <a:endParaRPr lang="en-US" dirty="0">
              <a:latin typeface="Times New Roman" panose="02020603050405020304" pitchFamily="18" charset="0"/>
              <a:cs typeface="Times New Roman" panose="02020603050405020304" pitchFamily="18" charset="0"/>
            </a:endParaRPr>
          </a:p>
          <a:p>
            <a:pPr marL="0" indent="0">
              <a:buNone/>
            </a:pPr>
            <a:r>
              <a:rPr lang="en-US" b="1" i="1" dirty="0">
                <a:latin typeface="Times New Roman" panose="02020603050405020304" pitchFamily="18" charset="0"/>
                <a:cs typeface="Times New Roman" panose="02020603050405020304" pitchFamily="18" charset="0"/>
              </a:rPr>
              <a:t>6. On the day of interview (as a candidate)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Dress appropriately:</a:t>
            </a:r>
          </a:p>
          <a:p>
            <a:pPr marL="0" indent="0" algn="just">
              <a:buNone/>
            </a:pPr>
            <a:r>
              <a:rPr lang="en-US" dirty="0">
                <a:latin typeface="Times New Roman" panose="02020603050405020304" pitchFamily="18" charset="0"/>
                <a:cs typeface="Times New Roman" panose="02020603050405020304" pitchFamily="18" charset="0"/>
              </a:rPr>
              <a:t>      -Dress for your interview as you would dress for the job.</a:t>
            </a:r>
          </a:p>
          <a:p>
            <a:pPr marL="0" indent="0" algn="just">
              <a:buNone/>
            </a:pPr>
            <a:r>
              <a:rPr lang="en-US" dirty="0">
                <a:latin typeface="Times New Roman" panose="02020603050405020304" pitchFamily="18" charset="0"/>
                <a:cs typeface="Times New Roman" panose="02020603050405020304" pitchFamily="18" charset="0"/>
              </a:rPr>
              <a:t>      -Wear smart business attire.</a:t>
            </a:r>
          </a:p>
          <a:p>
            <a:pPr marL="0" indent="0" algn="just">
              <a:buNone/>
            </a:pPr>
            <a:r>
              <a:rPr lang="en-US" dirty="0">
                <a:latin typeface="Times New Roman" panose="02020603050405020304" pitchFamily="18" charset="0"/>
                <a:cs typeface="Times New Roman" panose="02020603050405020304" pitchFamily="18" charset="0"/>
              </a:rPr>
              <a:t>      -Be conservative but neat in appearance. (it’s not a fashion show).</a:t>
            </a:r>
          </a:p>
          <a:p>
            <a:pPr marL="0" indent="0" algn="just">
              <a:buNone/>
            </a:pPr>
            <a:r>
              <a:rPr lang="en-US" dirty="0">
                <a:latin typeface="Times New Roman" panose="02020603050405020304" pitchFamily="18" charset="0"/>
                <a:cs typeface="Times New Roman" panose="02020603050405020304" pitchFamily="18" charset="0"/>
              </a:rPr>
              <a:t>      - Avoid wearing a strong perfume or heavy make-up.</a:t>
            </a:r>
          </a:p>
          <a:p>
            <a:pPr marL="0" indent="0" algn="just">
              <a:buNone/>
            </a:pPr>
            <a:r>
              <a:rPr lang="en-US" dirty="0">
                <a:latin typeface="Times New Roman" panose="02020603050405020304" pitchFamily="18" charset="0"/>
                <a:cs typeface="Times New Roman" panose="02020603050405020304" pitchFamily="18" charset="0"/>
              </a:rPr>
              <a:t>      -Avoid chewing gum.</a:t>
            </a:r>
          </a:p>
          <a:p>
            <a:pPr marL="0" indent="0" algn="just">
              <a:buNone/>
            </a:pPr>
            <a:r>
              <a:rPr lang="en-US" dirty="0">
                <a:latin typeface="Times New Roman" panose="02020603050405020304" pitchFamily="18" charset="0"/>
                <a:cs typeface="Times New Roman" panose="02020603050405020304" pitchFamily="18" charset="0"/>
              </a:rPr>
              <a:t>      -Avoid clanking jewelry or to many bangles.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8763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2386F-FC37-42C7-8C8E-61B479BDF49E}"/>
              </a:ext>
            </a:extLst>
          </p:cNvPr>
          <p:cNvSpPr>
            <a:spLocks noGrp="1"/>
          </p:cNvSpPr>
          <p:nvPr>
            <p:ph idx="1"/>
          </p:nvPr>
        </p:nvSpPr>
        <p:spPr>
          <a:xfrm>
            <a:off x="0" y="0"/>
            <a:ext cx="12192000" cy="6858000"/>
          </a:xfrm>
        </p:spPr>
        <p:txBody>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Arrive slightly early: this will make a good impression and give you a chance to absorb the atmosphere of the office.</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 courteous: </a:t>
            </a:r>
          </a:p>
          <a:p>
            <a:pPr marL="0" indent="0" algn="just">
              <a:buNone/>
            </a:pPr>
            <a:r>
              <a:rPr lang="en-US" dirty="0">
                <a:latin typeface="Times New Roman" panose="02020603050405020304" pitchFamily="18" charset="0"/>
                <a:cs typeface="Times New Roman" panose="02020603050405020304" pitchFamily="18" charset="0"/>
              </a:rPr>
              <a:t>      -Use the interviewer’s name as soon as possible.</a:t>
            </a:r>
          </a:p>
          <a:p>
            <a:pPr marL="0" indent="0" algn="just">
              <a:buNone/>
            </a:pPr>
            <a:r>
              <a:rPr lang="en-US" dirty="0">
                <a:latin typeface="Times New Roman" panose="02020603050405020304" pitchFamily="18" charset="0"/>
                <a:cs typeface="Times New Roman" panose="02020603050405020304" pitchFamily="18" charset="0"/>
              </a:rPr>
              <a:t>     - Do not offer to shake hands until the interviewer does.</a:t>
            </a:r>
          </a:p>
          <a:p>
            <a:pPr marL="0" indent="0" algn="just">
              <a:buNone/>
            </a:pPr>
            <a:r>
              <a:rPr lang="en-US" dirty="0">
                <a:latin typeface="Times New Roman" panose="02020603050405020304" pitchFamily="18" charset="0"/>
                <a:cs typeface="Times New Roman" panose="02020603050405020304" pitchFamily="18" charset="0"/>
              </a:rPr>
              <a:t>     -Do not sit down until you are offered a chair: relax and sit naturally, but without </a:t>
            </a:r>
          </a:p>
          <a:p>
            <a:pPr marL="0" indent="0" algn="just">
              <a:buNone/>
            </a:pPr>
            <a:r>
              <a:rPr lang="en-US" dirty="0">
                <a:latin typeface="Times New Roman" panose="02020603050405020304" pitchFamily="18" charset="0"/>
                <a:cs typeface="Times New Roman" panose="02020603050405020304" pitchFamily="18" charset="0"/>
              </a:rPr>
              <a:t>        slouching in your chair or leaning on a desk</a:t>
            </a:r>
          </a:p>
          <a:p>
            <a:pPr marL="0" indent="0" algn="just">
              <a:buNone/>
            </a:pPr>
            <a:r>
              <a:rPr lang="en-US" dirty="0">
                <a:latin typeface="Times New Roman" panose="02020603050405020304" pitchFamily="18" charset="0"/>
                <a:cs typeface="Times New Roman" panose="02020603050405020304" pitchFamily="18" charset="0"/>
              </a:rPr>
              <a:t>     -Don’t smoke unless the interviewer asks you if you wish to smoke</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Make assessment of each interviewer: Does he/she look tired, pleasant, stern, disciplined (never laughs/jokes), disorganized, nervous? This might determine how you will answer questions and where you can put emphasis).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297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B6C228-F9F0-4702-B93C-65089D0406F9}"/>
              </a:ext>
            </a:extLst>
          </p:cNvPr>
          <p:cNvSpPr>
            <a:spLocks noGrp="1"/>
          </p:cNvSpPr>
          <p:nvPr>
            <p:ph idx="1"/>
          </p:nvPr>
        </p:nvSpPr>
        <p:spPr>
          <a:xfrm>
            <a:off x="0" y="0"/>
            <a:ext cx="12192000" cy="6858000"/>
          </a:xfrm>
        </p:spPr>
        <p:txBody>
          <a:bodyPr>
            <a:normAutofit lnSpcReduction="10000"/>
          </a:bodyPr>
          <a:lstStyle/>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Look at the interviewer: When you are being asked questions, listen carefully and wait until the interviewer stops talking before you give an answer (do not interrupt).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Answer questions carefully:</a:t>
            </a:r>
          </a:p>
          <a:p>
            <a:pPr marL="0" indent="0">
              <a:buNone/>
            </a:pPr>
            <a:r>
              <a:rPr lang="en-US" dirty="0">
                <a:latin typeface="Times New Roman" panose="02020603050405020304" pitchFamily="18" charset="0"/>
                <a:cs typeface="Times New Roman" panose="02020603050405020304" pitchFamily="18" charset="0"/>
              </a:rPr>
              <a:t>        o	Your answers should be honest.</a:t>
            </a:r>
          </a:p>
          <a:p>
            <a:pPr marL="0" indent="0">
              <a:buNone/>
            </a:pPr>
            <a:r>
              <a:rPr lang="en-US" dirty="0">
                <a:latin typeface="Times New Roman" panose="02020603050405020304" pitchFamily="18" charset="0"/>
                <a:cs typeface="Times New Roman" panose="02020603050405020304" pitchFamily="18" charset="0"/>
              </a:rPr>
              <a:t>        o	They should specifically relate to the question asked. Be alert to question </a:t>
            </a:r>
          </a:p>
          <a:p>
            <a:pPr marL="0" indent="0">
              <a:buNone/>
            </a:pPr>
            <a:r>
              <a:rPr lang="en-US" dirty="0">
                <a:latin typeface="Times New Roman" panose="02020603050405020304" pitchFamily="18" charset="0"/>
                <a:cs typeface="Times New Roman" panose="02020603050405020304" pitchFamily="18" charset="0"/>
              </a:rPr>
              <a:t>           words like what, why, where, how, who. They specify the information you   </a:t>
            </a:r>
          </a:p>
          <a:p>
            <a:pPr marL="0" indent="0">
              <a:buNone/>
            </a:pPr>
            <a:r>
              <a:rPr lang="en-US" dirty="0">
                <a:latin typeface="Times New Roman" panose="02020603050405020304" pitchFamily="18" charset="0"/>
                <a:cs typeface="Times New Roman" panose="02020603050405020304" pitchFamily="18" charset="0"/>
              </a:rPr>
              <a:t>           should supply in your answer.</a:t>
            </a:r>
          </a:p>
          <a:p>
            <a:pPr marL="0" indent="0">
              <a:buNone/>
            </a:pPr>
            <a:r>
              <a:rPr lang="en-US" dirty="0">
                <a:latin typeface="Times New Roman" panose="02020603050405020304" pitchFamily="18" charset="0"/>
                <a:cs typeface="Times New Roman" panose="02020603050405020304" pitchFamily="18" charset="0"/>
              </a:rPr>
              <a:t>       o	If you do not understand the question, ask for clarification. Be sure you </a:t>
            </a:r>
          </a:p>
          <a:p>
            <a:pPr marL="0" indent="0">
              <a:buNone/>
            </a:pPr>
            <a:r>
              <a:rPr lang="en-US" dirty="0">
                <a:latin typeface="Times New Roman" panose="02020603050405020304" pitchFamily="18" charset="0"/>
                <a:cs typeface="Times New Roman" panose="02020603050405020304" pitchFamily="18" charset="0"/>
              </a:rPr>
              <a:t>          understand the question before you answer it.</a:t>
            </a:r>
          </a:p>
          <a:p>
            <a:pPr marL="0" indent="0">
              <a:buNone/>
            </a:pPr>
            <a:r>
              <a:rPr lang="en-US" dirty="0">
                <a:latin typeface="Times New Roman" panose="02020603050405020304" pitchFamily="18" charset="0"/>
                <a:cs typeface="Times New Roman" panose="02020603050405020304" pitchFamily="18" charset="0"/>
              </a:rPr>
              <a:t>       o	If you are asked to give an opinion, be ready with facts to support it.</a:t>
            </a:r>
          </a:p>
          <a:p>
            <a:pPr marL="0" indent="0">
              <a:buNone/>
            </a:pPr>
            <a:r>
              <a:rPr lang="en-US" dirty="0">
                <a:latin typeface="Times New Roman" panose="02020603050405020304" pitchFamily="18" charset="0"/>
                <a:cs typeface="Times New Roman" panose="02020603050405020304" pitchFamily="18" charset="0"/>
              </a:rPr>
              <a:t>       o	If you do not know the answer to a question, admit it.</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615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65E4A-C01A-4DE6-91B5-582FB1A36DB7}"/>
              </a:ext>
            </a:extLst>
          </p:cNvPr>
          <p:cNvSpPr>
            <a:spLocks noGrp="1"/>
          </p:cNvSpPr>
          <p:nvPr>
            <p:ph idx="1"/>
          </p:nvPr>
        </p:nvSpPr>
        <p:spPr>
          <a:xfrm>
            <a:off x="0" y="0"/>
            <a:ext cx="12192000" cy="6858000"/>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asking or answering a question, choose your words carefully. Avoid jargons/slang and grammatical errors.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bad-mouth your previous employer(s).</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ask about salary: if asked, courteously ask what the salary range for the position is (if the advert is silent) before you give an answer. Do not mention a figure below the lowest amount.</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Do not be disturbed or upset by silence following an answer you have given. The silence may be deliberate to test your composure. Just look calm as if you expect another question.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At the end of the interview, express your thanks for having been invited for the interviews.</a:t>
            </a:r>
          </a:p>
          <a:p>
            <a:endParaRPr lang="en-US" dirty="0"/>
          </a:p>
        </p:txBody>
      </p:sp>
    </p:spTree>
    <p:extLst>
      <p:ext uri="{BB962C8B-B14F-4D97-AF65-F5344CB8AC3E}">
        <p14:creationId xmlns:p14="http://schemas.microsoft.com/office/powerpoint/2010/main" val="3369197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06A9-E6B2-405E-9325-2AE9B2BC96D8}"/>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Interviewers Preparation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Read the candidate’s CV and application letter.</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Decide the focus of the interview e.g. candidate’s skills, educational qualifications, ability to work with others etc.</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Design questions that mostly relate to the focus chosen.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Rating after the Interview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Apart from work experience and educational qualifications, items to be rated include: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Appearance.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Promptness.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Ability to communicate.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Interest on the job.</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Enthusiasm for the organization.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020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6ED92-8EF7-4CAE-AB13-D8354D830276}"/>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The Curriculum Vitae (CV)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CV is a brief summary of your educational background, work experience and achievements and relevant personal activities.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CV is also known as a resume.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purpose of a CV is to introduce yourself to a potential employer with the aim of making a good impression of yourself for a specific job on offer.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CV Preparation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Make your CV as detailed as necessary.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Your primary objectives is to catch the reader’s eye by including the information he/she needs.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409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E7AD5-C3B0-4DAB-82E0-67F3583069CD}"/>
              </a:ext>
            </a:extLst>
          </p:cNvPr>
          <p:cNvSpPr>
            <a:spLocks noGrp="1"/>
          </p:cNvSpPr>
          <p:nvPr>
            <p:ph idx="1"/>
          </p:nvPr>
        </p:nvSpPr>
        <p:spPr>
          <a:xfrm>
            <a:off x="0" y="0"/>
            <a:ext cx="12192000" cy="6858000"/>
          </a:xfrm>
        </p:spPr>
        <p:txBody>
          <a:bodyPr/>
          <a:lstStyle/>
          <a:p>
            <a:pPr marL="0" indent="0" algn="just">
              <a:buNone/>
            </a:pPr>
            <a:r>
              <a:rPr lang="en-US" b="1" dirty="0">
                <a:latin typeface="Times New Roman" panose="02020603050405020304" pitchFamily="18" charset="0"/>
                <a:cs typeface="Times New Roman" panose="02020603050405020304" pitchFamily="18" charset="0"/>
              </a:rPr>
              <a:t>Contents of a CV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CV must include the following information. </a:t>
            </a:r>
          </a:p>
          <a:p>
            <a:pPr marL="0" indent="0" algn="just">
              <a:buNone/>
            </a:pPr>
            <a:r>
              <a:rPr lang="en-US" dirty="0">
                <a:latin typeface="Times New Roman" panose="02020603050405020304" pitchFamily="18" charset="0"/>
                <a:cs typeface="Times New Roman" panose="02020603050405020304" pitchFamily="18" charset="0"/>
              </a:rPr>
              <a:t>1. Your personal particulars</a:t>
            </a:r>
          </a:p>
          <a:p>
            <a:pPr marL="0" indent="0" algn="just">
              <a:buNone/>
            </a:pPr>
            <a:r>
              <a:rPr lang="en-US" dirty="0">
                <a:latin typeface="Times New Roman" panose="02020603050405020304" pitchFamily="18" charset="0"/>
                <a:cs typeface="Times New Roman" panose="02020603050405020304" pitchFamily="18" charset="0"/>
              </a:rPr>
              <a:t>2.  Your educational background</a:t>
            </a:r>
          </a:p>
          <a:p>
            <a:pPr marL="0" indent="0" algn="just">
              <a:buNone/>
            </a:pPr>
            <a:r>
              <a:rPr lang="en-US" dirty="0">
                <a:latin typeface="Times New Roman" panose="02020603050405020304" pitchFamily="18" charset="0"/>
                <a:cs typeface="Times New Roman" panose="02020603050405020304" pitchFamily="18" charset="0"/>
              </a:rPr>
              <a:t>3.   Your work experience and achievements</a:t>
            </a:r>
          </a:p>
          <a:p>
            <a:pPr marL="0" indent="0" algn="just">
              <a:buNone/>
            </a:pPr>
            <a:r>
              <a:rPr lang="en-US" dirty="0">
                <a:latin typeface="Times New Roman" panose="02020603050405020304" pitchFamily="18" charset="0"/>
                <a:cs typeface="Times New Roman" panose="02020603050405020304" pitchFamily="18" charset="0"/>
              </a:rPr>
              <a:t>4.   Relevant personal activities </a:t>
            </a:r>
          </a:p>
          <a:p>
            <a:pPr marL="0" indent="0" algn="just">
              <a:buNone/>
            </a:pPr>
            <a:r>
              <a:rPr lang="en-US" dirty="0">
                <a:latin typeface="Times New Roman" panose="02020603050405020304" pitchFamily="18" charset="0"/>
                <a:cs typeface="Times New Roman" panose="02020603050405020304" pitchFamily="18" charset="0"/>
              </a:rPr>
              <a:t>5.   Referees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67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D582AC-8A64-4E13-A34C-490E1D090181}"/>
              </a:ext>
            </a:extLst>
          </p:cNvPr>
          <p:cNvSpPr>
            <a:spLocks noGrp="1"/>
          </p:cNvSpPr>
          <p:nvPr>
            <p:ph idx="1"/>
          </p:nvPr>
        </p:nvSpPr>
        <p:spPr>
          <a:xfrm>
            <a:off x="0" y="0"/>
            <a:ext cx="12192000" cy="6858000"/>
          </a:xfrm>
        </p:spPr>
        <p:txBody>
          <a:bodyPr>
            <a:normAutofit/>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The format of a CV (Order of presentation of contents)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514350" indent="-514350">
              <a:buAutoNum type="arabicPeriod"/>
            </a:pPr>
            <a:r>
              <a:rPr lang="en-US" b="1" dirty="0">
                <a:latin typeface="Times New Roman" panose="02020603050405020304" pitchFamily="18" charset="0"/>
                <a:cs typeface="Times New Roman" panose="02020603050405020304" pitchFamily="18" charset="0"/>
              </a:rPr>
              <a:t>Heading (Curriculum Vitae): </a:t>
            </a:r>
          </a:p>
          <a:p>
            <a:pPr marL="0" indent="0">
              <a:buNone/>
            </a:pP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Position it at the top of the first page and it must be centered.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Personal particulars: </a:t>
            </a:r>
          </a:p>
          <a:p>
            <a:pPr marL="0" indent="0">
              <a:buNone/>
            </a:pPr>
            <a:r>
              <a:rPr lang="en-US" i="1" dirty="0">
                <a:latin typeface="Times New Roman" panose="02020603050405020304" pitchFamily="18" charset="0"/>
                <a:cs typeface="Times New Roman" panose="02020603050405020304" pitchFamily="18" charset="0"/>
              </a:rPr>
              <a:t>      -Surname:</a:t>
            </a:r>
            <a:r>
              <a:rPr lang="en-US" dirty="0">
                <a:latin typeface="Times New Roman" panose="02020603050405020304" pitchFamily="18" charset="0"/>
                <a:cs typeface="Times New Roman" panose="02020603050405020304" pitchFamily="18" charset="0"/>
              </a:rPr>
              <a:t> other names: date of birth, marital status, nationality, home district, </a:t>
            </a:r>
          </a:p>
          <a:p>
            <a:pPr marL="0" indent="0">
              <a:buNone/>
            </a:pPr>
            <a:r>
              <a:rPr lang="en-US" dirty="0">
                <a:latin typeface="Times New Roman" panose="02020603050405020304" pitchFamily="18" charset="0"/>
                <a:cs typeface="Times New Roman" panose="02020603050405020304" pitchFamily="18" charset="0"/>
              </a:rPr>
              <a:t>      traditional authority, village, present position, professional address, permanent </a:t>
            </a:r>
          </a:p>
          <a:p>
            <a:pPr marL="0" indent="0">
              <a:buNone/>
            </a:pPr>
            <a:r>
              <a:rPr lang="en-US" dirty="0">
                <a:latin typeface="Times New Roman" panose="02020603050405020304" pitchFamily="18" charset="0"/>
                <a:cs typeface="Times New Roman" panose="02020603050405020304" pitchFamily="18" charset="0"/>
              </a:rPr>
              <a:t>     address, phone, fax, email. </a:t>
            </a:r>
          </a:p>
          <a:p>
            <a:pPr marL="0" indent="0">
              <a:buNone/>
            </a:pPr>
            <a:endParaRPr lang="en-US" sz="40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92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29308-43B2-401F-8A54-BDD1F1900CD5}"/>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3. Education (a summary of your educational background): </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the heading </a:t>
            </a:r>
            <a:r>
              <a:rPr lang="en-US" b="1" dirty="0">
                <a:latin typeface="Times New Roman" panose="02020603050405020304" pitchFamily="18" charset="0"/>
                <a:cs typeface="Times New Roman" panose="02020603050405020304" pitchFamily="18" charset="0"/>
              </a:rPr>
              <a:t>EDUCATION</a:t>
            </a:r>
            <a:r>
              <a:rPr lang="en-US" dirty="0">
                <a:latin typeface="Times New Roman" panose="02020603050405020304" pitchFamily="18" charset="0"/>
                <a:cs typeface="Times New Roman" panose="02020603050405020304" pitchFamily="18" charset="0"/>
              </a:rPr>
              <a:t> for this section.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List first the institution you attended most recently and go down the list in reverse </a:t>
            </a:r>
          </a:p>
          <a:p>
            <a:pPr marL="0" indent="0">
              <a:buNone/>
            </a:pPr>
            <a:r>
              <a:rPr lang="en-US" dirty="0">
                <a:latin typeface="Times New Roman" panose="02020603050405020304" pitchFamily="18" charset="0"/>
                <a:cs typeface="Times New Roman" panose="02020603050405020304" pitchFamily="18" charset="0"/>
              </a:rPr>
              <a:t>     chronological order.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 each institution listed state:  </a:t>
            </a:r>
          </a:p>
          <a:p>
            <a:pPr marL="0" indent="0">
              <a:buNone/>
            </a:pPr>
            <a:r>
              <a:rPr lang="en-US" dirty="0">
                <a:latin typeface="Times New Roman" panose="02020603050405020304" pitchFamily="18" charset="0"/>
                <a:cs typeface="Times New Roman" panose="02020603050405020304" pitchFamily="18" charset="0"/>
              </a:rPr>
              <a:t>            -The years attended</a:t>
            </a:r>
          </a:p>
          <a:p>
            <a:pPr marL="0" indent="0">
              <a:buNone/>
            </a:pPr>
            <a:r>
              <a:rPr lang="en-US" dirty="0">
                <a:latin typeface="Times New Roman" panose="02020603050405020304" pitchFamily="18" charset="0"/>
                <a:cs typeface="Times New Roman" panose="02020603050405020304" pitchFamily="18" charset="0"/>
              </a:rPr>
              <a:t>            -The institution’s full name </a:t>
            </a:r>
          </a:p>
          <a:p>
            <a:pPr marL="0" indent="0">
              <a:buNone/>
            </a:pPr>
            <a:r>
              <a:rPr lang="en-US" dirty="0">
                <a:latin typeface="Times New Roman" panose="02020603050405020304" pitchFamily="18" charset="0"/>
                <a:cs typeface="Times New Roman" panose="02020603050405020304" pitchFamily="18" charset="0"/>
              </a:rPr>
              <a:t>            - Your major(and minor, if applicable) </a:t>
            </a:r>
          </a:p>
          <a:p>
            <a:pPr marL="0" indent="0">
              <a:buNone/>
            </a:pPr>
            <a:r>
              <a:rPr lang="en-US" dirty="0">
                <a:latin typeface="Times New Roman" panose="02020603050405020304" pitchFamily="18" charset="0"/>
                <a:cs typeface="Times New Roman" panose="02020603050405020304" pitchFamily="18" charset="0"/>
              </a:rPr>
              <a:t>            -Major relevant courses you took </a:t>
            </a:r>
          </a:p>
          <a:p>
            <a:pPr marL="0" indent="0">
              <a:buNone/>
            </a:pPr>
            <a:r>
              <a:rPr lang="en-US" dirty="0">
                <a:latin typeface="Times New Roman" panose="02020603050405020304" pitchFamily="18" charset="0"/>
                <a:cs typeface="Times New Roman" panose="02020603050405020304" pitchFamily="18" charset="0"/>
              </a:rPr>
              <a:t>            -The paper you received (degree, diploma, certificate) state the grade you </a:t>
            </a:r>
          </a:p>
          <a:p>
            <a:pPr marL="0" indent="0">
              <a:buNone/>
            </a:pPr>
            <a:r>
              <a:rPr lang="en-US" dirty="0">
                <a:latin typeface="Times New Roman" panose="02020603050405020304" pitchFamily="18" charset="0"/>
                <a:cs typeface="Times New Roman" panose="02020603050405020304" pitchFamily="18" charset="0"/>
              </a:rPr>
              <a:t>               achieved: first class, upper class, cum laude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637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A3F69-5166-41BC-9DFF-BC6D37C0B432}"/>
              </a:ext>
            </a:extLst>
          </p:cNvPr>
          <p:cNvSpPr>
            <a:spLocks noGrp="1"/>
          </p:cNvSpPr>
          <p:nvPr>
            <p:ph idx="1"/>
          </p:nvPr>
        </p:nvSpPr>
        <p:spPr>
          <a:xfrm>
            <a:off x="0" y="0"/>
            <a:ext cx="12192000" cy="6858000"/>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4.Work Experience (a summary of your work experience and achievements): </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Use the heading </a:t>
            </a:r>
            <a:r>
              <a:rPr lang="en-US" b="1" dirty="0">
                <a:latin typeface="Times New Roman" panose="02020603050405020304" pitchFamily="18" charset="0"/>
                <a:cs typeface="Times New Roman" panose="02020603050405020304" pitchFamily="18" charset="0"/>
              </a:rPr>
              <a:t>WORK EXPERIENCE </a:t>
            </a:r>
            <a:r>
              <a:rPr lang="en-US" dirty="0">
                <a:latin typeface="Times New Roman" panose="02020603050405020304" pitchFamily="18" charset="0"/>
                <a:cs typeface="Times New Roman" panose="02020603050405020304" pitchFamily="18" charset="0"/>
              </a:rPr>
              <a:t>for this section.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List your most recent job first.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For each job include: </a:t>
            </a:r>
          </a:p>
          <a:p>
            <a:pPr marL="0" indent="0">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Period of employment (from which year to which year) (e.g. 2009-present, if currently employed).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Job title (position).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Name and address of employing organization.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Brief job description.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Major responsibilities and accomplishments in the position (e.g. projects completed, number of distinctions you produced in subjects you taught etc.). </a:t>
            </a:r>
          </a:p>
          <a:p>
            <a:pPr marL="0" indent="0" algn="just">
              <a:buNone/>
            </a:pPr>
            <a:r>
              <a:rPr lang="en-US" dirty="0">
                <a:latin typeface="Times New Roman" panose="02020603050405020304" pitchFamily="18" charset="0"/>
                <a:cs typeface="Times New Roman" panose="02020603050405020304" pitchFamily="18" charset="0"/>
              </a:rPr>
              <a:t>N.B: These should be specifically your accomplishments, not general accomplishments by the employing organization).</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Leave out “I” in listing responsibilities and accomplishments e.g. Was patron of the school’s Science Club(2006-09); Was voted Teacher of the year by staff and students (2008); Received Teachers Union of Malawi Award for excellence in Teaching (2009)</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465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8C6D2-5531-47E6-AEE5-A6DA88845372}"/>
              </a:ext>
            </a:extLst>
          </p:cNvPr>
          <p:cNvSpPr>
            <a:spLocks noGrp="1"/>
          </p:cNvSpPr>
          <p:nvPr>
            <p:ph idx="1"/>
          </p:nvPr>
        </p:nvSpPr>
        <p:spPr>
          <a:xfrm>
            <a:off x="0" y="0"/>
            <a:ext cx="12192000" cy="6858000"/>
          </a:xfrm>
        </p:spPr>
        <p:txBody>
          <a:bodyPr>
            <a:normAutofit fontScale="70000" lnSpcReduction="20000"/>
          </a:bodyPr>
          <a:lstStyle/>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4000" b="1" dirty="0">
                <a:latin typeface="Times New Roman" panose="02020603050405020304" pitchFamily="18" charset="0"/>
                <a:cs typeface="Times New Roman" panose="02020603050405020304" pitchFamily="18" charset="0"/>
              </a:rPr>
              <a:t>5. Relevant Personal Activities: </a:t>
            </a:r>
          </a:p>
          <a:p>
            <a:pPr>
              <a:buFont typeface="Wingdings" panose="05000000000000000000" pitchFamily="2" charset="2"/>
              <a:buChar char="v"/>
            </a:pPr>
            <a:endParaRPr lang="en-US" sz="33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These include school, civic and personal activities that may interest a prospective employer because they demonstrate leadership, civic or fiscal responsibility in the applicant. </a:t>
            </a:r>
          </a:p>
          <a:p>
            <a:pPr marL="0" indent="0">
              <a:buNone/>
            </a:pPr>
            <a:endParaRPr lang="en-US" sz="33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List involvement in extracurricular or extramural activities if it shows qualities or experience relevant to the job sought. </a:t>
            </a:r>
          </a:p>
          <a:p>
            <a:pPr marL="0" indent="0">
              <a:buNone/>
            </a:pPr>
            <a:endParaRPr lang="en-US" sz="33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List membership to academic, professional, business organization such organization have some relevance to the job sought e.g. your affiliation to the Nurses Council if you are a nurse.</a:t>
            </a:r>
          </a:p>
          <a:p>
            <a:pPr marL="0" indent="0">
              <a:buNone/>
            </a:pPr>
            <a:endParaRPr lang="en-US" sz="33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33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300" dirty="0">
                <a:latin typeface="Times New Roman" panose="02020603050405020304" pitchFamily="18" charset="0"/>
                <a:cs typeface="Times New Roman" panose="02020603050405020304" pitchFamily="18" charset="0"/>
              </a:rPr>
              <a:t>List hobbies that show qualities relevant to the job</a:t>
            </a:r>
          </a:p>
          <a:p>
            <a:pPr marL="0" indent="0">
              <a:buNone/>
            </a:pPr>
            <a:r>
              <a:rPr lang="en-US" sz="3300" dirty="0">
                <a:latin typeface="Times New Roman" panose="02020603050405020304" pitchFamily="18" charset="0"/>
                <a:cs typeface="Times New Roman" panose="02020603050405020304" pitchFamily="18" charset="0"/>
              </a:rPr>
              <a:t>        -List these activities under the following headings:</a:t>
            </a:r>
          </a:p>
          <a:p>
            <a:pPr marL="0" indent="0">
              <a:buNone/>
            </a:pPr>
            <a:r>
              <a:rPr lang="en-US" sz="3300" dirty="0">
                <a:latin typeface="Times New Roman" panose="02020603050405020304" pitchFamily="18" charset="0"/>
                <a:cs typeface="Times New Roman" panose="02020603050405020304" pitchFamily="18" charset="0"/>
              </a:rPr>
              <a:t>        -Responsibilities</a:t>
            </a:r>
          </a:p>
          <a:p>
            <a:pPr marL="0" indent="0">
              <a:buNone/>
            </a:pPr>
            <a:r>
              <a:rPr lang="en-US" sz="3300" dirty="0">
                <a:latin typeface="Times New Roman" panose="02020603050405020304" pitchFamily="18" charset="0"/>
                <a:cs typeface="Times New Roman" panose="02020603050405020304" pitchFamily="18" charset="0"/>
              </a:rPr>
              <a:t>        -Administrative experience</a:t>
            </a:r>
          </a:p>
          <a:p>
            <a:pPr marL="0" indent="0">
              <a:buNone/>
            </a:pPr>
            <a:r>
              <a:rPr lang="en-US" sz="3300" dirty="0">
                <a:latin typeface="Times New Roman" panose="02020603050405020304" pitchFamily="18" charset="0"/>
                <a:cs typeface="Times New Roman" panose="02020603050405020304" pitchFamily="18" charset="0"/>
              </a:rPr>
              <a:t>        -Professional organization</a:t>
            </a:r>
          </a:p>
          <a:p>
            <a:pPr marL="0" indent="0">
              <a:buNone/>
            </a:pPr>
            <a:r>
              <a:rPr lang="en-US" sz="3300" dirty="0">
                <a:latin typeface="Times New Roman" panose="02020603050405020304" pitchFamily="18" charset="0"/>
                <a:cs typeface="Times New Roman" panose="02020603050405020304" pitchFamily="18" charset="0"/>
              </a:rPr>
              <a:t>        - Hobbies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3843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B3FCC-CF02-43FC-9D4A-2E3E08F5F211}"/>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6. Referees: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These are people who can vouch for your intelligence and good character. They include bosses or superiors (if you have worked before) and lectures/ professors members of the clergy (pastors, bishops, priests) if you have not worked before. </a:t>
            </a:r>
          </a:p>
          <a:p>
            <a:pPr marL="0" indent="0">
              <a:buNone/>
            </a:pPr>
            <a:r>
              <a:rPr lang="en-US" dirty="0">
                <a:latin typeface="Times New Roman" panose="02020603050405020304" pitchFamily="18" charset="0"/>
                <a:cs typeface="Times New Roman" panose="02020603050405020304" pitchFamily="18" charset="0"/>
              </a:rPr>
              <a:t>        -List these people under the heading </a:t>
            </a:r>
            <a:r>
              <a:rPr lang="en-US" b="1" dirty="0">
                <a:latin typeface="Times New Roman" panose="02020603050405020304" pitchFamily="18" charset="0"/>
                <a:cs typeface="Times New Roman" panose="02020603050405020304" pitchFamily="18" charset="0"/>
              </a:rPr>
              <a:t>REFEREES.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-They should be traceable (easy to contact) </a:t>
            </a:r>
          </a:p>
          <a:p>
            <a:pPr marL="0" indent="0">
              <a:buNone/>
            </a:pPr>
            <a:r>
              <a:rPr lang="en-US" dirty="0">
                <a:latin typeface="Times New Roman" panose="02020603050405020304" pitchFamily="18" charset="0"/>
                <a:cs typeface="Times New Roman" panose="02020603050405020304" pitchFamily="18" charset="0"/>
              </a:rPr>
              <a:t>        -Provide their full addresses, including business phones, faxes emails etc. </a:t>
            </a:r>
          </a:p>
          <a:p>
            <a:pPr marL="0" indent="0">
              <a:buNone/>
            </a:pPr>
            <a:r>
              <a:rPr lang="en-US" dirty="0">
                <a:latin typeface="Times New Roman" panose="02020603050405020304" pitchFamily="18" charset="0"/>
                <a:cs typeface="Times New Roman" panose="02020603050405020304" pitchFamily="18" charset="0"/>
              </a:rPr>
              <a:t>        -Provide their full names, including tittles and positions. </a:t>
            </a:r>
          </a:p>
          <a:p>
            <a:pPr marL="0" indent="0">
              <a:buNone/>
            </a:pPr>
            <a:r>
              <a:rPr lang="en-US" dirty="0">
                <a:latin typeface="Times New Roman" panose="02020603050405020304" pitchFamily="18" charset="0"/>
                <a:cs typeface="Times New Roman" panose="02020603050405020304" pitchFamily="18" charset="0"/>
              </a:rPr>
              <a:t>        -Always ask people if you may list them as referees.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Sample of a CV</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139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CA255-8955-4251-B5A7-0375243E658E}"/>
              </a:ext>
            </a:extLst>
          </p:cNvPr>
          <p:cNvSpPr>
            <a:spLocks noGrp="1"/>
          </p:cNvSpPr>
          <p:nvPr>
            <p:ph idx="1"/>
          </p:nvPr>
        </p:nvSpPr>
        <p:spPr>
          <a:xfrm>
            <a:off x="0" y="1"/>
            <a:ext cx="12355773" cy="68580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Application Letters </a:t>
            </a:r>
          </a:p>
          <a:p>
            <a:pPr marL="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Application letters are letters your write in response to employment adverts.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application letter should be regarded as a cover letter to accompany a CV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Purpose : its purpose is to help convince a prospective employer that you should be short –listed for an interview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Begin an application letter by referring to the advert you are replying to. Name the paper (and date) in which you saw the advert e.g. In response to the advert which appeared in the Nation Newspaper of 17 July, 2019, I would like to apply for the position of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Highlight your specific qualifications and skills/experience for the employer’s specific needs. Address the qualifications asked for in </a:t>
            </a:r>
            <a:r>
              <a:rPr lang="en-US">
                <a:latin typeface="Times New Roman" panose="02020603050405020304" pitchFamily="18" charset="0"/>
                <a:cs typeface="Times New Roman" panose="02020603050405020304" pitchFamily="18" charset="0"/>
              </a:rPr>
              <a:t>the advert </a:t>
            </a:r>
            <a:r>
              <a:rPr lang="en-US" dirty="0">
                <a:latin typeface="Times New Roman" panose="02020603050405020304" pitchFamily="18" charset="0"/>
                <a:cs typeface="Times New Roman" panose="02020603050405020304" pitchFamily="18" charset="0"/>
              </a:rPr>
              <a:t>point by point matching your skills/experience to the list of job requirements, but be brief because the CV has the details.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Mention that you have enclosed a detailed CV.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Remember to include the end-of letter notation for the enclosure (as already explained in unit one).</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135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CF0D6-E1F3-4443-8FC4-E74BB235ED92}"/>
              </a:ext>
            </a:extLst>
          </p:cNvPr>
          <p:cNvSpPr>
            <a:spLocks noGrp="1"/>
          </p:cNvSpPr>
          <p:nvPr>
            <p:ph idx="1"/>
          </p:nvPr>
        </p:nvSpPr>
        <p:spPr>
          <a:xfrm>
            <a:off x="0" y="0"/>
            <a:ext cx="12192000" cy="6858000"/>
          </a:xfrm>
        </p:spPr>
        <p:txBody>
          <a:bodyPr/>
          <a:lstStyle/>
          <a:p>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                                </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b="1" i="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3554482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2318</Words>
  <Application>Microsoft Office PowerPoint</Application>
  <PresentationFormat>Widescreen</PresentationFormat>
  <Paragraphs>235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RSG COMP-TECH</cp:lastModifiedBy>
  <cp:revision>39</cp:revision>
  <dcterms:created xsi:type="dcterms:W3CDTF">2020-11-22T09:57:01Z</dcterms:created>
  <dcterms:modified xsi:type="dcterms:W3CDTF">2021-12-21T15:59:18Z</dcterms:modified>
</cp:coreProperties>
</file>