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80" d="100"/>
          <a:sy n="80" d="100"/>
        </p:scale>
        <p:origin x="37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460E6-81CD-4D03-8289-A20AE710B33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5C1F5C8-A2B2-4D62-933C-345446447C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AFF953F-83F2-40BB-AA6A-92BFEB800A1D}"/>
              </a:ext>
            </a:extLst>
          </p:cNvPr>
          <p:cNvSpPr>
            <a:spLocks noGrp="1"/>
          </p:cNvSpPr>
          <p:nvPr>
            <p:ph type="dt" sz="half" idx="10"/>
          </p:nvPr>
        </p:nvSpPr>
        <p:spPr/>
        <p:txBody>
          <a:bodyPr/>
          <a:lstStyle/>
          <a:p>
            <a:fld id="{98F49884-184C-4FBD-8B80-3D7F72F7D3CE}" type="datetimeFigureOut">
              <a:rPr lang="en-US" smtClean="0"/>
              <a:t>1/14/2021</a:t>
            </a:fld>
            <a:endParaRPr lang="en-US"/>
          </a:p>
        </p:txBody>
      </p:sp>
      <p:sp>
        <p:nvSpPr>
          <p:cNvPr id="5" name="Footer Placeholder 4">
            <a:extLst>
              <a:ext uri="{FF2B5EF4-FFF2-40B4-BE49-F238E27FC236}">
                <a16:creationId xmlns:a16="http://schemas.microsoft.com/office/drawing/2014/main" id="{42097093-6D4B-44C8-89A5-C99ABDB86E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659E01-5AF8-4F4B-AFE1-C2EFAD2150CF}"/>
              </a:ext>
            </a:extLst>
          </p:cNvPr>
          <p:cNvSpPr>
            <a:spLocks noGrp="1"/>
          </p:cNvSpPr>
          <p:nvPr>
            <p:ph type="sldNum" sz="quarter" idx="12"/>
          </p:nvPr>
        </p:nvSpPr>
        <p:spPr/>
        <p:txBody>
          <a:bodyPr/>
          <a:lstStyle/>
          <a:p>
            <a:fld id="{601BC6C6-A69F-48C9-A45A-472F98F693C4}" type="slidenum">
              <a:rPr lang="en-US" smtClean="0"/>
              <a:t>‹#›</a:t>
            </a:fld>
            <a:endParaRPr lang="en-US"/>
          </a:p>
        </p:txBody>
      </p:sp>
    </p:spTree>
    <p:extLst>
      <p:ext uri="{BB962C8B-B14F-4D97-AF65-F5344CB8AC3E}">
        <p14:creationId xmlns:p14="http://schemas.microsoft.com/office/powerpoint/2010/main" val="5313394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B944B-849F-4D43-93AC-9C24E406948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C1998D7-C39E-441A-B3AF-7FD72C000B7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285668-E3FF-4323-9882-D934116627EC}"/>
              </a:ext>
            </a:extLst>
          </p:cNvPr>
          <p:cNvSpPr>
            <a:spLocks noGrp="1"/>
          </p:cNvSpPr>
          <p:nvPr>
            <p:ph type="dt" sz="half" idx="10"/>
          </p:nvPr>
        </p:nvSpPr>
        <p:spPr/>
        <p:txBody>
          <a:bodyPr/>
          <a:lstStyle/>
          <a:p>
            <a:fld id="{98F49884-184C-4FBD-8B80-3D7F72F7D3CE}" type="datetimeFigureOut">
              <a:rPr lang="en-US" smtClean="0"/>
              <a:t>1/14/2021</a:t>
            </a:fld>
            <a:endParaRPr lang="en-US"/>
          </a:p>
        </p:txBody>
      </p:sp>
      <p:sp>
        <p:nvSpPr>
          <p:cNvPr id="5" name="Footer Placeholder 4">
            <a:extLst>
              <a:ext uri="{FF2B5EF4-FFF2-40B4-BE49-F238E27FC236}">
                <a16:creationId xmlns:a16="http://schemas.microsoft.com/office/drawing/2014/main" id="{5AEB6841-A86B-4FF4-A0A7-C2B8B6E3DC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C03711-45FD-4568-A22D-143FC11AFE25}"/>
              </a:ext>
            </a:extLst>
          </p:cNvPr>
          <p:cNvSpPr>
            <a:spLocks noGrp="1"/>
          </p:cNvSpPr>
          <p:nvPr>
            <p:ph type="sldNum" sz="quarter" idx="12"/>
          </p:nvPr>
        </p:nvSpPr>
        <p:spPr/>
        <p:txBody>
          <a:bodyPr/>
          <a:lstStyle/>
          <a:p>
            <a:fld id="{601BC6C6-A69F-48C9-A45A-472F98F693C4}" type="slidenum">
              <a:rPr lang="en-US" smtClean="0"/>
              <a:t>‹#›</a:t>
            </a:fld>
            <a:endParaRPr lang="en-US"/>
          </a:p>
        </p:txBody>
      </p:sp>
    </p:spTree>
    <p:extLst>
      <p:ext uri="{BB962C8B-B14F-4D97-AF65-F5344CB8AC3E}">
        <p14:creationId xmlns:p14="http://schemas.microsoft.com/office/powerpoint/2010/main" val="34987084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A60FF-9C3F-4BA6-9A51-8068E71681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266F08-7839-4CEF-845F-8A08F236117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9EB71D-BE01-4075-BC55-DBFBE768C14F}"/>
              </a:ext>
            </a:extLst>
          </p:cNvPr>
          <p:cNvSpPr>
            <a:spLocks noGrp="1"/>
          </p:cNvSpPr>
          <p:nvPr>
            <p:ph type="dt" sz="half" idx="10"/>
          </p:nvPr>
        </p:nvSpPr>
        <p:spPr/>
        <p:txBody>
          <a:bodyPr/>
          <a:lstStyle/>
          <a:p>
            <a:fld id="{98F49884-184C-4FBD-8B80-3D7F72F7D3CE}" type="datetimeFigureOut">
              <a:rPr lang="en-US" smtClean="0"/>
              <a:t>1/14/2021</a:t>
            </a:fld>
            <a:endParaRPr lang="en-US"/>
          </a:p>
        </p:txBody>
      </p:sp>
      <p:sp>
        <p:nvSpPr>
          <p:cNvPr id="5" name="Footer Placeholder 4">
            <a:extLst>
              <a:ext uri="{FF2B5EF4-FFF2-40B4-BE49-F238E27FC236}">
                <a16:creationId xmlns:a16="http://schemas.microsoft.com/office/drawing/2014/main" id="{5F4CF898-099A-4E40-A102-965E9AA1C0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E4711F-633B-4EAF-A92F-007EC89D86E3}"/>
              </a:ext>
            </a:extLst>
          </p:cNvPr>
          <p:cNvSpPr>
            <a:spLocks noGrp="1"/>
          </p:cNvSpPr>
          <p:nvPr>
            <p:ph type="sldNum" sz="quarter" idx="12"/>
          </p:nvPr>
        </p:nvSpPr>
        <p:spPr/>
        <p:txBody>
          <a:bodyPr/>
          <a:lstStyle/>
          <a:p>
            <a:fld id="{601BC6C6-A69F-48C9-A45A-472F98F693C4}" type="slidenum">
              <a:rPr lang="en-US" smtClean="0"/>
              <a:t>‹#›</a:t>
            </a:fld>
            <a:endParaRPr lang="en-US"/>
          </a:p>
        </p:txBody>
      </p:sp>
    </p:spTree>
    <p:extLst>
      <p:ext uri="{BB962C8B-B14F-4D97-AF65-F5344CB8AC3E}">
        <p14:creationId xmlns:p14="http://schemas.microsoft.com/office/powerpoint/2010/main" val="34741028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28DE3-237C-44AD-A518-9DE1BA5091B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C7E8BC-C423-4E06-8BCF-E1D12964B1B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0DF013E-2E4B-4697-8C33-B2FA03F3292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68AB224-8062-4FB2-86C4-E3EBDA272D8D}"/>
              </a:ext>
            </a:extLst>
          </p:cNvPr>
          <p:cNvSpPr>
            <a:spLocks noGrp="1"/>
          </p:cNvSpPr>
          <p:nvPr>
            <p:ph type="dt" sz="half" idx="10"/>
          </p:nvPr>
        </p:nvSpPr>
        <p:spPr/>
        <p:txBody>
          <a:bodyPr/>
          <a:lstStyle/>
          <a:p>
            <a:fld id="{98F49884-184C-4FBD-8B80-3D7F72F7D3CE}" type="datetimeFigureOut">
              <a:rPr lang="en-US" smtClean="0"/>
              <a:t>1/14/2021</a:t>
            </a:fld>
            <a:endParaRPr lang="en-US"/>
          </a:p>
        </p:txBody>
      </p:sp>
      <p:sp>
        <p:nvSpPr>
          <p:cNvPr id="6" name="Footer Placeholder 5">
            <a:extLst>
              <a:ext uri="{FF2B5EF4-FFF2-40B4-BE49-F238E27FC236}">
                <a16:creationId xmlns:a16="http://schemas.microsoft.com/office/drawing/2014/main" id="{6BA9E414-5CA0-4161-A8EC-CC8F9CAFD0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6A9103-4AC3-499F-830C-07402890CF91}"/>
              </a:ext>
            </a:extLst>
          </p:cNvPr>
          <p:cNvSpPr>
            <a:spLocks noGrp="1"/>
          </p:cNvSpPr>
          <p:nvPr>
            <p:ph type="sldNum" sz="quarter" idx="12"/>
          </p:nvPr>
        </p:nvSpPr>
        <p:spPr/>
        <p:txBody>
          <a:bodyPr/>
          <a:lstStyle/>
          <a:p>
            <a:fld id="{601BC6C6-A69F-48C9-A45A-472F98F693C4}" type="slidenum">
              <a:rPr lang="en-US" smtClean="0"/>
              <a:t>‹#›</a:t>
            </a:fld>
            <a:endParaRPr lang="en-US"/>
          </a:p>
        </p:txBody>
      </p:sp>
    </p:spTree>
    <p:extLst>
      <p:ext uri="{BB962C8B-B14F-4D97-AF65-F5344CB8AC3E}">
        <p14:creationId xmlns:p14="http://schemas.microsoft.com/office/powerpoint/2010/main" val="36822673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B66B5-5087-4178-B6E1-18F56D7541F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A37347C-1A3D-413E-A636-C5DBB84EB3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DB5F774-51A1-4734-95D9-A9F2B652C89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D043832-47BB-4270-9D27-67C61CC0FB0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A686871-3A93-40DD-9B07-B3F85CCF23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768DF85-DA24-4193-A43D-D7548774F558}"/>
              </a:ext>
            </a:extLst>
          </p:cNvPr>
          <p:cNvSpPr>
            <a:spLocks noGrp="1"/>
          </p:cNvSpPr>
          <p:nvPr>
            <p:ph type="dt" sz="half" idx="10"/>
          </p:nvPr>
        </p:nvSpPr>
        <p:spPr/>
        <p:txBody>
          <a:bodyPr/>
          <a:lstStyle/>
          <a:p>
            <a:fld id="{98F49884-184C-4FBD-8B80-3D7F72F7D3CE}" type="datetimeFigureOut">
              <a:rPr lang="en-US" smtClean="0"/>
              <a:t>1/14/2021</a:t>
            </a:fld>
            <a:endParaRPr lang="en-US"/>
          </a:p>
        </p:txBody>
      </p:sp>
      <p:sp>
        <p:nvSpPr>
          <p:cNvPr id="8" name="Footer Placeholder 7">
            <a:extLst>
              <a:ext uri="{FF2B5EF4-FFF2-40B4-BE49-F238E27FC236}">
                <a16:creationId xmlns:a16="http://schemas.microsoft.com/office/drawing/2014/main" id="{40D2DAD1-ECE8-41D5-8683-061A7630AFE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0ED5EF9-F922-434E-ADCE-83A7B9527CA8}"/>
              </a:ext>
            </a:extLst>
          </p:cNvPr>
          <p:cNvSpPr>
            <a:spLocks noGrp="1"/>
          </p:cNvSpPr>
          <p:nvPr>
            <p:ph type="sldNum" sz="quarter" idx="12"/>
          </p:nvPr>
        </p:nvSpPr>
        <p:spPr/>
        <p:txBody>
          <a:bodyPr/>
          <a:lstStyle/>
          <a:p>
            <a:fld id="{601BC6C6-A69F-48C9-A45A-472F98F693C4}" type="slidenum">
              <a:rPr lang="en-US" smtClean="0"/>
              <a:t>‹#›</a:t>
            </a:fld>
            <a:endParaRPr lang="en-US"/>
          </a:p>
        </p:txBody>
      </p:sp>
    </p:spTree>
    <p:extLst>
      <p:ext uri="{BB962C8B-B14F-4D97-AF65-F5344CB8AC3E}">
        <p14:creationId xmlns:p14="http://schemas.microsoft.com/office/powerpoint/2010/main" val="5950015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C9FA0-0EE4-4375-9818-A96DA784555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964A002-1BE7-4F7D-9D25-E24F20B8B658}"/>
              </a:ext>
            </a:extLst>
          </p:cNvPr>
          <p:cNvSpPr>
            <a:spLocks noGrp="1"/>
          </p:cNvSpPr>
          <p:nvPr>
            <p:ph type="dt" sz="half" idx="10"/>
          </p:nvPr>
        </p:nvSpPr>
        <p:spPr/>
        <p:txBody>
          <a:bodyPr/>
          <a:lstStyle/>
          <a:p>
            <a:fld id="{98F49884-184C-4FBD-8B80-3D7F72F7D3CE}" type="datetimeFigureOut">
              <a:rPr lang="en-US" smtClean="0"/>
              <a:t>1/14/2021</a:t>
            </a:fld>
            <a:endParaRPr lang="en-US"/>
          </a:p>
        </p:txBody>
      </p:sp>
      <p:sp>
        <p:nvSpPr>
          <p:cNvPr id="4" name="Footer Placeholder 3">
            <a:extLst>
              <a:ext uri="{FF2B5EF4-FFF2-40B4-BE49-F238E27FC236}">
                <a16:creationId xmlns:a16="http://schemas.microsoft.com/office/drawing/2014/main" id="{BD221DC8-5CF6-463C-9EEE-9A68D0EDBC4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71DE874-F1F0-4976-B72F-1BE505088122}"/>
              </a:ext>
            </a:extLst>
          </p:cNvPr>
          <p:cNvSpPr>
            <a:spLocks noGrp="1"/>
          </p:cNvSpPr>
          <p:nvPr>
            <p:ph type="sldNum" sz="quarter" idx="12"/>
          </p:nvPr>
        </p:nvSpPr>
        <p:spPr/>
        <p:txBody>
          <a:bodyPr/>
          <a:lstStyle/>
          <a:p>
            <a:fld id="{601BC6C6-A69F-48C9-A45A-472F98F693C4}" type="slidenum">
              <a:rPr lang="en-US" smtClean="0"/>
              <a:t>‹#›</a:t>
            </a:fld>
            <a:endParaRPr lang="en-US"/>
          </a:p>
        </p:txBody>
      </p:sp>
    </p:spTree>
    <p:extLst>
      <p:ext uri="{BB962C8B-B14F-4D97-AF65-F5344CB8AC3E}">
        <p14:creationId xmlns:p14="http://schemas.microsoft.com/office/powerpoint/2010/main" val="23268989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6259B6-8251-4154-838E-E0DF160CD746}"/>
              </a:ext>
            </a:extLst>
          </p:cNvPr>
          <p:cNvSpPr>
            <a:spLocks noGrp="1"/>
          </p:cNvSpPr>
          <p:nvPr>
            <p:ph type="dt" sz="half" idx="10"/>
          </p:nvPr>
        </p:nvSpPr>
        <p:spPr/>
        <p:txBody>
          <a:bodyPr/>
          <a:lstStyle/>
          <a:p>
            <a:fld id="{98F49884-184C-4FBD-8B80-3D7F72F7D3CE}" type="datetimeFigureOut">
              <a:rPr lang="en-US" smtClean="0"/>
              <a:t>1/14/2021</a:t>
            </a:fld>
            <a:endParaRPr lang="en-US"/>
          </a:p>
        </p:txBody>
      </p:sp>
      <p:sp>
        <p:nvSpPr>
          <p:cNvPr id="3" name="Footer Placeholder 2">
            <a:extLst>
              <a:ext uri="{FF2B5EF4-FFF2-40B4-BE49-F238E27FC236}">
                <a16:creationId xmlns:a16="http://schemas.microsoft.com/office/drawing/2014/main" id="{D0FC88F0-9706-427B-8949-B37B275B17C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81DAF52-8421-4CE6-BD38-E195CC95F133}"/>
              </a:ext>
            </a:extLst>
          </p:cNvPr>
          <p:cNvSpPr>
            <a:spLocks noGrp="1"/>
          </p:cNvSpPr>
          <p:nvPr>
            <p:ph type="sldNum" sz="quarter" idx="12"/>
          </p:nvPr>
        </p:nvSpPr>
        <p:spPr/>
        <p:txBody>
          <a:bodyPr/>
          <a:lstStyle/>
          <a:p>
            <a:fld id="{601BC6C6-A69F-48C9-A45A-472F98F693C4}" type="slidenum">
              <a:rPr lang="en-US" smtClean="0"/>
              <a:t>‹#›</a:t>
            </a:fld>
            <a:endParaRPr lang="en-US"/>
          </a:p>
        </p:txBody>
      </p:sp>
    </p:spTree>
    <p:extLst>
      <p:ext uri="{BB962C8B-B14F-4D97-AF65-F5344CB8AC3E}">
        <p14:creationId xmlns:p14="http://schemas.microsoft.com/office/powerpoint/2010/main" val="21469136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EFF1E-8386-4F5F-90C6-D30E719480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39C98AB-0E68-4EF3-BBA8-58DC8A1973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6F59E3A-3D3F-457E-9D13-C539BFEF26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C19B23-5AAC-459F-8785-B65C4A3ACA70}"/>
              </a:ext>
            </a:extLst>
          </p:cNvPr>
          <p:cNvSpPr>
            <a:spLocks noGrp="1"/>
          </p:cNvSpPr>
          <p:nvPr>
            <p:ph type="dt" sz="half" idx="10"/>
          </p:nvPr>
        </p:nvSpPr>
        <p:spPr/>
        <p:txBody>
          <a:bodyPr/>
          <a:lstStyle/>
          <a:p>
            <a:fld id="{98F49884-184C-4FBD-8B80-3D7F72F7D3CE}" type="datetimeFigureOut">
              <a:rPr lang="en-US" smtClean="0"/>
              <a:t>1/14/2021</a:t>
            </a:fld>
            <a:endParaRPr lang="en-US"/>
          </a:p>
        </p:txBody>
      </p:sp>
      <p:sp>
        <p:nvSpPr>
          <p:cNvPr id="6" name="Footer Placeholder 5">
            <a:extLst>
              <a:ext uri="{FF2B5EF4-FFF2-40B4-BE49-F238E27FC236}">
                <a16:creationId xmlns:a16="http://schemas.microsoft.com/office/drawing/2014/main" id="{C1AD99D2-56DA-4197-B720-4A236AAE82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96147E-9189-4575-85EA-3FBB9F7B77D7}"/>
              </a:ext>
            </a:extLst>
          </p:cNvPr>
          <p:cNvSpPr>
            <a:spLocks noGrp="1"/>
          </p:cNvSpPr>
          <p:nvPr>
            <p:ph type="sldNum" sz="quarter" idx="12"/>
          </p:nvPr>
        </p:nvSpPr>
        <p:spPr/>
        <p:txBody>
          <a:bodyPr/>
          <a:lstStyle/>
          <a:p>
            <a:fld id="{601BC6C6-A69F-48C9-A45A-472F98F693C4}" type="slidenum">
              <a:rPr lang="en-US" smtClean="0"/>
              <a:t>‹#›</a:t>
            </a:fld>
            <a:endParaRPr lang="en-US"/>
          </a:p>
        </p:txBody>
      </p:sp>
    </p:spTree>
    <p:extLst>
      <p:ext uri="{BB962C8B-B14F-4D97-AF65-F5344CB8AC3E}">
        <p14:creationId xmlns:p14="http://schemas.microsoft.com/office/powerpoint/2010/main" val="2442663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52179-C31F-4E14-9D68-BC5FDE6FEB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895CB17-B7B0-4648-8C48-EF2DCA9955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53EDBF2-344C-4B0E-80DF-D59C3A9227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326B85-620B-4E93-BF5C-FEA7A687C99C}"/>
              </a:ext>
            </a:extLst>
          </p:cNvPr>
          <p:cNvSpPr>
            <a:spLocks noGrp="1"/>
          </p:cNvSpPr>
          <p:nvPr>
            <p:ph type="dt" sz="half" idx="10"/>
          </p:nvPr>
        </p:nvSpPr>
        <p:spPr/>
        <p:txBody>
          <a:bodyPr/>
          <a:lstStyle/>
          <a:p>
            <a:fld id="{98F49884-184C-4FBD-8B80-3D7F72F7D3CE}" type="datetimeFigureOut">
              <a:rPr lang="en-US" smtClean="0"/>
              <a:t>1/14/2021</a:t>
            </a:fld>
            <a:endParaRPr lang="en-US"/>
          </a:p>
        </p:txBody>
      </p:sp>
      <p:sp>
        <p:nvSpPr>
          <p:cNvPr id="6" name="Footer Placeholder 5">
            <a:extLst>
              <a:ext uri="{FF2B5EF4-FFF2-40B4-BE49-F238E27FC236}">
                <a16:creationId xmlns:a16="http://schemas.microsoft.com/office/drawing/2014/main" id="{F0BD5A3D-EF6D-481C-B09A-F06DF6D9F3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A85680-419E-4B13-AE32-BE107E018ED3}"/>
              </a:ext>
            </a:extLst>
          </p:cNvPr>
          <p:cNvSpPr>
            <a:spLocks noGrp="1"/>
          </p:cNvSpPr>
          <p:nvPr>
            <p:ph type="sldNum" sz="quarter" idx="12"/>
          </p:nvPr>
        </p:nvSpPr>
        <p:spPr/>
        <p:txBody>
          <a:bodyPr/>
          <a:lstStyle/>
          <a:p>
            <a:fld id="{601BC6C6-A69F-48C9-A45A-472F98F693C4}" type="slidenum">
              <a:rPr lang="en-US" smtClean="0"/>
              <a:t>‹#›</a:t>
            </a:fld>
            <a:endParaRPr lang="en-US"/>
          </a:p>
        </p:txBody>
      </p:sp>
    </p:spTree>
    <p:extLst>
      <p:ext uri="{BB962C8B-B14F-4D97-AF65-F5344CB8AC3E}">
        <p14:creationId xmlns:p14="http://schemas.microsoft.com/office/powerpoint/2010/main" val="10438176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99505-BFE5-4B98-B017-E31EF328375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4CAABC0-A259-4049-BE7E-CA5AFB1088C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E2844A-76CC-40EF-A72A-C18669C2CE0A}"/>
              </a:ext>
            </a:extLst>
          </p:cNvPr>
          <p:cNvSpPr>
            <a:spLocks noGrp="1"/>
          </p:cNvSpPr>
          <p:nvPr>
            <p:ph type="dt" sz="half" idx="10"/>
          </p:nvPr>
        </p:nvSpPr>
        <p:spPr/>
        <p:txBody>
          <a:bodyPr/>
          <a:lstStyle/>
          <a:p>
            <a:fld id="{98F49884-184C-4FBD-8B80-3D7F72F7D3CE}" type="datetimeFigureOut">
              <a:rPr lang="en-US" smtClean="0"/>
              <a:t>1/14/2021</a:t>
            </a:fld>
            <a:endParaRPr lang="en-US"/>
          </a:p>
        </p:txBody>
      </p:sp>
      <p:sp>
        <p:nvSpPr>
          <p:cNvPr id="5" name="Footer Placeholder 4">
            <a:extLst>
              <a:ext uri="{FF2B5EF4-FFF2-40B4-BE49-F238E27FC236}">
                <a16:creationId xmlns:a16="http://schemas.microsoft.com/office/drawing/2014/main" id="{BA076246-B0ED-467B-992A-A0410C174A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76E4EE-10CB-48A8-9054-038EBC3ECC89}"/>
              </a:ext>
            </a:extLst>
          </p:cNvPr>
          <p:cNvSpPr>
            <a:spLocks noGrp="1"/>
          </p:cNvSpPr>
          <p:nvPr>
            <p:ph type="sldNum" sz="quarter" idx="12"/>
          </p:nvPr>
        </p:nvSpPr>
        <p:spPr/>
        <p:txBody>
          <a:bodyPr/>
          <a:lstStyle/>
          <a:p>
            <a:fld id="{601BC6C6-A69F-48C9-A45A-472F98F693C4}" type="slidenum">
              <a:rPr lang="en-US" smtClean="0"/>
              <a:t>‹#›</a:t>
            </a:fld>
            <a:endParaRPr lang="en-US"/>
          </a:p>
        </p:txBody>
      </p:sp>
    </p:spTree>
    <p:extLst>
      <p:ext uri="{BB962C8B-B14F-4D97-AF65-F5344CB8AC3E}">
        <p14:creationId xmlns:p14="http://schemas.microsoft.com/office/powerpoint/2010/main" val="10525398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EE42B7-43A9-40F0-ADED-BEC279A5E01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5BC20BE-5506-4F65-B4E2-77EE0CA6E96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CEBBFA-A010-4EE8-91E0-2BFAD7B31A67}"/>
              </a:ext>
            </a:extLst>
          </p:cNvPr>
          <p:cNvSpPr>
            <a:spLocks noGrp="1"/>
          </p:cNvSpPr>
          <p:nvPr>
            <p:ph type="dt" sz="half" idx="10"/>
          </p:nvPr>
        </p:nvSpPr>
        <p:spPr/>
        <p:txBody>
          <a:bodyPr/>
          <a:lstStyle/>
          <a:p>
            <a:fld id="{98F49884-184C-4FBD-8B80-3D7F72F7D3CE}" type="datetimeFigureOut">
              <a:rPr lang="en-US" smtClean="0"/>
              <a:t>1/14/2021</a:t>
            </a:fld>
            <a:endParaRPr lang="en-US"/>
          </a:p>
        </p:txBody>
      </p:sp>
      <p:sp>
        <p:nvSpPr>
          <p:cNvPr id="5" name="Footer Placeholder 4">
            <a:extLst>
              <a:ext uri="{FF2B5EF4-FFF2-40B4-BE49-F238E27FC236}">
                <a16:creationId xmlns:a16="http://schemas.microsoft.com/office/drawing/2014/main" id="{D849D1B8-F5D6-43D1-B1CB-7DCBE16B7F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20E2C0-154C-48A4-8E8D-0A0CDE258E32}"/>
              </a:ext>
            </a:extLst>
          </p:cNvPr>
          <p:cNvSpPr>
            <a:spLocks noGrp="1"/>
          </p:cNvSpPr>
          <p:nvPr>
            <p:ph type="sldNum" sz="quarter" idx="12"/>
          </p:nvPr>
        </p:nvSpPr>
        <p:spPr/>
        <p:txBody>
          <a:bodyPr/>
          <a:lstStyle/>
          <a:p>
            <a:fld id="{601BC6C6-A69F-48C9-A45A-472F98F693C4}" type="slidenum">
              <a:rPr lang="en-US" smtClean="0"/>
              <a:t>‹#›</a:t>
            </a:fld>
            <a:endParaRPr lang="en-US"/>
          </a:p>
        </p:txBody>
      </p:sp>
    </p:spTree>
    <p:extLst>
      <p:ext uri="{BB962C8B-B14F-4D97-AF65-F5344CB8AC3E}">
        <p14:creationId xmlns:p14="http://schemas.microsoft.com/office/powerpoint/2010/main" val="2717815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7EF66E-3A70-4A4F-8037-8E21987D79E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DE830D6-BE10-4037-860C-96BA0CB94A3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C13493-E218-4837-A4D7-CB358531DF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F49884-184C-4FBD-8B80-3D7F72F7D3CE}" type="datetimeFigureOut">
              <a:rPr lang="en-US" smtClean="0"/>
              <a:t>1/14/2021</a:t>
            </a:fld>
            <a:endParaRPr lang="en-US"/>
          </a:p>
        </p:txBody>
      </p:sp>
      <p:sp>
        <p:nvSpPr>
          <p:cNvPr id="5" name="Footer Placeholder 4">
            <a:extLst>
              <a:ext uri="{FF2B5EF4-FFF2-40B4-BE49-F238E27FC236}">
                <a16:creationId xmlns:a16="http://schemas.microsoft.com/office/drawing/2014/main" id="{54A2F393-292B-4950-8E09-94418CB4E7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BA1DE0B-42D7-4205-804E-716765565D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1BC6C6-A69F-48C9-A45A-472F98F693C4}" type="slidenum">
              <a:rPr lang="en-US" smtClean="0"/>
              <a:t>‹#›</a:t>
            </a:fld>
            <a:endParaRPr lang="en-US"/>
          </a:p>
        </p:txBody>
      </p:sp>
    </p:spTree>
    <p:extLst>
      <p:ext uri="{BB962C8B-B14F-4D97-AF65-F5344CB8AC3E}">
        <p14:creationId xmlns:p14="http://schemas.microsoft.com/office/powerpoint/2010/main" val="23090838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B35D892-EF69-4146-B5F0-CA3801503A95}"/>
              </a:ext>
            </a:extLst>
          </p:cNvPr>
          <p:cNvSpPr>
            <a:spLocks noGrp="1"/>
          </p:cNvSpPr>
          <p:nvPr>
            <p:ph type="subTitle" idx="1"/>
          </p:nvPr>
        </p:nvSpPr>
        <p:spPr>
          <a:xfrm>
            <a:off x="1060174" y="1126436"/>
            <a:ext cx="9607826" cy="1378226"/>
          </a:xfrm>
        </p:spPr>
        <p:txBody>
          <a:bodyPr/>
          <a:lstStyle/>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FALLACIES</a:t>
            </a:r>
          </a:p>
        </p:txBody>
      </p:sp>
    </p:spTree>
    <p:extLst>
      <p:ext uri="{BB962C8B-B14F-4D97-AF65-F5344CB8AC3E}">
        <p14:creationId xmlns:p14="http://schemas.microsoft.com/office/powerpoint/2010/main" val="12400045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154EDA-7A52-4670-81F7-82365EB2AAC7}"/>
              </a:ext>
            </a:extLst>
          </p:cNvPr>
          <p:cNvSpPr>
            <a:spLocks noGrp="1"/>
          </p:cNvSpPr>
          <p:nvPr>
            <p:ph idx="1"/>
          </p:nvPr>
        </p:nvSpPr>
        <p:spPr>
          <a:xfrm>
            <a:off x="-1" y="0"/>
            <a:ext cx="12192001" cy="6858000"/>
          </a:xfrm>
        </p:spPr>
        <p:txBody>
          <a:bodyPr/>
          <a:lstStyle/>
          <a:p>
            <a:pPr marL="0" indent="0">
              <a:buNone/>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By the end of this unit, students should be able to:</a:t>
            </a:r>
          </a:p>
          <a:p>
            <a:pPr marL="0" indent="0" algn="just">
              <a:buNone/>
            </a:pP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1.	Define the term fallacies</a:t>
            </a:r>
          </a:p>
          <a:p>
            <a:pPr marL="0" indent="0" algn="just">
              <a:buNone/>
            </a:pPr>
            <a:r>
              <a:rPr lang="en-US" i="1" dirty="0">
                <a:latin typeface="Times New Roman" panose="02020603050405020304" pitchFamily="18" charset="0"/>
                <a:cs typeface="Times New Roman" panose="02020603050405020304" pitchFamily="18" charset="0"/>
              </a:rPr>
              <a:t>      2.	Identify fallacies in various texts and speeches</a:t>
            </a:r>
          </a:p>
          <a:p>
            <a:pPr marL="0" indent="0" algn="just">
              <a:buNone/>
            </a:pPr>
            <a:r>
              <a:rPr lang="en-US" i="1" dirty="0">
                <a:latin typeface="Times New Roman" panose="02020603050405020304" pitchFamily="18" charset="0"/>
                <a:cs typeface="Times New Roman" panose="02020603050405020304" pitchFamily="18" charset="0"/>
              </a:rPr>
              <a:t>      3. Avoid fallacies in their writing and speeches</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09446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E267B9-498D-4342-84B3-A3B3C88D604E}"/>
              </a:ext>
            </a:extLst>
          </p:cNvPr>
          <p:cNvSpPr>
            <a:spLocks noGrp="1"/>
          </p:cNvSpPr>
          <p:nvPr>
            <p:ph idx="1"/>
          </p:nvPr>
        </p:nvSpPr>
        <p:spPr>
          <a:xfrm>
            <a:off x="0" y="0"/>
            <a:ext cx="12192000" cy="6858000"/>
          </a:xfrm>
        </p:spPr>
        <p:txBody>
          <a:bodyPr/>
          <a:lstStyle/>
          <a:p>
            <a:pPr marL="0" indent="0">
              <a:buNone/>
            </a:pPr>
            <a:r>
              <a:rPr lang="en-US" b="1" dirty="0">
                <a:latin typeface="Times New Roman" panose="02020603050405020304" pitchFamily="18" charset="0"/>
                <a:cs typeface="Times New Roman" panose="02020603050405020304" pitchFamily="18" charset="0"/>
              </a:rPr>
              <a:t>INTRODUCTION</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 fallacy is an error in reasoning. </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It is an idea that many people think is true but is in fact false. </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It is an argument which is damaged, thus invalid, for one of the following three reasons: inadequate evidence, invalid reasoning and faulty expression. </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Look for fallacies in:</a:t>
            </a:r>
          </a:p>
          <a:p>
            <a:pPr marL="0" indent="0">
              <a:buNone/>
            </a:pPr>
            <a:r>
              <a:rPr lang="en-US" dirty="0">
                <a:latin typeface="Times New Roman" panose="02020603050405020304" pitchFamily="18" charset="0"/>
                <a:cs typeface="Times New Roman" panose="02020603050405020304" pitchFamily="18" charset="0"/>
              </a:rPr>
              <a:t>       1. Speeches that people make</a:t>
            </a:r>
          </a:p>
          <a:p>
            <a:pPr marL="0" indent="0">
              <a:buNone/>
            </a:pPr>
            <a:r>
              <a:rPr lang="en-US" dirty="0">
                <a:latin typeface="Times New Roman" panose="02020603050405020304" pitchFamily="18" charset="0"/>
                <a:cs typeface="Times New Roman" panose="02020603050405020304" pitchFamily="18" charset="0"/>
              </a:rPr>
              <a:t>       2. Newspaper articles.</a:t>
            </a:r>
          </a:p>
          <a:p>
            <a:pPr marL="0" indent="0">
              <a:buNone/>
            </a:pPr>
            <a:r>
              <a:rPr lang="en-US" dirty="0">
                <a:latin typeface="Times New Roman" panose="02020603050405020304" pitchFamily="18" charset="0"/>
                <a:cs typeface="Times New Roman" panose="02020603050405020304" pitchFamily="18" charset="0"/>
              </a:rPr>
              <a:t>       3. Editorial comments (on radio and in newspapers).</a:t>
            </a:r>
          </a:p>
          <a:p>
            <a:pPr marL="0" indent="0">
              <a:buNone/>
            </a:pPr>
            <a:r>
              <a:rPr lang="en-US" dirty="0">
                <a:latin typeface="Times New Roman" panose="02020603050405020304" pitchFamily="18" charset="0"/>
                <a:cs typeface="Times New Roman" panose="02020603050405020304" pitchFamily="18" charset="0"/>
              </a:rPr>
              <a:t>       4. Adverts.</a:t>
            </a:r>
          </a:p>
          <a:p>
            <a:pPr marL="0" indent="0">
              <a:buNone/>
            </a:pPr>
            <a:r>
              <a:rPr lang="en-US" dirty="0">
                <a:latin typeface="Times New Roman" panose="02020603050405020304" pitchFamily="18" charset="0"/>
                <a:cs typeface="Times New Roman" panose="02020603050405020304" pitchFamily="18" charset="0"/>
              </a:rPr>
              <a:t>       5.Day to day conversation with others.</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Your ability to detect fallacies in the reasoning of others will sharpen your own reasoning powers and will help you to avoid errors in your own thinking and writing.</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69746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73D413-74D5-418A-90FF-772706196F5C}"/>
              </a:ext>
            </a:extLst>
          </p:cNvPr>
          <p:cNvSpPr>
            <a:spLocks noGrp="1"/>
          </p:cNvSpPr>
          <p:nvPr>
            <p:ph idx="1"/>
          </p:nvPr>
        </p:nvSpPr>
        <p:spPr>
          <a:xfrm>
            <a:off x="0" y="0"/>
            <a:ext cx="12192000" cy="6858000"/>
          </a:xfrm>
        </p:spPr>
        <p:txBody>
          <a:bodyPr>
            <a:normAutofit lnSpcReduction="10000"/>
          </a:bodyPr>
          <a:lstStyle/>
          <a:p>
            <a:pPr marL="0" indent="0">
              <a:buNone/>
            </a:pPr>
            <a:r>
              <a:rPr lang="en-US" b="1" dirty="0">
                <a:latin typeface="Times New Roman" panose="02020603050405020304" pitchFamily="18" charset="0"/>
                <a:cs typeface="Times New Roman" panose="02020603050405020304" pitchFamily="18" charset="0"/>
              </a:rPr>
              <a:t>Types of fallacies</a:t>
            </a:r>
          </a:p>
          <a:p>
            <a:pPr marL="0" indent="0">
              <a:buNone/>
            </a:pPr>
            <a:r>
              <a:rPr lang="en-US" dirty="0">
                <a:latin typeface="Times New Roman" panose="02020603050405020304" pitchFamily="18" charset="0"/>
                <a:cs typeface="Times New Roman" panose="02020603050405020304" pitchFamily="18" charset="0"/>
              </a:rPr>
              <a:t>   </a:t>
            </a:r>
            <a:r>
              <a:rPr lang="en-US" b="1" i="1" dirty="0">
                <a:latin typeface="Times New Roman" panose="02020603050405020304" pitchFamily="18" charset="0"/>
                <a:cs typeface="Times New Roman" panose="02020603050405020304" pitchFamily="18" charset="0"/>
              </a:rPr>
              <a:t>1.Hasty Generalization (Oversimplification)</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This is an argument in which a conclusion is made on the basis of scanty evidence (limited sample/ conclusion made on the basis of too few examples)</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It is ok to generalize or oversimplify e.g. many, most, all but  what is wrong is to generalize hastily or to oversimplify. </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For example:</a:t>
            </a:r>
          </a:p>
          <a:p>
            <a:pPr marL="0" indent="0">
              <a:buNone/>
            </a:pP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Evidence:</a:t>
            </a:r>
            <a:r>
              <a:rPr lang="en-US" dirty="0">
                <a:latin typeface="Times New Roman" panose="02020603050405020304" pitchFamily="18" charset="0"/>
                <a:cs typeface="Times New Roman" panose="02020603050405020304" pitchFamily="18" charset="0"/>
              </a:rPr>
              <a:t> 	A black Mamba is a poisonous snake</a:t>
            </a:r>
          </a:p>
          <a:p>
            <a:pPr marL="0" indent="0">
              <a:buNone/>
            </a:pPr>
            <a:r>
              <a:rPr lang="en-US" dirty="0">
                <a:latin typeface="Times New Roman" panose="02020603050405020304" pitchFamily="18" charset="0"/>
                <a:cs typeface="Times New Roman" panose="02020603050405020304" pitchFamily="18" charset="0"/>
              </a:rPr>
              <a:t>			A rattle snake is a poisonous snake</a:t>
            </a:r>
          </a:p>
          <a:p>
            <a:pPr marL="0" indent="0">
              <a:buNone/>
            </a:pP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Conclusion:         </a:t>
            </a:r>
            <a:r>
              <a:rPr lang="en-US" dirty="0">
                <a:latin typeface="Times New Roman" panose="02020603050405020304" pitchFamily="18" charset="0"/>
                <a:cs typeface="Times New Roman" panose="02020603050405020304" pitchFamily="18" charset="0"/>
              </a:rPr>
              <a:t>All snakes are poisonous</a:t>
            </a: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 sample of three species of snakes is too small to give you evidence to warrant the conclusion that all snakes are poisonous. There are over 2 500 species of snakes!</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To avoid the fallacy of hasty generalization, make sure that the sample is large enough to enable you make a generalization of many, most or all. </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20349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8D3403-4239-4957-AC57-C1B7C500A234}"/>
              </a:ext>
            </a:extLst>
          </p:cNvPr>
          <p:cNvSpPr>
            <a:spLocks noGrp="1"/>
          </p:cNvSpPr>
          <p:nvPr>
            <p:ph idx="1"/>
          </p:nvPr>
        </p:nvSpPr>
        <p:spPr>
          <a:xfrm>
            <a:off x="0" y="0"/>
            <a:ext cx="12191999" cy="6858000"/>
          </a:xfrm>
        </p:spPr>
        <p:txBody>
          <a:bodyPr>
            <a:normAutofit fontScale="55000" lnSpcReduction="20000"/>
          </a:bodyPr>
          <a:lstStyle/>
          <a:p>
            <a:pPr marR="0" indent="0" algn="just">
              <a:lnSpc>
                <a:spcPct val="150000"/>
              </a:lnSpc>
              <a:spcBef>
                <a:spcPts val="0"/>
              </a:spcBef>
              <a:spcAft>
                <a:spcPts val="0"/>
              </a:spcAft>
              <a:buNone/>
            </a:pPr>
            <a:r>
              <a:rPr lang="en-US" sz="4000" b="1" dirty="0">
                <a:effectLst/>
                <a:latin typeface="Times New Roman" panose="02020603050405020304" pitchFamily="18" charset="0"/>
                <a:ea typeface="Calibri" panose="020F0502020204030204" pitchFamily="34" charset="0"/>
                <a:cs typeface="Times New Roman" panose="02020603050405020304" pitchFamily="18" charset="0"/>
              </a:rPr>
              <a:t>More examples:</a:t>
            </a:r>
            <a:endParaRPr lang="en-US" sz="4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1000"/>
              </a:spcAft>
              <a:buFont typeface="Wingdings" panose="05000000000000000000" pitchFamily="2" charset="2"/>
              <a:buChar char=""/>
            </a:pPr>
            <a:r>
              <a:rPr lang="en-US" sz="4000" i="1" dirty="0">
                <a:effectLst/>
                <a:latin typeface="Times New Roman" panose="02020603050405020304" pitchFamily="18" charset="0"/>
                <a:ea typeface="Calibri" panose="020F0502020204030204" pitchFamily="34" charset="0"/>
                <a:cs typeface="Times New Roman" panose="02020603050405020304" pitchFamily="18" charset="0"/>
              </a:rPr>
              <a:t>My mother died in a plane crash, so I will never fly because it’s a dangerous mode of transport.</a:t>
            </a:r>
            <a:endParaRPr lang="en-US" sz="4000" dirty="0">
              <a:effectLst/>
              <a:latin typeface="Calibri" panose="020F0502020204030204" pitchFamily="34" charset="0"/>
              <a:ea typeface="Calibri" panose="020F0502020204030204" pitchFamily="34" charset="0"/>
              <a:cs typeface="Times New Roman" panose="02020603050405020304" pitchFamily="18" charset="0"/>
            </a:endParaRPr>
          </a:p>
          <a:p>
            <a:pPr algn="just">
              <a:buFont typeface="Wingdings" panose="05000000000000000000" pitchFamily="2" charset="2"/>
              <a:buChar char="Ø"/>
            </a:pPr>
            <a:r>
              <a:rPr lang="en-US" sz="4000" i="1" dirty="0">
                <a:effectLst/>
                <a:latin typeface="Times New Roman" panose="02020603050405020304" pitchFamily="18" charset="0"/>
                <a:ea typeface="Calibri" panose="020F0502020204030204" pitchFamily="34" charset="0"/>
              </a:rPr>
              <a:t>Two of my brothers married women that were taller than they were, and both marriages ended in divorce. So I will make sure that I don’t marry a woman that is taller than I am as it would be a recipe for divorce.</a:t>
            </a:r>
          </a:p>
          <a:p>
            <a:pPr marL="0" indent="0" algn="just">
              <a:buNone/>
            </a:pPr>
            <a:endParaRPr lang="en-US" sz="4000" i="1" dirty="0">
              <a:effectLst/>
              <a:latin typeface="Times New Roman" panose="02020603050405020304" pitchFamily="18" charset="0"/>
              <a:ea typeface="Calibri" panose="020F0502020204030204" pitchFamily="34" charset="0"/>
            </a:endParaRPr>
          </a:p>
          <a:p>
            <a:pPr marL="0" marR="0" lvl="0" indent="0" algn="just">
              <a:lnSpc>
                <a:spcPct val="150000"/>
              </a:lnSpc>
              <a:spcBef>
                <a:spcPts val="0"/>
              </a:spcBef>
              <a:spcAft>
                <a:spcPts val="0"/>
              </a:spcAft>
              <a:buNone/>
            </a:pPr>
            <a:r>
              <a:rPr lang="en-US" sz="4000" b="1" dirty="0">
                <a:effectLst/>
                <a:latin typeface="Times New Roman" panose="02020603050405020304" pitchFamily="18" charset="0"/>
                <a:ea typeface="Calibri" panose="020F0502020204030204" pitchFamily="34" charset="0"/>
                <a:cs typeface="Times New Roman" panose="02020603050405020304" pitchFamily="18" charset="0"/>
              </a:rPr>
              <a:t>2. Stereotype</a:t>
            </a:r>
            <a:endParaRPr lang="en-US" sz="40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0"/>
              </a:spcAft>
              <a:buFont typeface="Wingdings" panose="05000000000000000000" pitchFamily="2" charset="2"/>
              <a:buChar char="v"/>
            </a:pP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This is a particular kind of hasty generalization where you have a fixed idea about the characteristics of a particular group of people.</a:t>
            </a:r>
          </a:p>
          <a:p>
            <a:pPr marR="0" lvl="0" algn="just">
              <a:lnSpc>
                <a:spcPct val="150000"/>
              </a:lnSpc>
              <a:spcBef>
                <a:spcPts val="0"/>
              </a:spcBef>
              <a:spcAft>
                <a:spcPts val="0"/>
              </a:spcAft>
              <a:buFont typeface="Wingdings" panose="05000000000000000000" pitchFamily="2" charset="2"/>
              <a:buChar char="v"/>
            </a:pP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 In other words, you transfer the characteristics of an individual to an entire group to which that person belongs.</a:t>
            </a:r>
          </a:p>
          <a:p>
            <a:pPr marL="0" marR="0" lvl="0" indent="0" algn="just">
              <a:lnSpc>
                <a:spcPct val="150000"/>
              </a:lnSpc>
              <a:spcBef>
                <a:spcPts val="0"/>
              </a:spcBef>
              <a:spcAft>
                <a:spcPts val="0"/>
              </a:spcAft>
              <a:buNone/>
            </a:pPr>
            <a:endParaRPr lang="en-US" sz="40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gn="just">
              <a:lnSpc>
                <a:spcPct val="150000"/>
              </a:lnSpc>
              <a:spcBef>
                <a:spcPts val="0"/>
              </a:spcBef>
              <a:spcAft>
                <a:spcPts val="0"/>
              </a:spcAft>
              <a:buNone/>
            </a:pPr>
            <a:r>
              <a:rPr lang="en-US" sz="4000" b="1" dirty="0">
                <a:effectLst/>
                <a:latin typeface="Times New Roman" panose="02020603050405020304" pitchFamily="18" charset="0"/>
                <a:ea typeface="Calibri" panose="020F0502020204030204" pitchFamily="34" charset="0"/>
                <a:cs typeface="Times New Roman" panose="02020603050405020304" pitchFamily="18" charset="0"/>
              </a:rPr>
              <a:t>Example:</a:t>
            </a: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4000" i="1" dirty="0">
                <a:effectLst/>
                <a:latin typeface="Times New Roman" panose="02020603050405020304" pitchFamily="18" charset="0"/>
                <a:ea typeface="Calibri" panose="020F0502020204030204" pitchFamily="34" charset="0"/>
                <a:cs typeface="Times New Roman" panose="02020603050405020304" pitchFamily="18" charset="0"/>
              </a:rPr>
              <a:t>Henry, a </a:t>
            </a:r>
            <a:r>
              <a:rPr lang="en-US" sz="4000" i="1" dirty="0" err="1">
                <a:effectLst/>
                <a:latin typeface="Times New Roman" panose="02020603050405020304" pitchFamily="18" charset="0"/>
                <a:ea typeface="Calibri" panose="020F0502020204030204" pitchFamily="34" charset="0"/>
                <a:cs typeface="Times New Roman" panose="02020603050405020304" pitchFamily="18" charset="0"/>
              </a:rPr>
              <a:t>Lhomwe</a:t>
            </a:r>
            <a:r>
              <a:rPr lang="en-US" sz="4000" i="1" dirty="0">
                <a:effectLst/>
                <a:latin typeface="Times New Roman" panose="02020603050405020304" pitchFamily="18" charset="0"/>
                <a:ea typeface="Calibri" panose="020F0502020204030204" pitchFamily="34" charset="0"/>
                <a:cs typeface="Times New Roman" panose="02020603050405020304" pitchFamily="18" charset="0"/>
              </a:rPr>
              <a:t> man, who worked for a certain company embezzled K200 000 and 			disappeared. Now everybody at that company goes about saying that </a:t>
            </a:r>
            <a:r>
              <a:rPr lang="en-US" sz="4000" i="1" dirty="0" err="1">
                <a:effectLst/>
                <a:latin typeface="Times New Roman" panose="02020603050405020304" pitchFamily="18" charset="0"/>
                <a:ea typeface="Calibri" panose="020F0502020204030204" pitchFamily="34" charset="0"/>
                <a:cs typeface="Times New Roman" panose="02020603050405020304" pitchFamily="18" charset="0"/>
              </a:rPr>
              <a:t>Lhomwes</a:t>
            </a:r>
            <a:r>
              <a:rPr lang="en-US" sz="4000" i="1" dirty="0">
                <a:effectLst/>
                <a:latin typeface="Times New Roman" panose="02020603050405020304" pitchFamily="18" charset="0"/>
                <a:ea typeface="Calibri" panose="020F0502020204030204" pitchFamily="34" charset="0"/>
                <a:cs typeface="Times New Roman" panose="02020603050405020304" pitchFamily="18" charset="0"/>
              </a:rPr>
              <a:t> 			        	can’t be trusted.</a:t>
            </a:r>
            <a:endParaRPr lang="en-US" sz="40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1000"/>
              </a:spcAft>
              <a:buFont typeface="Wingdings" panose="05000000000000000000" pitchFamily="2" charset="2"/>
              <a:buChar char="v"/>
            </a:pPr>
            <a:endParaRPr lang="en-US" sz="4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090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F27AD1-2B21-46DE-81F4-E63C758AE4E0}"/>
              </a:ext>
            </a:extLst>
          </p:cNvPr>
          <p:cNvSpPr>
            <a:spLocks noGrp="1"/>
          </p:cNvSpPr>
          <p:nvPr>
            <p:ph idx="1"/>
          </p:nvPr>
        </p:nvSpPr>
        <p:spPr>
          <a:xfrm>
            <a:off x="0" y="0"/>
            <a:ext cx="12192000" cy="6858000"/>
          </a:xfrm>
        </p:spPr>
        <p:txBody>
          <a:bodyPr>
            <a:normAutofit lnSpcReduction="10000"/>
          </a:bodyPr>
          <a:lstStyle/>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On the basis of one bad experience, it is an error to generalize about the entire group of people. It may be that only Henry is untrustworthy. The correct thing is to see each person as an individual human being.</a:t>
            </a:r>
          </a:p>
          <a:p>
            <a:pPr marL="0" indent="0">
              <a:buNone/>
            </a:pPr>
            <a:r>
              <a:rPr lang="en-US" b="1" dirty="0">
                <a:latin typeface="Times New Roman" panose="02020603050405020304" pitchFamily="18" charset="0"/>
                <a:cs typeface="Times New Roman" panose="02020603050405020304" pitchFamily="18" charset="0"/>
              </a:rPr>
              <a:t>3. Dependency on unqualified authority</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When you cannot gather evidence for yourself, the authority on whom you rely for your argument should be unbiased expert in that particular field. </a:t>
            </a:r>
          </a:p>
          <a:p>
            <a:pPr>
              <a:buFont typeface="Wingdings" panose="05000000000000000000" pitchFamily="2" charset="2"/>
              <a:buChar char="v"/>
            </a:pPr>
            <a:r>
              <a:rPr lang="en-US" i="1" dirty="0">
                <a:latin typeface="Times New Roman" panose="02020603050405020304" pitchFamily="18" charset="0"/>
                <a:cs typeface="Times New Roman" panose="02020603050405020304" pitchFamily="18" charset="0"/>
              </a:rPr>
              <a:t>Example:</a:t>
            </a:r>
          </a:p>
          <a:p>
            <a:pPr marL="0" indent="0">
              <a:buNone/>
            </a:pPr>
            <a:r>
              <a:rPr lang="en-US" dirty="0">
                <a:latin typeface="Times New Roman" panose="02020603050405020304" pitchFamily="18" charset="0"/>
                <a:cs typeface="Times New Roman" panose="02020603050405020304" pitchFamily="18" charset="0"/>
              </a:rPr>
              <a:t>      a.	</a:t>
            </a:r>
            <a:r>
              <a:rPr lang="en-US" i="1" dirty="0">
                <a:latin typeface="Times New Roman" panose="02020603050405020304" pitchFamily="18" charset="0"/>
                <a:cs typeface="Times New Roman" panose="02020603050405020304" pitchFamily="18" charset="0"/>
              </a:rPr>
              <a:t>It would be an error in reasoning to consult a politician’s son in-law on his 	father in-law’s performance in Parliament as leader of opposition even if the 	son in-law is a professor of political science in a university. </a:t>
            </a:r>
          </a:p>
          <a:p>
            <a:pPr marL="0" indent="0">
              <a:buNone/>
            </a:pPr>
            <a:r>
              <a:rPr lang="en-US" i="1" dirty="0">
                <a:latin typeface="Times New Roman" panose="02020603050405020304" pitchFamily="18" charset="0"/>
                <a:cs typeface="Times New Roman" panose="02020603050405020304" pitchFamily="18" charset="0"/>
              </a:rPr>
              <a:t>     b.	My friend is a qualified medical doctor and he says the global recession will 	have ended by 2020.</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In the first example, there is an element of conflict of interest, so we may not depend on the son in-law for information. </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In the second example the medical doctor is not competent to talk about economic recession.</a:t>
            </a: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17277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2AC35E-32C3-4BB6-9AFB-747CD3B79624}"/>
              </a:ext>
            </a:extLst>
          </p:cNvPr>
          <p:cNvSpPr>
            <a:spLocks noGrp="1"/>
          </p:cNvSpPr>
          <p:nvPr>
            <p:ph idx="1"/>
          </p:nvPr>
        </p:nvSpPr>
        <p:spPr>
          <a:xfrm>
            <a:off x="0" y="0"/>
            <a:ext cx="12192000" cy="6858000"/>
          </a:xfrm>
        </p:spPr>
        <p:txBody>
          <a:bodyPr>
            <a:normAutofit fontScale="92500"/>
          </a:bodyPr>
          <a:lstStyle/>
          <a:p>
            <a:pPr marL="0" marR="0" lvl="0" indent="0" algn="just">
              <a:lnSpc>
                <a:spcPct val="150000"/>
              </a:lnSpc>
              <a:spcBef>
                <a:spcPts val="0"/>
              </a:spcBef>
              <a:spcAft>
                <a:spcPts val="0"/>
              </a:spcAft>
              <a:buNone/>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4. False analogy</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A false analogy is a comparison in which two dissimilar things are shown to have something in common. </a:t>
            </a:r>
          </a:p>
          <a:p>
            <a:pPr marL="0" marR="0" lvl="0" indent="0" algn="just">
              <a:lnSpc>
                <a:spcPct val="150000"/>
              </a:lnSpc>
              <a:spcBef>
                <a:spcPts val="0"/>
              </a:spcBef>
              <a:spcAft>
                <a:spcPts val="0"/>
              </a:spcAft>
              <a:buNone/>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Example:</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685800" marR="0" indent="-457200" algn="just">
              <a:lnSpc>
                <a:spcPct val="150000"/>
              </a:lnSpc>
              <a:spcBef>
                <a:spcPts val="0"/>
              </a:spcBef>
              <a:spcAft>
                <a:spcPts val="0"/>
              </a:spcAft>
              <a:buFont typeface="Wingdings" panose="05000000000000000000" pitchFamily="2" charset="2"/>
              <a:buChar char="Ø"/>
            </a:pPr>
            <a:r>
              <a:rPr lang="en-US" sz="2800" i="1" dirty="0">
                <a:effectLst/>
                <a:latin typeface="Times New Roman" panose="02020603050405020304" pitchFamily="18" charset="0"/>
                <a:ea typeface="Calibri" panose="020F0502020204030204" pitchFamily="34" charset="0"/>
                <a:cs typeface="Times New Roman" panose="02020603050405020304" pitchFamily="18" charset="0"/>
              </a:rPr>
              <a:t>Being a parent is like having a full-time job. The responsibilities are enormous and doing 	a good job requires a tremendous amount of time, energy and experience. Therefore parents    should be paid by the government for caring for their children.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0"/>
              </a:spcAft>
              <a:buFont typeface="Wingdings" panose="05000000000000000000" pitchFamily="2" charset="2"/>
              <a:buChar char="v"/>
            </a:pP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This analogy makes a false comparison because being a parent is not like having a full time job. One is hired for a full time job and one can resign from a full time job. Neither of these is true of being a parent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gn="just">
              <a:lnSpc>
                <a:spcPct val="150000"/>
              </a:lnSpc>
              <a:spcBef>
                <a:spcPts val="0"/>
              </a:spcBef>
              <a:spcAft>
                <a:spcPts val="1000"/>
              </a:spcAft>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78969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808047-DCB3-481F-A159-DE1B30C56A98}"/>
              </a:ext>
            </a:extLst>
          </p:cNvPr>
          <p:cNvSpPr>
            <a:spLocks noGrp="1"/>
          </p:cNvSpPr>
          <p:nvPr>
            <p:ph idx="1"/>
          </p:nvPr>
        </p:nvSpPr>
        <p:spPr>
          <a:xfrm>
            <a:off x="0" y="0"/>
            <a:ext cx="12192000" cy="6858000"/>
          </a:xfrm>
        </p:spPr>
        <p:txBody>
          <a:bodyPr>
            <a:normAutofit fontScale="85000" lnSpcReduction="20000"/>
          </a:bodyPr>
          <a:lstStyle/>
          <a:p>
            <a:pPr marL="0" indent="0">
              <a:buNone/>
            </a:pPr>
            <a:r>
              <a:rPr lang="en-US" b="1" dirty="0">
                <a:latin typeface="Times New Roman" panose="02020603050405020304" pitchFamily="18" charset="0"/>
                <a:cs typeface="Times New Roman" panose="02020603050405020304" pitchFamily="18" charset="0"/>
              </a:rPr>
              <a:t>5. Cause-and-effect fallacies</a:t>
            </a:r>
          </a:p>
          <a:p>
            <a:pPr marL="0" indent="0">
              <a:buNone/>
            </a:pP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a.	Post  hoc fallacy </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This is based on coincidence. </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fact that one thing happened soon after or at the same time as another does not mean that the first thing was the cause of the second. It was just a coincidence. </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Latin name for this fallacy is </a:t>
            </a:r>
            <a:r>
              <a:rPr lang="en-US" b="1" i="1" dirty="0">
                <a:latin typeface="Times New Roman" panose="02020603050405020304" pitchFamily="18" charset="0"/>
                <a:cs typeface="Times New Roman" panose="02020603050405020304" pitchFamily="18" charset="0"/>
              </a:rPr>
              <a:t>post hoc, ego propter hoc </a:t>
            </a:r>
            <a:r>
              <a:rPr lang="en-US" dirty="0">
                <a:latin typeface="Times New Roman" panose="02020603050405020304" pitchFamily="18" charset="0"/>
                <a:cs typeface="Times New Roman" panose="02020603050405020304" pitchFamily="18" charset="0"/>
              </a:rPr>
              <a:t>which means “after this, therefore because of this”. </a:t>
            </a:r>
          </a:p>
          <a:p>
            <a:pPr marL="0" indent="0">
              <a:buNone/>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b="1" i="1"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Evidence:</a:t>
            </a:r>
            <a:r>
              <a:rPr lang="en-US" dirty="0">
                <a:latin typeface="Times New Roman" panose="02020603050405020304" pitchFamily="18" charset="0"/>
                <a:cs typeface="Times New Roman" panose="02020603050405020304" pitchFamily="18" charset="0"/>
              </a:rPr>
              <a:t>	  Yesterday morning it rained</a:t>
            </a:r>
          </a:p>
          <a:p>
            <a:pPr marL="0" indent="0">
              <a:buNone/>
            </a:pPr>
            <a:r>
              <a:rPr lang="en-US" dirty="0">
                <a:latin typeface="Times New Roman" panose="02020603050405020304" pitchFamily="18" charset="0"/>
                <a:cs typeface="Times New Roman" panose="02020603050405020304" pitchFamily="18" charset="0"/>
              </a:rPr>
              <a:t>		  Yesterday afternoon I failed my Mathematics test</a:t>
            </a:r>
          </a:p>
          <a:p>
            <a:pPr marL="0" indent="0">
              <a:buNone/>
            </a:pP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Conclusion:  </a:t>
            </a:r>
            <a:r>
              <a:rPr lang="en-US" dirty="0">
                <a:latin typeface="Times New Roman" panose="02020603050405020304" pitchFamily="18" charset="0"/>
                <a:cs typeface="Times New Roman" panose="02020603050405020304" pitchFamily="18" charset="0"/>
              </a:rPr>
              <a:t>I failed my Mathematics test yesterday because it rained</a:t>
            </a:r>
          </a:p>
          <a:p>
            <a:pPr marL="0" indent="0">
              <a:buNone/>
            </a:pP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	</a:t>
            </a:r>
          </a:p>
          <a:p>
            <a:pPr marL="0" indent="0">
              <a:buNone/>
            </a:pPr>
            <a:endParaRPr lang="en-US" i="1" dirty="0">
              <a:latin typeface="Times New Roman" panose="02020603050405020304" pitchFamily="18" charset="0"/>
              <a:cs typeface="Times New Roman" panose="02020603050405020304" pitchFamily="18" charset="0"/>
            </a:endParaRPr>
          </a:p>
          <a:p>
            <a:pPr marL="0" indent="0">
              <a:buNone/>
            </a:pPr>
            <a:r>
              <a:rPr lang="en-US" i="1" dirty="0">
                <a:latin typeface="Times New Roman" panose="02020603050405020304" pitchFamily="18" charset="0"/>
                <a:cs typeface="Times New Roman" panose="02020603050405020304" pitchFamily="18" charset="0"/>
              </a:rPr>
              <a:t>    b. Only-cause fallacy</a:t>
            </a: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This is when one claims to have a simple solution to a complex issue. For example, it is wrong saying that a single thing causes wars, crimes, economic problems. All these can be caused by different things.</a:t>
            </a: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65062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997E9E-A740-4E0C-AD31-1B54999ED645}"/>
              </a:ext>
            </a:extLst>
          </p:cNvPr>
          <p:cNvSpPr>
            <a:spLocks noGrp="1"/>
          </p:cNvSpPr>
          <p:nvPr>
            <p:ph idx="1"/>
          </p:nvPr>
        </p:nvSpPr>
        <p:spPr>
          <a:xfrm>
            <a:off x="0" y="0"/>
            <a:ext cx="12192000" cy="6858000"/>
          </a:xfrm>
        </p:spPr>
        <p:txBody>
          <a:bodyPr/>
          <a:lstStyle/>
          <a:p>
            <a:pPr marL="0" indent="0">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6. Begging the question (circular thinking)</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This is when reasons are not given to support the conclusion. Instead, the conclusion is merely a rephrasing of the initial statement.</a:t>
            </a:r>
          </a:p>
          <a:p>
            <a:pPr>
              <a:buFont typeface="Wingdings" panose="05000000000000000000" pitchFamily="2" charset="2"/>
              <a:buChar char="v"/>
            </a:pPr>
            <a:r>
              <a:rPr lang="en-US" i="1" dirty="0">
                <a:latin typeface="Times New Roman" panose="02020603050405020304" pitchFamily="18" charset="0"/>
                <a:cs typeface="Times New Roman" panose="02020603050405020304" pitchFamily="18" charset="0"/>
              </a:rPr>
              <a:t>Example: </a:t>
            </a:r>
          </a:p>
          <a:p>
            <a:pPr marL="0" indent="0">
              <a:buNone/>
            </a:pPr>
            <a:r>
              <a:rPr lang="en-US" dirty="0">
                <a:latin typeface="Times New Roman" panose="02020603050405020304" pitchFamily="18" charset="0"/>
                <a:cs typeface="Times New Roman" panose="02020603050405020304" pitchFamily="18" charset="0"/>
              </a:rPr>
              <a:t>     Henry is the best candidate for president of the students union because he is   </a:t>
            </a:r>
          </a:p>
          <a:p>
            <a:pPr marL="0" indent="0">
              <a:buNone/>
            </a:pPr>
            <a:r>
              <a:rPr lang="en-US" dirty="0">
                <a:latin typeface="Times New Roman" panose="02020603050405020304" pitchFamily="18" charset="0"/>
                <a:cs typeface="Times New Roman" panose="02020603050405020304" pitchFamily="18" charset="0"/>
              </a:rPr>
              <a:t>      better than all the other candidates.</a:t>
            </a: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      7.	Faulty premise</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In deductive reasoning (i.e. reasoning that moves from a general statement to a specific conclusion), the conclusion will not be valid if it is based on a faulty major premise of a syllogism (a three-part form of reasoning consisting of a major premise, minor premise and conclusion).</a:t>
            </a: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37458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AF4332-046B-419C-A11F-C93F6E623449}"/>
              </a:ext>
            </a:extLst>
          </p:cNvPr>
          <p:cNvSpPr>
            <a:spLocks noGrp="1"/>
          </p:cNvSpPr>
          <p:nvPr>
            <p:ph idx="1"/>
          </p:nvPr>
        </p:nvSpPr>
        <p:spPr>
          <a:xfrm>
            <a:off x="0" y="0"/>
            <a:ext cx="12192000" cy="6858000"/>
          </a:xfrm>
        </p:spPr>
        <p:txBody>
          <a:bodyPr/>
          <a:lstStyle/>
          <a:p>
            <a:pPr marL="0" indent="0">
              <a:buNone/>
            </a:pPr>
            <a:r>
              <a:rPr lang="en-US" b="1" dirty="0">
                <a:latin typeface="Times New Roman" panose="02020603050405020304" pitchFamily="18" charset="0"/>
                <a:cs typeface="Times New Roman" panose="02020603050405020304" pitchFamily="18" charset="0"/>
              </a:rPr>
              <a:t>Example:</a:t>
            </a:r>
          </a:p>
          <a:p>
            <a:pPr marL="0" indent="0">
              <a:buNone/>
            </a:pP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Major premise:</a:t>
            </a:r>
            <a:r>
              <a:rPr lang="en-US" dirty="0">
                <a:latin typeface="Times New Roman" panose="02020603050405020304" pitchFamily="18" charset="0"/>
                <a:cs typeface="Times New Roman" panose="02020603050405020304" pitchFamily="18" charset="0"/>
              </a:rPr>
              <a:t>	All snakes are poisonous</a:t>
            </a:r>
          </a:p>
          <a:p>
            <a:pPr marL="0" indent="0">
              <a:buNone/>
            </a:pP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Minor premise:</a:t>
            </a:r>
            <a:r>
              <a:rPr lang="en-US" dirty="0">
                <a:latin typeface="Times New Roman" panose="02020603050405020304" pitchFamily="18" charset="0"/>
                <a:cs typeface="Times New Roman" panose="02020603050405020304" pitchFamily="18" charset="0"/>
              </a:rPr>
              <a:t>	A python is a snake</a:t>
            </a:r>
          </a:p>
          <a:p>
            <a:pPr marL="0" indent="0">
              <a:buNone/>
            </a:pPr>
            <a:r>
              <a:rPr lang="en-US" dirty="0">
                <a:latin typeface="Times New Roman" panose="02020603050405020304" pitchFamily="18" charset="0"/>
                <a:cs typeface="Times New Roman" panose="02020603050405020304" pitchFamily="18" charset="0"/>
              </a:rPr>
              <a:t>	Conclusion:	          A python is a poisonous snake</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 major premise is faulty if it contains a limiting word such as some, many, all. </a:t>
            </a: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In the above example, the major premise is wrong because not all snakes are poisonous, and it also follows that the conclusion is invalid.</a:t>
            </a:r>
          </a:p>
          <a:p>
            <a:pPr marL="0" indent="0">
              <a:buNone/>
            </a:pP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Major premise: </a:t>
            </a:r>
            <a:r>
              <a:rPr lang="en-US" dirty="0">
                <a:latin typeface="Times New Roman" panose="02020603050405020304" pitchFamily="18" charset="0"/>
                <a:cs typeface="Times New Roman" panose="02020603050405020304" pitchFamily="18" charset="0"/>
              </a:rPr>
              <a:t>Many teenagers don’t respect their parents</a:t>
            </a:r>
          </a:p>
          <a:p>
            <a:pPr marL="0" indent="0">
              <a:buNone/>
            </a:pP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Minor premise</a:t>
            </a:r>
            <a:r>
              <a:rPr lang="en-US" dirty="0">
                <a:latin typeface="Times New Roman" panose="02020603050405020304" pitchFamily="18" charset="0"/>
                <a:cs typeface="Times New Roman" panose="02020603050405020304" pitchFamily="18" charset="0"/>
              </a:rPr>
              <a:t>: Mary is a teenager</a:t>
            </a:r>
          </a:p>
          <a:p>
            <a:pPr marL="0" indent="0">
              <a:buNone/>
            </a:pPr>
            <a:r>
              <a:rPr lang="en-US" dirty="0">
                <a:latin typeface="Times New Roman" panose="02020603050405020304" pitchFamily="18" charset="0"/>
                <a:cs typeface="Times New Roman" panose="02020603050405020304" pitchFamily="18" charset="0"/>
              </a:rPr>
              <a:t>	</a:t>
            </a:r>
            <a:r>
              <a:rPr lang="en-US" b="1" i="1" dirty="0">
                <a:latin typeface="Times New Roman" panose="02020603050405020304" pitchFamily="18" charset="0"/>
                <a:cs typeface="Times New Roman" panose="02020603050405020304" pitchFamily="18" charset="0"/>
              </a:rPr>
              <a:t>Conclusion:</a:t>
            </a:r>
            <a:r>
              <a:rPr lang="en-US" dirty="0">
                <a:latin typeface="Times New Roman" panose="02020603050405020304" pitchFamily="18" charset="0"/>
                <a:cs typeface="Times New Roman" panose="02020603050405020304" pitchFamily="18" charset="0"/>
              </a:rPr>
              <a:t>	Mary does not respect her parents</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9360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E22834-D0DA-40BC-BE00-1899BCDEA38C}"/>
              </a:ext>
            </a:extLst>
          </p:cNvPr>
          <p:cNvSpPr>
            <a:spLocks noGrp="1"/>
          </p:cNvSpPr>
          <p:nvPr>
            <p:ph idx="1"/>
          </p:nvPr>
        </p:nvSpPr>
        <p:spPr>
          <a:xfrm>
            <a:off x="0" y="0"/>
            <a:ext cx="12192000" cy="6858000"/>
          </a:xfrm>
        </p:spPr>
        <p:txBody>
          <a:bodyPr/>
          <a:lstStyle/>
          <a:p>
            <a:pPr marL="0" marR="0" lvl="0" indent="0" algn="just">
              <a:lnSpc>
                <a:spcPct val="150000"/>
              </a:lnSpc>
              <a:spcBef>
                <a:spcPts val="0"/>
              </a:spcBef>
              <a:spcAft>
                <a:spcPts val="0"/>
              </a:spcAft>
              <a:buNone/>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      8.  Attacking the person and not the issue fallacy (ad hominem)</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This is when a speaker or writer attacks the person who offers the argument rather than addressing the issue itself.</a:t>
            </a: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0"/>
              </a:spcAft>
              <a:buFont typeface="Wingdings" panose="05000000000000000000" pitchFamily="2" charset="2"/>
              <a:buChar char="v"/>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Example:</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685800" marR="0" indent="-457200" algn="just">
              <a:lnSpc>
                <a:spcPct val="150000"/>
              </a:lnSpc>
              <a:spcBef>
                <a:spcPts val="0"/>
              </a:spcBef>
              <a:spcAft>
                <a:spcPts val="0"/>
              </a:spcAft>
              <a:buFont typeface="Wingdings" panose="05000000000000000000" pitchFamily="2" charset="2"/>
              <a:buChar char="Ø"/>
            </a:pPr>
            <a:r>
              <a:rPr lang="en-US" sz="2800" i="1" dirty="0">
                <a:effectLst/>
                <a:latin typeface="Times New Roman" panose="02020603050405020304" pitchFamily="18" charset="0"/>
                <a:ea typeface="Calibri" panose="020F0502020204030204" pitchFamily="34" charset="0"/>
                <a:cs typeface="Times New Roman" panose="02020603050405020304" pitchFamily="18" charset="0"/>
              </a:rPr>
              <a:t>It would be a mistake to take </a:t>
            </a:r>
            <a:r>
              <a:rPr lang="en-US" sz="2800" i="1" dirty="0" err="1">
                <a:effectLst/>
                <a:latin typeface="Times New Roman" panose="02020603050405020304" pitchFamily="18" charset="0"/>
                <a:ea typeface="Calibri" panose="020F0502020204030204" pitchFamily="34" charset="0"/>
                <a:cs typeface="Times New Roman" panose="02020603050405020304" pitchFamily="18" charset="0"/>
              </a:rPr>
              <a:t>Ms</a:t>
            </a:r>
            <a:r>
              <a:rPr lang="en-US" sz="2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800" i="1" dirty="0" err="1">
                <a:effectLst/>
                <a:latin typeface="Times New Roman" panose="02020603050405020304" pitchFamily="18" charset="0"/>
                <a:ea typeface="Calibri" panose="020F0502020204030204" pitchFamily="34" charset="0"/>
                <a:cs typeface="Times New Roman" panose="02020603050405020304" pitchFamily="18" charset="0"/>
              </a:rPr>
              <a:t>Msosa’s</a:t>
            </a:r>
            <a:r>
              <a:rPr lang="en-US" sz="2800" i="1" dirty="0">
                <a:effectLst/>
                <a:latin typeface="Times New Roman" panose="02020603050405020304" pitchFamily="18" charset="0"/>
                <a:ea typeface="Calibri" panose="020F0502020204030204" pitchFamily="34" charset="0"/>
                <a:cs typeface="Times New Roman" panose="02020603050405020304" pitchFamily="18" charset="0"/>
              </a:rPr>
              <a:t> objection to </a:t>
            </a:r>
            <a:r>
              <a:rPr lang="en-US" sz="2800" i="1" dirty="0" err="1">
                <a:effectLst/>
                <a:latin typeface="Times New Roman" panose="02020603050405020304" pitchFamily="18" charset="0"/>
                <a:ea typeface="Calibri" panose="020F0502020204030204" pitchFamily="34" charset="0"/>
                <a:cs typeface="Times New Roman" panose="02020603050405020304" pitchFamily="18" charset="0"/>
              </a:rPr>
              <a:t>Mr</a:t>
            </a:r>
            <a:r>
              <a:rPr lang="en-US" sz="2800" i="1" dirty="0">
                <a:effectLst/>
                <a:latin typeface="Times New Roman" panose="02020603050405020304" pitchFamily="18" charset="0"/>
                <a:ea typeface="Calibri" panose="020F0502020204030204" pitchFamily="34" charset="0"/>
                <a:cs typeface="Times New Roman" panose="02020603050405020304" pitchFamily="18" charset="0"/>
              </a:rPr>
              <a:t> Hara’s candidacy seriously. </a:t>
            </a:r>
            <a:r>
              <a:rPr lang="en-US" sz="2800" i="1" dirty="0" err="1">
                <a:effectLst/>
                <a:latin typeface="Times New Roman" panose="02020603050405020304" pitchFamily="18" charset="0"/>
                <a:ea typeface="Calibri" panose="020F0502020204030204" pitchFamily="34" charset="0"/>
                <a:cs typeface="Times New Roman" panose="02020603050405020304" pitchFamily="18" charset="0"/>
              </a:rPr>
              <a:t>Ms</a:t>
            </a:r>
            <a:r>
              <a:rPr lang="en-US" sz="28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800" i="1" dirty="0" err="1">
                <a:effectLst/>
                <a:latin typeface="Times New Roman" panose="02020603050405020304" pitchFamily="18" charset="0"/>
                <a:ea typeface="Calibri" panose="020F0502020204030204" pitchFamily="34" charset="0"/>
                <a:cs typeface="Times New Roman" panose="02020603050405020304" pitchFamily="18" charset="0"/>
              </a:rPr>
              <a:t>Msosa</a:t>
            </a:r>
            <a:r>
              <a:rPr lang="en-US" sz="2800" i="1" dirty="0">
                <a:effectLst/>
                <a:latin typeface="Times New Roman" panose="02020603050405020304" pitchFamily="18" charset="0"/>
                <a:ea typeface="Calibri" panose="020F0502020204030204" pitchFamily="34" charset="0"/>
                <a:cs typeface="Times New Roman" panose="02020603050405020304" pitchFamily="18" charset="0"/>
              </a:rPr>
              <a:t> is a recent divorcee, so she is naturally anti-men.</a:t>
            </a:r>
            <a:endParaRPr lang="en-US" sz="2400" i="1" dirty="0">
              <a:latin typeface="Calibri" panose="020F0502020204030204" pitchFamily="34" charset="0"/>
              <a:ea typeface="Calibri" panose="020F0502020204030204" pitchFamily="34" charset="0"/>
              <a:cs typeface="Times New Roman" panose="02020603050405020304" pitchFamily="18" charset="0"/>
            </a:endParaRPr>
          </a:p>
          <a:p>
            <a:pPr marL="685800" marR="0" indent="-457200" algn="just">
              <a:lnSpc>
                <a:spcPct val="150000"/>
              </a:lnSpc>
              <a:spcBef>
                <a:spcPts val="0"/>
              </a:spcBef>
              <a:spcAft>
                <a:spcPts val="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In the above example, </a:t>
            </a:r>
            <a:r>
              <a:rPr lang="en-US" sz="2800" dirty="0" err="1">
                <a:effectLst/>
                <a:latin typeface="Times New Roman" panose="02020603050405020304" pitchFamily="18" charset="0"/>
                <a:ea typeface="Calibri" panose="020F0502020204030204" pitchFamily="34" charset="0"/>
                <a:cs typeface="Times New Roman" panose="02020603050405020304" pitchFamily="18" charset="0"/>
              </a:rPr>
              <a:t>Ms</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a:effectLst/>
                <a:latin typeface="Times New Roman" panose="02020603050405020304" pitchFamily="18" charset="0"/>
                <a:ea typeface="Calibri" panose="020F0502020204030204" pitchFamily="34" charset="0"/>
                <a:cs typeface="Times New Roman" panose="02020603050405020304" pitchFamily="18" charset="0"/>
              </a:rPr>
              <a:t>Msosa</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is being attacked because she was recently divorced. Instead of looking at the merit of what she is saying, the statement is attacking her personality.</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8855824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B34668-7DC6-48EC-8B45-0DB810BB574B}"/>
              </a:ext>
            </a:extLst>
          </p:cNvPr>
          <p:cNvSpPr>
            <a:spLocks noGrp="1"/>
          </p:cNvSpPr>
          <p:nvPr>
            <p:ph idx="1"/>
          </p:nvPr>
        </p:nvSpPr>
        <p:spPr>
          <a:xfrm>
            <a:off x="0" y="0"/>
            <a:ext cx="12192000" cy="6858000"/>
          </a:xfrm>
        </p:spPr>
        <p:txBody>
          <a:bodyPr/>
          <a:lstStyle/>
          <a:p>
            <a:pPr marL="0" indent="0">
              <a:buNone/>
            </a:pPr>
            <a:r>
              <a:rPr lang="en-US" b="1" dirty="0">
                <a:latin typeface="Times New Roman" panose="02020603050405020304" pitchFamily="18" charset="0"/>
                <a:cs typeface="Times New Roman" panose="02020603050405020304" pitchFamily="18" charset="0"/>
              </a:rPr>
              <a:t>     9.	Either or fallacy (false dilemma)</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This is when a speaker or writer offers only two options for dealing with a situation, ignoring other possible options.</a:t>
            </a:r>
          </a:p>
          <a:p>
            <a:pPr>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Mzuzu prison is badly overcrowded. Either the government must extend the prison or at least 25 percent of the inmates must be released by the president during this year’s independence anniversary. </a:t>
            </a:r>
          </a:p>
          <a:p>
            <a:pPr marL="0" indent="0" algn="just">
              <a:buNone/>
            </a:pPr>
            <a:r>
              <a:rPr lang="en-US" dirty="0">
                <a:latin typeface="Times New Roman" panose="02020603050405020304" pitchFamily="18" charset="0"/>
                <a:cs typeface="Times New Roman" panose="02020603050405020304" pitchFamily="18" charset="0"/>
              </a:rPr>
              <a:t>	</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1618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668A77-4E46-42ED-AE7C-2F36ED2C3F91}"/>
              </a:ext>
            </a:extLst>
          </p:cNvPr>
          <p:cNvSpPr>
            <a:spLocks noGrp="1"/>
          </p:cNvSpPr>
          <p:nvPr>
            <p:ph idx="1"/>
          </p:nvPr>
        </p:nvSpPr>
        <p:spPr>
          <a:xfrm>
            <a:off x="0" y="0"/>
            <a:ext cx="12192000" cy="6858000"/>
          </a:xfrm>
        </p:spPr>
        <p:txBody>
          <a:bodyPr/>
          <a:lstStyle/>
          <a:p>
            <a:pPr marL="0" marR="0" lvl="0" indent="0" algn="just">
              <a:lnSpc>
                <a:spcPct val="150000"/>
              </a:lnSpc>
              <a:spcBef>
                <a:spcPts val="0"/>
              </a:spcBef>
              <a:spcAft>
                <a:spcPts val="0"/>
              </a:spcAft>
              <a:buNone/>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10. Appeal to tradition</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This occurs when it is assumed that something is better or correct simply because it is older, traditional or that it has always been done that way.</a:t>
            </a: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0"/>
              </a:spcAft>
              <a:buFont typeface="Wingdings" panose="05000000000000000000" pitchFamily="2" charset="2"/>
              <a:buChar char="v"/>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Example:</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685800" marR="0" indent="-457200" algn="just">
              <a:lnSpc>
                <a:spcPct val="150000"/>
              </a:lnSpc>
              <a:spcBef>
                <a:spcPts val="0"/>
              </a:spcBef>
              <a:spcAft>
                <a:spcPts val="1000"/>
              </a:spcAft>
              <a:buFont typeface="Wingdings" panose="05000000000000000000" pitchFamily="2" charset="2"/>
              <a:buChar char="Ø"/>
            </a:pPr>
            <a:r>
              <a:rPr lang="en-US" sz="2800" i="1" dirty="0">
                <a:effectLst/>
                <a:latin typeface="Times New Roman" panose="02020603050405020304" pitchFamily="18" charset="0"/>
                <a:ea typeface="Calibri" panose="020F0502020204030204" pitchFamily="34" charset="0"/>
                <a:cs typeface="Times New Roman" panose="02020603050405020304" pitchFamily="18" charset="0"/>
              </a:rPr>
              <a:t>Dictatorship is the best system of government. We have had this system of government for 50 years and no one has talked about changing it in all that time. After all, why else would it last long?</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11239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8A05C7-32C0-4779-96F1-9C582F45308C}"/>
              </a:ext>
            </a:extLst>
          </p:cNvPr>
          <p:cNvSpPr>
            <a:spLocks noGrp="1"/>
          </p:cNvSpPr>
          <p:nvPr>
            <p:ph idx="1"/>
          </p:nvPr>
        </p:nvSpPr>
        <p:spPr>
          <a:xfrm>
            <a:off x="0" y="0"/>
            <a:ext cx="12192000" cy="6858000"/>
          </a:xfrm>
        </p:spPr>
        <p:txBody>
          <a:bodyPr/>
          <a:lstStyle/>
          <a:p>
            <a:pPr marL="0" marR="0" lvl="0" indent="0" algn="just">
              <a:lnSpc>
                <a:spcPct val="150000"/>
              </a:lnSpc>
              <a:spcBef>
                <a:spcPts val="0"/>
              </a:spcBef>
              <a:spcAft>
                <a:spcPts val="0"/>
              </a:spcAft>
              <a:buNone/>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11.  Appeal to pity (Ad Misericordiam)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This is when a person substitutes a claim intended to create pity for evidence in an argument. </a:t>
            </a: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0"/>
              </a:spcAft>
              <a:buFont typeface="Wingdings" panose="05000000000000000000" pitchFamily="2" charset="2"/>
              <a:buChar char="v"/>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Example:</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0"/>
              </a:spcAft>
              <a:buFont typeface="Wingdings" panose="05000000000000000000" pitchFamily="2" charset="2"/>
              <a:buChar char="Ø"/>
            </a:pPr>
            <a:r>
              <a:rPr lang="en-US" i="1" dirty="0">
                <a:latin typeface="Times New Roman" panose="02020603050405020304" pitchFamily="18" charset="0"/>
                <a:ea typeface="Calibri" panose="020F0502020204030204" pitchFamily="34" charset="0"/>
                <a:cs typeface="Times New Roman" panose="02020603050405020304" pitchFamily="18" charset="0"/>
              </a:rPr>
              <a:t>     </a:t>
            </a:r>
            <a:r>
              <a:rPr lang="en-US" sz="2800" i="1" dirty="0">
                <a:effectLst/>
                <a:latin typeface="Times New Roman" panose="02020603050405020304" pitchFamily="18" charset="0"/>
                <a:ea typeface="Calibri" panose="020F0502020204030204" pitchFamily="34" charset="0"/>
                <a:cs typeface="Times New Roman" panose="02020603050405020304" pitchFamily="18" charset="0"/>
              </a:rPr>
              <a:t> I’m positive that my application will meet your requirements. I really need the 	job since my mother is sick.</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1000"/>
              </a:spcAft>
              <a:buFont typeface="Wingdings" panose="05000000000000000000" pitchFamily="2" charset="2"/>
              <a:buChar char="Ø"/>
            </a:pPr>
            <a:r>
              <a:rPr lang="en-US" i="1" dirty="0">
                <a:latin typeface="Times New Roman" panose="02020603050405020304" pitchFamily="18" charset="0"/>
                <a:ea typeface="Calibri" panose="020F0502020204030204" pitchFamily="34" charset="0"/>
                <a:cs typeface="Times New Roman" panose="02020603050405020304" pitchFamily="18" charset="0"/>
              </a:rPr>
              <a:t>     </a:t>
            </a:r>
            <a:r>
              <a:rPr lang="en-US" sz="2800" i="1" dirty="0">
                <a:effectLst/>
                <a:latin typeface="Times New Roman" panose="02020603050405020304" pitchFamily="18" charset="0"/>
                <a:ea typeface="Calibri" panose="020F0502020204030204" pitchFamily="34" charset="0"/>
                <a:cs typeface="Times New Roman" panose="02020603050405020304" pitchFamily="18" charset="0"/>
              </a:rPr>
              <a:t> I should receive an ‘A’ in this class. After all if I do not get an ‘A’ I will not get 	the scholarship I want.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1088165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3ED7A7-5643-4514-8838-8F5117CD9500}"/>
              </a:ext>
            </a:extLst>
          </p:cNvPr>
          <p:cNvSpPr>
            <a:spLocks noGrp="1"/>
          </p:cNvSpPr>
          <p:nvPr>
            <p:ph idx="1"/>
          </p:nvPr>
        </p:nvSpPr>
        <p:spPr>
          <a:xfrm>
            <a:off x="0" y="0"/>
            <a:ext cx="12192000" cy="6858000"/>
          </a:xfrm>
        </p:spPr>
        <p:txBody>
          <a:bodyPr>
            <a:normAutofit fontScale="92500"/>
          </a:bodyPr>
          <a:lstStyle/>
          <a:p>
            <a:pPr marL="0" marR="0" lvl="0" indent="0" algn="just">
              <a:lnSpc>
                <a:spcPct val="150000"/>
              </a:lnSpc>
              <a:spcBef>
                <a:spcPts val="0"/>
              </a:spcBef>
              <a:spcAft>
                <a:spcPts val="0"/>
              </a:spcAft>
              <a:buNone/>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12. Slippery slope (the camel’s nose)</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Here, the person asserts that some event must inevitably follow from another without argument for the inevitability of the event in question. </a:t>
            </a:r>
          </a:p>
          <a:p>
            <a:pPr marR="0" lvl="0" algn="just">
              <a:lnSpc>
                <a:spcPct val="150000"/>
              </a:lnSpc>
              <a:spcBef>
                <a:spcPts val="0"/>
              </a:spcBef>
              <a:spcAft>
                <a:spcPts val="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In other words, it is when you foresee an inevitable and catastrophic chain of events that would follow from taking a first, apparently harmless step (i.e. once we put a foot on that slippery slope, we are doomed to slide out of sight.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gn="just">
              <a:lnSpc>
                <a:spcPct val="150000"/>
              </a:lnSpc>
              <a:spcBef>
                <a:spcPts val="0"/>
              </a:spcBef>
              <a:spcAft>
                <a:spcPts val="0"/>
              </a:spcAft>
              <a:buNone/>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Example:</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0"/>
              </a:spcAft>
              <a:buFont typeface="Wingdings" panose="05000000000000000000" pitchFamily="2" charset="2"/>
              <a:buChar char="Ø"/>
            </a:pPr>
            <a:r>
              <a:rPr lang="en-US" sz="2800" i="1" dirty="0">
                <a:effectLst/>
                <a:latin typeface="Times New Roman" panose="02020603050405020304" pitchFamily="18" charset="0"/>
                <a:ea typeface="Calibri" panose="020F0502020204030204" pitchFamily="34" charset="0"/>
                <a:cs typeface="Times New Roman" panose="02020603050405020304" pitchFamily="18" charset="0"/>
              </a:rPr>
              <a:t>I cannot go to a bottle store because doing so will lead me into drinking and smoking and eventually will start going for prostitutes which will lead to contracting HIV/Aids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1000"/>
              </a:spcAft>
              <a:buFont typeface="Wingdings" panose="05000000000000000000" pitchFamily="2" charset="2"/>
              <a:buChar char="Ø"/>
            </a:pPr>
            <a:r>
              <a:rPr lang="en-US" sz="2800" i="1" dirty="0">
                <a:effectLst/>
                <a:latin typeface="Times New Roman" panose="02020603050405020304" pitchFamily="18" charset="0"/>
                <a:ea typeface="Calibri" panose="020F0502020204030204" pitchFamily="34" charset="0"/>
                <a:cs typeface="Times New Roman" panose="02020603050405020304" pitchFamily="18" charset="0"/>
              </a:rPr>
              <a:t>We have to stop them from banning pornography. Once they start banning one form of literature, they will never stop. Next thing you know, they will be banning all the books!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403482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DB30D9-0FF2-4BA4-9C9D-683D76DE95B8}"/>
              </a:ext>
            </a:extLst>
          </p:cNvPr>
          <p:cNvSpPr>
            <a:spLocks noGrp="1"/>
          </p:cNvSpPr>
          <p:nvPr>
            <p:ph idx="1"/>
          </p:nvPr>
        </p:nvSpPr>
        <p:spPr>
          <a:xfrm>
            <a:off x="0" y="0"/>
            <a:ext cx="12192000" cy="6858000"/>
          </a:xfrm>
        </p:spPr>
        <p:txBody>
          <a:bodyPr/>
          <a:lstStyle/>
          <a:p>
            <a:pPr marL="0" marR="0" lvl="0" indent="0" algn="just">
              <a:lnSpc>
                <a:spcPct val="150000"/>
              </a:lnSpc>
              <a:spcBef>
                <a:spcPts val="0"/>
              </a:spcBef>
              <a:spcAft>
                <a:spcPts val="0"/>
              </a:spcAft>
              <a:buNone/>
            </a:pPr>
            <a:r>
              <a:rPr lang="en-US" b="1" dirty="0">
                <a:latin typeface="Times New Roman" panose="02020603050405020304" pitchFamily="18" charset="0"/>
                <a:ea typeface="Calibri" panose="020F0502020204030204" pitchFamily="34" charset="0"/>
                <a:cs typeface="Times New Roman" panose="02020603050405020304" pitchFamily="18" charset="0"/>
              </a:rPr>
              <a:t>13. </a:t>
            </a: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Bandwagon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0"/>
              </a:spcAft>
              <a:buFont typeface="Wingdings" panose="05000000000000000000" pitchFamily="2" charset="2"/>
              <a:buChar char="v"/>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Is a fallacy in which a threat of rejection by one’s peers (peer pressure) is substituted for evidence in an argument.</a:t>
            </a: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50000"/>
              </a:lnSpc>
              <a:spcBef>
                <a:spcPts val="0"/>
              </a:spcBef>
              <a:spcAft>
                <a:spcPts val="0"/>
              </a:spcAft>
              <a:buFont typeface="Wingdings" panose="05000000000000000000" pitchFamily="2" charset="2"/>
              <a:buChar char="v"/>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Example:</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gn="just">
              <a:lnSpc>
                <a:spcPct val="150000"/>
              </a:lnSpc>
              <a:spcBef>
                <a:spcPts val="0"/>
              </a:spcBef>
              <a:spcAft>
                <a:spcPts val="0"/>
              </a:spcAft>
              <a:buNone/>
            </a:pP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sz="2800" b="1" i="1" dirty="0">
                <a:effectLst/>
                <a:latin typeface="Times New Roman" panose="02020603050405020304" pitchFamily="18" charset="0"/>
                <a:ea typeface="Calibri" panose="020F0502020204030204" pitchFamily="34" charset="0"/>
                <a:cs typeface="Times New Roman" panose="02020603050405020304" pitchFamily="18" charset="0"/>
              </a:rPr>
              <a:t>John:</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800" i="1" dirty="0">
                <a:effectLst/>
                <a:latin typeface="Times New Roman" panose="02020603050405020304" pitchFamily="18" charset="0"/>
                <a:ea typeface="Calibri" panose="020F0502020204030204" pitchFamily="34" charset="0"/>
                <a:cs typeface="Times New Roman" panose="02020603050405020304" pitchFamily="18" charset="0"/>
              </a:rPr>
              <a:t>I like Country and Western music and I think it’s of higher quality than   		most modern music</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gn="just">
              <a:lnSpc>
                <a:spcPct val="150000"/>
              </a:lnSpc>
              <a:spcBef>
                <a:spcPts val="0"/>
              </a:spcBef>
              <a:spcAft>
                <a:spcPts val="0"/>
              </a:spcAft>
              <a:buNone/>
            </a:pP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sz="2800" b="1" i="1" dirty="0">
                <a:effectLst/>
                <a:latin typeface="Times New Roman" panose="02020603050405020304" pitchFamily="18" charset="0"/>
                <a:ea typeface="Calibri" panose="020F0502020204030204" pitchFamily="34" charset="0"/>
                <a:cs typeface="Times New Roman" panose="02020603050405020304" pitchFamily="18" charset="0"/>
              </a:rPr>
              <a:t>James:</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sz="2800" i="1" dirty="0">
                <a:effectLst/>
                <a:latin typeface="Times New Roman" panose="02020603050405020304" pitchFamily="18" charset="0"/>
                <a:ea typeface="Calibri" panose="020F0502020204030204" pitchFamily="34" charset="0"/>
                <a:cs typeface="Times New Roman" panose="02020603050405020304" pitchFamily="18" charset="0"/>
              </a:rPr>
              <a:t>That stuff is for old people. It’s old fashioned</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gn="just">
              <a:lnSpc>
                <a:spcPct val="150000"/>
              </a:lnSpc>
              <a:spcBef>
                <a:spcPts val="0"/>
              </a:spcBef>
              <a:spcAft>
                <a:spcPts val="0"/>
              </a:spcAft>
              <a:buNone/>
            </a:pP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sz="2800" b="1" i="1" dirty="0">
                <a:effectLst/>
                <a:latin typeface="Times New Roman" panose="02020603050405020304" pitchFamily="18" charset="0"/>
                <a:ea typeface="Calibri" panose="020F0502020204030204" pitchFamily="34" charset="0"/>
                <a:cs typeface="Times New Roman" panose="02020603050405020304" pitchFamily="18" charset="0"/>
              </a:rPr>
              <a:t>Jim:</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sz="2800" i="1" dirty="0">
                <a:effectLst/>
                <a:latin typeface="Times New Roman" panose="02020603050405020304" pitchFamily="18" charset="0"/>
                <a:ea typeface="Calibri" panose="020F0502020204030204" pitchFamily="34" charset="0"/>
                <a:cs typeface="Times New Roman" panose="02020603050405020304" pitchFamily="18" charset="0"/>
              </a:rPr>
              <a:t>That’s true; only dull people listen to it. Besides, Pop is the best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gn="just">
              <a:lnSpc>
                <a:spcPct val="150000"/>
              </a:lnSpc>
              <a:spcBef>
                <a:spcPts val="0"/>
              </a:spcBef>
              <a:spcAft>
                <a:spcPts val="1000"/>
              </a:spcAft>
              <a:buNone/>
            </a:pP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sz="2800" b="1" i="1" dirty="0">
                <a:effectLst/>
                <a:latin typeface="Times New Roman" panose="02020603050405020304" pitchFamily="18" charset="0"/>
                <a:ea typeface="Calibri" panose="020F0502020204030204" pitchFamily="34" charset="0"/>
                <a:cs typeface="Times New Roman" panose="02020603050405020304" pitchFamily="18" charset="0"/>
              </a:rPr>
              <a:t>John:</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800" i="1" dirty="0">
                <a:effectLst/>
                <a:latin typeface="Times New Roman" panose="02020603050405020304" pitchFamily="18" charset="0"/>
                <a:ea typeface="Calibri" panose="020F0502020204030204" pitchFamily="34" charset="0"/>
                <a:cs typeface="Times New Roman" panose="02020603050405020304" pitchFamily="18" charset="0"/>
              </a:rPr>
              <a:t>Well, I don’t really like it that much. Pop is much better</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5180020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146EF9-5D39-4355-BA55-B01BE95E43B4}"/>
              </a:ext>
            </a:extLst>
          </p:cNvPr>
          <p:cNvSpPr>
            <a:spLocks noGrp="1"/>
          </p:cNvSpPr>
          <p:nvPr>
            <p:ph idx="1"/>
          </p:nvPr>
        </p:nvSpPr>
        <p:spPr>
          <a:xfrm>
            <a:off x="0" y="0"/>
            <a:ext cx="12192000" cy="6858000"/>
          </a:xfrm>
        </p:spPr>
        <p:txBody>
          <a:bodyPr/>
          <a:lstStyle/>
          <a:p>
            <a:endParaRPr lang="en-US" dirty="0"/>
          </a:p>
          <a:p>
            <a:endParaRPr lang="en-US" dirty="0"/>
          </a:p>
          <a:p>
            <a:endParaRPr lang="en-US" dirty="0"/>
          </a:p>
          <a:p>
            <a:endParaRPr lang="en-US" dirty="0"/>
          </a:p>
          <a:p>
            <a:endParaRPr lang="en-US" dirty="0"/>
          </a:p>
          <a:p>
            <a:endParaRPr lang="en-US" dirty="0"/>
          </a:p>
          <a:p>
            <a:pPr marL="0" indent="0">
              <a:buNone/>
            </a:pPr>
            <a:r>
              <a:rPr lang="en-US"/>
              <a:t>                                                             </a:t>
            </a:r>
            <a:r>
              <a:rPr lang="en-US" dirty="0">
                <a:latin typeface="Times New Roman" panose="02020603050405020304" pitchFamily="18" charset="0"/>
                <a:cs typeface="Times New Roman" panose="02020603050405020304" pitchFamily="18" charset="0"/>
              </a:rPr>
              <a:t>THE END</a:t>
            </a:r>
            <a:endParaRPr lang="en-US" dirty="0"/>
          </a:p>
        </p:txBody>
      </p:sp>
    </p:spTree>
    <p:extLst>
      <p:ext uri="{BB962C8B-B14F-4D97-AF65-F5344CB8AC3E}">
        <p14:creationId xmlns:p14="http://schemas.microsoft.com/office/powerpoint/2010/main" val="13981316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3068</TotalTime>
  <Words>1781</Words>
  <Application>Microsoft Office PowerPoint</Application>
  <PresentationFormat>Widescreen</PresentationFormat>
  <Paragraphs>125</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Lenovo</cp:lastModifiedBy>
  <cp:revision>21</cp:revision>
  <dcterms:created xsi:type="dcterms:W3CDTF">2020-12-01T19:58:49Z</dcterms:created>
  <dcterms:modified xsi:type="dcterms:W3CDTF">2021-01-14T15:30:54Z</dcterms:modified>
</cp:coreProperties>
</file>