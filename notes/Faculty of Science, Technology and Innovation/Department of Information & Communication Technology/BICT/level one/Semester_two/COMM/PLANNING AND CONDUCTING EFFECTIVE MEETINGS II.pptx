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4330-3BD0-45D3-B7EC-CD2B824F57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D021CD-CCF3-4317-A335-0662C5361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9BF74B-E91E-4D5F-8646-81A7BE295431}"/>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5" name="Footer Placeholder 4">
            <a:extLst>
              <a:ext uri="{FF2B5EF4-FFF2-40B4-BE49-F238E27FC236}">
                <a16:creationId xmlns:a16="http://schemas.microsoft.com/office/drawing/2014/main" id="{391D3209-6B5B-4E93-9DF4-D31F7BE03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3757A1-8506-4747-B0CD-0C28CC2FF37C}"/>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525909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7BD73-8A29-43BA-9C78-D45DD39E92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DA7AD4-0C5E-479D-9A01-E362065CE6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BB2D28-C0F6-421D-85DF-44BD90646404}"/>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5" name="Footer Placeholder 4">
            <a:extLst>
              <a:ext uri="{FF2B5EF4-FFF2-40B4-BE49-F238E27FC236}">
                <a16:creationId xmlns:a16="http://schemas.microsoft.com/office/drawing/2014/main" id="{B661E194-36A3-4A2E-9FB7-62A9096EC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764BF2-C02C-4C9C-9CF5-237FD5DAE099}"/>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1238058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F04DB-20FD-4AFC-82B6-31CAC3CC38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FF96BD-4CAB-424E-84C9-8DD8B5FDB5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961A53-50DE-450F-9352-1FD492051AAD}"/>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5" name="Footer Placeholder 4">
            <a:extLst>
              <a:ext uri="{FF2B5EF4-FFF2-40B4-BE49-F238E27FC236}">
                <a16:creationId xmlns:a16="http://schemas.microsoft.com/office/drawing/2014/main" id="{1A062EB6-82B5-4364-A18F-181C14DFDC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2B4AE2-56E2-4D1D-9192-35732BFA2FC1}"/>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4064820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6B3B9-F06E-4977-9A62-70F743261B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1AD62F-6754-4645-A7B3-BE0612B914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D338B29-48ED-4F7E-A828-0EF811E71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CA5B8A-C4BB-40D1-B869-FA0C5380A9CB}"/>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6" name="Footer Placeholder 5">
            <a:extLst>
              <a:ext uri="{FF2B5EF4-FFF2-40B4-BE49-F238E27FC236}">
                <a16:creationId xmlns:a16="http://schemas.microsoft.com/office/drawing/2014/main" id="{8BA08E43-8D95-4B08-93BD-305A6C033F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38C8F-6181-46D5-B4A1-C58457E4F044}"/>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2847857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88C5-D4BF-4161-816F-B7C4702E06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0E7D67-B4C0-4204-830E-3A3090BD7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70A91B-B3DC-45D6-8834-3F8EF6A91B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2F9ABB-5329-4A7E-A98E-C099878E0F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E82C5B-251C-4776-83E3-03518F79E7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05A4DD-3EAC-415C-BECF-B7CAA6FB675D}"/>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8" name="Footer Placeholder 7">
            <a:extLst>
              <a:ext uri="{FF2B5EF4-FFF2-40B4-BE49-F238E27FC236}">
                <a16:creationId xmlns:a16="http://schemas.microsoft.com/office/drawing/2014/main" id="{E9F59907-C2E8-4CD6-BA43-D91A46A7F7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678817-D3B2-4B36-9EF8-62CFD2193F53}"/>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880063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E834B-FF77-4E5D-AD68-DED495E824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988466-0662-41AA-A883-86E842B4F595}"/>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4" name="Footer Placeholder 3">
            <a:extLst>
              <a:ext uri="{FF2B5EF4-FFF2-40B4-BE49-F238E27FC236}">
                <a16:creationId xmlns:a16="http://schemas.microsoft.com/office/drawing/2014/main" id="{640B0738-EAB2-413F-8D04-19A5B237C1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38A8C6-E81C-4FFA-9FD4-4CE48ADF7E06}"/>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4211036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D7741D-C63A-426E-BF89-B609A4F55A5C}"/>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3" name="Footer Placeholder 2">
            <a:extLst>
              <a:ext uri="{FF2B5EF4-FFF2-40B4-BE49-F238E27FC236}">
                <a16:creationId xmlns:a16="http://schemas.microsoft.com/office/drawing/2014/main" id="{9A1C9F9E-9AA9-4924-B5A2-8D05E891C6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B7F9CC-681F-4EEF-ABCA-139E2FD8D2B5}"/>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175306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F344-DA84-444C-80D0-5008B795E3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D85A30-6720-40BF-B542-2D799AC1DA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D7AD46-3128-4967-8F3D-31BB4E8392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513B8-293F-4382-9B09-AD111A188027}"/>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6" name="Footer Placeholder 5">
            <a:extLst>
              <a:ext uri="{FF2B5EF4-FFF2-40B4-BE49-F238E27FC236}">
                <a16:creationId xmlns:a16="http://schemas.microsoft.com/office/drawing/2014/main" id="{E96622F2-8A7D-4915-9C26-B17CB93370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FF40EB-12CE-4335-9473-C027610AEB6C}"/>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1342976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E93F-5F48-4E90-81A9-F30EB18BCD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CABB0-D212-43BD-AAEB-A85833AA6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5FCBB5-F2AC-4684-B65C-7950198CC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CFAD5-9A55-4938-850E-D88406342E9D}"/>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6" name="Footer Placeholder 5">
            <a:extLst>
              <a:ext uri="{FF2B5EF4-FFF2-40B4-BE49-F238E27FC236}">
                <a16:creationId xmlns:a16="http://schemas.microsoft.com/office/drawing/2014/main" id="{0B528730-B551-4AE8-B38D-B025EBA923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71AE71-9701-417F-90EB-2341AF708846}"/>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1912231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146FA-2D48-49CF-877E-17EBA24F30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7F1C39-5AA8-43A3-BB74-D2A1BE98C1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B472C5-7BB5-4B73-A399-8DBDC960E023}"/>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5" name="Footer Placeholder 4">
            <a:extLst>
              <a:ext uri="{FF2B5EF4-FFF2-40B4-BE49-F238E27FC236}">
                <a16:creationId xmlns:a16="http://schemas.microsoft.com/office/drawing/2014/main" id="{4B82698F-DC74-403A-9508-8EE468D76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D91EC-416C-465B-B904-A48128F3BB07}"/>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3242101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75DA36-21D5-49CF-B811-911D9B7745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B185A9-F8FC-4B3B-9A66-3FA35A5598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AE0F5-C888-453B-8BDD-9D0736BAEC8F}"/>
              </a:ext>
            </a:extLst>
          </p:cNvPr>
          <p:cNvSpPr>
            <a:spLocks noGrp="1"/>
          </p:cNvSpPr>
          <p:nvPr>
            <p:ph type="dt" sz="half" idx="10"/>
          </p:nvPr>
        </p:nvSpPr>
        <p:spPr/>
        <p:txBody>
          <a:bodyPr/>
          <a:lstStyle/>
          <a:p>
            <a:fld id="{4FFDEA55-4DF8-49D4-ABCB-22A289CA7DCE}" type="datetimeFigureOut">
              <a:rPr lang="en-US" smtClean="0"/>
              <a:t>3/31/2023</a:t>
            </a:fld>
            <a:endParaRPr lang="en-US"/>
          </a:p>
        </p:txBody>
      </p:sp>
      <p:sp>
        <p:nvSpPr>
          <p:cNvPr id="5" name="Footer Placeholder 4">
            <a:extLst>
              <a:ext uri="{FF2B5EF4-FFF2-40B4-BE49-F238E27FC236}">
                <a16:creationId xmlns:a16="http://schemas.microsoft.com/office/drawing/2014/main" id="{805FE653-7856-48CC-8746-F3DD72703F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4B746-9AD1-4667-8348-5C3E18E97C45}"/>
              </a:ext>
            </a:extLst>
          </p:cNvPr>
          <p:cNvSpPr>
            <a:spLocks noGrp="1"/>
          </p:cNvSpPr>
          <p:nvPr>
            <p:ph type="sldNum" sz="quarter" idx="12"/>
          </p:nvPr>
        </p:nvSpPr>
        <p:spPr/>
        <p:txBody>
          <a:bodyPr/>
          <a:lstStyle/>
          <a:p>
            <a:fld id="{C83C2410-BACC-4008-9A0B-8D92A5E41E9F}" type="slidenum">
              <a:rPr lang="en-US" smtClean="0"/>
              <a:t>‹#›</a:t>
            </a:fld>
            <a:endParaRPr lang="en-US"/>
          </a:p>
        </p:txBody>
      </p:sp>
    </p:spTree>
    <p:extLst>
      <p:ext uri="{BB962C8B-B14F-4D97-AF65-F5344CB8AC3E}">
        <p14:creationId xmlns:p14="http://schemas.microsoft.com/office/powerpoint/2010/main" val="72541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B6391-2E7C-4783-AB82-E2672A94A9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B533C4-5C9C-472A-A341-A6B0C2A4D5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C3DC2F-E2DD-4DD5-ADE6-C5FEBDB55A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FDEA55-4DF8-49D4-ABCB-22A289CA7DCE}" type="datetimeFigureOut">
              <a:rPr lang="en-US" smtClean="0"/>
              <a:t>3/31/2023</a:t>
            </a:fld>
            <a:endParaRPr lang="en-US"/>
          </a:p>
        </p:txBody>
      </p:sp>
      <p:sp>
        <p:nvSpPr>
          <p:cNvPr id="5" name="Footer Placeholder 4">
            <a:extLst>
              <a:ext uri="{FF2B5EF4-FFF2-40B4-BE49-F238E27FC236}">
                <a16:creationId xmlns:a16="http://schemas.microsoft.com/office/drawing/2014/main" id="{48459121-1E11-4DAE-8B0C-B888FF85CB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EE8E872-304F-4B07-9FCF-38B70668AC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C2410-BACC-4008-9A0B-8D92A5E41E9F}" type="slidenum">
              <a:rPr lang="en-US" smtClean="0"/>
              <a:t>‹#›</a:t>
            </a:fld>
            <a:endParaRPr lang="en-US"/>
          </a:p>
        </p:txBody>
      </p:sp>
    </p:spTree>
    <p:extLst>
      <p:ext uri="{BB962C8B-B14F-4D97-AF65-F5344CB8AC3E}">
        <p14:creationId xmlns:p14="http://schemas.microsoft.com/office/powerpoint/2010/main" val="290291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87150F8-8C82-4A65-91B3-1C268AAF4DDD}"/>
              </a:ext>
            </a:extLst>
          </p:cNvPr>
          <p:cNvSpPr>
            <a:spLocks noGrp="1"/>
          </p:cNvSpPr>
          <p:nvPr>
            <p:ph type="subTitle" idx="1"/>
          </p:nvPr>
        </p:nvSpPr>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PLANNING AND CONDUCTING EFFECTIVE MEETINGS</a:t>
            </a:r>
          </a:p>
        </p:txBody>
      </p:sp>
    </p:spTree>
    <p:extLst>
      <p:ext uri="{BB962C8B-B14F-4D97-AF65-F5344CB8AC3E}">
        <p14:creationId xmlns:p14="http://schemas.microsoft.com/office/powerpoint/2010/main" val="209528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08235D-6D49-4487-8D13-862C5AAFD99B}"/>
              </a:ext>
            </a:extLst>
          </p:cNvPr>
          <p:cNvSpPr>
            <a:spLocks noGrp="1"/>
          </p:cNvSpPr>
          <p:nvPr>
            <p:ph idx="1"/>
          </p:nvPr>
        </p:nvSpPr>
        <p:spPr>
          <a:xfrm>
            <a:off x="0" y="0"/>
            <a:ext cx="12192000" cy="6858000"/>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INTRODUCTION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Members or office bearers of an organization, club or committee need to be familiar with rules of effective leadership and effective participation in meetings if they are to be successful in discharging their duties.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meeting is an assembly of individuals called to deliberate on issues affecting an organization, and to take decisions.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meetings are usually divided into two. The first one is the </a:t>
            </a:r>
            <a:r>
              <a:rPr lang="en-US" i="1" dirty="0">
                <a:latin typeface="Times New Roman" panose="02020603050405020304" pitchFamily="18" charset="0"/>
                <a:cs typeface="Times New Roman" panose="02020603050405020304" pitchFamily="18" charset="0"/>
              </a:rPr>
              <a:t>Organisational meeting </a:t>
            </a:r>
            <a:r>
              <a:rPr lang="en-US" dirty="0">
                <a:latin typeface="Times New Roman" panose="02020603050405020304" pitchFamily="18" charset="0"/>
                <a:cs typeface="Times New Roman" panose="02020603050405020304" pitchFamily="18" charset="0"/>
              </a:rPr>
              <a:t>which</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is a regular meeting involving stakeholders and management.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Examples of organizational meetings include a Board Meeting and an Annual General Meeting (AGM).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second one is the </a:t>
            </a:r>
            <a:r>
              <a:rPr lang="en-US" i="1" dirty="0">
                <a:latin typeface="Times New Roman" panose="02020603050405020304" pitchFamily="18" charset="0"/>
                <a:cs typeface="Times New Roman" panose="02020603050405020304" pitchFamily="18" charset="0"/>
              </a:rPr>
              <a:t>Operational meeting</a:t>
            </a:r>
            <a:r>
              <a:rPr lang="en-US" dirty="0">
                <a:latin typeface="Times New Roman" panose="02020603050405020304" pitchFamily="18" charset="0"/>
                <a:cs typeface="Times New Roman" panose="02020603050405020304" pitchFamily="18" charset="0"/>
              </a:rPr>
              <a:t>. This may be a regular or ad hoc meeting involving management and employees such as committee meetings, planning meetings, faculty  meetings.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3991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8F4C8C-984D-4361-A968-CA51C0C59494}"/>
              </a:ext>
            </a:extLst>
          </p:cNvPr>
          <p:cNvSpPr>
            <a:spLocks noGrp="1"/>
          </p:cNvSpPr>
          <p:nvPr>
            <p:ph idx="1"/>
          </p:nvPr>
        </p:nvSpPr>
        <p:spPr>
          <a:xfrm>
            <a:off x="0" y="0"/>
            <a:ext cx="12192000" cy="6858000"/>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“Parliamentary procedure”</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These are set of rules that enable a club or committee conduct meetings in an orderly manner, ensuring that everyone will have a chance to speak.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discussion is limited to one matter at a time. </a:t>
            </a:r>
          </a:p>
          <a:p>
            <a:pPr marL="0" indent="0" algn="just">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There is a balance between the rights of the majority, the minority and the individual member.</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Some terms used in meeting conducted according to Parliamentary procedure</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Agenda</a:t>
            </a:r>
            <a:r>
              <a:rPr lang="en-US" dirty="0">
                <a:latin typeface="Times New Roman" panose="02020603050405020304" pitchFamily="18" charset="0"/>
                <a:cs typeface="Times New Roman" panose="02020603050405020304" pitchFamily="18" charset="0"/>
              </a:rPr>
              <a:t> – The list of items to be discussed at a meeting. </a:t>
            </a:r>
          </a:p>
          <a:p>
            <a:pPr algn="just">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Chair </a:t>
            </a:r>
            <a:r>
              <a:rPr lang="en-US" dirty="0">
                <a:latin typeface="Times New Roman" panose="02020603050405020304" pitchFamily="18" charset="0"/>
                <a:cs typeface="Times New Roman" panose="02020603050405020304" pitchFamily="18" charset="0"/>
              </a:rPr>
              <a:t>– the person presiding over the meeting. </a:t>
            </a:r>
          </a:p>
          <a:p>
            <a:pPr algn="just">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Floor</a:t>
            </a:r>
            <a:r>
              <a:rPr lang="en-US" dirty="0">
                <a:latin typeface="Times New Roman" panose="02020603050405020304" pitchFamily="18" charset="0"/>
                <a:cs typeface="Times New Roman" panose="02020603050405020304" pitchFamily="18" charset="0"/>
              </a:rPr>
              <a:t> – the right to speak – no one else can speak when someone has the floor. </a:t>
            </a:r>
          </a:p>
          <a:p>
            <a:pPr algn="just">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Minutes</a:t>
            </a:r>
            <a:r>
              <a:rPr lang="en-US" dirty="0">
                <a:latin typeface="Times New Roman" panose="02020603050405020304" pitchFamily="18" charset="0"/>
                <a:cs typeface="Times New Roman" panose="02020603050405020304" pitchFamily="18" charset="0"/>
              </a:rPr>
              <a:t> – an accurate report of what transpired during a meeting. </a:t>
            </a:r>
          </a:p>
          <a:p>
            <a:pPr algn="just">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Motion</a:t>
            </a:r>
            <a:r>
              <a:rPr lang="en-US" dirty="0">
                <a:latin typeface="Times New Roman" panose="02020603050405020304" pitchFamily="18" charset="0"/>
                <a:cs typeface="Times New Roman" panose="02020603050405020304" pitchFamily="18" charset="0"/>
              </a:rPr>
              <a:t> – a proposal that is put before a group it is made by saying “I move”.</a:t>
            </a:r>
          </a:p>
          <a:p>
            <a:pPr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3696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2DF5E8-2C37-4931-9458-8A5274316883}"/>
              </a:ext>
            </a:extLst>
          </p:cNvPr>
          <p:cNvSpPr>
            <a:spLocks noGrp="1"/>
          </p:cNvSpPr>
          <p:nvPr>
            <p:ph idx="1"/>
          </p:nvPr>
        </p:nvSpPr>
        <p:spPr>
          <a:xfrm>
            <a:off x="1" y="0"/>
            <a:ext cx="12192000" cy="6858000"/>
          </a:xfrm>
        </p:spPr>
        <p:txBody>
          <a:bodyPr/>
          <a:lstStyle/>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Out of order </a:t>
            </a:r>
            <a:r>
              <a:rPr lang="en-US" dirty="0">
                <a:latin typeface="Times New Roman" panose="02020603050405020304" pitchFamily="18" charset="0"/>
                <a:cs typeface="Times New Roman" panose="02020603050405020304" pitchFamily="18" charset="0"/>
              </a:rPr>
              <a:t>– speaking without the permission of the chair or proposing an action that does not follow the rules of parliamentary procedure.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Quorum</a:t>
            </a:r>
            <a:r>
              <a:rPr lang="en-US" dirty="0">
                <a:latin typeface="Times New Roman" panose="02020603050405020304" pitchFamily="18" charset="0"/>
                <a:cs typeface="Times New Roman" panose="02020603050405020304" pitchFamily="18" charset="0"/>
              </a:rPr>
              <a:t> – the number of members who must be present to transact business in a meeting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Second a motion </a:t>
            </a:r>
            <a:r>
              <a:rPr lang="en-US" dirty="0">
                <a:latin typeface="Times New Roman" panose="02020603050405020304" pitchFamily="18" charset="0"/>
                <a:cs typeface="Times New Roman" panose="02020603050405020304" pitchFamily="18" charset="0"/>
              </a:rPr>
              <a:t>– to show support of a motion by saying “I second the motion” or simply “seconded”.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Adjourn</a:t>
            </a:r>
            <a:r>
              <a:rPr lang="en-US" dirty="0">
                <a:latin typeface="Times New Roman" panose="02020603050405020304" pitchFamily="18" charset="0"/>
                <a:cs typeface="Times New Roman" panose="02020603050405020304" pitchFamily="18" charset="0"/>
              </a:rPr>
              <a:t> – to end a meeting.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Majority</a:t>
            </a:r>
            <a:r>
              <a:rPr lang="en-US" dirty="0">
                <a:latin typeface="Times New Roman" panose="02020603050405020304" pitchFamily="18" charset="0"/>
                <a:cs typeface="Times New Roman" panose="02020603050405020304" pitchFamily="18" charset="0"/>
              </a:rPr>
              <a:t> – one more than half of those eligible to vote.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Recess</a:t>
            </a:r>
            <a:r>
              <a:rPr lang="en-US" dirty="0">
                <a:latin typeface="Times New Roman" panose="02020603050405020304" pitchFamily="18" charset="0"/>
                <a:cs typeface="Times New Roman" panose="02020603050405020304" pitchFamily="18" charset="0"/>
              </a:rPr>
              <a:t>- temporary interruption of a meeting. </a:t>
            </a:r>
          </a:p>
          <a:p>
            <a:endParaRPr lang="en-US" dirty="0"/>
          </a:p>
        </p:txBody>
      </p:sp>
    </p:spTree>
    <p:extLst>
      <p:ext uri="{BB962C8B-B14F-4D97-AF65-F5344CB8AC3E}">
        <p14:creationId xmlns:p14="http://schemas.microsoft.com/office/powerpoint/2010/main" val="2033321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9C32A1-A640-4E42-A9E1-A03B4DE6CE59}"/>
              </a:ext>
            </a:extLst>
          </p:cNvPr>
          <p:cNvSpPr>
            <a:spLocks noGrp="1"/>
          </p:cNvSpPr>
          <p:nvPr>
            <p:ph idx="1"/>
          </p:nvPr>
        </p:nvSpPr>
        <p:spPr>
          <a:xfrm>
            <a:off x="-1" y="0"/>
            <a:ext cx="12192001" cy="6858000"/>
          </a:xfrm>
        </p:spPr>
        <p:txBody>
          <a:bodyPr/>
          <a:lstStyle/>
          <a:p>
            <a:pPr marL="0" indent="0">
              <a:buNone/>
            </a:pPr>
            <a:r>
              <a:rPr lang="en-US" b="1" dirty="0">
                <a:latin typeface="Times New Roman" panose="02020603050405020304" pitchFamily="18" charset="0"/>
                <a:cs typeface="Times New Roman" panose="02020603050405020304" pitchFamily="18" charset="0"/>
              </a:rPr>
              <a:t>Duties of the Chair</a:t>
            </a:r>
          </a:p>
          <a:p>
            <a:pPr marL="0" indent="0">
              <a:buNone/>
            </a:pPr>
            <a:r>
              <a:rPr lang="en-US" dirty="0">
                <a:latin typeface="Times New Roman" panose="02020603050405020304" pitchFamily="18" charset="0"/>
                <a:cs typeface="Times New Roman" panose="02020603050405020304" pitchFamily="18" charset="0"/>
              </a:rPr>
              <a:t>The chair is in charge of the meeting </a:t>
            </a:r>
          </a:p>
          <a:p>
            <a:pPr marL="0" indent="0">
              <a:buNone/>
            </a:pPr>
            <a:r>
              <a:rPr lang="en-US" dirty="0">
                <a:latin typeface="Times New Roman" panose="02020603050405020304" pitchFamily="18" charset="0"/>
                <a:cs typeface="Times New Roman" panose="02020603050405020304" pitchFamily="18" charset="0"/>
              </a:rPr>
              <a:t>He/she acts as a judge, referee and timekeeper. In these capacities the chair: </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Sees to it that the meeting shall accomplish something. </a:t>
            </a:r>
          </a:p>
          <a:p>
            <a:pPr marL="0" indent="0" algn="just">
              <a:buNone/>
            </a:pPr>
            <a:r>
              <a:rPr lang="en-US" dirty="0">
                <a:latin typeface="Times New Roman" panose="02020603050405020304" pitchFamily="18" charset="0"/>
                <a:cs typeface="Times New Roman" panose="02020603050405020304" pitchFamily="18" charset="0"/>
              </a:rPr>
              <a:t>         ii)Prepares for the meeting by writing out the agenda. </a:t>
            </a:r>
          </a:p>
          <a:p>
            <a:pPr marL="0" indent="0" algn="just">
              <a:buNone/>
            </a:pPr>
            <a:r>
              <a:rPr lang="en-US" dirty="0">
                <a:latin typeface="Times New Roman" panose="02020603050405020304" pitchFamily="18" charset="0"/>
                <a:cs typeface="Times New Roman" panose="02020603050405020304" pitchFamily="18" charset="0"/>
              </a:rPr>
              <a:t>        iii)Budgets the meeting time in order to complete everything on the agenda. </a:t>
            </a:r>
          </a:p>
          <a:p>
            <a:pPr marL="0" indent="0" algn="just">
              <a:buNone/>
            </a:pPr>
            <a:r>
              <a:rPr lang="en-US" dirty="0">
                <a:latin typeface="Times New Roman" panose="02020603050405020304" pitchFamily="18" charset="0"/>
                <a:cs typeface="Times New Roman" panose="02020603050405020304" pitchFamily="18" charset="0"/>
              </a:rPr>
              <a:t>        iv) Keeps control of the meeting at all times. </a:t>
            </a:r>
          </a:p>
          <a:p>
            <a:pPr marL="0" indent="0" algn="just">
              <a:buNone/>
            </a:pPr>
            <a:r>
              <a:rPr lang="en-US" dirty="0">
                <a:latin typeface="Times New Roman" panose="02020603050405020304" pitchFamily="18" charset="0"/>
                <a:cs typeface="Times New Roman" panose="02020603050405020304" pitchFamily="18" charset="0"/>
              </a:rPr>
              <a:t>         v) Sees that order is restored if a disturbance occurs. </a:t>
            </a:r>
          </a:p>
          <a:p>
            <a:pPr marL="0" indent="0" algn="just">
              <a:buNone/>
            </a:pPr>
            <a:r>
              <a:rPr lang="en-US" dirty="0">
                <a:latin typeface="Times New Roman" panose="02020603050405020304" pitchFamily="18" charset="0"/>
                <a:cs typeface="Times New Roman" panose="02020603050405020304" pitchFamily="18" charset="0"/>
              </a:rPr>
              <a:t>        vi) Makes sure that the group sticks to the topic being discussed. </a:t>
            </a:r>
          </a:p>
          <a:p>
            <a:pPr marL="0" indent="0" algn="just">
              <a:buNone/>
            </a:pPr>
            <a:r>
              <a:rPr lang="en-US" dirty="0">
                <a:latin typeface="Times New Roman" panose="02020603050405020304" pitchFamily="18" charset="0"/>
                <a:cs typeface="Times New Roman" panose="02020603050405020304" pitchFamily="18" charset="0"/>
              </a:rPr>
              <a:t>       vii) Sees to it that the topic is fully discussed before moving on to a new topic.</a:t>
            </a:r>
          </a:p>
          <a:p>
            <a:pPr marL="0" indent="0" algn="just">
              <a:buNone/>
            </a:pPr>
            <a:r>
              <a:rPr lang="en-US" dirty="0">
                <a:latin typeface="Times New Roman" panose="02020603050405020304" pitchFamily="18" charset="0"/>
                <a:cs typeface="Times New Roman" panose="02020603050405020304" pitchFamily="18" charset="0"/>
              </a:rPr>
              <a:t>       viii)Recognizes everyone’s rights to speak at some point. </a:t>
            </a:r>
          </a:p>
          <a:p>
            <a:pPr marL="0" indent="0" algn="just">
              <a:buNone/>
            </a:pPr>
            <a:r>
              <a:rPr lang="en-US" dirty="0">
                <a:latin typeface="Times New Roman" panose="02020603050405020304" pitchFamily="18" charset="0"/>
                <a:cs typeface="Times New Roman" panose="02020603050405020304" pitchFamily="18" charset="0"/>
              </a:rPr>
              <a:t>        ix)Clears up any misunderstanding about what is happening in a meeting. </a:t>
            </a:r>
          </a:p>
          <a:p>
            <a:pPr marL="0" indent="0" algn="just">
              <a:buNone/>
            </a:pPr>
            <a:r>
              <a:rPr lang="en-US" dirty="0">
                <a:latin typeface="Times New Roman" panose="02020603050405020304" pitchFamily="18" charset="0"/>
                <a:cs typeface="Times New Roman" panose="02020603050405020304" pitchFamily="18" charset="0"/>
              </a:rPr>
              <a:t>         x)Cannot ordinary voice an opinion or play </a:t>
            </a:r>
            <a:r>
              <a:rPr lang="en-US" dirty="0" err="1">
                <a:latin typeface="Times New Roman" panose="02020603050405020304" pitchFamily="18" charset="0"/>
                <a:cs typeface="Times New Roman" panose="02020603050405020304" pitchFamily="18" charset="0"/>
              </a:rPr>
              <a:t>favourites</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050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4D9DF-E35E-459F-B6CE-F025EE83AA37}"/>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Duties of the secretary</a:t>
            </a:r>
          </a:p>
          <a:p>
            <a:pPr marL="0" indent="0">
              <a:buNone/>
            </a:pPr>
            <a:r>
              <a:rPr lang="en-US" dirty="0">
                <a:latin typeface="Times New Roman" panose="02020603050405020304" pitchFamily="18" charset="0"/>
                <a:cs typeface="Times New Roman" panose="02020603050405020304" pitchFamily="18" charset="0"/>
              </a:rPr>
              <a:t>The secretary’s most important duties are taking the minutes of each meeting and reading them loud at the next meeting. </a:t>
            </a:r>
          </a:p>
          <a:p>
            <a:pPr marL="0" indent="0">
              <a:buNone/>
            </a:pPr>
            <a:r>
              <a:rPr lang="en-US" b="1" dirty="0">
                <a:latin typeface="Times New Roman" panose="02020603050405020304" pitchFamily="18" charset="0"/>
                <a:cs typeface="Times New Roman" panose="02020603050405020304" pitchFamily="18" charset="0"/>
              </a:rPr>
              <a:t>Other duties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Keeps a membership list of the club /committee.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Takes attendance at each meeting.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Sends out notification of the time and venue of meetings.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Handles the club/committee’s correspondence.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Taking Down Minutes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During the meeting the secretary must quickly jot down notes on what is said and done. These notes are then written up as minutes when the meeting is over.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6384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AD432F-EBD1-47CB-BFAA-7CDC611D3DA5}"/>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The Minutes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They should be as brief as possible.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They should contain the important points of a meeting.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They should not reflect the secretary’s viewpoint or attitude. </a:t>
            </a:r>
          </a:p>
          <a:p>
            <a:pPr marL="0" indent="0">
              <a:buNone/>
            </a:pPr>
            <a:r>
              <a:rPr lang="en-US" dirty="0">
                <a:latin typeface="Times New Roman" panose="02020603050405020304" pitchFamily="18" charset="0"/>
                <a:cs typeface="Times New Roman" panose="02020603050405020304" pitchFamily="18" charset="0"/>
              </a:rPr>
              <a:t>They should include: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The name of the group/club/committee. This should constitute the heading of the minutes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The date, time and venue of the meeting.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Members present, indicating who chaired the meeting and the secretary (who took the minutes).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 Apologies.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Whether or not minutes of the previous meeting were read.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Corrections made to minutes of the last meeting. </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Matters arising from minutes of the last meeting (unfinished business).</a:t>
            </a:r>
          </a:p>
          <a:p>
            <a:pPr marL="571500" indent="-571500">
              <a:buFont typeface="+mj-lt"/>
              <a:buAutoNum type="romanLcPeriod"/>
            </a:pPr>
            <a:r>
              <a:rPr lang="en-US" dirty="0">
                <a:latin typeface="Times New Roman" panose="02020603050405020304" pitchFamily="18" charset="0"/>
                <a:cs typeface="Times New Roman" panose="02020603050405020304" pitchFamily="18" charset="0"/>
              </a:rPr>
              <a:t>Date of the next meeting, if known.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591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795F84-233C-46B9-8A76-E983BB8D37AC}"/>
              </a:ext>
            </a:extLst>
          </p:cNvPr>
          <p:cNvSpPr>
            <a:spLocks noGrp="1"/>
          </p:cNvSpPr>
          <p:nvPr>
            <p:ph idx="1"/>
          </p:nvPr>
        </p:nvSpPr>
        <p:spPr>
          <a:xfrm>
            <a:off x="0" y="0"/>
            <a:ext cx="12192000" cy="6858000"/>
          </a:xfrm>
        </p:spPr>
        <p:txBody>
          <a:bodyPr>
            <a:normAutofit fontScale="92500" lnSpcReduction="10000"/>
          </a:bodyPr>
          <a:lstStyle/>
          <a:p>
            <a:pPr marL="0" marR="0" lvl="0" indent="0">
              <a:lnSpc>
                <a:spcPct val="150000"/>
              </a:lnSpc>
              <a:spcBef>
                <a:spcPts val="0"/>
              </a:spcBef>
              <a:spcAft>
                <a:spcPts val="0"/>
              </a:spcAft>
              <a:buNone/>
              <a:tabLst>
                <a:tab pos="2857500" algn="l"/>
              </a:tabLst>
            </a:pPr>
            <a:r>
              <a:rPr lang="en-US" dirty="0">
                <a:latin typeface="Times New Roman" panose="02020603050405020304" pitchFamily="18" charset="0"/>
                <a:cs typeface="Times New Roman" panose="02020603050405020304" pitchFamily="18" charset="0"/>
              </a:rPr>
              <a:t>xiii.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 time the meeting was closed /adjourned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0"/>
              </a:spcAft>
              <a:buNone/>
              <a:tabLst>
                <a:tab pos="28575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Reading minutes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50000"/>
              </a:lnSpc>
              <a:spcBef>
                <a:spcPts val="0"/>
              </a:spcBef>
              <a:spcAft>
                <a:spcPts val="0"/>
              </a:spcAft>
              <a:buFont typeface="Wingdings" panose="05000000000000000000" pitchFamily="2" charset="2"/>
              <a:buChar char="v"/>
              <a:tabLst>
                <a:tab pos="28575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 The secretary should try to keep members attention by reading loudly and clearly and showing interest in each minute.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Responsibilities of participants</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Come to the meeting prepared, knowing what they are going to say on various items on the agenda. </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Listen carefully when others are speaking. </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Speak so that they can be heard clearly and loud enough. </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Limit their speaking time. </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Stick to the topic. </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Be courteous at all times –disagree politely. </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Control their emotions. </a:t>
            </a:r>
          </a:p>
          <a:p>
            <a:pPr marL="571500" indent="-571500" algn="just">
              <a:buFont typeface="+mj-lt"/>
              <a:buAutoNum type="romanLcPeriod"/>
            </a:pPr>
            <a:r>
              <a:rPr lang="en-US" dirty="0">
                <a:latin typeface="Times New Roman" panose="02020603050405020304" pitchFamily="18" charset="0"/>
                <a:cs typeface="Times New Roman" panose="02020603050405020304" pitchFamily="18" charset="0"/>
              </a:rPr>
              <a:t> Accept the decisions of the majority.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5039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078FFA-7627-45BC-B5EA-4068D5E2C8B2}"/>
              </a:ext>
            </a:extLst>
          </p:cNvPr>
          <p:cNvSpPr>
            <a:spLocks noGrp="1"/>
          </p:cNvSpPr>
          <p:nvPr>
            <p:ph idx="1"/>
          </p:nvPr>
        </p:nvSpPr>
        <p:spPr>
          <a:xfrm>
            <a:off x="0" y="0"/>
            <a:ext cx="12192000" cy="6858000"/>
          </a:xfrm>
        </p:spPr>
        <p:txBody>
          <a:bodyPr>
            <a:normAutofit fontScale="32500" lnSpcReduction="20000"/>
          </a:bodyPr>
          <a:lstStyle/>
          <a:p>
            <a:pPr marL="0" indent="0">
              <a:buNone/>
            </a:pPr>
            <a:r>
              <a:rPr lang="en-US" sz="7000" b="1" dirty="0">
                <a:latin typeface="Times New Roman" panose="02020603050405020304" pitchFamily="18" charset="0"/>
                <a:cs typeface="Times New Roman" panose="02020603050405020304" pitchFamily="18" charset="0"/>
              </a:rPr>
              <a:t>A typical agenda</a:t>
            </a:r>
          </a:p>
          <a:p>
            <a:pPr marL="0" indent="0">
              <a:buNone/>
            </a:pPr>
            <a:r>
              <a:rPr lang="en-US" sz="7000" b="1" dirty="0">
                <a:latin typeface="Times New Roman" panose="02020603050405020304" pitchFamily="18" charset="0"/>
                <a:cs typeface="Times New Roman" panose="02020603050405020304" pitchFamily="18" charset="0"/>
              </a:rPr>
              <a:t>1. Call to order </a:t>
            </a:r>
          </a:p>
          <a:p>
            <a:pPr>
              <a:buFont typeface="Wingdings" panose="05000000000000000000" pitchFamily="2" charset="2"/>
              <a:buChar char="v"/>
            </a:pPr>
            <a:r>
              <a:rPr lang="en-US" sz="7000" dirty="0">
                <a:latin typeface="Times New Roman" panose="02020603050405020304" pitchFamily="18" charset="0"/>
                <a:cs typeface="Times New Roman" panose="02020603050405020304" pitchFamily="18" charset="0"/>
              </a:rPr>
              <a:t>The chair  says ”The meeting will come to order”</a:t>
            </a:r>
          </a:p>
          <a:p>
            <a:pPr marL="0" indent="0">
              <a:buNone/>
            </a:pPr>
            <a:endParaRPr lang="en-US" sz="7000" dirty="0">
              <a:latin typeface="Times New Roman" panose="02020603050405020304" pitchFamily="18" charset="0"/>
              <a:cs typeface="Times New Roman" panose="02020603050405020304" pitchFamily="18" charset="0"/>
            </a:endParaRPr>
          </a:p>
          <a:p>
            <a:pPr marL="0" indent="0">
              <a:buNone/>
            </a:pPr>
            <a:r>
              <a:rPr lang="en-US" sz="7000" b="1" dirty="0">
                <a:latin typeface="Times New Roman" panose="02020603050405020304" pitchFamily="18" charset="0"/>
                <a:cs typeface="Times New Roman" panose="02020603050405020304" pitchFamily="18" charset="0"/>
              </a:rPr>
              <a:t>2. Reading minutes of the last meeting </a:t>
            </a:r>
          </a:p>
          <a:p>
            <a:pPr>
              <a:buFont typeface="Wingdings" panose="05000000000000000000" pitchFamily="2" charset="2"/>
              <a:buChar char="v"/>
            </a:pPr>
            <a:r>
              <a:rPr lang="en-US" sz="7000" dirty="0">
                <a:latin typeface="Times New Roman" panose="02020603050405020304" pitchFamily="18" charset="0"/>
                <a:cs typeface="Times New Roman" panose="02020603050405020304" pitchFamily="18" charset="0"/>
              </a:rPr>
              <a:t> The chair says “The secretary will read the minutes”. </a:t>
            </a:r>
          </a:p>
          <a:p>
            <a:pPr>
              <a:buFont typeface="Wingdings" panose="05000000000000000000" pitchFamily="2" charset="2"/>
              <a:buChar char="v"/>
            </a:pPr>
            <a:r>
              <a:rPr lang="en-US" sz="7000" dirty="0">
                <a:latin typeface="Times New Roman" panose="02020603050405020304" pitchFamily="18" charset="0"/>
                <a:cs typeface="Times New Roman" panose="02020603050405020304" pitchFamily="18" charset="0"/>
              </a:rPr>
              <a:t> After the minutes have been read the chair asks “Are there any corrections to the minutes?”. </a:t>
            </a:r>
          </a:p>
          <a:p>
            <a:pPr>
              <a:buFont typeface="Wingdings" panose="05000000000000000000" pitchFamily="2" charset="2"/>
              <a:buChar char="v"/>
            </a:pPr>
            <a:r>
              <a:rPr lang="en-US" sz="7000" dirty="0">
                <a:latin typeface="Times New Roman" panose="02020603050405020304" pitchFamily="18" charset="0"/>
                <a:cs typeface="Times New Roman" panose="02020603050405020304" pitchFamily="18" charset="0"/>
              </a:rPr>
              <a:t> If no corrections the chair says” The minutes are approved”</a:t>
            </a:r>
          </a:p>
          <a:p>
            <a:pPr>
              <a:buFont typeface="Wingdings" panose="05000000000000000000" pitchFamily="2" charset="2"/>
              <a:buChar char="v"/>
            </a:pPr>
            <a:r>
              <a:rPr lang="en-US" sz="7000" dirty="0">
                <a:latin typeface="Times New Roman" panose="02020603050405020304" pitchFamily="18" charset="0"/>
                <a:cs typeface="Times New Roman" panose="02020603050405020304" pitchFamily="18" charset="0"/>
              </a:rPr>
              <a:t> After corrections the chair says, “The minutes are approved as corrected”. </a:t>
            </a:r>
          </a:p>
          <a:p>
            <a:pPr marL="0" indent="0">
              <a:buNone/>
            </a:pPr>
            <a:endParaRPr lang="en-US" sz="8600" dirty="0">
              <a:latin typeface="Times New Roman" panose="02020603050405020304" pitchFamily="18" charset="0"/>
              <a:cs typeface="Times New Roman" panose="02020603050405020304" pitchFamily="18" charset="0"/>
            </a:endParaRPr>
          </a:p>
          <a:p>
            <a:pPr marL="0" indent="0">
              <a:buNone/>
            </a:pPr>
            <a:r>
              <a:rPr lang="en-US" sz="7000" b="1" dirty="0">
                <a:latin typeface="Times New Roman" panose="02020603050405020304" pitchFamily="18" charset="0"/>
                <a:cs typeface="Times New Roman" panose="02020603050405020304" pitchFamily="18" charset="0"/>
              </a:rPr>
              <a:t>3. Matters arising (from the minutes )/unfinished business</a:t>
            </a:r>
          </a:p>
          <a:p>
            <a:pPr marL="0" indent="0">
              <a:buNone/>
            </a:pPr>
            <a:endParaRPr lang="en-US" sz="7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7000" dirty="0">
                <a:latin typeface="Times New Roman" panose="02020603050405020304" pitchFamily="18" charset="0"/>
                <a:cs typeface="Times New Roman" panose="02020603050405020304" pitchFamily="18" charset="0"/>
              </a:rPr>
              <a:t>The chair brings up for discussion any matters that were not settled at the last meeting </a:t>
            </a:r>
          </a:p>
          <a:p>
            <a:pPr>
              <a:buFont typeface="Wingdings" panose="05000000000000000000" pitchFamily="2" charset="2"/>
              <a:buChar char="v"/>
            </a:pPr>
            <a:r>
              <a:rPr lang="en-US" sz="7000" dirty="0">
                <a:latin typeface="Times New Roman" panose="02020603050405020304" pitchFamily="18" charset="0"/>
                <a:cs typeface="Times New Roman" panose="02020603050405020304" pitchFamily="18" charset="0"/>
              </a:rPr>
              <a:t>These are listed on the agenda.</a:t>
            </a:r>
          </a:p>
          <a:p>
            <a:endParaRPr lang="en-US" sz="5900" dirty="0">
              <a:latin typeface="Times New Roman" panose="02020603050405020304" pitchFamily="18" charset="0"/>
              <a:cs typeface="Times New Roman" panose="02020603050405020304" pitchFamily="18" charset="0"/>
            </a:endParaRPr>
          </a:p>
          <a:p>
            <a:pPr marL="0" indent="0">
              <a:buNone/>
            </a:pPr>
            <a:r>
              <a:rPr lang="en-US" sz="59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414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D158D0-1D49-4975-928B-881EDED6664C}"/>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4. New business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New items listed on the agenda are discussed.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5. AOB (Any Other Business)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After new business has been completed the chair asks, “Is there any other business?”. This is the time for members to bring up anything they wish discussed. </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6. Date of next meeting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chair announces the date of the next meeting.</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7.Closing /Adjournment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chair thanks members for their attendance.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9601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76A88-47C8-4069-A3CA-B34D62D58011}"/>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Additional points on minutes writing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Minutes should be concise. That is to say, they should be brief, clear and unambiguous. It is not always easy to be brief and to be unambiguous. In general you should always write in complete sentences to avoid ambiguity.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discussion on each point is summarized briefly e.g. It was noted that….  It was pointed out that… It was resolved that… On the issue of school fees, it was agreed that….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Names of those who contribute opinions on the discussion are generally unnecessary. </a:t>
            </a:r>
          </a:p>
          <a:p>
            <a:pPr marL="0" indent="0">
              <a:buNone/>
            </a:pPr>
            <a:r>
              <a:rPr lang="en-US" dirty="0">
                <a:latin typeface="Times New Roman" panose="02020603050405020304" pitchFamily="18" charset="0"/>
                <a:cs typeface="Times New Roman" panose="02020603050405020304" pitchFamily="18" charset="0"/>
              </a:rPr>
              <a:t>        -Any resolutions that are made are clearly indicated. </a:t>
            </a:r>
          </a:p>
          <a:p>
            <a:pPr marL="0" indent="0">
              <a:buNone/>
            </a:pPr>
            <a:r>
              <a:rPr lang="en-US" dirty="0">
                <a:latin typeface="Times New Roman" panose="02020603050405020304" pitchFamily="18" charset="0"/>
                <a:cs typeface="Times New Roman" panose="02020603050405020304" pitchFamily="18" charset="0"/>
              </a:rPr>
              <a:t>        -Resolutions are made based on the number of votes the assenting and </a:t>
            </a:r>
          </a:p>
          <a:p>
            <a:pPr marL="0" indent="0">
              <a:buNone/>
            </a:pPr>
            <a:r>
              <a:rPr lang="en-US" dirty="0">
                <a:latin typeface="Times New Roman" panose="02020603050405020304" pitchFamily="18" charset="0"/>
                <a:cs typeface="Times New Roman" panose="02020603050405020304" pitchFamily="18" charset="0"/>
              </a:rPr>
              <a:t>        dissenting groups can muster. </a:t>
            </a:r>
          </a:p>
          <a:p>
            <a:pPr marL="0" indent="0">
              <a:buNone/>
            </a:pPr>
            <a:r>
              <a:rPr lang="en-US" dirty="0">
                <a:latin typeface="Times New Roman" panose="02020603050405020304" pitchFamily="18" charset="0"/>
                <a:cs typeface="Times New Roman" panose="02020603050405020304" pitchFamily="18" charset="0"/>
              </a:rPr>
              <a:t>        -Decisions/resolutions made at such meetings bind all members whether   </a:t>
            </a:r>
          </a:p>
          <a:p>
            <a:pPr marL="0" indent="0">
              <a:buNone/>
            </a:pPr>
            <a:r>
              <a:rPr lang="en-US" dirty="0">
                <a:latin typeface="Times New Roman" panose="02020603050405020304" pitchFamily="18" charset="0"/>
                <a:cs typeface="Times New Roman" panose="02020603050405020304" pitchFamily="18" charset="0"/>
              </a:rPr>
              <a:t>         present or not. </a:t>
            </a:r>
          </a:p>
          <a:p>
            <a:pPr marL="0" indent="0">
              <a:buNone/>
            </a:pPr>
            <a:r>
              <a:rPr lang="en-US" dirty="0">
                <a:latin typeface="Times New Roman" panose="02020603050405020304" pitchFamily="18" charset="0"/>
                <a:cs typeface="Times New Roman" panose="02020603050405020304" pitchFamily="18" charset="0"/>
              </a:rPr>
              <a:t>        -However, a dissenting minority may apply to a court to have an already  </a:t>
            </a:r>
          </a:p>
          <a:p>
            <a:pPr marL="0" indent="0">
              <a:buNone/>
            </a:pPr>
            <a:r>
              <a:rPr lang="en-US" dirty="0">
                <a:latin typeface="Times New Roman" panose="02020603050405020304" pitchFamily="18" charset="0"/>
                <a:cs typeface="Times New Roman" panose="02020603050405020304" pitchFamily="18" charset="0"/>
              </a:rPr>
              <a:t>         adopted resolution set aside if it is deemed illegal.</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477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F9C844-2B2E-4888-83E6-08E2CF4D3AED}"/>
              </a:ext>
            </a:extLst>
          </p:cNvPr>
          <p:cNvSpPr>
            <a:spLocks noGrp="1"/>
          </p:cNvSpPr>
          <p:nvPr>
            <p:ph idx="1"/>
          </p:nvPr>
        </p:nvSpPr>
        <p:spPr>
          <a:xfrm>
            <a:off x="-1" y="0"/>
            <a:ext cx="12192001" cy="6858000"/>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Two language features commonly associated with sets of minutes are passive voice and reported speech, for example:</a:t>
            </a:r>
          </a:p>
          <a:p>
            <a:pPr marL="0" indent="0">
              <a:buNone/>
            </a:pPr>
            <a:r>
              <a:rPr lang="en-US" dirty="0">
                <a:latin typeface="Times New Roman" panose="02020603050405020304" pitchFamily="18" charset="0"/>
                <a:cs typeface="Times New Roman" panose="02020603050405020304" pitchFamily="18" charset="0"/>
              </a:rPr>
              <a:t>        -Members of staff were reminded that examinations would begin on 25 June, </a:t>
            </a:r>
          </a:p>
          <a:p>
            <a:pPr marL="0" indent="0">
              <a:buNone/>
            </a:pPr>
            <a:r>
              <a:rPr lang="en-US" dirty="0">
                <a:latin typeface="Times New Roman" panose="02020603050405020304" pitchFamily="18" charset="0"/>
                <a:cs typeface="Times New Roman" panose="02020603050405020304" pitchFamily="18" charset="0"/>
              </a:rPr>
              <a:t>            2020. </a:t>
            </a:r>
          </a:p>
          <a:p>
            <a:pPr marL="0" indent="0">
              <a:buNone/>
            </a:pPr>
            <a:r>
              <a:rPr lang="en-US" dirty="0">
                <a:latin typeface="Times New Roman" panose="02020603050405020304" pitchFamily="18" charset="0"/>
                <a:cs typeface="Times New Roman" panose="02020603050405020304" pitchFamily="18" charset="0"/>
              </a:rPr>
              <a:t>        - It was felt that too many pupils had arrived late without reason. </a:t>
            </a:r>
          </a:p>
          <a:p>
            <a:pPr marL="0" indent="0">
              <a:buNone/>
            </a:pPr>
            <a:r>
              <a:rPr lang="en-US" dirty="0">
                <a:latin typeface="Times New Roman" panose="02020603050405020304" pitchFamily="18" charset="0"/>
                <a:cs typeface="Times New Roman" panose="02020603050405020304" pitchFamily="18" charset="0"/>
              </a:rPr>
              <a:t>        -  It was resolved that the headmaster would address all pupils. </a:t>
            </a:r>
          </a:p>
          <a:p>
            <a:pPr marL="0" indent="0">
              <a:buNone/>
            </a:pPr>
            <a:r>
              <a:rPr lang="en-US" dirty="0">
                <a:latin typeface="Times New Roman" panose="02020603050405020304" pitchFamily="18" charset="0"/>
                <a:cs typeface="Times New Roman" panose="02020603050405020304" pitchFamily="18" charset="0"/>
              </a:rPr>
              <a:t>         - On the issue of buying new computers for the library, it was agreed that </a:t>
            </a:r>
          </a:p>
          <a:p>
            <a:pPr marL="0" indent="0">
              <a:buNone/>
            </a:pPr>
            <a:r>
              <a:rPr lang="en-US" dirty="0">
                <a:latin typeface="Times New Roman" panose="02020603050405020304" pitchFamily="18" charset="0"/>
                <a:cs typeface="Times New Roman" panose="02020603050405020304" pitchFamily="18" charset="0"/>
              </a:rPr>
              <a:t>            management should organize a fundraising event in January next years in </a:t>
            </a:r>
          </a:p>
          <a:p>
            <a:pPr marL="0" indent="0">
              <a:buNone/>
            </a:pPr>
            <a:r>
              <a:rPr lang="en-US" dirty="0">
                <a:latin typeface="Times New Roman" panose="02020603050405020304" pitchFamily="18" charset="0"/>
                <a:cs typeface="Times New Roman" panose="02020603050405020304" pitchFamily="18" charset="0"/>
              </a:rPr>
              <a:t>             order to raise money for this purpose.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Reported speech is necessary for recording what was said and agreed at the meeting. Thus the correct sequence of tenses in indirect speech must be followed in all cases, with past tense forms being used to report discussions and resolutions.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Passive voice allows minutes to be recorded in an objective (i.e. fair, detached, unemotional) way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9147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6093E-ECD6-4118-9E37-E0D520DC9F58}"/>
              </a:ext>
            </a:extLst>
          </p:cNvPr>
          <p:cNvSpPr>
            <a:spLocks noGrp="1"/>
          </p:cNvSpPr>
          <p:nvPr>
            <p:ph idx="1"/>
          </p:nvPr>
        </p:nvSpPr>
        <p:spPr>
          <a:xfrm>
            <a:off x="0" y="0"/>
            <a:ext cx="12192000" cy="6858000"/>
          </a:xfrm>
        </p:spPr>
        <p: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sz="2400" b="1" i="1" dirty="0">
              <a:latin typeface="Times New Roman" panose="02020603050405020304" pitchFamily="18" charset="0"/>
              <a:cs typeface="Times New Roman" panose="02020603050405020304" pitchFamily="18" charset="0"/>
            </a:endParaRPr>
          </a:p>
          <a:p>
            <a:pPr marL="0" indent="0" algn="ctr">
              <a:buNone/>
            </a:pPr>
            <a:r>
              <a:rPr lang="en-US" sz="2400" b="1" i="1" dirty="0">
                <a:latin typeface="Times New Roman" panose="02020603050405020304" pitchFamily="18" charset="0"/>
                <a:cs typeface="Times New Roman" panose="02020603050405020304" pitchFamily="18" charset="0"/>
              </a:rPr>
              <a:t>The  end</a:t>
            </a:r>
          </a:p>
        </p:txBody>
      </p:sp>
    </p:spTree>
    <p:extLst>
      <p:ext uri="{BB962C8B-B14F-4D97-AF65-F5344CB8AC3E}">
        <p14:creationId xmlns:p14="http://schemas.microsoft.com/office/powerpoint/2010/main" val="4042438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1417</Words>
  <Application>Microsoft Office PowerPoint</Application>
  <PresentationFormat>Widescreen</PresentationFormat>
  <Paragraphs>141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SAMIR Simkonda</cp:lastModifiedBy>
  <cp:revision>19</cp:revision>
  <dcterms:created xsi:type="dcterms:W3CDTF">2020-11-03T14:09:08Z</dcterms:created>
  <dcterms:modified xsi:type="dcterms:W3CDTF">2023-03-31T07:26:49Z</dcterms:modified>
</cp:coreProperties>
</file>